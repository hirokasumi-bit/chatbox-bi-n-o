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a576088-33c4-dea6-5a33-276b4a2656ae}">
          <p14:sldIdLst>
            <p14:sldId id="256"/>
            <p14:sldId id="257"/>
          </p14:sldIdLst>
        </p14:section>
        <p14:section name="Welcome" id="{bac00ba6-9346-1cbc-206a-27a4c885ab3a}">
          <p14:sldIdLst>
            <p14:sldId id="258"/>
            <p14:sldId id="259"/>
            <p14:sldId id="260"/>
            <p14:sldId id="261"/>
            <p14:sldId id="262"/>
          </p14:sldIdLst>
        </p14:section>
        <p14:section name="The City" id="{bacd57c0-814e-bca9-456e-20895c874c87}">
          <p14:sldIdLst>
            <p14:sldId id="263"/>
            <p14:sldId id="264"/>
            <p14:sldId id="265"/>
            <p14:sldId id="266"/>
            <p14:sldId id="267"/>
            <p14:sldId id="268"/>
          </p14:sldIdLst>
        </p14:section>
        <p14:section name="Signature Districts" id="{63d02206-02e6-32d9-ae0a-1f8c33398a5d}">
          <p14:sldIdLst>
            <p14:sldId id="269"/>
            <p14:sldId id="270"/>
            <p14:sldId id="271"/>
            <p14:sldId id="272"/>
            <p14:sldId id="273"/>
            <p14:sldId id="274"/>
            <p14:sldId id="275"/>
            <p14:sldId id="276"/>
            <p14:sldId id="277"/>
            <p14:sldId id="278"/>
            <p14:sldId id="279"/>
          </p14:sldIdLst>
        </p14:section>
        <p14:section name="Living in Aurora Haven" id="{8e19434d-a51d-35b3-3e08-5d03e7e3238c}">
          <p14:sldIdLst>
            <p14:sldId id="280"/>
            <p14:sldId id="281"/>
            <p14:sldId id="282"/>
            <p14:sldId id="283"/>
            <p14:sldId id="284"/>
            <p14:sldId id="285"/>
            <p14:sldId id="286"/>
            <p14:sldId id="287"/>
            <p14:sldId id="288"/>
          </p14:sldIdLst>
        </p14:section>
        <p14:section name="Invest" id="{7e368d6c-bebb-3d78-616b-f7dd8c804873}">
          <p14:sldIdLst>
            <p14:sldId id="289"/>
          </p14:sldIdLst>
        </p14:section>
        <p14:section name="Guide" id="{1fe09aff-155f-5765-eaad-dd2580a7e082}">
          <p14:sldIdLst>
            <p14:sldId id="290"/>
            <p14:sldId id="291"/>
            <p14:sldId id="292"/>
            <p14:sldId id="293"/>
            <p14:sldId id="294"/>
          </p14:sldIdLst>
        </p14:section>
        <p14:section name="Back Cover" id="{dc7f06bf-665b-8f7f-8c67-7d41d193ceb3}">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aidsfjas4239PolarCut/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icture-1" descr="/home/user/chatbox-bi-n-o/magazine/assets/renders/cover_rea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pic>
        <p:nvPicPr>
          <p:cNvPr id="4" name="shade-fade-3" descr="/home/user/chatbox-bi-n-o/magazine/assets/ui/fade_bottom.png">    </p:cNvPr>
          <p:cNvPicPr>
            <a:picLocks noChangeAspect="1"/>
          </p:cNvPicPr>
          <p:nvPr/>
        </p:nvPicPr>
        <p:blipFill>
          <a:blip r:embed="rId3"/>
          <a:stretch>
            <a:fillRect/>
          </a:stretch>
        </p:blipFill>
        <p:spPr>
          <a:xfrm>
            <a:off x="0" y="7223760"/>
            <a:ext cx="7562088" cy="3465576"/>
          </a:xfrm>
          <a:prstGeom prst="rect">
            <a:avLst/>
          </a:prstGeom>
        </p:spPr>
      </p:pic>
      <p:sp>
        <p:nvSpPr>
          <p:cNvPr id="5" name="text-4"/>
          <p:cNvSpPr txBox="1"/>
          <p:nvPr/>
        </p:nvSpPr>
        <p:spPr>
          <a:xfrm>
            <a:off x="548640" y="329184"/>
            <a:ext cx="4114800" cy="201168"/>
          </a:xfrm>
          <a:prstGeom prst="rect">
            <a:avLst/>
          </a:prstGeom>
          <a:noFill/>
          <a:ln/>
        </p:spPr>
        <p:txBody>
          <a:bodyPr wrap="square" lIns="0" tIns="0" rIns="0" bIns="0" rtlCol="0" anchor="t"/>
          <a:lstStyle/>
          <a:p>
            <a:pPr indent="0" marL="0">
              <a:buNone/>
            </a:pPr>
            <a:r>
              <a:rPr lang="en-US" sz="850" b="1" spc="300" kern="0" dirty="0">
                <a:solidFill>
                  <a:schemeClr val="accent1"/>
                </a:solidFill>
              </a:rPr>
              <a:t>THE IDEAL CITY OF THE FUTURE</a:t>
            </a:r>
            <a:endParaRPr lang="en-US" sz="850" dirty="0"/>
          </a:p>
        </p:txBody>
      </p:sp>
      <p:sp>
        <p:nvSpPr>
          <p:cNvPr id="6" name="text-5"/>
          <p:cNvSpPr txBox="1"/>
          <p:nvPr/>
        </p:nvSpPr>
        <p:spPr>
          <a:xfrm>
            <a:off x="4270248" y="329184"/>
            <a:ext cx="2743200" cy="201168"/>
          </a:xfrm>
          <a:prstGeom prst="rect">
            <a:avLst/>
          </a:prstGeom>
          <a:noFill/>
          <a:ln/>
        </p:spPr>
        <p:txBody>
          <a:bodyPr wrap="square" lIns="0" tIns="0" rIns="0" bIns="0" rtlCol="0" anchor="t"/>
          <a:lstStyle/>
          <a:p>
            <a:pPr algn="r" indent="0" marL="0">
              <a:buNone/>
            </a:pPr>
            <a:r>
              <a:rPr lang="en-US" sz="850" b="1" spc="300" kern="0" dirty="0">
                <a:solidFill>
                  <a:schemeClr val="bg1"/>
                </a:solidFill>
              </a:rPr>
              <a:t>ISSUE 01  ·  2026</a:t>
            </a:r>
            <a:endParaRPr lang="en-US" sz="850" dirty="0"/>
          </a:p>
        </p:txBody>
      </p:sp>
      <p:sp>
        <p:nvSpPr>
          <p:cNvPr id="7" name="text-6"/>
          <p:cNvSpPr txBox="1"/>
          <p:nvPr/>
        </p:nvSpPr>
        <p:spPr>
          <a:xfrm>
            <a:off x="137160" y="530352"/>
            <a:ext cx="7287768" cy="10972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6800" b="1" dirty="0">
                <a:solidFill>
                  <a:schemeClr val="bg1"/>
                </a:solidFill>
                <a:latin typeface="+mj-lt" pitchFamily="34" charset="0"/>
                <a:ea typeface="+mj-lt" pitchFamily="34" charset="-122"/>
                <a:cs typeface="+mj-lt" pitchFamily="34" charset="-120"/>
              </a:rPr>
              <a:t>AURORA HAVEN</a:t>
            </a:r>
            <a:endParaRPr lang="en-US" sz="6800" dirty="0"/>
          </a:p>
        </p:txBody>
      </p:sp>
      <p:sp>
        <p:nvSpPr>
          <p:cNvPr id="8" name="text-7"/>
          <p:cNvSpPr txBox="1"/>
          <p:nvPr/>
        </p:nvSpPr>
        <p:spPr>
          <a:xfrm>
            <a:off x="548640" y="1627632"/>
            <a:ext cx="6464808" cy="2743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ctr" indent="0" marL="0">
              <a:buNone/>
            </a:pPr>
            <a:r>
              <a:rPr lang="en-US" sz="1100" b="1" spc="600" kern="0" dirty="0">
                <a:solidFill>
                  <a:schemeClr val="bg1"/>
                </a:solidFill>
              </a:rPr>
              <a:t>A POLAR CITY THAT THRIVES</a:t>
            </a:r>
            <a:endParaRPr lang="en-US" sz="1100" dirty="0"/>
          </a:p>
        </p:txBody>
      </p:sp>
      <p:sp>
        <p:nvSpPr>
          <p:cNvPr id="9" name="cover-leader-8"/>
          <p:cNvSpPr/>
          <p:nvPr/>
        </p:nvSpPr>
        <p:spPr>
          <a:xfrm flipH="1" flipV="1">
            <a:off x="1847088" y="6144768"/>
            <a:ext cx="850392" cy="667512"/>
          </a:xfrm>
          <a:prstGeom prst="line">
            <a:avLst/>
          </a:prstGeom>
          <a:noFill/>
          <a:ln w="15875">
            <a:solidFill>
              <a:schemeClr val="bg1"/>
            </a:solidFill>
            <a:prstDash val="solid"/>
          </a:ln>
        </p:spPr>
      </p:sp>
      <p:sp>
        <p:nvSpPr>
          <p:cNvPr id="10" name="cover-pin-9"/>
          <p:cNvSpPr/>
          <p:nvPr/>
        </p:nvSpPr>
        <p:spPr>
          <a:xfrm>
            <a:off x="1764792" y="6062472"/>
            <a:ext cx="164592" cy="164592"/>
          </a:xfrm>
          <a:prstGeom prst="ellipse">
            <a:avLst/>
          </a:prstGeom>
          <a:solidFill>
            <a:schemeClr val="accent3"/>
          </a:solidFill>
          <a:ln w="19050">
            <a:solidFill>
              <a:schemeClr val="bg1"/>
            </a:solidFill>
            <a:prstDash val="solid"/>
          </a:ln>
        </p:spPr>
      </p:sp>
      <p:sp>
        <p:nvSpPr>
          <p:cNvPr id="11" name="cover-label-10"/>
          <p:cNvSpPr/>
          <p:nvPr/>
        </p:nvSpPr>
        <p:spPr>
          <a:xfrm>
            <a:off x="2514600" y="6812280"/>
            <a:ext cx="2377440" cy="585216"/>
          </a:xfrm>
          <a:prstGeom prst="roundRect">
            <a:avLst>
              <a:gd name="adj" fmla="val 9375"/>
            </a:avLst>
          </a:prstGeom>
          <a:solidFill>
            <a:schemeClr val="tx1">
              <a:alpha val="88000"/>
            </a:schemeClr>
          </a:solidFill>
          <a:ln w="15875">
            <a:solidFill>
              <a:schemeClr val="accent3"/>
            </a:solidFill>
            <a:prstDash val="solid"/>
          </a:ln>
        </p:spPr>
      </p:sp>
      <p:sp>
        <p:nvSpPr>
          <p:cNvPr id="12" name="marker-11"/>
          <p:cNvSpPr/>
          <p:nvPr/>
        </p:nvSpPr>
        <p:spPr>
          <a:xfrm>
            <a:off x="2606040" y="6922008"/>
            <a:ext cx="365760" cy="365760"/>
          </a:xfrm>
          <a:prstGeom prst="ellipse">
            <a:avLst/>
          </a:prstGeom>
          <a:solidFill>
            <a:schemeClr val="accent3"/>
          </a:solidFill>
          <a:ln w="12700">
            <a:solidFill>
              <a:schemeClr val="accent3"/>
            </a:solidFill>
            <a:prstDash val="solid"/>
          </a:ln>
        </p:spPr>
      </p:sp>
      <p:sp>
        <p:nvSpPr>
          <p:cNvPr id="13" name="text-12"/>
          <p:cNvSpPr txBox="1"/>
          <p:nvPr/>
        </p:nvSpPr>
        <p:spPr>
          <a:xfrm>
            <a:off x="2606040" y="69220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4" name="text-13"/>
          <p:cNvSpPr txBox="1"/>
          <p:nvPr/>
        </p:nvSpPr>
        <p:spPr>
          <a:xfrm>
            <a:off x="3044952" y="6867144"/>
            <a:ext cx="17739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FUSION CORE</a:t>
            </a:r>
            <a:endParaRPr lang="en-US" sz="1050" dirty="0"/>
          </a:p>
          <a:p>
            <a:pPr indent="0" marL="0">
              <a:lnSpc>
                <a:spcPct val="105000"/>
              </a:lnSpc>
              <a:buNone/>
            </a:pPr>
            <a:r>
              <a:rPr lang="en-US" sz="850" i="1" dirty="0">
                <a:solidFill>
                  <a:schemeClr val="bg2"/>
                </a:solidFill>
              </a:rPr>
              <a:t>The city’s own sun  ·  P. 12</a:t>
            </a:r>
            <a:endParaRPr lang="en-US" sz="1050" dirty="0"/>
          </a:p>
        </p:txBody>
      </p:sp>
      <p:sp>
        <p:nvSpPr>
          <p:cNvPr id="15" name="cover-leader-14"/>
          <p:cNvSpPr/>
          <p:nvPr/>
        </p:nvSpPr>
        <p:spPr>
          <a:xfrm>
            <a:off x="6035040" y="4425696"/>
            <a:ext cx="557784" cy="1664208"/>
          </a:xfrm>
          <a:prstGeom prst="line">
            <a:avLst/>
          </a:prstGeom>
          <a:noFill/>
          <a:ln w="15875">
            <a:solidFill>
              <a:schemeClr val="bg1"/>
            </a:solidFill>
            <a:prstDash val="solid"/>
          </a:ln>
        </p:spPr>
      </p:sp>
      <p:sp>
        <p:nvSpPr>
          <p:cNvPr id="16" name="cover-pin-15"/>
          <p:cNvSpPr/>
          <p:nvPr/>
        </p:nvSpPr>
        <p:spPr>
          <a:xfrm>
            <a:off x="6510528" y="6007608"/>
            <a:ext cx="164592" cy="164592"/>
          </a:xfrm>
          <a:prstGeom prst="ellipse">
            <a:avLst/>
          </a:prstGeom>
          <a:solidFill>
            <a:schemeClr val="accent4"/>
          </a:solidFill>
          <a:ln w="19050">
            <a:solidFill>
              <a:schemeClr val="bg1"/>
            </a:solidFill>
            <a:prstDash val="solid"/>
          </a:ln>
        </p:spPr>
      </p:sp>
      <p:sp>
        <p:nvSpPr>
          <p:cNvPr id="17" name="cover-label-16"/>
          <p:cNvSpPr/>
          <p:nvPr/>
        </p:nvSpPr>
        <p:spPr>
          <a:xfrm>
            <a:off x="3931920" y="3840480"/>
            <a:ext cx="2423160" cy="585216"/>
          </a:xfrm>
          <a:prstGeom prst="roundRect">
            <a:avLst>
              <a:gd name="adj" fmla="val 9375"/>
            </a:avLst>
          </a:prstGeom>
          <a:solidFill>
            <a:schemeClr val="tx1">
              <a:alpha val="88000"/>
            </a:schemeClr>
          </a:solidFill>
          <a:ln w="15875">
            <a:solidFill>
              <a:schemeClr val="accent4"/>
            </a:solidFill>
            <a:prstDash val="solid"/>
          </a:ln>
        </p:spPr>
      </p:sp>
      <p:sp>
        <p:nvSpPr>
          <p:cNvPr id="18" name="marker-17"/>
          <p:cNvSpPr/>
          <p:nvPr/>
        </p:nvSpPr>
        <p:spPr>
          <a:xfrm>
            <a:off x="4023360" y="3950208"/>
            <a:ext cx="365760" cy="365760"/>
          </a:xfrm>
          <a:prstGeom prst="ellipse">
            <a:avLst/>
          </a:prstGeom>
          <a:solidFill>
            <a:schemeClr val="accent4"/>
          </a:solidFill>
          <a:ln w="12700">
            <a:solidFill>
              <a:schemeClr val="accent4"/>
            </a:solidFill>
            <a:prstDash val="solid"/>
          </a:ln>
        </p:spPr>
      </p:sp>
      <p:sp>
        <p:nvSpPr>
          <p:cNvPr id="19" name="text-18"/>
          <p:cNvSpPr txBox="1"/>
          <p:nvPr/>
        </p:nvSpPr>
        <p:spPr>
          <a:xfrm>
            <a:off x="4023360" y="39502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20" name="text-19"/>
          <p:cNvSpPr txBox="1"/>
          <p:nvPr/>
        </p:nvSpPr>
        <p:spPr>
          <a:xfrm>
            <a:off x="4462272" y="3895344"/>
            <a:ext cx="181965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SNOW-TO-FOOD PLANT</a:t>
            </a:r>
            <a:endParaRPr lang="en-US" sz="1050" dirty="0"/>
          </a:p>
          <a:p>
            <a:pPr indent="0" marL="0">
              <a:lnSpc>
                <a:spcPct val="105000"/>
              </a:lnSpc>
              <a:buNone/>
            </a:pPr>
            <a:r>
              <a:rPr lang="en-US" sz="850" i="1" dirty="0">
                <a:solidFill>
                  <a:schemeClr val="bg2"/>
                </a:solidFill>
              </a:rPr>
              <a:t>Bread and water from snow  ·  P. 15</a:t>
            </a:r>
            <a:endParaRPr lang="en-US" sz="1050" dirty="0"/>
          </a:p>
        </p:txBody>
      </p:sp>
      <p:sp>
        <p:nvSpPr>
          <p:cNvPr id="21" name="cover-leader-20"/>
          <p:cNvSpPr/>
          <p:nvPr/>
        </p:nvSpPr>
        <p:spPr>
          <a:xfrm>
            <a:off x="1636776" y="4105656"/>
            <a:ext cx="914" cy="649224"/>
          </a:xfrm>
          <a:prstGeom prst="line">
            <a:avLst/>
          </a:prstGeom>
          <a:noFill/>
          <a:ln w="15875">
            <a:solidFill>
              <a:schemeClr val="bg1"/>
            </a:solidFill>
            <a:prstDash val="solid"/>
          </a:ln>
        </p:spPr>
      </p:sp>
      <p:sp>
        <p:nvSpPr>
          <p:cNvPr id="22" name="cover-pin-21"/>
          <p:cNvSpPr/>
          <p:nvPr/>
        </p:nvSpPr>
        <p:spPr>
          <a:xfrm>
            <a:off x="1554480" y="4672584"/>
            <a:ext cx="164592" cy="164592"/>
          </a:xfrm>
          <a:prstGeom prst="ellipse">
            <a:avLst/>
          </a:prstGeom>
          <a:solidFill>
            <a:schemeClr val="accent5"/>
          </a:solidFill>
          <a:ln w="19050">
            <a:solidFill>
              <a:schemeClr val="bg1"/>
            </a:solidFill>
            <a:prstDash val="solid"/>
          </a:ln>
        </p:spPr>
      </p:sp>
      <p:sp>
        <p:nvSpPr>
          <p:cNvPr id="23" name="cover-label-22"/>
          <p:cNvSpPr/>
          <p:nvPr/>
        </p:nvSpPr>
        <p:spPr>
          <a:xfrm>
            <a:off x="365760" y="3520440"/>
            <a:ext cx="2606040" cy="585216"/>
          </a:xfrm>
          <a:prstGeom prst="roundRect">
            <a:avLst>
              <a:gd name="adj" fmla="val 9375"/>
            </a:avLst>
          </a:prstGeom>
          <a:solidFill>
            <a:schemeClr val="tx1">
              <a:alpha val="88000"/>
            </a:schemeClr>
          </a:solidFill>
          <a:ln w="15875">
            <a:solidFill>
              <a:schemeClr val="accent5"/>
            </a:solidFill>
            <a:prstDash val="solid"/>
          </a:ln>
        </p:spPr>
      </p:sp>
      <p:sp>
        <p:nvSpPr>
          <p:cNvPr id="24" name="marker-23"/>
          <p:cNvSpPr/>
          <p:nvPr/>
        </p:nvSpPr>
        <p:spPr>
          <a:xfrm>
            <a:off x="457200" y="3630168"/>
            <a:ext cx="365760" cy="365760"/>
          </a:xfrm>
          <a:prstGeom prst="ellipse">
            <a:avLst/>
          </a:prstGeom>
          <a:solidFill>
            <a:schemeClr val="accent5"/>
          </a:solidFill>
          <a:ln w="12700">
            <a:solidFill>
              <a:schemeClr val="accent5"/>
            </a:solidFill>
            <a:prstDash val="solid"/>
          </a:ln>
        </p:spPr>
      </p:sp>
      <p:sp>
        <p:nvSpPr>
          <p:cNvPr id="25" name="text-24"/>
          <p:cNvSpPr txBox="1"/>
          <p:nvPr/>
        </p:nvSpPr>
        <p:spPr>
          <a:xfrm>
            <a:off x="457200" y="36301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6" name="text-25"/>
          <p:cNvSpPr txBox="1"/>
          <p:nvPr/>
        </p:nvSpPr>
        <p:spPr>
          <a:xfrm>
            <a:off x="896112" y="3575304"/>
            <a:ext cx="2002536" cy="475488"/>
          </a:xfrm>
          <a:prstGeom prst="rect">
            <a:avLst/>
          </a:prstGeom>
          <a:noFill/>
          <a:ln/>
        </p:spPr>
        <p:txBody>
          <a:bodyPr wrap="square" lIns="0" tIns="0" rIns="0" bIns="0" rtlCol="0" anchor="ctr"/>
          <a:lstStyle/>
          <a:p>
            <a:pPr indent="0" marL="0">
              <a:lnSpc>
                <a:spcPct val="105000"/>
              </a:lnSpc>
              <a:buNone/>
            </a:pPr>
            <a:r>
              <a:rPr lang="en-US" sz="1000" b="1" spc="150" kern="0" dirty="0">
                <a:solidFill>
                  <a:schemeClr val="bg1"/>
                </a:solidFill>
              </a:rPr>
              <a:t>MOUNT AURORA</a:t>
            </a:r>
            <a:endParaRPr lang="en-US" sz="1050" dirty="0"/>
          </a:p>
          <a:p>
            <a:pPr indent="0" marL="0">
              <a:lnSpc>
                <a:spcPct val="105000"/>
              </a:lnSpc>
              <a:buNone/>
            </a:pPr>
            <a:r>
              <a:rPr lang="en-US" sz="850" i="1" dirty="0">
                <a:solidFill>
                  <a:schemeClr val="bg2"/>
                </a:solidFill>
              </a:rPr>
              <a:t>A snow mountain you can walk inside  ·  P. 17</a:t>
            </a:r>
            <a:endParaRPr lang="en-US" sz="1050" dirty="0"/>
          </a:p>
        </p:txBody>
      </p:sp>
      <p:sp>
        <p:nvSpPr>
          <p:cNvPr id="27" name="text-26"/>
          <p:cNvSpPr txBox="1"/>
          <p:nvPr/>
        </p:nvSpPr>
        <p:spPr>
          <a:xfrm>
            <a:off x="548640" y="8339328"/>
            <a:ext cx="6464808" cy="91440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100000"/>
              </a:lnSpc>
              <a:buNone/>
            </a:pPr>
            <a:r>
              <a:rPr lang="en-US" sz="2500" b="1" dirty="0">
                <a:solidFill>
                  <a:schemeClr val="bg1"/>
                </a:solidFill>
                <a:latin typeface="+mj-lt" pitchFamily="34" charset="0"/>
                <a:ea typeface="+mj-lt" pitchFamily="34" charset="-122"/>
                <a:cs typeface="+mj-lt" pitchFamily="34" charset="-120"/>
              </a:rPr>
              <a:t>Its own sun. Its own food.</a:t>
            </a:r>
            <a:endParaRPr lang="en-US" sz="2500" dirty="0"/>
          </a:p>
          <a:p>
            <a:pPr indent="0" marL="0">
              <a:lnSpc>
                <a:spcPct val="100000"/>
              </a:lnSpc>
              <a:buNone/>
            </a:pPr>
            <a:r>
              <a:rPr lang="en-US" sz="2500" b="1" dirty="0">
                <a:solidFill>
                  <a:schemeClr val="accent1"/>
                </a:solidFill>
                <a:latin typeface="+mj-lt" pitchFamily="34" charset="0"/>
                <a:ea typeface="+mj-lt" pitchFamily="34" charset="-122"/>
                <a:cs typeface="+mj-lt" pitchFamily="34" charset="-120"/>
              </a:rPr>
              <a:t>A mountain you can walk inside.</a:t>
            </a:r>
            <a:endParaRPr lang="en-US" sz="2500" dirty="0"/>
          </a:p>
        </p:txBody>
      </p:sp>
      <p:sp>
        <p:nvSpPr>
          <p:cNvPr id="28" name="text-27"/>
          <p:cNvSpPr txBox="1"/>
          <p:nvPr/>
        </p:nvSpPr>
        <p:spPr>
          <a:xfrm>
            <a:off x="548640" y="9326880"/>
            <a:ext cx="6464808" cy="274320"/>
          </a:xfrm>
          <a:prstGeom prst="rect">
            <a:avLst/>
          </a:prstGeom>
          <a:noFill/>
          <a:ln/>
        </p:spPr>
        <p:txBody>
          <a:bodyPr wrap="square" lIns="0" tIns="0" rIns="0" bIns="0" rtlCol="0" anchor="t"/>
          <a:lstStyle/>
          <a:p>
            <a:pPr indent="0" marL="0">
              <a:buNone/>
            </a:pPr>
            <a:r>
              <a:rPr lang="en-US" sz="850" b="1" spc="200" kern="0" dirty="0">
                <a:solidFill>
                  <a:schemeClr val="accent1"/>
                </a:solidFill>
              </a:rPr>
              <a:t>INSIDE   </a:t>
            </a:r>
            <a:pPr indent="0" marL="0">
              <a:buNone/>
            </a:pPr>
            <a:r>
              <a:rPr lang="en-US" sz="850" dirty="0">
                <a:solidFill>
                  <a:schemeClr val="bg1"/>
                </a:solidFill>
              </a:rPr>
              <a:t>−45 °C and no sun: the polar challenge  p. 6   ·   Explore our 3D city  p. 21   ·   Invest in Aurora Haven  p. 32</a:t>
            </a:r>
            <a:endParaRPr lang="en-US" sz="850" dirty="0"/>
          </a:p>
        </p:txBody>
      </p:sp>
      <p:sp>
        <p:nvSpPr>
          <p:cNvPr id="29" name="cover-footer-rule"/>
          <p:cNvSpPr/>
          <p:nvPr/>
        </p:nvSpPr>
        <p:spPr>
          <a:xfrm>
            <a:off x="548640" y="9710928"/>
            <a:ext cx="6464808" cy="0"/>
          </a:xfrm>
          <a:prstGeom prst="line">
            <a:avLst/>
          </a:prstGeom>
          <a:noFill/>
          <a:ln w="6350">
            <a:solidFill>
              <a:schemeClr val="bg1">
                <a:alpha val="50000"/>
              </a:schemeClr>
            </a:solidFill>
            <a:prstDash val="solid"/>
          </a:ln>
        </p:spPr>
      </p:sp>
      <p:pic>
        <p:nvPicPr>
          <p:cNvPr id="30" name="cover-school-logo" descr="/home/user/chatbox-bi-n-o/magazine/assets/ui/school_logo.png">    </p:cNvPr>
          <p:cNvPicPr>
            <a:picLocks noChangeAspect="1"/>
          </p:cNvPicPr>
          <p:nvPr/>
        </p:nvPicPr>
        <p:blipFill>
          <a:blip r:embed="rId4"/>
          <a:stretch>
            <a:fillRect/>
          </a:stretch>
        </p:blipFill>
        <p:spPr>
          <a:xfrm>
            <a:off x="548640" y="9838944"/>
            <a:ext cx="502920" cy="502920"/>
          </a:xfrm>
          <a:prstGeom prst="rect">
            <a:avLst/>
          </a:prstGeom>
        </p:spPr>
      </p:pic>
      <p:sp>
        <p:nvSpPr>
          <p:cNvPr id="31" name="text-28"/>
          <p:cNvSpPr txBox="1"/>
          <p:nvPr/>
        </p:nvSpPr>
        <p:spPr>
          <a:xfrm>
            <a:off x="1188720" y="9966960"/>
            <a:ext cx="4023360" cy="237744"/>
          </a:xfrm>
          <a:prstGeom prst="rect">
            <a:avLst/>
          </a:prstGeom>
          <a:noFill/>
          <a:ln/>
        </p:spPr>
        <p:txBody>
          <a:bodyPr wrap="square" lIns="0" tIns="0" rIns="0" bIns="0" rtlCol="0" anchor="t"/>
          <a:lstStyle/>
          <a:p>
            <a:pPr indent="0" marL="0">
              <a:buNone/>
            </a:pPr>
            <a:r>
              <a:rPr lang="en-US" sz="800" b="1" dirty="0">
                <a:solidFill>
                  <a:schemeClr val="bg1"/>
                </a:solidFill>
                <a:latin typeface="Arial" pitchFamily="34" charset="0"/>
                <a:ea typeface="Arial" pitchFamily="34" charset="-122"/>
                <a:cs typeface="Arial" pitchFamily="34" charset="-120"/>
              </a:rPr>
              <a:t>POLAR CITY  ·  CLASS 11A4  ·  LÊ QUÝ ĐÔN HIGH SCHOOL</a:t>
            </a:r>
            <a:endParaRPr lang="en-US" sz="800" dirty="0"/>
          </a:p>
        </p:txBody>
      </p:sp>
      <p:sp>
        <p:nvSpPr>
          <p:cNvPr id="32" name="text-29"/>
          <p:cNvSpPr txBox="1"/>
          <p:nvPr/>
        </p:nvSpPr>
        <p:spPr>
          <a:xfrm>
            <a:off x="5184648" y="9966960"/>
            <a:ext cx="1828800" cy="237744"/>
          </a:xfrm>
          <a:prstGeom prst="rect">
            <a:avLst/>
          </a:prstGeom>
          <a:noFill/>
          <a:ln/>
        </p:spPr>
        <p:txBody>
          <a:bodyPr wrap="square" lIns="0" tIns="0" rIns="0" bIns="0" rtlCol="0" anchor="t"/>
          <a:lstStyle/>
          <a:p>
            <a:pPr algn="r" indent="0" marL="0">
              <a:buNone/>
            </a:pPr>
            <a:r>
              <a:rPr lang="en-US" sz="800" b="1" spc="200" kern="0" dirty="0">
                <a:solidFill>
                  <a:schemeClr val="bg2"/>
                </a:solidFill>
              </a:rPr>
              <a:t>A CONCEPT MAGAZINE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30" descr="/home/user/chatbox-bi-n-o/magazine/assets/renders/street_dusk.jpg">    </p:cNvPr>
          <p:cNvPicPr>
            <a:picLocks noChangeAspect="1"/>
          </p:cNvPicPr>
          <p:nvPr/>
        </p:nvPicPr>
        <p:blipFill>
          <a:blip r:embed="rId1"/>
          <a:srcRect l="0" r="0" t="0" b="0"/>
          <a:stretch/>
        </p:blipFill>
        <p:spPr>
          <a:xfrm>
            <a:off x="0" y="0"/>
            <a:ext cx="7562088" cy="3657600"/>
          </a:xfrm>
          <a:prstGeom prst="rect">
            <a:avLst/>
          </a:prstGeom>
        </p:spPr>
      </p:pic>
      <p:pic>
        <p:nvPicPr>
          <p:cNvPr id="3" name="shade-bottom-31" descr="/home/user/chatbox-bi-n-o/magazine/assets/ui/shade_bottom.png">    </p:cNvPr>
          <p:cNvPicPr>
            <a:picLocks noChangeAspect="1"/>
          </p:cNvPicPr>
          <p:nvPr/>
        </p:nvPicPr>
        <p:blipFill>
          <a:blip r:embed="rId2"/>
          <a:stretch>
            <a:fillRect/>
          </a:stretch>
        </p:blipFill>
        <p:spPr>
          <a:xfrm>
            <a:off x="0" y="1371600"/>
            <a:ext cx="7562088" cy="2286000"/>
          </a:xfrm>
          <a:prstGeom prst="rect">
            <a:avLst/>
          </a:prstGeom>
        </p:spPr>
      </p:pic>
      <p:sp>
        <p:nvSpPr>
          <p:cNvPr id="4" name="kicker-dot-32"/>
          <p:cNvSpPr/>
          <p:nvPr/>
        </p:nvSpPr>
        <p:spPr>
          <a:xfrm>
            <a:off x="548640" y="2491740"/>
            <a:ext cx="100584" cy="100584"/>
          </a:xfrm>
          <a:prstGeom prst="ellipse">
            <a:avLst/>
          </a:prstGeom>
          <a:solidFill>
            <a:schemeClr val="accent1"/>
          </a:solidFill>
          <a:ln w="12700">
            <a:solidFill>
              <a:schemeClr val="accent1"/>
            </a:solidFill>
            <a:prstDash val="solid"/>
          </a:ln>
        </p:spPr>
      </p:sp>
      <p:sp>
        <p:nvSpPr>
          <p:cNvPr id="5" name="text-33"/>
          <p:cNvSpPr txBox="1"/>
          <p:nvPr/>
        </p:nvSpPr>
        <p:spPr>
          <a:xfrm>
            <a:off x="731520" y="245059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34"/>
          <p:cNvSpPr txBox="1"/>
          <p:nvPr/>
        </p:nvSpPr>
        <p:spPr>
          <a:xfrm>
            <a:off x="548640" y="270662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kicker-dot-36"/>
          <p:cNvSpPr/>
          <p:nvPr/>
        </p:nvSpPr>
        <p:spPr>
          <a:xfrm>
            <a:off x="548640" y="4018788"/>
            <a:ext cx="100584" cy="100584"/>
          </a:xfrm>
          <a:prstGeom prst="ellipse">
            <a:avLst/>
          </a:prstGeom>
          <a:solidFill>
            <a:schemeClr val="accent6"/>
          </a:solidFill>
          <a:ln w="12700">
            <a:solidFill>
              <a:schemeClr val="accent6"/>
            </a:solidFill>
            <a:prstDash val="solid"/>
          </a:ln>
        </p:spPr>
      </p:sp>
      <p:sp>
        <p:nvSpPr>
          <p:cNvPr id="8" name="text-37"/>
          <p:cNvSpPr txBox="1"/>
          <p:nvPr/>
        </p:nvSpPr>
        <p:spPr>
          <a:xfrm>
            <a:off x="731520" y="397764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WELCOME</a:t>
            </a:r>
            <a:endParaRPr lang="en-US" sz="900" dirty="0"/>
          </a:p>
        </p:txBody>
      </p:sp>
      <p:sp>
        <p:nvSpPr>
          <p:cNvPr id="9" name="text-38"/>
          <p:cNvSpPr txBox="1"/>
          <p:nvPr/>
        </p:nvSpPr>
        <p:spPr>
          <a:xfrm>
            <a:off x="548640" y="42793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a:t>
            </a:r>
            <a:endParaRPr lang="en-US" sz="1600" dirty="0"/>
          </a:p>
        </p:txBody>
      </p:sp>
      <p:sp>
        <p:nvSpPr>
          <p:cNvPr id="10" name="text-39"/>
          <p:cNvSpPr txBox="1"/>
          <p:nvPr/>
        </p:nvSpPr>
        <p:spPr>
          <a:xfrm>
            <a:off x="1051560" y="43068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Letter from the Founders</a:t>
            </a:r>
            <a:endParaRPr lang="en-US" sz="1000" dirty="0"/>
          </a:p>
        </p:txBody>
      </p:sp>
      <p:sp>
        <p:nvSpPr>
          <p:cNvPr id="11" name="text-40"/>
          <p:cNvSpPr txBox="1"/>
          <p:nvPr/>
        </p:nvSpPr>
        <p:spPr>
          <a:xfrm>
            <a:off x="1051560" y="4480560"/>
            <a:ext cx="2592324" cy="182880"/>
          </a:xfrm>
          <a:prstGeom prst="rect">
            <a:avLst/>
          </a:prstGeom>
          <a:noFill/>
          <a:ln/>
        </p:spPr>
        <p:txBody>
          <a:bodyPr wrap="square" lIns="0" tIns="0" rIns="0" bIns="0" rtlCol="0" anchor="t"/>
          <a:lstStyle/>
          <a:p>
            <a:pPr indent="0" marL="0">
              <a:buNone/>
            </a:pPr>
            <a:r>
              <a:rPr lang="en-US" sz="800" dirty="0">
                <a:solidFill>
                  <a:schemeClr val="tx2"/>
                </a:solidFill>
              </a:rPr>
              <a:t>Who we are and why we built Aurora Haven</a:t>
            </a:r>
            <a:endParaRPr lang="en-US" sz="800" dirty="0"/>
          </a:p>
        </p:txBody>
      </p:sp>
      <p:sp>
        <p:nvSpPr>
          <p:cNvPr id="12" name="text-41"/>
          <p:cNvSpPr txBox="1"/>
          <p:nvPr/>
        </p:nvSpPr>
        <p:spPr>
          <a:xfrm>
            <a:off x="548640" y="46451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4</a:t>
            </a:r>
            <a:endParaRPr lang="en-US" sz="1600" dirty="0"/>
          </a:p>
        </p:txBody>
      </p:sp>
      <p:sp>
        <p:nvSpPr>
          <p:cNvPr id="13" name="text-42"/>
          <p:cNvSpPr txBox="1"/>
          <p:nvPr/>
        </p:nvSpPr>
        <p:spPr>
          <a:xfrm>
            <a:off x="1051560" y="46725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Welcome to Aurora Haven</a:t>
            </a:r>
            <a:endParaRPr lang="en-US" sz="1000" dirty="0"/>
          </a:p>
        </p:txBody>
      </p:sp>
      <p:sp>
        <p:nvSpPr>
          <p:cNvPr id="14" name="text-43"/>
          <p:cNvSpPr txBox="1"/>
          <p:nvPr/>
        </p:nvSpPr>
        <p:spPr>
          <a:xfrm>
            <a:off x="1051560" y="4846320"/>
            <a:ext cx="2592324" cy="182880"/>
          </a:xfrm>
          <a:prstGeom prst="rect">
            <a:avLst/>
          </a:prstGeom>
          <a:noFill/>
          <a:ln/>
        </p:spPr>
        <p:txBody>
          <a:bodyPr wrap="square" lIns="0" tIns="0" rIns="0" bIns="0" rtlCol="0" anchor="t"/>
          <a:lstStyle/>
          <a:p>
            <a:pPr indent="0" marL="0">
              <a:buNone/>
            </a:pPr>
            <a:r>
              <a:rPr lang="en-US" sz="800" dirty="0">
                <a:solidFill>
                  <a:schemeClr val="tx2"/>
                </a:solidFill>
              </a:rPr>
              <a:t>A compact city of 45,000 under a snow peak</a:t>
            </a:r>
            <a:endParaRPr lang="en-US" sz="800" dirty="0"/>
          </a:p>
        </p:txBody>
      </p:sp>
      <p:sp>
        <p:nvSpPr>
          <p:cNvPr id="15" name="text-44"/>
          <p:cNvSpPr txBox="1"/>
          <p:nvPr/>
        </p:nvSpPr>
        <p:spPr>
          <a:xfrm>
            <a:off x="548640" y="50109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6</a:t>
            </a:r>
            <a:endParaRPr lang="en-US" sz="1600" dirty="0"/>
          </a:p>
        </p:txBody>
      </p:sp>
      <p:sp>
        <p:nvSpPr>
          <p:cNvPr id="16" name="text-45"/>
          <p:cNvSpPr txBox="1"/>
          <p:nvPr/>
        </p:nvSpPr>
        <p:spPr>
          <a:xfrm>
            <a:off x="1051560" y="50383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Polar Challenge</a:t>
            </a:r>
            <a:endParaRPr lang="en-US" sz="1000" dirty="0"/>
          </a:p>
        </p:txBody>
      </p:sp>
      <p:sp>
        <p:nvSpPr>
          <p:cNvPr id="17" name="text-46"/>
          <p:cNvSpPr txBox="1"/>
          <p:nvPr/>
        </p:nvSpPr>
        <p:spPr>
          <a:xfrm>
            <a:off x="1051560" y="5212080"/>
            <a:ext cx="2592324" cy="182880"/>
          </a:xfrm>
          <a:prstGeom prst="rect">
            <a:avLst/>
          </a:prstGeom>
          <a:noFill/>
          <a:ln/>
        </p:spPr>
        <p:txBody>
          <a:bodyPr wrap="square" lIns="0" tIns="0" rIns="0" bIns="0" rtlCol="0" anchor="t"/>
          <a:lstStyle/>
          <a:p>
            <a:pPr indent="0" marL="0">
              <a:buNone/>
            </a:pPr>
            <a:r>
              <a:rPr lang="en-US" sz="800" dirty="0">
                <a:solidFill>
                  <a:schemeClr val="tx2"/>
                </a:solidFill>
              </a:rPr>
              <a:t>Cold, darkness, wind and thawing ground</a:t>
            </a:r>
            <a:endParaRPr lang="en-US" sz="800" dirty="0"/>
          </a:p>
        </p:txBody>
      </p:sp>
      <p:sp>
        <p:nvSpPr>
          <p:cNvPr id="18" name="text-47"/>
          <p:cNvSpPr txBox="1"/>
          <p:nvPr/>
        </p:nvSpPr>
        <p:spPr>
          <a:xfrm>
            <a:off x="548640" y="53766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7</a:t>
            </a:r>
            <a:endParaRPr lang="en-US" sz="1600" dirty="0"/>
          </a:p>
        </p:txBody>
      </p:sp>
      <p:sp>
        <p:nvSpPr>
          <p:cNvPr id="19" name="text-48"/>
          <p:cNvSpPr txBox="1"/>
          <p:nvPr/>
        </p:nvSpPr>
        <p:spPr>
          <a:xfrm>
            <a:off x="1051560" y="54041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Our Vision &amp; Mission</a:t>
            </a:r>
            <a:endParaRPr lang="en-US" sz="1000" dirty="0"/>
          </a:p>
        </p:txBody>
      </p:sp>
      <p:sp>
        <p:nvSpPr>
          <p:cNvPr id="20" name="text-49"/>
          <p:cNvSpPr txBox="1"/>
          <p:nvPr/>
        </p:nvSpPr>
        <p:spPr>
          <a:xfrm>
            <a:off x="1051560" y="5577840"/>
            <a:ext cx="2592324" cy="182880"/>
          </a:xfrm>
          <a:prstGeom prst="rect">
            <a:avLst/>
          </a:prstGeom>
          <a:noFill/>
          <a:ln/>
        </p:spPr>
        <p:txBody>
          <a:bodyPr wrap="square" lIns="0" tIns="0" rIns="0" bIns="0" rtlCol="0" anchor="t"/>
          <a:lstStyle/>
          <a:p>
            <a:pPr indent="0" marL="0">
              <a:buNone/>
            </a:pPr>
            <a:r>
              <a:rPr lang="en-US" sz="800" dirty="0">
                <a:solidFill>
                  <a:schemeClr val="tx2"/>
                </a:solidFill>
              </a:rPr>
              <a:t>Who is affected, and the five ideas that answer it</a:t>
            </a:r>
            <a:endParaRPr lang="en-US" sz="800" dirty="0"/>
          </a:p>
        </p:txBody>
      </p:sp>
      <p:sp>
        <p:nvSpPr>
          <p:cNvPr id="21" name="kicker-dot-50"/>
          <p:cNvSpPr/>
          <p:nvPr/>
        </p:nvSpPr>
        <p:spPr>
          <a:xfrm>
            <a:off x="548640" y="5920740"/>
            <a:ext cx="100584" cy="100584"/>
          </a:xfrm>
          <a:prstGeom prst="ellipse">
            <a:avLst/>
          </a:prstGeom>
          <a:solidFill>
            <a:schemeClr val="accent6"/>
          </a:solidFill>
          <a:ln w="12700">
            <a:solidFill>
              <a:schemeClr val="accent6"/>
            </a:solidFill>
            <a:prstDash val="solid"/>
          </a:ln>
        </p:spPr>
      </p:sp>
      <p:sp>
        <p:nvSpPr>
          <p:cNvPr id="22" name="text-51"/>
          <p:cNvSpPr txBox="1"/>
          <p:nvPr/>
        </p:nvSpPr>
        <p:spPr>
          <a:xfrm>
            <a:off x="731520" y="587959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CITY</a:t>
            </a:r>
            <a:endParaRPr lang="en-US" sz="900" dirty="0"/>
          </a:p>
        </p:txBody>
      </p:sp>
      <p:sp>
        <p:nvSpPr>
          <p:cNvPr id="23" name="text-52"/>
          <p:cNvSpPr txBox="1"/>
          <p:nvPr/>
        </p:nvSpPr>
        <p:spPr>
          <a:xfrm>
            <a:off x="548640" y="618134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8</a:t>
            </a:r>
            <a:endParaRPr lang="en-US" sz="1600" dirty="0"/>
          </a:p>
        </p:txBody>
      </p:sp>
      <p:sp>
        <p:nvSpPr>
          <p:cNvPr id="24" name="text-53"/>
          <p:cNvSpPr txBox="1"/>
          <p:nvPr/>
        </p:nvSpPr>
        <p:spPr>
          <a:xfrm>
            <a:off x="1051560" y="6208776"/>
            <a:ext cx="2592324" cy="182880"/>
          </a:xfrm>
          <a:prstGeom prst="rect">
            <a:avLst/>
          </a:prstGeom>
          <a:noFill/>
          <a:ln/>
        </p:spPr>
        <p:txBody>
          <a:bodyPr wrap="square" lIns="0" tIns="0" rIns="0" bIns="0" rtlCol="0" anchor="t"/>
          <a:lstStyle/>
          <a:p>
            <a:pPr indent="0" marL="0">
              <a:buNone/>
            </a:pPr>
            <a:r>
              <a:rPr lang="en-US" sz="1000" b="1" dirty="0">
                <a:solidFill>
                  <a:schemeClr val="tx1"/>
                </a:solidFill>
              </a:rPr>
              <a:t>Nine Blocks, One Short Walk</a:t>
            </a:r>
            <a:endParaRPr lang="en-US" sz="1000" dirty="0"/>
          </a:p>
        </p:txBody>
      </p:sp>
      <p:sp>
        <p:nvSpPr>
          <p:cNvPr id="25" name="text-54"/>
          <p:cNvSpPr txBox="1"/>
          <p:nvPr/>
        </p:nvSpPr>
        <p:spPr>
          <a:xfrm>
            <a:off x="1051560" y="6382512"/>
            <a:ext cx="2592324" cy="182880"/>
          </a:xfrm>
          <a:prstGeom prst="rect">
            <a:avLst/>
          </a:prstGeom>
          <a:noFill/>
          <a:ln/>
        </p:spPr>
        <p:txBody>
          <a:bodyPr wrap="square" lIns="0" tIns="0" rIns="0" bIns="0" rtlCol="0" anchor="t"/>
          <a:lstStyle/>
          <a:p>
            <a:pPr indent="0" marL="0">
              <a:buNone/>
            </a:pPr>
            <a:r>
              <a:rPr lang="en-US" sz="800" dirty="0">
                <a:solidFill>
                  <a:schemeClr val="tx2"/>
                </a:solidFill>
              </a:rPr>
              <a:t>Downtown around the Aurora Roundabout</a:t>
            </a:r>
            <a:endParaRPr lang="en-US" sz="800" dirty="0"/>
          </a:p>
        </p:txBody>
      </p:sp>
      <p:sp>
        <p:nvSpPr>
          <p:cNvPr id="26" name="text-55"/>
          <p:cNvSpPr txBox="1"/>
          <p:nvPr/>
        </p:nvSpPr>
        <p:spPr>
          <a:xfrm>
            <a:off x="548640" y="654710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10</a:t>
            </a:r>
            <a:endParaRPr lang="en-US" sz="1600" dirty="0"/>
          </a:p>
        </p:txBody>
      </p:sp>
      <p:sp>
        <p:nvSpPr>
          <p:cNvPr id="27" name="text-56"/>
          <p:cNvSpPr txBox="1"/>
          <p:nvPr/>
        </p:nvSpPr>
        <p:spPr>
          <a:xfrm>
            <a:off x="1051560" y="657453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Whole City Plan</a:t>
            </a:r>
            <a:endParaRPr lang="en-US" sz="1000" dirty="0"/>
          </a:p>
        </p:txBody>
      </p:sp>
      <p:sp>
        <p:nvSpPr>
          <p:cNvPr id="28" name="text-57"/>
          <p:cNvSpPr txBox="1"/>
          <p:nvPr/>
        </p:nvSpPr>
        <p:spPr>
          <a:xfrm>
            <a:off x="1051560" y="6748272"/>
            <a:ext cx="2592324" cy="182880"/>
          </a:xfrm>
          <a:prstGeom prst="rect">
            <a:avLst/>
          </a:prstGeom>
          <a:noFill/>
          <a:ln/>
        </p:spPr>
        <p:txBody>
          <a:bodyPr wrap="square" lIns="0" tIns="0" rIns="0" bIns="0" rtlCol="0" anchor="t"/>
          <a:lstStyle/>
          <a:p>
            <a:pPr indent="0" marL="0">
              <a:buNone/>
            </a:pPr>
            <a:r>
              <a:rPr lang="en-US" sz="800" dirty="0">
                <a:solidFill>
                  <a:schemeClr val="tx2"/>
                </a:solidFill>
              </a:rPr>
              <a:t>From the wind farm to Mount Aurora</a:t>
            </a:r>
            <a:endParaRPr lang="en-US" sz="800" dirty="0"/>
          </a:p>
        </p:txBody>
      </p:sp>
      <p:sp>
        <p:nvSpPr>
          <p:cNvPr id="29" name="kicker-dot-58"/>
          <p:cNvSpPr/>
          <p:nvPr/>
        </p:nvSpPr>
        <p:spPr>
          <a:xfrm>
            <a:off x="548640" y="7091172"/>
            <a:ext cx="100584" cy="100584"/>
          </a:xfrm>
          <a:prstGeom prst="ellipse">
            <a:avLst/>
          </a:prstGeom>
          <a:solidFill>
            <a:schemeClr val="accent5"/>
          </a:solidFill>
          <a:ln w="12700">
            <a:solidFill>
              <a:schemeClr val="accent5"/>
            </a:solidFill>
            <a:prstDash val="solid"/>
          </a:ln>
        </p:spPr>
      </p:sp>
      <p:sp>
        <p:nvSpPr>
          <p:cNvPr id="30" name="text-59"/>
          <p:cNvSpPr txBox="1"/>
          <p:nvPr/>
        </p:nvSpPr>
        <p:spPr>
          <a:xfrm>
            <a:off x="731520" y="7050024"/>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THE BREAKTHROUGHS</a:t>
            </a:r>
            <a:endParaRPr lang="en-US" sz="900" dirty="0"/>
          </a:p>
        </p:txBody>
      </p:sp>
      <p:sp>
        <p:nvSpPr>
          <p:cNvPr id="31" name="text-60"/>
          <p:cNvSpPr txBox="1"/>
          <p:nvPr/>
        </p:nvSpPr>
        <p:spPr>
          <a:xfrm>
            <a:off x="548640" y="7351776"/>
            <a:ext cx="457200" cy="329184"/>
          </a:xfrm>
          <a:prstGeom prst="rect">
            <a:avLst/>
          </a:prstGeom>
          <a:noFill/>
          <a:ln/>
        </p:spPr>
        <p:txBody>
          <a:bodyPr wrap="square" lIns="0" tIns="0" rIns="0" bIns="0" rtlCol="0" anchor="t"/>
          <a:lstStyle/>
          <a:p>
            <a:pPr indent="0" marL="0">
              <a:buNone/>
            </a:pPr>
            <a:r>
              <a:rPr lang="en-US" sz="1600" b="1" dirty="0">
                <a:solidFill>
                  <a:schemeClr val="accent3"/>
                </a:solidFill>
                <a:latin typeface="+mj-lt" pitchFamily="34" charset="0"/>
                <a:ea typeface="+mj-lt" pitchFamily="34" charset="-122"/>
                <a:cs typeface="+mj-lt" pitchFamily="34" charset="-120"/>
              </a:rPr>
              <a:t>12</a:t>
            </a:r>
            <a:endParaRPr lang="en-US" sz="1600" dirty="0"/>
          </a:p>
        </p:txBody>
      </p:sp>
      <p:sp>
        <p:nvSpPr>
          <p:cNvPr id="32" name="text-61"/>
          <p:cNvSpPr txBox="1"/>
          <p:nvPr/>
        </p:nvSpPr>
        <p:spPr>
          <a:xfrm>
            <a:off x="1051560" y="7379208"/>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The City's Own Sun</a:t>
            </a:r>
            <a:endParaRPr lang="en-US" sz="1000" dirty="0"/>
          </a:p>
        </p:txBody>
      </p:sp>
      <p:sp>
        <p:nvSpPr>
          <p:cNvPr id="33" name="text-62"/>
          <p:cNvSpPr txBox="1"/>
          <p:nvPr/>
        </p:nvSpPr>
        <p:spPr>
          <a:xfrm>
            <a:off x="1051560" y="755294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1 · Fusion Power Station</a:t>
            </a:r>
            <a:endParaRPr lang="en-US" sz="800" dirty="0"/>
          </a:p>
        </p:txBody>
      </p:sp>
      <p:sp>
        <p:nvSpPr>
          <p:cNvPr id="34" name="text-63"/>
          <p:cNvSpPr txBox="1"/>
          <p:nvPr/>
        </p:nvSpPr>
        <p:spPr>
          <a:xfrm>
            <a:off x="548640" y="7717536"/>
            <a:ext cx="457200" cy="329184"/>
          </a:xfrm>
          <a:prstGeom prst="rect">
            <a:avLst/>
          </a:prstGeom>
          <a:noFill/>
          <a:ln/>
        </p:spPr>
        <p:txBody>
          <a:bodyPr wrap="square" lIns="0" tIns="0" rIns="0" bIns="0" rtlCol="0" anchor="t"/>
          <a:lstStyle/>
          <a:p>
            <a:pPr indent="0" marL="0">
              <a:buNone/>
            </a:pPr>
            <a:r>
              <a:rPr lang="en-US" sz="1600" b="1" dirty="0">
                <a:solidFill>
                  <a:schemeClr val="accent4"/>
                </a:solidFill>
                <a:latin typeface="+mj-lt" pitchFamily="34" charset="0"/>
                <a:ea typeface="+mj-lt" pitchFamily="34" charset="-122"/>
                <a:cs typeface="+mj-lt" pitchFamily="34" charset="-120"/>
              </a:rPr>
              <a:t>15</a:t>
            </a:r>
            <a:endParaRPr lang="en-US" sz="1600" dirty="0"/>
          </a:p>
        </p:txBody>
      </p:sp>
      <p:sp>
        <p:nvSpPr>
          <p:cNvPr id="35" name="text-64"/>
          <p:cNvSpPr txBox="1"/>
          <p:nvPr/>
        </p:nvSpPr>
        <p:spPr>
          <a:xfrm>
            <a:off x="1051560" y="7744968"/>
            <a:ext cx="2592324" cy="182880"/>
          </a:xfrm>
          <a:prstGeom prst="rect">
            <a:avLst/>
          </a:prstGeom>
          <a:noFill/>
          <a:ln/>
        </p:spPr>
        <p:txBody>
          <a:bodyPr wrap="square" lIns="0" tIns="0" rIns="0" bIns="0" rtlCol="0" anchor="t"/>
          <a:lstStyle/>
          <a:p>
            <a:pPr indent="0" marL="0">
              <a:buNone/>
            </a:pPr>
            <a:r>
              <a:rPr lang="en-US" sz="1000" b="1" dirty="0">
                <a:solidFill>
                  <a:schemeClr val="tx1"/>
                </a:solidFill>
              </a:rPr>
              <a:t>Bread and Water from Snow and Air</a:t>
            </a:r>
            <a:endParaRPr lang="en-US" sz="1000" dirty="0"/>
          </a:p>
        </p:txBody>
      </p:sp>
      <p:sp>
        <p:nvSpPr>
          <p:cNvPr id="36" name="text-65"/>
          <p:cNvSpPr txBox="1"/>
          <p:nvPr/>
        </p:nvSpPr>
        <p:spPr>
          <a:xfrm>
            <a:off x="1051560" y="791870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2 · Snow-to-Food &amp; Water Plant</a:t>
            </a:r>
            <a:endParaRPr lang="en-US" sz="800" dirty="0"/>
          </a:p>
        </p:txBody>
      </p:sp>
      <p:sp>
        <p:nvSpPr>
          <p:cNvPr id="37" name="text-66"/>
          <p:cNvSpPr txBox="1"/>
          <p:nvPr/>
        </p:nvSpPr>
        <p:spPr>
          <a:xfrm>
            <a:off x="548640" y="8083296"/>
            <a:ext cx="457200" cy="329184"/>
          </a:xfrm>
          <a:prstGeom prst="rect">
            <a:avLst/>
          </a:prstGeom>
          <a:noFill/>
          <a:ln/>
        </p:spPr>
        <p:txBody>
          <a:bodyPr wrap="square" lIns="0" tIns="0" rIns="0" bIns="0" rtlCol="0" anchor="t"/>
          <a:lstStyle/>
          <a:p>
            <a:pPr indent="0" marL="0">
              <a:buNone/>
            </a:pPr>
            <a:r>
              <a:rPr lang="en-US" sz="1600" b="1" dirty="0">
                <a:solidFill>
                  <a:schemeClr val="accent5"/>
                </a:solidFill>
                <a:latin typeface="+mj-lt" pitchFamily="34" charset="0"/>
                <a:ea typeface="+mj-lt" pitchFamily="34" charset="-122"/>
                <a:cs typeface="+mj-lt" pitchFamily="34" charset="-120"/>
              </a:rPr>
              <a:t>17</a:t>
            </a:r>
            <a:endParaRPr lang="en-US" sz="1600" dirty="0"/>
          </a:p>
        </p:txBody>
      </p:sp>
      <p:sp>
        <p:nvSpPr>
          <p:cNvPr id="38" name="text-67"/>
          <p:cNvSpPr txBox="1"/>
          <p:nvPr/>
        </p:nvSpPr>
        <p:spPr>
          <a:xfrm>
            <a:off x="1051560" y="8110728"/>
            <a:ext cx="2592324" cy="182880"/>
          </a:xfrm>
          <a:prstGeom prst="rect">
            <a:avLst/>
          </a:prstGeom>
          <a:noFill/>
          <a:ln/>
        </p:spPr>
        <p:txBody>
          <a:bodyPr wrap="square" lIns="0" tIns="0" rIns="0" bIns="0" rtlCol="0" anchor="t"/>
          <a:lstStyle/>
          <a:p>
            <a:pPr indent="0" marL="0">
              <a:buNone/>
            </a:pPr>
            <a:r>
              <a:rPr lang="en-US" sz="1000" b="1" dirty="0">
                <a:solidFill>
                  <a:schemeClr val="tx1"/>
                </a:solidFill>
              </a:rPr>
              <a:t>A Snow Mountain You Can Walk Inside</a:t>
            </a:r>
            <a:endParaRPr lang="en-US" sz="1000" dirty="0"/>
          </a:p>
        </p:txBody>
      </p:sp>
      <p:sp>
        <p:nvSpPr>
          <p:cNvPr id="39" name="text-68"/>
          <p:cNvSpPr txBox="1"/>
          <p:nvPr/>
        </p:nvSpPr>
        <p:spPr>
          <a:xfrm>
            <a:off x="1051560" y="8284464"/>
            <a:ext cx="2592324" cy="182880"/>
          </a:xfrm>
          <a:prstGeom prst="rect">
            <a:avLst/>
          </a:prstGeom>
          <a:noFill/>
          <a:ln/>
        </p:spPr>
        <p:txBody>
          <a:bodyPr wrap="square" lIns="0" tIns="0" rIns="0" bIns="0" rtlCol="0" anchor="t"/>
          <a:lstStyle/>
          <a:p>
            <a:pPr indent="0" marL="0">
              <a:buNone/>
            </a:pPr>
            <a:r>
              <a:rPr lang="en-US" sz="800" dirty="0">
                <a:solidFill>
                  <a:schemeClr val="tx2"/>
                </a:solidFill>
              </a:rPr>
              <a:t>Breakthrough 3 · Mount Aurora</a:t>
            </a:r>
            <a:endParaRPr lang="en-US" sz="800" dirty="0"/>
          </a:p>
        </p:txBody>
      </p:sp>
      <p:sp>
        <p:nvSpPr>
          <p:cNvPr id="40" name="text-69"/>
          <p:cNvSpPr txBox="1"/>
          <p:nvPr/>
        </p:nvSpPr>
        <p:spPr>
          <a:xfrm>
            <a:off x="548640" y="84490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21</a:t>
            </a:r>
            <a:endParaRPr lang="en-US" sz="1600" dirty="0"/>
          </a:p>
        </p:txBody>
      </p:sp>
      <p:sp>
        <p:nvSpPr>
          <p:cNvPr id="41" name="text-70"/>
          <p:cNvSpPr txBox="1"/>
          <p:nvPr/>
        </p:nvSpPr>
        <p:spPr>
          <a:xfrm>
            <a:off x="1051560" y="8476488"/>
            <a:ext cx="2592324" cy="182880"/>
          </a:xfrm>
          <a:prstGeom prst="rect">
            <a:avLst/>
          </a:prstGeom>
          <a:noFill/>
          <a:ln/>
        </p:spPr>
        <p:txBody>
          <a:bodyPr wrap="square" lIns="0" tIns="0" rIns="0" bIns="0" rtlCol="0" anchor="t"/>
          <a:lstStyle/>
          <a:p>
            <a:pPr indent="0" marL="0">
              <a:buNone/>
            </a:pPr>
            <a:r>
              <a:rPr lang="en-US" sz="1000" b="1" dirty="0">
                <a:solidFill>
                  <a:schemeClr val="tx1"/>
                </a:solidFill>
              </a:rPr>
              <a:t>Built by Us</a:t>
            </a:r>
            <a:endParaRPr lang="en-US" sz="1000" dirty="0"/>
          </a:p>
        </p:txBody>
      </p:sp>
      <p:sp>
        <p:nvSpPr>
          <p:cNvPr id="42" name="text-71"/>
          <p:cNvSpPr txBox="1"/>
          <p:nvPr/>
        </p:nvSpPr>
        <p:spPr>
          <a:xfrm>
            <a:off x="1051560" y="8650224"/>
            <a:ext cx="2592324" cy="182880"/>
          </a:xfrm>
          <a:prstGeom prst="rect">
            <a:avLst/>
          </a:prstGeom>
          <a:noFill/>
          <a:ln/>
        </p:spPr>
        <p:txBody>
          <a:bodyPr wrap="square" lIns="0" tIns="0" rIns="0" bIns="0" rtlCol="0" anchor="t"/>
          <a:lstStyle/>
          <a:p>
            <a:pPr indent="0" marL="0">
              <a:buNone/>
            </a:pPr>
            <a:r>
              <a:rPr lang="en-US" sz="800" dirty="0">
                <a:solidFill>
                  <a:schemeClr val="tx2"/>
                </a:solidFill>
              </a:rPr>
              <a:t>Our Eco-Polis model, and how to explore it</a:t>
            </a:r>
            <a:endParaRPr lang="en-US" sz="800" dirty="0"/>
          </a:p>
        </p:txBody>
      </p:sp>
      <p:sp>
        <p:nvSpPr>
          <p:cNvPr id="43" name="kicker-dot-72"/>
          <p:cNvSpPr/>
          <p:nvPr/>
        </p:nvSpPr>
        <p:spPr>
          <a:xfrm>
            <a:off x="548640" y="8993124"/>
            <a:ext cx="100584" cy="100584"/>
          </a:xfrm>
          <a:prstGeom prst="ellipse">
            <a:avLst/>
          </a:prstGeom>
          <a:solidFill>
            <a:schemeClr val="accent2"/>
          </a:solidFill>
          <a:ln w="12700">
            <a:solidFill>
              <a:schemeClr val="accent2"/>
            </a:solidFill>
            <a:prstDash val="solid"/>
          </a:ln>
        </p:spPr>
      </p:sp>
      <p:sp>
        <p:nvSpPr>
          <p:cNvPr id="44" name="text-73"/>
          <p:cNvSpPr txBox="1"/>
          <p:nvPr/>
        </p:nvSpPr>
        <p:spPr>
          <a:xfrm>
            <a:off x="731520" y="8951976"/>
            <a:ext cx="2912364" cy="201168"/>
          </a:xfrm>
          <a:prstGeom prst="rect">
            <a:avLst/>
          </a:prstGeom>
          <a:noFill/>
          <a:ln/>
        </p:spPr>
        <p:txBody>
          <a:bodyPr wrap="square" lIns="0" tIns="0" rIns="0" bIns="0" rtlCol="0" anchor="t"/>
          <a:lstStyle/>
          <a:p>
            <a:pPr indent="0" marL="0">
              <a:buNone/>
            </a:pPr>
            <a:r>
              <a:rPr lang="en-US" sz="900" b="1" spc="300" kern="0" dirty="0">
                <a:solidFill>
                  <a:schemeClr val="accent2"/>
                </a:solidFill>
              </a:rPr>
              <a:t>INVEST</a:t>
            </a:r>
            <a:endParaRPr lang="en-US" sz="900" dirty="0"/>
          </a:p>
        </p:txBody>
      </p:sp>
      <p:sp>
        <p:nvSpPr>
          <p:cNvPr id="45" name="text-74"/>
          <p:cNvSpPr txBox="1"/>
          <p:nvPr/>
        </p:nvSpPr>
        <p:spPr>
          <a:xfrm>
            <a:off x="548640" y="925372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32</a:t>
            </a:r>
            <a:endParaRPr lang="en-US" sz="1600" dirty="0"/>
          </a:p>
        </p:txBody>
      </p:sp>
      <p:sp>
        <p:nvSpPr>
          <p:cNvPr id="46" name="text-75"/>
          <p:cNvSpPr txBox="1"/>
          <p:nvPr/>
        </p:nvSpPr>
        <p:spPr>
          <a:xfrm>
            <a:off x="1051560" y="9281160"/>
            <a:ext cx="2592324" cy="182880"/>
          </a:xfrm>
          <a:prstGeom prst="rect">
            <a:avLst/>
          </a:prstGeom>
          <a:noFill/>
          <a:ln/>
        </p:spPr>
        <p:txBody>
          <a:bodyPr wrap="square" lIns="0" tIns="0" rIns="0" bIns="0" rtlCol="0" anchor="t"/>
          <a:lstStyle/>
          <a:p>
            <a:pPr indent="0" marL="0">
              <a:buNone/>
            </a:pPr>
            <a:r>
              <a:rPr lang="en-US" sz="1000" b="1" dirty="0">
                <a:solidFill>
                  <a:schemeClr val="tx1"/>
                </a:solidFill>
              </a:rPr>
              <a:t>Invest in Aurora Haven</a:t>
            </a:r>
            <a:endParaRPr lang="en-US" sz="1000" dirty="0"/>
          </a:p>
        </p:txBody>
      </p:sp>
      <p:sp>
        <p:nvSpPr>
          <p:cNvPr id="47" name="text-76"/>
          <p:cNvSpPr txBox="1"/>
          <p:nvPr/>
        </p:nvSpPr>
        <p:spPr>
          <a:xfrm>
            <a:off x="1051560" y="9454896"/>
            <a:ext cx="2592324" cy="182880"/>
          </a:xfrm>
          <a:prstGeom prst="rect">
            <a:avLst/>
          </a:prstGeom>
          <a:noFill/>
          <a:ln/>
        </p:spPr>
        <p:txBody>
          <a:bodyPr wrap="square" lIns="0" tIns="0" rIns="0" bIns="0" rtlCol="0" anchor="t"/>
          <a:lstStyle/>
          <a:p>
            <a:pPr indent="0" marL="0">
              <a:buNone/>
            </a:pPr>
            <a:r>
              <a:rPr lang="en-US" sz="800" dirty="0">
                <a:solidFill>
                  <a:schemeClr val="tx2"/>
                </a:solidFill>
              </a:rPr>
              <a:t>Three ways to fund the city, stage by stage</a:t>
            </a:r>
            <a:endParaRPr lang="en-US" sz="800" dirty="0"/>
          </a:p>
        </p:txBody>
      </p:sp>
      <p:sp>
        <p:nvSpPr>
          <p:cNvPr id="48" name="kicker-dot-77"/>
          <p:cNvSpPr/>
          <p:nvPr/>
        </p:nvSpPr>
        <p:spPr>
          <a:xfrm>
            <a:off x="3918204" y="4018788"/>
            <a:ext cx="100584" cy="100584"/>
          </a:xfrm>
          <a:prstGeom prst="ellipse">
            <a:avLst/>
          </a:prstGeom>
          <a:solidFill>
            <a:schemeClr val="accent4"/>
          </a:solidFill>
          <a:ln w="12700">
            <a:solidFill>
              <a:schemeClr val="accent4"/>
            </a:solidFill>
            <a:prstDash val="solid"/>
          </a:ln>
        </p:spPr>
      </p:sp>
      <p:sp>
        <p:nvSpPr>
          <p:cNvPr id="49" name="text-78"/>
          <p:cNvSpPr txBox="1"/>
          <p:nvPr/>
        </p:nvSpPr>
        <p:spPr>
          <a:xfrm>
            <a:off x="4101084" y="3977640"/>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SYSTEMS &amp; LIFE</a:t>
            </a:r>
            <a:endParaRPr lang="en-US" sz="900" dirty="0"/>
          </a:p>
        </p:txBody>
      </p:sp>
      <p:sp>
        <p:nvSpPr>
          <p:cNvPr id="50" name="text-79"/>
          <p:cNvSpPr txBox="1"/>
          <p:nvPr/>
        </p:nvSpPr>
        <p:spPr>
          <a:xfrm>
            <a:off x="3918204" y="42793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22</a:t>
            </a:r>
            <a:endParaRPr lang="en-US" sz="1600" dirty="0"/>
          </a:p>
        </p:txBody>
      </p:sp>
      <p:sp>
        <p:nvSpPr>
          <p:cNvPr id="51" name="text-80"/>
          <p:cNvSpPr txBox="1"/>
          <p:nvPr/>
        </p:nvSpPr>
        <p:spPr>
          <a:xfrm>
            <a:off x="4421124" y="43068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Three Districts, One Loop</a:t>
            </a:r>
            <a:endParaRPr lang="en-US" sz="1000" dirty="0"/>
          </a:p>
        </p:txBody>
      </p:sp>
      <p:sp>
        <p:nvSpPr>
          <p:cNvPr id="52" name="text-81"/>
          <p:cNvSpPr txBox="1"/>
          <p:nvPr/>
        </p:nvSpPr>
        <p:spPr>
          <a:xfrm>
            <a:off x="4421124" y="4480560"/>
            <a:ext cx="2592324" cy="182880"/>
          </a:xfrm>
          <a:prstGeom prst="rect">
            <a:avLst/>
          </a:prstGeom>
          <a:noFill/>
          <a:ln/>
        </p:spPr>
        <p:txBody>
          <a:bodyPr wrap="square" lIns="0" tIns="0" rIns="0" bIns="0" rtlCol="0" anchor="t"/>
          <a:lstStyle/>
          <a:p>
            <a:pPr indent="0" marL="0">
              <a:buNone/>
            </a:pPr>
            <a:r>
              <a:rPr lang="en-US" sz="800" dirty="0">
                <a:solidFill>
                  <a:schemeClr val="tx2"/>
                </a:solidFill>
              </a:rPr>
              <a:t>How heat, water, oxygen and waste go round</a:t>
            </a:r>
            <a:endParaRPr lang="en-US" sz="800" dirty="0"/>
          </a:p>
        </p:txBody>
      </p:sp>
      <p:sp>
        <p:nvSpPr>
          <p:cNvPr id="53" name="text-82"/>
          <p:cNvSpPr txBox="1"/>
          <p:nvPr/>
        </p:nvSpPr>
        <p:spPr>
          <a:xfrm>
            <a:off x="3918204" y="46451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23</a:t>
            </a:r>
            <a:endParaRPr lang="en-US" sz="1600" dirty="0"/>
          </a:p>
        </p:txBody>
      </p:sp>
      <p:sp>
        <p:nvSpPr>
          <p:cNvPr id="54" name="text-83"/>
          <p:cNvSpPr txBox="1"/>
          <p:nvPr/>
        </p:nvSpPr>
        <p:spPr>
          <a:xfrm>
            <a:off x="4421124" y="46725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A Livable City Every Day</a:t>
            </a:r>
            <a:endParaRPr lang="en-US" sz="1000" dirty="0"/>
          </a:p>
        </p:txBody>
      </p:sp>
      <p:sp>
        <p:nvSpPr>
          <p:cNvPr id="55" name="text-84"/>
          <p:cNvSpPr txBox="1"/>
          <p:nvPr/>
        </p:nvSpPr>
        <p:spPr>
          <a:xfrm>
            <a:off x="4421124" y="4846320"/>
            <a:ext cx="2592324" cy="182880"/>
          </a:xfrm>
          <a:prstGeom prst="rect">
            <a:avLst/>
          </a:prstGeom>
          <a:noFill/>
          <a:ln/>
        </p:spPr>
        <p:txBody>
          <a:bodyPr wrap="square" lIns="0" tIns="0" rIns="0" bIns="0" rtlCol="0" anchor="t"/>
          <a:lstStyle/>
          <a:p>
            <a:pPr indent="0" marL="0">
              <a:buNone/>
            </a:pPr>
            <a:r>
              <a:rPr lang="en-US" sz="800" dirty="0">
                <a:solidFill>
                  <a:schemeClr val="tx2"/>
                </a:solidFill>
              </a:rPr>
              <a:t>Schools, health, shops and culture</a:t>
            </a:r>
            <a:endParaRPr lang="en-US" sz="800" dirty="0"/>
          </a:p>
        </p:txBody>
      </p:sp>
      <p:sp>
        <p:nvSpPr>
          <p:cNvPr id="56" name="text-85"/>
          <p:cNvSpPr txBox="1"/>
          <p:nvPr/>
        </p:nvSpPr>
        <p:spPr>
          <a:xfrm>
            <a:off x="3918204" y="50109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24</a:t>
            </a:r>
            <a:endParaRPr lang="en-US" sz="1600" dirty="0"/>
          </a:p>
        </p:txBody>
      </p:sp>
      <p:sp>
        <p:nvSpPr>
          <p:cNvPr id="57" name="text-86"/>
          <p:cNvSpPr txBox="1"/>
          <p:nvPr/>
        </p:nvSpPr>
        <p:spPr>
          <a:xfrm>
            <a:off x="4421124" y="50383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Homes for the Polar Night</a:t>
            </a:r>
            <a:endParaRPr lang="en-US" sz="1000" dirty="0"/>
          </a:p>
        </p:txBody>
      </p:sp>
      <p:sp>
        <p:nvSpPr>
          <p:cNvPr id="58" name="text-87"/>
          <p:cNvSpPr txBox="1"/>
          <p:nvPr/>
        </p:nvSpPr>
        <p:spPr>
          <a:xfrm>
            <a:off x="4421124" y="5212080"/>
            <a:ext cx="2592324" cy="182880"/>
          </a:xfrm>
          <a:prstGeom prst="rect">
            <a:avLst/>
          </a:prstGeom>
          <a:noFill/>
          <a:ln/>
        </p:spPr>
        <p:txBody>
          <a:bodyPr wrap="square" lIns="0" tIns="0" rIns="0" bIns="0" rtlCol="0" anchor="t"/>
          <a:lstStyle/>
          <a:p>
            <a:pPr indent="0" marL="0">
              <a:buNone/>
            </a:pPr>
            <a:r>
              <a:rPr lang="en-US" sz="800" dirty="0">
                <a:solidFill>
                  <a:schemeClr val="tx2"/>
                </a:solidFill>
              </a:rPr>
              <a:t>Housing for every age, built for −45 °C</a:t>
            </a:r>
            <a:endParaRPr lang="en-US" sz="800" dirty="0"/>
          </a:p>
        </p:txBody>
      </p:sp>
      <p:sp>
        <p:nvSpPr>
          <p:cNvPr id="59" name="text-88"/>
          <p:cNvSpPr txBox="1"/>
          <p:nvPr/>
        </p:nvSpPr>
        <p:spPr>
          <a:xfrm>
            <a:off x="3918204" y="53766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25</a:t>
            </a:r>
            <a:endParaRPr lang="en-US" sz="1600" dirty="0"/>
          </a:p>
        </p:txBody>
      </p:sp>
      <p:sp>
        <p:nvSpPr>
          <p:cNvPr id="60" name="text-89"/>
          <p:cNvSpPr txBox="1"/>
          <p:nvPr/>
        </p:nvSpPr>
        <p:spPr>
          <a:xfrm>
            <a:off x="4421124" y="54041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Energy for the Polar Night</a:t>
            </a:r>
            <a:endParaRPr lang="en-US" sz="1000" dirty="0"/>
          </a:p>
        </p:txBody>
      </p:sp>
      <p:sp>
        <p:nvSpPr>
          <p:cNvPr id="61" name="text-90"/>
          <p:cNvSpPr txBox="1"/>
          <p:nvPr/>
        </p:nvSpPr>
        <p:spPr>
          <a:xfrm>
            <a:off x="4421124" y="5577840"/>
            <a:ext cx="2592324" cy="182880"/>
          </a:xfrm>
          <a:prstGeom prst="rect">
            <a:avLst/>
          </a:prstGeom>
          <a:noFill/>
          <a:ln/>
        </p:spPr>
        <p:txBody>
          <a:bodyPr wrap="square" lIns="0" tIns="0" rIns="0" bIns="0" rtlCol="0" anchor="t"/>
          <a:lstStyle/>
          <a:p>
            <a:pPr indent="0" marL="0">
              <a:buNone/>
            </a:pPr>
            <a:r>
              <a:rPr lang="en-US" sz="800" dirty="0">
                <a:solidFill>
                  <a:schemeClr val="tx2"/>
                </a:solidFill>
              </a:rPr>
              <a:t>Fusion, wind, sun, geothermal and storage</a:t>
            </a:r>
            <a:endParaRPr lang="en-US" sz="800" dirty="0"/>
          </a:p>
        </p:txBody>
      </p:sp>
      <p:sp>
        <p:nvSpPr>
          <p:cNvPr id="62" name="text-91"/>
          <p:cNvSpPr txBox="1"/>
          <p:nvPr/>
        </p:nvSpPr>
        <p:spPr>
          <a:xfrm>
            <a:off x="3918204" y="574243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26</a:t>
            </a:r>
            <a:endParaRPr lang="en-US" sz="1600" dirty="0"/>
          </a:p>
        </p:txBody>
      </p:sp>
      <p:sp>
        <p:nvSpPr>
          <p:cNvPr id="63" name="text-92"/>
          <p:cNvSpPr txBox="1"/>
          <p:nvPr/>
        </p:nvSpPr>
        <p:spPr>
          <a:xfrm>
            <a:off x="4421124" y="5769864"/>
            <a:ext cx="2592324" cy="182880"/>
          </a:xfrm>
          <a:prstGeom prst="rect">
            <a:avLst/>
          </a:prstGeom>
          <a:noFill/>
          <a:ln/>
        </p:spPr>
        <p:txBody>
          <a:bodyPr wrap="square" lIns="0" tIns="0" rIns="0" bIns="0" rtlCol="0" anchor="t"/>
          <a:lstStyle/>
          <a:p>
            <a:pPr indent="0" marL="0">
              <a:buNone/>
            </a:pPr>
            <a:r>
              <a:rPr lang="en-US" sz="1000" b="1" dirty="0">
                <a:solidFill>
                  <a:schemeClr val="tx1"/>
                </a:solidFill>
              </a:rPr>
              <a:t>Nothing Is Wasted</a:t>
            </a:r>
            <a:endParaRPr lang="en-US" sz="1000" dirty="0"/>
          </a:p>
        </p:txBody>
      </p:sp>
      <p:sp>
        <p:nvSpPr>
          <p:cNvPr id="64" name="text-93"/>
          <p:cNvSpPr txBox="1"/>
          <p:nvPr/>
        </p:nvSpPr>
        <p:spPr>
          <a:xfrm>
            <a:off x="4421124" y="5943600"/>
            <a:ext cx="2592324" cy="182880"/>
          </a:xfrm>
          <a:prstGeom prst="rect">
            <a:avLst/>
          </a:prstGeom>
          <a:noFill/>
          <a:ln/>
        </p:spPr>
        <p:txBody>
          <a:bodyPr wrap="square" lIns="0" tIns="0" rIns="0" bIns="0" rtlCol="0" anchor="t"/>
          <a:lstStyle/>
          <a:p>
            <a:pPr indent="0" marL="0">
              <a:buNone/>
            </a:pPr>
            <a:r>
              <a:rPr lang="en-US" sz="800" dirty="0">
                <a:solidFill>
                  <a:schemeClr val="tx2"/>
                </a:solidFill>
              </a:rPr>
              <a:t>Water and waste in closed loops</a:t>
            </a:r>
            <a:endParaRPr lang="en-US" sz="800" dirty="0"/>
          </a:p>
        </p:txBody>
      </p:sp>
      <p:sp>
        <p:nvSpPr>
          <p:cNvPr id="65" name="text-94"/>
          <p:cNvSpPr txBox="1"/>
          <p:nvPr/>
        </p:nvSpPr>
        <p:spPr>
          <a:xfrm>
            <a:off x="3918204" y="610819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27</a:t>
            </a:r>
            <a:endParaRPr lang="en-US" sz="1600" dirty="0"/>
          </a:p>
        </p:txBody>
      </p:sp>
      <p:sp>
        <p:nvSpPr>
          <p:cNvPr id="66" name="text-95"/>
          <p:cNvSpPr txBox="1"/>
          <p:nvPr/>
        </p:nvSpPr>
        <p:spPr>
          <a:xfrm>
            <a:off x="4421124" y="6135624"/>
            <a:ext cx="2592324" cy="182880"/>
          </a:xfrm>
          <a:prstGeom prst="rect">
            <a:avLst/>
          </a:prstGeom>
          <a:noFill/>
          <a:ln/>
        </p:spPr>
        <p:txBody>
          <a:bodyPr wrap="square" lIns="0" tIns="0" rIns="0" bIns="0" rtlCol="0" anchor="t"/>
          <a:lstStyle/>
          <a:p>
            <a:pPr indent="0" marL="0">
              <a:buNone/>
            </a:pPr>
            <a:r>
              <a:rPr lang="en-US" sz="1000" b="1" dirty="0">
                <a:solidFill>
                  <a:schemeClr val="tx1"/>
                </a:solidFill>
              </a:rPr>
              <a:t>Wild Neighbours</a:t>
            </a:r>
            <a:endParaRPr lang="en-US" sz="1000" dirty="0"/>
          </a:p>
        </p:txBody>
      </p:sp>
      <p:sp>
        <p:nvSpPr>
          <p:cNvPr id="67" name="text-96"/>
          <p:cNvSpPr txBox="1"/>
          <p:nvPr/>
        </p:nvSpPr>
        <p:spPr>
          <a:xfrm>
            <a:off x="4421124" y="6309360"/>
            <a:ext cx="2592324" cy="182880"/>
          </a:xfrm>
          <a:prstGeom prst="rect">
            <a:avLst/>
          </a:prstGeom>
          <a:noFill/>
          <a:ln/>
        </p:spPr>
        <p:txBody>
          <a:bodyPr wrap="square" lIns="0" tIns="0" rIns="0" bIns="0" rtlCol="0" anchor="t"/>
          <a:lstStyle/>
          <a:p>
            <a:pPr indent="0" marL="0">
              <a:buNone/>
            </a:pPr>
            <a:r>
              <a:rPr lang="en-US" sz="800" dirty="0">
                <a:solidFill>
                  <a:schemeClr val="tx2"/>
                </a:solidFill>
              </a:rPr>
              <a:t>Our urban eco-system: plants and animals</a:t>
            </a:r>
            <a:endParaRPr lang="en-US" sz="800" dirty="0"/>
          </a:p>
        </p:txBody>
      </p:sp>
      <p:sp>
        <p:nvSpPr>
          <p:cNvPr id="68" name="text-97"/>
          <p:cNvSpPr txBox="1"/>
          <p:nvPr/>
        </p:nvSpPr>
        <p:spPr>
          <a:xfrm>
            <a:off x="3918204" y="64739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28</a:t>
            </a:r>
            <a:endParaRPr lang="en-US" sz="1600" dirty="0"/>
          </a:p>
        </p:txBody>
      </p:sp>
      <p:sp>
        <p:nvSpPr>
          <p:cNvPr id="69" name="text-98"/>
          <p:cNvSpPr txBox="1"/>
          <p:nvPr/>
        </p:nvSpPr>
        <p:spPr>
          <a:xfrm>
            <a:off x="4421124" y="6501384"/>
            <a:ext cx="2592324" cy="182880"/>
          </a:xfrm>
          <a:prstGeom prst="rect">
            <a:avLst/>
          </a:prstGeom>
          <a:noFill/>
          <a:ln/>
        </p:spPr>
        <p:txBody>
          <a:bodyPr wrap="square" lIns="0" tIns="0" rIns="0" bIns="0" rtlCol="0" anchor="t"/>
          <a:lstStyle/>
          <a:p>
            <a:pPr indent="0" marL="0">
              <a:buNone/>
            </a:pPr>
            <a:r>
              <a:rPr lang="en-US" sz="1000" b="1" dirty="0">
                <a:solidFill>
                  <a:schemeClr val="tx1"/>
                </a:solidFill>
              </a:rPr>
              <a:t>Getting Around Fossil-Free</a:t>
            </a:r>
            <a:endParaRPr lang="en-US" sz="1000" dirty="0"/>
          </a:p>
        </p:txBody>
      </p:sp>
      <p:sp>
        <p:nvSpPr>
          <p:cNvPr id="70" name="text-99"/>
          <p:cNvSpPr txBox="1"/>
          <p:nvPr/>
        </p:nvSpPr>
        <p:spPr>
          <a:xfrm>
            <a:off x="4421124" y="6675120"/>
            <a:ext cx="2592324" cy="182880"/>
          </a:xfrm>
          <a:prstGeom prst="rect">
            <a:avLst/>
          </a:prstGeom>
          <a:noFill/>
          <a:ln/>
        </p:spPr>
        <p:txBody>
          <a:bodyPr wrap="square" lIns="0" tIns="0" rIns="0" bIns="0" rtlCol="0" anchor="t"/>
          <a:lstStyle/>
          <a:p>
            <a:pPr indent="0" marL="0">
              <a:buNone/>
            </a:pPr>
            <a:r>
              <a:rPr lang="en-US" sz="800" dirty="0">
                <a:solidFill>
                  <a:schemeClr val="tx2"/>
                </a:solidFill>
              </a:rPr>
              <a:t>Routes, users, capacity, safety and energy</a:t>
            </a:r>
            <a:endParaRPr lang="en-US" sz="800" dirty="0"/>
          </a:p>
        </p:txBody>
      </p:sp>
      <p:sp>
        <p:nvSpPr>
          <p:cNvPr id="71" name="text-100"/>
          <p:cNvSpPr txBox="1"/>
          <p:nvPr/>
        </p:nvSpPr>
        <p:spPr>
          <a:xfrm>
            <a:off x="3918204" y="683971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29</a:t>
            </a:r>
            <a:endParaRPr lang="en-US" sz="1600" dirty="0"/>
          </a:p>
        </p:txBody>
      </p:sp>
      <p:sp>
        <p:nvSpPr>
          <p:cNvPr id="72" name="text-101"/>
          <p:cNvSpPr txBox="1"/>
          <p:nvPr/>
        </p:nvSpPr>
        <p:spPr>
          <a:xfrm>
            <a:off x="4421124" y="6867144"/>
            <a:ext cx="2592324" cy="182880"/>
          </a:xfrm>
          <a:prstGeom prst="rect">
            <a:avLst/>
          </a:prstGeom>
          <a:noFill/>
          <a:ln/>
        </p:spPr>
        <p:txBody>
          <a:bodyPr wrap="square" lIns="0" tIns="0" rIns="0" bIns="0" rtlCol="0" anchor="t"/>
          <a:lstStyle/>
          <a:p>
            <a:pPr indent="0" marL="0">
              <a:buNone/>
            </a:pPr>
            <a:r>
              <a:rPr lang="en-US" sz="1000" b="1" dirty="0">
                <a:solidFill>
                  <a:schemeClr val="tx1"/>
                </a:solidFill>
              </a:rPr>
              <a:t>Salad Under the Northern Lights</a:t>
            </a:r>
            <a:endParaRPr lang="en-US" sz="1000" dirty="0"/>
          </a:p>
        </p:txBody>
      </p:sp>
      <p:sp>
        <p:nvSpPr>
          <p:cNvPr id="73" name="text-102"/>
          <p:cNvSpPr txBox="1"/>
          <p:nvPr/>
        </p:nvSpPr>
        <p:spPr>
          <a:xfrm>
            <a:off x="4421124" y="7040880"/>
            <a:ext cx="2592324" cy="182880"/>
          </a:xfrm>
          <a:prstGeom prst="rect">
            <a:avLst/>
          </a:prstGeom>
          <a:noFill/>
          <a:ln/>
        </p:spPr>
        <p:txBody>
          <a:bodyPr wrap="square" lIns="0" tIns="0" rIns="0" bIns="0" rtlCol="0" anchor="t"/>
          <a:lstStyle/>
          <a:p>
            <a:pPr indent="0" marL="0">
              <a:buNone/>
            </a:pPr>
            <a:r>
              <a:rPr lang="en-US" sz="800" dirty="0">
                <a:solidFill>
                  <a:schemeClr val="tx2"/>
                </a:solidFill>
              </a:rPr>
              <a:t>Inside the Evergreen Greenhouse Dome</a:t>
            </a:r>
            <a:endParaRPr lang="en-US" sz="800" dirty="0"/>
          </a:p>
        </p:txBody>
      </p:sp>
      <p:sp>
        <p:nvSpPr>
          <p:cNvPr id="74" name="text-103"/>
          <p:cNvSpPr txBox="1"/>
          <p:nvPr/>
        </p:nvSpPr>
        <p:spPr>
          <a:xfrm>
            <a:off x="3918204" y="720547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30</a:t>
            </a:r>
            <a:endParaRPr lang="en-US" sz="1600" dirty="0"/>
          </a:p>
        </p:txBody>
      </p:sp>
      <p:sp>
        <p:nvSpPr>
          <p:cNvPr id="75" name="text-104"/>
          <p:cNvSpPr txBox="1"/>
          <p:nvPr/>
        </p:nvSpPr>
        <p:spPr>
          <a:xfrm>
            <a:off x="4421124" y="7232904"/>
            <a:ext cx="2592324" cy="182880"/>
          </a:xfrm>
          <a:prstGeom prst="rect">
            <a:avLst/>
          </a:prstGeom>
          <a:noFill/>
          <a:ln/>
        </p:spPr>
        <p:txBody>
          <a:bodyPr wrap="square" lIns="0" tIns="0" rIns="0" bIns="0" rtlCol="0" anchor="t"/>
          <a:lstStyle/>
          <a:p>
            <a:pPr indent="0" marL="0">
              <a:buNone/>
            </a:pPr>
            <a:r>
              <a:rPr lang="en-US" sz="1000" b="1" dirty="0">
                <a:solidFill>
                  <a:schemeClr val="tx1"/>
                </a:solidFill>
              </a:rPr>
              <a:t>Safe and Ready for Any Storm</a:t>
            </a:r>
            <a:endParaRPr lang="en-US" sz="1000" dirty="0"/>
          </a:p>
        </p:txBody>
      </p:sp>
      <p:sp>
        <p:nvSpPr>
          <p:cNvPr id="76" name="text-105"/>
          <p:cNvSpPr txBox="1"/>
          <p:nvPr/>
        </p:nvSpPr>
        <p:spPr>
          <a:xfrm>
            <a:off x="4421124" y="7406640"/>
            <a:ext cx="2592324" cy="182880"/>
          </a:xfrm>
          <a:prstGeom prst="rect">
            <a:avLst/>
          </a:prstGeom>
          <a:noFill/>
          <a:ln/>
        </p:spPr>
        <p:txBody>
          <a:bodyPr wrap="square" lIns="0" tIns="0" rIns="0" bIns="0" rtlCol="0" anchor="t"/>
          <a:lstStyle/>
          <a:p>
            <a:pPr indent="0" marL="0">
              <a:buNone/>
            </a:pPr>
            <a:r>
              <a:rPr lang="en-US" sz="800" dirty="0">
                <a:solidFill>
                  <a:schemeClr val="tx2"/>
                </a:solidFill>
              </a:rPr>
              <a:t>Rescue, shelters and blizzard forecasts</a:t>
            </a:r>
            <a:endParaRPr lang="en-US" sz="800" dirty="0"/>
          </a:p>
        </p:txBody>
      </p:sp>
      <p:sp>
        <p:nvSpPr>
          <p:cNvPr id="77" name="text-106"/>
          <p:cNvSpPr txBox="1"/>
          <p:nvPr/>
        </p:nvSpPr>
        <p:spPr>
          <a:xfrm>
            <a:off x="3918204" y="757123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31</a:t>
            </a:r>
            <a:endParaRPr lang="en-US" sz="1600" dirty="0"/>
          </a:p>
        </p:txBody>
      </p:sp>
      <p:sp>
        <p:nvSpPr>
          <p:cNvPr id="78" name="text-107"/>
          <p:cNvSpPr txBox="1"/>
          <p:nvPr/>
        </p:nvSpPr>
        <p:spPr>
          <a:xfrm>
            <a:off x="4421124" y="7598664"/>
            <a:ext cx="2592324" cy="182880"/>
          </a:xfrm>
          <a:prstGeom prst="rect">
            <a:avLst/>
          </a:prstGeom>
          <a:noFill/>
          <a:ln/>
        </p:spPr>
        <p:txBody>
          <a:bodyPr wrap="square" lIns="0" tIns="0" rIns="0" bIns="0" rtlCol="0" anchor="t"/>
          <a:lstStyle/>
          <a:p>
            <a:pPr indent="0" marL="0">
              <a:buNone/>
            </a:pPr>
            <a:r>
              <a:rPr lang="en-US" sz="1000" b="1" dirty="0">
                <a:solidFill>
                  <a:schemeClr val="tx1"/>
                </a:solidFill>
              </a:rPr>
              <a:t>Pros &amp; Cons</a:t>
            </a:r>
            <a:endParaRPr lang="en-US" sz="1000" dirty="0"/>
          </a:p>
        </p:txBody>
      </p:sp>
      <p:sp>
        <p:nvSpPr>
          <p:cNvPr id="79" name="text-108"/>
          <p:cNvSpPr txBox="1"/>
          <p:nvPr/>
        </p:nvSpPr>
        <p:spPr>
          <a:xfrm>
            <a:off x="4421124" y="7772400"/>
            <a:ext cx="2592324" cy="182880"/>
          </a:xfrm>
          <a:prstGeom prst="rect">
            <a:avLst/>
          </a:prstGeom>
          <a:noFill/>
          <a:ln/>
        </p:spPr>
        <p:txBody>
          <a:bodyPr wrap="square" lIns="0" tIns="0" rIns="0" bIns="0" rtlCol="0" anchor="t"/>
          <a:lstStyle/>
          <a:p>
            <a:pPr indent="0" marL="0">
              <a:buNone/>
            </a:pPr>
            <a:r>
              <a:rPr lang="en-US" sz="800" dirty="0">
                <a:solidFill>
                  <a:schemeClr val="tx2"/>
                </a:solidFill>
              </a:rPr>
              <a:t>Advantages, risks, costs and trade-offs</a:t>
            </a:r>
            <a:endParaRPr lang="en-US" sz="800" dirty="0"/>
          </a:p>
        </p:txBody>
      </p:sp>
      <p:sp>
        <p:nvSpPr>
          <p:cNvPr id="80" name="kicker-dot-109"/>
          <p:cNvSpPr/>
          <p:nvPr/>
        </p:nvSpPr>
        <p:spPr>
          <a:xfrm>
            <a:off x="3918204" y="8115300"/>
            <a:ext cx="100584" cy="100584"/>
          </a:xfrm>
          <a:prstGeom prst="ellipse">
            <a:avLst/>
          </a:prstGeom>
          <a:solidFill>
            <a:schemeClr val="accent1"/>
          </a:solidFill>
          <a:ln w="12700">
            <a:solidFill>
              <a:schemeClr val="accent1"/>
            </a:solidFill>
            <a:prstDash val="solid"/>
          </a:ln>
        </p:spPr>
      </p:sp>
      <p:sp>
        <p:nvSpPr>
          <p:cNvPr id="81" name="text-110"/>
          <p:cNvSpPr txBox="1"/>
          <p:nvPr/>
        </p:nvSpPr>
        <p:spPr>
          <a:xfrm>
            <a:off x="4101084" y="8074152"/>
            <a:ext cx="291236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GUIDE</a:t>
            </a:r>
            <a:endParaRPr lang="en-US" sz="900" dirty="0"/>
          </a:p>
        </p:txBody>
      </p:sp>
      <p:sp>
        <p:nvSpPr>
          <p:cNvPr id="82" name="text-111"/>
          <p:cNvSpPr txBox="1"/>
          <p:nvPr/>
        </p:nvSpPr>
        <p:spPr>
          <a:xfrm>
            <a:off x="3918204" y="837590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33</a:t>
            </a:r>
            <a:endParaRPr lang="en-US" sz="1600" dirty="0"/>
          </a:p>
        </p:txBody>
      </p:sp>
      <p:sp>
        <p:nvSpPr>
          <p:cNvPr id="83" name="text-112"/>
          <p:cNvSpPr txBox="1"/>
          <p:nvPr/>
        </p:nvSpPr>
        <p:spPr>
          <a:xfrm>
            <a:off x="4421124" y="840333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Take the Tour</a:t>
            </a:r>
            <a:endParaRPr lang="en-US" sz="1000" dirty="0"/>
          </a:p>
        </p:txBody>
      </p:sp>
      <p:sp>
        <p:nvSpPr>
          <p:cNvPr id="84" name="text-113"/>
          <p:cNvSpPr txBox="1"/>
          <p:nvPr/>
        </p:nvSpPr>
        <p:spPr>
          <a:xfrm>
            <a:off x="4421124" y="8577072"/>
            <a:ext cx="2592324" cy="182880"/>
          </a:xfrm>
          <a:prstGeom prst="rect">
            <a:avLst/>
          </a:prstGeom>
          <a:noFill/>
          <a:ln/>
        </p:spPr>
        <p:txBody>
          <a:bodyPr wrap="square" lIns="0" tIns="0" rIns="0" bIns="0" rtlCol="0" anchor="t"/>
          <a:lstStyle/>
          <a:p>
            <a:pPr indent="0" marL="0">
              <a:buNone/>
            </a:pPr>
            <a:r>
              <a:rPr lang="en-US" sz="800" dirty="0">
                <a:solidFill>
                  <a:schemeClr val="tx2"/>
                </a:solidFill>
              </a:rPr>
              <a:t>Eight stops around the city</a:t>
            </a:r>
            <a:endParaRPr lang="en-US" sz="800" dirty="0"/>
          </a:p>
        </p:txBody>
      </p:sp>
      <p:sp>
        <p:nvSpPr>
          <p:cNvPr id="85" name="text-114"/>
          <p:cNvSpPr txBox="1"/>
          <p:nvPr/>
        </p:nvSpPr>
        <p:spPr>
          <a:xfrm>
            <a:off x="3918204" y="874166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34</a:t>
            </a:r>
            <a:endParaRPr lang="en-US" sz="1600" dirty="0"/>
          </a:p>
        </p:txBody>
      </p:sp>
      <p:sp>
        <p:nvSpPr>
          <p:cNvPr id="86" name="text-115"/>
          <p:cNvSpPr txBox="1"/>
          <p:nvPr/>
        </p:nvSpPr>
        <p:spPr>
          <a:xfrm>
            <a:off x="4421124" y="8769096"/>
            <a:ext cx="2592324" cy="182880"/>
          </a:xfrm>
          <a:prstGeom prst="rect">
            <a:avLst/>
          </a:prstGeom>
          <a:noFill/>
          <a:ln/>
        </p:spPr>
        <p:txBody>
          <a:bodyPr wrap="square" lIns="0" tIns="0" rIns="0" bIns="0" rtlCol="0" anchor="t"/>
          <a:lstStyle/>
          <a:p>
            <a:pPr indent="0" marL="0">
              <a:buNone/>
            </a:pPr>
            <a:r>
              <a:rPr lang="en-US" sz="1000" b="1" dirty="0">
                <a:solidFill>
                  <a:schemeClr val="tx1"/>
                </a:solidFill>
              </a:rPr>
              <a:t>Places to Visit</a:t>
            </a:r>
            <a:endParaRPr lang="en-US" sz="1000" dirty="0"/>
          </a:p>
        </p:txBody>
      </p:sp>
      <p:sp>
        <p:nvSpPr>
          <p:cNvPr id="87" name="text-116"/>
          <p:cNvSpPr txBox="1"/>
          <p:nvPr/>
        </p:nvSpPr>
        <p:spPr>
          <a:xfrm>
            <a:off x="4421124" y="8942832"/>
            <a:ext cx="2592324" cy="182880"/>
          </a:xfrm>
          <a:prstGeom prst="rect">
            <a:avLst/>
          </a:prstGeom>
          <a:noFill/>
          <a:ln/>
        </p:spPr>
        <p:txBody>
          <a:bodyPr wrap="square" lIns="0" tIns="0" rIns="0" bIns="0" rtlCol="0" anchor="t"/>
          <a:lstStyle/>
          <a:p>
            <a:pPr indent="0" marL="0">
              <a:buNone/>
            </a:pPr>
            <a:r>
              <a:rPr lang="en-US" sz="800" dirty="0">
                <a:solidFill>
                  <a:schemeClr val="tx2"/>
                </a:solidFill>
              </a:rPr>
              <a:t>35 key places and what they do</a:t>
            </a:r>
            <a:endParaRPr lang="en-US" sz="800" dirty="0"/>
          </a:p>
        </p:txBody>
      </p:sp>
      <p:sp>
        <p:nvSpPr>
          <p:cNvPr id="88" name="text-117"/>
          <p:cNvSpPr txBox="1"/>
          <p:nvPr/>
        </p:nvSpPr>
        <p:spPr>
          <a:xfrm>
            <a:off x="3918204" y="91074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35</a:t>
            </a:r>
            <a:endParaRPr lang="en-US" sz="1600" dirty="0"/>
          </a:p>
        </p:txBody>
      </p:sp>
      <p:sp>
        <p:nvSpPr>
          <p:cNvPr id="89" name="text-118"/>
          <p:cNvSpPr txBox="1"/>
          <p:nvPr/>
        </p:nvSpPr>
        <p:spPr>
          <a:xfrm>
            <a:off x="4421124" y="9134856"/>
            <a:ext cx="2592324" cy="182880"/>
          </a:xfrm>
          <a:prstGeom prst="rect">
            <a:avLst/>
          </a:prstGeom>
          <a:noFill/>
          <a:ln/>
        </p:spPr>
        <p:txBody>
          <a:bodyPr wrap="square" lIns="0" tIns="0" rIns="0" bIns="0" rtlCol="0" anchor="t"/>
          <a:lstStyle/>
          <a:p>
            <a:pPr indent="0" marL="0">
              <a:buNone/>
            </a:pPr>
            <a:r>
              <a:rPr lang="en-US" sz="1000" b="1" dirty="0">
                <a:solidFill>
                  <a:schemeClr val="tx1"/>
                </a:solidFill>
              </a:rPr>
              <a:t>Through a Resident’s Eyes</a:t>
            </a:r>
            <a:endParaRPr lang="en-US" sz="1000" dirty="0"/>
          </a:p>
        </p:txBody>
      </p:sp>
      <p:sp>
        <p:nvSpPr>
          <p:cNvPr id="90" name="text-119"/>
          <p:cNvSpPr txBox="1"/>
          <p:nvPr/>
        </p:nvSpPr>
        <p:spPr>
          <a:xfrm>
            <a:off x="4421124" y="9308592"/>
            <a:ext cx="2592324" cy="182880"/>
          </a:xfrm>
          <a:prstGeom prst="rect">
            <a:avLst/>
          </a:prstGeom>
          <a:noFill/>
          <a:ln/>
        </p:spPr>
        <p:txBody>
          <a:bodyPr wrap="square" lIns="0" tIns="0" rIns="0" bIns="0" rtlCol="0" anchor="t"/>
          <a:lstStyle/>
          <a:p>
            <a:pPr indent="0" marL="0">
              <a:buNone/>
            </a:pPr>
            <a:r>
              <a:rPr lang="en-US" sz="800" dirty="0">
                <a:solidFill>
                  <a:schemeClr val="tx2"/>
                </a:solidFill>
              </a:rPr>
              <a:t>An imagined day in the polar night</a:t>
            </a:r>
            <a:endParaRPr lang="en-US" sz="800" dirty="0"/>
          </a:p>
        </p:txBody>
      </p:sp>
      <p:sp>
        <p:nvSpPr>
          <p:cNvPr id="91" name="text-120"/>
          <p:cNvSpPr txBox="1"/>
          <p:nvPr/>
        </p:nvSpPr>
        <p:spPr>
          <a:xfrm>
            <a:off x="3918204" y="947318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36</a:t>
            </a:r>
            <a:endParaRPr lang="en-US" sz="1600" dirty="0"/>
          </a:p>
        </p:txBody>
      </p:sp>
      <p:sp>
        <p:nvSpPr>
          <p:cNvPr id="92" name="text-121"/>
          <p:cNvSpPr txBox="1"/>
          <p:nvPr/>
        </p:nvSpPr>
        <p:spPr>
          <a:xfrm>
            <a:off x="4421124" y="9500616"/>
            <a:ext cx="2592324" cy="182880"/>
          </a:xfrm>
          <a:prstGeom prst="rect">
            <a:avLst/>
          </a:prstGeom>
          <a:noFill/>
          <a:ln/>
        </p:spPr>
        <p:txBody>
          <a:bodyPr wrap="square" lIns="0" tIns="0" rIns="0" bIns="0" rtlCol="0" anchor="t"/>
          <a:lstStyle/>
          <a:p>
            <a:pPr indent="0" marL="0">
              <a:buNone/>
            </a:pPr>
            <a:r>
              <a:rPr lang="en-US" sz="1000" b="1" dirty="0">
                <a:solidFill>
                  <a:schemeClr val="tx1"/>
                </a:solidFill>
              </a:rPr>
              <a:t>Sources &amp; Assumptions</a:t>
            </a:r>
            <a:endParaRPr lang="en-US" sz="1000" dirty="0"/>
          </a:p>
        </p:txBody>
      </p:sp>
      <p:sp>
        <p:nvSpPr>
          <p:cNvPr id="93" name="text-122"/>
          <p:cNvSpPr txBox="1"/>
          <p:nvPr/>
        </p:nvSpPr>
        <p:spPr>
          <a:xfrm>
            <a:off x="4421124" y="9674352"/>
            <a:ext cx="2592324" cy="182880"/>
          </a:xfrm>
          <a:prstGeom prst="rect">
            <a:avLst/>
          </a:prstGeom>
          <a:noFill/>
          <a:ln/>
        </p:spPr>
        <p:txBody>
          <a:bodyPr wrap="square" lIns="0" tIns="0" rIns="0" bIns="0" rtlCol="0" anchor="t"/>
          <a:lstStyle/>
          <a:p>
            <a:pPr indent="0" marL="0">
              <a:buNone/>
            </a:pPr>
            <a:r>
              <a:rPr lang="en-US" sz="800" dirty="0">
                <a:solidFill>
                  <a:schemeClr val="tx2"/>
                </a:solidFill>
              </a:rPr>
              <a:t>Where our facts come from</a:t>
            </a:r>
            <a:endParaRPr lang="en-US" sz="800" dirty="0"/>
          </a:p>
        </p:txBody>
      </p:sp>
      <p:sp>
        <p:nvSpPr>
          <p:cNvPr id="9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
        <p:nvSpPr>
          <p:cNvPr id="9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1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125"/>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126"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127"/>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128"/>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129"/>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130"/>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131"/>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32"/>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33" descr="/home/user/chatbox-bi-n-o/magazine/assets/renders/cover_real.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34"/>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35"/>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36"/>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Haven on a polar night, seen from the east: the Fusion Core and its violet rings in front, Mount Aurora and its glass dome on the left, and on the right Aurora 81, the Polar Landmark Tower named in honour of Landmark 81 in Ho Chi Minh City.</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
        <p:nvSpPr>
          <p:cNvPr id="1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41"/>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42"/>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43"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44"/>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45"/>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46"/>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47"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48"/>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49"/>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50"/>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51"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52"/>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53"/>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54"/>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55"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56"/>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57"/>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58"/>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59"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60"/>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61"/>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62"/>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63"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64"/>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65"/>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66"/>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67"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68"/>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69"/>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70"/>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71"/>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
        <p:nvSpPr>
          <p:cNvPr id="3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72"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73"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74"/>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75"/>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76"/>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78"/>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79"/>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80"/>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81"/>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82"/>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
        <p:nvSpPr>
          <p:cNvPr id="1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WELCOME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83"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84"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85"/>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86"/>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87"/>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88"/>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89"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90"/>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91"/>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92"/>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93"/>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94"/>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95"/>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96"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97"/>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98"/>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99"/>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200"/>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201"/>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202"/>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203"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204"/>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205"/>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206"/>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207"/>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208"/>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
        <p:nvSpPr>
          <p:cNvPr id="29"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WELCOME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209"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210"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211"/>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212"/>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213"/>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215"/>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216"/>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217"/>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218"/>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219"/>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220"/>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221"/>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222"/>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223"/>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224"/>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225"/>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226"/>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227"/>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
        <p:nvSpPr>
          <p:cNvPr id="2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CITY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228"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229"/>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230"/>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231"/>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32"/>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34"/>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35"/>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36"/>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37"/>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38"/>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39"/>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40"/>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41"/>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42"/>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43"/>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44"/>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45"/>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46"/>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47"/>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48"/>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49"/>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50"/>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51"/>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52"/>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53"/>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54"/>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55"/>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56"/>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57"/>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58"/>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
        <p:nvSpPr>
          <p:cNvPr id="33"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CITY</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59"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60"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61"/>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62"/>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63"/>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65"/>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66"/>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
        <p:nvSpPr>
          <p:cNvPr id="1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CITY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67"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68"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69"/>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
        <p:nvSpPr>
          <p:cNvPr id="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CITY</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7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7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74"/>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75"/>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76"/>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77"/>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78"/>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79"/>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80"/>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81"/>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82"/>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83"/>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84"/>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85"/>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86"/>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87"/>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88"/>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89"/>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CITY</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9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94"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95"/>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96"/>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97"/>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98"/>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99"/>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300"/>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301"/>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302"/>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303"/>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304"/>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305"/>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306"/>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307"/>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308"/>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309"/>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310"/>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311"/>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312"/>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313"/>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314"/>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315"/>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316"/>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317"/>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318"/>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319"/>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320"/>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321"/>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322"/>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
        <p:nvSpPr>
          <p:cNvPr id="3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CITY</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323"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24"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25"/>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2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27"/>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2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29"/>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31"/>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32"/>
          <p:cNvSpPr/>
          <p:nvPr/>
        </p:nvSpPr>
        <p:spPr>
          <a:xfrm>
            <a:off x="365760" y="7543800"/>
            <a:ext cx="6647688" cy="2249424"/>
          </a:xfrm>
          <a:prstGeom prst="rect">
            <a:avLst/>
          </a:prstGeom>
          <a:solidFill>
            <a:schemeClr val="tx1">
              <a:alpha val="88000"/>
            </a:schemeClr>
          </a:solidFill>
          <a:ln w="12700">
            <a:solidFill>
              <a:schemeClr val="tx1">
                <a:alpha val="0"/>
              </a:schemeClr>
            </a:solidFill>
            <a:prstDash val="solid"/>
          </a:ln>
        </p:spPr>
      </p:sp>
      <p:sp>
        <p:nvSpPr>
          <p:cNvPr id="11" name="kicker-dot-333"/>
          <p:cNvSpPr/>
          <p:nvPr/>
        </p:nvSpPr>
        <p:spPr>
          <a:xfrm>
            <a:off x="530352" y="7712964"/>
            <a:ext cx="100584" cy="100584"/>
          </a:xfrm>
          <a:prstGeom prst="ellipse">
            <a:avLst/>
          </a:prstGeom>
          <a:solidFill>
            <a:schemeClr val="accent3"/>
          </a:solidFill>
          <a:ln w="12700">
            <a:solidFill>
              <a:schemeClr val="accent3"/>
            </a:solidFill>
            <a:prstDash val="solid"/>
          </a:ln>
        </p:spPr>
      </p:sp>
      <p:sp>
        <p:nvSpPr>
          <p:cNvPr id="12" name="text-334"/>
          <p:cNvSpPr txBox="1"/>
          <p:nvPr/>
        </p:nvSpPr>
        <p:spPr>
          <a:xfrm>
            <a:off x="713232" y="767181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3" name="text-335"/>
          <p:cNvSpPr txBox="1"/>
          <p:nvPr/>
        </p:nvSpPr>
        <p:spPr>
          <a:xfrm>
            <a:off x="530352" y="796442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PROBLEM</a:t>
            </a:r>
            <a:endParaRPr lang="en-US" sz="800" dirty="0"/>
          </a:p>
        </p:txBody>
      </p:sp>
      <p:sp>
        <p:nvSpPr>
          <p:cNvPr id="14" name="text-336"/>
          <p:cNvSpPr txBox="1"/>
          <p:nvPr/>
        </p:nvSpPr>
        <p:spPr>
          <a:xfrm>
            <a:off x="530352" y="8156448"/>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Two months of polar night at −45 °C. The city needs heat and power that never stop, even when supply flights cannot land.</a:t>
            </a:r>
            <a:endParaRPr lang="en-US" sz="950" dirty="0"/>
          </a:p>
        </p:txBody>
      </p:sp>
      <p:sp>
        <p:nvSpPr>
          <p:cNvPr id="15" name="text-337"/>
          <p:cNvSpPr txBox="1"/>
          <p:nvPr/>
        </p:nvSpPr>
        <p:spPr>
          <a:xfrm>
            <a:off x="3762756" y="7964424"/>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IDEA</a:t>
            </a:r>
            <a:endParaRPr lang="en-US" sz="800" dirty="0"/>
          </a:p>
        </p:txBody>
      </p:sp>
      <p:sp>
        <p:nvSpPr>
          <p:cNvPr id="16" name="text-338"/>
          <p:cNvSpPr txBox="1"/>
          <p:nvPr/>
        </p:nvSpPr>
        <p:spPr>
          <a:xfrm>
            <a:off x="3762756" y="8156448"/>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 compact tokamak inside the city burns about 170 g of fuel a day and gives 300 MW of electricity and 450 MW of heat.</a:t>
            </a:r>
            <a:endParaRPr lang="en-US" sz="950" dirty="0"/>
          </a:p>
        </p:txBody>
      </p:sp>
      <p:sp>
        <p:nvSpPr>
          <p:cNvPr id="17" name="text-339"/>
          <p:cNvSpPr txBox="1"/>
          <p:nvPr/>
        </p:nvSpPr>
        <p:spPr>
          <a:xfrm>
            <a:off x="530352" y="889711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WHAT’S NEW</a:t>
            </a:r>
            <a:endParaRPr lang="en-US" sz="800" dirty="0"/>
          </a:p>
        </p:txBody>
      </p:sp>
      <p:sp>
        <p:nvSpPr>
          <p:cNvPr id="18" name="text-340"/>
          <p:cNvSpPr txBox="1"/>
          <p:nvPr/>
        </p:nvSpPr>
        <p:spPr>
          <a:xfrm>
            <a:off x="530352" y="9089136"/>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No fusion plant sells power yet (page 13). We build a whole city around one, with fuel from snowmelt and tritium bred on site.</a:t>
            </a:r>
            <a:endParaRPr lang="en-US" sz="950" dirty="0"/>
          </a:p>
        </p:txBody>
      </p:sp>
      <p:sp>
        <p:nvSpPr>
          <p:cNvPr id="19" name="text-341"/>
          <p:cNvSpPr txBox="1"/>
          <p:nvPr/>
        </p:nvSpPr>
        <p:spPr>
          <a:xfrm>
            <a:off x="3762756" y="8897112"/>
            <a:ext cx="3095244" cy="182880"/>
          </a:xfrm>
          <a:prstGeom prst="rect">
            <a:avLst/>
          </a:prstGeom>
          <a:noFill/>
          <a:ln/>
        </p:spPr>
        <p:txBody>
          <a:bodyPr wrap="square" lIns="0" tIns="0" rIns="0" bIns="0" rtlCol="0" anchor="t"/>
          <a:lstStyle/>
          <a:p>
            <a:pPr indent="0" marL="0">
              <a:buNone/>
            </a:pPr>
            <a:r>
              <a:rPr lang="en-US" sz="800" b="1" spc="200" kern="0" dirty="0">
                <a:solidFill>
                  <a:schemeClr val="accent3"/>
                </a:solidFill>
              </a:rPr>
              <a:t>THE IMPACT</a:t>
            </a:r>
            <a:endParaRPr lang="en-US" sz="800" dirty="0"/>
          </a:p>
        </p:txBody>
      </p:sp>
      <p:sp>
        <p:nvSpPr>
          <p:cNvPr id="20" name="text-342"/>
          <p:cNvSpPr txBox="1"/>
          <p:nvPr/>
        </p:nvSpPr>
        <p:spPr>
          <a:xfrm>
            <a:off x="3762756" y="9089136"/>
            <a:ext cx="309524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No fuel to ship in and no CO₂. If anything fails, the plasma simply goes out, so it cannot melt down.</a:t>
            </a:r>
            <a:endParaRPr lang="en-US" sz="950" dirty="0"/>
          </a:p>
        </p:txBody>
      </p:sp>
      <p:sp>
        <p:nvSpPr>
          <p:cNvPr id="2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
        <p:nvSpPr>
          <p:cNvPr id="22"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4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44"/>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45"/>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46"/>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47"/>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48"/>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49"/>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50"/>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51"/>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52"/>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53"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54"/>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55"/>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5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5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59"/>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60"/>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61"/>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2"/>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63"/>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64"/>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65"/>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66"/>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67"/>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68"/>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69"/>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70"/>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71"/>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72"/>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73"/>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4"/>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75"/>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76"/>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77"/>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78"/>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79"/>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80"/>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81"/>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82"/>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83"/>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84"/>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85"/>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86"/>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87"/>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
        <p:nvSpPr>
          <p:cNvPr id="36"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88"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89"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90"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91"/>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9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93"/>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9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95"/>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97"/>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98"/>
          <p:cNvSpPr txBox="1"/>
          <p:nvPr/>
        </p:nvSpPr>
        <p:spPr>
          <a:xfrm>
            <a:off x="548640" y="726948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2" name="panel-399"/>
          <p:cNvSpPr/>
          <p:nvPr/>
        </p:nvSpPr>
        <p:spPr>
          <a:xfrm>
            <a:off x="365760" y="7589520"/>
            <a:ext cx="6830568" cy="2249424"/>
          </a:xfrm>
          <a:prstGeom prst="rect">
            <a:avLst/>
          </a:prstGeom>
          <a:solidFill>
            <a:schemeClr val="tx1">
              <a:alpha val="88000"/>
            </a:schemeClr>
          </a:solidFill>
          <a:ln w="12700">
            <a:solidFill>
              <a:schemeClr val="tx1">
                <a:alpha val="0"/>
              </a:schemeClr>
            </a:solidFill>
            <a:prstDash val="solid"/>
          </a:ln>
        </p:spPr>
      </p:sp>
      <p:sp>
        <p:nvSpPr>
          <p:cNvPr id="13" name="kicker-dot-400"/>
          <p:cNvSpPr/>
          <p:nvPr/>
        </p:nvSpPr>
        <p:spPr>
          <a:xfrm>
            <a:off x="530352" y="7758684"/>
            <a:ext cx="100584" cy="100584"/>
          </a:xfrm>
          <a:prstGeom prst="ellipse">
            <a:avLst/>
          </a:prstGeom>
          <a:solidFill>
            <a:schemeClr val="accent1"/>
          </a:solidFill>
          <a:ln w="12700">
            <a:solidFill>
              <a:schemeClr val="accent1"/>
            </a:solidFill>
            <a:prstDash val="solid"/>
          </a:ln>
        </p:spPr>
      </p:sp>
      <p:sp>
        <p:nvSpPr>
          <p:cNvPr id="14" name="text-401"/>
          <p:cNvSpPr txBox="1"/>
          <p:nvPr/>
        </p:nvSpPr>
        <p:spPr>
          <a:xfrm>
            <a:off x="713232" y="771753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402"/>
          <p:cNvSpPr txBox="1"/>
          <p:nvPr/>
        </p:nvSpPr>
        <p:spPr>
          <a:xfrm>
            <a:off x="530352"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PROBLEM</a:t>
            </a:r>
            <a:endParaRPr lang="en-US" sz="800" dirty="0"/>
          </a:p>
        </p:txBody>
      </p:sp>
      <p:sp>
        <p:nvSpPr>
          <p:cNvPr id="16" name="text-403"/>
          <p:cNvSpPr txBox="1"/>
          <p:nvPr/>
        </p:nvSpPr>
        <p:spPr>
          <a:xfrm>
            <a:off x="530352"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Almost nothing grows at −45 °C, and in deep winter food can only arrive by air.</a:t>
            </a:r>
            <a:endParaRPr lang="en-US" sz="950" dirty="0"/>
          </a:p>
        </p:txBody>
      </p:sp>
      <p:sp>
        <p:nvSpPr>
          <p:cNvPr id="17" name="text-404"/>
          <p:cNvSpPr txBox="1"/>
          <p:nvPr/>
        </p:nvSpPr>
        <p:spPr>
          <a:xfrm>
            <a:off x="3854196"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IDEA</a:t>
            </a:r>
            <a:endParaRPr lang="en-US" sz="800" dirty="0"/>
          </a:p>
        </p:txBody>
      </p:sp>
      <p:sp>
        <p:nvSpPr>
          <p:cNvPr id="18" name="text-405"/>
          <p:cNvSpPr txBox="1"/>
          <p:nvPr/>
        </p:nvSpPr>
        <p:spPr>
          <a:xfrm>
            <a:off x="3854196"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Spare fusion heat melts 3,000 tonnes of snow a day for drinking water; microbes turn water and CO₂ into about 2.5 tonnes of protein a day.</a:t>
            </a:r>
            <a:endParaRPr lang="en-US" sz="950" dirty="0"/>
          </a:p>
        </p:txBody>
      </p:sp>
      <p:sp>
        <p:nvSpPr>
          <p:cNvPr id="19" name="text-406"/>
          <p:cNvSpPr txBox="1"/>
          <p:nvPr/>
        </p:nvSpPr>
        <p:spPr>
          <a:xfrm>
            <a:off x="530352"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WHAT’S NEW</a:t>
            </a:r>
            <a:endParaRPr lang="en-US" sz="800" dirty="0"/>
          </a:p>
        </p:txBody>
      </p:sp>
      <p:sp>
        <p:nvSpPr>
          <p:cNvPr id="20" name="text-407"/>
          <p:cNvSpPr txBox="1"/>
          <p:nvPr/>
        </p:nvSpPr>
        <p:spPr>
          <a:xfrm>
            <a:off x="530352"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Each step exists today, but apart (page 16). We link them in one plant that also cools the fusion station.</a:t>
            </a:r>
            <a:endParaRPr lang="en-US" sz="950" dirty="0"/>
          </a:p>
        </p:txBody>
      </p:sp>
      <p:sp>
        <p:nvSpPr>
          <p:cNvPr id="21" name="text-408"/>
          <p:cNvSpPr txBox="1"/>
          <p:nvPr/>
        </p:nvSpPr>
        <p:spPr>
          <a:xfrm>
            <a:off x="3854196"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1"/>
                </a:solidFill>
              </a:rPr>
              <a:t>THE IMPACT</a:t>
            </a:r>
            <a:endParaRPr lang="en-US" sz="800" dirty="0"/>
          </a:p>
        </p:txBody>
      </p:sp>
      <p:sp>
        <p:nvSpPr>
          <p:cNvPr id="22" name="text-409"/>
          <p:cNvSpPr txBox="1"/>
          <p:nvPr/>
        </p:nvSpPr>
        <p:spPr>
          <a:xfrm>
            <a:off x="3854196"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Bread, noodles and drinks made in the city all year, with no farmland and fewer supply flights.</a:t>
            </a:r>
            <a:endParaRPr lang="en-US" sz="950" dirty="0"/>
          </a:p>
        </p:txBody>
      </p:sp>
      <p:sp>
        <p:nvSpPr>
          <p:cNvPr id="2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
        <p:nvSpPr>
          <p:cNvPr id="2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41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4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4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41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41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41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41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41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41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42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42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42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42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42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42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42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42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42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42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43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43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43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43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43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43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43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43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43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439"/>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440"/>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441"/>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442"/>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443"/>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444"/>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445"/>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446"/>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447"/>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
        <p:nvSpPr>
          <p:cNvPr id="4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44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49"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5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5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5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5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5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55"/>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57"/>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58"/>
          <p:cNvSpPr txBox="1"/>
          <p:nvPr/>
        </p:nvSpPr>
        <p:spPr>
          <a:xfrm>
            <a:off x="548640" y="726948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crowned by the glass Aurora Eye.</a:t>
            </a:r>
            <a:endParaRPr lang="en-US" sz="850" dirty="0"/>
          </a:p>
        </p:txBody>
      </p:sp>
      <p:sp>
        <p:nvSpPr>
          <p:cNvPr id="12" name="panel-459"/>
          <p:cNvSpPr/>
          <p:nvPr/>
        </p:nvSpPr>
        <p:spPr>
          <a:xfrm>
            <a:off x="365760" y="7589520"/>
            <a:ext cx="6830568" cy="2249424"/>
          </a:xfrm>
          <a:prstGeom prst="rect">
            <a:avLst/>
          </a:prstGeom>
          <a:solidFill>
            <a:schemeClr val="tx1">
              <a:alpha val="88000"/>
            </a:schemeClr>
          </a:solidFill>
          <a:ln w="12700">
            <a:solidFill>
              <a:schemeClr val="tx1">
                <a:alpha val="0"/>
              </a:schemeClr>
            </a:solidFill>
            <a:prstDash val="solid"/>
          </a:ln>
        </p:spPr>
      </p:sp>
      <p:sp>
        <p:nvSpPr>
          <p:cNvPr id="13" name="kicker-dot-460"/>
          <p:cNvSpPr/>
          <p:nvPr/>
        </p:nvSpPr>
        <p:spPr>
          <a:xfrm>
            <a:off x="530352" y="7758684"/>
            <a:ext cx="100584" cy="100584"/>
          </a:xfrm>
          <a:prstGeom prst="ellipse">
            <a:avLst/>
          </a:prstGeom>
          <a:solidFill>
            <a:schemeClr val="accent5"/>
          </a:solidFill>
          <a:ln w="12700">
            <a:solidFill>
              <a:schemeClr val="accent5"/>
            </a:solidFill>
            <a:prstDash val="solid"/>
          </a:ln>
        </p:spPr>
      </p:sp>
      <p:sp>
        <p:nvSpPr>
          <p:cNvPr id="14" name="text-461"/>
          <p:cNvSpPr txBox="1"/>
          <p:nvPr/>
        </p:nvSpPr>
        <p:spPr>
          <a:xfrm>
            <a:off x="713232" y="7717536"/>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 BRIEF</a:t>
            </a:r>
            <a:endParaRPr lang="en-US" sz="900" dirty="0"/>
          </a:p>
        </p:txBody>
      </p:sp>
      <p:sp>
        <p:nvSpPr>
          <p:cNvPr id="15" name="text-462"/>
          <p:cNvSpPr txBox="1"/>
          <p:nvPr/>
        </p:nvSpPr>
        <p:spPr>
          <a:xfrm>
            <a:off x="530352"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PROBLEM</a:t>
            </a:r>
            <a:endParaRPr lang="en-US" sz="800" dirty="0"/>
          </a:p>
        </p:txBody>
      </p:sp>
      <p:sp>
        <p:nvSpPr>
          <p:cNvPr id="16" name="text-463"/>
          <p:cNvSpPr txBox="1"/>
          <p:nvPr/>
        </p:nvSpPr>
        <p:spPr>
          <a:xfrm>
            <a:off x="530352"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Months of darkness bring winter blues, and the city needs a warm place to meet and to shelter in a disaster.</a:t>
            </a:r>
            <a:endParaRPr lang="en-US" sz="950" dirty="0"/>
          </a:p>
        </p:txBody>
      </p:sp>
      <p:sp>
        <p:nvSpPr>
          <p:cNvPr id="17" name="text-464"/>
          <p:cNvSpPr txBox="1"/>
          <p:nvPr/>
        </p:nvSpPr>
        <p:spPr>
          <a:xfrm>
            <a:off x="3854196" y="8010144"/>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IDEA</a:t>
            </a:r>
            <a:endParaRPr lang="en-US" sz="800" dirty="0"/>
          </a:p>
        </p:txBody>
      </p:sp>
      <p:sp>
        <p:nvSpPr>
          <p:cNvPr id="18" name="text-465"/>
          <p:cNvSpPr txBox="1"/>
          <p:nvPr/>
        </p:nvSpPr>
        <p:spPr>
          <a:xfrm>
            <a:off x="3854196" y="8202168"/>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The mountain is the building: a 35-metre snow peak wraps four spa levels, kept at 28 °C by a geothermal spring.</a:t>
            </a:r>
            <a:endParaRPr lang="en-US" sz="950" dirty="0"/>
          </a:p>
        </p:txBody>
      </p:sp>
      <p:sp>
        <p:nvSpPr>
          <p:cNvPr id="19" name="text-466"/>
          <p:cNvSpPr txBox="1"/>
          <p:nvPr/>
        </p:nvSpPr>
        <p:spPr>
          <a:xfrm>
            <a:off x="530352"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WHAT’S NEW</a:t>
            </a:r>
            <a:endParaRPr lang="en-US" sz="800" dirty="0"/>
          </a:p>
        </p:txBody>
      </p:sp>
      <p:sp>
        <p:nvSpPr>
          <p:cNvPr id="20" name="text-467"/>
          <p:cNvSpPr txBox="1"/>
          <p:nvPr/>
        </p:nvSpPr>
        <p:spPr>
          <a:xfrm>
            <a:off x="530352"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Spas like Iceland’s Blue Lagoon use geothermal water (page 19). We turn a whole snow peak into an insulated leisure world.</a:t>
            </a:r>
            <a:endParaRPr lang="en-US" sz="950" dirty="0"/>
          </a:p>
        </p:txBody>
      </p:sp>
      <p:sp>
        <p:nvSpPr>
          <p:cNvPr id="21" name="text-468"/>
          <p:cNvSpPr txBox="1"/>
          <p:nvPr/>
        </p:nvSpPr>
        <p:spPr>
          <a:xfrm>
            <a:off x="3854196" y="8942832"/>
            <a:ext cx="3186684" cy="182880"/>
          </a:xfrm>
          <a:prstGeom prst="rect">
            <a:avLst/>
          </a:prstGeom>
          <a:noFill/>
          <a:ln/>
        </p:spPr>
        <p:txBody>
          <a:bodyPr wrap="square" lIns="0" tIns="0" rIns="0" bIns="0" rtlCol="0" anchor="t"/>
          <a:lstStyle/>
          <a:p>
            <a:pPr indent="0" marL="0">
              <a:buNone/>
            </a:pPr>
            <a:r>
              <a:rPr lang="en-US" sz="800" b="1" spc="200" kern="0" dirty="0">
                <a:solidFill>
                  <a:schemeClr val="accent5"/>
                </a:solidFill>
              </a:rPr>
              <a:t>THE IMPACT</a:t>
            </a:r>
            <a:endParaRPr lang="en-US" sz="800" dirty="0"/>
          </a:p>
        </p:txBody>
      </p:sp>
      <p:sp>
        <p:nvSpPr>
          <p:cNvPr id="22" name="text-469"/>
          <p:cNvSpPr txBox="1"/>
          <p:nvPr/>
        </p:nvSpPr>
        <p:spPr>
          <a:xfrm>
            <a:off x="3854196" y="9134856"/>
            <a:ext cx="3186684" cy="694944"/>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Rest and health for residents, tourists and income for the city, and shelter for up to 1,000 people.</a:t>
            </a:r>
            <a:endParaRPr lang="en-US" sz="950" dirty="0"/>
          </a:p>
        </p:txBody>
      </p:sp>
      <p:sp>
        <p:nvSpPr>
          <p:cNvPr id="2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
        <p:nvSpPr>
          <p:cNvPr id="24"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7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7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7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7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7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7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
        <p:nvSpPr>
          <p:cNvPr id="1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7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79"/>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80"/>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81"/>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82"/>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83"/>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84"/>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85"/>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86"/>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87"/>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88"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89"/>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90"/>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9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9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94"/>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95"/>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96"/>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97"/>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98"/>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99"/>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500"/>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501"/>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502"/>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503"/>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504"/>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505"/>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506"/>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507"/>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508"/>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509"/>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
        <p:nvSpPr>
          <p:cNvPr id="23"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51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1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51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514"/>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515"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516"/>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517"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518"/>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519"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520"/>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521"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522"/>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523"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524"/>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525"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526"/>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527"/>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528"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529"/>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530"/>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531"/>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532"/>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533"/>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534"/>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
        <p:nvSpPr>
          <p:cNvPr id="2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BREAKTHROUGHS</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5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3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4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4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4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4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4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4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4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4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4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4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5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51"/>
          <p:cNvSpPr/>
          <p:nvPr/>
        </p:nvSpPr>
        <p:spPr>
          <a:xfrm>
            <a:off x="2633472" y="3063240"/>
            <a:ext cx="2295144" cy="914"/>
          </a:xfrm>
          <a:prstGeom prst="line">
            <a:avLst/>
          </a:prstGeom>
          <a:noFill/>
          <a:ln w="28575">
            <a:solidFill>
              <a:schemeClr val="accent2"/>
            </a:solidFill>
            <a:prstDash val="solid"/>
            <a:tailEnd type="triangle"/>
          </a:ln>
        </p:spPr>
      </p:sp>
      <p:sp>
        <p:nvSpPr>
          <p:cNvPr id="19" name="text-55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53"/>
          <p:cNvSpPr/>
          <p:nvPr/>
        </p:nvSpPr>
        <p:spPr>
          <a:xfrm>
            <a:off x="2633472" y="3410712"/>
            <a:ext cx="2295144" cy="914"/>
          </a:xfrm>
          <a:prstGeom prst="line">
            <a:avLst/>
          </a:prstGeom>
          <a:noFill/>
          <a:ln w="28575">
            <a:solidFill>
              <a:schemeClr val="bg2"/>
            </a:solidFill>
            <a:prstDash val="solid"/>
            <a:tailEnd type="triangle"/>
          </a:ln>
        </p:spPr>
      </p:sp>
      <p:sp>
        <p:nvSpPr>
          <p:cNvPr id="21" name="text-55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5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5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5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5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59"/>
          <p:cNvSpPr/>
          <p:nvPr/>
        </p:nvSpPr>
        <p:spPr>
          <a:xfrm>
            <a:off x="1325880" y="4507992"/>
            <a:ext cx="914" cy="1179576"/>
          </a:xfrm>
          <a:prstGeom prst="line">
            <a:avLst/>
          </a:prstGeom>
          <a:noFill/>
          <a:ln w="28575">
            <a:solidFill>
              <a:schemeClr val="accent2"/>
            </a:solidFill>
            <a:prstDash val="solid"/>
            <a:tailEnd type="triangle"/>
          </a:ln>
        </p:spPr>
      </p:sp>
      <p:sp>
        <p:nvSpPr>
          <p:cNvPr id="27" name="arrow-560"/>
          <p:cNvSpPr/>
          <p:nvPr/>
        </p:nvSpPr>
        <p:spPr>
          <a:xfrm flipV="1">
            <a:off x="1874520" y="4507992"/>
            <a:ext cx="914" cy="1179576"/>
          </a:xfrm>
          <a:prstGeom prst="line">
            <a:avLst/>
          </a:prstGeom>
          <a:noFill/>
          <a:ln w="28575">
            <a:solidFill>
              <a:schemeClr val="bg2"/>
            </a:solidFill>
            <a:prstDash val="solid"/>
            <a:tailEnd type="triangle"/>
          </a:ln>
        </p:spPr>
      </p:sp>
      <p:sp>
        <p:nvSpPr>
          <p:cNvPr id="28" name="text-56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6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6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64"/>
          <p:cNvSpPr/>
          <p:nvPr/>
        </p:nvSpPr>
        <p:spPr>
          <a:xfrm>
            <a:off x="6464808" y="4489704"/>
            <a:ext cx="914" cy="1078992"/>
          </a:xfrm>
          <a:prstGeom prst="line">
            <a:avLst/>
          </a:prstGeom>
          <a:noFill/>
          <a:ln w="28575">
            <a:solidFill>
              <a:schemeClr val="accent4"/>
            </a:solidFill>
            <a:prstDash val="solid"/>
            <a:tailEnd type="triangle"/>
          </a:ln>
        </p:spPr>
      </p:sp>
      <p:sp>
        <p:nvSpPr>
          <p:cNvPr id="32" name="text-56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6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6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6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6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7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7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7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7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7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7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7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7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7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7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8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8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8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
        <p:nvSpPr>
          <p:cNvPr id="5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  ·  </a:t>
            </a:r>
            <a:pPr algn="l" indent="0" marL="0">
              <a:buNone/>
            </a:pPr>
            <a:r>
              <a:rPr lang="en-US" sz="700" b="1" spc="200" kern="0" dirty="0">
                <a:solidFill>
                  <a:schemeClr val="bg1"/>
                </a:solidFill>
              </a:rPr>
              <a:t>THE BREAKTHROUGHS</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8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87"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88"/>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89"/>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90"/>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91"/>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92"/>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93"/>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94"/>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95"/>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96"/>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97"/>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98"/>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99"/>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600"/>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601"/>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602"/>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603"/>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604"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605"/>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606"/>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607"/>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608"/>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609"/>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
        <p:nvSpPr>
          <p:cNvPr id="29"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610"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611"/>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612"/>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613"/>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614"/>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616"/>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617"/>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618"/>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619"/>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620"/>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621"/>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622"/>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623"/>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624"/>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625"/>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626"/>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627"/>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628"/>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629"/>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630"/>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631"/>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632"/>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633"/>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634"/>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635"/>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636"/>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637"/>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638"/>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639"/>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640"/>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641"/>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642"/>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643"/>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644"/>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645"/>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646"/>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647"/>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
        <p:nvSpPr>
          <p:cNvPr id="4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64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4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65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652"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653"/>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654"/>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655"/>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656"/>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657"/>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658"/>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59"/>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60"/>
          <p:cNvSpPr/>
          <p:nvPr/>
        </p:nvSpPr>
        <p:spPr>
          <a:xfrm>
            <a:off x="2548128" y="8275320"/>
            <a:ext cx="219456" cy="914"/>
          </a:xfrm>
          <a:prstGeom prst="line">
            <a:avLst/>
          </a:prstGeom>
          <a:noFill/>
          <a:ln w="31750">
            <a:solidFill>
              <a:schemeClr val="tx2"/>
            </a:solidFill>
            <a:prstDash val="solid"/>
            <a:tailEnd type="triangle"/>
          </a:ln>
        </p:spPr>
      </p:sp>
      <p:sp>
        <p:nvSpPr>
          <p:cNvPr id="14" name="card-661"/>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62"/>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63"/>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64"/>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65"/>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66"/>
          <p:cNvSpPr/>
          <p:nvPr/>
        </p:nvSpPr>
        <p:spPr>
          <a:xfrm>
            <a:off x="4794504" y="8275320"/>
            <a:ext cx="219456" cy="914"/>
          </a:xfrm>
          <a:prstGeom prst="line">
            <a:avLst/>
          </a:prstGeom>
          <a:noFill/>
          <a:ln w="31750">
            <a:solidFill>
              <a:schemeClr val="tx2"/>
            </a:solidFill>
            <a:prstDash val="solid"/>
            <a:tailEnd type="triangle"/>
          </a:ln>
        </p:spPr>
      </p:sp>
      <p:sp>
        <p:nvSpPr>
          <p:cNvPr id="20" name="card-667"/>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68"/>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69"/>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70"/>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71"/>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
        <p:nvSpPr>
          <p:cNvPr id="2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72"/>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7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7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76"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77"/>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78"/>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79"/>
          <p:cNvSpPr/>
          <p:nvPr/>
        </p:nvSpPr>
        <p:spPr>
          <a:xfrm>
            <a:off x="1315974" y="6153912"/>
            <a:ext cx="620268" cy="914"/>
          </a:xfrm>
          <a:prstGeom prst="line">
            <a:avLst/>
          </a:prstGeom>
          <a:noFill/>
          <a:ln w="22225">
            <a:solidFill>
              <a:schemeClr val="accent4"/>
            </a:solidFill>
            <a:prstDash val="solid"/>
            <a:tailEnd type="triangle"/>
          </a:ln>
        </p:spPr>
      </p:sp>
      <p:sp>
        <p:nvSpPr>
          <p:cNvPr id="9" name="marker-680"/>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81"/>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82"/>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83"/>
          <p:cNvSpPr/>
          <p:nvPr/>
        </p:nvSpPr>
        <p:spPr>
          <a:xfrm>
            <a:off x="2393442" y="6153912"/>
            <a:ext cx="620268" cy="914"/>
          </a:xfrm>
          <a:prstGeom prst="line">
            <a:avLst/>
          </a:prstGeom>
          <a:noFill/>
          <a:ln w="22225">
            <a:solidFill>
              <a:schemeClr val="accent4"/>
            </a:solidFill>
            <a:prstDash val="solid"/>
            <a:tailEnd type="triangle"/>
          </a:ln>
        </p:spPr>
      </p:sp>
      <p:sp>
        <p:nvSpPr>
          <p:cNvPr id="13" name="marker-684"/>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85"/>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86"/>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87"/>
          <p:cNvSpPr/>
          <p:nvPr/>
        </p:nvSpPr>
        <p:spPr>
          <a:xfrm>
            <a:off x="3470910" y="6153912"/>
            <a:ext cx="620268" cy="914"/>
          </a:xfrm>
          <a:prstGeom prst="line">
            <a:avLst/>
          </a:prstGeom>
          <a:noFill/>
          <a:ln w="22225">
            <a:solidFill>
              <a:schemeClr val="accent4"/>
            </a:solidFill>
            <a:prstDash val="solid"/>
            <a:tailEnd type="triangle"/>
          </a:ln>
        </p:spPr>
      </p:sp>
      <p:sp>
        <p:nvSpPr>
          <p:cNvPr id="17" name="marker-688"/>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89"/>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90"/>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91"/>
          <p:cNvSpPr/>
          <p:nvPr/>
        </p:nvSpPr>
        <p:spPr>
          <a:xfrm>
            <a:off x="4548378" y="6153912"/>
            <a:ext cx="620268" cy="914"/>
          </a:xfrm>
          <a:prstGeom prst="line">
            <a:avLst/>
          </a:prstGeom>
          <a:noFill/>
          <a:ln w="22225">
            <a:solidFill>
              <a:schemeClr val="accent4"/>
            </a:solidFill>
            <a:prstDash val="solid"/>
            <a:tailEnd type="triangle"/>
          </a:ln>
        </p:spPr>
      </p:sp>
      <p:sp>
        <p:nvSpPr>
          <p:cNvPr id="21" name="marker-692"/>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93"/>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94"/>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95"/>
          <p:cNvSpPr/>
          <p:nvPr/>
        </p:nvSpPr>
        <p:spPr>
          <a:xfrm>
            <a:off x="5625846" y="6153912"/>
            <a:ext cx="620268" cy="914"/>
          </a:xfrm>
          <a:prstGeom prst="line">
            <a:avLst/>
          </a:prstGeom>
          <a:noFill/>
          <a:ln w="22225">
            <a:solidFill>
              <a:schemeClr val="accent4"/>
            </a:solidFill>
            <a:prstDash val="solid"/>
            <a:tailEnd type="triangle"/>
          </a:ln>
        </p:spPr>
      </p:sp>
      <p:sp>
        <p:nvSpPr>
          <p:cNvPr id="25" name="marker-696"/>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97"/>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98"/>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99"/>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700"/>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701"/>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702"/>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703"/>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704"/>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705"/>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706"/>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707"/>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708"/>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709"/>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
        <p:nvSpPr>
          <p:cNvPr id="40"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710"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711"/>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712"/>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713"/>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714"/>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716"/>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717"/>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718"/>
          <p:cNvSpPr txBox="1"/>
          <p:nvPr/>
        </p:nvSpPr>
        <p:spPr>
          <a:xfrm>
            <a:off x="548640" y="6199632"/>
            <a:ext cx="3095244" cy="2788920"/>
          </a:xfrm>
          <a:prstGeom prst="rect">
            <a:avLst/>
          </a:prstGeom>
          <a:noFill/>
          <a:ln/>
        </p:spPr>
        <p:txBody>
          <a:bodyPr wrap="square" lIns="0" tIns="0" rIns="0" bIns="0" rtlCol="0" anchor="t"/>
          <a:lstStyle/>
          <a:p>
            <a:pPr indent="0" marL="0">
              <a:lnSpc>
                <a:spcPct val="108000"/>
              </a:lnSpc>
              <a:buNone/>
            </a:pPr>
            <a:r>
              <a:rPr lang="en-US" sz="1050" b="1" dirty="0">
                <a:solidFill>
                  <a:schemeClr val="tx1"/>
                </a:solidFill>
              </a:rPr>
              <a:t>Wildlife corridors. </a:t>
            </a:r>
            <a:pPr indent="0" marL="0">
              <a:lnSpc>
                <a:spcPct val="108000"/>
              </a:lnSpc>
              <a:spcAft>
                <a:spcPts val="500"/>
              </a:spcAft>
              <a:buNone/>
            </a:pPr>
            <a:r>
              <a:rPr lang="en-US" sz="1050" dirty="0">
                <a:solidFill>
                  <a:schemeClr val="tx1"/>
                </a:solidFill>
              </a:rPr>
              <a:t>Snowy tree belts on the east and west edges link the tundra to the parks for foxes, hares and ptarmigans; the roads beside them have dim lights and underpasses.</a:t>
            </a:r>
            <a:endParaRPr lang="en-US" sz="1050" dirty="0"/>
          </a:p>
          <a:p>
            <a:pPr indent="0" marL="0">
              <a:lnSpc>
                <a:spcPct val="108000"/>
              </a:lnSpc>
              <a:buNone/>
            </a:pPr>
            <a:r>
              <a:rPr lang="en-US" sz="1050" b="1" dirty="0">
                <a:solidFill>
                  <a:schemeClr val="tx1"/>
                </a:solidFill>
              </a:rPr>
              <a:t>Fences with gaps. </a:t>
            </a:r>
            <a:pPr indent="0" marL="0">
              <a:lnSpc>
                <a:spcPct val="108000"/>
              </a:lnSpc>
              <a:spcAft>
                <a:spcPts val="500"/>
              </a:spcAft>
              <a:buNone/>
            </a:pPr>
            <a:r>
              <a:rPr lang="en-US" sz="1050" dirty="0">
                <a:solidFill>
                  <a:schemeClr val="tx1"/>
                </a:solidFill>
              </a:rPr>
              <a:t>Open rails let drifting snow blow through, and gaps at ground level let foxes and hares pass.</a:t>
            </a:r>
            <a:endParaRPr lang="en-US" sz="1050" dirty="0"/>
          </a:p>
          <a:p>
            <a:pPr indent="0" marL="0">
              <a:lnSpc>
                <a:spcPct val="108000"/>
              </a:lnSpc>
              <a:buNone/>
            </a:pPr>
            <a:r>
              <a:rPr lang="en-US" sz="1050" b="1" dirty="0">
                <a:solidFill>
                  <a:schemeClr val="tx1"/>
                </a:solidFill>
              </a:rPr>
              <a:t>Reindeer. </a:t>
            </a:r>
            <a:pPr indent="0" marL="0">
              <a:lnSpc>
                <a:spcPct val="108000"/>
              </a:lnSpc>
              <a:spcAft>
                <a:spcPts val="500"/>
              </a:spcAft>
              <a:buNone/>
            </a:pPr>
            <a:r>
              <a:rPr lang="en-US" sz="1050" dirty="0">
                <a:solidFill>
                  <a:schemeClr val="tx1"/>
                </a:solidFill>
              </a:rPr>
              <a:t>Herders who follow Sámi traditions care for the eco-tour herd; rides are short, and GPS collars track the animals on the tundra.</a:t>
            </a:r>
            <a:endParaRPr lang="en-US" sz="1050" dirty="0"/>
          </a:p>
          <a:p>
            <a:pPr indent="0" marL="0">
              <a:lnSpc>
                <a:spcPct val="108000"/>
              </a:lnSpc>
              <a:buNone/>
            </a:pPr>
            <a:r>
              <a:rPr lang="en-US" sz="1050" b="1" dirty="0">
                <a:solidFill>
                  <a:schemeClr val="tx1"/>
                </a:solidFill>
              </a:rPr>
              <a:t>Polar bears. </a:t>
            </a:r>
            <a:pPr indent="0" marL="0">
              <a:lnSpc>
                <a:spcPct val="108000"/>
              </a:lnSpc>
              <a:spcAft>
                <a:spcPts val="500"/>
              </a:spcAft>
              <a:buNone/>
            </a:pPr>
            <a:r>
              <a:rPr lang="en-US" sz="1050" dirty="0">
                <a:solidFill>
                  <a:schemeClr val="tx1"/>
                </a:solidFill>
              </a:rPr>
              <a:t>Fibre-optic sensors in the air base fence call a wildlife team when a bear comes close.</a:t>
            </a:r>
            <a:endParaRPr lang="en-US" sz="1050" dirty="0"/>
          </a:p>
        </p:txBody>
      </p:sp>
      <p:sp>
        <p:nvSpPr>
          <p:cNvPr id="10" name="text-719"/>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720"/>
          <p:cNvSpPr txBox="1"/>
          <p:nvPr/>
        </p:nvSpPr>
        <p:spPr>
          <a:xfrm>
            <a:off x="3918204" y="6199632"/>
            <a:ext cx="3095244" cy="2788920"/>
          </a:xfrm>
          <a:prstGeom prst="rect">
            <a:avLst/>
          </a:prstGeom>
          <a:noFill/>
          <a:ln/>
        </p:spPr>
        <p:txBody>
          <a:bodyPr wrap="square" lIns="0" tIns="0" rIns="0" bIns="0" rtlCol="0" anchor="t"/>
          <a:lstStyle/>
          <a:p>
            <a:pPr indent="0" marL="0">
              <a:lnSpc>
                <a:spcPct val="108000"/>
              </a:lnSpc>
              <a:buNone/>
            </a:pPr>
            <a:r>
              <a:rPr lang="en-US" sz="1050" b="1" dirty="0">
                <a:solidFill>
                  <a:schemeClr val="tx1"/>
                </a:solidFill>
              </a:rPr>
              <a:t>Living snow fences. </a:t>
            </a:r>
            <a:pPr indent="0" marL="0">
              <a:lnSpc>
                <a:spcPct val="108000"/>
              </a:lnSpc>
              <a:spcAft>
                <a:spcPts val="500"/>
              </a:spcAft>
              <a:buNone/>
            </a:pPr>
            <a:r>
              <a:rPr lang="en-US" sz="1050" dirty="0">
                <a:solidFill>
                  <a:schemeClr val="tx1"/>
                </a:solidFill>
              </a:rPr>
              <a:t>Belts of spruce and pine trap drifting snow before it reaches the streets; the clean snow goes to the food plant.</a:t>
            </a:r>
            <a:endParaRPr lang="en-US" sz="1050" dirty="0"/>
          </a:p>
          <a:p>
            <a:pPr indent="0" marL="0">
              <a:lnSpc>
                <a:spcPct val="108000"/>
              </a:lnSpc>
              <a:buNone/>
            </a:pPr>
            <a:r>
              <a:rPr lang="en-US" sz="1050" b="1" dirty="0">
                <a:solidFill>
                  <a:schemeClr val="tx1"/>
                </a:solidFill>
              </a:rPr>
              <a:t>Green stepping stones. </a:t>
            </a:r>
            <a:pPr indent="0" marL="0">
              <a:lnSpc>
                <a:spcPct val="108000"/>
              </a:lnSpc>
              <a:spcAft>
                <a:spcPts val="500"/>
              </a:spcAft>
              <a:buNone/>
            </a:pPr>
            <a:r>
              <a:rPr lang="en-US" sz="1050" dirty="0">
                <a:solidFill>
                  <a:schemeClr val="tx1"/>
                </a:solidFill>
              </a:rPr>
              <a:t>Snow lindens on Liberty Mall and heated planters on the Aurora 81 Sky Garden give birds stepping stones across the city.</a:t>
            </a:r>
            <a:endParaRPr lang="en-US" sz="1050" dirty="0"/>
          </a:p>
          <a:p>
            <a:pPr indent="0" marL="0">
              <a:lnSpc>
                <a:spcPct val="108000"/>
              </a:lnSpc>
              <a:buNone/>
            </a:pPr>
            <a:r>
              <a:rPr lang="en-US" sz="1050" b="1" dirty="0">
                <a:solidFill>
                  <a:schemeClr val="tx1"/>
                </a:solidFill>
              </a:rPr>
              <a:t>Aquaponics. </a:t>
            </a:r>
            <a:pPr indent="0" marL="0">
              <a:lnSpc>
                <a:spcPct val="108000"/>
              </a:lnSpc>
              <a:spcAft>
                <a:spcPts val="500"/>
              </a:spcAft>
              <a:buNone/>
            </a:pPr>
            <a:r>
              <a:rPr lang="en-US" sz="1050" dirty="0">
                <a:solidFill>
                  <a:schemeClr val="tx1"/>
                </a:solidFill>
              </a:rPr>
              <a:t>In the Evergreen Aquaponics Dome, Arctic char and trout feed lettuce, herbs and strawberries; the loop loses under 2% of its water a day.</a:t>
            </a:r>
            <a:endParaRPr lang="en-US" sz="1050" dirty="0"/>
          </a:p>
          <a:p>
            <a:pPr indent="0" marL="0">
              <a:lnSpc>
                <a:spcPct val="108000"/>
              </a:lnSpc>
              <a:buNone/>
            </a:pPr>
            <a:r>
              <a:rPr lang="en-US" sz="1050" b="1" dirty="0">
                <a:solidFill>
                  <a:schemeClr val="tx1"/>
                </a:solidFill>
              </a:rPr>
              <a:t>Shelter and science. </a:t>
            </a:r>
            <a:pPr indent="0" marL="0">
              <a:lnSpc>
                <a:spcPct val="108000"/>
              </a:lnSpc>
              <a:spcAft>
                <a:spcPts val="500"/>
              </a:spcAft>
              <a:buNone/>
            </a:pPr>
            <a:r>
              <a:rPr lang="en-US" sz="1050" dirty="0">
                <a:solidFill>
                  <a:schemeClr val="tx1"/>
                </a:solidFill>
              </a:rPr>
              <a:t>Rock gardens shelter ptarmigans and hares, and nest-box cameras let schoolchildren count them.</a:t>
            </a:r>
            <a:endParaRPr lang="en-US" sz="1050" dirty="0"/>
          </a:p>
        </p:txBody>
      </p:sp>
      <p:sp>
        <p:nvSpPr>
          <p:cNvPr id="12" name="card-721"/>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722"/>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
        <p:nvSpPr>
          <p:cNvPr id="15"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72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2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72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727"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728"/>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729"/>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Everything that moves in Aurora Haven is electric and built for the cold. Two driverless metro lines, the north–south Aurora Line and the east–west Glacier Line, run deep underground and meet under Liberty Mall, so blizzards never stop them.</a:t>
            </a:r>
            <a:endParaRPr lang="en-US" sz="1050" dirty="0"/>
          </a:p>
          <a:p>
            <a:pPr indent="0" marL="0">
              <a:lnSpc>
                <a:spcPct val="112000"/>
              </a:lnSpc>
              <a:spcAft>
                <a:spcPts val="700"/>
              </a:spcAft>
              <a:buNone/>
            </a:pPr>
            <a:r>
              <a:rPr lang="en-US" sz="1050" dirty="0">
                <a:solidFill>
                  <a:schemeClr val="tx1"/>
                </a:solidFill>
              </a:rPr>
              <a:t>Above ground, electric trams, buses and shared robotaxis stop at heated shelters. Streets are warmed from below, as in Reykjavík, where water returning from home heating melts the snow [18].</a:t>
            </a:r>
            <a:endParaRPr lang="en-US" sz="1050" dirty="0"/>
          </a:p>
          <a:p>
            <a:pPr indent="0" marL="0">
              <a:lnSpc>
                <a:spcPct val="112000"/>
              </a:lnSpc>
              <a:spcAft>
                <a:spcPts val="700"/>
              </a:spcAft>
              <a:buNone/>
            </a:pPr>
            <a:r>
              <a:rPr lang="en-US" sz="1050" dirty="0">
                <a:solidFill>
                  <a:schemeClr val="tx1"/>
                </a:solidFill>
              </a:rPr>
              <a:t>The airport, with its heated runway and e-fuel planes, keeps the city supplied through deep winter.</a:t>
            </a:r>
            <a:endParaRPr lang="en-US" sz="105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730"/>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731"/>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732"/>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733"/>
          <p:cNvSpPr/>
          <p:nvPr/>
        </p:nvSpPr>
        <p:spPr>
          <a:xfrm>
            <a:off x="548640" y="7680960"/>
            <a:ext cx="1533906" cy="2194560"/>
          </a:xfrm>
          <a:prstGeom prst="roundRect">
            <a:avLst>
              <a:gd name="adj" fmla="val 4769"/>
            </a:avLst>
          </a:prstGeom>
          <a:solidFill>
            <a:schemeClr val="bg2"/>
          </a:solidFill>
          <a:ln w="12700">
            <a:solidFill>
              <a:schemeClr val="bg2"/>
            </a:solidFill>
            <a:prstDash val="solid"/>
          </a:ln>
        </p:spPr>
      </p:sp>
      <p:sp>
        <p:nvSpPr>
          <p:cNvPr id="15" name="text-734"/>
          <p:cNvSpPr txBox="1"/>
          <p:nvPr/>
        </p:nvSpPr>
        <p:spPr>
          <a:xfrm>
            <a:off x="658368"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Who rides</a:t>
            </a:r>
            <a:endParaRPr lang="en-US" sz="1100" dirty="0"/>
          </a:p>
        </p:txBody>
      </p:sp>
      <p:sp>
        <p:nvSpPr>
          <p:cNvPr id="16" name="text-735"/>
          <p:cNvSpPr txBox="1"/>
          <p:nvPr/>
        </p:nvSpPr>
        <p:spPr>
          <a:xfrm>
            <a:off x="658368"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Commuters, students, shoppers and stadium fans. Heated cars have space for wheelchairs, prams and skis.</a:t>
            </a:r>
            <a:endParaRPr lang="en-US" sz="1000" dirty="0"/>
          </a:p>
        </p:txBody>
      </p:sp>
      <p:sp>
        <p:nvSpPr>
          <p:cNvPr id="17" name="card-736"/>
          <p:cNvSpPr/>
          <p:nvPr/>
        </p:nvSpPr>
        <p:spPr>
          <a:xfrm>
            <a:off x="2192274" y="7680960"/>
            <a:ext cx="1533906" cy="2194560"/>
          </a:xfrm>
          <a:prstGeom prst="roundRect">
            <a:avLst>
              <a:gd name="adj" fmla="val 4769"/>
            </a:avLst>
          </a:prstGeom>
          <a:solidFill>
            <a:schemeClr val="bg2"/>
          </a:solidFill>
          <a:ln w="12700">
            <a:solidFill>
              <a:schemeClr val="bg2"/>
            </a:solidFill>
            <a:prstDash val="solid"/>
          </a:ln>
        </p:spPr>
      </p:sp>
      <p:sp>
        <p:nvSpPr>
          <p:cNvPr id="18" name="text-737"/>
          <p:cNvSpPr txBox="1"/>
          <p:nvPr/>
        </p:nvSpPr>
        <p:spPr>
          <a:xfrm>
            <a:off x="2302002"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How many</a:t>
            </a:r>
            <a:endParaRPr lang="en-US" sz="1100" dirty="0"/>
          </a:p>
        </p:txBody>
      </p:sp>
      <p:sp>
        <p:nvSpPr>
          <p:cNvPr id="19" name="text-738"/>
          <p:cNvSpPr txBox="1"/>
          <p:nvPr/>
        </p:nvSpPr>
        <p:spPr>
          <a:xfrm>
            <a:off x="2302002"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1000" dirty="0"/>
          </a:p>
        </p:txBody>
      </p:sp>
      <p:sp>
        <p:nvSpPr>
          <p:cNvPr id="20" name="card-739"/>
          <p:cNvSpPr/>
          <p:nvPr/>
        </p:nvSpPr>
        <p:spPr>
          <a:xfrm>
            <a:off x="3835908" y="7680960"/>
            <a:ext cx="1533906" cy="2194560"/>
          </a:xfrm>
          <a:prstGeom prst="roundRect">
            <a:avLst>
              <a:gd name="adj" fmla="val 4769"/>
            </a:avLst>
          </a:prstGeom>
          <a:solidFill>
            <a:schemeClr val="bg2"/>
          </a:solidFill>
          <a:ln w="12700">
            <a:solidFill>
              <a:schemeClr val="bg2"/>
            </a:solidFill>
            <a:prstDash val="solid"/>
          </a:ln>
        </p:spPr>
      </p:sp>
      <p:sp>
        <p:nvSpPr>
          <p:cNvPr id="21" name="text-740"/>
          <p:cNvSpPr txBox="1"/>
          <p:nvPr/>
        </p:nvSpPr>
        <p:spPr>
          <a:xfrm>
            <a:off x="3945636"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Safe in a storm</a:t>
            </a:r>
            <a:endParaRPr lang="en-US" sz="1100" dirty="0"/>
          </a:p>
        </p:txBody>
      </p:sp>
      <p:sp>
        <p:nvSpPr>
          <p:cNvPr id="22" name="text-741"/>
          <p:cNvSpPr txBox="1"/>
          <p:nvPr/>
        </p:nvSpPr>
        <p:spPr>
          <a:xfrm>
            <a:off x="3945636"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Deep, insulated tunnels kept at about +5 °C, emergency walkways with glow strips, and doors straight into the four shelters.</a:t>
            </a:r>
            <a:endParaRPr lang="en-US" sz="1000" dirty="0"/>
          </a:p>
        </p:txBody>
      </p:sp>
      <p:sp>
        <p:nvSpPr>
          <p:cNvPr id="23" name="card-742"/>
          <p:cNvSpPr/>
          <p:nvPr/>
        </p:nvSpPr>
        <p:spPr>
          <a:xfrm>
            <a:off x="5479542" y="7680960"/>
            <a:ext cx="1533906" cy="2194560"/>
          </a:xfrm>
          <a:prstGeom prst="roundRect">
            <a:avLst>
              <a:gd name="adj" fmla="val 4769"/>
            </a:avLst>
          </a:prstGeom>
          <a:solidFill>
            <a:schemeClr val="bg2"/>
          </a:solidFill>
          <a:ln w="12700">
            <a:solidFill>
              <a:schemeClr val="bg2"/>
            </a:solidFill>
            <a:prstDash val="solid"/>
          </a:ln>
        </p:spPr>
      </p:sp>
      <p:sp>
        <p:nvSpPr>
          <p:cNvPr id="24" name="text-743"/>
          <p:cNvSpPr txBox="1"/>
          <p:nvPr/>
        </p:nvSpPr>
        <p:spPr>
          <a:xfrm>
            <a:off x="5589270" y="7790688"/>
            <a:ext cx="1314450" cy="237744"/>
          </a:xfrm>
          <a:prstGeom prst="rect">
            <a:avLst/>
          </a:prstGeom>
          <a:noFill/>
          <a:ln/>
        </p:spPr>
        <p:txBody>
          <a:bodyPr wrap="square" lIns="0" tIns="0" rIns="0" bIns="0" rtlCol="0" anchor="t"/>
          <a:lstStyle/>
          <a:p>
            <a:pPr indent="0" marL="0">
              <a:buNone/>
            </a:pPr>
            <a:r>
              <a:rPr lang="en-US" sz="1100" b="1" dirty="0">
                <a:solidFill>
                  <a:schemeClr val="accent6"/>
                </a:solidFill>
              </a:rPr>
              <a:t>Powered by</a:t>
            </a:r>
            <a:endParaRPr lang="en-US" sz="1100" dirty="0"/>
          </a:p>
        </p:txBody>
      </p:sp>
      <p:sp>
        <p:nvSpPr>
          <p:cNvPr id="25" name="text-744"/>
          <p:cNvSpPr txBox="1"/>
          <p:nvPr/>
        </p:nvSpPr>
        <p:spPr>
          <a:xfrm>
            <a:off x="5589270" y="8083296"/>
            <a:ext cx="1314450" cy="1737360"/>
          </a:xfrm>
          <a:prstGeom prst="rect">
            <a:avLst/>
          </a:prstGeom>
          <a:noFill/>
          <a:ln/>
        </p:spPr>
        <p:txBody>
          <a:bodyPr wrap="square" lIns="0" tIns="0" rIns="0" bIns="0" rtlCol="0" anchor="t"/>
          <a:lstStyle/>
          <a:p>
            <a:pPr indent="0" marL="0">
              <a:lnSpc>
                <a:spcPct val="106000"/>
              </a:lnSpc>
              <a:buNone/>
            </a:pPr>
            <a:r>
              <a:rPr lang="en-US" sz="1000" dirty="0">
                <a:solidFill>
                  <a:schemeClr val="tx1"/>
                </a:solidFill>
              </a:rPr>
              <a:t>All-electric and driverless. Braking returns about 30% of the energy, and insulation, not heaters, keeps the tunnels above freezing.</a:t>
            </a:r>
            <a:endParaRPr lang="en-US" sz="1000" dirty="0"/>
          </a:p>
        </p:txBody>
      </p:sp>
      <p:sp>
        <p:nvSpPr>
          <p:cNvPr id="2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
        <p:nvSpPr>
          <p:cNvPr id="27"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745"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746"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747"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748"/>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749"/>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750"/>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752"/>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53"/>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54"/>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55"/>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56"/>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57"/>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58"/>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
        <p:nvSpPr>
          <p:cNvPr id="16"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SYSTEMS &amp; LIFE</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59"/>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6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6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63"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64"/>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65"/>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66"/>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67"/>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68"/>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69"/>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70"/>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71"/>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72"/>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
        <p:nvSpPr>
          <p:cNvPr id="16"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7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7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7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7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7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7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8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8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8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8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8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8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8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8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8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8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9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9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9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9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9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9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9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9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9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9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80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80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80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80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80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80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80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80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
        <p:nvSpPr>
          <p:cNvPr id="37"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SYSTEMS &amp; LIFE</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80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80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81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81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81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81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81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81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81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81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81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82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82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82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82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82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82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82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82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82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82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83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83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83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83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83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83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83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83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83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83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84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84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84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843"/>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844"/>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845"/>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846"/>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847"/>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848"/>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849"/>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850"/>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85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85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5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
        <p:nvSpPr>
          <p:cNvPr id="49"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INVEST</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5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5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5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5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5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6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6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6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6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6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6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6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6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6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6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7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7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7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7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7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7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7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7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7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7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8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8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8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8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8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8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8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8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8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89"/>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90"/>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91"/>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92"/>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
        <p:nvSpPr>
          <p:cNvPr id="42"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  ·  </a:t>
            </a:r>
            <a:pPr algn="r" indent="0" marL="0">
              <a:buNone/>
            </a:pPr>
            <a:r>
              <a:rPr lang="en-US" sz="700" b="1" spc="200" kern="0" dirty="0">
                <a:solidFill>
                  <a:schemeClr val="accent6"/>
                </a:solidFill>
              </a:rPr>
              <a:t>THE GUIDE</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9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9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97"/>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98"/>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99"/>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900"/>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901"/>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902"/>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903"/>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904"/>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905"/>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906"/>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907"/>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908"/>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909"/>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910"/>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911"/>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912"/>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913"/>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914"/>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915"/>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916"/>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917"/>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918"/>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919"/>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920"/>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921"/>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922"/>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923"/>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924"/>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925"/>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926"/>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927"/>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928"/>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929"/>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930"/>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931"/>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932"/>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933"/>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934"/>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935"/>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936"/>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937"/>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938"/>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939"/>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940"/>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941"/>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942"/>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943"/>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944"/>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945"/>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946"/>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947"/>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948"/>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949"/>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950"/>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951"/>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952"/>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53"/>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54"/>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55"/>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56"/>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57"/>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58"/>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59"/>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60"/>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61"/>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62"/>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63"/>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64"/>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65"/>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66"/>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67"/>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68"/>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69"/>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70"/>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71"/>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72"/>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73"/>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74"/>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75"/>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76"/>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77"/>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78"/>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79"/>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80"/>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81"/>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82"/>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83"/>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84"/>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85"/>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86"/>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87"/>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88"/>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89"/>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90"/>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91"/>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92"/>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93"/>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94"/>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95"/>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96"/>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97"/>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98"/>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99"/>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1000"/>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1001"/>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1002"/>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
        <p:nvSpPr>
          <p:cNvPr id="112"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1003"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1004"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1005"/>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1006"/>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1007"/>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1009"/>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1010"/>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1011"/>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1012"/>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1013"/>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
        <p:nvSpPr>
          <p:cNvPr id="13" name="folio"/>
          <p:cNvSpPr txBox="1"/>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  ·  </a:t>
            </a:r>
            <a:pPr algn="r" indent="0" marL="0">
              <a:buNone/>
            </a:pPr>
            <a:r>
              <a:rPr lang="en-US" sz="700" b="1" spc="200" kern="0" dirty="0">
                <a:solidFill>
                  <a:schemeClr val="bg1"/>
                </a:solidFill>
              </a:rPr>
              <a:t>THE GUIDE</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8"/>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9"/>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20"/>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21"/>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1022"/>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3"/>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4"/>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1025"/>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6"/>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7"/>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8"/>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9"/>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30"/>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1031"/>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32"/>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The cover photo is a render of that model made photo-realistic with an AI image tool (Nano Banana Pro), keeping its layout.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
        <p:nvSpPr>
          <p:cNvPr id="21" name="folio"/>
          <p:cNvSpPr txBox="1"/>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  ·  </a:t>
            </a:r>
            <a:pPr algn="l" indent="0" marL="0">
              <a:buNone/>
            </a:pPr>
            <a:r>
              <a:rPr lang="en-US" sz="700" b="1" spc="200" kern="0" dirty="0">
                <a:solidFill>
                  <a:schemeClr val="accent6"/>
                </a:solidFill>
              </a:rPr>
              <a:t>THE GUIDE</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3"/>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5"/>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6"/>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7"/>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8"/>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9"/>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40"/>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41"/>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42"/>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3"/>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4"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5"/>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2026-10-30T08:27:22Z</dcterms:created>
  <dcterms:modified xsi:type="dcterms:W3CDTF">2026-10-30T08:27:22Z</dcterms:modified>
</cp:coreProperties>
</file>