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45a76be-06ec-517d-dc4b-9cbc597342fa}">
          <p14:sldIdLst>
            <p14:sldId id="256"/>
            <p14:sldId id="257"/>
          </p14:sldIdLst>
        </p14:section>
        <p14:section name="Welcome" id="{e2d34307-094b-ad1b-e3c1-6ff54b0630ff}">
          <p14:sldIdLst>
            <p14:sldId id="258"/>
            <p14:sldId id="259"/>
            <p14:sldId id="260"/>
            <p14:sldId id="261"/>
            <p14:sldId id="262"/>
          </p14:sldIdLst>
        </p14:section>
        <p14:section name="The City" id="{72bc2ec1-c5e2-ce21-a410-4b39f1b49674}">
          <p14:sldIdLst>
            <p14:sldId id="263"/>
            <p14:sldId id="264"/>
            <p14:sldId id="265"/>
            <p14:sldId id="266"/>
            <p14:sldId id="267"/>
            <p14:sldId id="268"/>
          </p14:sldIdLst>
        </p14:section>
        <p14:section name="Signature Districts" id="{d95bb431-7dd2-338e-3b84-ece4ead31af8}">
          <p14:sldIdLst>
            <p14:sldId id="269"/>
            <p14:sldId id="270"/>
            <p14:sldId id="271"/>
            <p14:sldId id="272"/>
            <p14:sldId id="273"/>
            <p14:sldId id="274"/>
            <p14:sldId id="275"/>
            <p14:sldId id="276"/>
            <p14:sldId id="277"/>
            <p14:sldId id="278"/>
            <p14:sldId id="279"/>
          </p14:sldIdLst>
        </p14:section>
        <p14:section name="Living in Aurora Haven" id="{a39bf15d-3a8e-fe34-75df-f3e7bf9a335f}">
          <p14:sldIdLst>
            <p14:sldId id="280"/>
            <p14:sldId id="281"/>
            <p14:sldId id="282"/>
            <p14:sldId id="283"/>
            <p14:sldId id="284"/>
            <p14:sldId id="285"/>
            <p14:sldId id="286"/>
            <p14:sldId id="287"/>
            <p14:sldId id="288"/>
          </p14:sldIdLst>
        </p14:section>
        <p14:section name="Invest" id="{7844d374-348c-c7ce-cf9c-d8e541f18206}">
          <p14:sldIdLst>
            <p14:sldId id="289"/>
          </p14:sldIdLst>
        </p14:section>
        <p14:section name="Guide" id="{15075033-928f-4fb5-9355-55fca1cad024}">
          <p14:sldIdLst>
            <p14:sldId id="290"/>
            <p14:sldId id="291"/>
            <p14:sldId id="292"/>
            <p14:sldId id="293"/>
            <p14:sldId id="294"/>
          </p14:sldIdLst>
        </p14:section>
        <p14:section name="Back Cover" id="{702a0f87-d4b5-3201-06c8-162aba10940b}">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aidsfjas4239PolarCut/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icture-1" descr="/home/user/chatbox-bi-n-o/magazine/assets/renders/cover_rea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pic>
        <p:nvPicPr>
          <p:cNvPr id="4" name="shade-fade-3" descr="/home/user/chatbox-bi-n-o/magazine/assets/ui/fade_bottom.png">    </p:cNvPr>
          <p:cNvPicPr>
            <a:picLocks noChangeAspect="1"/>
          </p:cNvPicPr>
          <p:nvPr/>
        </p:nvPicPr>
        <p:blipFill>
          <a:blip r:embed="rId3"/>
          <a:stretch>
            <a:fillRect/>
          </a:stretch>
        </p:blipFill>
        <p:spPr>
          <a:xfrm>
            <a:off x="0" y="7223760"/>
            <a:ext cx="7562088" cy="3465576"/>
          </a:xfrm>
          <a:prstGeom prst="rect">
            <a:avLst/>
          </a:prstGeom>
        </p:spPr>
      </p:pic>
      <p:sp>
        <p:nvSpPr>
          <p:cNvPr id="5" name="text-4"/>
          <p:cNvSpPr txBox="1"/>
          <p:nvPr/>
        </p:nvSpPr>
        <p:spPr>
          <a:xfrm>
            <a:off x="548640" y="329184"/>
            <a:ext cx="4114800" cy="201168"/>
          </a:xfrm>
          <a:prstGeom prst="rect">
            <a:avLst/>
          </a:prstGeom>
          <a:noFill/>
          <a:ln/>
        </p:spPr>
        <p:txBody>
          <a:bodyPr wrap="square" lIns="0" tIns="0" rIns="0" bIns="0" rtlCol="0" anchor="t"/>
          <a:lstStyle/>
          <a:p>
            <a:pPr indent="0" marL="0">
              <a:buNone/>
            </a:pPr>
            <a:r>
              <a:rPr lang="en-US" sz="850" b="1" spc="300" kern="0" dirty="0">
                <a:solidFill>
                  <a:schemeClr val="accent1"/>
                </a:solidFill>
              </a:rPr>
              <a:t>THE IDEAL CITY OF THE FUTURE</a:t>
            </a:r>
            <a:endParaRPr lang="en-US" sz="850" dirty="0"/>
          </a:p>
        </p:txBody>
      </p:sp>
      <p:sp>
        <p:nvSpPr>
          <p:cNvPr id="6" name="text-5"/>
          <p:cNvSpPr txBox="1"/>
          <p:nvPr/>
        </p:nvSpPr>
        <p:spPr>
          <a:xfrm>
            <a:off x="4270248" y="329184"/>
            <a:ext cx="2743200" cy="201168"/>
          </a:xfrm>
          <a:prstGeom prst="rect">
            <a:avLst/>
          </a:prstGeom>
          <a:noFill/>
          <a:ln/>
        </p:spPr>
        <p:txBody>
          <a:bodyPr wrap="square" lIns="0" tIns="0" rIns="0" bIns="0" rtlCol="0" anchor="t"/>
          <a:lstStyle/>
          <a:p>
            <a:pPr algn="r" indent="0" marL="0">
              <a:buNone/>
            </a:pPr>
            <a:r>
              <a:rPr lang="en-US" sz="850" b="1" spc="300" kern="0" dirty="0">
                <a:solidFill>
                  <a:schemeClr val="bg1"/>
                </a:solidFill>
              </a:rPr>
              <a:t>ISSUE 01  ·  2026</a:t>
            </a:r>
            <a:endParaRPr lang="en-US" sz="850" dirty="0"/>
          </a:p>
        </p:txBody>
      </p:sp>
      <p:sp>
        <p:nvSpPr>
          <p:cNvPr id="7" name="text-6"/>
          <p:cNvSpPr txBox="1"/>
          <p:nvPr/>
        </p:nvSpPr>
        <p:spPr>
          <a:xfrm>
            <a:off x="137160" y="530352"/>
            <a:ext cx="7287768" cy="10972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6800" b="1" dirty="0">
                <a:solidFill>
                  <a:schemeClr val="bg1"/>
                </a:solidFill>
                <a:latin typeface="+mj-lt" pitchFamily="34" charset="0"/>
                <a:ea typeface="+mj-lt" pitchFamily="34" charset="-122"/>
                <a:cs typeface="+mj-lt" pitchFamily="34" charset="-120"/>
              </a:rPr>
              <a:t>AURORA HAVEN</a:t>
            </a:r>
            <a:endParaRPr lang="en-US" sz="6800" dirty="0"/>
          </a:p>
        </p:txBody>
      </p:sp>
      <p:sp>
        <p:nvSpPr>
          <p:cNvPr id="8" name="text-7"/>
          <p:cNvSpPr txBox="1"/>
          <p:nvPr/>
        </p:nvSpPr>
        <p:spPr>
          <a:xfrm>
            <a:off x="548640" y="1627632"/>
            <a:ext cx="6464808" cy="2743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1100" b="1" spc="600" kern="0" dirty="0">
                <a:solidFill>
                  <a:schemeClr val="bg1"/>
                </a:solidFill>
              </a:rPr>
              <a:t>A POLAR CITY THAT THRIVES</a:t>
            </a:r>
            <a:endParaRPr lang="en-US" sz="1100" dirty="0"/>
          </a:p>
        </p:txBody>
      </p:sp>
      <p:sp>
        <p:nvSpPr>
          <p:cNvPr id="9" name="cover-leader-8"/>
          <p:cNvSpPr/>
          <p:nvPr/>
        </p:nvSpPr>
        <p:spPr>
          <a:xfrm flipH="1" flipV="1">
            <a:off x="1847088" y="6144768"/>
            <a:ext cx="850392" cy="667512"/>
          </a:xfrm>
          <a:prstGeom prst="line">
            <a:avLst/>
          </a:prstGeom>
          <a:noFill/>
          <a:ln w="15875">
            <a:solidFill>
              <a:schemeClr val="bg1"/>
            </a:solidFill>
            <a:prstDash val="solid"/>
          </a:ln>
        </p:spPr>
      </p:sp>
      <p:sp>
        <p:nvSpPr>
          <p:cNvPr id="10" name="cover-pin-9"/>
          <p:cNvSpPr/>
          <p:nvPr/>
        </p:nvSpPr>
        <p:spPr>
          <a:xfrm>
            <a:off x="1764792" y="6062472"/>
            <a:ext cx="164592" cy="164592"/>
          </a:xfrm>
          <a:prstGeom prst="ellipse">
            <a:avLst/>
          </a:prstGeom>
          <a:solidFill>
            <a:schemeClr val="accent3"/>
          </a:solidFill>
          <a:ln w="19050">
            <a:solidFill>
              <a:schemeClr val="bg1"/>
            </a:solidFill>
            <a:prstDash val="solid"/>
          </a:ln>
        </p:spPr>
      </p:sp>
      <p:sp>
        <p:nvSpPr>
          <p:cNvPr id="11" name="cover-label-10"/>
          <p:cNvSpPr/>
          <p:nvPr/>
        </p:nvSpPr>
        <p:spPr>
          <a:xfrm>
            <a:off x="2514600" y="6812280"/>
            <a:ext cx="2377440" cy="585216"/>
          </a:xfrm>
          <a:prstGeom prst="roundRect">
            <a:avLst>
              <a:gd name="adj" fmla="val 9375"/>
            </a:avLst>
          </a:prstGeom>
          <a:solidFill>
            <a:schemeClr val="tx1">
              <a:alpha val="88000"/>
            </a:schemeClr>
          </a:solidFill>
          <a:ln w="15875">
            <a:solidFill>
              <a:schemeClr val="accent3"/>
            </a:solidFill>
            <a:prstDash val="solid"/>
          </a:ln>
        </p:spPr>
      </p:sp>
      <p:sp>
        <p:nvSpPr>
          <p:cNvPr id="12" name="marker-11"/>
          <p:cNvSpPr/>
          <p:nvPr/>
        </p:nvSpPr>
        <p:spPr>
          <a:xfrm>
            <a:off x="2606040" y="6922008"/>
            <a:ext cx="365760" cy="365760"/>
          </a:xfrm>
          <a:prstGeom prst="ellipse">
            <a:avLst/>
          </a:prstGeom>
          <a:solidFill>
            <a:schemeClr val="accent3"/>
          </a:solidFill>
          <a:ln w="12700">
            <a:solidFill>
              <a:schemeClr val="accent3"/>
            </a:solidFill>
            <a:prstDash val="solid"/>
          </a:ln>
        </p:spPr>
      </p:sp>
      <p:sp>
        <p:nvSpPr>
          <p:cNvPr id="13" name="text-12"/>
          <p:cNvSpPr txBox="1"/>
          <p:nvPr/>
        </p:nvSpPr>
        <p:spPr>
          <a:xfrm>
            <a:off x="2606040" y="69220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4" name="text-13"/>
          <p:cNvSpPr txBox="1"/>
          <p:nvPr/>
        </p:nvSpPr>
        <p:spPr>
          <a:xfrm>
            <a:off x="3044952" y="6867144"/>
            <a:ext cx="17739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FUSION CORE</a:t>
            </a:r>
            <a:endParaRPr lang="en-US" sz="1050" dirty="0"/>
          </a:p>
          <a:p>
            <a:pPr indent="0" marL="0">
              <a:lnSpc>
                <a:spcPct val="105000"/>
              </a:lnSpc>
              <a:buNone/>
            </a:pPr>
            <a:r>
              <a:rPr lang="en-US" sz="850" i="1" dirty="0">
                <a:solidFill>
                  <a:schemeClr val="bg2"/>
                </a:solidFill>
              </a:rPr>
              <a:t>The city’s own sun  ·  P. 12</a:t>
            </a:r>
            <a:endParaRPr lang="en-US" sz="1050" dirty="0"/>
          </a:p>
        </p:txBody>
      </p:sp>
      <p:sp>
        <p:nvSpPr>
          <p:cNvPr id="15" name="cover-leader-14"/>
          <p:cNvSpPr/>
          <p:nvPr/>
        </p:nvSpPr>
        <p:spPr>
          <a:xfrm>
            <a:off x="6035040" y="4425696"/>
            <a:ext cx="557784" cy="1664208"/>
          </a:xfrm>
          <a:prstGeom prst="line">
            <a:avLst/>
          </a:prstGeom>
          <a:noFill/>
          <a:ln w="15875">
            <a:solidFill>
              <a:schemeClr val="bg1"/>
            </a:solidFill>
            <a:prstDash val="solid"/>
          </a:ln>
        </p:spPr>
      </p:sp>
      <p:sp>
        <p:nvSpPr>
          <p:cNvPr id="16" name="cover-pin-15"/>
          <p:cNvSpPr/>
          <p:nvPr/>
        </p:nvSpPr>
        <p:spPr>
          <a:xfrm>
            <a:off x="6510528" y="6007608"/>
            <a:ext cx="164592" cy="164592"/>
          </a:xfrm>
          <a:prstGeom prst="ellipse">
            <a:avLst/>
          </a:prstGeom>
          <a:solidFill>
            <a:schemeClr val="accent4"/>
          </a:solidFill>
          <a:ln w="19050">
            <a:solidFill>
              <a:schemeClr val="bg1"/>
            </a:solidFill>
            <a:prstDash val="solid"/>
          </a:ln>
        </p:spPr>
      </p:sp>
      <p:sp>
        <p:nvSpPr>
          <p:cNvPr id="17" name="cover-label-16"/>
          <p:cNvSpPr/>
          <p:nvPr/>
        </p:nvSpPr>
        <p:spPr>
          <a:xfrm>
            <a:off x="3931920" y="3840480"/>
            <a:ext cx="2423160" cy="585216"/>
          </a:xfrm>
          <a:prstGeom prst="roundRect">
            <a:avLst>
              <a:gd name="adj" fmla="val 9375"/>
            </a:avLst>
          </a:prstGeom>
          <a:solidFill>
            <a:schemeClr val="tx1">
              <a:alpha val="88000"/>
            </a:schemeClr>
          </a:solidFill>
          <a:ln w="15875">
            <a:solidFill>
              <a:schemeClr val="accent4"/>
            </a:solidFill>
            <a:prstDash val="solid"/>
          </a:ln>
        </p:spPr>
      </p:sp>
      <p:sp>
        <p:nvSpPr>
          <p:cNvPr id="18" name="marker-17"/>
          <p:cNvSpPr/>
          <p:nvPr/>
        </p:nvSpPr>
        <p:spPr>
          <a:xfrm>
            <a:off x="4023360" y="3950208"/>
            <a:ext cx="365760" cy="365760"/>
          </a:xfrm>
          <a:prstGeom prst="ellipse">
            <a:avLst/>
          </a:prstGeom>
          <a:solidFill>
            <a:schemeClr val="accent4"/>
          </a:solidFill>
          <a:ln w="12700">
            <a:solidFill>
              <a:schemeClr val="accent4"/>
            </a:solidFill>
            <a:prstDash val="solid"/>
          </a:ln>
        </p:spPr>
      </p:sp>
      <p:sp>
        <p:nvSpPr>
          <p:cNvPr id="19" name="text-18"/>
          <p:cNvSpPr txBox="1"/>
          <p:nvPr/>
        </p:nvSpPr>
        <p:spPr>
          <a:xfrm>
            <a:off x="4023360" y="39502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20" name="text-19"/>
          <p:cNvSpPr txBox="1"/>
          <p:nvPr/>
        </p:nvSpPr>
        <p:spPr>
          <a:xfrm>
            <a:off x="4462272" y="3895344"/>
            <a:ext cx="181965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SNOW-TO-FOOD PLANT</a:t>
            </a:r>
            <a:endParaRPr lang="en-US" sz="1050" dirty="0"/>
          </a:p>
          <a:p>
            <a:pPr indent="0" marL="0">
              <a:lnSpc>
                <a:spcPct val="105000"/>
              </a:lnSpc>
              <a:buNone/>
            </a:pPr>
            <a:r>
              <a:rPr lang="en-US" sz="850" i="1" dirty="0">
                <a:solidFill>
                  <a:schemeClr val="bg2"/>
                </a:solidFill>
              </a:rPr>
              <a:t>Bread and water from snow  ·  P. 15</a:t>
            </a:r>
            <a:endParaRPr lang="en-US" sz="1050" dirty="0"/>
          </a:p>
        </p:txBody>
      </p:sp>
      <p:sp>
        <p:nvSpPr>
          <p:cNvPr id="21" name="cover-leader-20"/>
          <p:cNvSpPr/>
          <p:nvPr/>
        </p:nvSpPr>
        <p:spPr>
          <a:xfrm>
            <a:off x="1636776" y="4105656"/>
            <a:ext cx="914" cy="649224"/>
          </a:xfrm>
          <a:prstGeom prst="line">
            <a:avLst/>
          </a:prstGeom>
          <a:noFill/>
          <a:ln w="15875">
            <a:solidFill>
              <a:schemeClr val="bg1"/>
            </a:solidFill>
            <a:prstDash val="solid"/>
          </a:ln>
        </p:spPr>
      </p:sp>
      <p:sp>
        <p:nvSpPr>
          <p:cNvPr id="22" name="cover-pin-21"/>
          <p:cNvSpPr/>
          <p:nvPr/>
        </p:nvSpPr>
        <p:spPr>
          <a:xfrm>
            <a:off x="1554480" y="4672584"/>
            <a:ext cx="164592" cy="164592"/>
          </a:xfrm>
          <a:prstGeom prst="ellipse">
            <a:avLst/>
          </a:prstGeom>
          <a:solidFill>
            <a:schemeClr val="accent5"/>
          </a:solidFill>
          <a:ln w="19050">
            <a:solidFill>
              <a:schemeClr val="bg1"/>
            </a:solidFill>
            <a:prstDash val="solid"/>
          </a:ln>
        </p:spPr>
      </p:sp>
      <p:sp>
        <p:nvSpPr>
          <p:cNvPr id="23" name="cover-label-22"/>
          <p:cNvSpPr/>
          <p:nvPr/>
        </p:nvSpPr>
        <p:spPr>
          <a:xfrm>
            <a:off x="365760" y="3520440"/>
            <a:ext cx="2606040" cy="585216"/>
          </a:xfrm>
          <a:prstGeom prst="roundRect">
            <a:avLst>
              <a:gd name="adj" fmla="val 9375"/>
            </a:avLst>
          </a:prstGeom>
          <a:solidFill>
            <a:schemeClr val="tx1">
              <a:alpha val="88000"/>
            </a:schemeClr>
          </a:solidFill>
          <a:ln w="15875">
            <a:solidFill>
              <a:schemeClr val="accent5"/>
            </a:solidFill>
            <a:prstDash val="solid"/>
          </a:ln>
        </p:spPr>
      </p:sp>
      <p:sp>
        <p:nvSpPr>
          <p:cNvPr id="24" name="marker-23"/>
          <p:cNvSpPr/>
          <p:nvPr/>
        </p:nvSpPr>
        <p:spPr>
          <a:xfrm>
            <a:off x="457200" y="3630168"/>
            <a:ext cx="365760" cy="365760"/>
          </a:xfrm>
          <a:prstGeom prst="ellipse">
            <a:avLst/>
          </a:prstGeom>
          <a:solidFill>
            <a:schemeClr val="accent5"/>
          </a:solidFill>
          <a:ln w="12700">
            <a:solidFill>
              <a:schemeClr val="accent5"/>
            </a:solidFill>
            <a:prstDash val="solid"/>
          </a:ln>
        </p:spPr>
      </p:sp>
      <p:sp>
        <p:nvSpPr>
          <p:cNvPr id="25" name="text-24"/>
          <p:cNvSpPr txBox="1"/>
          <p:nvPr/>
        </p:nvSpPr>
        <p:spPr>
          <a:xfrm>
            <a:off x="457200" y="36301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6" name="text-25"/>
          <p:cNvSpPr txBox="1"/>
          <p:nvPr/>
        </p:nvSpPr>
        <p:spPr>
          <a:xfrm>
            <a:off x="896112" y="3575304"/>
            <a:ext cx="20025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MOUNT AURORA</a:t>
            </a:r>
            <a:endParaRPr lang="en-US" sz="1050" dirty="0"/>
          </a:p>
          <a:p>
            <a:pPr indent="0" marL="0">
              <a:lnSpc>
                <a:spcPct val="105000"/>
              </a:lnSpc>
              <a:buNone/>
            </a:pPr>
            <a:r>
              <a:rPr lang="en-US" sz="850" i="1" dirty="0">
                <a:solidFill>
                  <a:schemeClr val="bg2"/>
                </a:solidFill>
              </a:rPr>
              <a:t>A snow mountain you can walk inside  ·  P. 17</a:t>
            </a:r>
            <a:endParaRPr lang="en-US" sz="1050" dirty="0"/>
          </a:p>
        </p:txBody>
      </p:sp>
      <p:sp>
        <p:nvSpPr>
          <p:cNvPr id="27" name="text-26"/>
          <p:cNvSpPr txBox="1"/>
          <p:nvPr/>
        </p:nvSpPr>
        <p:spPr>
          <a:xfrm>
            <a:off x="548640" y="8339328"/>
            <a:ext cx="6464808" cy="91440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00000"/>
              </a:lnSpc>
              <a:buNone/>
            </a:pPr>
            <a:r>
              <a:rPr lang="en-US" sz="2500" b="1" dirty="0">
                <a:solidFill>
                  <a:schemeClr val="bg1"/>
                </a:solidFill>
                <a:latin typeface="+mj-lt" pitchFamily="34" charset="0"/>
                <a:ea typeface="+mj-lt" pitchFamily="34" charset="-122"/>
                <a:cs typeface="+mj-lt" pitchFamily="34" charset="-120"/>
              </a:rPr>
              <a:t>Its own sun. Its own food.</a:t>
            </a:r>
            <a:endParaRPr lang="en-US" sz="2500" dirty="0"/>
          </a:p>
          <a:p>
            <a:pPr indent="0" marL="0">
              <a:lnSpc>
                <a:spcPct val="100000"/>
              </a:lnSpc>
              <a:buNone/>
            </a:pPr>
            <a:r>
              <a:rPr lang="en-US" sz="2500" b="1" dirty="0">
                <a:solidFill>
                  <a:schemeClr val="accent1"/>
                </a:solidFill>
                <a:latin typeface="+mj-lt" pitchFamily="34" charset="0"/>
                <a:ea typeface="+mj-lt" pitchFamily="34" charset="-122"/>
                <a:cs typeface="+mj-lt" pitchFamily="34" charset="-120"/>
              </a:rPr>
              <a:t>A mountain you can walk inside.</a:t>
            </a:r>
            <a:endParaRPr lang="en-US" sz="2500" dirty="0"/>
          </a:p>
        </p:txBody>
      </p:sp>
      <p:sp>
        <p:nvSpPr>
          <p:cNvPr id="28" name="text-27"/>
          <p:cNvSpPr txBox="1"/>
          <p:nvPr/>
        </p:nvSpPr>
        <p:spPr>
          <a:xfrm>
            <a:off x="548640" y="9326880"/>
            <a:ext cx="6464808" cy="274320"/>
          </a:xfrm>
          <a:prstGeom prst="rect">
            <a:avLst/>
          </a:prstGeom>
          <a:noFill/>
          <a:ln/>
        </p:spPr>
        <p:txBody>
          <a:bodyPr wrap="square" lIns="0" tIns="0" rIns="0" bIns="0" rtlCol="0" anchor="t"/>
          <a:lstStyle/>
          <a:p>
            <a:pPr indent="0" marL="0">
              <a:buNone/>
            </a:pPr>
            <a:r>
              <a:rPr lang="en-US" sz="850" b="1" spc="200" kern="0" dirty="0">
                <a:solidFill>
                  <a:schemeClr val="accent1"/>
                </a:solidFill>
              </a:rPr>
              <a:t>INSIDE   </a:t>
            </a:r>
            <a:pPr indent="0" marL="0">
              <a:buNone/>
            </a:pPr>
            <a:r>
              <a:rPr lang="en-US" sz="850" dirty="0">
                <a:solidFill>
                  <a:schemeClr val="bg1"/>
                </a:solidFill>
              </a:rPr>
              <a:t>−45 °C and no sun: the polar challenge  p. 6   ·   Explore our 3D city  p. 21   ·   Invest in Aurora Haven  p. 32</a:t>
            </a:r>
            <a:endParaRPr lang="en-US" sz="850" dirty="0"/>
          </a:p>
        </p:txBody>
      </p:sp>
      <p:sp>
        <p:nvSpPr>
          <p:cNvPr id="29" name="cover-footer-rule"/>
          <p:cNvSpPr/>
          <p:nvPr/>
        </p:nvSpPr>
        <p:spPr>
          <a:xfrm>
            <a:off x="548640" y="9710928"/>
            <a:ext cx="6464808" cy="0"/>
          </a:xfrm>
          <a:prstGeom prst="line">
            <a:avLst/>
          </a:prstGeom>
          <a:noFill/>
          <a:ln w="6350">
            <a:solidFill>
              <a:schemeClr val="bg1">
                <a:alpha val="50000"/>
              </a:schemeClr>
            </a:solidFill>
            <a:prstDash val="solid"/>
          </a:ln>
        </p:spPr>
      </p:sp>
      <p:pic>
        <p:nvPicPr>
          <p:cNvPr id="30" name="cover-school-logo" descr="/home/user/chatbox-bi-n-o/magazine/assets/ui/school_logo.png">    </p:cNvPr>
          <p:cNvPicPr>
            <a:picLocks noChangeAspect="1"/>
          </p:cNvPicPr>
          <p:nvPr/>
        </p:nvPicPr>
        <p:blipFill>
          <a:blip r:embed="rId4"/>
          <a:stretch>
            <a:fillRect/>
          </a:stretch>
        </p:blipFill>
        <p:spPr>
          <a:xfrm>
            <a:off x="548640" y="9838944"/>
            <a:ext cx="502920" cy="502920"/>
          </a:xfrm>
          <a:prstGeom prst="rect">
            <a:avLst/>
          </a:prstGeom>
        </p:spPr>
      </p:pic>
      <p:sp>
        <p:nvSpPr>
          <p:cNvPr id="31" name="text-28"/>
          <p:cNvSpPr txBox="1"/>
          <p:nvPr/>
        </p:nvSpPr>
        <p:spPr>
          <a:xfrm>
            <a:off x="1188720" y="9966960"/>
            <a:ext cx="4023360" cy="237744"/>
          </a:xfrm>
          <a:prstGeom prst="rect">
            <a:avLst/>
          </a:prstGeom>
          <a:noFill/>
          <a:ln/>
        </p:spPr>
        <p:txBody>
          <a:bodyPr wrap="square" lIns="0" tIns="0" rIns="0" bIns="0" rtlCol="0" anchor="t"/>
          <a:lstStyle/>
          <a:p>
            <a:pPr indent="0" marL="0">
              <a:buNone/>
            </a:pPr>
            <a:r>
              <a:rPr lang="en-US" sz="800" b="1" dirty="0">
                <a:solidFill>
                  <a:schemeClr val="bg1"/>
                </a:solidFill>
                <a:latin typeface="Arial" pitchFamily="34" charset="0"/>
                <a:ea typeface="Arial" pitchFamily="34" charset="-122"/>
                <a:cs typeface="Arial" pitchFamily="34" charset="-120"/>
              </a:rPr>
              <a:t>POLAR CITY  ·  CLASS 11A4  ·  LÊ QUÝ ĐÔN HIGH SCHOOL</a:t>
            </a:r>
            <a:endParaRPr lang="en-US" sz="800" dirty="0"/>
          </a:p>
        </p:txBody>
      </p:sp>
      <p:sp>
        <p:nvSpPr>
          <p:cNvPr id="32" name="text-29"/>
          <p:cNvSpPr txBox="1"/>
          <p:nvPr/>
        </p:nvSpPr>
        <p:spPr>
          <a:xfrm>
            <a:off x="5184648" y="9966960"/>
            <a:ext cx="1828800" cy="237744"/>
          </a:xfrm>
          <a:prstGeom prst="rect">
            <a:avLst/>
          </a:prstGeom>
          <a:noFill/>
          <a:ln/>
        </p:spPr>
        <p:txBody>
          <a:bodyPr wrap="square" lIns="0" tIns="0" rIns="0" bIns="0" rtlCol="0" anchor="t"/>
          <a:lstStyle/>
          <a:p>
            <a:pPr algn="r" indent="0" marL="0">
              <a:buNone/>
            </a:pPr>
            <a:r>
              <a:rPr lang="en-US" sz="800" b="1" spc="200" kern="0" dirty="0">
                <a:solidFill>
                  <a:schemeClr val="bg2"/>
                </a:solidFill>
              </a:rPr>
              <a:t>A CONCEPT MAGAZINE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30" descr="/home/user/chatbox-bi-n-o/magazine/assets/renders/street_dusk.jpg">    </p:cNvPr>
          <p:cNvPicPr>
            <a:picLocks noChangeAspect="1"/>
          </p:cNvPicPr>
          <p:nvPr/>
        </p:nvPicPr>
        <p:blipFill>
          <a:blip r:embed="rId1"/>
          <a:srcRect l="0" r="0" t="0" b="0"/>
          <a:stretch/>
        </p:blipFill>
        <p:spPr>
          <a:xfrm>
            <a:off x="0" y="0"/>
            <a:ext cx="7562088" cy="3657600"/>
          </a:xfrm>
          <a:prstGeom prst="rect">
            <a:avLst/>
          </a:prstGeom>
        </p:spPr>
      </p:pic>
      <p:pic>
        <p:nvPicPr>
          <p:cNvPr id="3" name="shade-bottom-31" descr="/home/user/chatbox-bi-n-o/magazine/assets/ui/shade_bottom.png">    </p:cNvPr>
          <p:cNvPicPr>
            <a:picLocks noChangeAspect="1"/>
          </p:cNvPicPr>
          <p:nvPr/>
        </p:nvPicPr>
        <p:blipFill>
          <a:blip r:embed="rId2"/>
          <a:stretch>
            <a:fillRect/>
          </a:stretch>
        </p:blipFill>
        <p:spPr>
          <a:xfrm>
            <a:off x="0" y="1371600"/>
            <a:ext cx="7562088" cy="2286000"/>
          </a:xfrm>
          <a:prstGeom prst="rect">
            <a:avLst/>
          </a:prstGeom>
        </p:spPr>
      </p:pic>
      <p:sp>
        <p:nvSpPr>
          <p:cNvPr id="4" name="kicker-dot-32"/>
          <p:cNvSpPr/>
          <p:nvPr/>
        </p:nvSpPr>
        <p:spPr>
          <a:xfrm>
            <a:off x="548640" y="2491740"/>
            <a:ext cx="100584" cy="100584"/>
          </a:xfrm>
          <a:prstGeom prst="ellipse">
            <a:avLst/>
          </a:prstGeom>
          <a:solidFill>
            <a:schemeClr val="accent1"/>
          </a:solidFill>
          <a:ln w="12700">
            <a:solidFill>
              <a:schemeClr val="accent1"/>
            </a:solidFill>
            <a:prstDash val="solid"/>
          </a:ln>
        </p:spPr>
      </p:sp>
      <p:sp>
        <p:nvSpPr>
          <p:cNvPr id="5" name="text-33"/>
          <p:cNvSpPr txBox="1"/>
          <p:nvPr/>
        </p:nvSpPr>
        <p:spPr>
          <a:xfrm>
            <a:off x="731520" y="245059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34"/>
          <p:cNvSpPr txBox="1"/>
          <p:nvPr/>
        </p:nvSpPr>
        <p:spPr>
          <a:xfrm>
            <a:off x="548640" y="270662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kicker-dot-36"/>
          <p:cNvSpPr/>
          <p:nvPr/>
        </p:nvSpPr>
        <p:spPr>
          <a:xfrm>
            <a:off x="548640" y="4018788"/>
            <a:ext cx="100584" cy="100584"/>
          </a:xfrm>
          <a:prstGeom prst="ellipse">
            <a:avLst/>
          </a:prstGeom>
          <a:solidFill>
            <a:schemeClr val="accent6"/>
          </a:solidFill>
          <a:ln w="12700">
            <a:solidFill>
              <a:schemeClr val="accent6"/>
            </a:solidFill>
            <a:prstDash val="solid"/>
          </a:ln>
        </p:spPr>
      </p:sp>
      <p:sp>
        <p:nvSpPr>
          <p:cNvPr id="8" name="text-37"/>
          <p:cNvSpPr txBox="1"/>
          <p:nvPr/>
        </p:nvSpPr>
        <p:spPr>
          <a:xfrm>
            <a:off x="731520" y="39776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WELCOME</a:t>
            </a:r>
            <a:endParaRPr lang="en-US" sz="900" dirty="0"/>
          </a:p>
        </p:txBody>
      </p:sp>
      <p:sp>
        <p:nvSpPr>
          <p:cNvPr id="9" name="text-38"/>
          <p:cNvSpPr txBox="1"/>
          <p:nvPr/>
        </p:nvSpPr>
        <p:spPr>
          <a:xfrm>
            <a:off x="548640" y="42793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a:t>
            </a:r>
            <a:endParaRPr lang="en-US" sz="1600" dirty="0"/>
          </a:p>
        </p:txBody>
      </p:sp>
      <p:sp>
        <p:nvSpPr>
          <p:cNvPr id="10" name="text-39"/>
          <p:cNvSpPr txBox="1"/>
          <p:nvPr/>
        </p:nvSpPr>
        <p:spPr>
          <a:xfrm>
            <a:off x="1051560" y="43068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Letter from the Founders</a:t>
            </a:r>
            <a:endParaRPr lang="en-US" sz="1000" dirty="0"/>
          </a:p>
        </p:txBody>
      </p:sp>
      <p:sp>
        <p:nvSpPr>
          <p:cNvPr id="11" name="text-40"/>
          <p:cNvSpPr txBox="1"/>
          <p:nvPr/>
        </p:nvSpPr>
        <p:spPr>
          <a:xfrm>
            <a:off x="1051560" y="4480560"/>
            <a:ext cx="2592324" cy="182880"/>
          </a:xfrm>
          <a:prstGeom prst="rect">
            <a:avLst/>
          </a:prstGeom>
          <a:noFill/>
          <a:ln/>
        </p:spPr>
        <p:txBody>
          <a:bodyPr wrap="square" lIns="0" tIns="0" rIns="0" bIns="0" rtlCol="0" anchor="t"/>
          <a:lstStyle/>
          <a:p>
            <a:pPr indent="0" marL="0">
              <a:buNone/>
            </a:pPr>
            <a:r>
              <a:rPr lang="en-US" sz="800" dirty="0">
                <a:solidFill>
                  <a:schemeClr val="tx2"/>
                </a:solidFill>
              </a:rPr>
              <a:t>Who we are and why we built Aurora Haven</a:t>
            </a:r>
            <a:endParaRPr lang="en-US" sz="800" dirty="0"/>
          </a:p>
        </p:txBody>
      </p:sp>
      <p:sp>
        <p:nvSpPr>
          <p:cNvPr id="12" name="text-41"/>
          <p:cNvSpPr txBox="1"/>
          <p:nvPr/>
        </p:nvSpPr>
        <p:spPr>
          <a:xfrm>
            <a:off x="548640" y="46451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4</a:t>
            </a:r>
            <a:endParaRPr lang="en-US" sz="1600" dirty="0"/>
          </a:p>
        </p:txBody>
      </p:sp>
      <p:sp>
        <p:nvSpPr>
          <p:cNvPr id="13" name="text-42"/>
          <p:cNvSpPr txBox="1"/>
          <p:nvPr/>
        </p:nvSpPr>
        <p:spPr>
          <a:xfrm>
            <a:off x="1051560" y="46725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Welcome to Aurora Haven</a:t>
            </a:r>
            <a:endParaRPr lang="en-US" sz="1000" dirty="0"/>
          </a:p>
        </p:txBody>
      </p:sp>
      <p:sp>
        <p:nvSpPr>
          <p:cNvPr id="14" name="text-43"/>
          <p:cNvSpPr txBox="1"/>
          <p:nvPr/>
        </p:nvSpPr>
        <p:spPr>
          <a:xfrm>
            <a:off x="1051560" y="4846320"/>
            <a:ext cx="2592324" cy="182880"/>
          </a:xfrm>
          <a:prstGeom prst="rect">
            <a:avLst/>
          </a:prstGeom>
          <a:noFill/>
          <a:ln/>
        </p:spPr>
        <p:txBody>
          <a:bodyPr wrap="square" lIns="0" tIns="0" rIns="0" bIns="0" rtlCol="0" anchor="t"/>
          <a:lstStyle/>
          <a:p>
            <a:pPr indent="0" marL="0">
              <a:buNone/>
            </a:pPr>
            <a:r>
              <a:rPr lang="en-US" sz="800" dirty="0">
                <a:solidFill>
                  <a:schemeClr val="tx2"/>
                </a:solidFill>
              </a:rPr>
              <a:t>A compact city of 45,000 under a snow peak</a:t>
            </a:r>
            <a:endParaRPr lang="en-US" sz="800" dirty="0"/>
          </a:p>
        </p:txBody>
      </p:sp>
      <p:sp>
        <p:nvSpPr>
          <p:cNvPr id="15" name="text-44"/>
          <p:cNvSpPr txBox="1"/>
          <p:nvPr/>
        </p:nvSpPr>
        <p:spPr>
          <a:xfrm>
            <a:off x="548640" y="50109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6</a:t>
            </a:r>
            <a:endParaRPr lang="en-US" sz="1600" dirty="0"/>
          </a:p>
        </p:txBody>
      </p:sp>
      <p:sp>
        <p:nvSpPr>
          <p:cNvPr id="16" name="text-45"/>
          <p:cNvSpPr txBox="1"/>
          <p:nvPr/>
        </p:nvSpPr>
        <p:spPr>
          <a:xfrm>
            <a:off x="1051560" y="50383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Polar Challenge</a:t>
            </a:r>
            <a:endParaRPr lang="en-US" sz="1000" dirty="0"/>
          </a:p>
        </p:txBody>
      </p:sp>
      <p:sp>
        <p:nvSpPr>
          <p:cNvPr id="17" name="text-46"/>
          <p:cNvSpPr txBox="1"/>
          <p:nvPr/>
        </p:nvSpPr>
        <p:spPr>
          <a:xfrm>
            <a:off x="1051560" y="5212080"/>
            <a:ext cx="2592324" cy="182880"/>
          </a:xfrm>
          <a:prstGeom prst="rect">
            <a:avLst/>
          </a:prstGeom>
          <a:noFill/>
          <a:ln/>
        </p:spPr>
        <p:txBody>
          <a:bodyPr wrap="square" lIns="0" tIns="0" rIns="0" bIns="0" rtlCol="0" anchor="t"/>
          <a:lstStyle/>
          <a:p>
            <a:pPr indent="0" marL="0">
              <a:buNone/>
            </a:pPr>
            <a:r>
              <a:rPr lang="en-US" sz="800" dirty="0">
                <a:solidFill>
                  <a:schemeClr val="tx2"/>
                </a:solidFill>
              </a:rPr>
              <a:t>Cold, darkness, wind and thawing ground</a:t>
            </a:r>
            <a:endParaRPr lang="en-US" sz="800" dirty="0"/>
          </a:p>
        </p:txBody>
      </p:sp>
      <p:sp>
        <p:nvSpPr>
          <p:cNvPr id="18" name="text-47"/>
          <p:cNvSpPr txBox="1"/>
          <p:nvPr/>
        </p:nvSpPr>
        <p:spPr>
          <a:xfrm>
            <a:off x="548640" y="53766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7</a:t>
            </a:r>
            <a:endParaRPr lang="en-US" sz="1600" dirty="0"/>
          </a:p>
        </p:txBody>
      </p:sp>
      <p:sp>
        <p:nvSpPr>
          <p:cNvPr id="19" name="text-48"/>
          <p:cNvSpPr txBox="1"/>
          <p:nvPr/>
        </p:nvSpPr>
        <p:spPr>
          <a:xfrm>
            <a:off x="1051560" y="54041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Our Vision &amp; Mission</a:t>
            </a:r>
            <a:endParaRPr lang="en-US" sz="1000" dirty="0"/>
          </a:p>
        </p:txBody>
      </p:sp>
      <p:sp>
        <p:nvSpPr>
          <p:cNvPr id="20" name="text-49"/>
          <p:cNvSpPr txBox="1"/>
          <p:nvPr/>
        </p:nvSpPr>
        <p:spPr>
          <a:xfrm>
            <a:off x="1051560" y="5577840"/>
            <a:ext cx="2592324" cy="182880"/>
          </a:xfrm>
          <a:prstGeom prst="rect">
            <a:avLst/>
          </a:prstGeom>
          <a:noFill/>
          <a:ln/>
        </p:spPr>
        <p:txBody>
          <a:bodyPr wrap="square" lIns="0" tIns="0" rIns="0" bIns="0" rtlCol="0" anchor="t"/>
          <a:lstStyle/>
          <a:p>
            <a:pPr indent="0" marL="0">
              <a:buNone/>
            </a:pPr>
            <a:r>
              <a:rPr lang="en-US" sz="800" dirty="0">
                <a:solidFill>
                  <a:schemeClr val="tx2"/>
                </a:solidFill>
              </a:rPr>
              <a:t>Who is affected, and the five ideas that answer it</a:t>
            </a:r>
            <a:endParaRPr lang="en-US" sz="800" dirty="0"/>
          </a:p>
        </p:txBody>
      </p:sp>
      <p:sp>
        <p:nvSpPr>
          <p:cNvPr id="21" name="kicker-dot-50"/>
          <p:cNvSpPr/>
          <p:nvPr/>
        </p:nvSpPr>
        <p:spPr>
          <a:xfrm>
            <a:off x="548640" y="5920740"/>
            <a:ext cx="100584" cy="100584"/>
          </a:xfrm>
          <a:prstGeom prst="ellipse">
            <a:avLst/>
          </a:prstGeom>
          <a:solidFill>
            <a:schemeClr val="accent6"/>
          </a:solidFill>
          <a:ln w="12700">
            <a:solidFill>
              <a:schemeClr val="accent6"/>
            </a:solidFill>
            <a:prstDash val="solid"/>
          </a:ln>
        </p:spPr>
      </p:sp>
      <p:sp>
        <p:nvSpPr>
          <p:cNvPr id="22" name="text-51"/>
          <p:cNvSpPr txBox="1"/>
          <p:nvPr/>
        </p:nvSpPr>
        <p:spPr>
          <a:xfrm>
            <a:off x="731520" y="587959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CITY</a:t>
            </a:r>
            <a:endParaRPr lang="en-US" sz="900" dirty="0"/>
          </a:p>
        </p:txBody>
      </p:sp>
      <p:sp>
        <p:nvSpPr>
          <p:cNvPr id="23" name="text-52"/>
          <p:cNvSpPr txBox="1"/>
          <p:nvPr/>
        </p:nvSpPr>
        <p:spPr>
          <a:xfrm>
            <a:off x="548640" y="618134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8</a:t>
            </a:r>
            <a:endParaRPr lang="en-US" sz="1600" dirty="0"/>
          </a:p>
        </p:txBody>
      </p:sp>
      <p:sp>
        <p:nvSpPr>
          <p:cNvPr id="24" name="text-53"/>
          <p:cNvSpPr txBox="1"/>
          <p:nvPr/>
        </p:nvSpPr>
        <p:spPr>
          <a:xfrm>
            <a:off x="1051560" y="6208776"/>
            <a:ext cx="2592324" cy="182880"/>
          </a:xfrm>
          <a:prstGeom prst="rect">
            <a:avLst/>
          </a:prstGeom>
          <a:noFill/>
          <a:ln/>
        </p:spPr>
        <p:txBody>
          <a:bodyPr wrap="square" lIns="0" tIns="0" rIns="0" bIns="0" rtlCol="0" anchor="t"/>
          <a:lstStyle/>
          <a:p>
            <a:pPr indent="0" marL="0">
              <a:buNone/>
            </a:pPr>
            <a:r>
              <a:rPr lang="en-US" sz="1000" b="1" dirty="0">
                <a:solidFill>
                  <a:schemeClr val="tx1"/>
                </a:solidFill>
              </a:rPr>
              <a:t>Nine Blocks, One Short Walk</a:t>
            </a:r>
            <a:endParaRPr lang="en-US" sz="1000" dirty="0"/>
          </a:p>
        </p:txBody>
      </p:sp>
      <p:sp>
        <p:nvSpPr>
          <p:cNvPr id="25" name="text-54"/>
          <p:cNvSpPr txBox="1"/>
          <p:nvPr/>
        </p:nvSpPr>
        <p:spPr>
          <a:xfrm>
            <a:off x="1051560" y="6382512"/>
            <a:ext cx="2592324" cy="182880"/>
          </a:xfrm>
          <a:prstGeom prst="rect">
            <a:avLst/>
          </a:prstGeom>
          <a:noFill/>
          <a:ln/>
        </p:spPr>
        <p:txBody>
          <a:bodyPr wrap="square" lIns="0" tIns="0" rIns="0" bIns="0" rtlCol="0" anchor="t"/>
          <a:lstStyle/>
          <a:p>
            <a:pPr indent="0" marL="0">
              <a:buNone/>
            </a:pPr>
            <a:r>
              <a:rPr lang="en-US" sz="800" dirty="0">
                <a:solidFill>
                  <a:schemeClr val="tx2"/>
                </a:solidFill>
              </a:rPr>
              <a:t>Downtown around the Aurora Roundabout</a:t>
            </a:r>
            <a:endParaRPr lang="en-US" sz="800" dirty="0"/>
          </a:p>
        </p:txBody>
      </p:sp>
      <p:sp>
        <p:nvSpPr>
          <p:cNvPr id="26" name="text-55"/>
          <p:cNvSpPr txBox="1"/>
          <p:nvPr/>
        </p:nvSpPr>
        <p:spPr>
          <a:xfrm>
            <a:off x="548640" y="654710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10</a:t>
            </a:r>
            <a:endParaRPr lang="en-US" sz="1600" dirty="0"/>
          </a:p>
        </p:txBody>
      </p:sp>
      <p:sp>
        <p:nvSpPr>
          <p:cNvPr id="27" name="text-56"/>
          <p:cNvSpPr txBox="1"/>
          <p:nvPr/>
        </p:nvSpPr>
        <p:spPr>
          <a:xfrm>
            <a:off x="1051560" y="657453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Whole City Plan</a:t>
            </a:r>
            <a:endParaRPr lang="en-US" sz="1000" dirty="0"/>
          </a:p>
        </p:txBody>
      </p:sp>
      <p:sp>
        <p:nvSpPr>
          <p:cNvPr id="28" name="text-57"/>
          <p:cNvSpPr txBox="1"/>
          <p:nvPr/>
        </p:nvSpPr>
        <p:spPr>
          <a:xfrm>
            <a:off x="1051560" y="6748272"/>
            <a:ext cx="2592324" cy="182880"/>
          </a:xfrm>
          <a:prstGeom prst="rect">
            <a:avLst/>
          </a:prstGeom>
          <a:noFill/>
          <a:ln/>
        </p:spPr>
        <p:txBody>
          <a:bodyPr wrap="square" lIns="0" tIns="0" rIns="0" bIns="0" rtlCol="0" anchor="t"/>
          <a:lstStyle/>
          <a:p>
            <a:pPr indent="0" marL="0">
              <a:buNone/>
            </a:pPr>
            <a:r>
              <a:rPr lang="en-US" sz="800" dirty="0">
                <a:solidFill>
                  <a:schemeClr val="tx2"/>
                </a:solidFill>
              </a:rPr>
              <a:t>From the wind farm to Mount Aurora</a:t>
            </a:r>
            <a:endParaRPr lang="en-US" sz="800" dirty="0"/>
          </a:p>
        </p:txBody>
      </p:sp>
      <p:sp>
        <p:nvSpPr>
          <p:cNvPr id="29" name="kicker-dot-58"/>
          <p:cNvSpPr/>
          <p:nvPr/>
        </p:nvSpPr>
        <p:spPr>
          <a:xfrm>
            <a:off x="548640" y="7091172"/>
            <a:ext cx="100584" cy="100584"/>
          </a:xfrm>
          <a:prstGeom prst="ellipse">
            <a:avLst/>
          </a:prstGeom>
          <a:solidFill>
            <a:schemeClr val="accent5"/>
          </a:solidFill>
          <a:ln w="12700">
            <a:solidFill>
              <a:schemeClr val="accent5"/>
            </a:solidFill>
            <a:prstDash val="solid"/>
          </a:ln>
        </p:spPr>
      </p:sp>
      <p:sp>
        <p:nvSpPr>
          <p:cNvPr id="30" name="text-59"/>
          <p:cNvSpPr txBox="1"/>
          <p:nvPr/>
        </p:nvSpPr>
        <p:spPr>
          <a:xfrm>
            <a:off x="731520" y="7050024"/>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THE BREAKTHROUGHS</a:t>
            </a:r>
            <a:endParaRPr lang="en-US" sz="900" dirty="0"/>
          </a:p>
        </p:txBody>
      </p:sp>
      <p:sp>
        <p:nvSpPr>
          <p:cNvPr id="31" name="text-60"/>
          <p:cNvSpPr txBox="1"/>
          <p:nvPr/>
        </p:nvSpPr>
        <p:spPr>
          <a:xfrm>
            <a:off x="548640" y="7351776"/>
            <a:ext cx="457200" cy="329184"/>
          </a:xfrm>
          <a:prstGeom prst="rect">
            <a:avLst/>
          </a:prstGeom>
          <a:noFill/>
          <a:ln/>
        </p:spPr>
        <p:txBody>
          <a:bodyPr wrap="square" lIns="0" tIns="0" rIns="0" bIns="0" rtlCol="0" anchor="t"/>
          <a:lstStyle/>
          <a:p>
            <a:pPr indent="0" marL="0">
              <a:buNone/>
            </a:pPr>
            <a:r>
              <a:rPr lang="en-US" sz="1600" b="1" dirty="0">
                <a:solidFill>
                  <a:schemeClr val="accent3"/>
                </a:solidFill>
                <a:latin typeface="+mj-lt" pitchFamily="34" charset="0"/>
                <a:ea typeface="+mj-lt" pitchFamily="34" charset="-122"/>
                <a:cs typeface="+mj-lt" pitchFamily="34" charset="-120"/>
              </a:rPr>
              <a:t>12</a:t>
            </a:r>
            <a:endParaRPr lang="en-US" sz="1600" dirty="0"/>
          </a:p>
        </p:txBody>
      </p:sp>
      <p:sp>
        <p:nvSpPr>
          <p:cNvPr id="32" name="text-61"/>
          <p:cNvSpPr txBox="1"/>
          <p:nvPr/>
        </p:nvSpPr>
        <p:spPr>
          <a:xfrm>
            <a:off x="1051560" y="7379208"/>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City's Own Sun</a:t>
            </a:r>
            <a:endParaRPr lang="en-US" sz="1000" dirty="0"/>
          </a:p>
        </p:txBody>
      </p:sp>
      <p:sp>
        <p:nvSpPr>
          <p:cNvPr id="33" name="text-62"/>
          <p:cNvSpPr txBox="1"/>
          <p:nvPr/>
        </p:nvSpPr>
        <p:spPr>
          <a:xfrm>
            <a:off x="1051560" y="755294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1 · Fusion Power Station</a:t>
            </a:r>
            <a:endParaRPr lang="en-US" sz="800" dirty="0"/>
          </a:p>
        </p:txBody>
      </p:sp>
      <p:sp>
        <p:nvSpPr>
          <p:cNvPr id="34" name="text-63"/>
          <p:cNvSpPr txBox="1"/>
          <p:nvPr/>
        </p:nvSpPr>
        <p:spPr>
          <a:xfrm>
            <a:off x="548640" y="7717536"/>
            <a:ext cx="457200" cy="329184"/>
          </a:xfrm>
          <a:prstGeom prst="rect">
            <a:avLst/>
          </a:prstGeom>
          <a:noFill/>
          <a:ln/>
        </p:spPr>
        <p:txBody>
          <a:bodyPr wrap="square" lIns="0" tIns="0" rIns="0" bIns="0" rtlCol="0" anchor="t"/>
          <a:lstStyle/>
          <a:p>
            <a:pPr indent="0" marL="0">
              <a:buNone/>
            </a:pPr>
            <a:r>
              <a:rPr lang="en-US" sz="1600" b="1" dirty="0">
                <a:solidFill>
                  <a:schemeClr val="accent4"/>
                </a:solidFill>
                <a:latin typeface="+mj-lt" pitchFamily="34" charset="0"/>
                <a:ea typeface="+mj-lt" pitchFamily="34" charset="-122"/>
                <a:cs typeface="+mj-lt" pitchFamily="34" charset="-120"/>
              </a:rPr>
              <a:t>15</a:t>
            </a:r>
            <a:endParaRPr lang="en-US" sz="1600" dirty="0"/>
          </a:p>
        </p:txBody>
      </p:sp>
      <p:sp>
        <p:nvSpPr>
          <p:cNvPr id="35" name="text-64"/>
          <p:cNvSpPr txBox="1"/>
          <p:nvPr/>
        </p:nvSpPr>
        <p:spPr>
          <a:xfrm>
            <a:off x="1051560" y="7744968"/>
            <a:ext cx="2592324" cy="182880"/>
          </a:xfrm>
          <a:prstGeom prst="rect">
            <a:avLst/>
          </a:prstGeom>
          <a:noFill/>
          <a:ln/>
        </p:spPr>
        <p:txBody>
          <a:bodyPr wrap="square" lIns="0" tIns="0" rIns="0" bIns="0" rtlCol="0" anchor="t"/>
          <a:lstStyle/>
          <a:p>
            <a:pPr indent="0" marL="0">
              <a:buNone/>
            </a:pPr>
            <a:r>
              <a:rPr lang="en-US" sz="1000" b="1" dirty="0">
                <a:solidFill>
                  <a:schemeClr val="tx1"/>
                </a:solidFill>
              </a:rPr>
              <a:t>Bread and Water from Snow and Air</a:t>
            </a:r>
            <a:endParaRPr lang="en-US" sz="1000" dirty="0"/>
          </a:p>
        </p:txBody>
      </p:sp>
      <p:sp>
        <p:nvSpPr>
          <p:cNvPr id="36" name="text-65"/>
          <p:cNvSpPr txBox="1"/>
          <p:nvPr/>
        </p:nvSpPr>
        <p:spPr>
          <a:xfrm>
            <a:off x="1051560" y="791870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2 · Snow-to-Food &amp; Water Plant</a:t>
            </a:r>
            <a:endParaRPr lang="en-US" sz="800" dirty="0"/>
          </a:p>
        </p:txBody>
      </p:sp>
      <p:sp>
        <p:nvSpPr>
          <p:cNvPr id="37" name="text-66"/>
          <p:cNvSpPr txBox="1"/>
          <p:nvPr/>
        </p:nvSpPr>
        <p:spPr>
          <a:xfrm>
            <a:off x="548640" y="8083296"/>
            <a:ext cx="457200" cy="329184"/>
          </a:xfrm>
          <a:prstGeom prst="rect">
            <a:avLst/>
          </a:prstGeom>
          <a:noFill/>
          <a:ln/>
        </p:spPr>
        <p:txBody>
          <a:bodyPr wrap="square" lIns="0" tIns="0" rIns="0" bIns="0" rtlCol="0" anchor="t"/>
          <a:lstStyle/>
          <a:p>
            <a:pPr indent="0" marL="0">
              <a:buNone/>
            </a:pPr>
            <a:r>
              <a:rPr lang="en-US" sz="1600" b="1" dirty="0">
                <a:solidFill>
                  <a:schemeClr val="accent5"/>
                </a:solidFill>
                <a:latin typeface="+mj-lt" pitchFamily="34" charset="0"/>
                <a:ea typeface="+mj-lt" pitchFamily="34" charset="-122"/>
                <a:cs typeface="+mj-lt" pitchFamily="34" charset="-120"/>
              </a:rPr>
              <a:t>17</a:t>
            </a:r>
            <a:endParaRPr lang="en-US" sz="1600" dirty="0"/>
          </a:p>
        </p:txBody>
      </p:sp>
      <p:sp>
        <p:nvSpPr>
          <p:cNvPr id="38" name="text-67"/>
          <p:cNvSpPr txBox="1"/>
          <p:nvPr/>
        </p:nvSpPr>
        <p:spPr>
          <a:xfrm>
            <a:off x="1051560" y="8110728"/>
            <a:ext cx="2592324" cy="182880"/>
          </a:xfrm>
          <a:prstGeom prst="rect">
            <a:avLst/>
          </a:prstGeom>
          <a:noFill/>
          <a:ln/>
        </p:spPr>
        <p:txBody>
          <a:bodyPr wrap="square" lIns="0" tIns="0" rIns="0" bIns="0" rtlCol="0" anchor="t"/>
          <a:lstStyle/>
          <a:p>
            <a:pPr indent="0" marL="0">
              <a:buNone/>
            </a:pPr>
            <a:r>
              <a:rPr lang="en-US" sz="1000" b="1" dirty="0">
                <a:solidFill>
                  <a:schemeClr val="tx1"/>
                </a:solidFill>
              </a:rPr>
              <a:t>A Snow Mountain You Can Walk Inside</a:t>
            </a:r>
            <a:endParaRPr lang="en-US" sz="1000" dirty="0"/>
          </a:p>
        </p:txBody>
      </p:sp>
      <p:sp>
        <p:nvSpPr>
          <p:cNvPr id="39" name="text-68"/>
          <p:cNvSpPr txBox="1"/>
          <p:nvPr/>
        </p:nvSpPr>
        <p:spPr>
          <a:xfrm>
            <a:off x="1051560" y="828446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3 · Mount Aurora</a:t>
            </a:r>
            <a:endParaRPr lang="en-US" sz="800" dirty="0"/>
          </a:p>
        </p:txBody>
      </p:sp>
      <p:sp>
        <p:nvSpPr>
          <p:cNvPr id="40" name="text-69"/>
          <p:cNvSpPr txBox="1"/>
          <p:nvPr/>
        </p:nvSpPr>
        <p:spPr>
          <a:xfrm>
            <a:off x="548640" y="84490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21</a:t>
            </a:r>
            <a:endParaRPr lang="en-US" sz="1600" dirty="0"/>
          </a:p>
        </p:txBody>
      </p:sp>
      <p:sp>
        <p:nvSpPr>
          <p:cNvPr id="41" name="text-70"/>
          <p:cNvSpPr txBox="1"/>
          <p:nvPr/>
        </p:nvSpPr>
        <p:spPr>
          <a:xfrm>
            <a:off x="1051560" y="8476488"/>
            <a:ext cx="2592324" cy="182880"/>
          </a:xfrm>
          <a:prstGeom prst="rect">
            <a:avLst/>
          </a:prstGeom>
          <a:noFill/>
          <a:ln/>
        </p:spPr>
        <p:txBody>
          <a:bodyPr wrap="square" lIns="0" tIns="0" rIns="0" bIns="0" rtlCol="0" anchor="t"/>
          <a:lstStyle/>
          <a:p>
            <a:pPr indent="0" marL="0">
              <a:buNone/>
            </a:pPr>
            <a:r>
              <a:rPr lang="en-US" sz="1000" b="1" dirty="0">
                <a:solidFill>
                  <a:schemeClr val="tx1"/>
                </a:solidFill>
              </a:rPr>
              <a:t>Built by Us</a:t>
            </a:r>
            <a:endParaRPr lang="en-US" sz="1000" dirty="0"/>
          </a:p>
        </p:txBody>
      </p:sp>
      <p:sp>
        <p:nvSpPr>
          <p:cNvPr id="42" name="text-71"/>
          <p:cNvSpPr txBox="1"/>
          <p:nvPr/>
        </p:nvSpPr>
        <p:spPr>
          <a:xfrm>
            <a:off x="1051560" y="8650224"/>
            <a:ext cx="2592324" cy="182880"/>
          </a:xfrm>
          <a:prstGeom prst="rect">
            <a:avLst/>
          </a:prstGeom>
          <a:noFill/>
          <a:ln/>
        </p:spPr>
        <p:txBody>
          <a:bodyPr wrap="square" lIns="0" tIns="0" rIns="0" bIns="0" rtlCol="0" anchor="t"/>
          <a:lstStyle/>
          <a:p>
            <a:pPr indent="0" marL="0">
              <a:buNone/>
            </a:pPr>
            <a:r>
              <a:rPr lang="en-US" sz="800" dirty="0">
                <a:solidFill>
                  <a:schemeClr val="tx2"/>
                </a:solidFill>
              </a:rPr>
              <a:t>Our Eco-Polis model, and how to explore it</a:t>
            </a:r>
            <a:endParaRPr lang="en-US" sz="800" dirty="0"/>
          </a:p>
        </p:txBody>
      </p:sp>
      <p:sp>
        <p:nvSpPr>
          <p:cNvPr id="43" name="kicker-dot-72"/>
          <p:cNvSpPr/>
          <p:nvPr/>
        </p:nvSpPr>
        <p:spPr>
          <a:xfrm>
            <a:off x="548640" y="8993124"/>
            <a:ext cx="100584" cy="100584"/>
          </a:xfrm>
          <a:prstGeom prst="ellipse">
            <a:avLst/>
          </a:prstGeom>
          <a:solidFill>
            <a:schemeClr val="accent2"/>
          </a:solidFill>
          <a:ln w="12700">
            <a:solidFill>
              <a:schemeClr val="accent2"/>
            </a:solidFill>
            <a:prstDash val="solid"/>
          </a:ln>
        </p:spPr>
      </p:sp>
      <p:sp>
        <p:nvSpPr>
          <p:cNvPr id="44" name="text-73"/>
          <p:cNvSpPr txBox="1"/>
          <p:nvPr/>
        </p:nvSpPr>
        <p:spPr>
          <a:xfrm>
            <a:off x="731520" y="8951976"/>
            <a:ext cx="2912364" cy="201168"/>
          </a:xfrm>
          <a:prstGeom prst="rect">
            <a:avLst/>
          </a:prstGeom>
          <a:noFill/>
          <a:ln/>
        </p:spPr>
        <p:txBody>
          <a:bodyPr wrap="square" lIns="0" tIns="0" rIns="0" bIns="0" rtlCol="0" anchor="t"/>
          <a:lstStyle/>
          <a:p>
            <a:pPr indent="0" marL="0">
              <a:buNone/>
            </a:pPr>
            <a:r>
              <a:rPr lang="en-US" sz="900" b="1" spc="300" kern="0" dirty="0">
                <a:solidFill>
                  <a:schemeClr val="accent2"/>
                </a:solidFill>
              </a:rPr>
              <a:t>INVEST</a:t>
            </a:r>
            <a:endParaRPr lang="en-US" sz="900" dirty="0"/>
          </a:p>
        </p:txBody>
      </p:sp>
      <p:sp>
        <p:nvSpPr>
          <p:cNvPr id="45" name="text-74"/>
          <p:cNvSpPr txBox="1"/>
          <p:nvPr/>
        </p:nvSpPr>
        <p:spPr>
          <a:xfrm>
            <a:off x="548640" y="925372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32</a:t>
            </a:r>
            <a:endParaRPr lang="en-US" sz="1600" dirty="0"/>
          </a:p>
        </p:txBody>
      </p:sp>
      <p:sp>
        <p:nvSpPr>
          <p:cNvPr id="46" name="text-75"/>
          <p:cNvSpPr txBox="1"/>
          <p:nvPr/>
        </p:nvSpPr>
        <p:spPr>
          <a:xfrm>
            <a:off x="1051560" y="9281160"/>
            <a:ext cx="2592324" cy="182880"/>
          </a:xfrm>
          <a:prstGeom prst="rect">
            <a:avLst/>
          </a:prstGeom>
          <a:noFill/>
          <a:ln/>
        </p:spPr>
        <p:txBody>
          <a:bodyPr wrap="square" lIns="0" tIns="0" rIns="0" bIns="0" rtlCol="0" anchor="t"/>
          <a:lstStyle/>
          <a:p>
            <a:pPr indent="0" marL="0">
              <a:buNone/>
            </a:pPr>
            <a:r>
              <a:rPr lang="en-US" sz="1000" b="1" dirty="0">
                <a:solidFill>
                  <a:schemeClr val="tx1"/>
                </a:solidFill>
              </a:rPr>
              <a:t>Invest in Aurora Haven</a:t>
            </a:r>
            <a:endParaRPr lang="en-US" sz="1000" dirty="0"/>
          </a:p>
        </p:txBody>
      </p:sp>
      <p:sp>
        <p:nvSpPr>
          <p:cNvPr id="47" name="text-76"/>
          <p:cNvSpPr txBox="1"/>
          <p:nvPr/>
        </p:nvSpPr>
        <p:spPr>
          <a:xfrm>
            <a:off x="1051560" y="9454896"/>
            <a:ext cx="2592324" cy="182880"/>
          </a:xfrm>
          <a:prstGeom prst="rect">
            <a:avLst/>
          </a:prstGeom>
          <a:noFill/>
          <a:ln/>
        </p:spPr>
        <p:txBody>
          <a:bodyPr wrap="square" lIns="0" tIns="0" rIns="0" bIns="0" rtlCol="0" anchor="t"/>
          <a:lstStyle/>
          <a:p>
            <a:pPr indent="0" marL="0">
              <a:buNone/>
            </a:pPr>
            <a:r>
              <a:rPr lang="en-US" sz="800" dirty="0">
                <a:solidFill>
                  <a:schemeClr val="tx2"/>
                </a:solidFill>
              </a:rPr>
              <a:t>Three ways to fund the city, stage by stage</a:t>
            </a:r>
            <a:endParaRPr lang="en-US" sz="800" dirty="0"/>
          </a:p>
        </p:txBody>
      </p:sp>
      <p:sp>
        <p:nvSpPr>
          <p:cNvPr id="48" name="kicker-dot-77"/>
          <p:cNvSpPr/>
          <p:nvPr/>
        </p:nvSpPr>
        <p:spPr>
          <a:xfrm>
            <a:off x="3918204" y="4018788"/>
            <a:ext cx="100584" cy="100584"/>
          </a:xfrm>
          <a:prstGeom prst="ellipse">
            <a:avLst/>
          </a:prstGeom>
          <a:solidFill>
            <a:schemeClr val="accent4"/>
          </a:solidFill>
          <a:ln w="12700">
            <a:solidFill>
              <a:schemeClr val="accent4"/>
            </a:solidFill>
            <a:prstDash val="solid"/>
          </a:ln>
        </p:spPr>
      </p:sp>
      <p:sp>
        <p:nvSpPr>
          <p:cNvPr id="49" name="text-78"/>
          <p:cNvSpPr txBox="1"/>
          <p:nvPr/>
        </p:nvSpPr>
        <p:spPr>
          <a:xfrm>
            <a:off x="4101084" y="3977640"/>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SYSTEMS &amp; LIFE</a:t>
            </a:r>
            <a:endParaRPr lang="en-US" sz="900" dirty="0"/>
          </a:p>
        </p:txBody>
      </p:sp>
      <p:sp>
        <p:nvSpPr>
          <p:cNvPr id="50" name="text-79"/>
          <p:cNvSpPr txBox="1"/>
          <p:nvPr/>
        </p:nvSpPr>
        <p:spPr>
          <a:xfrm>
            <a:off x="3918204" y="42793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22</a:t>
            </a:r>
            <a:endParaRPr lang="en-US" sz="1600" dirty="0"/>
          </a:p>
        </p:txBody>
      </p:sp>
      <p:sp>
        <p:nvSpPr>
          <p:cNvPr id="51" name="text-80"/>
          <p:cNvSpPr txBox="1"/>
          <p:nvPr/>
        </p:nvSpPr>
        <p:spPr>
          <a:xfrm>
            <a:off x="4421124" y="43068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Three Districts, One Loop</a:t>
            </a:r>
            <a:endParaRPr lang="en-US" sz="1000" dirty="0"/>
          </a:p>
        </p:txBody>
      </p:sp>
      <p:sp>
        <p:nvSpPr>
          <p:cNvPr id="52" name="text-81"/>
          <p:cNvSpPr txBox="1"/>
          <p:nvPr/>
        </p:nvSpPr>
        <p:spPr>
          <a:xfrm>
            <a:off x="4421124" y="4480560"/>
            <a:ext cx="2592324" cy="182880"/>
          </a:xfrm>
          <a:prstGeom prst="rect">
            <a:avLst/>
          </a:prstGeom>
          <a:noFill/>
          <a:ln/>
        </p:spPr>
        <p:txBody>
          <a:bodyPr wrap="square" lIns="0" tIns="0" rIns="0" bIns="0" rtlCol="0" anchor="t"/>
          <a:lstStyle/>
          <a:p>
            <a:pPr indent="0" marL="0">
              <a:buNone/>
            </a:pPr>
            <a:r>
              <a:rPr lang="en-US" sz="800" dirty="0">
                <a:solidFill>
                  <a:schemeClr val="tx2"/>
                </a:solidFill>
              </a:rPr>
              <a:t>How heat, water, oxygen and waste go round</a:t>
            </a:r>
            <a:endParaRPr lang="en-US" sz="800" dirty="0"/>
          </a:p>
        </p:txBody>
      </p:sp>
      <p:sp>
        <p:nvSpPr>
          <p:cNvPr id="53" name="text-82"/>
          <p:cNvSpPr txBox="1"/>
          <p:nvPr/>
        </p:nvSpPr>
        <p:spPr>
          <a:xfrm>
            <a:off x="3918204" y="46451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23</a:t>
            </a:r>
            <a:endParaRPr lang="en-US" sz="1600" dirty="0"/>
          </a:p>
        </p:txBody>
      </p:sp>
      <p:sp>
        <p:nvSpPr>
          <p:cNvPr id="54" name="text-83"/>
          <p:cNvSpPr txBox="1"/>
          <p:nvPr/>
        </p:nvSpPr>
        <p:spPr>
          <a:xfrm>
            <a:off x="4421124" y="46725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A Livable City Every Day</a:t>
            </a:r>
            <a:endParaRPr lang="en-US" sz="1000" dirty="0"/>
          </a:p>
        </p:txBody>
      </p:sp>
      <p:sp>
        <p:nvSpPr>
          <p:cNvPr id="55" name="text-84"/>
          <p:cNvSpPr txBox="1"/>
          <p:nvPr/>
        </p:nvSpPr>
        <p:spPr>
          <a:xfrm>
            <a:off x="4421124" y="4846320"/>
            <a:ext cx="2592324" cy="182880"/>
          </a:xfrm>
          <a:prstGeom prst="rect">
            <a:avLst/>
          </a:prstGeom>
          <a:noFill/>
          <a:ln/>
        </p:spPr>
        <p:txBody>
          <a:bodyPr wrap="square" lIns="0" tIns="0" rIns="0" bIns="0" rtlCol="0" anchor="t"/>
          <a:lstStyle/>
          <a:p>
            <a:pPr indent="0" marL="0">
              <a:buNone/>
            </a:pPr>
            <a:r>
              <a:rPr lang="en-US" sz="800" dirty="0">
                <a:solidFill>
                  <a:schemeClr val="tx2"/>
                </a:solidFill>
              </a:rPr>
              <a:t>Schools, health, shops and culture</a:t>
            </a:r>
            <a:endParaRPr lang="en-US" sz="800" dirty="0"/>
          </a:p>
        </p:txBody>
      </p:sp>
      <p:sp>
        <p:nvSpPr>
          <p:cNvPr id="56" name="text-85"/>
          <p:cNvSpPr txBox="1"/>
          <p:nvPr/>
        </p:nvSpPr>
        <p:spPr>
          <a:xfrm>
            <a:off x="3918204" y="50109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24</a:t>
            </a:r>
            <a:endParaRPr lang="en-US" sz="1600" dirty="0"/>
          </a:p>
        </p:txBody>
      </p:sp>
      <p:sp>
        <p:nvSpPr>
          <p:cNvPr id="57" name="text-86"/>
          <p:cNvSpPr txBox="1"/>
          <p:nvPr/>
        </p:nvSpPr>
        <p:spPr>
          <a:xfrm>
            <a:off x="4421124" y="50383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Homes for the Polar Night</a:t>
            </a:r>
            <a:endParaRPr lang="en-US" sz="1000" dirty="0"/>
          </a:p>
        </p:txBody>
      </p:sp>
      <p:sp>
        <p:nvSpPr>
          <p:cNvPr id="58" name="text-87"/>
          <p:cNvSpPr txBox="1"/>
          <p:nvPr/>
        </p:nvSpPr>
        <p:spPr>
          <a:xfrm>
            <a:off x="4421124" y="5212080"/>
            <a:ext cx="2592324" cy="182880"/>
          </a:xfrm>
          <a:prstGeom prst="rect">
            <a:avLst/>
          </a:prstGeom>
          <a:noFill/>
          <a:ln/>
        </p:spPr>
        <p:txBody>
          <a:bodyPr wrap="square" lIns="0" tIns="0" rIns="0" bIns="0" rtlCol="0" anchor="t"/>
          <a:lstStyle/>
          <a:p>
            <a:pPr indent="0" marL="0">
              <a:buNone/>
            </a:pPr>
            <a:r>
              <a:rPr lang="en-US" sz="800" dirty="0">
                <a:solidFill>
                  <a:schemeClr val="tx2"/>
                </a:solidFill>
              </a:rPr>
              <a:t>Housing for every age, built for −45 °C</a:t>
            </a:r>
            <a:endParaRPr lang="en-US" sz="800" dirty="0"/>
          </a:p>
        </p:txBody>
      </p:sp>
      <p:sp>
        <p:nvSpPr>
          <p:cNvPr id="59" name="text-88"/>
          <p:cNvSpPr txBox="1"/>
          <p:nvPr/>
        </p:nvSpPr>
        <p:spPr>
          <a:xfrm>
            <a:off x="3918204" y="53766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25</a:t>
            </a:r>
            <a:endParaRPr lang="en-US" sz="1600" dirty="0"/>
          </a:p>
        </p:txBody>
      </p:sp>
      <p:sp>
        <p:nvSpPr>
          <p:cNvPr id="60" name="text-89"/>
          <p:cNvSpPr txBox="1"/>
          <p:nvPr/>
        </p:nvSpPr>
        <p:spPr>
          <a:xfrm>
            <a:off x="4421124" y="54041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Energy for the Polar Night</a:t>
            </a:r>
            <a:endParaRPr lang="en-US" sz="1000" dirty="0"/>
          </a:p>
        </p:txBody>
      </p:sp>
      <p:sp>
        <p:nvSpPr>
          <p:cNvPr id="61" name="text-90"/>
          <p:cNvSpPr txBox="1"/>
          <p:nvPr/>
        </p:nvSpPr>
        <p:spPr>
          <a:xfrm>
            <a:off x="4421124" y="5577840"/>
            <a:ext cx="2592324" cy="182880"/>
          </a:xfrm>
          <a:prstGeom prst="rect">
            <a:avLst/>
          </a:prstGeom>
          <a:noFill/>
          <a:ln/>
        </p:spPr>
        <p:txBody>
          <a:bodyPr wrap="square" lIns="0" tIns="0" rIns="0" bIns="0" rtlCol="0" anchor="t"/>
          <a:lstStyle/>
          <a:p>
            <a:pPr indent="0" marL="0">
              <a:buNone/>
            </a:pPr>
            <a:r>
              <a:rPr lang="en-US" sz="800" dirty="0">
                <a:solidFill>
                  <a:schemeClr val="tx2"/>
                </a:solidFill>
              </a:rPr>
              <a:t>Fusion, wind, sun, geothermal and storage</a:t>
            </a:r>
            <a:endParaRPr lang="en-US" sz="800" dirty="0"/>
          </a:p>
        </p:txBody>
      </p:sp>
      <p:sp>
        <p:nvSpPr>
          <p:cNvPr id="62" name="text-91"/>
          <p:cNvSpPr txBox="1"/>
          <p:nvPr/>
        </p:nvSpPr>
        <p:spPr>
          <a:xfrm>
            <a:off x="3918204" y="574243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26</a:t>
            </a:r>
            <a:endParaRPr lang="en-US" sz="1600" dirty="0"/>
          </a:p>
        </p:txBody>
      </p:sp>
      <p:sp>
        <p:nvSpPr>
          <p:cNvPr id="63" name="text-92"/>
          <p:cNvSpPr txBox="1"/>
          <p:nvPr/>
        </p:nvSpPr>
        <p:spPr>
          <a:xfrm>
            <a:off x="4421124" y="5769864"/>
            <a:ext cx="2592324" cy="182880"/>
          </a:xfrm>
          <a:prstGeom prst="rect">
            <a:avLst/>
          </a:prstGeom>
          <a:noFill/>
          <a:ln/>
        </p:spPr>
        <p:txBody>
          <a:bodyPr wrap="square" lIns="0" tIns="0" rIns="0" bIns="0" rtlCol="0" anchor="t"/>
          <a:lstStyle/>
          <a:p>
            <a:pPr indent="0" marL="0">
              <a:buNone/>
            </a:pPr>
            <a:r>
              <a:rPr lang="en-US" sz="1000" b="1" dirty="0">
                <a:solidFill>
                  <a:schemeClr val="tx1"/>
                </a:solidFill>
              </a:rPr>
              <a:t>Nothing Is Wasted</a:t>
            </a:r>
            <a:endParaRPr lang="en-US" sz="1000" dirty="0"/>
          </a:p>
        </p:txBody>
      </p:sp>
      <p:sp>
        <p:nvSpPr>
          <p:cNvPr id="64" name="text-93"/>
          <p:cNvSpPr txBox="1"/>
          <p:nvPr/>
        </p:nvSpPr>
        <p:spPr>
          <a:xfrm>
            <a:off x="4421124" y="5943600"/>
            <a:ext cx="2592324" cy="182880"/>
          </a:xfrm>
          <a:prstGeom prst="rect">
            <a:avLst/>
          </a:prstGeom>
          <a:noFill/>
          <a:ln/>
        </p:spPr>
        <p:txBody>
          <a:bodyPr wrap="square" lIns="0" tIns="0" rIns="0" bIns="0" rtlCol="0" anchor="t"/>
          <a:lstStyle/>
          <a:p>
            <a:pPr indent="0" marL="0">
              <a:buNone/>
            </a:pPr>
            <a:r>
              <a:rPr lang="en-US" sz="800" dirty="0">
                <a:solidFill>
                  <a:schemeClr val="tx2"/>
                </a:solidFill>
              </a:rPr>
              <a:t>Water and waste in closed loops</a:t>
            </a:r>
            <a:endParaRPr lang="en-US" sz="800" dirty="0"/>
          </a:p>
        </p:txBody>
      </p:sp>
      <p:sp>
        <p:nvSpPr>
          <p:cNvPr id="65" name="text-94"/>
          <p:cNvSpPr txBox="1"/>
          <p:nvPr/>
        </p:nvSpPr>
        <p:spPr>
          <a:xfrm>
            <a:off x="3918204" y="61081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27</a:t>
            </a:r>
            <a:endParaRPr lang="en-US" sz="1600" dirty="0"/>
          </a:p>
        </p:txBody>
      </p:sp>
      <p:sp>
        <p:nvSpPr>
          <p:cNvPr id="66" name="text-95"/>
          <p:cNvSpPr txBox="1"/>
          <p:nvPr/>
        </p:nvSpPr>
        <p:spPr>
          <a:xfrm>
            <a:off x="4421124" y="61356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Wild Neighbours</a:t>
            </a:r>
            <a:endParaRPr lang="en-US" sz="1000" dirty="0"/>
          </a:p>
        </p:txBody>
      </p:sp>
      <p:sp>
        <p:nvSpPr>
          <p:cNvPr id="67" name="text-96"/>
          <p:cNvSpPr txBox="1"/>
          <p:nvPr/>
        </p:nvSpPr>
        <p:spPr>
          <a:xfrm>
            <a:off x="4421124" y="6309360"/>
            <a:ext cx="2592324" cy="182880"/>
          </a:xfrm>
          <a:prstGeom prst="rect">
            <a:avLst/>
          </a:prstGeom>
          <a:noFill/>
          <a:ln/>
        </p:spPr>
        <p:txBody>
          <a:bodyPr wrap="square" lIns="0" tIns="0" rIns="0" bIns="0" rtlCol="0" anchor="t"/>
          <a:lstStyle/>
          <a:p>
            <a:pPr indent="0" marL="0">
              <a:buNone/>
            </a:pPr>
            <a:r>
              <a:rPr lang="en-US" sz="800" dirty="0">
                <a:solidFill>
                  <a:schemeClr val="tx2"/>
                </a:solidFill>
              </a:rPr>
              <a:t>Our urban eco-system: plants and animals</a:t>
            </a:r>
            <a:endParaRPr lang="en-US" sz="800" dirty="0"/>
          </a:p>
        </p:txBody>
      </p:sp>
      <p:sp>
        <p:nvSpPr>
          <p:cNvPr id="68" name="text-97"/>
          <p:cNvSpPr txBox="1"/>
          <p:nvPr/>
        </p:nvSpPr>
        <p:spPr>
          <a:xfrm>
            <a:off x="3918204" y="64739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28</a:t>
            </a:r>
            <a:endParaRPr lang="en-US" sz="1600" dirty="0"/>
          </a:p>
        </p:txBody>
      </p:sp>
      <p:sp>
        <p:nvSpPr>
          <p:cNvPr id="69" name="text-98"/>
          <p:cNvSpPr txBox="1"/>
          <p:nvPr/>
        </p:nvSpPr>
        <p:spPr>
          <a:xfrm>
            <a:off x="4421124" y="65013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Getting Around Fossil-Free</a:t>
            </a:r>
            <a:endParaRPr lang="en-US" sz="1000" dirty="0"/>
          </a:p>
        </p:txBody>
      </p:sp>
      <p:sp>
        <p:nvSpPr>
          <p:cNvPr id="70" name="text-99"/>
          <p:cNvSpPr txBox="1"/>
          <p:nvPr/>
        </p:nvSpPr>
        <p:spPr>
          <a:xfrm>
            <a:off x="4421124" y="6675120"/>
            <a:ext cx="2592324" cy="182880"/>
          </a:xfrm>
          <a:prstGeom prst="rect">
            <a:avLst/>
          </a:prstGeom>
          <a:noFill/>
          <a:ln/>
        </p:spPr>
        <p:txBody>
          <a:bodyPr wrap="square" lIns="0" tIns="0" rIns="0" bIns="0" rtlCol="0" anchor="t"/>
          <a:lstStyle/>
          <a:p>
            <a:pPr indent="0" marL="0">
              <a:buNone/>
            </a:pPr>
            <a:r>
              <a:rPr lang="en-US" sz="800" dirty="0">
                <a:solidFill>
                  <a:schemeClr val="tx2"/>
                </a:solidFill>
              </a:rPr>
              <a:t>Routes, users, capacity, safety and energy</a:t>
            </a:r>
            <a:endParaRPr lang="en-US" sz="800" dirty="0"/>
          </a:p>
        </p:txBody>
      </p:sp>
      <p:sp>
        <p:nvSpPr>
          <p:cNvPr id="71" name="text-100"/>
          <p:cNvSpPr txBox="1"/>
          <p:nvPr/>
        </p:nvSpPr>
        <p:spPr>
          <a:xfrm>
            <a:off x="3918204" y="68397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29</a:t>
            </a:r>
            <a:endParaRPr lang="en-US" sz="1600" dirty="0"/>
          </a:p>
        </p:txBody>
      </p:sp>
      <p:sp>
        <p:nvSpPr>
          <p:cNvPr id="72" name="text-101"/>
          <p:cNvSpPr txBox="1"/>
          <p:nvPr/>
        </p:nvSpPr>
        <p:spPr>
          <a:xfrm>
            <a:off x="4421124" y="68671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Salad Under the Northern Lights</a:t>
            </a:r>
            <a:endParaRPr lang="en-US" sz="1000" dirty="0"/>
          </a:p>
        </p:txBody>
      </p:sp>
      <p:sp>
        <p:nvSpPr>
          <p:cNvPr id="73" name="text-102"/>
          <p:cNvSpPr txBox="1"/>
          <p:nvPr/>
        </p:nvSpPr>
        <p:spPr>
          <a:xfrm>
            <a:off x="4421124" y="7040880"/>
            <a:ext cx="2592324" cy="182880"/>
          </a:xfrm>
          <a:prstGeom prst="rect">
            <a:avLst/>
          </a:prstGeom>
          <a:noFill/>
          <a:ln/>
        </p:spPr>
        <p:txBody>
          <a:bodyPr wrap="square" lIns="0" tIns="0" rIns="0" bIns="0" rtlCol="0" anchor="t"/>
          <a:lstStyle/>
          <a:p>
            <a:pPr indent="0" marL="0">
              <a:buNone/>
            </a:pPr>
            <a:r>
              <a:rPr lang="en-US" sz="800" dirty="0">
                <a:solidFill>
                  <a:schemeClr val="tx2"/>
                </a:solidFill>
              </a:rPr>
              <a:t>Inside the Evergreen Greenhouse Dome</a:t>
            </a:r>
            <a:endParaRPr lang="en-US" sz="800" dirty="0"/>
          </a:p>
        </p:txBody>
      </p:sp>
      <p:sp>
        <p:nvSpPr>
          <p:cNvPr id="74" name="text-103"/>
          <p:cNvSpPr txBox="1"/>
          <p:nvPr/>
        </p:nvSpPr>
        <p:spPr>
          <a:xfrm>
            <a:off x="3918204" y="72054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30</a:t>
            </a:r>
            <a:endParaRPr lang="en-US" sz="1600" dirty="0"/>
          </a:p>
        </p:txBody>
      </p:sp>
      <p:sp>
        <p:nvSpPr>
          <p:cNvPr id="75" name="text-104"/>
          <p:cNvSpPr txBox="1"/>
          <p:nvPr/>
        </p:nvSpPr>
        <p:spPr>
          <a:xfrm>
            <a:off x="4421124" y="72329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Safe and Ready for Any Storm</a:t>
            </a:r>
            <a:endParaRPr lang="en-US" sz="1000" dirty="0"/>
          </a:p>
        </p:txBody>
      </p:sp>
      <p:sp>
        <p:nvSpPr>
          <p:cNvPr id="76" name="text-105"/>
          <p:cNvSpPr txBox="1"/>
          <p:nvPr/>
        </p:nvSpPr>
        <p:spPr>
          <a:xfrm>
            <a:off x="4421124" y="7406640"/>
            <a:ext cx="2592324" cy="182880"/>
          </a:xfrm>
          <a:prstGeom prst="rect">
            <a:avLst/>
          </a:prstGeom>
          <a:noFill/>
          <a:ln/>
        </p:spPr>
        <p:txBody>
          <a:bodyPr wrap="square" lIns="0" tIns="0" rIns="0" bIns="0" rtlCol="0" anchor="t"/>
          <a:lstStyle/>
          <a:p>
            <a:pPr indent="0" marL="0">
              <a:buNone/>
            </a:pPr>
            <a:r>
              <a:rPr lang="en-US" sz="800" dirty="0">
                <a:solidFill>
                  <a:schemeClr val="tx2"/>
                </a:solidFill>
              </a:rPr>
              <a:t>Rescue, shelters and blizzard forecasts</a:t>
            </a:r>
            <a:endParaRPr lang="en-US" sz="800" dirty="0"/>
          </a:p>
        </p:txBody>
      </p:sp>
      <p:sp>
        <p:nvSpPr>
          <p:cNvPr id="77" name="text-106"/>
          <p:cNvSpPr txBox="1"/>
          <p:nvPr/>
        </p:nvSpPr>
        <p:spPr>
          <a:xfrm>
            <a:off x="3918204" y="757123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31</a:t>
            </a:r>
            <a:endParaRPr lang="en-US" sz="1600" dirty="0"/>
          </a:p>
        </p:txBody>
      </p:sp>
      <p:sp>
        <p:nvSpPr>
          <p:cNvPr id="78" name="text-107"/>
          <p:cNvSpPr txBox="1"/>
          <p:nvPr/>
        </p:nvSpPr>
        <p:spPr>
          <a:xfrm>
            <a:off x="4421124" y="7598664"/>
            <a:ext cx="2592324" cy="182880"/>
          </a:xfrm>
          <a:prstGeom prst="rect">
            <a:avLst/>
          </a:prstGeom>
          <a:noFill/>
          <a:ln/>
        </p:spPr>
        <p:txBody>
          <a:bodyPr wrap="square" lIns="0" tIns="0" rIns="0" bIns="0" rtlCol="0" anchor="t"/>
          <a:lstStyle/>
          <a:p>
            <a:pPr indent="0" marL="0">
              <a:buNone/>
            </a:pPr>
            <a:r>
              <a:rPr lang="en-US" sz="1000" b="1" dirty="0">
                <a:solidFill>
                  <a:schemeClr val="tx1"/>
                </a:solidFill>
              </a:rPr>
              <a:t>Pros &amp; Cons</a:t>
            </a:r>
            <a:endParaRPr lang="en-US" sz="1000" dirty="0"/>
          </a:p>
        </p:txBody>
      </p:sp>
      <p:sp>
        <p:nvSpPr>
          <p:cNvPr id="79" name="text-108"/>
          <p:cNvSpPr txBox="1"/>
          <p:nvPr/>
        </p:nvSpPr>
        <p:spPr>
          <a:xfrm>
            <a:off x="4421124" y="7772400"/>
            <a:ext cx="2592324" cy="182880"/>
          </a:xfrm>
          <a:prstGeom prst="rect">
            <a:avLst/>
          </a:prstGeom>
          <a:noFill/>
          <a:ln/>
        </p:spPr>
        <p:txBody>
          <a:bodyPr wrap="square" lIns="0" tIns="0" rIns="0" bIns="0" rtlCol="0" anchor="t"/>
          <a:lstStyle/>
          <a:p>
            <a:pPr indent="0" marL="0">
              <a:buNone/>
            </a:pPr>
            <a:r>
              <a:rPr lang="en-US" sz="800" dirty="0">
                <a:solidFill>
                  <a:schemeClr val="tx2"/>
                </a:solidFill>
              </a:rPr>
              <a:t>Advantages, risks, costs and trade-offs</a:t>
            </a:r>
            <a:endParaRPr lang="en-US" sz="800" dirty="0"/>
          </a:p>
        </p:txBody>
      </p:sp>
      <p:sp>
        <p:nvSpPr>
          <p:cNvPr id="80" name="kicker-dot-109"/>
          <p:cNvSpPr/>
          <p:nvPr/>
        </p:nvSpPr>
        <p:spPr>
          <a:xfrm>
            <a:off x="3918204" y="8115300"/>
            <a:ext cx="100584" cy="100584"/>
          </a:xfrm>
          <a:prstGeom prst="ellipse">
            <a:avLst/>
          </a:prstGeom>
          <a:solidFill>
            <a:schemeClr val="accent1"/>
          </a:solidFill>
          <a:ln w="12700">
            <a:solidFill>
              <a:schemeClr val="accent1"/>
            </a:solidFill>
            <a:prstDash val="solid"/>
          </a:ln>
        </p:spPr>
      </p:sp>
      <p:sp>
        <p:nvSpPr>
          <p:cNvPr id="81" name="text-110"/>
          <p:cNvSpPr txBox="1"/>
          <p:nvPr/>
        </p:nvSpPr>
        <p:spPr>
          <a:xfrm>
            <a:off x="4101084" y="8074152"/>
            <a:ext cx="291236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GUIDE</a:t>
            </a:r>
            <a:endParaRPr lang="en-US" sz="900" dirty="0"/>
          </a:p>
        </p:txBody>
      </p:sp>
      <p:sp>
        <p:nvSpPr>
          <p:cNvPr id="82" name="text-111"/>
          <p:cNvSpPr txBox="1"/>
          <p:nvPr/>
        </p:nvSpPr>
        <p:spPr>
          <a:xfrm>
            <a:off x="3918204" y="837590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33</a:t>
            </a:r>
            <a:endParaRPr lang="en-US" sz="1600" dirty="0"/>
          </a:p>
        </p:txBody>
      </p:sp>
      <p:sp>
        <p:nvSpPr>
          <p:cNvPr id="83" name="text-112"/>
          <p:cNvSpPr txBox="1"/>
          <p:nvPr/>
        </p:nvSpPr>
        <p:spPr>
          <a:xfrm>
            <a:off x="4421124" y="840333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Take the Tour</a:t>
            </a:r>
            <a:endParaRPr lang="en-US" sz="1000" dirty="0"/>
          </a:p>
        </p:txBody>
      </p:sp>
      <p:sp>
        <p:nvSpPr>
          <p:cNvPr id="84" name="text-113"/>
          <p:cNvSpPr txBox="1"/>
          <p:nvPr/>
        </p:nvSpPr>
        <p:spPr>
          <a:xfrm>
            <a:off x="4421124" y="8577072"/>
            <a:ext cx="2592324" cy="182880"/>
          </a:xfrm>
          <a:prstGeom prst="rect">
            <a:avLst/>
          </a:prstGeom>
          <a:noFill/>
          <a:ln/>
        </p:spPr>
        <p:txBody>
          <a:bodyPr wrap="square" lIns="0" tIns="0" rIns="0" bIns="0" rtlCol="0" anchor="t"/>
          <a:lstStyle/>
          <a:p>
            <a:pPr indent="0" marL="0">
              <a:buNone/>
            </a:pPr>
            <a:r>
              <a:rPr lang="en-US" sz="800" dirty="0">
                <a:solidFill>
                  <a:schemeClr val="tx2"/>
                </a:solidFill>
              </a:rPr>
              <a:t>Eight stops around the city</a:t>
            </a:r>
            <a:endParaRPr lang="en-US" sz="800" dirty="0"/>
          </a:p>
        </p:txBody>
      </p:sp>
      <p:sp>
        <p:nvSpPr>
          <p:cNvPr id="85" name="text-114"/>
          <p:cNvSpPr txBox="1"/>
          <p:nvPr/>
        </p:nvSpPr>
        <p:spPr>
          <a:xfrm>
            <a:off x="3918204" y="874166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34</a:t>
            </a:r>
            <a:endParaRPr lang="en-US" sz="1600" dirty="0"/>
          </a:p>
        </p:txBody>
      </p:sp>
      <p:sp>
        <p:nvSpPr>
          <p:cNvPr id="86" name="text-115"/>
          <p:cNvSpPr txBox="1"/>
          <p:nvPr/>
        </p:nvSpPr>
        <p:spPr>
          <a:xfrm>
            <a:off x="4421124" y="8769096"/>
            <a:ext cx="2592324" cy="182880"/>
          </a:xfrm>
          <a:prstGeom prst="rect">
            <a:avLst/>
          </a:prstGeom>
          <a:noFill/>
          <a:ln/>
        </p:spPr>
        <p:txBody>
          <a:bodyPr wrap="square" lIns="0" tIns="0" rIns="0" bIns="0" rtlCol="0" anchor="t"/>
          <a:lstStyle/>
          <a:p>
            <a:pPr indent="0" marL="0">
              <a:buNone/>
            </a:pPr>
            <a:r>
              <a:rPr lang="en-US" sz="1000" b="1" dirty="0">
                <a:solidFill>
                  <a:schemeClr val="tx1"/>
                </a:solidFill>
              </a:rPr>
              <a:t>Places to Visit</a:t>
            </a:r>
            <a:endParaRPr lang="en-US" sz="1000" dirty="0"/>
          </a:p>
        </p:txBody>
      </p:sp>
      <p:sp>
        <p:nvSpPr>
          <p:cNvPr id="87" name="text-116"/>
          <p:cNvSpPr txBox="1"/>
          <p:nvPr/>
        </p:nvSpPr>
        <p:spPr>
          <a:xfrm>
            <a:off x="4421124" y="8942832"/>
            <a:ext cx="2592324" cy="182880"/>
          </a:xfrm>
          <a:prstGeom prst="rect">
            <a:avLst/>
          </a:prstGeom>
          <a:noFill/>
          <a:ln/>
        </p:spPr>
        <p:txBody>
          <a:bodyPr wrap="square" lIns="0" tIns="0" rIns="0" bIns="0" rtlCol="0" anchor="t"/>
          <a:lstStyle/>
          <a:p>
            <a:pPr indent="0" marL="0">
              <a:buNone/>
            </a:pPr>
            <a:r>
              <a:rPr lang="en-US" sz="800" dirty="0">
                <a:solidFill>
                  <a:schemeClr val="tx2"/>
                </a:solidFill>
              </a:rPr>
              <a:t>35 key places and what they do</a:t>
            </a:r>
            <a:endParaRPr lang="en-US" sz="800" dirty="0"/>
          </a:p>
        </p:txBody>
      </p:sp>
      <p:sp>
        <p:nvSpPr>
          <p:cNvPr id="88" name="text-117"/>
          <p:cNvSpPr txBox="1"/>
          <p:nvPr/>
        </p:nvSpPr>
        <p:spPr>
          <a:xfrm>
            <a:off x="3918204" y="91074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35</a:t>
            </a:r>
            <a:endParaRPr lang="en-US" sz="1600" dirty="0"/>
          </a:p>
        </p:txBody>
      </p:sp>
      <p:sp>
        <p:nvSpPr>
          <p:cNvPr id="89" name="text-118"/>
          <p:cNvSpPr txBox="1"/>
          <p:nvPr/>
        </p:nvSpPr>
        <p:spPr>
          <a:xfrm>
            <a:off x="4421124" y="913485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Through a Resident’s Eyes</a:t>
            </a:r>
            <a:endParaRPr lang="en-US" sz="1000" dirty="0"/>
          </a:p>
        </p:txBody>
      </p:sp>
      <p:sp>
        <p:nvSpPr>
          <p:cNvPr id="90" name="text-119"/>
          <p:cNvSpPr txBox="1"/>
          <p:nvPr/>
        </p:nvSpPr>
        <p:spPr>
          <a:xfrm>
            <a:off x="4421124" y="9308592"/>
            <a:ext cx="2592324" cy="182880"/>
          </a:xfrm>
          <a:prstGeom prst="rect">
            <a:avLst/>
          </a:prstGeom>
          <a:noFill/>
          <a:ln/>
        </p:spPr>
        <p:txBody>
          <a:bodyPr wrap="square" lIns="0" tIns="0" rIns="0" bIns="0" rtlCol="0" anchor="t"/>
          <a:lstStyle/>
          <a:p>
            <a:pPr indent="0" marL="0">
              <a:buNone/>
            </a:pPr>
            <a:r>
              <a:rPr lang="en-US" sz="800" dirty="0">
                <a:solidFill>
                  <a:schemeClr val="tx2"/>
                </a:solidFill>
              </a:rPr>
              <a:t>An imagined day in the polar night</a:t>
            </a:r>
            <a:endParaRPr lang="en-US" sz="800" dirty="0"/>
          </a:p>
        </p:txBody>
      </p:sp>
      <p:sp>
        <p:nvSpPr>
          <p:cNvPr id="91" name="text-120"/>
          <p:cNvSpPr txBox="1"/>
          <p:nvPr/>
        </p:nvSpPr>
        <p:spPr>
          <a:xfrm>
            <a:off x="3918204" y="947318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36</a:t>
            </a:r>
            <a:endParaRPr lang="en-US" sz="1600" dirty="0"/>
          </a:p>
        </p:txBody>
      </p:sp>
      <p:sp>
        <p:nvSpPr>
          <p:cNvPr id="92" name="text-121"/>
          <p:cNvSpPr txBox="1"/>
          <p:nvPr/>
        </p:nvSpPr>
        <p:spPr>
          <a:xfrm>
            <a:off x="4421124" y="9500616"/>
            <a:ext cx="2592324" cy="182880"/>
          </a:xfrm>
          <a:prstGeom prst="rect">
            <a:avLst/>
          </a:prstGeom>
          <a:noFill/>
          <a:ln/>
        </p:spPr>
        <p:txBody>
          <a:bodyPr wrap="square" lIns="0" tIns="0" rIns="0" bIns="0" rtlCol="0" anchor="t"/>
          <a:lstStyle/>
          <a:p>
            <a:pPr indent="0" marL="0">
              <a:buNone/>
            </a:pPr>
            <a:r>
              <a:rPr lang="en-US" sz="1000" b="1" dirty="0">
                <a:solidFill>
                  <a:schemeClr val="tx1"/>
                </a:solidFill>
              </a:rPr>
              <a:t>Sources &amp; Assumptions</a:t>
            </a:r>
            <a:endParaRPr lang="en-US" sz="1000" dirty="0"/>
          </a:p>
        </p:txBody>
      </p:sp>
      <p:sp>
        <p:nvSpPr>
          <p:cNvPr id="93" name="text-122"/>
          <p:cNvSpPr txBox="1"/>
          <p:nvPr/>
        </p:nvSpPr>
        <p:spPr>
          <a:xfrm>
            <a:off x="4421124" y="9674352"/>
            <a:ext cx="2592324" cy="182880"/>
          </a:xfrm>
          <a:prstGeom prst="rect">
            <a:avLst/>
          </a:prstGeom>
          <a:noFill/>
          <a:ln/>
        </p:spPr>
        <p:txBody>
          <a:bodyPr wrap="square" lIns="0" tIns="0" rIns="0" bIns="0" rtlCol="0" anchor="t"/>
          <a:lstStyle/>
          <a:p>
            <a:pPr indent="0" marL="0">
              <a:buNone/>
            </a:pPr>
            <a:r>
              <a:rPr lang="en-US" sz="800" dirty="0">
                <a:solidFill>
                  <a:schemeClr val="tx2"/>
                </a:solidFill>
              </a:rPr>
              <a:t>Where our facts come from</a:t>
            </a:r>
            <a:endParaRPr lang="en-US" sz="800" dirty="0"/>
          </a:p>
        </p:txBody>
      </p:sp>
      <p:sp>
        <p:nvSpPr>
          <p:cNvPr id="9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
        <p:nvSpPr>
          <p:cNvPr id="9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1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125"/>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126"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127"/>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128"/>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129"/>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130"/>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131"/>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32"/>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33"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34"/>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35"/>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36"/>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
        <p:nvSpPr>
          <p:cNvPr id="1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41"/>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42"/>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43"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44"/>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45"/>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46"/>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47"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48"/>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49"/>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50"/>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51"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52"/>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53"/>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54"/>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55"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56"/>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57"/>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58"/>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59"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60"/>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61"/>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62"/>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63"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64"/>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65"/>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66"/>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67"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68"/>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69"/>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70"/>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71"/>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
        <p:nvSpPr>
          <p:cNvPr id="3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72"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73"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74"/>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75"/>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76"/>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78"/>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79"/>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80"/>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81"/>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82"/>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
        <p:nvSpPr>
          <p:cNvPr id="1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83"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84"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85"/>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86"/>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87"/>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88"/>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89"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90"/>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91"/>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92"/>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93"/>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94"/>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95"/>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96"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97"/>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98"/>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99"/>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200"/>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201"/>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202"/>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203"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204"/>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205"/>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206"/>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207"/>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208"/>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
        <p:nvSpPr>
          <p:cNvPr id="29"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209"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210"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211"/>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212"/>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213"/>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215"/>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216"/>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217"/>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218"/>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219"/>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220"/>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221"/>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222"/>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223"/>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224"/>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225"/>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226"/>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227"/>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
        <p:nvSpPr>
          <p:cNvPr id="2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CITY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228"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229"/>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230"/>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231"/>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32"/>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34"/>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35"/>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36"/>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37"/>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38"/>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39"/>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40"/>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41"/>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42"/>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43"/>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44"/>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45"/>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46"/>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47"/>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48"/>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49"/>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50"/>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51"/>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52"/>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53"/>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54"/>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55"/>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56"/>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57"/>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58"/>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
        <p:nvSpPr>
          <p:cNvPr id="33"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CITY</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59"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60"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61"/>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62"/>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63"/>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65"/>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66"/>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
        <p:nvSpPr>
          <p:cNvPr id="1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CITY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67"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68"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69"/>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
        <p:nvSpPr>
          <p:cNvPr id="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CITY</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7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7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74"/>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75"/>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76"/>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77"/>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78"/>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79"/>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80"/>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81"/>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82"/>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83"/>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84"/>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85"/>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86"/>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87"/>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88"/>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89"/>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CITY</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9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94"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95"/>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96"/>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97"/>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98"/>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99"/>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300"/>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301"/>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302"/>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303"/>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304"/>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305"/>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306"/>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307"/>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308"/>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309"/>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310"/>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311"/>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312"/>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313"/>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314"/>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315"/>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316"/>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317"/>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318"/>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319"/>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320"/>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321"/>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322"/>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
        <p:nvSpPr>
          <p:cNvPr id="3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CITY</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323"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24"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25"/>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2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27"/>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2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29"/>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31"/>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32"/>
          <p:cNvSpPr/>
          <p:nvPr/>
        </p:nvSpPr>
        <p:spPr>
          <a:xfrm>
            <a:off x="365760" y="7543800"/>
            <a:ext cx="6647688" cy="2249424"/>
          </a:xfrm>
          <a:prstGeom prst="rect">
            <a:avLst/>
          </a:prstGeom>
          <a:solidFill>
            <a:schemeClr val="tx1">
              <a:alpha val="88000"/>
            </a:schemeClr>
          </a:solidFill>
          <a:ln w="12700">
            <a:solidFill>
              <a:schemeClr val="tx1">
                <a:alpha val="0"/>
              </a:schemeClr>
            </a:solidFill>
            <a:prstDash val="solid"/>
          </a:ln>
        </p:spPr>
      </p:sp>
      <p:sp>
        <p:nvSpPr>
          <p:cNvPr id="11" name="kicker-dot-333"/>
          <p:cNvSpPr/>
          <p:nvPr/>
        </p:nvSpPr>
        <p:spPr>
          <a:xfrm>
            <a:off x="530352" y="7712964"/>
            <a:ext cx="100584" cy="100584"/>
          </a:xfrm>
          <a:prstGeom prst="ellipse">
            <a:avLst/>
          </a:prstGeom>
          <a:solidFill>
            <a:schemeClr val="accent3"/>
          </a:solidFill>
          <a:ln w="12700">
            <a:solidFill>
              <a:schemeClr val="accent3"/>
            </a:solidFill>
            <a:prstDash val="solid"/>
          </a:ln>
        </p:spPr>
      </p:sp>
      <p:sp>
        <p:nvSpPr>
          <p:cNvPr id="12" name="text-334"/>
          <p:cNvSpPr txBox="1"/>
          <p:nvPr/>
        </p:nvSpPr>
        <p:spPr>
          <a:xfrm>
            <a:off x="713232" y="767181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3" name="text-335"/>
          <p:cNvSpPr txBox="1"/>
          <p:nvPr/>
        </p:nvSpPr>
        <p:spPr>
          <a:xfrm>
            <a:off x="530352" y="796442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PROBLEM</a:t>
            </a:r>
            <a:endParaRPr lang="en-US" sz="800" dirty="0"/>
          </a:p>
        </p:txBody>
      </p:sp>
      <p:sp>
        <p:nvSpPr>
          <p:cNvPr id="14" name="text-336"/>
          <p:cNvSpPr txBox="1"/>
          <p:nvPr/>
        </p:nvSpPr>
        <p:spPr>
          <a:xfrm>
            <a:off x="530352" y="8156448"/>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Two months of polar night at −45 °C. The city needs heat and power that never stop, even when supply flights cannot land.</a:t>
            </a:r>
            <a:endParaRPr lang="en-US" sz="950" dirty="0"/>
          </a:p>
        </p:txBody>
      </p:sp>
      <p:sp>
        <p:nvSpPr>
          <p:cNvPr id="15" name="text-337"/>
          <p:cNvSpPr txBox="1"/>
          <p:nvPr/>
        </p:nvSpPr>
        <p:spPr>
          <a:xfrm>
            <a:off x="3762756" y="796442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IDEA</a:t>
            </a:r>
            <a:endParaRPr lang="en-US" sz="800" dirty="0"/>
          </a:p>
        </p:txBody>
      </p:sp>
      <p:sp>
        <p:nvSpPr>
          <p:cNvPr id="16" name="text-338"/>
          <p:cNvSpPr txBox="1"/>
          <p:nvPr/>
        </p:nvSpPr>
        <p:spPr>
          <a:xfrm>
            <a:off x="3762756" y="8156448"/>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 compact tokamak inside the city burns about 170 g of fuel a day and gives 300 MW of electricity and 450 MW of heat.</a:t>
            </a:r>
            <a:endParaRPr lang="en-US" sz="950" dirty="0"/>
          </a:p>
        </p:txBody>
      </p:sp>
      <p:sp>
        <p:nvSpPr>
          <p:cNvPr id="17" name="text-339"/>
          <p:cNvSpPr txBox="1"/>
          <p:nvPr/>
        </p:nvSpPr>
        <p:spPr>
          <a:xfrm>
            <a:off x="530352" y="889711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WHAT’S NEW</a:t>
            </a:r>
            <a:endParaRPr lang="en-US" sz="800" dirty="0"/>
          </a:p>
        </p:txBody>
      </p:sp>
      <p:sp>
        <p:nvSpPr>
          <p:cNvPr id="18" name="text-340"/>
          <p:cNvSpPr txBox="1"/>
          <p:nvPr/>
        </p:nvSpPr>
        <p:spPr>
          <a:xfrm>
            <a:off x="530352" y="9089136"/>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No fusion plant sells power yet (page 13). We build a whole city around one, with fuel from snowmelt and tritium bred on site.</a:t>
            </a:r>
            <a:endParaRPr lang="en-US" sz="950" dirty="0"/>
          </a:p>
        </p:txBody>
      </p:sp>
      <p:sp>
        <p:nvSpPr>
          <p:cNvPr id="19" name="text-341"/>
          <p:cNvSpPr txBox="1"/>
          <p:nvPr/>
        </p:nvSpPr>
        <p:spPr>
          <a:xfrm>
            <a:off x="3762756" y="889711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IMPACT</a:t>
            </a:r>
            <a:endParaRPr lang="en-US" sz="800" dirty="0"/>
          </a:p>
        </p:txBody>
      </p:sp>
      <p:sp>
        <p:nvSpPr>
          <p:cNvPr id="20" name="text-342"/>
          <p:cNvSpPr txBox="1"/>
          <p:nvPr/>
        </p:nvSpPr>
        <p:spPr>
          <a:xfrm>
            <a:off x="3762756" y="9089136"/>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No fuel to ship in and no CO₂. If anything fails, the plasma simply goes out, so it cannot melt down.</a:t>
            </a:r>
            <a:endParaRPr lang="en-US" sz="950" dirty="0"/>
          </a:p>
        </p:txBody>
      </p:sp>
      <p:sp>
        <p:nvSpPr>
          <p:cNvPr id="2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
        <p:nvSpPr>
          <p:cNvPr id="22"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4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44"/>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45"/>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46"/>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47"/>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48"/>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49"/>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50"/>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51"/>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52"/>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53"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54"/>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55"/>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5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5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59"/>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60"/>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61"/>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2"/>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63"/>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64"/>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65"/>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66"/>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67"/>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68"/>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69"/>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70"/>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71"/>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72"/>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73"/>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4"/>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75"/>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76"/>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77"/>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78"/>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79"/>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80"/>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81"/>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82"/>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83"/>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84"/>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85"/>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86"/>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87"/>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
        <p:nvSpPr>
          <p:cNvPr id="36"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88"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89"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90"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91"/>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9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93"/>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9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95"/>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97"/>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98"/>
          <p:cNvSpPr txBox="1"/>
          <p:nvPr/>
        </p:nvSpPr>
        <p:spPr>
          <a:xfrm>
            <a:off x="548640" y="726948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2" name="panel-399"/>
          <p:cNvSpPr/>
          <p:nvPr/>
        </p:nvSpPr>
        <p:spPr>
          <a:xfrm>
            <a:off x="365760" y="7589520"/>
            <a:ext cx="6830568" cy="2249424"/>
          </a:xfrm>
          <a:prstGeom prst="rect">
            <a:avLst/>
          </a:prstGeom>
          <a:solidFill>
            <a:schemeClr val="tx1">
              <a:alpha val="88000"/>
            </a:schemeClr>
          </a:solidFill>
          <a:ln w="12700">
            <a:solidFill>
              <a:schemeClr val="tx1">
                <a:alpha val="0"/>
              </a:schemeClr>
            </a:solidFill>
            <a:prstDash val="solid"/>
          </a:ln>
        </p:spPr>
      </p:sp>
      <p:sp>
        <p:nvSpPr>
          <p:cNvPr id="13" name="kicker-dot-400"/>
          <p:cNvSpPr/>
          <p:nvPr/>
        </p:nvSpPr>
        <p:spPr>
          <a:xfrm>
            <a:off x="530352" y="7758684"/>
            <a:ext cx="100584" cy="100584"/>
          </a:xfrm>
          <a:prstGeom prst="ellipse">
            <a:avLst/>
          </a:prstGeom>
          <a:solidFill>
            <a:schemeClr val="accent1"/>
          </a:solidFill>
          <a:ln w="12700">
            <a:solidFill>
              <a:schemeClr val="accent1"/>
            </a:solidFill>
            <a:prstDash val="solid"/>
          </a:ln>
        </p:spPr>
      </p:sp>
      <p:sp>
        <p:nvSpPr>
          <p:cNvPr id="14" name="text-401"/>
          <p:cNvSpPr txBox="1"/>
          <p:nvPr/>
        </p:nvSpPr>
        <p:spPr>
          <a:xfrm>
            <a:off x="713232" y="771753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402"/>
          <p:cNvSpPr txBox="1"/>
          <p:nvPr/>
        </p:nvSpPr>
        <p:spPr>
          <a:xfrm>
            <a:off x="530352"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PROBLEM</a:t>
            </a:r>
            <a:endParaRPr lang="en-US" sz="800" dirty="0"/>
          </a:p>
        </p:txBody>
      </p:sp>
      <p:sp>
        <p:nvSpPr>
          <p:cNvPr id="16" name="text-403"/>
          <p:cNvSpPr txBox="1"/>
          <p:nvPr/>
        </p:nvSpPr>
        <p:spPr>
          <a:xfrm>
            <a:off x="530352"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Almost nothing grows at −45 °C, and in deep winter food can only arrive by air.</a:t>
            </a:r>
            <a:endParaRPr lang="en-US" sz="950" dirty="0"/>
          </a:p>
        </p:txBody>
      </p:sp>
      <p:sp>
        <p:nvSpPr>
          <p:cNvPr id="17" name="text-404"/>
          <p:cNvSpPr txBox="1"/>
          <p:nvPr/>
        </p:nvSpPr>
        <p:spPr>
          <a:xfrm>
            <a:off x="3854196"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IDEA</a:t>
            </a:r>
            <a:endParaRPr lang="en-US" sz="800" dirty="0"/>
          </a:p>
        </p:txBody>
      </p:sp>
      <p:sp>
        <p:nvSpPr>
          <p:cNvPr id="18" name="text-405"/>
          <p:cNvSpPr txBox="1"/>
          <p:nvPr/>
        </p:nvSpPr>
        <p:spPr>
          <a:xfrm>
            <a:off x="3854196"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Spare fusion heat melts 3,000 tonnes of snow a day for drinking water; microbes turn water and CO₂ into about 2.5 tonnes of protein a day.</a:t>
            </a:r>
            <a:endParaRPr lang="en-US" sz="950" dirty="0"/>
          </a:p>
        </p:txBody>
      </p:sp>
      <p:sp>
        <p:nvSpPr>
          <p:cNvPr id="19" name="text-406"/>
          <p:cNvSpPr txBox="1"/>
          <p:nvPr/>
        </p:nvSpPr>
        <p:spPr>
          <a:xfrm>
            <a:off x="530352"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WHAT’S NEW</a:t>
            </a:r>
            <a:endParaRPr lang="en-US" sz="800" dirty="0"/>
          </a:p>
        </p:txBody>
      </p:sp>
      <p:sp>
        <p:nvSpPr>
          <p:cNvPr id="20" name="text-407"/>
          <p:cNvSpPr txBox="1"/>
          <p:nvPr/>
        </p:nvSpPr>
        <p:spPr>
          <a:xfrm>
            <a:off x="530352"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Each step exists today, but apart (page 16). We link them in one plant that also cools the fusion station.</a:t>
            </a:r>
            <a:endParaRPr lang="en-US" sz="950" dirty="0"/>
          </a:p>
        </p:txBody>
      </p:sp>
      <p:sp>
        <p:nvSpPr>
          <p:cNvPr id="21" name="text-408"/>
          <p:cNvSpPr txBox="1"/>
          <p:nvPr/>
        </p:nvSpPr>
        <p:spPr>
          <a:xfrm>
            <a:off x="3854196"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IMPACT</a:t>
            </a:r>
            <a:endParaRPr lang="en-US" sz="800" dirty="0"/>
          </a:p>
        </p:txBody>
      </p:sp>
      <p:sp>
        <p:nvSpPr>
          <p:cNvPr id="22" name="text-409"/>
          <p:cNvSpPr txBox="1"/>
          <p:nvPr/>
        </p:nvSpPr>
        <p:spPr>
          <a:xfrm>
            <a:off x="3854196"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Bread, noodles and drinks made in the city all year, with no farmland and fewer supply flights.</a:t>
            </a:r>
            <a:endParaRPr lang="en-US" sz="950" dirty="0"/>
          </a:p>
        </p:txBody>
      </p:sp>
      <p:sp>
        <p:nvSpPr>
          <p:cNvPr id="2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
        <p:nvSpPr>
          <p:cNvPr id="2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1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4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4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41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41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41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41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41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41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42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42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42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42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42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42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42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42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42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42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43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43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43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43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43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43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43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43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43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439"/>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440"/>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441"/>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442"/>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443"/>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444"/>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445"/>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446"/>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447"/>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
        <p:nvSpPr>
          <p:cNvPr id="4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44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49"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5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5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5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5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5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55"/>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57"/>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58"/>
          <p:cNvSpPr txBox="1"/>
          <p:nvPr/>
        </p:nvSpPr>
        <p:spPr>
          <a:xfrm>
            <a:off x="548640" y="726948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crowned by the glass Aurora Eye.</a:t>
            </a:r>
            <a:endParaRPr lang="en-US" sz="850" dirty="0"/>
          </a:p>
        </p:txBody>
      </p:sp>
      <p:sp>
        <p:nvSpPr>
          <p:cNvPr id="12" name="panel-459"/>
          <p:cNvSpPr/>
          <p:nvPr/>
        </p:nvSpPr>
        <p:spPr>
          <a:xfrm>
            <a:off x="365760" y="7589520"/>
            <a:ext cx="6830568" cy="2249424"/>
          </a:xfrm>
          <a:prstGeom prst="rect">
            <a:avLst/>
          </a:prstGeom>
          <a:solidFill>
            <a:schemeClr val="tx1">
              <a:alpha val="88000"/>
            </a:schemeClr>
          </a:solidFill>
          <a:ln w="12700">
            <a:solidFill>
              <a:schemeClr val="tx1">
                <a:alpha val="0"/>
              </a:schemeClr>
            </a:solidFill>
            <a:prstDash val="solid"/>
          </a:ln>
        </p:spPr>
      </p:sp>
      <p:sp>
        <p:nvSpPr>
          <p:cNvPr id="13" name="kicker-dot-460"/>
          <p:cNvSpPr/>
          <p:nvPr/>
        </p:nvSpPr>
        <p:spPr>
          <a:xfrm>
            <a:off x="530352" y="7758684"/>
            <a:ext cx="100584" cy="100584"/>
          </a:xfrm>
          <a:prstGeom prst="ellipse">
            <a:avLst/>
          </a:prstGeom>
          <a:solidFill>
            <a:schemeClr val="accent5"/>
          </a:solidFill>
          <a:ln w="12700">
            <a:solidFill>
              <a:schemeClr val="accent5"/>
            </a:solidFill>
            <a:prstDash val="solid"/>
          </a:ln>
        </p:spPr>
      </p:sp>
      <p:sp>
        <p:nvSpPr>
          <p:cNvPr id="14" name="text-461"/>
          <p:cNvSpPr txBox="1"/>
          <p:nvPr/>
        </p:nvSpPr>
        <p:spPr>
          <a:xfrm>
            <a:off x="713232" y="771753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462"/>
          <p:cNvSpPr txBox="1"/>
          <p:nvPr/>
        </p:nvSpPr>
        <p:spPr>
          <a:xfrm>
            <a:off x="530352"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PROBLEM</a:t>
            </a:r>
            <a:endParaRPr lang="en-US" sz="800" dirty="0"/>
          </a:p>
        </p:txBody>
      </p:sp>
      <p:sp>
        <p:nvSpPr>
          <p:cNvPr id="16" name="text-463"/>
          <p:cNvSpPr txBox="1"/>
          <p:nvPr/>
        </p:nvSpPr>
        <p:spPr>
          <a:xfrm>
            <a:off x="530352"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Months of darkness bring winter blues, and the city needs a warm place to meet and to shelter in a disaster.</a:t>
            </a:r>
            <a:endParaRPr lang="en-US" sz="950" dirty="0"/>
          </a:p>
        </p:txBody>
      </p:sp>
      <p:sp>
        <p:nvSpPr>
          <p:cNvPr id="17" name="text-464"/>
          <p:cNvSpPr txBox="1"/>
          <p:nvPr/>
        </p:nvSpPr>
        <p:spPr>
          <a:xfrm>
            <a:off x="3854196"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IDEA</a:t>
            </a:r>
            <a:endParaRPr lang="en-US" sz="800" dirty="0"/>
          </a:p>
        </p:txBody>
      </p:sp>
      <p:sp>
        <p:nvSpPr>
          <p:cNvPr id="18" name="text-465"/>
          <p:cNvSpPr txBox="1"/>
          <p:nvPr/>
        </p:nvSpPr>
        <p:spPr>
          <a:xfrm>
            <a:off x="3854196"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The mountain is the building: a 35-metre snow peak wraps four spa levels, kept at 28 °C by a geothermal spring.</a:t>
            </a:r>
            <a:endParaRPr lang="en-US" sz="950" dirty="0"/>
          </a:p>
        </p:txBody>
      </p:sp>
      <p:sp>
        <p:nvSpPr>
          <p:cNvPr id="19" name="text-466"/>
          <p:cNvSpPr txBox="1"/>
          <p:nvPr/>
        </p:nvSpPr>
        <p:spPr>
          <a:xfrm>
            <a:off x="530352"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WHAT’S NEW</a:t>
            </a:r>
            <a:endParaRPr lang="en-US" sz="800" dirty="0"/>
          </a:p>
        </p:txBody>
      </p:sp>
      <p:sp>
        <p:nvSpPr>
          <p:cNvPr id="20" name="text-467"/>
          <p:cNvSpPr txBox="1"/>
          <p:nvPr/>
        </p:nvSpPr>
        <p:spPr>
          <a:xfrm>
            <a:off x="530352"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Spas like Iceland’s Blue Lagoon use geothermal water (page 19). We turn a whole snow peak into an insulated leisure world.</a:t>
            </a:r>
            <a:endParaRPr lang="en-US" sz="950" dirty="0"/>
          </a:p>
        </p:txBody>
      </p:sp>
      <p:sp>
        <p:nvSpPr>
          <p:cNvPr id="21" name="text-468"/>
          <p:cNvSpPr txBox="1"/>
          <p:nvPr/>
        </p:nvSpPr>
        <p:spPr>
          <a:xfrm>
            <a:off x="3854196"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IMPACT</a:t>
            </a:r>
            <a:endParaRPr lang="en-US" sz="800" dirty="0"/>
          </a:p>
        </p:txBody>
      </p:sp>
      <p:sp>
        <p:nvSpPr>
          <p:cNvPr id="22" name="text-469"/>
          <p:cNvSpPr txBox="1"/>
          <p:nvPr/>
        </p:nvSpPr>
        <p:spPr>
          <a:xfrm>
            <a:off x="3854196"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Rest and health for residents, tourists and income for the city, and shelter for up to 1,000 people.</a:t>
            </a:r>
            <a:endParaRPr lang="en-US" sz="950" dirty="0"/>
          </a:p>
        </p:txBody>
      </p:sp>
      <p:sp>
        <p:nvSpPr>
          <p:cNvPr id="2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
        <p:nvSpPr>
          <p:cNvPr id="2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7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7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7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7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7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7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
        <p:nvSpPr>
          <p:cNvPr id="1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7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79"/>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80"/>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81"/>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82"/>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83"/>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84"/>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85"/>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86"/>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87"/>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88"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89"/>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90"/>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94"/>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95"/>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96"/>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97"/>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98"/>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99"/>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500"/>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501"/>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502"/>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503"/>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504"/>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505"/>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506"/>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507"/>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508"/>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509"/>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1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5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514"/>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515"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516"/>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517"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518"/>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519"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520"/>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521"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522"/>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523"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524"/>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525"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526"/>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527"/>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528"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529"/>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530"/>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531"/>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532"/>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533"/>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534"/>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
        <p:nvSpPr>
          <p:cNvPr id="2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5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3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4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4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4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4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4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4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4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4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4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4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5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51"/>
          <p:cNvSpPr/>
          <p:nvPr/>
        </p:nvSpPr>
        <p:spPr>
          <a:xfrm>
            <a:off x="2633472" y="3063240"/>
            <a:ext cx="2295144" cy="914"/>
          </a:xfrm>
          <a:prstGeom prst="line">
            <a:avLst/>
          </a:prstGeom>
          <a:noFill/>
          <a:ln w="28575">
            <a:solidFill>
              <a:schemeClr val="accent2"/>
            </a:solidFill>
            <a:prstDash val="solid"/>
            <a:tailEnd type="triangle"/>
          </a:ln>
        </p:spPr>
      </p:sp>
      <p:sp>
        <p:nvSpPr>
          <p:cNvPr id="19" name="text-55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53"/>
          <p:cNvSpPr/>
          <p:nvPr/>
        </p:nvSpPr>
        <p:spPr>
          <a:xfrm>
            <a:off x="2633472" y="3410712"/>
            <a:ext cx="2295144" cy="914"/>
          </a:xfrm>
          <a:prstGeom prst="line">
            <a:avLst/>
          </a:prstGeom>
          <a:noFill/>
          <a:ln w="28575">
            <a:solidFill>
              <a:schemeClr val="bg2"/>
            </a:solidFill>
            <a:prstDash val="solid"/>
            <a:tailEnd type="triangle"/>
          </a:ln>
        </p:spPr>
      </p:sp>
      <p:sp>
        <p:nvSpPr>
          <p:cNvPr id="21" name="text-55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5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5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5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5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59"/>
          <p:cNvSpPr/>
          <p:nvPr/>
        </p:nvSpPr>
        <p:spPr>
          <a:xfrm>
            <a:off x="1325880" y="4507992"/>
            <a:ext cx="914" cy="1179576"/>
          </a:xfrm>
          <a:prstGeom prst="line">
            <a:avLst/>
          </a:prstGeom>
          <a:noFill/>
          <a:ln w="28575">
            <a:solidFill>
              <a:schemeClr val="accent2"/>
            </a:solidFill>
            <a:prstDash val="solid"/>
            <a:tailEnd type="triangle"/>
          </a:ln>
        </p:spPr>
      </p:sp>
      <p:sp>
        <p:nvSpPr>
          <p:cNvPr id="27" name="arrow-560"/>
          <p:cNvSpPr/>
          <p:nvPr/>
        </p:nvSpPr>
        <p:spPr>
          <a:xfrm flipV="1">
            <a:off x="1874520" y="4507992"/>
            <a:ext cx="914" cy="1179576"/>
          </a:xfrm>
          <a:prstGeom prst="line">
            <a:avLst/>
          </a:prstGeom>
          <a:noFill/>
          <a:ln w="28575">
            <a:solidFill>
              <a:schemeClr val="bg2"/>
            </a:solidFill>
            <a:prstDash val="solid"/>
            <a:tailEnd type="triangle"/>
          </a:ln>
        </p:spPr>
      </p:sp>
      <p:sp>
        <p:nvSpPr>
          <p:cNvPr id="28" name="text-56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6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6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64"/>
          <p:cNvSpPr/>
          <p:nvPr/>
        </p:nvSpPr>
        <p:spPr>
          <a:xfrm>
            <a:off x="6464808" y="4489704"/>
            <a:ext cx="914" cy="1078992"/>
          </a:xfrm>
          <a:prstGeom prst="line">
            <a:avLst/>
          </a:prstGeom>
          <a:noFill/>
          <a:ln w="28575">
            <a:solidFill>
              <a:schemeClr val="accent4"/>
            </a:solidFill>
            <a:prstDash val="solid"/>
            <a:tailEnd type="triangle"/>
          </a:ln>
        </p:spPr>
      </p:sp>
      <p:sp>
        <p:nvSpPr>
          <p:cNvPr id="32" name="text-56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6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6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6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6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7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7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7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7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7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7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7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7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7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7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8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8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8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
        <p:nvSpPr>
          <p:cNvPr id="5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8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87"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88"/>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89"/>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90"/>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91"/>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92"/>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93"/>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94"/>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95"/>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96"/>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97"/>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98"/>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99"/>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600"/>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601"/>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602"/>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603"/>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604"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605"/>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606"/>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607"/>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608"/>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609"/>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
        <p:nvSpPr>
          <p:cNvPr id="29"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610"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611"/>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612"/>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613"/>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614"/>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616"/>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617"/>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618"/>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619"/>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620"/>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621"/>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622"/>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623"/>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624"/>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625"/>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626"/>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627"/>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628"/>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629"/>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630"/>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631"/>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632"/>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633"/>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634"/>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635"/>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636"/>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637"/>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638"/>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639"/>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640"/>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641"/>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642"/>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643"/>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644"/>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645"/>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646"/>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647"/>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
        <p:nvSpPr>
          <p:cNvPr id="4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64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4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65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652"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653"/>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654"/>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655"/>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656"/>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657"/>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658"/>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59"/>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60"/>
          <p:cNvSpPr/>
          <p:nvPr/>
        </p:nvSpPr>
        <p:spPr>
          <a:xfrm>
            <a:off x="2548128" y="8275320"/>
            <a:ext cx="219456" cy="914"/>
          </a:xfrm>
          <a:prstGeom prst="line">
            <a:avLst/>
          </a:prstGeom>
          <a:noFill/>
          <a:ln w="31750">
            <a:solidFill>
              <a:schemeClr val="tx2"/>
            </a:solidFill>
            <a:prstDash val="solid"/>
            <a:tailEnd type="triangle"/>
          </a:ln>
        </p:spPr>
      </p:sp>
      <p:sp>
        <p:nvSpPr>
          <p:cNvPr id="14" name="card-661"/>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62"/>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63"/>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64"/>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65"/>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66"/>
          <p:cNvSpPr/>
          <p:nvPr/>
        </p:nvSpPr>
        <p:spPr>
          <a:xfrm>
            <a:off x="4794504" y="8275320"/>
            <a:ext cx="219456" cy="914"/>
          </a:xfrm>
          <a:prstGeom prst="line">
            <a:avLst/>
          </a:prstGeom>
          <a:noFill/>
          <a:ln w="31750">
            <a:solidFill>
              <a:schemeClr val="tx2"/>
            </a:solidFill>
            <a:prstDash val="solid"/>
            <a:tailEnd type="triangle"/>
          </a:ln>
        </p:spPr>
      </p:sp>
      <p:sp>
        <p:nvSpPr>
          <p:cNvPr id="20" name="card-667"/>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68"/>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69"/>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70"/>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71"/>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
        <p:nvSpPr>
          <p:cNvPr id="2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72"/>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7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7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76"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77"/>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78"/>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79"/>
          <p:cNvSpPr/>
          <p:nvPr/>
        </p:nvSpPr>
        <p:spPr>
          <a:xfrm>
            <a:off x="1315974" y="6153912"/>
            <a:ext cx="620268" cy="914"/>
          </a:xfrm>
          <a:prstGeom prst="line">
            <a:avLst/>
          </a:prstGeom>
          <a:noFill/>
          <a:ln w="22225">
            <a:solidFill>
              <a:schemeClr val="accent4"/>
            </a:solidFill>
            <a:prstDash val="solid"/>
            <a:tailEnd type="triangle"/>
          </a:ln>
        </p:spPr>
      </p:sp>
      <p:sp>
        <p:nvSpPr>
          <p:cNvPr id="9" name="marker-680"/>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81"/>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82"/>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83"/>
          <p:cNvSpPr/>
          <p:nvPr/>
        </p:nvSpPr>
        <p:spPr>
          <a:xfrm>
            <a:off x="2393442" y="6153912"/>
            <a:ext cx="620268" cy="914"/>
          </a:xfrm>
          <a:prstGeom prst="line">
            <a:avLst/>
          </a:prstGeom>
          <a:noFill/>
          <a:ln w="22225">
            <a:solidFill>
              <a:schemeClr val="accent4"/>
            </a:solidFill>
            <a:prstDash val="solid"/>
            <a:tailEnd type="triangle"/>
          </a:ln>
        </p:spPr>
      </p:sp>
      <p:sp>
        <p:nvSpPr>
          <p:cNvPr id="13" name="marker-684"/>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85"/>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86"/>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87"/>
          <p:cNvSpPr/>
          <p:nvPr/>
        </p:nvSpPr>
        <p:spPr>
          <a:xfrm>
            <a:off x="3470910" y="6153912"/>
            <a:ext cx="620268" cy="914"/>
          </a:xfrm>
          <a:prstGeom prst="line">
            <a:avLst/>
          </a:prstGeom>
          <a:noFill/>
          <a:ln w="22225">
            <a:solidFill>
              <a:schemeClr val="accent4"/>
            </a:solidFill>
            <a:prstDash val="solid"/>
            <a:tailEnd type="triangle"/>
          </a:ln>
        </p:spPr>
      </p:sp>
      <p:sp>
        <p:nvSpPr>
          <p:cNvPr id="17" name="marker-688"/>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89"/>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90"/>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91"/>
          <p:cNvSpPr/>
          <p:nvPr/>
        </p:nvSpPr>
        <p:spPr>
          <a:xfrm>
            <a:off x="4548378" y="6153912"/>
            <a:ext cx="620268" cy="914"/>
          </a:xfrm>
          <a:prstGeom prst="line">
            <a:avLst/>
          </a:prstGeom>
          <a:noFill/>
          <a:ln w="22225">
            <a:solidFill>
              <a:schemeClr val="accent4"/>
            </a:solidFill>
            <a:prstDash val="solid"/>
            <a:tailEnd type="triangle"/>
          </a:ln>
        </p:spPr>
      </p:sp>
      <p:sp>
        <p:nvSpPr>
          <p:cNvPr id="21" name="marker-692"/>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93"/>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94"/>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95"/>
          <p:cNvSpPr/>
          <p:nvPr/>
        </p:nvSpPr>
        <p:spPr>
          <a:xfrm>
            <a:off x="5625846" y="6153912"/>
            <a:ext cx="620268" cy="914"/>
          </a:xfrm>
          <a:prstGeom prst="line">
            <a:avLst/>
          </a:prstGeom>
          <a:noFill/>
          <a:ln w="22225">
            <a:solidFill>
              <a:schemeClr val="accent4"/>
            </a:solidFill>
            <a:prstDash val="solid"/>
            <a:tailEnd type="triangle"/>
          </a:ln>
        </p:spPr>
      </p:sp>
      <p:sp>
        <p:nvSpPr>
          <p:cNvPr id="25" name="marker-696"/>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97"/>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98"/>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99"/>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700"/>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701"/>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702"/>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703"/>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704"/>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705"/>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706"/>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707"/>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708"/>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709"/>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
        <p:nvSpPr>
          <p:cNvPr id="4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710"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711"/>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712"/>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713"/>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714"/>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716"/>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717"/>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718"/>
          <p:cNvSpPr txBox="1"/>
          <p:nvPr/>
        </p:nvSpPr>
        <p:spPr>
          <a:xfrm>
            <a:off x="548640" y="6199632"/>
            <a:ext cx="3095244" cy="2788920"/>
          </a:xfrm>
          <a:prstGeom prst="rect">
            <a:avLst/>
          </a:prstGeom>
          <a:noFill/>
          <a:ln/>
        </p:spPr>
        <p:txBody>
          <a:bodyPr wrap="square" lIns="0" tIns="0" rIns="0" bIns="0" rtlCol="0" anchor="t"/>
          <a:lstStyle/>
          <a:p>
            <a:pPr indent="0" marL="0">
              <a:lnSpc>
                <a:spcPct val="108000"/>
              </a:lnSpc>
              <a:buNone/>
            </a:pPr>
            <a:r>
              <a:rPr lang="en-US" sz="1050" b="1" dirty="0">
                <a:solidFill>
                  <a:schemeClr val="tx1"/>
                </a:solidFill>
              </a:rPr>
              <a:t>Wildlife corridors. </a:t>
            </a:r>
            <a:pPr indent="0" marL="0">
              <a:lnSpc>
                <a:spcPct val="108000"/>
              </a:lnSpc>
              <a:spcAft>
                <a:spcPts val="500"/>
              </a:spcAft>
              <a:buNone/>
            </a:pPr>
            <a:r>
              <a:rPr lang="en-US" sz="1050" dirty="0">
                <a:solidFill>
                  <a:schemeClr val="tx1"/>
                </a:solidFill>
              </a:rPr>
              <a:t>Snowy tree belts on the east and west edges link the tundra to the parks for foxes, hares and ptarmigans; the roads beside them have dim lights and underpasses.</a:t>
            </a:r>
            <a:endParaRPr lang="en-US" sz="1050" dirty="0"/>
          </a:p>
          <a:p>
            <a:pPr indent="0" marL="0">
              <a:lnSpc>
                <a:spcPct val="108000"/>
              </a:lnSpc>
              <a:buNone/>
            </a:pPr>
            <a:r>
              <a:rPr lang="en-US" sz="1050" b="1" dirty="0">
                <a:solidFill>
                  <a:schemeClr val="tx1"/>
                </a:solidFill>
              </a:rPr>
              <a:t>Fences with gaps. </a:t>
            </a:r>
            <a:pPr indent="0" marL="0">
              <a:lnSpc>
                <a:spcPct val="108000"/>
              </a:lnSpc>
              <a:spcAft>
                <a:spcPts val="500"/>
              </a:spcAft>
              <a:buNone/>
            </a:pPr>
            <a:r>
              <a:rPr lang="en-US" sz="1050" dirty="0">
                <a:solidFill>
                  <a:schemeClr val="tx1"/>
                </a:solidFill>
              </a:rPr>
              <a:t>Open rails let drifting snow blow through, and gaps at ground level let foxes and hares pass.</a:t>
            </a:r>
            <a:endParaRPr lang="en-US" sz="1050" dirty="0"/>
          </a:p>
          <a:p>
            <a:pPr indent="0" marL="0">
              <a:lnSpc>
                <a:spcPct val="108000"/>
              </a:lnSpc>
              <a:buNone/>
            </a:pPr>
            <a:r>
              <a:rPr lang="en-US" sz="1050" b="1" dirty="0">
                <a:solidFill>
                  <a:schemeClr val="tx1"/>
                </a:solidFill>
              </a:rPr>
              <a:t>Reindeer. </a:t>
            </a:r>
            <a:pPr indent="0" marL="0">
              <a:lnSpc>
                <a:spcPct val="108000"/>
              </a:lnSpc>
              <a:spcAft>
                <a:spcPts val="500"/>
              </a:spcAft>
              <a:buNone/>
            </a:pPr>
            <a:r>
              <a:rPr lang="en-US" sz="1050" dirty="0">
                <a:solidFill>
                  <a:schemeClr val="tx1"/>
                </a:solidFill>
              </a:rPr>
              <a:t>Herders who follow Sámi traditions care for the eco-tour herd; rides are short, and GPS collars track the animals on the tundra.</a:t>
            </a:r>
            <a:endParaRPr lang="en-US" sz="1050" dirty="0"/>
          </a:p>
          <a:p>
            <a:pPr indent="0" marL="0">
              <a:lnSpc>
                <a:spcPct val="108000"/>
              </a:lnSpc>
              <a:buNone/>
            </a:pPr>
            <a:r>
              <a:rPr lang="en-US" sz="1050" b="1" dirty="0">
                <a:solidFill>
                  <a:schemeClr val="tx1"/>
                </a:solidFill>
              </a:rPr>
              <a:t>Polar bears. </a:t>
            </a:r>
            <a:pPr indent="0" marL="0">
              <a:lnSpc>
                <a:spcPct val="108000"/>
              </a:lnSpc>
              <a:spcAft>
                <a:spcPts val="500"/>
              </a:spcAft>
              <a:buNone/>
            </a:pPr>
            <a:r>
              <a:rPr lang="en-US" sz="1050" dirty="0">
                <a:solidFill>
                  <a:schemeClr val="tx1"/>
                </a:solidFill>
              </a:rPr>
              <a:t>Fibre-optic sensors in the air base fence call a wildlife team when a bear comes close.</a:t>
            </a:r>
            <a:endParaRPr lang="en-US" sz="1050" dirty="0"/>
          </a:p>
        </p:txBody>
      </p:sp>
      <p:sp>
        <p:nvSpPr>
          <p:cNvPr id="10" name="text-719"/>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720"/>
          <p:cNvSpPr txBox="1"/>
          <p:nvPr/>
        </p:nvSpPr>
        <p:spPr>
          <a:xfrm>
            <a:off x="3918204" y="6199632"/>
            <a:ext cx="3095244" cy="2788920"/>
          </a:xfrm>
          <a:prstGeom prst="rect">
            <a:avLst/>
          </a:prstGeom>
          <a:noFill/>
          <a:ln/>
        </p:spPr>
        <p:txBody>
          <a:bodyPr wrap="square" lIns="0" tIns="0" rIns="0" bIns="0" rtlCol="0" anchor="t"/>
          <a:lstStyle/>
          <a:p>
            <a:pPr indent="0" marL="0">
              <a:lnSpc>
                <a:spcPct val="108000"/>
              </a:lnSpc>
              <a:buNone/>
            </a:pPr>
            <a:r>
              <a:rPr lang="en-US" sz="1050" b="1" dirty="0">
                <a:solidFill>
                  <a:schemeClr val="tx1"/>
                </a:solidFill>
              </a:rPr>
              <a:t>Living snow fences. </a:t>
            </a:r>
            <a:pPr indent="0" marL="0">
              <a:lnSpc>
                <a:spcPct val="108000"/>
              </a:lnSpc>
              <a:spcAft>
                <a:spcPts val="500"/>
              </a:spcAft>
              <a:buNone/>
            </a:pPr>
            <a:r>
              <a:rPr lang="en-US" sz="1050" dirty="0">
                <a:solidFill>
                  <a:schemeClr val="tx1"/>
                </a:solidFill>
              </a:rPr>
              <a:t>Belts of spruce and pine trap drifting snow before it reaches the streets; the clean snow goes to the food plant.</a:t>
            </a:r>
            <a:endParaRPr lang="en-US" sz="1050" dirty="0"/>
          </a:p>
          <a:p>
            <a:pPr indent="0" marL="0">
              <a:lnSpc>
                <a:spcPct val="108000"/>
              </a:lnSpc>
              <a:buNone/>
            </a:pPr>
            <a:r>
              <a:rPr lang="en-US" sz="1050" b="1" dirty="0">
                <a:solidFill>
                  <a:schemeClr val="tx1"/>
                </a:solidFill>
              </a:rPr>
              <a:t>Green stepping stones. </a:t>
            </a:r>
            <a:pPr indent="0" marL="0">
              <a:lnSpc>
                <a:spcPct val="108000"/>
              </a:lnSpc>
              <a:spcAft>
                <a:spcPts val="500"/>
              </a:spcAft>
              <a:buNone/>
            </a:pPr>
            <a:r>
              <a:rPr lang="en-US" sz="1050" dirty="0">
                <a:solidFill>
                  <a:schemeClr val="tx1"/>
                </a:solidFill>
              </a:rPr>
              <a:t>Snow lindens on Liberty Mall and heated planters on the Aurora 81 Sky Garden give birds stepping stones across the city.</a:t>
            </a:r>
            <a:endParaRPr lang="en-US" sz="1050" dirty="0"/>
          </a:p>
          <a:p>
            <a:pPr indent="0" marL="0">
              <a:lnSpc>
                <a:spcPct val="108000"/>
              </a:lnSpc>
              <a:buNone/>
            </a:pPr>
            <a:r>
              <a:rPr lang="en-US" sz="1050" b="1" dirty="0">
                <a:solidFill>
                  <a:schemeClr val="tx1"/>
                </a:solidFill>
              </a:rPr>
              <a:t>Aquaponics. </a:t>
            </a:r>
            <a:pPr indent="0" marL="0">
              <a:lnSpc>
                <a:spcPct val="108000"/>
              </a:lnSpc>
              <a:spcAft>
                <a:spcPts val="500"/>
              </a:spcAft>
              <a:buNone/>
            </a:pPr>
            <a:r>
              <a:rPr lang="en-US" sz="1050" dirty="0">
                <a:solidFill>
                  <a:schemeClr val="tx1"/>
                </a:solidFill>
              </a:rPr>
              <a:t>In the Evergreen Aquaponics Dome, Arctic char and trout feed lettuce, herbs and strawberries; the loop loses under 2% of its water a day.</a:t>
            </a:r>
            <a:endParaRPr lang="en-US" sz="1050" dirty="0"/>
          </a:p>
          <a:p>
            <a:pPr indent="0" marL="0">
              <a:lnSpc>
                <a:spcPct val="108000"/>
              </a:lnSpc>
              <a:buNone/>
            </a:pPr>
            <a:r>
              <a:rPr lang="en-US" sz="1050" b="1" dirty="0">
                <a:solidFill>
                  <a:schemeClr val="tx1"/>
                </a:solidFill>
              </a:rPr>
              <a:t>Shelter and science. </a:t>
            </a:r>
            <a:pPr indent="0" marL="0">
              <a:lnSpc>
                <a:spcPct val="108000"/>
              </a:lnSpc>
              <a:spcAft>
                <a:spcPts val="500"/>
              </a:spcAft>
              <a:buNone/>
            </a:pPr>
            <a:r>
              <a:rPr lang="en-US" sz="1050" dirty="0">
                <a:solidFill>
                  <a:schemeClr val="tx1"/>
                </a:solidFill>
              </a:rPr>
              <a:t>Rock gardens shelter ptarmigans and hares, and nest-box cameras let schoolchildren count them.</a:t>
            </a:r>
            <a:endParaRPr lang="en-US" sz="1050" dirty="0"/>
          </a:p>
        </p:txBody>
      </p:sp>
      <p:sp>
        <p:nvSpPr>
          <p:cNvPr id="12" name="card-721"/>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722"/>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7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7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727"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728"/>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729"/>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Everything that moves in Aurora Haven is electric and built for the cold. Two driverless metro lines, the north–south Aurora Line and the east–west Glacier Line, run deep underground and meet under Liberty Mall, so blizzards never stop them.</a:t>
            </a:r>
            <a:endParaRPr lang="en-US" sz="1050" dirty="0"/>
          </a:p>
          <a:p>
            <a:pPr indent="0" marL="0">
              <a:lnSpc>
                <a:spcPct val="112000"/>
              </a:lnSpc>
              <a:spcAft>
                <a:spcPts val="700"/>
              </a:spcAft>
              <a:buNone/>
            </a:pPr>
            <a:r>
              <a:rPr lang="en-US" sz="1050" dirty="0">
                <a:solidFill>
                  <a:schemeClr val="tx1"/>
                </a:solidFill>
              </a:rPr>
              <a:t>Above ground, electric trams, buses and shared robotaxis stop at heated shelters. Streets are warmed from below, as in Reykjavík, where water returning from home heating melts the snow [18].</a:t>
            </a:r>
            <a:endParaRPr lang="en-US" sz="1050" dirty="0"/>
          </a:p>
          <a:p>
            <a:pPr indent="0" marL="0">
              <a:lnSpc>
                <a:spcPct val="112000"/>
              </a:lnSpc>
              <a:spcAft>
                <a:spcPts val="700"/>
              </a:spcAft>
              <a:buNone/>
            </a:pPr>
            <a:r>
              <a:rPr lang="en-US" sz="1050" dirty="0">
                <a:solidFill>
                  <a:schemeClr val="tx1"/>
                </a:solidFill>
              </a:rPr>
              <a:t>The airport, with its heated runway and e-fuel planes, keeps the city supplied through deep winter.</a:t>
            </a:r>
            <a:endParaRPr lang="en-US" sz="105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730"/>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731"/>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732"/>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733"/>
          <p:cNvSpPr/>
          <p:nvPr/>
        </p:nvSpPr>
        <p:spPr>
          <a:xfrm>
            <a:off x="548640" y="7680960"/>
            <a:ext cx="1533906" cy="2194560"/>
          </a:xfrm>
          <a:prstGeom prst="roundRect">
            <a:avLst>
              <a:gd name="adj" fmla="val 4769"/>
            </a:avLst>
          </a:prstGeom>
          <a:solidFill>
            <a:schemeClr val="bg2"/>
          </a:solidFill>
          <a:ln w="12700">
            <a:solidFill>
              <a:schemeClr val="bg2"/>
            </a:solidFill>
            <a:prstDash val="solid"/>
          </a:ln>
        </p:spPr>
      </p:sp>
      <p:sp>
        <p:nvSpPr>
          <p:cNvPr id="15" name="text-734"/>
          <p:cNvSpPr txBox="1"/>
          <p:nvPr/>
        </p:nvSpPr>
        <p:spPr>
          <a:xfrm>
            <a:off x="658368"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Who rides</a:t>
            </a:r>
            <a:endParaRPr lang="en-US" sz="1100" dirty="0"/>
          </a:p>
        </p:txBody>
      </p:sp>
      <p:sp>
        <p:nvSpPr>
          <p:cNvPr id="16" name="text-735"/>
          <p:cNvSpPr txBox="1"/>
          <p:nvPr/>
        </p:nvSpPr>
        <p:spPr>
          <a:xfrm>
            <a:off x="658368"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Commuters, students, shoppers and stadium fans. Heated cars have space for wheelchairs, prams and skis.</a:t>
            </a:r>
            <a:endParaRPr lang="en-US" sz="1000" dirty="0"/>
          </a:p>
        </p:txBody>
      </p:sp>
      <p:sp>
        <p:nvSpPr>
          <p:cNvPr id="17" name="card-736"/>
          <p:cNvSpPr/>
          <p:nvPr/>
        </p:nvSpPr>
        <p:spPr>
          <a:xfrm>
            <a:off x="2192274" y="7680960"/>
            <a:ext cx="1533906" cy="2194560"/>
          </a:xfrm>
          <a:prstGeom prst="roundRect">
            <a:avLst>
              <a:gd name="adj" fmla="val 4769"/>
            </a:avLst>
          </a:prstGeom>
          <a:solidFill>
            <a:schemeClr val="bg2"/>
          </a:solidFill>
          <a:ln w="12700">
            <a:solidFill>
              <a:schemeClr val="bg2"/>
            </a:solidFill>
            <a:prstDash val="solid"/>
          </a:ln>
        </p:spPr>
      </p:sp>
      <p:sp>
        <p:nvSpPr>
          <p:cNvPr id="18" name="text-737"/>
          <p:cNvSpPr txBox="1"/>
          <p:nvPr/>
        </p:nvSpPr>
        <p:spPr>
          <a:xfrm>
            <a:off x="2302002"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How many</a:t>
            </a:r>
            <a:endParaRPr lang="en-US" sz="1100" dirty="0"/>
          </a:p>
        </p:txBody>
      </p:sp>
      <p:sp>
        <p:nvSpPr>
          <p:cNvPr id="19" name="text-738"/>
          <p:cNvSpPr txBox="1"/>
          <p:nvPr/>
        </p:nvSpPr>
        <p:spPr>
          <a:xfrm>
            <a:off x="2302002"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1000" dirty="0"/>
          </a:p>
        </p:txBody>
      </p:sp>
      <p:sp>
        <p:nvSpPr>
          <p:cNvPr id="20" name="card-739"/>
          <p:cNvSpPr/>
          <p:nvPr/>
        </p:nvSpPr>
        <p:spPr>
          <a:xfrm>
            <a:off x="3835908" y="7680960"/>
            <a:ext cx="1533906" cy="2194560"/>
          </a:xfrm>
          <a:prstGeom prst="roundRect">
            <a:avLst>
              <a:gd name="adj" fmla="val 4769"/>
            </a:avLst>
          </a:prstGeom>
          <a:solidFill>
            <a:schemeClr val="bg2"/>
          </a:solidFill>
          <a:ln w="12700">
            <a:solidFill>
              <a:schemeClr val="bg2"/>
            </a:solidFill>
            <a:prstDash val="solid"/>
          </a:ln>
        </p:spPr>
      </p:sp>
      <p:sp>
        <p:nvSpPr>
          <p:cNvPr id="21" name="text-740"/>
          <p:cNvSpPr txBox="1"/>
          <p:nvPr/>
        </p:nvSpPr>
        <p:spPr>
          <a:xfrm>
            <a:off x="3945636"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Safe in a storm</a:t>
            </a:r>
            <a:endParaRPr lang="en-US" sz="1100" dirty="0"/>
          </a:p>
        </p:txBody>
      </p:sp>
      <p:sp>
        <p:nvSpPr>
          <p:cNvPr id="22" name="text-741"/>
          <p:cNvSpPr txBox="1"/>
          <p:nvPr/>
        </p:nvSpPr>
        <p:spPr>
          <a:xfrm>
            <a:off x="3945636"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Deep, insulated tunnels kept at about +5 °C, emergency walkways with glow strips, and doors straight into the four shelters.</a:t>
            </a:r>
            <a:endParaRPr lang="en-US" sz="1000" dirty="0"/>
          </a:p>
        </p:txBody>
      </p:sp>
      <p:sp>
        <p:nvSpPr>
          <p:cNvPr id="23" name="card-742"/>
          <p:cNvSpPr/>
          <p:nvPr/>
        </p:nvSpPr>
        <p:spPr>
          <a:xfrm>
            <a:off x="5479542" y="7680960"/>
            <a:ext cx="1533906" cy="2194560"/>
          </a:xfrm>
          <a:prstGeom prst="roundRect">
            <a:avLst>
              <a:gd name="adj" fmla="val 4769"/>
            </a:avLst>
          </a:prstGeom>
          <a:solidFill>
            <a:schemeClr val="bg2"/>
          </a:solidFill>
          <a:ln w="12700">
            <a:solidFill>
              <a:schemeClr val="bg2"/>
            </a:solidFill>
            <a:prstDash val="solid"/>
          </a:ln>
        </p:spPr>
      </p:sp>
      <p:sp>
        <p:nvSpPr>
          <p:cNvPr id="24" name="text-743"/>
          <p:cNvSpPr txBox="1"/>
          <p:nvPr/>
        </p:nvSpPr>
        <p:spPr>
          <a:xfrm>
            <a:off x="5589270"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Powered by</a:t>
            </a:r>
            <a:endParaRPr lang="en-US" sz="1100" dirty="0"/>
          </a:p>
        </p:txBody>
      </p:sp>
      <p:sp>
        <p:nvSpPr>
          <p:cNvPr id="25" name="text-744"/>
          <p:cNvSpPr txBox="1"/>
          <p:nvPr/>
        </p:nvSpPr>
        <p:spPr>
          <a:xfrm>
            <a:off x="5589270"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All-electric and driverless. Braking returns about 30% of the energy, and insulation, not heaters, keeps the tunnels above freezing.</a:t>
            </a:r>
            <a:endParaRPr lang="en-US" sz="1000" dirty="0"/>
          </a:p>
        </p:txBody>
      </p:sp>
      <p:sp>
        <p:nvSpPr>
          <p:cNvPr id="2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
        <p:nvSpPr>
          <p:cNvPr id="2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45"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746"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747"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748"/>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74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750"/>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752"/>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53"/>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54"/>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55"/>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56"/>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57"/>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58"/>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
        <p:nvSpPr>
          <p:cNvPr id="1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SYSTEMS &amp; LIFE</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5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6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6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63"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64"/>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65"/>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66"/>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67"/>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68"/>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69"/>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70"/>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71"/>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72"/>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
        <p:nvSpPr>
          <p:cNvPr id="16"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7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7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7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7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7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7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8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8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8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8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8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8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8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8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8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8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9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9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9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9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9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9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9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9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9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9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80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80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80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80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80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80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80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80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
        <p:nvSpPr>
          <p:cNvPr id="3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80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80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81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81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81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81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81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81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81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81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81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82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82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82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82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82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82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82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82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82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82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83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83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83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83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83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83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83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83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83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83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84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84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84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843"/>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844"/>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845"/>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846"/>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847"/>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848"/>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849"/>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850"/>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85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85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5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
        <p:nvSpPr>
          <p:cNvPr id="49"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INVEST</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5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5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5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6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6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6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6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6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6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6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6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6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6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7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7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7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7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7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7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7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7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7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7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8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8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8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8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8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8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8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8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8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89"/>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90"/>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91"/>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92"/>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
        <p:nvSpPr>
          <p:cNvPr id="42"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GUIDE</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9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9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97"/>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98"/>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99"/>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900"/>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901"/>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902"/>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903"/>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904"/>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905"/>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906"/>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907"/>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908"/>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909"/>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910"/>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911"/>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912"/>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913"/>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914"/>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915"/>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916"/>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917"/>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918"/>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919"/>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920"/>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921"/>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922"/>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923"/>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924"/>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925"/>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926"/>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927"/>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928"/>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929"/>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930"/>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931"/>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932"/>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933"/>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934"/>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935"/>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936"/>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937"/>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938"/>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939"/>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940"/>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941"/>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942"/>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943"/>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944"/>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945"/>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946"/>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947"/>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948"/>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949"/>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950"/>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951"/>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952"/>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53"/>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54"/>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55"/>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56"/>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57"/>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58"/>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59"/>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60"/>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61"/>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62"/>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63"/>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64"/>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65"/>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66"/>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67"/>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68"/>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69"/>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70"/>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71"/>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72"/>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73"/>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74"/>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75"/>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76"/>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77"/>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78"/>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79"/>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80"/>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81"/>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82"/>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83"/>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84"/>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85"/>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86"/>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87"/>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88"/>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89"/>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90"/>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91"/>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92"/>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93"/>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94"/>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95"/>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96"/>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97"/>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98"/>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99"/>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1000"/>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1001"/>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1002"/>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
        <p:nvSpPr>
          <p:cNvPr id="112"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1003"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1004"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1005"/>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1006"/>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1007"/>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1009"/>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1010"/>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1011"/>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1012"/>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1013"/>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
        <p:nvSpPr>
          <p:cNvPr id="13"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GUIDE</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8"/>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9"/>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20"/>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21"/>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1022"/>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3"/>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4"/>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1025"/>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6"/>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7"/>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8"/>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9"/>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30"/>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1031"/>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32"/>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The cover photo is a render of that model made photo-realistic with an AI image tool (Nano Banana Pro), keeping its layout.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
        <p:nvSpPr>
          <p:cNvPr id="2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3"/>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5"/>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6"/>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7"/>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8"/>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9"/>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40"/>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41"/>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42"/>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3"/>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4"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5"/>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2026-10-30T08:06:58Z</dcterms:created>
  <dcterms:modified xsi:type="dcterms:W3CDTF">2026-10-30T08:06:58Z</dcterms:modified>
</cp:coreProperties>
</file>