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ebee5d8c-f687-b42f-d8ba-ed770f0890c3}">
          <p14:sldIdLst>
            <p14:sldId id="256"/>
            <p14:sldId id="257"/>
          </p14:sldIdLst>
        </p14:section>
        <p14:section name="Welcome" id="{b2ac5e20-8be2-1e7c-b8ee-48d6a4a9cd51}">
          <p14:sldIdLst>
            <p14:sldId id="258"/>
            <p14:sldId id="259"/>
            <p14:sldId id="260"/>
            <p14:sldId id="261"/>
            <p14:sldId id="262"/>
            <p14:sldId id="263"/>
            <p14:sldId id="264"/>
          </p14:sldIdLst>
        </p14:section>
        <p14:section name="The City" id="{665848c9-5b44-4f50-8ef6-e63515002eac}">
          <p14:sldIdLst>
            <p14:sldId id="265"/>
            <p14:sldId id="266"/>
            <p14:sldId id="267"/>
            <p14:sldId id="268"/>
          </p14:sldIdLst>
        </p14:section>
        <p14:section name="Signature Districts" id="{ce681bd7-a11e-724b-8682-c8a2a13d6a88}">
          <p14:sldIdLst>
            <p14:sldId id="269"/>
            <p14:sldId id="270"/>
            <p14:sldId id="271"/>
            <p14:sldId id="272"/>
            <p14:sldId id="273"/>
            <p14:sldId id="274"/>
            <p14:sldId id="275"/>
            <p14:sldId id="276"/>
            <p14:sldId id="277"/>
            <p14:sldId id="278"/>
          </p14:sldIdLst>
        </p14:section>
        <p14:section name="Living in Aurora Haven" id="{d61debee-d70f-6192-73ea-aa1fe9d3e4cb}">
          <p14:sldIdLst>
            <p14:sldId id="279"/>
            <p14:sldId id="280"/>
            <p14:sldId id="281"/>
            <p14:sldId id="282"/>
            <p14:sldId id="283"/>
            <p14:sldId id="284"/>
            <p14:sldId id="285"/>
            <p14:sldId id="286"/>
            <p14:sldId id="287"/>
            <p14:sldId id="288"/>
          </p14:sldIdLst>
        </p14:section>
        <p14:section name="Invest" id="{2a21ba45-b4ca-f4bc-0a15-d071de18c053}">
          <p14:sldIdLst>
            <p14:sldId id="289"/>
          </p14:sldIdLst>
        </p14:section>
        <p14:section name="Guide" id="{1435860c-bd6e-3517-58d8-7b10d7ef20c1}">
          <p14:sldIdLst>
            <p14:sldId id="290"/>
            <p14:sldId id="291"/>
            <p14:sldId id="292"/>
            <p14:sldId id="293"/>
            <p14:sldId id="294"/>
          </p14:sldIdLst>
        </p14:section>
        <p14:section name="Back Cover" id="{e4fc4e3b-8369-a7b1-de64-70fcbc22b183}">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2.png"/><Relationship Id="rId4" Type="http://schemas.openxmlformats.org/officeDocument/2006/relationships/slideLayout" Target="../slideLayouts/slideLayout7.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2.png"/><Relationship Id="rId4" Type="http://schemas.openxmlformats.org/officeDocument/2006/relationships/slideLayout" Target="../slideLayouts/slideLayout6.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2.png"/><Relationship Id="rId4" Type="http://schemas.openxmlformats.org/officeDocument/2006/relationships/slideLayout" Target="../slideLayouts/slideLayout6.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slideLayout" Target="../slideLayouts/slideLayout9.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4.png"/><Relationship Id="rId5" Type="http://schemas.openxmlformats.org/officeDocument/2006/relationships/slideLayout" Target="../slideLayouts/slideLayout6.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2.png"/><Relationship Id="rId4" Type="http://schemas.openxmlformats.org/officeDocument/2006/relationships/image" Target="../media/image-15-4.png"/><Relationship Id="rId5" Type="http://schemas.openxmlformats.org/officeDocument/2006/relationships/slideLayout" Target="../slideLayouts/slideLayout9.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2.png"/><Relationship Id="rId4" Type="http://schemas.openxmlformats.org/officeDocument/2006/relationships/image" Target="../media/image-17-2.png"/><Relationship Id="rId5" Type="http://schemas.openxmlformats.org/officeDocument/2006/relationships/image" Target="../media/image-17-5.png"/><Relationship Id="rId6" Type="http://schemas.openxmlformats.org/officeDocument/2006/relationships/slideLayout" Target="../slideLayouts/slideLayout9.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2.png"/><Relationship Id="rId4" Type="http://schemas.openxmlformats.org/officeDocument/2006/relationships/image" Target="../media/image-19-4.png"/><Relationship Id="rId5" Type="http://schemas.openxmlformats.org/officeDocument/2006/relationships/slideLayout" Target="../slideLayouts/slideLayout9.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6.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7" Type="http://schemas.openxmlformats.org/officeDocument/2006/relationships/hyperlink" Target="https://github.com/HiroKasumi-bit/chatbox-bi-n-o/releases/latest/download/Aurora_Haven.json" TargetMode="External"/><Relationship Id="rId9" Type="http://schemas.openxmlformats.org/officeDocument/2006/relationships/hyperlink" Target="https://ecopolis3d.netlify.app/" TargetMode="External"/><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8" Type="http://schemas.openxmlformats.org/officeDocument/2006/relationships/image" Target="../media/image-23-7.png"/><Relationship Id="rId10" Type="http://schemas.openxmlformats.org/officeDocument/2006/relationships/slideLayout" Target="../slideLayouts/slideLayout7.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2.png"/><Relationship Id="rId4" Type="http://schemas.openxmlformats.org/officeDocument/2006/relationships/image" Target="../media/image-31-4.png"/><Relationship Id="rId5" Type="http://schemas.openxmlformats.org/officeDocument/2006/relationships/image" Target="../media/image-31-4.png"/><Relationship Id="rId6" Type="http://schemas.openxmlformats.org/officeDocument/2006/relationships/slideLayout" Target="../slideLayouts/slideLayout9.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image" Target="../media/image-34-2.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image" Target="../media/image-37-2.png"/><Relationship Id="rId4" Type="http://schemas.openxmlformats.org/officeDocument/2006/relationships/slideLayout" Target="../slideLayouts/slideLayout9.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aidsfjas4239PolarCut/Aurora_Haven_Magazine/"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icture-1" descr="cover overview">    </p:cNvPr>
          <p:cNvPicPr>
            <a:picLocks noChangeAspect="1"/>
          </p:cNvPicPr>
          <p:nvPr/>
        </p:nvPicPr>
        <p:blipFill>
          <a:blip r:embed="rId1"/>
          <a:srcRect l="0" r="0" t="0" b="0"/>
          <a:stretch/>
        </p:blipFill>
        <p:spPr>
          <a:xfrm>
            <a:off x="0" y="0"/>
            <a:ext cx="7562088" cy="10689336"/>
          </a:xfrm>
          <a:prstGeom prst="rect">
            <a:avLst/>
          </a:prstGeom>
        </p:spPr>
      </p:pic>
      <p:pic>
        <p:nvPicPr>
          <p:cNvPr id="3" name="shade-top-2" descr="shade">    </p:cNvPr>
          <p:cNvPicPr>
            <a:picLocks noChangeAspect="1"/>
          </p:cNvPicPr>
          <p:nvPr/>
        </p:nvPicPr>
        <p:blipFill>
          <a:blip r:embed="rId2"/>
          <a:stretch>
            <a:fillRect/>
          </a:stretch>
        </p:blipFill>
        <p:spPr>
          <a:xfrm>
            <a:off x="0" y="0"/>
            <a:ext cx="7562088" cy="2377440"/>
          </a:xfrm>
          <a:prstGeom prst="rect">
            <a:avLst/>
          </a:prstGeom>
        </p:spPr>
      </p:pic>
      <p:pic>
        <p:nvPicPr>
          <p:cNvPr id="4" name="shade-fade-3" descr="shade">    </p:cNvPr>
          <p:cNvPicPr>
            <a:picLocks noChangeAspect="1"/>
          </p:cNvPicPr>
          <p:nvPr/>
        </p:nvPicPr>
        <p:blipFill>
          <a:blip r:embed="rId3"/>
          <a:stretch>
            <a:fillRect/>
          </a:stretch>
        </p:blipFill>
        <p:spPr>
          <a:xfrm>
            <a:off x="0" y="7223760"/>
            <a:ext cx="7562088" cy="3465576"/>
          </a:xfrm>
          <a:prstGeom prst="rect">
            <a:avLst/>
          </a:prstGeom>
        </p:spPr>
      </p:pic>
      <p:sp>
        <p:nvSpPr>
          <p:cNvPr id="5" name="text-4"/>
          <p:cNvSpPr txBox="1"/>
          <p:nvPr/>
        </p:nvSpPr>
        <p:spPr>
          <a:xfrm>
            <a:off x="548640" y="329184"/>
            <a:ext cx="4114800" cy="201168"/>
          </a:xfrm>
          <a:prstGeom prst="rect">
            <a:avLst/>
          </a:prstGeom>
          <a:noFill/>
          <a:ln/>
        </p:spPr>
        <p:txBody>
          <a:bodyPr wrap="square" lIns="0" tIns="0" rIns="0" bIns="0" rtlCol="0" anchor="t"/>
          <a:lstStyle/>
          <a:p>
            <a:pPr indent="0" marL="0">
              <a:buNone/>
            </a:pPr>
            <a:r>
              <a:rPr lang="en-US" sz="850" b="1" spc="300" kern="0" dirty="0">
                <a:solidFill>
                  <a:schemeClr val="accent1"/>
                </a:solidFill>
              </a:rPr>
              <a:t>THE IDEAL CITY OF THE FUTURE</a:t>
            </a:r>
            <a:endParaRPr lang="en-US" sz="850" dirty="0"/>
          </a:p>
        </p:txBody>
      </p:sp>
      <p:sp>
        <p:nvSpPr>
          <p:cNvPr id="6" name="text-5"/>
          <p:cNvSpPr txBox="1"/>
          <p:nvPr/>
        </p:nvSpPr>
        <p:spPr>
          <a:xfrm>
            <a:off x="4270248" y="329184"/>
            <a:ext cx="2743200" cy="201168"/>
          </a:xfrm>
          <a:prstGeom prst="rect">
            <a:avLst/>
          </a:prstGeom>
          <a:noFill/>
          <a:ln/>
        </p:spPr>
        <p:txBody>
          <a:bodyPr wrap="square" lIns="0" tIns="0" rIns="0" bIns="0" rtlCol="0" anchor="t"/>
          <a:lstStyle/>
          <a:p>
            <a:pPr algn="r" indent="0" marL="0">
              <a:buNone/>
            </a:pPr>
            <a:r>
              <a:rPr lang="en-US" sz="850" b="1" spc="300" kern="0" dirty="0">
                <a:solidFill>
                  <a:schemeClr val="bg1"/>
                </a:solidFill>
              </a:rPr>
              <a:t>ISSUE 01  ·  2026</a:t>
            </a:r>
            <a:endParaRPr lang="en-US" sz="850" dirty="0"/>
          </a:p>
        </p:txBody>
      </p:sp>
      <p:sp>
        <p:nvSpPr>
          <p:cNvPr id="7" name="text-6"/>
          <p:cNvSpPr txBox="1"/>
          <p:nvPr/>
        </p:nvSpPr>
        <p:spPr>
          <a:xfrm>
            <a:off x="137160" y="530352"/>
            <a:ext cx="7287768" cy="10972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6800" b="1" dirty="0">
                <a:solidFill>
                  <a:schemeClr val="bg1"/>
                </a:solidFill>
                <a:latin typeface="+mj-lt" pitchFamily="34" charset="0"/>
                <a:ea typeface="+mj-lt" pitchFamily="34" charset="-122"/>
                <a:cs typeface="+mj-lt" pitchFamily="34" charset="-120"/>
              </a:rPr>
              <a:t>AURORA HAVEN</a:t>
            </a:r>
            <a:endParaRPr lang="en-US" sz="6800" dirty="0"/>
          </a:p>
        </p:txBody>
      </p:sp>
      <p:sp>
        <p:nvSpPr>
          <p:cNvPr id="8" name="text-7"/>
          <p:cNvSpPr txBox="1"/>
          <p:nvPr/>
        </p:nvSpPr>
        <p:spPr>
          <a:xfrm>
            <a:off x="548640" y="1627632"/>
            <a:ext cx="6464808" cy="2743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1100" b="1" spc="600" kern="0" dirty="0">
                <a:solidFill>
                  <a:schemeClr val="bg1"/>
                </a:solidFill>
              </a:rPr>
              <a:t>A POLAR CITY THAT THRIVES</a:t>
            </a:r>
            <a:endParaRPr lang="en-US" sz="1100" dirty="0"/>
          </a:p>
        </p:txBody>
      </p:sp>
      <p:sp>
        <p:nvSpPr>
          <p:cNvPr id="9" name="text-8"/>
          <p:cNvSpPr txBox="1"/>
          <p:nvPr/>
        </p:nvSpPr>
        <p:spPr>
          <a:xfrm>
            <a:off x="548640" y="8339328"/>
            <a:ext cx="6464808" cy="91440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00000"/>
              </a:lnSpc>
              <a:buNone/>
            </a:pPr>
            <a:r>
              <a:rPr lang="en-US" sz="2500" b="1" dirty="0">
                <a:solidFill>
                  <a:schemeClr val="bg1"/>
                </a:solidFill>
                <a:latin typeface="+mj-lt" pitchFamily="34" charset="0"/>
                <a:ea typeface="+mj-lt" pitchFamily="34" charset="-122"/>
                <a:cs typeface="+mj-lt" pitchFamily="34" charset="-120"/>
              </a:rPr>
              <a:t>Its own sun. Its own food.</a:t>
            </a:r>
            <a:endParaRPr lang="en-US" sz="2500" dirty="0"/>
          </a:p>
          <a:p>
            <a:pPr indent="0" marL="0">
              <a:lnSpc>
                <a:spcPct val="100000"/>
              </a:lnSpc>
              <a:buNone/>
            </a:pPr>
            <a:r>
              <a:rPr lang="en-US" sz="2500" b="1" dirty="0">
                <a:solidFill>
                  <a:schemeClr val="accent1"/>
                </a:solidFill>
                <a:latin typeface="+mj-lt" pitchFamily="34" charset="0"/>
                <a:ea typeface="+mj-lt" pitchFamily="34" charset="-122"/>
                <a:cs typeface="+mj-lt" pitchFamily="34" charset="-120"/>
              </a:rPr>
              <a:t>A mountain you can walk inside.</a:t>
            </a:r>
            <a:endParaRPr lang="en-US" sz="2500" dirty="0"/>
          </a:p>
        </p:txBody>
      </p:sp>
      <p:sp>
        <p:nvSpPr>
          <p:cNvPr id="10" name="text-9"/>
          <p:cNvSpPr txBox="1"/>
          <p:nvPr/>
        </p:nvSpPr>
        <p:spPr>
          <a:xfrm>
            <a:off x="548640" y="9326880"/>
            <a:ext cx="6464808" cy="274320"/>
          </a:xfrm>
          <a:prstGeom prst="rect">
            <a:avLst/>
          </a:prstGeom>
          <a:noFill/>
          <a:ln/>
        </p:spPr>
        <p:txBody>
          <a:bodyPr wrap="square" lIns="0" tIns="0" rIns="0" bIns="0" rtlCol="0" anchor="t"/>
          <a:lstStyle/>
          <a:p>
            <a:pPr indent="0" marL="0">
              <a:buNone/>
            </a:pPr>
            <a:r>
              <a:rPr lang="en-US" sz="850" b="1" spc="200" kern="0" dirty="0">
                <a:solidFill>
                  <a:schemeClr val="accent1"/>
                </a:solidFill>
              </a:rPr>
              <a:t>INSIDE   </a:t>
            </a:r>
            <a:pPr indent="0" marL="0">
              <a:buNone/>
            </a:pPr>
            <a:r>
              <a:rPr lang="en-US" sz="850" dirty="0">
                <a:solidFill>
                  <a:schemeClr val="bg1"/>
                </a:solidFill>
              </a:rPr>
              <a:t>−45 °C and no sun: the polar challenge  p. 6   ·   Explore our 3D city  p. 21   ·   Invest in Aurora Haven  p. 32</a:t>
            </a:r>
            <a:endParaRPr lang="en-US" sz="850" dirty="0"/>
          </a:p>
        </p:txBody>
      </p:sp>
      <p:sp>
        <p:nvSpPr>
          <p:cNvPr id="11" name="cover-footer-rule"/>
          <p:cNvSpPr/>
          <p:nvPr/>
        </p:nvSpPr>
        <p:spPr>
          <a:xfrm>
            <a:off x="548640" y="9710928"/>
            <a:ext cx="6464808" cy="0"/>
          </a:xfrm>
          <a:prstGeom prst="line">
            <a:avLst/>
          </a:prstGeom>
          <a:noFill/>
          <a:ln w="6350">
            <a:solidFill>
              <a:schemeClr val="bg1">
                <a:alpha val="50000"/>
              </a:schemeClr>
            </a:solidFill>
            <a:prstDash val="solid"/>
          </a:ln>
        </p:spPr>
      </p:sp>
      <p:pic>
        <p:nvPicPr>
          <p:cNvPr id="12" name="cover-school-logo" descr="Lê Quý Đôn High School logo">    </p:cNvPr>
          <p:cNvPicPr>
            <a:picLocks noChangeAspect="1"/>
          </p:cNvPicPr>
          <p:nvPr/>
        </p:nvPicPr>
        <p:blipFill>
          <a:blip r:embed="rId4"/>
          <a:stretch>
            <a:fillRect/>
          </a:stretch>
        </p:blipFill>
        <p:spPr>
          <a:xfrm>
            <a:off x="548640" y="9838944"/>
            <a:ext cx="502920" cy="502920"/>
          </a:xfrm>
          <a:prstGeom prst="rect">
            <a:avLst/>
          </a:prstGeom>
        </p:spPr>
      </p:pic>
      <p:sp>
        <p:nvSpPr>
          <p:cNvPr id="13" name="text-10"/>
          <p:cNvSpPr txBox="1"/>
          <p:nvPr/>
        </p:nvSpPr>
        <p:spPr>
          <a:xfrm>
            <a:off x="1188720" y="9966960"/>
            <a:ext cx="4023360" cy="237744"/>
          </a:xfrm>
          <a:prstGeom prst="rect">
            <a:avLst/>
          </a:prstGeom>
          <a:noFill/>
          <a:ln/>
        </p:spPr>
        <p:txBody>
          <a:bodyPr wrap="square" lIns="0" tIns="0" rIns="0" bIns="0" rtlCol="0" anchor="t"/>
          <a:lstStyle/>
          <a:p>
            <a:pPr indent="0" marL="0">
              <a:buNone/>
            </a:pPr>
            <a:r>
              <a:rPr lang="en-US" sz="800" b="1" dirty="0">
                <a:solidFill>
                  <a:schemeClr val="bg1"/>
                </a:solidFill>
                <a:latin typeface="Arial" pitchFamily="34" charset="0"/>
                <a:ea typeface="Arial" pitchFamily="34" charset="-122"/>
                <a:cs typeface="Arial" pitchFamily="34" charset="-120"/>
              </a:rPr>
              <a:t>POLAR CITY  ·  CLASS 11A4  ·  LÊ QUÝ ĐÔN HIGH SCHOOL</a:t>
            </a:r>
            <a:endParaRPr lang="en-US" sz="800" dirty="0"/>
          </a:p>
        </p:txBody>
      </p:sp>
      <p:sp>
        <p:nvSpPr>
          <p:cNvPr id="14" name="text-11"/>
          <p:cNvSpPr txBox="1"/>
          <p:nvPr/>
        </p:nvSpPr>
        <p:spPr>
          <a:xfrm>
            <a:off x="5184648" y="9966960"/>
            <a:ext cx="1828800" cy="237744"/>
          </a:xfrm>
          <a:prstGeom prst="rect">
            <a:avLst/>
          </a:prstGeom>
          <a:noFill/>
          <a:ln/>
        </p:spPr>
        <p:txBody>
          <a:bodyPr wrap="square" lIns="0" tIns="0" rIns="0" bIns="0" rtlCol="0" anchor="t"/>
          <a:lstStyle/>
          <a:p>
            <a:pPr algn="r" indent="0" marL="0">
              <a:buNone/>
            </a:pPr>
            <a:r>
              <a:rPr lang="en-US" sz="800" b="1" spc="200" kern="0" dirty="0">
                <a:solidFill>
                  <a:schemeClr val="bg2"/>
                </a:solidFill>
              </a:rPr>
              <a:t>A CONCEPT MAGAZINE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12" descr="street dusk">    </p:cNvPr>
          <p:cNvPicPr>
            <a:picLocks noChangeAspect="1"/>
          </p:cNvPicPr>
          <p:nvPr/>
        </p:nvPicPr>
        <p:blipFill>
          <a:blip r:embed="rId1"/>
          <a:srcRect l="0" r="0" t="10085" b="6723"/>
          <a:stretch/>
        </p:blipFill>
        <p:spPr>
          <a:xfrm>
            <a:off x="0" y="0"/>
            <a:ext cx="7562088" cy="3931920"/>
          </a:xfrm>
          <a:prstGeom prst="rect">
            <a:avLst/>
          </a:prstGeom>
        </p:spPr>
      </p:pic>
      <p:pic>
        <p:nvPicPr>
          <p:cNvPr id="3" name="shade-bottom-13" descr="shade">    </p:cNvPr>
          <p:cNvPicPr>
            <a:picLocks noChangeAspect="1"/>
          </p:cNvPicPr>
          <p:nvPr/>
        </p:nvPicPr>
        <p:blipFill>
          <a:blip r:embed="rId2"/>
          <a:stretch>
            <a:fillRect/>
          </a:stretch>
        </p:blipFill>
        <p:spPr>
          <a:xfrm>
            <a:off x="0" y="1463040"/>
            <a:ext cx="7562088" cy="2468880"/>
          </a:xfrm>
          <a:prstGeom prst="rect">
            <a:avLst/>
          </a:prstGeom>
        </p:spPr>
      </p:pic>
      <p:pic>
        <p:nvPicPr>
          <p:cNvPr id="4" name="shade-bottom-14" descr="shade">    </p:cNvPr>
          <p:cNvPicPr>
            <a:picLocks noChangeAspect="1"/>
          </p:cNvPicPr>
          <p:nvPr/>
        </p:nvPicPr>
        <p:blipFill>
          <a:blip r:embed="rId3"/>
          <a:stretch>
            <a:fillRect/>
          </a:stretch>
        </p:blipFill>
        <p:spPr>
          <a:xfrm>
            <a:off x="0" y="1463040"/>
            <a:ext cx="7562088" cy="2468880"/>
          </a:xfrm>
          <a:prstGeom prst="rect">
            <a:avLst/>
          </a:prstGeom>
        </p:spPr>
      </p:pic>
      <p:sp>
        <p:nvSpPr>
          <p:cNvPr id="5" name="kicker-dot-15"/>
          <p:cNvSpPr/>
          <p:nvPr/>
        </p:nvSpPr>
        <p:spPr>
          <a:xfrm>
            <a:off x="548640" y="2784348"/>
            <a:ext cx="100584" cy="100584"/>
          </a:xfrm>
          <a:prstGeom prst="ellipse">
            <a:avLst/>
          </a:prstGeom>
          <a:solidFill>
            <a:schemeClr val="accent1"/>
          </a:solidFill>
          <a:ln w="12700">
            <a:solidFill>
              <a:schemeClr val="accent1"/>
            </a:solidFill>
            <a:prstDash val="solid"/>
          </a:ln>
        </p:spPr>
      </p:sp>
      <p:sp>
        <p:nvSpPr>
          <p:cNvPr id="6" name="text-16"/>
          <p:cNvSpPr txBox="1"/>
          <p:nvPr/>
        </p:nvSpPr>
        <p:spPr>
          <a:xfrm>
            <a:off x="731520" y="274320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7" name="title-17"/>
          <p:cNvSpPr txBox="1"/>
          <p:nvPr/>
        </p:nvSpPr>
        <p:spPr>
          <a:xfrm>
            <a:off x="548640" y="299923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8" name="kicker-dot-19"/>
          <p:cNvSpPr/>
          <p:nvPr/>
        </p:nvSpPr>
        <p:spPr>
          <a:xfrm>
            <a:off x="548640" y="4338828"/>
            <a:ext cx="100584" cy="100584"/>
          </a:xfrm>
          <a:prstGeom prst="ellipse">
            <a:avLst/>
          </a:prstGeom>
          <a:solidFill>
            <a:schemeClr val="accent6"/>
          </a:solidFill>
          <a:ln w="12700">
            <a:solidFill>
              <a:schemeClr val="accent6"/>
            </a:solidFill>
            <a:prstDash val="solid"/>
          </a:ln>
        </p:spPr>
      </p:sp>
      <p:sp>
        <p:nvSpPr>
          <p:cNvPr id="9" name="text-20"/>
          <p:cNvSpPr txBox="1"/>
          <p:nvPr/>
        </p:nvSpPr>
        <p:spPr>
          <a:xfrm>
            <a:off x="731520" y="429768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WELCOME</a:t>
            </a:r>
            <a:endParaRPr lang="en-US" sz="900" dirty="0"/>
          </a:p>
        </p:txBody>
      </p:sp>
      <p:sp>
        <p:nvSpPr>
          <p:cNvPr id="10" name="text-21"/>
          <p:cNvSpPr txBox="1"/>
          <p:nvPr/>
        </p:nvSpPr>
        <p:spPr>
          <a:xfrm>
            <a:off x="548640" y="4590288"/>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a:t>
            </a:r>
            <a:endParaRPr lang="en-US" sz="1500" dirty="0"/>
          </a:p>
        </p:txBody>
      </p:sp>
      <p:sp>
        <p:nvSpPr>
          <p:cNvPr id="11" name="text-22"/>
          <p:cNvSpPr txBox="1"/>
          <p:nvPr/>
        </p:nvSpPr>
        <p:spPr>
          <a:xfrm>
            <a:off x="1051560" y="4626864"/>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2" name="text-23"/>
          <p:cNvSpPr txBox="1"/>
          <p:nvPr/>
        </p:nvSpPr>
        <p:spPr>
          <a:xfrm>
            <a:off x="548640" y="4882896"/>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4</a:t>
            </a:r>
            <a:endParaRPr lang="en-US" sz="1500" dirty="0"/>
          </a:p>
        </p:txBody>
      </p:sp>
      <p:sp>
        <p:nvSpPr>
          <p:cNvPr id="13" name="text-24"/>
          <p:cNvSpPr txBox="1"/>
          <p:nvPr/>
        </p:nvSpPr>
        <p:spPr>
          <a:xfrm>
            <a:off x="1051560" y="49194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4" name="text-25"/>
          <p:cNvSpPr txBox="1"/>
          <p:nvPr/>
        </p:nvSpPr>
        <p:spPr>
          <a:xfrm>
            <a:off x="548640" y="5175504"/>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6</a:t>
            </a:r>
            <a:endParaRPr lang="en-US" sz="1500" dirty="0"/>
          </a:p>
        </p:txBody>
      </p:sp>
      <p:sp>
        <p:nvSpPr>
          <p:cNvPr id="15" name="text-26"/>
          <p:cNvSpPr txBox="1"/>
          <p:nvPr/>
        </p:nvSpPr>
        <p:spPr>
          <a:xfrm>
            <a:off x="1051560" y="52120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7"/>
          <p:cNvSpPr txBox="1"/>
          <p:nvPr/>
        </p:nvSpPr>
        <p:spPr>
          <a:xfrm>
            <a:off x="548640" y="5468112"/>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7</a:t>
            </a:r>
            <a:endParaRPr lang="en-US" sz="1500" dirty="0"/>
          </a:p>
        </p:txBody>
      </p:sp>
      <p:sp>
        <p:nvSpPr>
          <p:cNvPr id="17" name="text-28"/>
          <p:cNvSpPr txBox="1"/>
          <p:nvPr/>
        </p:nvSpPr>
        <p:spPr>
          <a:xfrm>
            <a:off x="1051560" y="550468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8" name="kicker-dot-29"/>
          <p:cNvSpPr/>
          <p:nvPr/>
        </p:nvSpPr>
        <p:spPr>
          <a:xfrm>
            <a:off x="548640" y="5984748"/>
            <a:ext cx="100584" cy="100584"/>
          </a:xfrm>
          <a:prstGeom prst="ellipse">
            <a:avLst/>
          </a:prstGeom>
          <a:solidFill>
            <a:schemeClr val="accent6"/>
          </a:solidFill>
          <a:ln w="12700">
            <a:solidFill>
              <a:schemeClr val="accent6"/>
            </a:solidFill>
            <a:prstDash val="solid"/>
          </a:ln>
        </p:spPr>
      </p:sp>
      <p:sp>
        <p:nvSpPr>
          <p:cNvPr id="19" name="text-30"/>
          <p:cNvSpPr txBox="1"/>
          <p:nvPr/>
        </p:nvSpPr>
        <p:spPr>
          <a:xfrm>
            <a:off x="731520" y="594360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CITY</a:t>
            </a:r>
            <a:endParaRPr lang="en-US" sz="900" dirty="0"/>
          </a:p>
        </p:txBody>
      </p:sp>
      <p:sp>
        <p:nvSpPr>
          <p:cNvPr id="20" name="text-31"/>
          <p:cNvSpPr txBox="1"/>
          <p:nvPr/>
        </p:nvSpPr>
        <p:spPr>
          <a:xfrm>
            <a:off x="548640" y="6236208"/>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8</a:t>
            </a:r>
            <a:endParaRPr lang="en-US" sz="1500" dirty="0"/>
          </a:p>
        </p:txBody>
      </p:sp>
      <p:sp>
        <p:nvSpPr>
          <p:cNvPr id="21" name="text-32"/>
          <p:cNvSpPr txBox="1"/>
          <p:nvPr/>
        </p:nvSpPr>
        <p:spPr>
          <a:xfrm>
            <a:off x="1051560" y="627278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3"/>
          <p:cNvSpPr txBox="1"/>
          <p:nvPr/>
        </p:nvSpPr>
        <p:spPr>
          <a:xfrm>
            <a:off x="548640" y="6528816"/>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10</a:t>
            </a:r>
            <a:endParaRPr lang="en-US" sz="1500" dirty="0"/>
          </a:p>
        </p:txBody>
      </p:sp>
      <p:sp>
        <p:nvSpPr>
          <p:cNvPr id="23" name="text-34"/>
          <p:cNvSpPr txBox="1"/>
          <p:nvPr/>
        </p:nvSpPr>
        <p:spPr>
          <a:xfrm>
            <a:off x="1051560" y="656539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4" name="kicker-dot-35"/>
          <p:cNvSpPr/>
          <p:nvPr/>
        </p:nvSpPr>
        <p:spPr>
          <a:xfrm>
            <a:off x="548640" y="7045452"/>
            <a:ext cx="100584" cy="100584"/>
          </a:xfrm>
          <a:prstGeom prst="ellipse">
            <a:avLst/>
          </a:prstGeom>
          <a:solidFill>
            <a:schemeClr val="accent5"/>
          </a:solidFill>
          <a:ln w="12700">
            <a:solidFill>
              <a:schemeClr val="accent5"/>
            </a:solidFill>
            <a:prstDash val="solid"/>
          </a:ln>
        </p:spPr>
      </p:sp>
      <p:sp>
        <p:nvSpPr>
          <p:cNvPr id="25" name="text-36"/>
          <p:cNvSpPr txBox="1"/>
          <p:nvPr/>
        </p:nvSpPr>
        <p:spPr>
          <a:xfrm>
            <a:off x="731520" y="7004304"/>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THE BREAKTHROUGHS</a:t>
            </a:r>
            <a:endParaRPr lang="en-US" sz="900" dirty="0"/>
          </a:p>
        </p:txBody>
      </p:sp>
      <p:sp>
        <p:nvSpPr>
          <p:cNvPr id="26" name="text-37"/>
          <p:cNvSpPr txBox="1"/>
          <p:nvPr/>
        </p:nvSpPr>
        <p:spPr>
          <a:xfrm>
            <a:off x="548640" y="7296912"/>
            <a:ext cx="457200" cy="292608"/>
          </a:xfrm>
          <a:prstGeom prst="rect">
            <a:avLst/>
          </a:prstGeom>
          <a:noFill/>
          <a:ln/>
        </p:spPr>
        <p:txBody>
          <a:bodyPr wrap="square" lIns="0" tIns="0" rIns="0" bIns="0" rtlCol="0" anchor="t"/>
          <a:lstStyle/>
          <a:p>
            <a:pPr indent="0" marL="0">
              <a:buNone/>
            </a:pPr>
            <a:r>
              <a:rPr lang="en-US" sz="1500" b="1" dirty="0">
                <a:solidFill>
                  <a:schemeClr val="accent3"/>
                </a:solidFill>
                <a:latin typeface="+mj-lt" pitchFamily="34" charset="0"/>
                <a:ea typeface="+mj-lt" pitchFamily="34" charset="-122"/>
                <a:cs typeface="+mj-lt" pitchFamily="34" charset="-120"/>
              </a:rPr>
              <a:t>12</a:t>
            </a:r>
            <a:endParaRPr lang="en-US" sz="1500" dirty="0"/>
          </a:p>
        </p:txBody>
      </p:sp>
      <p:sp>
        <p:nvSpPr>
          <p:cNvPr id="27" name="text-38"/>
          <p:cNvSpPr txBox="1"/>
          <p:nvPr/>
        </p:nvSpPr>
        <p:spPr>
          <a:xfrm>
            <a:off x="1051560" y="733348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9"/>
          <p:cNvSpPr txBox="1"/>
          <p:nvPr/>
        </p:nvSpPr>
        <p:spPr>
          <a:xfrm>
            <a:off x="1051560" y="7525512"/>
            <a:ext cx="2592324" cy="182880"/>
          </a:xfrm>
          <a:prstGeom prst="rect">
            <a:avLst/>
          </a:prstGeom>
          <a:noFill/>
          <a:ln/>
        </p:spPr>
        <p:txBody>
          <a:bodyPr wrap="square" lIns="0" tIns="0" rIns="0" bIns="0" rtlCol="0" anchor="t"/>
          <a:lstStyle/>
          <a:p>
            <a:pPr indent="0" marL="0">
              <a:buNone/>
            </a:pPr>
            <a:r>
              <a:rPr lang="en-US" sz="850" dirty="0">
                <a:solidFill>
                  <a:schemeClr val="accent3"/>
                </a:solidFill>
              </a:rPr>
              <a:t>Breakthrough 1 · Fusion Power Station</a:t>
            </a:r>
            <a:endParaRPr lang="en-US" sz="850" dirty="0"/>
          </a:p>
        </p:txBody>
      </p:sp>
      <p:sp>
        <p:nvSpPr>
          <p:cNvPr id="29" name="text-40"/>
          <p:cNvSpPr txBox="1"/>
          <p:nvPr/>
        </p:nvSpPr>
        <p:spPr>
          <a:xfrm>
            <a:off x="548640" y="7754112"/>
            <a:ext cx="457200" cy="292608"/>
          </a:xfrm>
          <a:prstGeom prst="rect">
            <a:avLst/>
          </a:prstGeom>
          <a:noFill/>
          <a:ln/>
        </p:spPr>
        <p:txBody>
          <a:bodyPr wrap="square" lIns="0" tIns="0" rIns="0" bIns="0" rtlCol="0" anchor="t"/>
          <a:lstStyle/>
          <a:p>
            <a:pPr indent="0" marL="0">
              <a:buNone/>
            </a:pPr>
            <a:r>
              <a:rPr lang="en-US" sz="1500" b="1" dirty="0">
                <a:solidFill>
                  <a:schemeClr val="accent4"/>
                </a:solidFill>
                <a:latin typeface="+mj-lt" pitchFamily="34" charset="0"/>
                <a:ea typeface="+mj-lt" pitchFamily="34" charset="-122"/>
                <a:cs typeface="+mj-lt" pitchFamily="34" charset="-120"/>
              </a:rPr>
              <a:t>15</a:t>
            </a:r>
            <a:endParaRPr lang="en-US" sz="1500" dirty="0"/>
          </a:p>
        </p:txBody>
      </p:sp>
      <p:sp>
        <p:nvSpPr>
          <p:cNvPr id="30" name="text-41"/>
          <p:cNvSpPr txBox="1"/>
          <p:nvPr/>
        </p:nvSpPr>
        <p:spPr>
          <a:xfrm>
            <a:off x="1051560" y="779068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42"/>
          <p:cNvSpPr txBox="1"/>
          <p:nvPr/>
        </p:nvSpPr>
        <p:spPr>
          <a:xfrm>
            <a:off x="1051560" y="7982712"/>
            <a:ext cx="2592324" cy="182880"/>
          </a:xfrm>
          <a:prstGeom prst="rect">
            <a:avLst/>
          </a:prstGeom>
          <a:noFill/>
          <a:ln/>
        </p:spPr>
        <p:txBody>
          <a:bodyPr wrap="square" lIns="0" tIns="0" rIns="0" bIns="0" rtlCol="0" anchor="t"/>
          <a:lstStyle/>
          <a:p>
            <a:pPr indent="0" marL="0">
              <a:buNone/>
            </a:pPr>
            <a:r>
              <a:rPr lang="en-US" sz="850" dirty="0">
                <a:solidFill>
                  <a:schemeClr val="accent4"/>
                </a:solidFill>
              </a:rPr>
              <a:t>Breakthrough 2 · Snow-to-Food &amp; Water Plant</a:t>
            </a:r>
            <a:endParaRPr lang="en-US" sz="850" dirty="0"/>
          </a:p>
        </p:txBody>
      </p:sp>
      <p:sp>
        <p:nvSpPr>
          <p:cNvPr id="32" name="text-43"/>
          <p:cNvSpPr txBox="1"/>
          <p:nvPr/>
        </p:nvSpPr>
        <p:spPr>
          <a:xfrm>
            <a:off x="548640" y="8211312"/>
            <a:ext cx="457200" cy="292608"/>
          </a:xfrm>
          <a:prstGeom prst="rect">
            <a:avLst/>
          </a:prstGeom>
          <a:noFill/>
          <a:ln/>
        </p:spPr>
        <p:txBody>
          <a:bodyPr wrap="square" lIns="0" tIns="0" rIns="0" bIns="0" rtlCol="0" anchor="t"/>
          <a:lstStyle/>
          <a:p>
            <a:pPr indent="0" marL="0">
              <a:buNone/>
            </a:pPr>
            <a:r>
              <a:rPr lang="en-US" sz="1500" b="1" dirty="0">
                <a:solidFill>
                  <a:schemeClr val="accent5"/>
                </a:solidFill>
                <a:latin typeface="+mj-lt" pitchFamily="34" charset="0"/>
                <a:ea typeface="+mj-lt" pitchFamily="34" charset="-122"/>
                <a:cs typeface="+mj-lt" pitchFamily="34" charset="-120"/>
              </a:rPr>
              <a:t>17</a:t>
            </a:r>
            <a:endParaRPr lang="en-US" sz="1500" dirty="0"/>
          </a:p>
        </p:txBody>
      </p:sp>
      <p:sp>
        <p:nvSpPr>
          <p:cNvPr id="33" name="text-44"/>
          <p:cNvSpPr txBox="1"/>
          <p:nvPr/>
        </p:nvSpPr>
        <p:spPr>
          <a:xfrm>
            <a:off x="1051560" y="824788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Snow Mountain You Can Walk Inside</a:t>
            </a:r>
            <a:endParaRPr lang="en-US" sz="1050" dirty="0"/>
          </a:p>
        </p:txBody>
      </p:sp>
      <p:sp>
        <p:nvSpPr>
          <p:cNvPr id="34" name="text-45"/>
          <p:cNvSpPr txBox="1"/>
          <p:nvPr/>
        </p:nvSpPr>
        <p:spPr>
          <a:xfrm>
            <a:off x="1051560" y="8439912"/>
            <a:ext cx="2592324" cy="182880"/>
          </a:xfrm>
          <a:prstGeom prst="rect">
            <a:avLst/>
          </a:prstGeom>
          <a:noFill/>
          <a:ln/>
        </p:spPr>
        <p:txBody>
          <a:bodyPr wrap="square" lIns="0" tIns="0" rIns="0" bIns="0" rtlCol="0" anchor="t"/>
          <a:lstStyle/>
          <a:p>
            <a:pPr indent="0" marL="0">
              <a:buNone/>
            </a:pPr>
            <a:r>
              <a:rPr lang="en-US" sz="850" dirty="0">
                <a:solidFill>
                  <a:schemeClr val="accent5"/>
                </a:solidFill>
              </a:rPr>
              <a:t>Breakthrough 3 · Mount Aurora</a:t>
            </a:r>
            <a:endParaRPr lang="en-US" sz="850" dirty="0"/>
          </a:p>
        </p:txBody>
      </p:sp>
      <p:sp>
        <p:nvSpPr>
          <p:cNvPr id="35" name="text-46"/>
          <p:cNvSpPr txBox="1"/>
          <p:nvPr/>
        </p:nvSpPr>
        <p:spPr>
          <a:xfrm>
            <a:off x="548640" y="8668512"/>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21</a:t>
            </a:r>
            <a:endParaRPr lang="en-US" sz="1500" dirty="0"/>
          </a:p>
        </p:txBody>
      </p:sp>
      <p:sp>
        <p:nvSpPr>
          <p:cNvPr id="36" name="text-47"/>
          <p:cNvSpPr txBox="1"/>
          <p:nvPr/>
        </p:nvSpPr>
        <p:spPr>
          <a:xfrm>
            <a:off x="1051560" y="870508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Built by Us</a:t>
            </a:r>
            <a:endParaRPr lang="en-US" sz="1050" dirty="0"/>
          </a:p>
        </p:txBody>
      </p:sp>
      <p:sp>
        <p:nvSpPr>
          <p:cNvPr id="37" name="kicker-dot-48"/>
          <p:cNvSpPr/>
          <p:nvPr/>
        </p:nvSpPr>
        <p:spPr>
          <a:xfrm>
            <a:off x="3918204" y="4338828"/>
            <a:ext cx="100584" cy="100584"/>
          </a:xfrm>
          <a:prstGeom prst="ellipse">
            <a:avLst/>
          </a:prstGeom>
          <a:solidFill>
            <a:schemeClr val="accent4"/>
          </a:solidFill>
          <a:ln w="12700">
            <a:solidFill>
              <a:schemeClr val="accent4"/>
            </a:solidFill>
            <a:prstDash val="solid"/>
          </a:ln>
        </p:spPr>
      </p:sp>
      <p:sp>
        <p:nvSpPr>
          <p:cNvPr id="38" name="text-49"/>
          <p:cNvSpPr txBox="1"/>
          <p:nvPr/>
        </p:nvSpPr>
        <p:spPr>
          <a:xfrm>
            <a:off x="4101084" y="4297680"/>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SYSTEMS &amp; LIFE</a:t>
            </a:r>
            <a:endParaRPr lang="en-US" sz="900" dirty="0"/>
          </a:p>
        </p:txBody>
      </p:sp>
      <p:sp>
        <p:nvSpPr>
          <p:cNvPr id="39" name="text-50"/>
          <p:cNvSpPr txBox="1"/>
          <p:nvPr/>
        </p:nvSpPr>
        <p:spPr>
          <a:xfrm>
            <a:off x="3918204" y="4590288"/>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22</a:t>
            </a:r>
            <a:endParaRPr lang="en-US" sz="1500" dirty="0"/>
          </a:p>
        </p:txBody>
      </p:sp>
      <p:sp>
        <p:nvSpPr>
          <p:cNvPr id="40" name="text-51"/>
          <p:cNvSpPr txBox="1"/>
          <p:nvPr/>
        </p:nvSpPr>
        <p:spPr>
          <a:xfrm>
            <a:off x="4421124" y="4626864"/>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1" name="text-52"/>
          <p:cNvSpPr txBox="1"/>
          <p:nvPr/>
        </p:nvSpPr>
        <p:spPr>
          <a:xfrm>
            <a:off x="3918204" y="4882896"/>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23</a:t>
            </a:r>
            <a:endParaRPr lang="en-US" sz="1500" dirty="0"/>
          </a:p>
        </p:txBody>
      </p:sp>
      <p:sp>
        <p:nvSpPr>
          <p:cNvPr id="42" name="text-53"/>
          <p:cNvSpPr txBox="1"/>
          <p:nvPr/>
        </p:nvSpPr>
        <p:spPr>
          <a:xfrm>
            <a:off x="4421124" y="49194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Liveable City Every Day</a:t>
            </a:r>
            <a:endParaRPr lang="en-US" sz="1050" dirty="0"/>
          </a:p>
        </p:txBody>
      </p:sp>
      <p:sp>
        <p:nvSpPr>
          <p:cNvPr id="43" name="text-54"/>
          <p:cNvSpPr txBox="1"/>
          <p:nvPr/>
        </p:nvSpPr>
        <p:spPr>
          <a:xfrm>
            <a:off x="3918204" y="5175504"/>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24</a:t>
            </a:r>
            <a:endParaRPr lang="en-US" sz="1500" dirty="0"/>
          </a:p>
        </p:txBody>
      </p:sp>
      <p:sp>
        <p:nvSpPr>
          <p:cNvPr id="44" name="text-55"/>
          <p:cNvSpPr txBox="1"/>
          <p:nvPr/>
        </p:nvSpPr>
        <p:spPr>
          <a:xfrm>
            <a:off x="4421124" y="52120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5" name="text-56"/>
          <p:cNvSpPr txBox="1"/>
          <p:nvPr/>
        </p:nvSpPr>
        <p:spPr>
          <a:xfrm>
            <a:off x="3918204" y="5468112"/>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25</a:t>
            </a:r>
            <a:endParaRPr lang="en-US" sz="1500" dirty="0"/>
          </a:p>
        </p:txBody>
      </p:sp>
      <p:sp>
        <p:nvSpPr>
          <p:cNvPr id="46" name="text-57"/>
          <p:cNvSpPr txBox="1"/>
          <p:nvPr/>
        </p:nvSpPr>
        <p:spPr>
          <a:xfrm>
            <a:off x="4421124" y="550468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7" name="text-58"/>
          <p:cNvSpPr txBox="1"/>
          <p:nvPr/>
        </p:nvSpPr>
        <p:spPr>
          <a:xfrm>
            <a:off x="3918204" y="5760720"/>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26</a:t>
            </a:r>
            <a:endParaRPr lang="en-US" sz="1500" dirty="0"/>
          </a:p>
        </p:txBody>
      </p:sp>
      <p:sp>
        <p:nvSpPr>
          <p:cNvPr id="48" name="text-59"/>
          <p:cNvSpPr txBox="1"/>
          <p:nvPr/>
        </p:nvSpPr>
        <p:spPr>
          <a:xfrm>
            <a:off x="4421124" y="57972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60"/>
          <p:cNvSpPr txBox="1"/>
          <p:nvPr/>
        </p:nvSpPr>
        <p:spPr>
          <a:xfrm>
            <a:off x="3918204" y="6053328"/>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27</a:t>
            </a:r>
            <a:endParaRPr lang="en-US" sz="1500" dirty="0"/>
          </a:p>
        </p:txBody>
      </p:sp>
      <p:sp>
        <p:nvSpPr>
          <p:cNvPr id="50" name="text-61"/>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1" name="text-62"/>
          <p:cNvSpPr txBox="1"/>
          <p:nvPr/>
        </p:nvSpPr>
        <p:spPr>
          <a:xfrm>
            <a:off x="3918204" y="6345936"/>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28</a:t>
            </a:r>
            <a:endParaRPr lang="en-US" sz="1500" dirty="0"/>
          </a:p>
        </p:txBody>
      </p:sp>
      <p:sp>
        <p:nvSpPr>
          <p:cNvPr id="52" name="text-63"/>
          <p:cNvSpPr txBox="1"/>
          <p:nvPr/>
        </p:nvSpPr>
        <p:spPr>
          <a:xfrm>
            <a:off x="4421124" y="6382512"/>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3" name="text-64"/>
          <p:cNvSpPr txBox="1"/>
          <p:nvPr/>
        </p:nvSpPr>
        <p:spPr>
          <a:xfrm>
            <a:off x="3918204" y="6638544"/>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29</a:t>
            </a:r>
            <a:endParaRPr lang="en-US" sz="1500" dirty="0"/>
          </a:p>
        </p:txBody>
      </p:sp>
      <p:sp>
        <p:nvSpPr>
          <p:cNvPr id="54" name="text-65"/>
          <p:cNvSpPr txBox="1"/>
          <p:nvPr/>
        </p:nvSpPr>
        <p:spPr>
          <a:xfrm>
            <a:off x="4421124" y="6675120"/>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5" name="text-66"/>
          <p:cNvSpPr txBox="1"/>
          <p:nvPr/>
        </p:nvSpPr>
        <p:spPr>
          <a:xfrm>
            <a:off x="3918204" y="6931152"/>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30</a:t>
            </a:r>
            <a:endParaRPr lang="en-US" sz="1500" dirty="0"/>
          </a:p>
        </p:txBody>
      </p:sp>
      <p:sp>
        <p:nvSpPr>
          <p:cNvPr id="56" name="text-67"/>
          <p:cNvSpPr txBox="1"/>
          <p:nvPr/>
        </p:nvSpPr>
        <p:spPr>
          <a:xfrm>
            <a:off x="4421124" y="69677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57" name="text-68"/>
          <p:cNvSpPr txBox="1"/>
          <p:nvPr/>
        </p:nvSpPr>
        <p:spPr>
          <a:xfrm>
            <a:off x="3918204" y="7223760"/>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31</a:t>
            </a:r>
            <a:endParaRPr lang="en-US" sz="1500" dirty="0"/>
          </a:p>
        </p:txBody>
      </p:sp>
      <p:sp>
        <p:nvSpPr>
          <p:cNvPr id="58" name="text-69"/>
          <p:cNvSpPr txBox="1"/>
          <p:nvPr/>
        </p:nvSpPr>
        <p:spPr>
          <a:xfrm>
            <a:off x="4421124" y="7260336"/>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59" name="kicker-dot-70"/>
          <p:cNvSpPr/>
          <p:nvPr/>
        </p:nvSpPr>
        <p:spPr>
          <a:xfrm>
            <a:off x="3918204" y="7740396"/>
            <a:ext cx="100584" cy="100584"/>
          </a:xfrm>
          <a:prstGeom prst="ellipse">
            <a:avLst/>
          </a:prstGeom>
          <a:solidFill>
            <a:schemeClr val="accent2"/>
          </a:solidFill>
          <a:ln w="12700">
            <a:solidFill>
              <a:schemeClr val="accent2"/>
            </a:solidFill>
            <a:prstDash val="solid"/>
          </a:ln>
        </p:spPr>
      </p:sp>
      <p:sp>
        <p:nvSpPr>
          <p:cNvPr id="60" name="text-71"/>
          <p:cNvSpPr txBox="1"/>
          <p:nvPr/>
        </p:nvSpPr>
        <p:spPr>
          <a:xfrm>
            <a:off x="4101084" y="7699248"/>
            <a:ext cx="2912364" cy="201168"/>
          </a:xfrm>
          <a:prstGeom prst="rect">
            <a:avLst/>
          </a:prstGeom>
          <a:noFill/>
          <a:ln/>
        </p:spPr>
        <p:txBody>
          <a:bodyPr wrap="square" lIns="0" tIns="0" rIns="0" bIns="0" rtlCol="0" anchor="t"/>
          <a:lstStyle/>
          <a:p>
            <a:pPr indent="0" marL="0">
              <a:buNone/>
            </a:pPr>
            <a:r>
              <a:rPr lang="en-US" sz="900" b="1" spc="300" kern="0" dirty="0">
                <a:solidFill>
                  <a:schemeClr val="accent2"/>
                </a:solidFill>
              </a:rPr>
              <a:t>INVEST</a:t>
            </a:r>
            <a:endParaRPr lang="en-US" sz="900" dirty="0"/>
          </a:p>
        </p:txBody>
      </p:sp>
      <p:sp>
        <p:nvSpPr>
          <p:cNvPr id="61" name="text-72"/>
          <p:cNvSpPr txBox="1"/>
          <p:nvPr/>
        </p:nvSpPr>
        <p:spPr>
          <a:xfrm>
            <a:off x="3918204" y="7991856"/>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32</a:t>
            </a:r>
            <a:endParaRPr lang="en-US" sz="1500" dirty="0"/>
          </a:p>
        </p:txBody>
      </p:sp>
      <p:sp>
        <p:nvSpPr>
          <p:cNvPr id="62" name="text-73"/>
          <p:cNvSpPr txBox="1"/>
          <p:nvPr/>
        </p:nvSpPr>
        <p:spPr>
          <a:xfrm>
            <a:off x="4421124" y="80284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3" name="kicker-dot-74"/>
          <p:cNvSpPr/>
          <p:nvPr/>
        </p:nvSpPr>
        <p:spPr>
          <a:xfrm>
            <a:off x="3918204" y="8508492"/>
            <a:ext cx="100584" cy="100584"/>
          </a:xfrm>
          <a:prstGeom prst="ellipse">
            <a:avLst/>
          </a:prstGeom>
          <a:solidFill>
            <a:schemeClr val="accent1"/>
          </a:solidFill>
          <a:ln w="12700">
            <a:solidFill>
              <a:schemeClr val="accent1"/>
            </a:solidFill>
            <a:prstDash val="solid"/>
          </a:ln>
        </p:spPr>
      </p:sp>
      <p:sp>
        <p:nvSpPr>
          <p:cNvPr id="64" name="text-75"/>
          <p:cNvSpPr txBox="1"/>
          <p:nvPr/>
        </p:nvSpPr>
        <p:spPr>
          <a:xfrm>
            <a:off x="4101084" y="8467344"/>
            <a:ext cx="291236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GUIDE</a:t>
            </a:r>
            <a:endParaRPr lang="en-US" sz="900" dirty="0"/>
          </a:p>
        </p:txBody>
      </p:sp>
      <p:sp>
        <p:nvSpPr>
          <p:cNvPr id="65" name="text-76"/>
          <p:cNvSpPr txBox="1"/>
          <p:nvPr/>
        </p:nvSpPr>
        <p:spPr>
          <a:xfrm>
            <a:off x="3918204" y="8759952"/>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33</a:t>
            </a:r>
            <a:endParaRPr lang="en-US" sz="1500" dirty="0"/>
          </a:p>
        </p:txBody>
      </p:sp>
      <p:sp>
        <p:nvSpPr>
          <p:cNvPr id="66" name="text-77"/>
          <p:cNvSpPr txBox="1"/>
          <p:nvPr/>
        </p:nvSpPr>
        <p:spPr>
          <a:xfrm>
            <a:off x="4421124" y="8796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67" name="text-78"/>
          <p:cNvSpPr txBox="1"/>
          <p:nvPr/>
        </p:nvSpPr>
        <p:spPr>
          <a:xfrm>
            <a:off x="3918204" y="9052560"/>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34</a:t>
            </a:r>
            <a:endParaRPr lang="en-US" sz="1500" dirty="0"/>
          </a:p>
        </p:txBody>
      </p:sp>
      <p:sp>
        <p:nvSpPr>
          <p:cNvPr id="68" name="text-79"/>
          <p:cNvSpPr txBox="1"/>
          <p:nvPr/>
        </p:nvSpPr>
        <p:spPr>
          <a:xfrm>
            <a:off x="4421124" y="9089136"/>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69" name="text-80"/>
          <p:cNvSpPr txBox="1"/>
          <p:nvPr/>
        </p:nvSpPr>
        <p:spPr>
          <a:xfrm>
            <a:off x="3918204" y="9345168"/>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35</a:t>
            </a:r>
            <a:endParaRPr lang="en-US" sz="1500" dirty="0"/>
          </a:p>
        </p:txBody>
      </p:sp>
      <p:sp>
        <p:nvSpPr>
          <p:cNvPr id="70" name="text-81"/>
          <p:cNvSpPr txBox="1"/>
          <p:nvPr/>
        </p:nvSpPr>
        <p:spPr>
          <a:xfrm>
            <a:off x="4421124" y="9381744"/>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Through a Resident’s Eyes</a:t>
            </a:r>
            <a:endParaRPr lang="en-US" sz="1050" dirty="0"/>
          </a:p>
        </p:txBody>
      </p:sp>
      <p:sp>
        <p:nvSpPr>
          <p:cNvPr id="71" name="text-82"/>
          <p:cNvSpPr txBox="1"/>
          <p:nvPr/>
        </p:nvSpPr>
        <p:spPr>
          <a:xfrm>
            <a:off x="3918204" y="9637776"/>
            <a:ext cx="457200" cy="292608"/>
          </a:xfrm>
          <a:prstGeom prst="rect">
            <a:avLst/>
          </a:prstGeom>
          <a:noFill/>
          <a:ln/>
        </p:spPr>
        <p:txBody>
          <a:bodyPr wrap="square" lIns="0" tIns="0" rIns="0" bIns="0" rtlCol="0" anchor="t"/>
          <a:lstStyle/>
          <a:p>
            <a:pPr indent="0" marL="0">
              <a:buNone/>
            </a:pPr>
            <a:r>
              <a:rPr lang="en-US" sz="1500" b="1" dirty="0">
                <a:solidFill>
                  <a:schemeClr val="accent6"/>
                </a:solidFill>
                <a:latin typeface="+mj-lt" pitchFamily="34" charset="0"/>
                <a:ea typeface="+mj-lt" pitchFamily="34" charset="-122"/>
                <a:cs typeface="+mj-lt" pitchFamily="34" charset="-120"/>
              </a:rPr>
              <a:t>36</a:t>
            </a:r>
            <a:endParaRPr lang="en-US" sz="1500" dirty="0"/>
          </a:p>
        </p:txBody>
      </p:sp>
      <p:sp>
        <p:nvSpPr>
          <p:cNvPr id="72" name="text-83"/>
          <p:cNvSpPr txBox="1"/>
          <p:nvPr/>
        </p:nvSpPr>
        <p:spPr>
          <a:xfrm>
            <a:off x="4421124" y="96743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a:t>
            </a:r>
            <a:endParaRPr lang="en-US" sz="900" dirty="0"/>
          </a:p>
        </p:txBody>
      </p:sp>
      <p:sp>
        <p:nvSpPr>
          <p:cNvPr id="74"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86"/>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87" descr="lagoon">    </p:cNvPr>
          <p:cNvPicPr>
            <a:picLocks noChangeAspect="1"/>
          </p:cNvPicPr>
          <p:nvPr/>
        </p:nvPicPr>
        <p:blipFill>
          <a:blip r:embed="rId1"/>
          <a:srcRect l="0" r="0" t="17352" b="17352"/>
          <a:stretch/>
        </p:blipFill>
        <p:spPr>
          <a:xfrm>
            <a:off x="0" y="2240280"/>
            <a:ext cx="7562088" cy="3291840"/>
          </a:xfrm>
          <a:prstGeom prst="rect">
            <a:avLst/>
          </a:prstGeom>
        </p:spPr>
      </p:pic>
      <p:sp>
        <p:nvSpPr>
          <p:cNvPr id="6" name="text-88"/>
          <p:cNvSpPr txBox="1"/>
          <p:nvPr/>
        </p:nvSpPr>
        <p:spPr>
          <a:xfrm>
            <a:off x="548640" y="559612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an open-air mineral pool at the foot of Mount Aurora, under the northern lights.</a:t>
            </a:r>
            <a:endParaRPr lang="en-US" sz="850" dirty="0"/>
          </a:p>
        </p:txBody>
      </p:sp>
      <p:sp>
        <p:nvSpPr>
          <p:cNvPr id="7" name="text-89"/>
          <p:cNvSpPr txBox="1"/>
          <p:nvPr/>
        </p:nvSpPr>
        <p:spPr>
          <a:xfrm>
            <a:off x="548640" y="6035040"/>
            <a:ext cx="3095244" cy="2651760"/>
          </a:xfrm>
          <a:prstGeom prst="rect">
            <a:avLst/>
          </a:prstGeom>
          <a:noFill/>
          <a:ln/>
        </p:spPr>
        <p:txBody>
          <a:bodyPr wrap="square" lIns="0" tIns="0" rIns="0" bIns="0" rtlCol="0" anchor="t"/>
          <a:lstStyle/>
          <a:p>
            <a:pPr indent="0" marL="0">
              <a:lnSpc>
                <a:spcPct val="112000"/>
              </a:lnSpc>
              <a:spcAft>
                <a:spcPts val="700"/>
              </a:spcAft>
              <a:buNone/>
            </a:pPr>
            <a:r>
              <a:rPr lang="en-US" sz="1200" b="1" spc="100" kern="0" dirty="0">
                <a:solidFill>
                  <a:schemeClr val="tx1"/>
                </a:solidFill>
              </a:rPr>
              <a:t>WELCOME TO THIS SPECIAL FEATURE </a:t>
            </a:r>
            <a:pPr indent="0" marL="0">
              <a:lnSpc>
                <a:spcPct val="112000"/>
              </a:lnSpc>
              <a:spcAft>
                <a:spcPts val="700"/>
              </a:spcAft>
              <a:buNone/>
            </a:pPr>
            <a:r>
              <a:rPr lang="en-US" sz="12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200" dirty="0"/>
          </a:p>
        </p:txBody>
      </p:sp>
      <p:sp>
        <p:nvSpPr>
          <p:cNvPr id="8" name="text-90"/>
          <p:cNvSpPr txBox="1"/>
          <p:nvPr/>
        </p:nvSpPr>
        <p:spPr>
          <a:xfrm>
            <a:off x="3918204" y="60350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2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200" dirty="0"/>
          </a:p>
        </p:txBody>
      </p:sp>
      <p:sp>
        <p:nvSpPr>
          <p:cNvPr id="9" name="text-91"/>
          <p:cNvSpPr txBox="1"/>
          <p:nvPr/>
        </p:nvSpPr>
        <p:spPr>
          <a:xfrm>
            <a:off x="3918204" y="8183880"/>
            <a:ext cx="3095244" cy="228600"/>
          </a:xfrm>
          <a:prstGeom prst="rect">
            <a:avLst/>
          </a:prstGeom>
          <a:noFill/>
          <a:ln/>
        </p:spPr>
        <p:txBody>
          <a:bodyPr wrap="square" lIns="0" tIns="0" rIns="0" bIns="0" rtlCol="0" anchor="t"/>
          <a:lstStyle/>
          <a:p>
            <a:pPr indent="0" marL="0">
              <a:buNone/>
            </a:pPr>
            <a:r>
              <a:rPr lang="en-US" sz="1250" b="1" i="1" dirty="0">
                <a:solidFill>
                  <a:schemeClr val="tx1"/>
                </a:solidFill>
                <a:latin typeface="+mj-lt" pitchFamily="34" charset="0"/>
                <a:ea typeface="+mj-lt" pitchFamily="34" charset="-122"/>
                <a:cs typeface="+mj-lt" pitchFamily="34" charset="-120"/>
              </a:rPr>
              <a:t>The Polar City team</a:t>
            </a:r>
            <a:endParaRPr lang="en-US" sz="1250" dirty="0"/>
          </a:p>
        </p:txBody>
      </p:sp>
      <p:sp>
        <p:nvSpPr>
          <p:cNvPr id="10" name="text-92"/>
          <p:cNvSpPr txBox="1"/>
          <p:nvPr/>
        </p:nvSpPr>
        <p:spPr>
          <a:xfrm>
            <a:off x="3918204" y="8439912"/>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93"/>
          <p:cNvSpPr/>
          <p:nvPr/>
        </p:nvSpPr>
        <p:spPr>
          <a:xfrm>
            <a:off x="548640" y="8869680"/>
            <a:ext cx="6464808" cy="1097280"/>
          </a:xfrm>
          <a:prstGeom prst="roundRect">
            <a:avLst>
              <a:gd name="adj" fmla="val 6667"/>
            </a:avLst>
          </a:prstGeom>
          <a:solidFill>
            <a:schemeClr val="bg2"/>
          </a:solidFill>
          <a:ln w="12700">
            <a:solidFill>
              <a:schemeClr val="bg2"/>
            </a:solidFill>
            <a:prstDash val="solid"/>
          </a:ln>
        </p:spPr>
      </p:sp>
      <p:pic>
        <p:nvPicPr>
          <p:cNvPr id="12" name="picture-94" descr="cover overview">    </p:cNvPr>
          <p:cNvPicPr>
            <a:picLocks noChangeAspect="1"/>
          </p:cNvPicPr>
          <p:nvPr/>
        </p:nvPicPr>
        <p:blipFill>
          <a:blip r:embed="rId2"/>
          <a:srcRect l="0" r="0" t="62" b="62"/>
          <a:stretch/>
        </p:blipFill>
        <p:spPr>
          <a:xfrm>
            <a:off x="685800" y="8979408"/>
            <a:ext cx="621792" cy="877824"/>
          </a:xfrm>
          <a:prstGeom prst="rect">
            <a:avLst/>
          </a:prstGeom>
        </p:spPr>
      </p:pic>
      <p:sp>
        <p:nvSpPr>
          <p:cNvPr id="13" name="kicker-dot-95"/>
          <p:cNvSpPr/>
          <p:nvPr/>
        </p:nvSpPr>
        <p:spPr>
          <a:xfrm>
            <a:off x="1463040" y="9057132"/>
            <a:ext cx="100584" cy="100584"/>
          </a:xfrm>
          <a:prstGeom prst="ellipse">
            <a:avLst/>
          </a:prstGeom>
          <a:solidFill>
            <a:schemeClr val="accent6"/>
          </a:solidFill>
          <a:ln w="12700">
            <a:solidFill>
              <a:schemeClr val="accent6"/>
            </a:solidFill>
            <a:prstDash val="solid"/>
          </a:ln>
        </p:spPr>
      </p:sp>
      <p:sp>
        <p:nvSpPr>
          <p:cNvPr id="14" name="text-96"/>
          <p:cNvSpPr txBox="1"/>
          <p:nvPr/>
        </p:nvSpPr>
        <p:spPr>
          <a:xfrm>
            <a:off x="1645920" y="9015984"/>
            <a:ext cx="536752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97"/>
          <p:cNvSpPr txBox="1"/>
          <p:nvPr/>
        </p:nvSpPr>
        <p:spPr>
          <a:xfrm>
            <a:off x="1463040" y="9253728"/>
            <a:ext cx="5413248" cy="64008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whole of Aurora Haven from the air on a polar night: downtown, the stadium, the greenhouse dome and the plants, under the northern lights.</a:t>
            </a:r>
            <a:endParaRPr lang="en-US" sz="950" dirty="0"/>
          </a:p>
        </p:txBody>
      </p:sp>
      <p:sp>
        <p:nvSpPr>
          <p:cNvPr id="1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a:t>
            </a:r>
            <a:endParaRPr lang="en-US" sz="900" dirty="0"/>
          </a:p>
        </p:txBody>
      </p:sp>
      <p:sp>
        <p:nvSpPr>
          <p:cNvPr id="17"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WELCOME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9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2"/>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Who we are, and what each of us did.</a:t>
            </a:r>
            <a:endParaRPr lang="en-US" sz="1300" dirty="0"/>
          </a:p>
        </p:txBody>
      </p:sp>
      <p:sp>
        <p:nvSpPr>
          <p:cNvPr id="6" name="card-103"/>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04" descr="nguyen dong bao">    </p:cNvPr>
          <p:cNvPicPr>
            <a:picLocks noChangeAspect="1"/>
          </p:cNvPicPr>
          <p:nvPr/>
        </p:nvPicPr>
        <p:blipFill>
          <a:blip r:embed="rId1"/>
          <a:srcRect l="0" r="0" t="0" b="0"/>
          <a:stretch/>
        </p:blipFill>
        <p:spPr>
          <a:xfrm>
            <a:off x="658368" y="2167128"/>
            <a:ext cx="1844040" cy="2194408"/>
          </a:xfrm>
          <a:prstGeom prst="rect">
            <a:avLst/>
          </a:prstGeom>
        </p:spPr>
      </p:pic>
      <p:sp>
        <p:nvSpPr>
          <p:cNvPr id="8" name="text-106"/>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07"/>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08"/>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09" descr="nguyen ba hieu thien">    </p:cNvPr>
          <p:cNvPicPr>
            <a:picLocks noChangeAspect="1"/>
          </p:cNvPicPr>
          <p:nvPr/>
        </p:nvPicPr>
        <p:blipFill>
          <a:blip r:embed="rId2"/>
          <a:srcRect l="0" r="0" t="0" b="0"/>
          <a:stretch/>
        </p:blipFill>
        <p:spPr>
          <a:xfrm>
            <a:off x="2859024" y="2167128"/>
            <a:ext cx="1844040" cy="2194408"/>
          </a:xfrm>
          <a:prstGeom prst="rect">
            <a:avLst/>
          </a:prstGeom>
        </p:spPr>
      </p:pic>
      <p:sp>
        <p:nvSpPr>
          <p:cNvPr id="12" name="text-111"/>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2"/>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3"/>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4" descr="phan minh khoi">    </p:cNvPr>
          <p:cNvPicPr>
            <a:picLocks noChangeAspect="1"/>
          </p:cNvPicPr>
          <p:nvPr/>
        </p:nvPicPr>
        <p:blipFill>
          <a:blip r:embed="rId3"/>
          <a:srcRect l="0" r="0" t="0" b="0"/>
          <a:stretch/>
        </p:blipFill>
        <p:spPr>
          <a:xfrm>
            <a:off x="5059680" y="2167128"/>
            <a:ext cx="1844040" cy="2194408"/>
          </a:xfrm>
          <a:prstGeom prst="rect">
            <a:avLst/>
          </a:prstGeom>
        </p:spPr>
      </p:pic>
      <p:sp>
        <p:nvSpPr>
          <p:cNvPr id="16" name="text-116"/>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17"/>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18"/>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19" descr="duong hang nguyen">    </p:cNvPr>
          <p:cNvPicPr>
            <a:picLocks noChangeAspect="1"/>
          </p:cNvPicPr>
          <p:nvPr/>
        </p:nvPicPr>
        <p:blipFill>
          <a:blip r:embed="rId4"/>
          <a:srcRect l="0" r="0" t="0" b="0"/>
          <a:stretch/>
        </p:blipFill>
        <p:spPr>
          <a:xfrm>
            <a:off x="658368" y="5230368"/>
            <a:ext cx="1844040" cy="2194408"/>
          </a:xfrm>
          <a:prstGeom prst="rect">
            <a:avLst/>
          </a:prstGeom>
        </p:spPr>
      </p:pic>
      <p:sp>
        <p:nvSpPr>
          <p:cNvPr id="20" name="text-121"/>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2"/>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3"/>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4" descr="pham phuoc khoa">    </p:cNvPr>
          <p:cNvPicPr>
            <a:picLocks noChangeAspect="1"/>
          </p:cNvPicPr>
          <p:nvPr/>
        </p:nvPicPr>
        <p:blipFill>
          <a:blip r:embed="rId5"/>
          <a:srcRect l="0" r="0" t="0" b="0"/>
          <a:stretch/>
        </p:blipFill>
        <p:spPr>
          <a:xfrm>
            <a:off x="2859024" y="5230368"/>
            <a:ext cx="1844040" cy="2194408"/>
          </a:xfrm>
          <a:prstGeom prst="rect">
            <a:avLst/>
          </a:prstGeom>
        </p:spPr>
      </p:pic>
      <p:sp>
        <p:nvSpPr>
          <p:cNvPr id="24" name="text-126"/>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27"/>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28"/>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29" descr="nguyen minh triet">    </p:cNvPr>
          <p:cNvPicPr>
            <a:picLocks noChangeAspect="1"/>
          </p:cNvPicPr>
          <p:nvPr/>
        </p:nvPicPr>
        <p:blipFill>
          <a:blip r:embed="rId6"/>
          <a:srcRect l="0" r="0" t="0" b="0"/>
          <a:stretch/>
        </p:blipFill>
        <p:spPr>
          <a:xfrm>
            <a:off x="5059680" y="5230368"/>
            <a:ext cx="1844040" cy="2194408"/>
          </a:xfrm>
          <a:prstGeom prst="rect">
            <a:avLst/>
          </a:prstGeom>
        </p:spPr>
      </p:pic>
      <p:sp>
        <p:nvSpPr>
          <p:cNvPr id="28" name="text-131"/>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2"/>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3"/>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34" descr="QR code: Watch our real-world interview">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35"/>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5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36"/>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37"/>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38"/>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a:t>
            </a:r>
            <a:endParaRPr lang="en-US" sz="900" dirty="0"/>
          </a:p>
        </p:txBody>
      </p:sp>
      <p:sp>
        <p:nvSpPr>
          <p:cNvPr id="3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9" descr="welcome pano">    </p:cNvPr>
          <p:cNvPicPr>
            <a:picLocks noChangeAspect="1"/>
          </p:cNvPicPr>
          <p:nvPr/>
        </p:nvPicPr>
        <p:blipFill>
          <a:blip r:embed="rId1"/>
          <a:srcRect l="0" r="0" t="4" b="4"/>
          <a:stretch/>
        </p:blipFill>
        <p:spPr>
          <a:xfrm>
            <a:off x="0" y="0"/>
            <a:ext cx="7562088" cy="6400800"/>
          </a:xfrm>
          <a:prstGeom prst="rect">
            <a:avLst/>
          </a:prstGeom>
        </p:spPr>
      </p:pic>
      <p:pic>
        <p:nvPicPr>
          <p:cNvPr id="3" name="shade-bottom-140" descr="shade">    </p:cNvPr>
          <p:cNvPicPr>
            <a:picLocks noChangeAspect="1"/>
          </p:cNvPicPr>
          <p:nvPr/>
        </p:nvPicPr>
        <p:blipFill>
          <a:blip r:embed="rId2"/>
          <a:stretch>
            <a:fillRect/>
          </a:stretch>
        </p:blipFill>
        <p:spPr>
          <a:xfrm>
            <a:off x="0" y="3474720"/>
            <a:ext cx="7562088" cy="2926080"/>
          </a:xfrm>
          <a:prstGeom prst="rect">
            <a:avLst/>
          </a:prstGeom>
        </p:spPr>
      </p:pic>
      <p:sp>
        <p:nvSpPr>
          <p:cNvPr id="4" name="kicker-dot-143"/>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4"/>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5"/>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47"/>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A compact, zero-carbon city, built to stay warm and happy through the polar night.</a:t>
            </a:r>
            <a:endParaRPr lang="en-US" sz="1500" dirty="0"/>
          </a:p>
        </p:txBody>
      </p:sp>
      <p:sp>
        <p:nvSpPr>
          <p:cNvPr id="8" name="text-148"/>
          <p:cNvSpPr txBox="1"/>
          <p:nvPr/>
        </p:nvSpPr>
        <p:spPr>
          <a:xfrm>
            <a:off x="548640" y="754380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100" b="1" spc="100" kern="0" dirty="0">
                <a:solidFill>
                  <a:schemeClr val="tx1"/>
                </a:solidFill>
              </a:rPr>
              <a:t>AURORA HAVEN IS </a:t>
            </a:r>
            <a:pPr indent="0" marL="0">
              <a:lnSpc>
                <a:spcPct val="112000"/>
              </a:lnSpc>
              <a:spcAft>
                <a:spcPts val="700"/>
              </a:spcAft>
              <a:buNone/>
            </a:pPr>
            <a:r>
              <a:rPr lang="en-US" sz="1100" dirty="0">
                <a:solidFill>
                  <a:schemeClr val="tx1"/>
                </a:solidFill>
              </a:rPr>
              <a:t>a city for about 45,000 people on the Arctic tundra, under the snow peak of Mount Aurora.</a:t>
            </a:r>
            <a:endParaRPr lang="en-US" sz="1100" dirty="0"/>
          </a:p>
          <a:p>
            <a:pPr indent="0" marL="0">
              <a:lnSpc>
                <a:spcPct val="112000"/>
              </a:lnSpc>
              <a:spcAft>
                <a:spcPts val="700"/>
              </a:spcAft>
              <a:buNone/>
            </a:pPr>
            <a:r>
              <a:rPr lang="en-US" sz="1100" dirty="0">
                <a:solidFill>
                  <a:schemeClr val="tx1"/>
                </a:solidFill>
              </a:rPr>
              <a:t>Everything is a short walk away. One heating network warms every building, and almost all water and waste is used again.</a:t>
            </a:r>
            <a:endParaRPr lang="en-US" sz="1100" dirty="0"/>
          </a:p>
        </p:txBody>
      </p:sp>
      <p:sp>
        <p:nvSpPr>
          <p:cNvPr id="9" name="quote-rule-149"/>
          <p:cNvSpPr/>
          <p:nvPr/>
        </p:nvSpPr>
        <p:spPr>
          <a:xfrm>
            <a:off x="548640" y="9006840"/>
            <a:ext cx="548640" cy="45720"/>
          </a:xfrm>
          <a:prstGeom prst="rect">
            <a:avLst/>
          </a:prstGeom>
          <a:solidFill>
            <a:schemeClr val="accent6"/>
          </a:solidFill>
          <a:ln w="12700">
            <a:solidFill>
              <a:schemeClr val="accent6"/>
            </a:solidFill>
            <a:prstDash val="solid"/>
          </a:ln>
        </p:spPr>
      </p:sp>
      <p:sp>
        <p:nvSpPr>
          <p:cNvPr id="10" name="text-150"/>
          <p:cNvSpPr txBox="1"/>
          <p:nvPr/>
        </p:nvSpPr>
        <p:spPr>
          <a:xfrm>
            <a:off x="548640" y="9171432"/>
            <a:ext cx="3095244" cy="822960"/>
          </a:xfrm>
          <a:prstGeom prst="rect">
            <a:avLst/>
          </a:prstGeom>
          <a:noFill/>
          <a:ln/>
        </p:spPr>
        <p:txBody>
          <a:bodyPr wrap="square" lIns="0" tIns="0" rIns="0" bIns="0" rtlCol="0" anchor="t"/>
          <a:lstStyle/>
          <a:p>
            <a:pPr indent="0" marL="0">
              <a:lnSpc>
                <a:spcPct val="102000"/>
              </a:lnSpc>
              <a:buNone/>
            </a:pPr>
            <a:r>
              <a:rPr lang="en-US" sz="1600" b="1" i="1" dirty="0">
                <a:solidFill>
                  <a:schemeClr val="accent6"/>
                </a:solidFill>
                <a:latin typeface="+mj-lt" pitchFamily="34" charset="0"/>
                <a:ea typeface="+mj-lt" pitchFamily="34" charset="-122"/>
                <a:cs typeface="+mj-lt" pitchFamily="34" charset="-120"/>
              </a:rPr>
              <a:t>“Three big ideas work as one loop.”</a:t>
            </a:r>
            <a:endParaRPr lang="en-US" sz="1600" dirty="0"/>
          </a:p>
        </p:txBody>
      </p:sp>
      <p:sp>
        <p:nvSpPr>
          <p:cNvPr id="11" name="card-151"/>
          <p:cNvSpPr/>
          <p:nvPr/>
        </p:nvSpPr>
        <p:spPr>
          <a:xfrm>
            <a:off x="3918204" y="7498080"/>
            <a:ext cx="3095244" cy="2423160"/>
          </a:xfrm>
          <a:prstGeom prst="roundRect">
            <a:avLst>
              <a:gd name="adj" fmla="val 3019"/>
            </a:avLst>
          </a:prstGeom>
          <a:solidFill>
            <a:schemeClr val="bg2"/>
          </a:solidFill>
          <a:ln w="12700">
            <a:solidFill>
              <a:schemeClr val="bg2"/>
            </a:solidFill>
            <a:prstDash val="solid"/>
          </a:ln>
        </p:spPr>
      </p:sp>
      <p:sp>
        <p:nvSpPr>
          <p:cNvPr id="12" name="kicker-dot-152"/>
          <p:cNvSpPr/>
          <p:nvPr/>
        </p:nvSpPr>
        <p:spPr>
          <a:xfrm>
            <a:off x="4082796" y="7676388"/>
            <a:ext cx="100584" cy="100584"/>
          </a:xfrm>
          <a:prstGeom prst="ellipse">
            <a:avLst/>
          </a:prstGeom>
          <a:solidFill>
            <a:schemeClr val="accent6"/>
          </a:solidFill>
          <a:ln w="12700">
            <a:solidFill>
              <a:schemeClr val="accent6"/>
            </a:solidFill>
            <a:prstDash val="solid"/>
          </a:ln>
        </p:spPr>
      </p:sp>
      <p:sp>
        <p:nvSpPr>
          <p:cNvPr id="13" name="text-153"/>
          <p:cNvSpPr txBox="1"/>
          <p:nvPr/>
        </p:nvSpPr>
        <p:spPr>
          <a:xfrm>
            <a:off x="4265676" y="7635240"/>
            <a:ext cx="272948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PROJECT DATA</a:t>
            </a:r>
            <a:endParaRPr lang="en-US" sz="900" dirty="0"/>
          </a:p>
        </p:txBody>
      </p:sp>
      <p:sp>
        <p:nvSpPr>
          <p:cNvPr id="14" name="text-154"/>
          <p:cNvSpPr txBox="1"/>
          <p:nvPr/>
        </p:nvSpPr>
        <p:spPr>
          <a:xfrm>
            <a:off x="4082796" y="8028432"/>
            <a:ext cx="914400" cy="182880"/>
          </a:xfrm>
          <a:prstGeom prst="rect">
            <a:avLst/>
          </a:prstGeom>
          <a:noFill/>
          <a:ln/>
        </p:spPr>
        <p:txBody>
          <a:bodyPr wrap="square" lIns="0" tIns="0" rIns="0" bIns="0" rtlCol="0" anchor="t"/>
          <a:lstStyle/>
          <a:p>
            <a:pPr indent="0" marL="0">
              <a:buNone/>
            </a:pPr>
            <a:r>
              <a:rPr lang="en-US" sz="800" b="1" spc="150" kern="0" dirty="0">
                <a:solidFill>
                  <a:schemeClr val="tx2"/>
                </a:solidFill>
              </a:rPr>
              <a:t>LOCATION</a:t>
            </a:r>
            <a:endParaRPr lang="en-US" sz="800" dirty="0"/>
          </a:p>
        </p:txBody>
      </p:sp>
      <p:sp>
        <p:nvSpPr>
          <p:cNvPr id="15" name="text-155"/>
          <p:cNvSpPr txBox="1"/>
          <p:nvPr/>
        </p:nvSpPr>
        <p:spPr>
          <a:xfrm>
            <a:off x="4969764" y="8001000"/>
            <a:ext cx="1906524" cy="411480"/>
          </a:xfrm>
          <a:prstGeom prst="rect">
            <a:avLst/>
          </a:prstGeom>
          <a:noFill/>
          <a:ln/>
        </p:spPr>
        <p:txBody>
          <a:bodyPr wrap="square" lIns="0" tIns="0" rIns="0" bIns="0" rtlCol="0" anchor="t"/>
          <a:lstStyle/>
          <a:p>
            <a:pPr indent="0" marL="0">
              <a:lnSpc>
                <a:spcPct val="100000"/>
              </a:lnSpc>
              <a:buNone/>
            </a:pPr>
            <a:r>
              <a:rPr lang="en-US" sz="1050" b="1" dirty="0">
                <a:solidFill>
                  <a:schemeClr val="tx1"/>
                </a:solidFill>
              </a:rPr>
              <a:t>Arctic tundra, about 70° North</a:t>
            </a:r>
            <a:endParaRPr lang="en-US" sz="1050" dirty="0"/>
          </a:p>
        </p:txBody>
      </p:sp>
      <p:sp>
        <p:nvSpPr>
          <p:cNvPr id="16" name="text-156"/>
          <p:cNvSpPr txBox="1"/>
          <p:nvPr/>
        </p:nvSpPr>
        <p:spPr>
          <a:xfrm>
            <a:off x="4082796" y="8485632"/>
            <a:ext cx="914400" cy="182880"/>
          </a:xfrm>
          <a:prstGeom prst="rect">
            <a:avLst/>
          </a:prstGeom>
          <a:noFill/>
          <a:ln/>
        </p:spPr>
        <p:txBody>
          <a:bodyPr wrap="square" lIns="0" tIns="0" rIns="0" bIns="0" rtlCol="0" anchor="t"/>
          <a:lstStyle/>
          <a:p>
            <a:pPr indent="0" marL="0">
              <a:buNone/>
            </a:pPr>
            <a:r>
              <a:rPr lang="en-US" sz="800" b="1" spc="150" kern="0" dirty="0">
                <a:solidFill>
                  <a:schemeClr val="tx2"/>
                </a:solidFill>
              </a:rPr>
              <a:t>POPULATION</a:t>
            </a:r>
            <a:endParaRPr lang="en-US" sz="800" dirty="0"/>
          </a:p>
        </p:txBody>
      </p:sp>
      <p:sp>
        <p:nvSpPr>
          <p:cNvPr id="17" name="text-157"/>
          <p:cNvSpPr txBox="1"/>
          <p:nvPr/>
        </p:nvSpPr>
        <p:spPr>
          <a:xfrm>
            <a:off x="4969764" y="8458200"/>
            <a:ext cx="1906524" cy="411480"/>
          </a:xfrm>
          <a:prstGeom prst="rect">
            <a:avLst/>
          </a:prstGeom>
          <a:noFill/>
          <a:ln/>
        </p:spPr>
        <p:txBody>
          <a:bodyPr wrap="square" lIns="0" tIns="0" rIns="0" bIns="0" rtlCol="0" anchor="t"/>
          <a:lstStyle/>
          <a:p>
            <a:pPr indent="0" marL="0">
              <a:lnSpc>
                <a:spcPct val="100000"/>
              </a:lnSpc>
              <a:buNone/>
            </a:pPr>
            <a:r>
              <a:rPr lang="en-US" sz="1050" b="1" dirty="0">
                <a:solidFill>
                  <a:schemeClr val="tx1"/>
                </a:solidFill>
              </a:rPr>
              <a:t>About 45,000</a:t>
            </a:r>
            <a:endParaRPr lang="en-US" sz="1050" dirty="0"/>
          </a:p>
        </p:txBody>
      </p:sp>
      <p:sp>
        <p:nvSpPr>
          <p:cNvPr id="18" name="text-158"/>
          <p:cNvSpPr txBox="1"/>
          <p:nvPr/>
        </p:nvSpPr>
        <p:spPr>
          <a:xfrm>
            <a:off x="4082796" y="8942832"/>
            <a:ext cx="914400" cy="182880"/>
          </a:xfrm>
          <a:prstGeom prst="rect">
            <a:avLst/>
          </a:prstGeom>
          <a:noFill/>
          <a:ln/>
        </p:spPr>
        <p:txBody>
          <a:bodyPr wrap="square" lIns="0" tIns="0" rIns="0" bIns="0" rtlCol="0" anchor="t"/>
          <a:lstStyle/>
          <a:p>
            <a:pPr indent="0" marL="0">
              <a:buNone/>
            </a:pPr>
            <a:r>
              <a:rPr lang="en-US" sz="800" b="1" spc="150" kern="0" dirty="0">
                <a:solidFill>
                  <a:schemeClr val="tx2"/>
                </a:solidFill>
              </a:rPr>
              <a:t>CLIMATE</a:t>
            </a:r>
            <a:endParaRPr lang="en-US" sz="800" dirty="0"/>
          </a:p>
        </p:txBody>
      </p:sp>
      <p:sp>
        <p:nvSpPr>
          <p:cNvPr id="19" name="text-159"/>
          <p:cNvSpPr txBox="1"/>
          <p:nvPr/>
        </p:nvSpPr>
        <p:spPr>
          <a:xfrm>
            <a:off x="4969764" y="8915400"/>
            <a:ext cx="1906524" cy="411480"/>
          </a:xfrm>
          <a:prstGeom prst="rect">
            <a:avLst/>
          </a:prstGeom>
          <a:noFill/>
          <a:ln/>
        </p:spPr>
        <p:txBody>
          <a:bodyPr wrap="square" lIns="0" tIns="0" rIns="0" bIns="0" rtlCol="0" anchor="t"/>
          <a:lstStyle/>
          <a:p>
            <a:pPr indent="0" marL="0">
              <a:lnSpc>
                <a:spcPct val="100000"/>
              </a:lnSpc>
              <a:buNone/>
            </a:pPr>
            <a:r>
              <a:rPr lang="en-US" sz="1050" b="1" dirty="0">
                <a:solidFill>
                  <a:schemeClr val="tx1"/>
                </a:solidFill>
              </a:rPr>
              <a:t>Winters to −45 °C; two months of polar night</a:t>
            </a:r>
            <a:endParaRPr lang="en-US" sz="1050" dirty="0"/>
          </a:p>
        </p:txBody>
      </p:sp>
      <p:sp>
        <p:nvSpPr>
          <p:cNvPr id="20" name="text-160"/>
          <p:cNvSpPr txBox="1"/>
          <p:nvPr/>
        </p:nvSpPr>
        <p:spPr>
          <a:xfrm>
            <a:off x="4082796" y="9400032"/>
            <a:ext cx="914400" cy="182880"/>
          </a:xfrm>
          <a:prstGeom prst="rect">
            <a:avLst/>
          </a:prstGeom>
          <a:noFill/>
          <a:ln/>
        </p:spPr>
        <p:txBody>
          <a:bodyPr wrap="square" lIns="0" tIns="0" rIns="0" bIns="0" rtlCol="0" anchor="t"/>
          <a:lstStyle/>
          <a:p>
            <a:pPr indent="0" marL="0">
              <a:buNone/>
            </a:pPr>
            <a:r>
              <a:rPr lang="en-US" sz="800" b="1" spc="150" kern="0" dirty="0">
                <a:solidFill>
                  <a:schemeClr val="tx2"/>
                </a:solidFill>
              </a:rPr>
              <a:t>STATUS</a:t>
            </a:r>
            <a:endParaRPr lang="en-US" sz="800" dirty="0"/>
          </a:p>
        </p:txBody>
      </p:sp>
      <p:sp>
        <p:nvSpPr>
          <p:cNvPr id="21" name="text-161"/>
          <p:cNvSpPr txBox="1"/>
          <p:nvPr/>
        </p:nvSpPr>
        <p:spPr>
          <a:xfrm>
            <a:off x="4969764" y="9372600"/>
            <a:ext cx="1906524" cy="411480"/>
          </a:xfrm>
          <a:prstGeom prst="rect">
            <a:avLst/>
          </a:prstGeom>
          <a:noFill/>
          <a:ln/>
        </p:spPr>
        <p:txBody>
          <a:bodyPr wrap="square" lIns="0" tIns="0" rIns="0" bIns="0" rtlCol="0" anchor="t"/>
          <a:lstStyle/>
          <a:p>
            <a:pPr indent="0" marL="0">
              <a:lnSpc>
                <a:spcPct val="100000"/>
              </a:lnSpc>
              <a:buNone/>
            </a:pPr>
            <a:r>
              <a:rPr lang="en-US" sz="1050" b="1" dirty="0">
                <a:solidFill>
                  <a:schemeClr val="tx1"/>
                </a:solidFill>
              </a:rPr>
              <a:t>A concept for the future</a:t>
            </a:r>
            <a:endParaRPr lang="en-US" sz="10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4</a:t>
            </a:r>
            <a:endParaRPr lang="en-US" sz="900" dirty="0"/>
          </a:p>
        </p:txBody>
      </p:sp>
      <p:sp>
        <p:nvSpPr>
          <p:cNvPr id="2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WELCOME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1" descr="welcome pano">    </p:cNvPr>
          <p:cNvPicPr>
            <a:picLocks noChangeAspect="1"/>
          </p:cNvPicPr>
          <p:nvPr/>
        </p:nvPicPr>
        <p:blipFill>
          <a:blip r:embed="rId1"/>
          <a:srcRect l="0" r="0" t="4" b="4"/>
          <a:stretch/>
        </p:blipFill>
        <p:spPr>
          <a:xfrm>
            <a:off x="0" y="0"/>
            <a:ext cx="7562088" cy="6400800"/>
          </a:xfrm>
          <a:prstGeom prst="rect">
            <a:avLst/>
          </a:prstGeom>
        </p:spPr>
      </p:pic>
      <p:pic>
        <p:nvPicPr>
          <p:cNvPr id="3" name="shade-bottom-142" descr="shade">    </p:cNvPr>
          <p:cNvPicPr>
            <a:picLocks noChangeAspect="1"/>
          </p:cNvPicPr>
          <p:nvPr/>
        </p:nvPicPr>
        <p:blipFill>
          <a:blip r:embed="rId2"/>
          <a:stretch>
            <a:fillRect/>
          </a:stretch>
        </p:blipFill>
        <p:spPr>
          <a:xfrm>
            <a:off x="0" y="3474720"/>
            <a:ext cx="7562088" cy="2926080"/>
          </a:xfrm>
          <a:prstGeom prst="rect">
            <a:avLst/>
          </a:prstGeom>
        </p:spPr>
      </p:pic>
      <p:sp>
        <p:nvSpPr>
          <p:cNvPr id="4" name="text-162"/>
          <p:cNvSpPr txBox="1"/>
          <p:nvPr/>
        </p:nvSpPr>
        <p:spPr>
          <a:xfrm>
            <a:off x="3172968" y="5989320"/>
            <a:ext cx="3840480" cy="27432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from the south-east, with the wind farm on the northern edge.</a:t>
            </a:r>
            <a:endParaRPr lang="en-US" sz="850" dirty="0"/>
          </a:p>
        </p:txBody>
      </p:sp>
      <p:sp>
        <p:nvSpPr>
          <p:cNvPr id="5" name="kicker-dot-163"/>
          <p:cNvSpPr/>
          <p:nvPr/>
        </p:nvSpPr>
        <p:spPr>
          <a:xfrm>
            <a:off x="548640" y="6761988"/>
            <a:ext cx="100584" cy="100584"/>
          </a:xfrm>
          <a:prstGeom prst="ellipse">
            <a:avLst/>
          </a:prstGeom>
          <a:solidFill>
            <a:schemeClr val="accent6"/>
          </a:solidFill>
          <a:ln w="12700">
            <a:solidFill>
              <a:schemeClr val="accent6"/>
            </a:solidFill>
            <a:prstDash val="solid"/>
          </a:ln>
        </p:spPr>
      </p:sp>
      <p:sp>
        <p:nvSpPr>
          <p:cNvPr id="6" name="text-164"/>
          <p:cNvSpPr txBox="1"/>
          <p:nvPr/>
        </p:nvSpPr>
        <p:spPr>
          <a:xfrm>
            <a:off x="731520" y="6720840"/>
            <a:ext cx="646480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THREE BIG IDEAS</a:t>
            </a:r>
            <a:endParaRPr lang="en-US" sz="900" dirty="0"/>
          </a:p>
        </p:txBody>
      </p:sp>
      <p:sp>
        <p:nvSpPr>
          <p:cNvPr id="7" name="card-165"/>
          <p:cNvSpPr/>
          <p:nvPr/>
        </p:nvSpPr>
        <p:spPr>
          <a:xfrm>
            <a:off x="548640" y="7059168"/>
            <a:ext cx="6464808" cy="987552"/>
          </a:xfrm>
          <a:prstGeom prst="roundRect">
            <a:avLst>
              <a:gd name="adj" fmla="val 7407"/>
            </a:avLst>
          </a:prstGeom>
          <a:solidFill>
            <a:schemeClr val="bg2"/>
          </a:solidFill>
          <a:ln w="12700">
            <a:solidFill>
              <a:schemeClr val="bg2"/>
            </a:solidFill>
            <a:prstDash val="solid"/>
          </a:ln>
        </p:spPr>
      </p:sp>
      <p:pic>
        <p:nvPicPr>
          <p:cNvPr id="8" name="picture-166" descr="fusion spread">    </p:cNvPr>
          <p:cNvPicPr>
            <a:picLocks noChangeAspect="1"/>
          </p:cNvPicPr>
          <p:nvPr/>
        </p:nvPicPr>
        <p:blipFill>
          <a:blip r:embed="rId3"/>
          <a:srcRect l="0" r="0" t="37068" b="22719"/>
          <a:stretch/>
        </p:blipFill>
        <p:spPr>
          <a:xfrm>
            <a:off x="548640" y="7059168"/>
            <a:ext cx="1737360" cy="987552"/>
          </a:xfrm>
          <a:prstGeom prst="rect">
            <a:avLst/>
          </a:prstGeom>
        </p:spPr>
      </p:pic>
      <p:sp>
        <p:nvSpPr>
          <p:cNvPr id="9" name="marker-167"/>
          <p:cNvSpPr/>
          <p:nvPr/>
        </p:nvSpPr>
        <p:spPr>
          <a:xfrm>
            <a:off x="2423160" y="7187184"/>
            <a:ext cx="365760" cy="365760"/>
          </a:xfrm>
          <a:prstGeom prst="ellipse">
            <a:avLst/>
          </a:prstGeom>
          <a:solidFill>
            <a:schemeClr val="accent3"/>
          </a:solidFill>
          <a:ln w="12700">
            <a:solidFill>
              <a:schemeClr val="accent3"/>
            </a:solidFill>
            <a:prstDash val="solid"/>
          </a:ln>
        </p:spPr>
      </p:sp>
      <p:sp>
        <p:nvSpPr>
          <p:cNvPr id="10" name="text-168"/>
          <p:cNvSpPr txBox="1"/>
          <p:nvPr/>
        </p:nvSpPr>
        <p:spPr>
          <a:xfrm>
            <a:off x="2423160" y="718718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69"/>
          <p:cNvSpPr txBox="1"/>
          <p:nvPr/>
        </p:nvSpPr>
        <p:spPr>
          <a:xfrm>
            <a:off x="2926080" y="7168896"/>
            <a:ext cx="321868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The City’s Own Sun</a:t>
            </a:r>
            <a:endParaRPr lang="en-US" sz="1300" dirty="0"/>
          </a:p>
        </p:txBody>
      </p:sp>
      <p:sp>
        <p:nvSpPr>
          <p:cNvPr id="12" name="text-170"/>
          <p:cNvSpPr txBox="1"/>
          <p:nvPr/>
        </p:nvSpPr>
        <p:spPr>
          <a:xfrm>
            <a:off x="2926080" y="7479792"/>
            <a:ext cx="3950208" cy="457200"/>
          </a:xfrm>
          <a:prstGeom prst="rect">
            <a:avLst/>
          </a:prstGeom>
          <a:noFill/>
          <a:ln/>
        </p:spPr>
        <p:txBody>
          <a:bodyPr wrap="square" lIns="0" tIns="0" rIns="0" bIns="0" rtlCol="0" anchor="t"/>
          <a:lstStyle/>
          <a:p>
            <a:pPr indent="0" marL="0">
              <a:lnSpc>
                <a:spcPct val="104000"/>
              </a:lnSpc>
              <a:buNone/>
            </a:pPr>
            <a:r>
              <a:rPr lang="en-US" sz="1000" dirty="0">
                <a:solidFill>
                  <a:schemeClr val="tx1"/>
                </a:solidFill>
              </a:rPr>
              <a:t>A fusion reactor powers and heats every home.</a:t>
            </a:r>
            <a:endParaRPr lang="en-US" sz="1000" dirty="0"/>
          </a:p>
        </p:txBody>
      </p:sp>
      <p:sp>
        <p:nvSpPr>
          <p:cNvPr id="13" name="text-171"/>
          <p:cNvSpPr txBox="1"/>
          <p:nvPr/>
        </p:nvSpPr>
        <p:spPr>
          <a:xfrm>
            <a:off x="6144768" y="7187184"/>
            <a:ext cx="731520" cy="219456"/>
          </a:xfrm>
          <a:prstGeom prst="rect">
            <a:avLst/>
          </a:prstGeom>
          <a:noFill/>
          <a:ln/>
        </p:spPr>
        <p:txBody>
          <a:bodyPr wrap="square" lIns="0" tIns="0" rIns="0" bIns="0" rtlCol="0" anchor="t"/>
          <a:lstStyle/>
          <a:p>
            <a:pPr algn="r" indent="0" marL="0">
              <a:buNone/>
            </a:pPr>
            <a:r>
              <a:rPr lang="en-US" sz="800" b="1" spc="200" kern="0" dirty="0">
                <a:solidFill>
                  <a:schemeClr val="accent3"/>
                </a:solidFill>
              </a:rPr>
              <a:t>PAGE 12</a:t>
            </a:r>
            <a:endParaRPr lang="en-US" sz="800" dirty="0"/>
          </a:p>
        </p:txBody>
      </p:sp>
      <p:sp>
        <p:nvSpPr>
          <p:cNvPr id="14" name="card-172"/>
          <p:cNvSpPr/>
          <p:nvPr/>
        </p:nvSpPr>
        <p:spPr>
          <a:xfrm>
            <a:off x="548640" y="8138160"/>
            <a:ext cx="6464808" cy="987552"/>
          </a:xfrm>
          <a:prstGeom prst="roundRect">
            <a:avLst>
              <a:gd name="adj" fmla="val 7407"/>
            </a:avLst>
          </a:prstGeom>
          <a:solidFill>
            <a:schemeClr val="bg2"/>
          </a:solidFill>
          <a:ln w="12700">
            <a:solidFill>
              <a:schemeClr val="bg2"/>
            </a:solidFill>
            <a:prstDash val="solid"/>
          </a:ln>
        </p:spPr>
      </p:sp>
      <p:pic>
        <p:nvPicPr>
          <p:cNvPr id="15" name="picture-173" descr="food">    </p:cNvPr>
          <p:cNvPicPr>
            <a:picLocks noChangeAspect="1"/>
          </p:cNvPicPr>
          <p:nvPr/>
        </p:nvPicPr>
        <p:blipFill>
          <a:blip r:embed="rId4"/>
          <a:srcRect l="0" r="0" t="38862" b="20925"/>
          <a:stretch/>
        </p:blipFill>
        <p:spPr>
          <a:xfrm>
            <a:off x="548640" y="8138160"/>
            <a:ext cx="1737360" cy="987552"/>
          </a:xfrm>
          <a:prstGeom prst="rect">
            <a:avLst/>
          </a:prstGeom>
        </p:spPr>
      </p:pic>
      <p:sp>
        <p:nvSpPr>
          <p:cNvPr id="16" name="marker-174"/>
          <p:cNvSpPr/>
          <p:nvPr/>
        </p:nvSpPr>
        <p:spPr>
          <a:xfrm>
            <a:off x="2423160" y="8266176"/>
            <a:ext cx="365760" cy="365760"/>
          </a:xfrm>
          <a:prstGeom prst="ellipse">
            <a:avLst/>
          </a:prstGeom>
          <a:solidFill>
            <a:schemeClr val="accent4"/>
          </a:solidFill>
          <a:ln w="12700">
            <a:solidFill>
              <a:schemeClr val="accent4"/>
            </a:solidFill>
            <a:prstDash val="solid"/>
          </a:ln>
        </p:spPr>
      </p:sp>
      <p:sp>
        <p:nvSpPr>
          <p:cNvPr id="17" name="text-175"/>
          <p:cNvSpPr txBox="1"/>
          <p:nvPr/>
        </p:nvSpPr>
        <p:spPr>
          <a:xfrm>
            <a:off x="2423160" y="826617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76"/>
          <p:cNvSpPr txBox="1"/>
          <p:nvPr/>
        </p:nvSpPr>
        <p:spPr>
          <a:xfrm>
            <a:off x="2926080" y="8247888"/>
            <a:ext cx="321868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Bread and Water from Snow and Air</a:t>
            </a:r>
            <a:endParaRPr lang="en-US" sz="1300" dirty="0"/>
          </a:p>
        </p:txBody>
      </p:sp>
      <p:sp>
        <p:nvSpPr>
          <p:cNvPr id="19" name="text-177"/>
          <p:cNvSpPr txBox="1"/>
          <p:nvPr/>
        </p:nvSpPr>
        <p:spPr>
          <a:xfrm>
            <a:off x="2926080" y="8558784"/>
            <a:ext cx="3950208" cy="457200"/>
          </a:xfrm>
          <a:prstGeom prst="rect">
            <a:avLst/>
          </a:prstGeom>
          <a:noFill/>
          <a:ln/>
        </p:spPr>
        <p:txBody>
          <a:bodyPr wrap="square" lIns="0" tIns="0" rIns="0" bIns="0" rtlCol="0" anchor="t"/>
          <a:lstStyle/>
          <a:p>
            <a:pPr indent="0" marL="0">
              <a:lnSpc>
                <a:spcPct val="104000"/>
              </a:lnSpc>
              <a:buNone/>
            </a:pPr>
            <a:r>
              <a:rPr lang="en-US" sz="1000" dirty="0">
                <a:solidFill>
                  <a:schemeClr val="tx1"/>
                </a:solidFill>
              </a:rPr>
              <a:t>A plant turns snow and air into water and food.</a:t>
            </a:r>
            <a:endParaRPr lang="en-US" sz="1000" dirty="0"/>
          </a:p>
        </p:txBody>
      </p:sp>
      <p:sp>
        <p:nvSpPr>
          <p:cNvPr id="20" name="text-178"/>
          <p:cNvSpPr txBox="1"/>
          <p:nvPr/>
        </p:nvSpPr>
        <p:spPr>
          <a:xfrm>
            <a:off x="6144768" y="8266176"/>
            <a:ext cx="731520" cy="219456"/>
          </a:xfrm>
          <a:prstGeom prst="rect">
            <a:avLst/>
          </a:prstGeom>
          <a:noFill/>
          <a:ln/>
        </p:spPr>
        <p:txBody>
          <a:bodyPr wrap="square" lIns="0" tIns="0" rIns="0" bIns="0" rtlCol="0" anchor="t"/>
          <a:lstStyle/>
          <a:p>
            <a:pPr algn="r" indent="0" marL="0">
              <a:buNone/>
            </a:pPr>
            <a:r>
              <a:rPr lang="en-US" sz="800" b="1" spc="200" kern="0" dirty="0">
                <a:solidFill>
                  <a:schemeClr val="accent4"/>
                </a:solidFill>
              </a:rPr>
              <a:t>PAGE 15</a:t>
            </a:r>
            <a:endParaRPr lang="en-US" sz="800" dirty="0"/>
          </a:p>
        </p:txBody>
      </p:sp>
      <p:sp>
        <p:nvSpPr>
          <p:cNvPr id="21" name="card-179"/>
          <p:cNvSpPr/>
          <p:nvPr/>
        </p:nvSpPr>
        <p:spPr>
          <a:xfrm>
            <a:off x="548640" y="9217152"/>
            <a:ext cx="6464808" cy="987552"/>
          </a:xfrm>
          <a:prstGeom prst="roundRect">
            <a:avLst>
              <a:gd name="adj" fmla="val 7407"/>
            </a:avLst>
          </a:prstGeom>
          <a:solidFill>
            <a:schemeClr val="bg2"/>
          </a:solidFill>
          <a:ln w="12700">
            <a:solidFill>
              <a:schemeClr val="bg2"/>
            </a:solidFill>
            <a:prstDash val="solid"/>
          </a:ln>
        </p:spPr>
      </p:sp>
      <p:pic>
        <p:nvPicPr>
          <p:cNvPr id="22" name="picture-180" descr="spa">    </p:cNvPr>
          <p:cNvPicPr>
            <a:picLocks noChangeAspect="1"/>
          </p:cNvPicPr>
          <p:nvPr/>
        </p:nvPicPr>
        <p:blipFill>
          <a:blip r:embed="rId5"/>
          <a:srcRect l="0" r="0" t="29894" b="29894"/>
          <a:stretch/>
        </p:blipFill>
        <p:spPr>
          <a:xfrm>
            <a:off x="548640" y="9217152"/>
            <a:ext cx="1737360" cy="987552"/>
          </a:xfrm>
          <a:prstGeom prst="rect">
            <a:avLst/>
          </a:prstGeom>
        </p:spPr>
      </p:pic>
      <p:sp>
        <p:nvSpPr>
          <p:cNvPr id="23" name="marker-181"/>
          <p:cNvSpPr/>
          <p:nvPr/>
        </p:nvSpPr>
        <p:spPr>
          <a:xfrm>
            <a:off x="2423160" y="9345168"/>
            <a:ext cx="365760" cy="365760"/>
          </a:xfrm>
          <a:prstGeom prst="ellipse">
            <a:avLst/>
          </a:prstGeom>
          <a:solidFill>
            <a:schemeClr val="accent5"/>
          </a:solidFill>
          <a:ln w="12700">
            <a:solidFill>
              <a:schemeClr val="accent5"/>
            </a:solidFill>
            <a:prstDash val="solid"/>
          </a:ln>
        </p:spPr>
      </p:sp>
      <p:sp>
        <p:nvSpPr>
          <p:cNvPr id="24" name="text-182"/>
          <p:cNvSpPr txBox="1"/>
          <p:nvPr/>
        </p:nvSpPr>
        <p:spPr>
          <a:xfrm>
            <a:off x="2423160" y="93451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183"/>
          <p:cNvSpPr txBox="1"/>
          <p:nvPr/>
        </p:nvSpPr>
        <p:spPr>
          <a:xfrm>
            <a:off x="2926080" y="9326880"/>
            <a:ext cx="321868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Snow Mountain You Can Walk Inside</a:t>
            </a:r>
            <a:endParaRPr lang="en-US" sz="1300" dirty="0"/>
          </a:p>
        </p:txBody>
      </p:sp>
      <p:sp>
        <p:nvSpPr>
          <p:cNvPr id="26" name="text-184"/>
          <p:cNvSpPr txBox="1"/>
          <p:nvPr/>
        </p:nvSpPr>
        <p:spPr>
          <a:xfrm>
            <a:off x="2926080" y="9637776"/>
            <a:ext cx="3950208" cy="457200"/>
          </a:xfrm>
          <a:prstGeom prst="rect">
            <a:avLst/>
          </a:prstGeom>
          <a:noFill/>
          <a:ln/>
        </p:spPr>
        <p:txBody>
          <a:bodyPr wrap="square" lIns="0" tIns="0" rIns="0" bIns="0" rtlCol="0" anchor="t"/>
          <a:lstStyle/>
          <a:p>
            <a:pPr indent="0" marL="0">
              <a:lnSpc>
                <a:spcPct val="104000"/>
              </a:lnSpc>
              <a:buNone/>
            </a:pPr>
            <a:r>
              <a:rPr lang="en-US" sz="1000" dirty="0">
                <a:solidFill>
                  <a:schemeClr val="tx1"/>
                </a:solidFill>
              </a:rPr>
              <a:t>Warm pools and saunas inside a snow peak.</a:t>
            </a:r>
            <a:endParaRPr lang="en-US" sz="1000" dirty="0"/>
          </a:p>
        </p:txBody>
      </p:sp>
      <p:sp>
        <p:nvSpPr>
          <p:cNvPr id="27" name="text-185"/>
          <p:cNvSpPr txBox="1"/>
          <p:nvPr/>
        </p:nvSpPr>
        <p:spPr>
          <a:xfrm>
            <a:off x="6144768" y="9345168"/>
            <a:ext cx="731520" cy="219456"/>
          </a:xfrm>
          <a:prstGeom prst="rect">
            <a:avLst/>
          </a:prstGeom>
          <a:noFill/>
          <a:ln/>
        </p:spPr>
        <p:txBody>
          <a:bodyPr wrap="square" lIns="0" tIns="0" rIns="0" bIns="0" rtlCol="0" anchor="t"/>
          <a:lstStyle/>
          <a:p>
            <a:pPr algn="r" indent="0" marL="0">
              <a:buNone/>
            </a:pPr>
            <a:r>
              <a:rPr lang="en-US" sz="800" b="1" spc="200" kern="0" dirty="0">
                <a:solidFill>
                  <a:schemeClr val="accent5"/>
                </a:solidFill>
              </a:rPr>
              <a:t>PAGE 17</a:t>
            </a:r>
            <a:endParaRPr lang="en-US" sz="80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5</a:t>
            </a:r>
            <a:endParaRPr lang="en-US" sz="900" dirty="0"/>
          </a:p>
        </p:txBody>
      </p:sp>
      <p:sp>
        <p:nvSpPr>
          <p:cNvPr id="29"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86" descr="storm">    </p:cNvPr>
          <p:cNvPicPr>
            <a:picLocks noChangeAspect="1"/>
          </p:cNvPicPr>
          <p:nvPr/>
        </p:nvPicPr>
        <p:blipFill>
          <a:blip r:embed="rId1"/>
          <a:srcRect l="0" r="0" t="20748" b="25359"/>
          <a:stretch/>
        </p:blipFill>
        <p:spPr>
          <a:xfrm>
            <a:off x="0" y="0"/>
            <a:ext cx="7562088" cy="5760720"/>
          </a:xfrm>
          <a:prstGeom prst="rect">
            <a:avLst/>
          </a:prstGeom>
        </p:spPr>
      </p:pic>
      <p:pic>
        <p:nvPicPr>
          <p:cNvPr id="3" name="shade-fade-187" descr="shade">    </p:cNvPr>
          <p:cNvPicPr>
            <a:picLocks noChangeAspect="1"/>
          </p:cNvPicPr>
          <p:nvPr/>
        </p:nvPicPr>
        <p:blipFill>
          <a:blip r:embed="rId2"/>
          <a:stretch>
            <a:fillRect/>
          </a:stretch>
        </p:blipFill>
        <p:spPr>
          <a:xfrm>
            <a:off x="0" y="3291840"/>
            <a:ext cx="7562088" cy="2514600"/>
          </a:xfrm>
          <a:prstGeom prst="rect">
            <a:avLst/>
          </a:prstGeom>
        </p:spPr>
      </p:pic>
      <p:pic>
        <p:nvPicPr>
          <p:cNvPr id="4" name="shade-fade-188" descr="shade">    </p:cNvPr>
          <p:cNvPicPr>
            <a:picLocks noChangeAspect="1"/>
          </p:cNvPicPr>
          <p:nvPr/>
        </p:nvPicPr>
        <p:blipFill>
          <a:blip r:embed="rId3"/>
          <a:stretch>
            <a:fillRect/>
          </a:stretch>
        </p:blipFill>
        <p:spPr>
          <a:xfrm>
            <a:off x="0" y="3291840"/>
            <a:ext cx="7562088" cy="2514600"/>
          </a:xfrm>
          <a:prstGeom prst="rect">
            <a:avLst/>
          </a:prstGeom>
        </p:spPr>
      </p:pic>
      <p:sp>
        <p:nvSpPr>
          <p:cNvPr id="5" name="kicker-dot-189"/>
          <p:cNvSpPr/>
          <p:nvPr/>
        </p:nvSpPr>
        <p:spPr>
          <a:xfrm>
            <a:off x="548640" y="4613148"/>
            <a:ext cx="100584" cy="100584"/>
          </a:xfrm>
          <a:prstGeom prst="ellipse">
            <a:avLst/>
          </a:prstGeom>
          <a:solidFill>
            <a:schemeClr val="accent1"/>
          </a:solidFill>
          <a:ln w="12700">
            <a:solidFill>
              <a:schemeClr val="accent1"/>
            </a:solidFill>
            <a:prstDash val="solid"/>
          </a:ln>
        </p:spPr>
      </p:sp>
      <p:sp>
        <p:nvSpPr>
          <p:cNvPr id="6" name="text-190"/>
          <p:cNvSpPr txBox="1"/>
          <p:nvPr/>
        </p:nvSpPr>
        <p:spPr>
          <a:xfrm>
            <a:off x="731520" y="457200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7" name="title-191"/>
          <p:cNvSpPr txBox="1"/>
          <p:nvPr/>
        </p:nvSpPr>
        <p:spPr>
          <a:xfrm>
            <a:off x="548640" y="482803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8" name="text-193"/>
          <p:cNvSpPr txBox="1"/>
          <p:nvPr/>
        </p:nvSpPr>
        <p:spPr>
          <a:xfrm>
            <a:off x="548640" y="5650992"/>
            <a:ext cx="6464808" cy="41148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a:t>
            </a:r>
            <a:endParaRPr lang="en-US" sz="1500" dirty="0"/>
          </a:p>
        </p:txBody>
      </p:sp>
      <p:sp>
        <p:nvSpPr>
          <p:cNvPr id="9" name="text-194"/>
          <p:cNvSpPr txBox="1"/>
          <p:nvPr/>
        </p:nvSpPr>
        <p:spPr>
          <a:xfrm>
            <a:off x="548640" y="6263640"/>
            <a:ext cx="4069080" cy="251460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bg1"/>
                </a:solidFill>
              </a:rPr>
              <a:t>Aurora Haven stands on the Arctic tundra at about 70° North. Winter falls to −45 °C, and the sun stays down for about two months, as in Tromsø, Norway [1].</a:t>
            </a:r>
            <a:endParaRPr lang="en-US" sz="1100" dirty="0"/>
          </a:p>
          <a:p>
            <a:pPr indent="0" marL="0">
              <a:lnSpc>
                <a:spcPct val="112000"/>
              </a:lnSpc>
              <a:spcAft>
                <a:spcPts val="700"/>
              </a:spcAft>
              <a:buNone/>
            </a:pPr>
            <a:r>
              <a:rPr lang="en-US" sz="1100" dirty="0">
                <a:solidFill>
                  <a:schemeClr val="bg1"/>
                </a:solidFill>
              </a:rPr>
              <a:t>The ground is permafrost: a warm building can thaw it and crack. The Arctic is warming nearly four times faster than the world [2], and much of its infrastructure is at risk by 2050 [3].</a:t>
            </a:r>
            <a:endParaRPr lang="en-US" sz="1100" dirty="0"/>
          </a:p>
          <a:p>
            <a:pPr indent="0" marL="0">
              <a:lnSpc>
                <a:spcPct val="112000"/>
              </a:lnSpc>
              <a:spcAft>
                <a:spcPts val="700"/>
              </a:spcAft>
              <a:buNone/>
            </a:pPr>
            <a:r>
              <a:rPr lang="en-US" sz="1100" dirty="0">
                <a:solidFill>
                  <a:schemeClr val="bg1"/>
                </a:solidFill>
              </a:rPr>
              <a:t>With no farmland, winter supplies come by air. So we asked one question about every building:</a:t>
            </a:r>
            <a:endParaRPr lang="en-US" sz="1100" dirty="0"/>
          </a:p>
        </p:txBody>
      </p:sp>
      <p:sp>
        <p:nvSpPr>
          <p:cNvPr id="10" name="quote-rule-195"/>
          <p:cNvSpPr/>
          <p:nvPr/>
        </p:nvSpPr>
        <p:spPr>
          <a:xfrm>
            <a:off x="548640" y="8732520"/>
            <a:ext cx="548640" cy="45720"/>
          </a:xfrm>
          <a:prstGeom prst="rect">
            <a:avLst/>
          </a:prstGeom>
          <a:solidFill>
            <a:schemeClr val="accent1"/>
          </a:solidFill>
          <a:ln w="12700">
            <a:solidFill>
              <a:schemeClr val="accent1"/>
            </a:solidFill>
            <a:prstDash val="solid"/>
          </a:ln>
        </p:spPr>
      </p:sp>
      <p:sp>
        <p:nvSpPr>
          <p:cNvPr id="11" name="text-196"/>
          <p:cNvSpPr txBox="1"/>
          <p:nvPr/>
        </p:nvSpPr>
        <p:spPr>
          <a:xfrm>
            <a:off x="548640" y="8897112"/>
            <a:ext cx="406908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2" name="text-197"/>
          <p:cNvSpPr txBox="1"/>
          <p:nvPr/>
        </p:nvSpPr>
        <p:spPr>
          <a:xfrm>
            <a:off x="4983480" y="6263640"/>
            <a:ext cx="202996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−45 °C</a:t>
            </a:r>
            <a:endParaRPr lang="en-US" sz="2600" dirty="0"/>
          </a:p>
        </p:txBody>
      </p:sp>
      <p:sp>
        <p:nvSpPr>
          <p:cNvPr id="13" name="text-198"/>
          <p:cNvSpPr txBox="1"/>
          <p:nvPr/>
        </p:nvSpPr>
        <p:spPr>
          <a:xfrm>
            <a:off x="4983480" y="6694424"/>
            <a:ext cx="2029968" cy="384048"/>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in winter</a:t>
            </a:r>
            <a:endParaRPr lang="en-US" sz="1000" dirty="0"/>
          </a:p>
        </p:txBody>
      </p:sp>
      <p:sp>
        <p:nvSpPr>
          <p:cNvPr id="14" name="text-199"/>
          <p:cNvSpPr txBox="1"/>
          <p:nvPr/>
        </p:nvSpPr>
        <p:spPr>
          <a:xfrm>
            <a:off x="4983480" y="7223760"/>
            <a:ext cx="202996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2 months</a:t>
            </a:r>
            <a:endParaRPr lang="en-US" sz="2600" dirty="0"/>
          </a:p>
        </p:txBody>
      </p:sp>
      <p:sp>
        <p:nvSpPr>
          <p:cNvPr id="15" name="text-200"/>
          <p:cNvSpPr txBox="1"/>
          <p:nvPr/>
        </p:nvSpPr>
        <p:spPr>
          <a:xfrm>
            <a:off x="4983480" y="7654544"/>
            <a:ext cx="2029968" cy="384048"/>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of polar night</a:t>
            </a:r>
            <a:endParaRPr lang="en-US" sz="1000" dirty="0"/>
          </a:p>
        </p:txBody>
      </p:sp>
      <p:sp>
        <p:nvSpPr>
          <p:cNvPr id="16" name="text-201"/>
          <p:cNvSpPr txBox="1"/>
          <p:nvPr/>
        </p:nvSpPr>
        <p:spPr>
          <a:xfrm>
            <a:off x="4983480" y="8183880"/>
            <a:ext cx="202996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4×</a:t>
            </a:r>
            <a:endParaRPr lang="en-US" sz="2600" dirty="0"/>
          </a:p>
        </p:txBody>
      </p:sp>
      <p:sp>
        <p:nvSpPr>
          <p:cNvPr id="17" name="text-202"/>
          <p:cNvSpPr txBox="1"/>
          <p:nvPr/>
        </p:nvSpPr>
        <p:spPr>
          <a:xfrm>
            <a:off x="4983480" y="8614664"/>
            <a:ext cx="2029968" cy="384048"/>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faster warming than the world</a:t>
            </a:r>
            <a:endParaRPr lang="en-US" sz="1000" dirty="0"/>
          </a:p>
        </p:txBody>
      </p:sp>
      <p:sp>
        <p:nvSpPr>
          <p:cNvPr id="18" name="text-203"/>
          <p:cNvSpPr txBox="1"/>
          <p:nvPr/>
        </p:nvSpPr>
        <p:spPr>
          <a:xfrm>
            <a:off x="4983480" y="9509760"/>
            <a:ext cx="202996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planted spruce windbreaks.</a:t>
            </a:r>
            <a:endParaRPr lang="en-US" sz="850" dirty="0"/>
          </a:p>
        </p:txBody>
      </p:sp>
      <p:sp>
        <p:nvSpPr>
          <p:cNvPr id="1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6</a:t>
            </a:r>
            <a:endParaRPr lang="en-US" sz="900" dirty="0"/>
          </a:p>
        </p:txBody>
      </p:sp>
      <p:sp>
        <p:nvSpPr>
          <p:cNvPr id="2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WELCOME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204" descr="principles">    </p:cNvPr>
          <p:cNvPicPr>
            <a:picLocks noChangeAspect="1"/>
          </p:cNvPicPr>
          <p:nvPr/>
        </p:nvPicPr>
        <p:blipFill>
          <a:blip r:embed="rId1"/>
          <a:srcRect l="0" r="0" t="16336" b="16336"/>
          <a:stretch/>
        </p:blipFill>
        <p:spPr>
          <a:xfrm>
            <a:off x="0" y="0"/>
            <a:ext cx="7562088" cy="2651760"/>
          </a:xfrm>
          <a:prstGeom prst="rect">
            <a:avLst/>
          </a:prstGeom>
        </p:spPr>
      </p:pic>
      <p:sp>
        <p:nvSpPr>
          <p:cNvPr id="3" name="text-205"/>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a:t>
            </a:r>
            <a:endParaRPr lang="en-US" sz="850" dirty="0"/>
          </a:p>
        </p:txBody>
      </p:sp>
      <p:sp>
        <p:nvSpPr>
          <p:cNvPr id="4" name="kicker-dot-206"/>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207"/>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208"/>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210"/>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211"/>
          <p:cNvSpPr txBox="1"/>
          <p:nvPr/>
        </p:nvSpPr>
        <p:spPr>
          <a:xfrm>
            <a:off x="548640" y="495604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9" name="card-212"/>
          <p:cNvSpPr/>
          <p:nvPr/>
        </p:nvSpPr>
        <p:spPr>
          <a:xfrm>
            <a:off x="548640" y="5230368"/>
            <a:ext cx="2063496" cy="1115568"/>
          </a:xfrm>
          <a:prstGeom prst="roundRect">
            <a:avLst>
              <a:gd name="adj" fmla="val 6557"/>
            </a:avLst>
          </a:prstGeom>
          <a:solidFill>
            <a:schemeClr val="bg2"/>
          </a:solidFill>
          <a:ln w="12700">
            <a:solidFill>
              <a:schemeClr val="bg2"/>
            </a:solidFill>
            <a:prstDash val="solid"/>
          </a:ln>
        </p:spPr>
      </p:sp>
      <p:sp>
        <p:nvSpPr>
          <p:cNvPr id="10" name="text-213"/>
          <p:cNvSpPr txBox="1"/>
          <p:nvPr/>
        </p:nvSpPr>
        <p:spPr>
          <a:xfrm>
            <a:off x="676656" y="5321808"/>
            <a:ext cx="1807464" cy="237744"/>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Arctic communities</a:t>
            </a:r>
            <a:endParaRPr lang="en-US" sz="1200" dirty="0"/>
          </a:p>
        </p:txBody>
      </p:sp>
      <p:sp>
        <p:nvSpPr>
          <p:cNvPr id="11" name="text-214"/>
          <p:cNvSpPr txBox="1"/>
          <p:nvPr/>
        </p:nvSpPr>
        <p:spPr>
          <a:xfrm>
            <a:off x="676656" y="5596128"/>
            <a:ext cx="1807464" cy="713232"/>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About 4 million people live in the Arctic [4], many on thawing ground [3].</a:t>
            </a:r>
            <a:endParaRPr lang="en-US" sz="1050" dirty="0"/>
          </a:p>
        </p:txBody>
      </p:sp>
      <p:sp>
        <p:nvSpPr>
          <p:cNvPr id="12" name="card-215"/>
          <p:cNvSpPr/>
          <p:nvPr/>
        </p:nvSpPr>
        <p:spPr>
          <a:xfrm>
            <a:off x="2749296" y="5230368"/>
            <a:ext cx="2063496" cy="1115568"/>
          </a:xfrm>
          <a:prstGeom prst="roundRect">
            <a:avLst>
              <a:gd name="adj" fmla="val 6557"/>
            </a:avLst>
          </a:prstGeom>
          <a:solidFill>
            <a:schemeClr val="bg2"/>
          </a:solidFill>
          <a:ln w="12700">
            <a:solidFill>
              <a:schemeClr val="bg2"/>
            </a:solidFill>
            <a:prstDash val="solid"/>
          </a:ln>
        </p:spPr>
      </p:sp>
      <p:sp>
        <p:nvSpPr>
          <p:cNvPr id="13" name="text-216"/>
          <p:cNvSpPr txBox="1"/>
          <p:nvPr/>
        </p:nvSpPr>
        <p:spPr>
          <a:xfrm>
            <a:off x="2877312" y="5321808"/>
            <a:ext cx="1807464" cy="237744"/>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4" name="text-217"/>
          <p:cNvSpPr txBox="1"/>
          <p:nvPr/>
        </p:nvSpPr>
        <p:spPr>
          <a:xfrm>
            <a:off x="2877312" y="5596128"/>
            <a:ext cx="1807464" cy="713232"/>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In winter, food and medicine come only by air. One long storm can cut a town off.</a:t>
            </a:r>
            <a:endParaRPr lang="en-US" sz="1050" dirty="0"/>
          </a:p>
        </p:txBody>
      </p:sp>
      <p:sp>
        <p:nvSpPr>
          <p:cNvPr id="15" name="card-218"/>
          <p:cNvSpPr/>
          <p:nvPr/>
        </p:nvSpPr>
        <p:spPr>
          <a:xfrm>
            <a:off x="4949952" y="5230368"/>
            <a:ext cx="2063496" cy="1115568"/>
          </a:xfrm>
          <a:prstGeom prst="roundRect">
            <a:avLst>
              <a:gd name="adj" fmla="val 6557"/>
            </a:avLst>
          </a:prstGeom>
          <a:solidFill>
            <a:schemeClr val="bg2"/>
          </a:solidFill>
          <a:ln w="12700">
            <a:solidFill>
              <a:schemeClr val="bg2"/>
            </a:solidFill>
            <a:prstDash val="solid"/>
          </a:ln>
        </p:spPr>
      </p:sp>
      <p:sp>
        <p:nvSpPr>
          <p:cNvPr id="16" name="text-219"/>
          <p:cNvSpPr txBox="1"/>
          <p:nvPr/>
        </p:nvSpPr>
        <p:spPr>
          <a:xfrm>
            <a:off x="5077968" y="5321808"/>
            <a:ext cx="1807464" cy="237744"/>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a:t>
            </a:r>
            <a:endParaRPr lang="en-US" sz="1200" dirty="0"/>
          </a:p>
        </p:txBody>
      </p:sp>
      <p:sp>
        <p:nvSpPr>
          <p:cNvPr id="17" name="text-220"/>
          <p:cNvSpPr txBox="1"/>
          <p:nvPr/>
        </p:nvSpPr>
        <p:spPr>
          <a:xfrm>
            <a:off x="5077968" y="5596128"/>
            <a:ext cx="1807464" cy="713232"/>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Foxes, birds and reindeer need frozen land that a careless city could melt.</a:t>
            </a:r>
            <a:endParaRPr lang="en-US" sz="1050" dirty="0"/>
          </a:p>
        </p:txBody>
      </p:sp>
      <p:sp>
        <p:nvSpPr>
          <p:cNvPr id="18" name="text-221"/>
          <p:cNvSpPr txBox="1"/>
          <p:nvPr/>
        </p:nvSpPr>
        <p:spPr>
          <a:xfrm>
            <a:off x="548640" y="66294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CRISIS, AND OUR ANSWER</a:t>
            </a:r>
            <a:endParaRPr lang="en-US" sz="900" dirty="0"/>
          </a:p>
        </p:txBody>
      </p:sp>
      <p:sp>
        <p:nvSpPr>
          <p:cNvPr id="19" name="row-band-222"/>
          <p:cNvSpPr/>
          <p:nvPr/>
        </p:nvSpPr>
        <p:spPr>
          <a:xfrm>
            <a:off x="548640" y="6903720"/>
            <a:ext cx="6464808" cy="603504"/>
          </a:xfrm>
          <a:prstGeom prst="rect">
            <a:avLst/>
          </a:prstGeom>
          <a:solidFill>
            <a:schemeClr val="bg2"/>
          </a:solidFill>
          <a:ln w="12700">
            <a:solidFill>
              <a:schemeClr val="bg2"/>
            </a:solidFill>
            <a:prstDash val="solid"/>
          </a:ln>
        </p:spPr>
      </p:sp>
      <p:sp>
        <p:nvSpPr>
          <p:cNvPr id="20" name="text-223"/>
          <p:cNvSpPr txBox="1"/>
          <p:nvPr/>
        </p:nvSpPr>
        <p:spPr>
          <a:xfrm>
            <a:off x="685800" y="6903720"/>
            <a:ext cx="2240280" cy="603504"/>
          </a:xfrm>
          <a:prstGeom prst="rect">
            <a:avLst/>
          </a:prstGeom>
          <a:noFill/>
          <a:ln/>
        </p:spPr>
        <p:txBody>
          <a:bodyPr wrap="square" lIns="0" tIns="0" rIns="0" bIns="0" rtlCol="0" anchor="ctr"/>
          <a:lstStyle/>
          <a:p>
            <a:pPr indent="0" marL="0">
              <a:buNone/>
            </a:pPr>
            <a:r>
              <a:rPr lang="en-US" sz="1150" b="1" dirty="0">
                <a:solidFill>
                  <a:schemeClr val="accent6"/>
                </a:solidFill>
              </a:rPr>
              <a:t>Cold down to −45 °C</a:t>
            </a:r>
            <a:endParaRPr lang="en-US" sz="1150" dirty="0"/>
          </a:p>
        </p:txBody>
      </p:sp>
      <p:sp>
        <p:nvSpPr>
          <p:cNvPr id="21" name="text-224"/>
          <p:cNvSpPr txBox="1"/>
          <p:nvPr/>
        </p:nvSpPr>
        <p:spPr>
          <a:xfrm>
            <a:off x="2926080" y="6903720"/>
            <a:ext cx="274320" cy="603504"/>
          </a:xfrm>
          <a:prstGeom prst="rect">
            <a:avLst/>
          </a:prstGeom>
          <a:noFill/>
          <a:ln/>
        </p:spPr>
        <p:txBody>
          <a:bodyPr wrap="square" lIns="0" tIns="0" rIns="0" bIns="0" rtlCol="0" anchor="ctr"/>
          <a:lstStyle/>
          <a:p>
            <a:pPr indent="0" marL="0">
              <a:buNone/>
            </a:pPr>
            <a:r>
              <a:rPr lang="en-US" sz="1200" b="1" dirty="0">
                <a:solidFill>
                  <a:schemeClr val="accent6"/>
                </a:solidFill>
              </a:rPr>
              <a:t>→</a:t>
            </a:r>
            <a:endParaRPr lang="en-US" sz="1200" dirty="0"/>
          </a:p>
        </p:txBody>
      </p:sp>
      <p:sp>
        <p:nvSpPr>
          <p:cNvPr id="22" name="text-225"/>
          <p:cNvSpPr txBox="1"/>
          <p:nvPr/>
        </p:nvSpPr>
        <p:spPr>
          <a:xfrm>
            <a:off x="3246120" y="6903720"/>
            <a:ext cx="3675888" cy="603504"/>
          </a:xfrm>
          <a:prstGeom prst="rect">
            <a:avLst/>
          </a:prstGeom>
          <a:noFill/>
          <a:ln/>
        </p:spPr>
        <p:txBody>
          <a:bodyPr wrap="square" lIns="0" tIns="0" rIns="0" bIns="0" rtlCol="0" anchor="ctr"/>
          <a:lstStyle/>
          <a:p>
            <a:pPr indent="0" marL="0">
              <a:buNone/>
            </a:pPr>
            <a:r>
              <a:rPr lang="en-US" sz="1100" dirty="0">
                <a:solidFill>
                  <a:schemeClr val="tx1"/>
                </a:solidFill>
              </a:rPr>
              <a:t>One shared heating loop and super-insulated homes</a:t>
            </a:r>
            <a:endParaRPr lang="en-US" sz="1100" dirty="0"/>
          </a:p>
        </p:txBody>
      </p:sp>
      <p:sp>
        <p:nvSpPr>
          <p:cNvPr id="23" name="text-226"/>
          <p:cNvSpPr txBox="1"/>
          <p:nvPr/>
        </p:nvSpPr>
        <p:spPr>
          <a:xfrm>
            <a:off x="685800" y="7507224"/>
            <a:ext cx="2240280" cy="603504"/>
          </a:xfrm>
          <a:prstGeom prst="rect">
            <a:avLst/>
          </a:prstGeom>
          <a:noFill/>
          <a:ln/>
        </p:spPr>
        <p:txBody>
          <a:bodyPr wrap="square" lIns="0" tIns="0" rIns="0" bIns="0" rtlCol="0" anchor="ctr"/>
          <a:lstStyle/>
          <a:p>
            <a:pPr indent="0" marL="0">
              <a:buNone/>
            </a:pPr>
            <a:r>
              <a:rPr lang="en-US" sz="1150" b="1" dirty="0">
                <a:solidFill>
                  <a:schemeClr val="accent6"/>
                </a:solidFill>
              </a:rPr>
              <a:t>Two months of darkness</a:t>
            </a:r>
            <a:endParaRPr lang="en-US" sz="1150" dirty="0"/>
          </a:p>
        </p:txBody>
      </p:sp>
      <p:sp>
        <p:nvSpPr>
          <p:cNvPr id="24" name="text-227"/>
          <p:cNvSpPr txBox="1"/>
          <p:nvPr/>
        </p:nvSpPr>
        <p:spPr>
          <a:xfrm>
            <a:off x="2926080" y="7507224"/>
            <a:ext cx="274320" cy="603504"/>
          </a:xfrm>
          <a:prstGeom prst="rect">
            <a:avLst/>
          </a:prstGeom>
          <a:noFill/>
          <a:ln/>
        </p:spPr>
        <p:txBody>
          <a:bodyPr wrap="square" lIns="0" tIns="0" rIns="0" bIns="0" rtlCol="0" anchor="ctr"/>
          <a:lstStyle/>
          <a:p>
            <a:pPr indent="0" marL="0">
              <a:buNone/>
            </a:pPr>
            <a:r>
              <a:rPr lang="en-US" sz="1200" b="1" dirty="0">
                <a:solidFill>
                  <a:schemeClr val="accent6"/>
                </a:solidFill>
              </a:rPr>
              <a:t>→</a:t>
            </a:r>
            <a:endParaRPr lang="en-US" sz="1200" dirty="0"/>
          </a:p>
        </p:txBody>
      </p:sp>
      <p:sp>
        <p:nvSpPr>
          <p:cNvPr id="25" name="text-228"/>
          <p:cNvSpPr txBox="1"/>
          <p:nvPr/>
        </p:nvSpPr>
        <p:spPr>
          <a:xfrm>
            <a:off x="3246120" y="7507224"/>
            <a:ext cx="3675888" cy="603504"/>
          </a:xfrm>
          <a:prstGeom prst="rect">
            <a:avLst/>
          </a:prstGeom>
          <a:noFill/>
          <a:ln/>
        </p:spPr>
        <p:txBody>
          <a:bodyPr wrap="square" lIns="0" tIns="0" rIns="0" bIns="0" rtlCol="0" anchor="ctr"/>
          <a:lstStyle/>
          <a:p>
            <a:pPr indent="0" marL="0">
              <a:buNone/>
            </a:pPr>
            <a:r>
              <a:rPr lang="en-US" sz="1100" dirty="0">
                <a:solidFill>
                  <a:schemeClr val="tx1"/>
                </a:solidFill>
              </a:rPr>
              <a:t>Bright public spaces and a warm spa mountain</a:t>
            </a:r>
            <a:endParaRPr lang="en-US" sz="1100" dirty="0"/>
          </a:p>
        </p:txBody>
      </p:sp>
      <p:sp>
        <p:nvSpPr>
          <p:cNvPr id="26" name="row-band-229"/>
          <p:cNvSpPr/>
          <p:nvPr/>
        </p:nvSpPr>
        <p:spPr>
          <a:xfrm>
            <a:off x="548640" y="8110728"/>
            <a:ext cx="6464808" cy="603504"/>
          </a:xfrm>
          <a:prstGeom prst="rect">
            <a:avLst/>
          </a:prstGeom>
          <a:solidFill>
            <a:schemeClr val="bg2"/>
          </a:solidFill>
          <a:ln w="12700">
            <a:solidFill>
              <a:schemeClr val="bg2"/>
            </a:solidFill>
            <a:prstDash val="solid"/>
          </a:ln>
        </p:spPr>
      </p:sp>
      <p:sp>
        <p:nvSpPr>
          <p:cNvPr id="27" name="text-230"/>
          <p:cNvSpPr txBox="1"/>
          <p:nvPr/>
        </p:nvSpPr>
        <p:spPr>
          <a:xfrm>
            <a:off x="685800" y="8110728"/>
            <a:ext cx="2240280" cy="603504"/>
          </a:xfrm>
          <a:prstGeom prst="rect">
            <a:avLst/>
          </a:prstGeom>
          <a:noFill/>
          <a:ln/>
        </p:spPr>
        <p:txBody>
          <a:bodyPr wrap="square" lIns="0" tIns="0" rIns="0" bIns="0" rtlCol="0" anchor="ctr"/>
          <a:lstStyle/>
          <a:p>
            <a:pPr indent="0" marL="0">
              <a:buNone/>
            </a:pPr>
            <a:r>
              <a:rPr lang="en-US" sz="1150" b="1" dirty="0">
                <a:solidFill>
                  <a:schemeClr val="accent6"/>
                </a:solidFill>
              </a:rPr>
              <a:t>No farmland</a:t>
            </a:r>
            <a:endParaRPr lang="en-US" sz="1150" dirty="0"/>
          </a:p>
        </p:txBody>
      </p:sp>
      <p:sp>
        <p:nvSpPr>
          <p:cNvPr id="28" name="text-231"/>
          <p:cNvSpPr txBox="1"/>
          <p:nvPr/>
        </p:nvSpPr>
        <p:spPr>
          <a:xfrm>
            <a:off x="2926080" y="8110728"/>
            <a:ext cx="274320" cy="603504"/>
          </a:xfrm>
          <a:prstGeom prst="rect">
            <a:avLst/>
          </a:prstGeom>
          <a:noFill/>
          <a:ln/>
        </p:spPr>
        <p:txBody>
          <a:bodyPr wrap="square" lIns="0" tIns="0" rIns="0" bIns="0" rtlCol="0" anchor="ctr"/>
          <a:lstStyle/>
          <a:p>
            <a:pPr indent="0" marL="0">
              <a:buNone/>
            </a:pPr>
            <a:r>
              <a:rPr lang="en-US" sz="1200" b="1" dirty="0">
                <a:solidFill>
                  <a:schemeClr val="accent6"/>
                </a:solidFill>
              </a:rPr>
              <a:t>→</a:t>
            </a:r>
            <a:endParaRPr lang="en-US" sz="1200" dirty="0"/>
          </a:p>
        </p:txBody>
      </p:sp>
      <p:sp>
        <p:nvSpPr>
          <p:cNvPr id="29" name="text-232"/>
          <p:cNvSpPr txBox="1"/>
          <p:nvPr/>
        </p:nvSpPr>
        <p:spPr>
          <a:xfrm>
            <a:off x="3246120" y="8110728"/>
            <a:ext cx="3675888" cy="603504"/>
          </a:xfrm>
          <a:prstGeom prst="rect">
            <a:avLst/>
          </a:prstGeom>
          <a:noFill/>
          <a:ln/>
        </p:spPr>
        <p:txBody>
          <a:bodyPr wrap="square" lIns="0" tIns="0" rIns="0" bIns="0" rtlCol="0" anchor="ctr"/>
          <a:lstStyle/>
          <a:p>
            <a:pPr indent="0" marL="0">
              <a:buNone/>
            </a:pPr>
            <a:r>
              <a:rPr lang="en-US" sz="1100" dirty="0">
                <a:solidFill>
                  <a:schemeClr val="tx1"/>
                </a:solidFill>
              </a:rPr>
              <a:t>Water and food made from snow and air</a:t>
            </a:r>
            <a:endParaRPr lang="en-US" sz="1100" dirty="0"/>
          </a:p>
        </p:txBody>
      </p:sp>
      <p:sp>
        <p:nvSpPr>
          <p:cNvPr id="30" name="text-233"/>
          <p:cNvSpPr txBox="1"/>
          <p:nvPr/>
        </p:nvSpPr>
        <p:spPr>
          <a:xfrm>
            <a:off x="685800" y="8714232"/>
            <a:ext cx="2240280" cy="603504"/>
          </a:xfrm>
          <a:prstGeom prst="rect">
            <a:avLst/>
          </a:prstGeom>
          <a:noFill/>
          <a:ln/>
        </p:spPr>
        <p:txBody>
          <a:bodyPr wrap="square" lIns="0" tIns="0" rIns="0" bIns="0" rtlCol="0" anchor="ctr"/>
          <a:lstStyle/>
          <a:p>
            <a:pPr indent="0" marL="0">
              <a:buNone/>
            </a:pPr>
            <a:r>
              <a:rPr lang="en-US" sz="1150" b="1" dirty="0">
                <a:solidFill>
                  <a:schemeClr val="accent6"/>
                </a:solidFill>
              </a:rPr>
              <a:t>Thawing ground</a:t>
            </a:r>
            <a:endParaRPr lang="en-US" sz="1150" dirty="0"/>
          </a:p>
        </p:txBody>
      </p:sp>
      <p:sp>
        <p:nvSpPr>
          <p:cNvPr id="31" name="text-234"/>
          <p:cNvSpPr txBox="1"/>
          <p:nvPr/>
        </p:nvSpPr>
        <p:spPr>
          <a:xfrm>
            <a:off x="2926080" y="8714232"/>
            <a:ext cx="274320" cy="603504"/>
          </a:xfrm>
          <a:prstGeom prst="rect">
            <a:avLst/>
          </a:prstGeom>
          <a:noFill/>
          <a:ln/>
        </p:spPr>
        <p:txBody>
          <a:bodyPr wrap="square" lIns="0" tIns="0" rIns="0" bIns="0" rtlCol="0" anchor="ctr"/>
          <a:lstStyle/>
          <a:p>
            <a:pPr indent="0" marL="0">
              <a:buNone/>
            </a:pPr>
            <a:r>
              <a:rPr lang="en-US" sz="1200" b="1" dirty="0">
                <a:solidFill>
                  <a:schemeClr val="accent6"/>
                </a:solidFill>
              </a:rPr>
              <a:t>→</a:t>
            </a:r>
            <a:endParaRPr lang="en-US" sz="1200" dirty="0"/>
          </a:p>
        </p:txBody>
      </p:sp>
      <p:sp>
        <p:nvSpPr>
          <p:cNvPr id="32" name="text-235"/>
          <p:cNvSpPr txBox="1"/>
          <p:nvPr/>
        </p:nvSpPr>
        <p:spPr>
          <a:xfrm>
            <a:off x="3246120" y="8714232"/>
            <a:ext cx="3675888" cy="603504"/>
          </a:xfrm>
          <a:prstGeom prst="rect">
            <a:avLst/>
          </a:prstGeom>
          <a:noFill/>
          <a:ln/>
        </p:spPr>
        <p:txBody>
          <a:bodyPr wrap="square" lIns="0" tIns="0" rIns="0" bIns="0" rtlCol="0" anchor="ctr"/>
          <a:lstStyle/>
          <a:p>
            <a:pPr indent="0" marL="0">
              <a:buNone/>
            </a:pPr>
            <a:r>
              <a:rPr lang="en-US" sz="1100" dirty="0">
                <a:solidFill>
                  <a:schemeClr val="tx1"/>
                </a:solidFill>
              </a:rPr>
              <a:t>Insulated piles and thermosyphons keep it frozen</a:t>
            </a:r>
            <a:endParaRPr lang="en-US" sz="1100" dirty="0"/>
          </a:p>
        </p:txBody>
      </p:sp>
      <p:sp>
        <p:nvSpPr>
          <p:cNvPr id="33" name="row-band-236"/>
          <p:cNvSpPr/>
          <p:nvPr/>
        </p:nvSpPr>
        <p:spPr>
          <a:xfrm>
            <a:off x="548640" y="9317736"/>
            <a:ext cx="6464808" cy="603504"/>
          </a:xfrm>
          <a:prstGeom prst="rect">
            <a:avLst/>
          </a:prstGeom>
          <a:solidFill>
            <a:schemeClr val="bg2"/>
          </a:solidFill>
          <a:ln w="12700">
            <a:solidFill>
              <a:schemeClr val="bg2"/>
            </a:solidFill>
            <a:prstDash val="solid"/>
          </a:ln>
        </p:spPr>
      </p:sp>
      <p:sp>
        <p:nvSpPr>
          <p:cNvPr id="34" name="text-237"/>
          <p:cNvSpPr txBox="1"/>
          <p:nvPr/>
        </p:nvSpPr>
        <p:spPr>
          <a:xfrm>
            <a:off x="685800" y="9317736"/>
            <a:ext cx="2240280" cy="603504"/>
          </a:xfrm>
          <a:prstGeom prst="rect">
            <a:avLst/>
          </a:prstGeom>
          <a:noFill/>
          <a:ln/>
        </p:spPr>
        <p:txBody>
          <a:bodyPr wrap="square" lIns="0" tIns="0" rIns="0" bIns="0" rtlCol="0" anchor="ctr"/>
          <a:lstStyle/>
          <a:p>
            <a:pPr indent="0" marL="0">
              <a:buNone/>
            </a:pPr>
            <a:r>
              <a:rPr lang="en-US" sz="1150" b="1" dirty="0">
                <a:solidFill>
                  <a:schemeClr val="accent6"/>
                </a:solidFill>
              </a:rPr>
              <a:t>Cut off by storms</a:t>
            </a:r>
            <a:endParaRPr lang="en-US" sz="1150" dirty="0"/>
          </a:p>
        </p:txBody>
      </p:sp>
      <p:sp>
        <p:nvSpPr>
          <p:cNvPr id="35" name="text-238"/>
          <p:cNvSpPr txBox="1"/>
          <p:nvPr/>
        </p:nvSpPr>
        <p:spPr>
          <a:xfrm>
            <a:off x="2926080" y="9317736"/>
            <a:ext cx="274320" cy="603504"/>
          </a:xfrm>
          <a:prstGeom prst="rect">
            <a:avLst/>
          </a:prstGeom>
          <a:noFill/>
          <a:ln/>
        </p:spPr>
        <p:txBody>
          <a:bodyPr wrap="square" lIns="0" tIns="0" rIns="0" bIns="0" rtlCol="0" anchor="ctr"/>
          <a:lstStyle/>
          <a:p>
            <a:pPr indent="0" marL="0">
              <a:buNone/>
            </a:pPr>
            <a:r>
              <a:rPr lang="en-US" sz="1200" b="1" dirty="0">
                <a:solidFill>
                  <a:schemeClr val="accent6"/>
                </a:solidFill>
              </a:rPr>
              <a:t>→</a:t>
            </a:r>
            <a:endParaRPr lang="en-US" sz="1200" dirty="0"/>
          </a:p>
        </p:txBody>
      </p:sp>
      <p:sp>
        <p:nvSpPr>
          <p:cNvPr id="36" name="text-239"/>
          <p:cNvSpPr txBox="1"/>
          <p:nvPr/>
        </p:nvSpPr>
        <p:spPr>
          <a:xfrm>
            <a:off x="3246120" y="9317736"/>
            <a:ext cx="3675888" cy="603504"/>
          </a:xfrm>
          <a:prstGeom prst="rect">
            <a:avLst/>
          </a:prstGeom>
          <a:noFill/>
          <a:ln/>
        </p:spPr>
        <p:txBody>
          <a:bodyPr wrap="square" lIns="0" tIns="0" rIns="0" bIns="0" rtlCol="0" anchor="ctr"/>
          <a:lstStyle/>
          <a:p>
            <a:pPr indent="0" marL="0">
              <a:buNone/>
            </a:pPr>
            <a:r>
              <a:rPr lang="en-US" sz="1100" dirty="0">
                <a:solidFill>
                  <a:schemeClr val="tx1"/>
                </a:solidFill>
              </a:rPr>
              <a:t>Our own power, shelters and blizzard warnings</a:t>
            </a:r>
            <a:endParaRPr lang="en-US" sz="1100" dirty="0"/>
          </a:p>
        </p:txBody>
      </p:sp>
      <p:sp>
        <p:nvSpPr>
          <p:cNvPr id="37"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7</a:t>
            </a:r>
            <a:endParaRPr lang="en-US" sz="900" dirty="0"/>
          </a:p>
        </p:txBody>
      </p:sp>
      <p:sp>
        <p:nvSpPr>
          <p:cNvPr id="38"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40" descr="liberty dusk">    </p:cNvPr>
          <p:cNvPicPr>
            <a:picLocks noChangeAspect="1"/>
          </p:cNvPicPr>
          <p:nvPr/>
        </p:nvPicPr>
        <p:blipFill>
          <a:blip r:embed="rId1"/>
          <a:srcRect l="1" r="0" t="0" b="0"/>
          <a:stretch/>
        </p:blipFill>
        <p:spPr>
          <a:xfrm>
            <a:off x="0" y="0"/>
            <a:ext cx="7562088" cy="10689336"/>
          </a:xfrm>
          <a:prstGeom prst="rect">
            <a:avLst/>
          </a:prstGeom>
        </p:spPr>
      </p:pic>
      <p:pic>
        <p:nvPicPr>
          <p:cNvPr id="3" name="shade-fade-241" descr="shade">    </p:cNvPr>
          <p:cNvPicPr>
            <a:picLocks noChangeAspect="1"/>
          </p:cNvPicPr>
          <p:nvPr/>
        </p:nvPicPr>
        <p:blipFill>
          <a:blip r:embed="rId2"/>
          <a:stretch>
            <a:fillRect/>
          </a:stretch>
        </p:blipFill>
        <p:spPr>
          <a:xfrm>
            <a:off x="0" y="4206240"/>
            <a:ext cx="7562088" cy="6483096"/>
          </a:xfrm>
          <a:prstGeom prst="rect">
            <a:avLst/>
          </a:prstGeom>
        </p:spPr>
      </p:pic>
      <p:pic>
        <p:nvPicPr>
          <p:cNvPr id="4" name="shade-fade-242" descr="shade">    </p:cNvPr>
          <p:cNvPicPr>
            <a:picLocks noChangeAspect="1"/>
          </p:cNvPicPr>
          <p:nvPr/>
        </p:nvPicPr>
        <p:blipFill>
          <a:blip r:embed="rId3"/>
          <a:stretch>
            <a:fillRect/>
          </a:stretch>
        </p:blipFill>
        <p:spPr>
          <a:xfrm>
            <a:off x="0" y="4206240"/>
            <a:ext cx="7562088" cy="6483096"/>
          </a:xfrm>
          <a:prstGeom prst="rect">
            <a:avLst/>
          </a:prstGeom>
        </p:spPr>
      </p:pic>
      <p:sp>
        <p:nvSpPr>
          <p:cNvPr id="5" name="kicker-dot-246"/>
          <p:cNvSpPr/>
          <p:nvPr/>
        </p:nvSpPr>
        <p:spPr>
          <a:xfrm>
            <a:off x="548640" y="7402068"/>
            <a:ext cx="100584" cy="100584"/>
          </a:xfrm>
          <a:prstGeom prst="ellipse">
            <a:avLst/>
          </a:prstGeom>
          <a:solidFill>
            <a:schemeClr val="accent1"/>
          </a:solidFill>
          <a:ln w="12700">
            <a:solidFill>
              <a:schemeClr val="accent1"/>
            </a:solidFill>
            <a:prstDash val="solid"/>
          </a:ln>
        </p:spPr>
      </p:sp>
      <p:sp>
        <p:nvSpPr>
          <p:cNvPr id="6" name="text-247"/>
          <p:cNvSpPr txBox="1"/>
          <p:nvPr/>
        </p:nvSpPr>
        <p:spPr>
          <a:xfrm>
            <a:off x="731520" y="73609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7" name="title-248"/>
          <p:cNvSpPr txBox="1"/>
          <p:nvPr/>
        </p:nvSpPr>
        <p:spPr>
          <a:xfrm>
            <a:off x="548640" y="7616952"/>
            <a:ext cx="6464808" cy="1188720"/>
          </a:xfrm>
          <a:prstGeom prst="rect">
            <a:avLst/>
          </a:prstGeom>
          <a:noFill/>
          <a:ln/>
        </p:spPr>
        <p:txBody>
          <a:bodyPr wrap="square" lIns="0" tIns="0" rIns="0" bIns="0" rtlCol="0" anchor="t"/>
          <a:lstStyle/>
          <a:p>
            <a:pPr indent="0" marL="0">
              <a:lnSpc>
                <a:spcPct val="92000"/>
              </a:lnSpc>
              <a:buNone/>
            </a:pPr>
            <a:r>
              <a:rPr lang="en-US" sz="4200" b="1" dirty="0">
                <a:solidFill>
                  <a:schemeClr val="bg1"/>
                </a:solidFill>
                <a:latin typeface="+mj-lt" pitchFamily="34" charset="0"/>
                <a:ea typeface="+mj-lt" pitchFamily="34" charset="-122"/>
                <a:cs typeface="+mj-lt" pitchFamily="34" charset="-120"/>
              </a:rPr>
              <a:t>Nine Blocks,</a:t>
            </a:r>
            <a:endParaRPr lang="en-US" sz="4200" dirty="0"/>
          </a:p>
          <a:p>
            <a:pPr indent="0" marL="0">
              <a:lnSpc>
                <a:spcPct val="92000"/>
              </a:lnSpc>
              <a:buNone/>
            </a:pPr>
            <a:r>
              <a:rPr lang="en-US" sz="4200" b="1" dirty="0">
                <a:solidFill>
                  <a:schemeClr val="bg1"/>
                </a:solidFill>
                <a:latin typeface="+mj-lt" pitchFamily="34" charset="0"/>
                <a:ea typeface="+mj-lt" pitchFamily="34" charset="-122"/>
                <a:cs typeface="+mj-lt" pitchFamily="34" charset="-120"/>
              </a:rPr>
              <a:t>One Short Walk</a:t>
            </a:r>
            <a:endParaRPr lang="en-US" sz="4200" dirty="0"/>
          </a:p>
        </p:txBody>
      </p:sp>
      <p:sp>
        <p:nvSpPr>
          <p:cNvPr id="8" name="text-250"/>
          <p:cNvSpPr txBox="1"/>
          <p:nvPr/>
        </p:nvSpPr>
        <p:spPr>
          <a:xfrm>
            <a:off x="548640" y="8851392"/>
            <a:ext cx="6464808" cy="566928"/>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all a short walk from the Founding Mayor Monument.</a:t>
            </a:r>
            <a:endParaRPr lang="en-US" sz="1400" dirty="0"/>
          </a:p>
        </p:txBody>
      </p:sp>
      <p:sp>
        <p:nvSpPr>
          <p:cNvPr id="9" name="text-251"/>
          <p:cNvSpPr txBox="1"/>
          <p:nvPr/>
        </p:nvSpPr>
        <p:spPr>
          <a:xfrm>
            <a:off x="548640" y="9491472"/>
            <a:ext cx="6464808" cy="457200"/>
          </a:xfrm>
          <a:prstGeom prst="rect">
            <a:avLst/>
          </a:prstGeom>
          <a:noFill/>
          <a:ln/>
        </p:spPr>
        <p:txBody>
          <a:bodyPr wrap="square" lIns="0" tIns="0" rIns="0" bIns="0" rtlCol="0" anchor="t"/>
          <a:lstStyle/>
          <a:p>
            <a:pPr indent="0" marL="0">
              <a:lnSpc>
                <a:spcPct val="110000"/>
              </a:lnSpc>
              <a:buNone/>
            </a:pPr>
            <a:r>
              <a:rPr lang="en-US" sz="1050" dirty="0">
                <a:solidFill>
                  <a:schemeClr val="bg1"/>
                </a:solidFill>
              </a:rPr>
              <a:t>Liberty Mall, the pedestrian heart of downtown, hosts markets and festivals.</a:t>
            </a:r>
            <a:endParaRPr lang="en-US" sz="1050" dirty="0"/>
          </a:p>
        </p:txBody>
      </p:sp>
      <p:sp>
        <p:nvSpPr>
          <p:cNvPr id="1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8</a:t>
            </a:r>
            <a:endParaRPr lang="en-US" sz="900" dirty="0"/>
          </a:p>
        </p:txBody>
      </p:sp>
      <p:sp>
        <p:nvSpPr>
          <p:cNvPr id="1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CITY</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43" descr="liberty dusk">    </p:cNvPr>
          <p:cNvPicPr>
            <a:picLocks noChangeAspect="1"/>
          </p:cNvPicPr>
          <p:nvPr/>
        </p:nvPicPr>
        <p:blipFill>
          <a:blip r:embed="rId1"/>
          <a:srcRect l="0" r="1" t="0" b="0"/>
          <a:stretch/>
        </p:blipFill>
        <p:spPr>
          <a:xfrm>
            <a:off x="0" y="0"/>
            <a:ext cx="7562088" cy="10689336"/>
          </a:xfrm>
          <a:prstGeom prst="rect">
            <a:avLst/>
          </a:prstGeom>
        </p:spPr>
      </p:pic>
      <p:pic>
        <p:nvPicPr>
          <p:cNvPr id="3" name="shade-fade-244" descr="shade">    </p:cNvPr>
          <p:cNvPicPr>
            <a:picLocks noChangeAspect="1"/>
          </p:cNvPicPr>
          <p:nvPr/>
        </p:nvPicPr>
        <p:blipFill>
          <a:blip r:embed="rId2"/>
          <a:stretch>
            <a:fillRect/>
          </a:stretch>
        </p:blipFill>
        <p:spPr>
          <a:xfrm>
            <a:off x="0" y="4206240"/>
            <a:ext cx="7562088" cy="6483096"/>
          </a:xfrm>
          <a:prstGeom prst="rect">
            <a:avLst/>
          </a:prstGeom>
        </p:spPr>
      </p:pic>
      <p:pic>
        <p:nvPicPr>
          <p:cNvPr id="4" name="shade-fade-245" descr="shade">    </p:cNvPr>
          <p:cNvPicPr>
            <a:picLocks noChangeAspect="1"/>
          </p:cNvPicPr>
          <p:nvPr/>
        </p:nvPicPr>
        <p:blipFill>
          <a:blip r:embed="rId3"/>
          <a:stretch>
            <a:fillRect/>
          </a:stretch>
        </p:blipFill>
        <p:spPr>
          <a:xfrm>
            <a:off x="0" y="4206240"/>
            <a:ext cx="7562088" cy="6483096"/>
          </a:xfrm>
          <a:prstGeom prst="rect">
            <a:avLst/>
          </a:prstGeom>
        </p:spPr>
      </p:pic>
      <p:sp>
        <p:nvSpPr>
          <p:cNvPr id="5" name="text-252"/>
          <p:cNvSpPr txBox="1"/>
          <p:nvPr/>
        </p:nvSpPr>
        <p:spPr>
          <a:xfrm>
            <a:off x="2990088" y="9601200"/>
            <a:ext cx="4023360" cy="3200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a:t>
            </a:r>
            <a:endParaRPr lang="en-US" sz="850" dirty="0"/>
          </a:p>
        </p:txBody>
      </p:sp>
      <p:sp>
        <p:nvSpPr>
          <p:cNvPr id="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9</a:t>
            </a:r>
            <a:endParaRPr lang="en-US" sz="900" dirty="0"/>
          </a:p>
        </p:txBody>
      </p:sp>
      <p:sp>
        <p:nvSpPr>
          <p:cNvPr id="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CITY</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5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city master plan">    </p:cNvPr>
          <p:cNvPicPr>
            <a:picLocks noChangeAspect="1"/>
          </p:cNvPicPr>
          <p:nvPr/>
        </p:nvPicPr>
        <p:blipFill>
          <a:blip r:embed="rId1"/>
          <a:srcRect l="1900" r="28700" t="9800" b="13600"/>
          <a:stretch/>
        </p:blipFill>
        <p:spPr>
          <a:xfrm>
            <a:off x="0" y="1600200"/>
            <a:ext cx="7562088" cy="5425308"/>
          </a:xfrm>
          <a:prstGeom prst="rect">
            <a:avLst/>
          </a:prstGeom>
        </p:spPr>
      </p:pic>
      <p:sp>
        <p:nvSpPr>
          <p:cNvPr id="6" name="text-258"/>
          <p:cNvSpPr txBox="1"/>
          <p:nvPr/>
        </p:nvSpPr>
        <p:spPr>
          <a:xfrm>
            <a:off x="548640" y="7089516"/>
            <a:ext cx="6464808" cy="365760"/>
          </a:xfrm>
          <a:prstGeom prst="rect">
            <a:avLst/>
          </a:prstGeom>
          <a:noFill/>
          <a:ln/>
        </p:spPr>
        <p:txBody>
          <a:bodyPr wrap="square" lIns="0" tIns="0" rIns="0" bIns="0" rtlCol="0" anchor="t"/>
          <a:lstStyle/>
          <a:p>
            <a:pPr indent="0" marL="0">
              <a:buNone/>
            </a:pPr>
            <a:r>
              <a:rPr lang="en-US" sz="850" i="1" dirty="0">
                <a:solidFill>
                  <a:schemeClr val="tx2"/>
                </a:solidFill>
              </a:rPr>
              <a:t>An illustrative plan from our 3D model, not to scale. North is up; the numbers are the places on page 34.</a:t>
            </a:r>
            <a:endParaRPr lang="en-US" sz="850" dirty="0"/>
          </a:p>
        </p:txBody>
      </p:sp>
      <p:sp>
        <p:nvSpPr>
          <p:cNvPr id="7" name="kicker-dot-259"/>
          <p:cNvSpPr/>
          <p:nvPr/>
        </p:nvSpPr>
        <p:spPr>
          <a:xfrm>
            <a:off x="548640" y="7661016"/>
            <a:ext cx="100584" cy="100584"/>
          </a:xfrm>
          <a:prstGeom prst="ellipse">
            <a:avLst/>
          </a:prstGeom>
          <a:solidFill>
            <a:schemeClr val="tx1"/>
          </a:solidFill>
          <a:ln w="12700">
            <a:solidFill>
              <a:schemeClr val="tx1"/>
            </a:solidFill>
            <a:prstDash val="solid"/>
          </a:ln>
        </p:spPr>
      </p:sp>
      <p:sp>
        <p:nvSpPr>
          <p:cNvPr id="8" name="text-260"/>
          <p:cNvSpPr txBox="1"/>
          <p:nvPr/>
        </p:nvSpPr>
        <p:spPr>
          <a:xfrm>
            <a:off x="731520" y="76198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61"/>
          <p:cNvSpPr txBox="1"/>
          <p:nvPr/>
        </p:nvSpPr>
        <p:spPr>
          <a:xfrm>
            <a:off x="548640" y="7875900"/>
            <a:ext cx="3095244" cy="45720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Nine blocks around the Founding Mayor Monument.</a:t>
            </a:r>
            <a:endParaRPr lang="en-US" sz="1050" dirty="0"/>
          </a:p>
        </p:txBody>
      </p:sp>
      <p:sp>
        <p:nvSpPr>
          <p:cNvPr id="10" name="kicker-dot-262"/>
          <p:cNvSpPr/>
          <p:nvPr/>
        </p:nvSpPr>
        <p:spPr>
          <a:xfrm>
            <a:off x="3918204" y="7661016"/>
            <a:ext cx="100584" cy="100584"/>
          </a:xfrm>
          <a:prstGeom prst="ellipse">
            <a:avLst/>
          </a:prstGeom>
          <a:solidFill>
            <a:schemeClr val="accent6"/>
          </a:solidFill>
          <a:ln w="12700">
            <a:solidFill>
              <a:schemeClr val="accent6"/>
            </a:solidFill>
            <a:prstDash val="solid"/>
          </a:ln>
        </p:spPr>
      </p:sp>
      <p:sp>
        <p:nvSpPr>
          <p:cNvPr id="11" name="text-263"/>
          <p:cNvSpPr txBox="1"/>
          <p:nvPr/>
        </p:nvSpPr>
        <p:spPr>
          <a:xfrm>
            <a:off x="4101084" y="76198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64"/>
          <p:cNvSpPr txBox="1"/>
          <p:nvPr/>
        </p:nvSpPr>
        <p:spPr>
          <a:xfrm>
            <a:off x="3918204" y="7875900"/>
            <a:ext cx="3095244" cy="45720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Wind and solar farms, the rescue station and the airport.</a:t>
            </a:r>
            <a:endParaRPr lang="en-US" sz="1050" dirty="0"/>
          </a:p>
        </p:txBody>
      </p:sp>
      <p:sp>
        <p:nvSpPr>
          <p:cNvPr id="13" name="kicker-dot-265"/>
          <p:cNvSpPr/>
          <p:nvPr/>
        </p:nvSpPr>
        <p:spPr>
          <a:xfrm>
            <a:off x="548640" y="8410824"/>
            <a:ext cx="100584" cy="100584"/>
          </a:xfrm>
          <a:prstGeom prst="ellipse">
            <a:avLst/>
          </a:prstGeom>
          <a:solidFill>
            <a:schemeClr val="tx2"/>
          </a:solidFill>
          <a:ln w="12700">
            <a:solidFill>
              <a:schemeClr val="tx2"/>
            </a:solidFill>
            <a:prstDash val="solid"/>
          </a:ln>
        </p:spPr>
      </p:sp>
      <p:sp>
        <p:nvSpPr>
          <p:cNvPr id="14" name="text-266"/>
          <p:cNvSpPr txBox="1"/>
          <p:nvPr/>
        </p:nvSpPr>
        <p:spPr>
          <a:xfrm>
            <a:off x="731520" y="8369676"/>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67"/>
          <p:cNvSpPr txBox="1"/>
          <p:nvPr/>
        </p:nvSpPr>
        <p:spPr>
          <a:xfrm>
            <a:off x="548640" y="8625708"/>
            <a:ext cx="3095244" cy="45720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Eco-homes behind a planted tree belt.</a:t>
            </a:r>
            <a:endParaRPr lang="en-US" sz="1050" dirty="0"/>
          </a:p>
        </p:txBody>
      </p:sp>
      <p:sp>
        <p:nvSpPr>
          <p:cNvPr id="16" name="kicker-dot-268"/>
          <p:cNvSpPr/>
          <p:nvPr/>
        </p:nvSpPr>
        <p:spPr>
          <a:xfrm>
            <a:off x="3918204" y="8410824"/>
            <a:ext cx="100584" cy="100584"/>
          </a:xfrm>
          <a:prstGeom prst="ellipse">
            <a:avLst/>
          </a:prstGeom>
          <a:solidFill>
            <a:schemeClr val="accent4"/>
          </a:solidFill>
          <a:ln w="12700">
            <a:solidFill>
              <a:schemeClr val="accent4"/>
            </a:solidFill>
            <a:prstDash val="solid"/>
          </a:ln>
        </p:spPr>
      </p:sp>
      <p:sp>
        <p:nvSpPr>
          <p:cNvPr id="17" name="text-269"/>
          <p:cNvSpPr txBox="1"/>
          <p:nvPr/>
        </p:nvSpPr>
        <p:spPr>
          <a:xfrm>
            <a:off x="4101084" y="8369676"/>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70"/>
          <p:cNvSpPr txBox="1"/>
          <p:nvPr/>
        </p:nvSpPr>
        <p:spPr>
          <a:xfrm>
            <a:off x="3918204" y="8625708"/>
            <a:ext cx="3095244" cy="45720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The fusion station, the Snow-to-Food plant and the greenhouses.</a:t>
            </a:r>
            <a:endParaRPr lang="en-US" sz="1050" dirty="0"/>
          </a:p>
        </p:txBody>
      </p:sp>
      <p:sp>
        <p:nvSpPr>
          <p:cNvPr id="19" name="kicker-dot-271"/>
          <p:cNvSpPr/>
          <p:nvPr/>
        </p:nvSpPr>
        <p:spPr>
          <a:xfrm>
            <a:off x="548640" y="9160632"/>
            <a:ext cx="100584" cy="100584"/>
          </a:xfrm>
          <a:prstGeom prst="ellipse">
            <a:avLst/>
          </a:prstGeom>
          <a:solidFill>
            <a:schemeClr val="accent5"/>
          </a:solidFill>
          <a:ln w="12700">
            <a:solidFill>
              <a:schemeClr val="accent5"/>
            </a:solidFill>
            <a:prstDash val="solid"/>
          </a:ln>
        </p:spPr>
      </p:sp>
      <p:sp>
        <p:nvSpPr>
          <p:cNvPr id="20" name="text-272"/>
          <p:cNvSpPr txBox="1"/>
          <p:nvPr/>
        </p:nvSpPr>
        <p:spPr>
          <a:xfrm>
            <a:off x="731520" y="9119484"/>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73"/>
          <p:cNvSpPr txBox="1"/>
          <p:nvPr/>
        </p:nvSpPr>
        <p:spPr>
          <a:xfrm>
            <a:off x="548640" y="9375516"/>
            <a:ext cx="3095244" cy="45720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Mount Aurora, with its spa inside.</a:t>
            </a:r>
            <a:endParaRPr lang="en-US" sz="10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10</a:t>
            </a:r>
            <a:endParaRPr lang="en-US" sz="900" dirty="0"/>
          </a:p>
        </p:txBody>
      </p:sp>
      <p:sp>
        <p:nvSpPr>
          <p:cNvPr id="2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CITY</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7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7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78" descr="downtown aerial">    </p:cNvPr>
          <p:cNvPicPr>
            <a:picLocks noChangeAspect="1"/>
          </p:cNvPicPr>
          <p:nvPr/>
        </p:nvPicPr>
        <p:blipFill>
          <a:blip r:embed="rId1"/>
          <a:srcRect l="9365" r="9365" t="0" b="0"/>
          <a:stretch/>
        </p:blipFill>
        <p:spPr>
          <a:xfrm>
            <a:off x="0" y="1508760"/>
            <a:ext cx="7562088" cy="4846320"/>
          </a:xfrm>
          <a:prstGeom prst="rect">
            <a:avLst/>
          </a:prstGeom>
        </p:spPr>
      </p:pic>
      <p:sp>
        <p:nvSpPr>
          <p:cNvPr id="6" name="text-279"/>
          <p:cNvSpPr txBox="1"/>
          <p:nvPr/>
        </p:nvSpPr>
        <p:spPr>
          <a:xfrm>
            <a:off x="548640" y="641908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cards follow the city plan.</a:t>
            </a:r>
            <a:endParaRPr lang="en-US" sz="850" dirty="0"/>
          </a:p>
        </p:txBody>
      </p:sp>
      <p:sp>
        <p:nvSpPr>
          <p:cNvPr id="7" name="card-280"/>
          <p:cNvSpPr/>
          <p:nvPr/>
        </p:nvSpPr>
        <p:spPr>
          <a:xfrm>
            <a:off x="548640" y="6784848"/>
            <a:ext cx="2093976" cy="932688"/>
          </a:xfrm>
          <a:prstGeom prst="roundRect">
            <a:avLst>
              <a:gd name="adj" fmla="val 7843"/>
            </a:avLst>
          </a:prstGeom>
          <a:solidFill>
            <a:schemeClr val="bg2"/>
          </a:solidFill>
          <a:ln w="12700">
            <a:solidFill>
              <a:schemeClr val="bg2"/>
            </a:solidFill>
            <a:prstDash val="solid"/>
          </a:ln>
        </p:spPr>
      </p:sp>
      <p:sp>
        <p:nvSpPr>
          <p:cNvPr id="8" name="text-281"/>
          <p:cNvSpPr txBox="1"/>
          <p:nvPr/>
        </p:nvSpPr>
        <p:spPr>
          <a:xfrm>
            <a:off x="667512" y="6894576"/>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Polaris Quarter</a:t>
            </a:r>
            <a:endParaRPr lang="en-US" sz="1100" dirty="0"/>
          </a:p>
        </p:txBody>
      </p:sp>
      <p:sp>
        <p:nvSpPr>
          <p:cNvPr id="9" name="text-282"/>
          <p:cNvSpPr txBox="1"/>
          <p:nvPr/>
        </p:nvSpPr>
        <p:spPr>
          <a:xfrm>
            <a:off x="667512" y="7187184"/>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AI control tower · police</a:t>
            </a:r>
            <a:endParaRPr lang="en-US" sz="1050" dirty="0"/>
          </a:p>
        </p:txBody>
      </p:sp>
      <p:sp>
        <p:nvSpPr>
          <p:cNvPr id="10" name="card-283"/>
          <p:cNvSpPr/>
          <p:nvPr/>
        </p:nvSpPr>
        <p:spPr>
          <a:xfrm>
            <a:off x="2734056" y="6784848"/>
            <a:ext cx="2093976" cy="932688"/>
          </a:xfrm>
          <a:prstGeom prst="roundRect">
            <a:avLst>
              <a:gd name="adj" fmla="val 7843"/>
            </a:avLst>
          </a:prstGeom>
          <a:solidFill>
            <a:schemeClr val="bg2"/>
          </a:solidFill>
          <a:ln w="12700">
            <a:solidFill>
              <a:schemeClr val="bg2"/>
            </a:solidFill>
            <a:prstDash val="solid"/>
          </a:ln>
        </p:spPr>
      </p:sp>
      <p:sp>
        <p:nvSpPr>
          <p:cNvPr id="11" name="text-284"/>
          <p:cNvSpPr txBox="1"/>
          <p:nvPr/>
        </p:nvSpPr>
        <p:spPr>
          <a:xfrm>
            <a:off x="2852928" y="6894576"/>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Knowledge Quarter</a:t>
            </a:r>
            <a:endParaRPr lang="en-US" sz="1100" dirty="0"/>
          </a:p>
        </p:txBody>
      </p:sp>
      <p:sp>
        <p:nvSpPr>
          <p:cNvPr id="12" name="text-285"/>
          <p:cNvSpPr txBox="1"/>
          <p:nvPr/>
        </p:nvSpPr>
        <p:spPr>
          <a:xfrm>
            <a:off x="2852928" y="7187184"/>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University · library</a:t>
            </a:r>
            <a:endParaRPr lang="en-US" sz="1050" dirty="0"/>
          </a:p>
        </p:txBody>
      </p:sp>
      <p:sp>
        <p:nvSpPr>
          <p:cNvPr id="13" name="card-286"/>
          <p:cNvSpPr/>
          <p:nvPr/>
        </p:nvSpPr>
        <p:spPr>
          <a:xfrm>
            <a:off x="4919472" y="6784848"/>
            <a:ext cx="2093976" cy="932688"/>
          </a:xfrm>
          <a:prstGeom prst="roundRect">
            <a:avLst>
              <a:gd name="adj" fmla="val 7843"/>
            </a:avLst>
          </a:prstGeom>
          <a:solidFill>
            <a:schemeClr val="bg2"/>
          </a:solidFill>
          <a:ln w="12700">
            <a:solidFill>
              <a:schemeClr val="bg2"/>
            </a:solidFill>
            <a:prstDash val="solid"/>
          </a:ln>
        </p:spPr>
      </p:sp>
      <p:sp>
        <p:nvSpPr>
          <p:cNvPr id="14" name="text-287"/>
          <p:cNvSpPr txBox="1"/>
          <p:nvPr/>
        </p:nvSpPr>
        <p:spPr>
          <a:xfrm>
            <a:off x="5038344" y="6894576"/>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Financial District</a:t>
            </a:r>
            <a:endParaRPr lang="en-US" sz="1100" dirty="0"/>
          </a:p>
        </p:txBody>
      </p:sp>
      <p:sp>
        <p:nvSpPr>
          <p:cNvPr id="15" name="text-288"/>
          <p:cNvSpPr txBox="1"/>
          <p:nvPr/>
        </p:nvSpPr>
        <p:spPr>
          <a:xfrm>
            <a:off x="5038344" y="7187184"/>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Stock exchange · courthouse</a:t>
            </a:r>
            <a:endParaRPr lang="en-US" sz="1050" dirty="0"/>
          </a:p>
        </p:txBody>
      </p:sp>
      <p:sp>
        <p:nvSpPr>
          <p:cNvPr id="16" name="card-289"/>
          <p:cNvSpPr/>
          <p:nvPr/>
        </p:nvSpPr>
        <p:spPr>
          <a:xfrm>
            <a:off x="548640" y="7808976"/>
            <a:ext cx="2093976" cy="932688"/>
          </a:xfrm>
          <a:prstGeom prst="roundRect">
            <a:avLst>
              <a:gd name="adj" fmla="val 7843"/>
            </a:avLst>
          </a:prstGeom>
          <a:solidFill>
            <a:schemeClr val="bg2"/>
          </a:solidFill>
          <a:ln w="12700">
            <a:solidFill>
              <a:schemeClr val="bg2"/>
            </a:solidFill>
            <a:prstDash val="solid"/>
          </a:ln>
        </p:spPr>
      </p:sp>
      <p:sp>
        <p:nvSpPr>
          <p:cNvPr id="17" name="text-290"/>
          <p:cNvSpPr txBox="1"/>
          <p:nvPr/>
        </p:nvSpPr>
        <p:spPr>
          <a:xfrm>
            <a:off x="667512" y="7918704"/>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West Market Street</a:t>
            </a:r>
            <a:endParaRPr lang="en-US" sz="1100" dirty="0"/>
          </a:p>
        </p:txBody>
      </p:sp>
      <p:sp>
        <p:nvSpPr>
          <p:cNvPr id="18" name="text-291"/>
          <p:cNvSpPr txBox="1"/>
          <p:nvPr/>
        </p:nvSpPr>
        <p:spPr>
          <a:xfrm>
            <a:off x="667512" y="8211312"/>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Fire station · night market</a:t>
            </a:r>
            <a:endParaRPr lang="en-US" sz="1050" dirty="0"/>
          </a:p>
        </p:txBody>
      </p:sp>
      <p:sp>
        <p:nvSpPr>
          <p:cNvPr id="19" name="card-292"/>
          <p:cNvSpPr/>
          <p:nvPr/>
        </p:nvSpPr>
        <p:spPr>
          <a:xfrm>
            <a:off x="2734056" y="7808976"/>
            <a:ext cx="2093976" cy="932688"/>
          </a:xfrm>
          <a:prstGeom prst="roundRect">
            <a:avLst>
              <a:gd name="adj" fmla="val 7843"/>
            </a:avLst>
          </a:prstGeom>
          <a:solidFill>
            <a:schemeClr val="tx1"/>
          </a:solidFill>
          <a:ln w="12700">
            <a:solidFill>
              <a:schemeClr val="tx1"/>
            </a:solidFill>
            <a:prstDash val="solid"/>
          </a:ln>
        </p:spPr>
      </p:sp>
      <p:sp>
        <p:nvSpPr>
          <p:cNvPr id="20" name="text-293"/>
          <p:cNvSpPr txBox="1"/>
          <p:nvPr/>
        </p:nvSpPr>
        <p:spPr>
          <a:xfrm>
            <a:off x="2852928" y="7918704"/>
            <a:ext cx="1856232" cy="219456"/>
          </a:xfrm>
          <a:prstGeom prst="rect">
            <a:avLst/>
          </a:prstGeom>
          <a:noFill/>
          <a:ln/>
        </p:spPr>
        <p:txBody>
          <a:bodyPr wrap="square" lIns="0" tIns="0" rIns="0" bIns="0" rtlCol="0" anchor="t"/>
          <a:lstStyle/>
          <a:p>
            <a:pPr indent="0" marL="0">
              <a:buNone/>
            </a:pPr>
            <a:r>
              <a:rPr lang="en-US" sz="1100" b="1" dirty="0">
                <a:solidFill>
                  <a:schemeClr val="accent1"/>
                </a:solidFill>
              </a:rPr>
              <a:t>Civic Core &amp; Liberty Mall</a:t>
            </a:r>
            <a:endParaRPr lang="en-US" sz="1100" dirty="0"/>
          </a:p>
        </p:txBody>
      </p:sp>
      <p:sp>
        <p:nvSpPr>
          <p:cNvPr id="21" name="text-294"/>
          <p:cNvSpPr txBox="1"/>
          <p:nvPr/>
        </p:nvSpPr>
        <p:spPr>
          <a:xfrm>
            <a:off x="2852928" y="8211312"/>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bg1"/>
                </a:solidFill>
              </a:rPr>
              <a:t>Monument · hospital · school · metro</a:t>
            </a:r>
            <a:endParaRPr lang="en-US" sz="1050" dirty="0"/>
          </a:p>
        </p:txBody>
      </p:sp>
      <p:sp>
        <p:nvSpPr>
          <p:cNvPr id="22" name="card-295"/>
          <p:cNvSpPr/>
          <p:nvPr/>
        </p:nvSpPr>
        <p:spPr>
          <a:xfrm>
            <a:off x="4919472" y="7808976"/>
            <a:ext cx="2093976" cy="932688"/>
          </a:xfrm>
          <a:prstGeom prst="roundRect">
            <a:avLst>
              <a:gd name="adj" fmla="val 7843"/>
            </a:avLst>
          </a:prstGeom>
          <a:solidFill>
            <a:schemeClr val="bg2"/>
          </a:solidFill>
          <a:ln w="12700">
            <a:solidFill>
              <a:schemeClr val="bg2"/>
            </a:solidFill>
            <a:prstDash val="solid"/>
          </a:ln>
        </p:spPr>
      </p:sp>
      <p:sp>
        <p:nvSpPr>
          <p:cNvPr id="23" name="text-296"/>
          <p:cNvSpPr txBox="1"/>
          <p:nvPr/>
        </p:nvSpPr>
        <p:spPr>
          <a:xfrm>
            <a:off x="5038344" y="7918704"/>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East Gallery Avenue</a:t>
            </a:r>
            <a:endParaRPr lang="en-US" sz="1100" dirty="0"/>
          </a:p>
        </p:txBody>
      </p:sp>
      <p:sp>
        <p:nvSpPr>
          <p:cNvPr id="24" name="text-297"/>
          <p:cNvSpPr txBox="1"/>
          <p:nvPr/>
        </p:nvSpPr>
        <p:spPr>
          <a:xfrm>
            <a:off x="5038344" y="8211312"/>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Glacier Mall · music hall</a:t>
            </a:r>
            <a:endParaRPr lang="en-US" sz="1050" dirty="0"/>
          </a:p>
        </p:txBody>
      </p:sp>
      <p:sp>
        <p:nvSpPr>
          <p:cNvPr id="25" name="card-298"/>
          <p:cNvSpPr/>
          <p:nvPr/>
        </p:nvSpPr>
        <p:spPr>
          <a:xfrm>
            <a:off x="548640" y="8833104"/>
            <a:ext cx="2093976" cy="932688"/>
          </a:xfrm>
          <a:prstGeom prst="roundRect">
            <a:avLst>
              <a:gd name="adj" fmla="val 7843"/>
            </a:avLst>
          </a:prstGeom>
          <a:solidFill>
            <a:schemeClr val="bg2"/>
          </a:solidFill>
          <a:ln w="12700">
            <a:solidFill>
              <a:schemeClr val="bg2"/>
            </a:solidFill>
            <a:prstDash val="solid"/>
          </a:ln>
        </p:spPr>
      </p:sp>
      <p:sp>
        <p:nvSpPr>
          <p:cNvPr id="26" name="text-299"/>
          <p:cNvSpPr txBox="1"/>
          <p:nvPr/>
        </p:nvSpPr>
        <p:spPr>
          <a:xfrm>
            <a:off x="667512" y="8942832"/>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Snowpine Residences</a:t>
            </a:r>
            <a:endParaRPr lang="en-US" sz="1100" dirty="0"/>
          </a:p>
        </p:txBody>
      </p:sp>
      <p:sp>
        <p:nvSpPr>
          <p:cNvPr id="27" name="text-300"/>
          <p:cNvSpPr txBox="1"/>
          <p:nvPr/>
        </p:nvSpPr>
        <p:spPr>
          <a:xfrm>
            <a:off x="667512" y="9235440"/>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Family homes · senior care</a:t>
            </a:r>
            <a:endParaRPr lang="en-US" sz="1050" dirty="0"/>
          </a:p>
        </p:txBody>
      </p:sp>
      <p:sp>
        <p:nvSpPr>
          <p:cNvPr id="28" name="card-301"/>
          <p:cNvSpPr/>
          <p:nvPr/>
        </p:nvSpPr>
        <p:spPr>
          <a:xfrm>
            <a:off x="2734056" y="8833104"/>
            <a:ext cx="2093976" cy="932688"/>
          </a:xfrm>
          <a:prstGeom prst="roundRect">
            <a:avLst>
              <a:gd name="adj" fmla="val 7843"/>
            </a:avLst>
          </a:prstGeom>
          <a:solidFill>
            <a:schemeClr val="bg2"/>
          </a:solidFill>
          <a:ln w="12700">
            <a:solidFill>
              <a:schemeClr val="bg2"/>
            </a:solidFill>
            <a:prstDash val="solid"/>
          </a:ln>
        </p:spPr>
      </p:sp>
      <p:sp>
        <p:nvSpPr>
          <p:cNvPr id="29" name="text-302"/>
          <p:cNvSpPr txBox="1"/>
          <p:nvPr/>
        </p:nvSpPr>
        <p:spPr>
          <a:xfrm>
            <a:off x="2852928" y="8942832"/>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Mount Aurora Approach</a:t>
            </a:r>
            <a:endParaRPr lang="en-US" sz="1100" dirty="0"/>
          </a:p>
        </p:txBody>
      </p:sp>
      <p:sp>
        <p:nvSpPr>
          <p:cNvPr id="30" name="text-303"/>
          <p:cNvSpPr txBox="1"/>
          <p:nvPr/>
        </p:nvSpPr>
        <p:spPr>
          <a:xfrm>
            <a:off x="2852928" y="9235440"/>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Guesthouse · spa shuttle</a:t>
            </a:r>
            <a:endParaRPr lang="en-US" sz="1050" dirty="0"/>
          </a:p>
        </p:txBody>
      </p:sp>
      <p:sp>
        <p:nvSpPr>
          <p:cNvPr id="31" name="card-304"/>
          <p:cNvSpPr/>
          <p:nvPr/>
        </p:nvSpPr>
        <p:spPr>
          <a:xfrm>
            <a:off x="4919472" y="8833104"/>
            <a:ext cx="2093976" cy="932688"/>
          </a:xfrm>
          <a:prstGeom prst="roundRect">
            <a:avLst>
              <a:gd name="adj" fmla="val 7843"/>
            </a:avLst>
          </a:prstGeom>
          <a:solidFill>
            <a:schemeClr val="bg2"/>
          </a:solidFill>
          <a:ln w="12700">
            <a:solidFill>
              <a:schemeClr val="bg2"/>
            </a:solidFill>
            <a:prstDash val="solid"/>
          </a:ln>
        </p:spPr>
      </p:sp>
      <p:sp>
        <p:nvSpPr>
          <p:cNvPr id="32" name="text-305"/>
          <p:cNvSpPr txBox="1"/>
          <p:nvPr/>
        </p:nvSpPr>
        <p:spPr>
          <a:xfrm>
            <a:off x="5038344" y="8942832"/>
            <a:ext cx="1856232" cy="219456"/>
          </a:xfrm>
          <a:prstGeom prst="rect">
            <a:avLst/>
          </a:prstGeom>
          <a:noFill/>
          <a:ln/>
        </p:spPr>
        <p:txBody>
          <a:bodyPr wrap="square" lIns="0" tIns="0" rIns="0" bIns="0" rtlCol="0" anchor="t"/>
          <a:lstStyle/>
          <a:p>
            <a:pPr indent="0" marL="0">
              <a:buNone/>
            </a:pPr>
            <a:r>
              <a:rPr lang="en-US" sz="1100" b="1" dirty="0">
                <a:solidFill>
                  <a:schemeClr val="accent6"/>
                </a:solidFill>
              </a:rPr>
              <a:t>Aurora 81 District</a:t>
            </a:r>
            <a:endParaRPr lang="en-US" sz="1100" dirty="0"/>
          </a:p>
        </p:txBody>
      </p:sp>
      <p:sp>
        <p:nvSpPr>
          <p:cNvPr id="33" name="text-306"/>
          <p:cNvSpPr txBox="1"/>
          <p:nvPr/>
        </p:nvSpPr>
        <p:spPr>
          <a:xfrm>
            <a:off x="5038344" y="9235440"/>
            <a:ext cx="1856232" cy="475488"/>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Landmark tower · twin towers</a:t>
            </a:r>
            <a:endParaRPr lang="en-US" sz="105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11</a:t>
            </a:r>
            <a:endParaRPr lang="en-US" sz="900" dirty="0"/>
          </a:p>
        </p:txBody>
      </p:sp>
      <p:sp>
        <p:nvSpPr>
          <p:cNvPr id="3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CITY</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307" descr="fusion spread">    </p:cNvPr>
          <p:cNvPicPr>
            <a:picLocks noChangeAspect="1"/>
          </p:cNvPicPr>
          <p:nvPr/>
        </p:nvPicPr>
        <p:blipFill>
          <a:blip r:embed="rId1"/>
          <a:srcRect l="1" r="0" t="0" b="0"/>
          <a:stretch/>
        </p:blipFill>
        <p:spPr>
          <a:xfrm>
            <a:off x="0" y="0"/>
            <a:ext cx="7562088" cy="10689336"/>
          </a:xfrm>
          <a:prstGeom prst="rect">
            <a:avLst/>
          </a:prstGeom>
        </p:spPr>
      </p:pic>
      <p:pic>
        <p:nvPicPr>
          <p:cNvPr id="3" name="shade-topStrong-308" descr="shade">    </p:cNvPr>
          <p:cNvPicPr>
            <a:picLocks noChangeAspect="1"/>
          </p:cNvPicPr>
          <p:nvPr/>
        </p:nvPicPr>
        <p:blipFill>
          <a:blip r:embed="rId2"/>
          <a:stretch>
            <a:fillRect/>
          </a:stretch>
        </p:blipFill>
        <p:spPr>
          <a:xfrm>
            <a:off x="0" y="0"/>
            <a:ext cx="7562088" cy="5120640"/>
          </a:xfrm>
          <a:prstGeom prst="rect">
            <a:avLst/>
          </a:prstGeom>
        </p:spPr>
      </p:pic>
      <p:pic>
        <p:nvPicPr>
          <p:cNvPr id="4" name="shade-topStrong-309" descr="shade">    </p:cNvPr>
          <p:cNvPicPr>
            <a:picLocks noChangeAspect="1"/>
          </p:cNvPicPr>
          <p:nvPr/>
        </p:nvPicPr>
        <p:blipFill>
          <a:blip r:embed="rId3"/>
          <a:stretch>
            <a:fillRect/>
          </a:stretch>
        </p:blipFill>
        <p:spPr>
          <a:xfrm>
            <a:off x="0" y="0"/>
            <a:ext cx="7562088" cy="5120640"/>
          </a:xfrm>
          <a:prstGeom prst="rect">
            <a:avLst/>
          </a:prstGeom>
        </p:spPr>
      </p:pic>
      <p:pic>
        <p:nvPicPr>
          <p:cNvPr id="5" name="shade-bottom-310" descr="shade">    </p:cNvPr>
          <p:cNvPicPr>
            <a:picLocks noChangeAspect="1"/>
          </p:cNvPicPr>
          <p:nvPr/>
        </p:nvPicPr>
        <p:blipFill>
          <a:blip r:embed="rId4"/>
          <a:stretch>
            <a:fillRect/>
          </a:stretch>
        </p:blipFill>
        <p:spPr>
          <a:xfrm>
            <a:off x="0" y="7680960"/>
            <a:ext cx="7562088" cy="3008376"/>
          </a:xfrm>
          <a:prstGeom prst="rect">
            <a:avLst/>
          </a:prstGeom>
        </p:spPr>
      </p:pic>
      <p:sp>
        <p:nvSpPr>
          <p:cNvPr id="6" name="marker-315"/>
          <p:cNvSpPr/>
          <p:nvPr/>
        </p:nvSpPr>
        <p:spPr>
          <a:xfrm>
            <a:off x="548640" y="548640"/>
            <a:ext cx="731520" cy="731520"/>
          </a:xfrm>
          <a:prstGeom prst="ellipse">
            <a:avLst/>
          </a:prstGeom>
          <a:solidFill>
            <a:schemeClr val="accent3"/>
          </a:solidFill>
          <a:ln w="19050">
            <a:solidFill>
              <a:schemeClr val="bg1"/>
            </a:solidFill>
            <a:prstDash val="solid"/>
          </a:ln>
        </p:spPr>
      </p:sp>
      <p:sp>
        <p:nvSpPr>
          <p:cNvPr id="7" name="text-316"/>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8" name="kicker-dot-317"/>
          <p:cNvSpPr/>
          <p:nvPr/>
        </p:nvSpPr>
        <p:spPr>
          <a:xfrm>
            <a:off x="548640" y="1549908"/>
            <a:ext cx="100584" cy="100584"/>
          </a:xfrm>
          <a:prstGeom prst="ellipse">
            <a:avLst/>
          </a:prstGeom>
          <a:solidFill>
            <a:schemeClr val="accent3"/>
          </a:solidFill>
          <a:ln w="12700">
            <a:solidFill>
              <a:schemeClr val="accent3"/>
            </a:solidFill>
            <a:prstDash val="solid"/>
          </a:ln>
        </p:spPr>
      </p:sp>
      <p:sp>
        <p:nvSpPr>
          <p:cNvPr id="9" name="text-318"/>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BREAKTHROUGH 1 · FUSION POWER STATION</a:t>
            </a:r>
            <a:endParaRPr lang="en-US" sz="900" dirty="0"/>
          </a:p>
        </p:txBody>
      </p:sp>
      <p:sp>
        <p:nvSpPr>
          <p:cNvPr id="10" name="title-319"/>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11" name="text-321"/>
          <p:cNvSpPr txBox="1"/>
          <p:nvPr/>
        </p:nvSpPr>
        <p:spPr>
          <a:xfrm>
            <a:off x="548640" y="2697480"/>
            <a:ext cx="5120640" cy="6858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a fusion reactor inside the city that powers and heats every home.</a:t>
            </a:r>
            <a:endParaRPr lang="en-US" sz="1500" dirty="0"/>
          </a:p>
        </p:txBody>
      </p:sp>
      <p:sp>
        <p:nvSpPr>
          <p:cNvPr id="12" name="panel-322"/>
          <p:cNvSpPr/>
          <p:nvPr/>
        </p:nvSpPr>
        <p:spPr>
          <a:xfrm>
            <a:off x="365760" y="7360920"/>
            <a:ext cx="6647688" cy="2432304"/>
          </a:xfrm>
          <a:prstGeom prst="rect">
            <a:avLst/>
          </a:prstGeom>
          <a:solidFill>
            <a:schemeClr val="tx1">
              <a:alpha val="88000"/>
            </a:schemeClr>
          </a:solidFill>
          <a:ln w="12700">
            <a:solidFill>
              <a:schemeClr val="tx1">
                <a:alpha val="0"/>
              </a:schemeClr>
            </a:solidFill>
            <a:prstDash val="solid"/>
          </a:ln>
        </p:spPr>
      </p:sp>
      <p:sp>
        <p:nvSpPr>
          <p:cNvPr id="13" name="kicker-dot-323"/>
          <p:cNvSpPr/>
          <p:nvPr/>
        </p:nvSpPr>
        <p:spPr>
          <a:xfrm>
            <a:off x="530352" y="7530084"/>
            <a:ext cx="100584" cy="100584"/>
          </a:xfrm>
          <a:prstGeom prst="ellipse">
            <a:avLst/>
          </a:prstGeom>
          <a:solidFill>
            <a:schemeClr val="accent3"/>
          </a:solidFill>
          <a:ln w="12700">
            <a:solidFill>
              <a:schemeClr val="accent3"/>
            </a:solidFill>
            <a:prstDash val="solid"/>
          </a:ln>
        </p:spPr>
      </p:sp>
      <p:sp>
        <p:nvSpPr>
          <p:cNvPr id="14" name="text-324"/>
          <p:cNvSpPr txBox="1"/>
          <p:nvPr/>
        </p:nvSpPr>
        <p:spPr>
          <a:xfrm>
            <a:off x="713232" y="7488936"/>
            <a:ext cx="128016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5" name="text-325"/>
          <p:cNvSpPr txBox="1"/>
          <p:nvPr/>
        </p:nvSpPr>
        <p:spPr>
          <a:xfrm>
            <a:off x="530352" y="7781544"/>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PROBLEM</a:t>
            </a:r>
            <a:endParaRPr lang="en-US" sz="800" dirty="0"/>
          </a:p>
        </p:txBody>
      </p:sp>
      <p:sp>
        <p:nvSpPr>
          <p:cNvPr id="16" name="text-326"/>
          <p:cNvSpPr txBox="1"/>
          <p:nvPr/>
        </p:nvSpPr>
        <p:spPr>
          <a:xfrm>
            <a:off x="530352" y="7982712"/>
            <a:ext cx="309524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Two months of polar night at −45 °C. The city needs heat and power that never stop.</a:t>
            </a:r>
            <a:endParaRPr lang="en-US" sz="950" dirty="0"/>
          </a:p>
        </p:txBody>
      </p:sp>
      <p:sp>
        <p:nvSpPr>
          <p:cNvPr id="17" name="text-327"/>
          <p:cNvSpPr txBox="1"/>
          <p:nvPr/>
        </p:nvSpPr>
        <p:spPr>
          <a:xfrm>
            <a:off x="3762756" y="7781544"/>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IDEA</a:t>
            </a:r>
            <a:endParaRPr lang="en-US" sz="800" dirty="0"/>
          </a:p>
        </p:txBody>
      </p:sp>
      <p:sp>
        <p:nvSpPr>
          <p:cNvPr id="18" name="text-328"/>
          <p:cNvSpPr txBox="1"/>
          <p:nvPr/>
        </p:nvSpPr>
        <p:spPr>
          <a:xfrm>
            <a:off x="3762756" y="7982712"/>
            <a:ext cx="309524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 compact fusion reactor makes the city’s electricity and heat, with fuel from snowmelt.</a:t>
            </a:r>
            <a:endParaRPr lang="en-US" sz="950" dirty="0"/>
          </a:p>
        </p:txBody>
      </p:sp>
      <p:sp>
        <p:nvSpPr>
          <p:cNvPr id="19" name="text-329"/>
          <p:cNvSpPr txBox="1"/>
          <p:nvPr/>
        </p:nvSpPr>
        <p:spPr>
          <a:xfrm>
            <a:off x="530352" y="8805672"/>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WHAT’S NEW</a:t>
            </a:r>
            <a:endParaRPr lang="en-US" sz="800" dirty="0"/>
          </a:p>
        </p:txBody>
      </p:sp>
      <p:sp>
        <p:nvSpPr>
          <p:cNvPr id="20" name="text-330"/>
          <p:cNvSpPr txBox="1"/>
          <p:nvPr/>
        </p:nvSpPr>
        <p:spPr>
          <a:xfrm>
            <a:off x="530352" y="9006840"/>
            <a:ext cx="309524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 floating fission plant already heats the Arctic town of Pevek, Russia [5]. Ours is fusion, fuelled by snowmelt, with no long-lived waste [6].</a:t>
            </a:r>
            <a:endParaRPr lang="en-US" sz="950" dirty="0"/>
          </a:p>
        </p:txBody>
      </p:sp>
      <p:sp>
        <p:nvSpPr>
          <p:cNvPr id="21" name="text-331"/>
          <p:cNvSpPr txBox="1"/>
          <p:nvPr/>
        </p:nvSpPr>
        <p:spPr>
          <a:xfrm>
            <a:off x="3762756" y="8805672"/>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IMPACT</a:t>
            </a:r>
            <a:endParaRPr lang="en-US" sz="800" dirty="0"/>
          </a:p>
        </p:txBody>
      </p:sp>
      <p:sp>
        <p:nvSpPr>
          <p:cNvPr id="22" name="text-332"/>
          <p:cNvSpPr txBox="1"/>
          <p:nvPr/>
        </p:nvSpPr>
        <p:spPr>
          <a:xfrm>
            <a:off x="3762756" y="9006840"/>
            <a:ext cx="309524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No fuel to ship in and no CO₂. If anything fails, the reaction simply stops.</a:t>
            </a:r>
            <a:endParaRPr lang="en-US" sz="950" dirty="0"/>
          </a:p>
        </p:txBody>
      </p:sp>
      <p:sp>
        <p:nvSpPr>
          <p:cNvPr id="23"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12</a:t>
            </a:r>
            <a:endParaRPr lang="en-US" sz="900" dirty="0"/>
          </a:p>
        </p:txBody>
      </p:sp>
      <p:sp>
        <p:nvSpPr>
          <p:cNvPr id="24"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311" descr="fusion spread">    </p:cNvPr>
          <p:cNvPicPr>
            <a:picLocks noChangeAspect="1"/>
          </p:cNvPicPr>
          <p:nvPr/>
        </p:nvPicPr>
        <p:blipFill>
          <a:blip r:embed="rId1"/>
          <a:srcRect l="0" r="1" t="0" b="0"/>
          <a:stretch/>
        </p:blipFill>
        <p:spPr>
          <a:xfrm>
            <a:off x="0" y="0"/>
            <a:ext cx="7562088" cy="10689336"/>
          </a:xfrm>
          <a:prstGeom prst="rect">
            <a:avLst/>
          </a:prstGeom>
        </p:spPr>
      </p:pic>
      <p:pic>
        <p:nvPicPr>
          <p:cNvPr id="3" name="shade-topStrong-312" descr="shade">    </p:cNvPr>
          <p:cNvPicPr>
            <a:picLocks noChangeAspect="1"/>
          </p:cNvPicPr>
          <p:nvPr/>
        </p:nvPicPr>
        <p:blipFill>
          <a:blip r:embed="rId2"/>
          <a:stretch>
            <a:fillRect/>
          </a:stretch>
        </p:blipFill>
        <p:spPr>
          <a:xfrm>
            <a:off x="0" y="0"/>
            <a:ext cx="7562088" cy="5120640"/>
          </a:xfrm>
          <a:prstGeom prst="rect">
            <a:avLst/>
          </a:prstGeom>
        </p:spPr>
      </p:pic>
      <p:pic>
        <p:nvPicPr>
          <p:cNvPr id="4" name="shade-topStrong-313" descr="shade">    </p:cNvPr>
          <p:cNvPicPr>
            <a:picLocks noChangeAspect="1"/>
          </p:cNvPicPr>
          <p:nvPr/>
        </p:nvPicPr>
        <p:blipFill>
          <a:blip r:embed="rId3"/>
          <a:stretch>
            <a:fillRect/>
          </a:stretch>
        </p:blipFill>
        <p:spPr>
          <a:xfrm>
            <a:off x="0" y="0"/>
            <a:ext cx="7562088" cy="5120640"/>
          </a:xfrm>
          <a:prstGeom prst="rect">
            <a:avLst/>
          </a:prstGeom>
        </p:spPr>
      </p:pic>
      <p:pic>
        <p:nvPicPr>
          <p:cNvPr id="5" name="shade-bottom-314" descr="shade">    </p:cNvPr>
          <p:cNvPicPr>
            <a:picLocks noChangeAspect="1"/>
          </p:cNvPicPr>
          <p:nvPr/>
        </p:nvPicPr>
        <p:blipFill>
          <a:blip r:embed="rId4"/>
          <a:stretch>
            <a:fillRect/>
          </a:stretch>
        </p:blipFill>
        <p:spPr>
          <a:xfrm>
            <a:off x="0" y="7680960"/>
            <a:ext cx="7562088" cy="3008376"/>
          </a:xfrm>
          <a:prstGeom prst="rect">
            <a:avLst/>
          </a:prstGeom>
        </p:spPr>
      </p:pic>
      <p:sp>
        <p:nvSpPr>
          <p:cNvPr id="6" name="panel-333"/>
          <p:cNvSpPr/>
          <p:nvPr/>
        </p:nvSpPr>
        <p:spPr>
          <a:xfrm>
            <a:off x="548640" y="548640"/>
            <a:ext cx="3140964" cy="1874520"/>
          </a:xfrm>
          <a:prstGeom prst="rect">
            <a:avLst/>
          </a:prstGeom>
          <a:solidFill>
            <a:schemeClr val="tx1">
              <a:alpha val="85000"/>
            </a:schemeClr>
          </a:solidFill>
          <a:ln w="12700">
            <a:solidFill>
              <a:schemeClr val="tx1">
                <a:alpha val="0"/>
              </a:schemeClr>
            </a:solidFill>
            <a:prstDash val="solid"/>
          </a:ln>
        </p:spPr>
      </p:sp>
      <p:sp>
        <p:nvSpPr>
          <p:cNvPr id="7" name="kicker-dot-334"/>
          <p:cNvSpPr/>
          <p:nvPr/>
        </p:nvSpPr>
        <p:spPr>
          <a:xfrm>
            <a:off x="694944" y="736092"/>
            <a:ext cx="100584" cy="100584"/>
          </a:xfrm>
          <a:prstGeom prst="ellipse">
            <a:avLst/>
          </a:prstGeom>
          <a:solidFill>
            <a:schemeClr val="accent3"/>
          </a:solidFill>
          <a:ln w="12700">
            <a:solidFill>
              <a:schemeClr val="accent3"/>
            </a:solidFill>
            <a:prstDash val="solid"/>
          </a:ln>
        </p:spPr>
      </p:sp>
      <p:sp>
        <p:nvSpPr>
          <p:cNvPr id="8" name="text-335"/>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9" name="text-336"/>
          <p:cNvSpPr txBox="1"/>
          <p:nvPr/>
        </p:nvSpPr>
        <p:spPr>
          <a:xfrm>
            <a:off x="694944" y="969264"/>
            <a:ext cx="2848356" cy="1362456"/>
          </a:xfrm>
          <a:prstGeom prst="rect">
            <a:avLst/>
          </a:prstGeom>
          <a:noFill/>
          <a:ln/>
        </p:spPr>
        <p:txBody>
          <a:bodyPr wrap="square" lIns="0" tIns="0" rIns="0" bIns="0" rtlCol="0" anchor="t"/>
          <a:lstStyle/>
          <a:p>
            <a:pPr indent="0" marL="0">
              <a:lnSpc>
                <a:spcPct val="106000"/>
              </a:lnSpc>
              <a:buNone/>
            </a:pPr>
            <a:r>
              <a:rPr lang="en-US" sz="1050" dirty="0">
                <a:solidFill>
                  <a:schemeClr val="bg1"/>
                </a:solidFill>
              </a:rPr>
              <a:t>No fusion plant sells power yet. ITER plans to burn fusion fuel in 2039 [7], and breeding tritium is still to be tested [8].</a:t>
            </a:r>
            <a:endParaRPr lang="en-US" sz="1050" dirty="0"/>
          </a:p>
        </p:txBody>
      </p:sp>
      <p:sp>
        <p:nvSpPr>
          <p:cNvPr id="10" name="panel-337"/>
          <p:cNvSpPr/>
          <p:nvPr/>
        </p:nvSpPr>
        <p:spPr>
          <a:xfrm>
            <a:off x="3872484" y="548640"/>
            <a:ext cx="3140964" cy="1874520"/>
          </a:xfrm>
          <a:prstGeom prst="rect">
            <a:avLst/>
          </a:prstGeom>
          <a:solidFill>
            <a:schemeClr val="tx1">
              <a:alpha val="85000"/>
            </a:schemeClr>
          </a:solidFill>
          <a:ln w="12700">
            <a:solidFill>
              <a:schemeClr val="tx1">
                <a:alpha val="0"/>
              </a:schemeClr>
            </a:solidFill>
            <a:prstDash val="solid"/>
          </a:ln>
        </p:spPr>
      </p:sp>
      <p:sp>
        <p:nvSpPr>
          <p:cNvPr id="11" name="kicker-dot-338"/>
          <p:cNvSpPr/>
          <p:nvPr/>
        </p:nvSpPr>
        <p:spPr>
          <a:xfrm>
            <a:off x="4018788" y="736092"/>
            <a:ext cx="100584" cy="100584"/>
          </a:xfrm>
          <a:prstGeom prst="ellipse">
            <a:avLst/>
          </a:prstGeom>
          <a:solidFill>
            <a:schemeClr val="accent3"/>
          </a:solidFill>
          <a:ln w="12700">
            <a:solidFill>
              <a:schemeClr val="accent3"/>
            </a:solidFill>
            <a:prstDash val="solid"/>
          </a:ln>
        </p:spPr>
      </p:sp>
      <p:sp>
        <p:nvSpPr>
          <p:cNvPr id="12" name="text-339"/>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3" name="text-340"/>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4" name="text-341"/>
          <p:cNvSpPr txBox="1"/>
          <p:nvPr/>
        </p:nvSpPr>
        <p:spPr>
          <a:xfrm>
            <a:off x="4018788" y="1472184"/>
            <a:ext cx="2848356" cy="859536"/>
          </a:xfrm>
          <a:prstGeom prst="rect">
            <a:avLst/>
          </a:prstGeom>
          <a:noFill/>
          <a:ln/>
        </p:spPr>
        <p:txBody>
          <a:bodyPr wrap="square" lIns="0" tIns="0" rIns="0" bIns="0" rtlCol="0" anchor="t"/>
          <a:lstStyle/>
          <a:p>
            <a:pPr indent="0" marL="0">
              <a:lnSpc>
                <a:spcPct val="106000"/>
              </a:lnSpc>
              <a:buNone/>
            </a:pPr>
            <a:r>
              <a:rPr lang="en-US" sz="1050" dirty="0">
                <a:solidFill>
                  <a:schemeClr val="bg1"/>
                </a:solidFill>
              </a:rPr>
              <a:t>Our estimate: all the fuel for a full day of city power and heat. Until fusion is proven, wind, sun and geothermal run the city (page 31).</a:t>
            </a:r>
            <a:endParaRPr lang="en-US" sz="1050" dirty="0"/>
          </a:p>
        </p:txBody>
      </p:sp>
      <p:sp>
        <p:nvSpPr>
          <p:cNvPr id="15" name="text-342"/>
          <p:cNvSpPr txBox="1"/>
          <p:nvPr/>
        </p:nvSpPr>
        <p:spPr>
          <a:xfrm>
            <a:off x="3355848" y="9601200"/>
            <a:ext cx="3657600" cy="320040"/>
          </a:xfrm>
          <a:prstGeom prst="rect">
            <a:avLst/>
          </a:prstGeom>
          <a:noFill/>
          <a:ln/>
        </p:spPr>
        <p:txBody>
          <a:bodyPr wrap="square" lIns="0" tIns="0" rIns="0" bIns="0" rtlCol="0" anchor="t"/>
          <a:lstStyle/>
          <a:p>
            <a:pPr algn="r" indent="0" marL="0">
              <a:buNone/>
            </a:pPr>
            <a:r>
              <a:rPr lang="en-US" sz="850" i="1" dirty="0">
                <a:solidFill>
                  <a:schemeClr val="bg1"/>
                </a:solidFill>
              </a:rPr>
              <a:t>The Fusion Core under the northern lights.</a:t>
            </a:r>
            <a:endParaRPr lang="en-US" sz="850" dirty="0"/>
          </a:p>
        </p:txBody>
      </p:sp>
      <p:sp>
        <p:nvSpPr>
          <p:cNvPr id="1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13</a:t>
            </a:r>
            <a:endParaRPr lang="en-US" sz="900" dirty="0"/>
          </a:p>
        </p:txBody>
      </p:sp>
      <p:sp>
        <p:nvSpPr>
          <p:cNvPr id="1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43"/>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4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4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How Our Sun Works</a:t>
            </a:r>
            <a:endParaRPr lang="en-US" sz="3400" dirty="0"/>
          </a:p>
        </p:txBody>
      </p:sp>
      <p:sp>
        <p:nvSpPr>
          <p:cNvPr id="5" name="card-347"/>
          <p:cNvSpPr/>
          <p:nvPr/>
        </p:nvSpPr>
        <p:spPr>
          <a:xfrm>
            <a:off x="548640" y="1554480"/>
            <a:ext cx="6464808" cy="6263640"/>
          </a:xfrm>
          <a:prstGeom prst="roundRect">
            <a:avLst>
              <a:gd name="adj" fmla="val 1168"/>
            </a:avLst>
          </a:prstGeom>
          <a:solidFill>
            <a:schemeClr val="bg2"/>
          </a:solidFill>
          <a:ln w="12700">
            <a:solidFill>
              <a:schemeClr val="bg2"/>
            </a:solidFill>
            <a:prstDash val="solid"/>
          </a:ln>
        </p:spPr>
      </p:sp>
      <p:sp>
        <p:nvSpPr>
          <p:cNvPr id="6" name="text-348"/>
          <p:cNvSpPr txBox="1"/>
          <p:nvPr/>
        </p:nvSpPr>
        <p:spPr>
          <a:xfrm>
            <a:off x="731520" y="1691640"/>
            <a:ext cx="36576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FROM SNOW TO POWER AND HEAT</a:t>
            </a:r>
            <a:endParaRPr lang="en-US" sz="900" dirty="0"/>
          </a:p>
        </p:txBody>
      </p:sp>
      <p:sp>
        <p:nvSpPr>
          <p:cNvPr id="7" name="card-349"/>
          <p:cNvSpPr/>
          <p:nvPr/>
        </p:nvSpPr>
        <p:spPr>
          <a:xfrm>
            <a:off x="777240" y="2121408"/>
            <a:ext cx="1691640" cy="685800"/>
          </a:xfrm>
          <a:prstGeom prst="roundRect">
            <a:avLst>
              <a:gd name="adj" fmla="val 9333"/>
            </a:avLst>
          </a:prstGeom>
          <a:solidFill>
            <a:schemeClr val="accent6"/>
          </a:solidFill>
          <a:ln w="12700">
            <a:solidFill>
              <a:schemeClr val="accent6"/>
            </a:solidFill>
            <a:prstDash val="solid"/>
          </a:ln>
        </p:spPr>
      </p:sp>
      <p:sp>
        <p:nvSpPr>
          <p:cNvPr id="8" name="text-350"/>
          <p:cNvSpPr txBox="1"/>
          <p:nvPr/>
        </p:nvSpPr>
        <p:spPr>
          <a:xfrm>
            <a:off x="850392" y="2121408"/>
            <a:ext cx="1545336" cy="685800"/>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Snowmelt water</a:t>
            </a:r>
            <a:endParaRPr lang="en-US" sz="1050" dirty="0"/>
          </a:p>
          <a:p>
            <a:pPr algn="ctr" indent="0" marL="0">
              <a:lnSpc>
                <a:spcPct val="100000"/>
              </a:lnSpc>
              <a:buNone/>
            </a:pPr>
            <a:r>
              <a:rPr lang="en-US" sz="950" dirty="0">
                <a:solidFill>
                  <a:schemeClr val="bg1"/>
                </a:solidFill>
              </a:rPr>
              <a:t>from the food plant</a:t>
            </a:r>
            <a:endParaRPr lang="en-US" sz="1050" dirty="0"/>
          </a:p>
        </p:txBody>
      </p:sp>
      <p:sp>
        <p:nvSpPr>
          <p:cNvPr id="9" name="card-351"/>
          <p:cNvSpPr/>
          <p:nvPr/>
        </p:nvSpPr>
        <p:spPr>
          <a:xfrm>
            <a:off x="2743200" y="2121408"/>
            <a:ext cx="1691640" cy="685800"/>
          </a:xfrm>
          <a:prstGeom prst="roundRect">
            <a:avLst>
              <a:gd name="adj" fmla="val 9333"/>
            </a:avLst>
          </a:prstGeom>
          <a:solidFill>
            <a:schemeClr val="tx2"/>
          </a:solidFill>
          <a:ln w="12700">
            <a:solidFill>
              <a:schemeClr val="tx2"/>
            </a:solidFill>
            <a:prstDash val="solid"/>
          </a:ln>
        </p:spPr>
      </p:sp>
      <p:sp>
        <p:nvSpPr>
          <p:cNvPr id="10" name="text-352"/>
          <p:cNvSpPr txBox="1"/>
          <p:nvPr/>
        </p:nvSpPr>
        <p:spPr>
          <a:xfrm>
            <a:off x="2816352" y="2121408"/>
            <a:ext cx="1545336" cy="685800"/>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Lithium</a:t>
            </a:r>
            <a:endParaRPr lang="en-US" sz="1050" dirty="0"/>
          </a:p>
          <a:p>
            <a:pPr algn="ctr" indent="0" marL="0">
              <a:lnSpc>
                <a:spcPct val="100000"/>
              </a:lnSpc>
              <a:buNone/>
            </a:pPr>
            <a:r>
              <a:rPr lang="en-US" sz="950" dirty="0">
                <a:solidFill>
                  <a:schemeClr val="bg1"/>
                </a:solidFill>
              </a:rPr>
              <a:t>in the reactor wall</a:t>
            </a:r>
            <a:endParaRPr lang="en-US" sz="1050" dirty="0"/>
          </a:p>
        </p:txBody>
      </p:sp>
      <p:sp>
        <p:nvSpPr>
          <p:cNvPr id="11" name="card-353"/>
          <p:cNvSpPr/>
          <p:nvPr/>
        </p:nvSpPr>
        <p:spPr>
          <a:xfrm>
            <a:off x="4983480" y="2121408"/>
            <a:ext cx="1828800" cy="685800"/>
          </a:xfrm>
          <a:prstGeom prst="roundRect">
            <a:avLst>
              <a:gd name="adj" fmla="val 9333"/>
            </a:avLst>
          </a:prstGeom>
          <a:solidFill>
            <a:schemeClr val="accent1"/>
          </a:solidFill>
          <a:ln w="12700">
            <a:solidFill>
              <a:schemeClr val="accent1"/>
            </a:solidFill>
            <a:prstDash val="solid"/>
          </a:ln>
        </p:spPr>
      </p:sp>
      <p:sp>
        <p:nvSpPr>
          <p:cNvPr id="12" name="text-354"/>
          <p:cNvSpPr txBox="1"/>
          <p:nvPr/>
        </p:nvSpPr>
        <p:spPr>
          <a:xfrm>
            <a:off x="5056632" y="2121408"/>
            <a:ext cx="1682496" cy="685800"/>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Wind + sun</a:t>
            </a:r>
            <a:endParaRPr lang="en-US" sz="1050" dirty="0"/>
          </a:p>
        </p:txBody>
      </p:sp>
      <p:sp>
        <p:nvSpPr>
          <p:cNvPr id="13" name="card-355"/>
          <p:cNvSpPr/>
          <p:nvPr/>
        </p:nvSpPr>
        <p:spPr>
          <a:xfrm>
            <a:off x="777240" y="3145536"/>
            <a:ext cx="1691640" cy="685800"/>
          </a:xfrm>
          <a:prstGeom prst="roundRect">
            <a:avLst>
              <a:gd name="adj" fmla="val 9333"/>
            </a:avLst>
          </a:prstGeom>
          <a:solidFill>
            <a:schemeClr val="accent6"/>
          </a:solidFill>
          <a:ln w="12700">
            <a:solidFill>
              <a:schemeClr val="accent6"/>
            </a:solidFill>
            <a:prstDash val="solid"/>
          </a:ln>
        </p:spPr>
      </p:sp>
      <p:sp>
        <p:nvSpPr>
          <p:cNvPr id="14" name="text-356"/>
          <p:cNvSpPr txBox="1"/>
          <p:nvPr/>
        </p:nvSpPr>
        <p:spPr>
          <a:xfrm>
            <a:off x="850392" y="3145536"/>
            <a:ext cx="1545336" cy="685800"/>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Deuterium</a:t>
            </a:r>
            <a:endParaRPr lang="en-US" sz="1050" dirty="0"/>
          </a:p>
          <a:p>
            <a:pPr algn="ctr" indent="0" marL="0">
              <a:lnSpc>
                <a:spcPct val="100000"/>
              </a:lnSpc>
              <a:buNone/>
            </a:pPr>
            <a:r>
              <a:rPr lang="en-US" sz="950" dirty="0">
                <a:solidFill>
                  <a:schemeClr val="bg1"/>
                </a:solidFill>
              </a:rPr>
              <a:t>heavy hydrogen</a:t>
            </a:r>
            <a:endParaRPr lang="en-US" sz="1050" dirty="0"/>
          </a:p>
        </p:txBody>
      </p:sp>
      <p:sp>
        <p:nvSpPr>
          <p:cNvPr id="15" name="card-357"/>
          <p:cNvSpPr/>
          <p:nvPr/>
        </p:nvSpPr>
        <p:spPr>
          <a:xfrm>
            <a:off x="2743200" y="3145536"/>
            <a:ext cx="1691640" cy="685800"/>
          </a:xfrm>
          <a:prstGeom prst="roundRect">
            <a:avLst>
              <a:gd name="adj" fmla="val 9333"/>
            </a:avLst>
          </a:prstGeom>
          <a:solidFill>
            <a:schemeClr val="tx2"/>
          </a:solidFill>
          <a:ln w="12700">
            <a:solidFill>
              <a:schemeClr val="tx2"/>
            </a:solidFill>
            <a:prstDash val="solid"/>
          </a:ln>
        </p:spPr>
      </p:sp>
      <p:sp>
        <p:nvSpPr>
          <p:cNvPr id="16" name="text-358"/>
          <p:cNvSpPr txBox="1"/>
          <p:nvPr/>
        </p:nvSpPr>
        <p:spPr>
          <a:xfrm>
            <a:off x="2816352" y="3145536"/>
            <a:ext cx="1545336" cy="685800"/>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Tritium</a:t>
            </a:r>
            <a:endParaRPr lang="en-US" sz="1050" dirty="0"/>
          </a:p>
          <a:p>
            <a:pPr algn="ctr" indent="0" marL="0">
              <a:lnSpc>
                <a:spcPct val="100000"/>
              </a:lnSpc>
              <a:buNone/>
            </a:pPr>
            <a:r>
              <a:rPr lang="en-US" sz="950" dirty="0">
                <a:solidFill>
                  <a:schemeClr val="bg1"/>
                </a:solidFill>
              </a:rPr>
              <a:t>bred inside the reactor</a:t>
            </a:r>
            <a:endParaRPr lang="en-US" sz="1050" dirty="0"/>
          </a:p>
        </p:txBody>
      </p:sp>
      <p:sp>
        <p:nvSpPr>
          <p:cNvPr id="17" name="card-359"/>
          <p:cNvSpPr/>
          <p:nvPr/>
        </p:nvSpPr>
        <p:spPr>
          <a:xfrm>
            <a:off x="4983480" y="3145536"/>
            <a:ext cx="1828800" cy="685800"/>
          </a:xfrm>
          <a:prstGeom prst="roundRect">
            <a:avLst>
              <a:gd name="adj" fmla="val 9333"/>
            </a:avLst>
          </a:prstGeom>
          <a:solidFill>
            <a:schemeClr val="accent1"/>
          </a:solidFill>
          <a:ln w="12700">
            <a:solidFill>
              <a:schemeClr val="accent1"/>
            </a:solidFill>
            <a:prstDash val="solid"/>
          </a:ln>
        </p:spPr>
      </p:sp>
      <p:sp>
        <p:nvSpPr>
          <p:cNvPr id="18" name="text-360"/>
          <p:cNvSpPr txBox="1"/>
          <p:nvPr/>
        </p:nvSpPr>
        <p:spPr>
          <a:xfrm>
            <a:off x="5056632" y="3145536"/>
            <a:ext cx="1682496" cy="685800"/>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Battery bank</a:t>
            </a:r>
            <a:endParaRPr lang="en-US" sz="1050" dirty="0"/>
          </a:p>
          <a:p>
            <a:pPr algn="ctr" indent="0" marL="0">
              <a:lnSpc>
                <a:spcPct val="100000"/>
              </a:lnSpc>
              <a:buNone/>
            </a:pPr>
            <a:r>
              <a:rPr lang="en-US" sz="950" dirty="0">
                <a:solidFill>
                  <a:schemeClr val="bg1"/>
                </a:solidFill>
              </a:rPr>
              <a:t>stores the start-up power</a:t>
            </a:r>
            <a:endParaRPr lang="en-US" sz="1050" dirty="0"/>
          </a:p>
        </p:txBody>
      </p:sp>
      <p:sp>
        <p:nvSpPr>
          <p:cNvPr id="19" name="arrow-361"/>
          <p:cNvSpPr/>
          <p:nvPr/>
        </p:nvSpPr>
        <p:spPr>
          <a:xfrm>
            <a:off x="1623060" y="2843784"/>
            <a:ext cx="914" cy="256032"/>
          </a:xfrm>
          <a:prstGeom prst="line">
            <a:avLst/>
          </a:prstGeom>
          <a:noFill/>
          <a:ln w="25400">
            <a:solidFill>
              <a:schemeClr val="tx2"/>
            </a:solidFill>
            <a:prstDash val="solid"/>
            <a:tailEnd type="triangle"/>
          </a:ln>
        </p:spPr>
      </p:sp>
      <p:sp>
        <p:nvSpPr>
          <p:cNvPr id="20" name="arrow-362"/>
          <p:cNvSpPr/>
          <p:nvPr/>
        </p:nvSpPr>
        <p:spPr>
          <a:xfrm>
            <a:off x="3589020" y="2843784"/>
            <a:ext cx="914" cy="256032"/>
          </a:xfrm>
          <a:prstGeom prst="line">
            <a:avLst/>
          </a:prstGeom>
          <a:noFill/>
          <a:ln w="25400">
            <a:solidFill>
              <a:schemeClr val="tx2"/>
            </a:solidFill>
            <a:prstDash val="solid"/>
            <a:tailEnd type="triangle"/>
          </a:ln>
        </p:spPr>
      </p:sp>
      <p:sp>
        <p:nvSpPr>
          <p:cNvPr id="21" name="arrow-363"/>
          <p:cNvSpPr/>
          <p:nvPr/>
        </p:nvSpPr>
        <p:spPr>
          <a:xfrm>
            <a:off x="5897880" y="2843784"/>
            <a:ext cx="914" cy="256032"/>
          </a:xfrm>
          <a:prstGeom prst="line">
            <a:avLst/>
          </a:prstGeom>
          <a:noFill/>
          <a:ln w="25400">
            <a:solidFill>
              <a:schemeClr val="accent1"/>
            </a:solidFill>
            <a:prstDash val="solid"/>
            <a:tailEnd type="triangle"/>
          </a:ln>
        </p:spPr>
      </p:sp>
      <p:sp>
        <p:nvSpPr>
          <p:cNvPr id="22" name="core-364"/>
          <p:cNvSpPr/>
          <p:nvPr/>
        </p:nvSpPr>
        <p:spPr>
          <a:xfrm>
            <a:off x="1805940" y="4082796"/>
            <a:ext cx="1600200" cy="1600200"/>
          </a:xfrm>
          <a:prstGeom prst="ellipse">
            <a:avLst/>
          </a:prstGeom>
          <a:solidFill>
            <a:schemeClr val="accent3"/>
          </a:solidFill>
          <a:ln w="50800">
            <a:solidFill>
              <a:srgbClr val="C9B6F5"/>
            </a:solidFill>
            <a:prstDash val="solid"/>
          </a:ln>
        </p:spPr>
      </p:sp>
      <p:sp>
        <p:nvSpPr>
          <p:cNvPr id="23" name="text-365"/>
          <p:cNvSpPr txBox="1"/>
          <p:nvPr/>
        </p:nvSpPr>
        <p:spPr>
          <a:xfrm>
            <a:off x="1943100" y="4517136"/>
            <a:ext cx="1325880" cy="731520"/>
          </a:xfrm>
          <a:prstGeom prst="rect">
            <a:avLst/>
          </a:prstGeom>
          <a:noFill/>
          <a:ln/>
        </p:spPr>
        <p:txBody>
          <a:bodyPr wrap="square" lIns="0" tIns="0" rIns="0" bIns="0" rtlCol="0" anchor="ctr"/>
          <a:lstStyle/>
          <a:p>
            <a:pPr algn="ctr" indent="0" marL="0">
              <a:lnSpc>
                <a:spcPct val="100000"/>
              </a:lnSpc>
              <a:buNone/>
            </a:pPr>
            <a:r>
              <a:rPr lang="en-US" sz="1150" b="1" spc="100" kern="0" dirty="0">
                <a:solidFill>
                  <a:schemeClr val="bg1"/>
                </a:solidFill>
              </a:rPr>
              <a:t>FUSION CORE</a:t>
            </a:r>
            <a:endParaRPr lang="en-US" sz="1050" dirty="0"/>
          </a:p>
          <a:p>
            <a:pPr algn="ctr" indent="0" marL="0">
              <a:lnSpc>
                <a:spcPct val="100000"/>
              </a:lnSpc>
              <a:buNone/>
            </a:pPr>
            <a:r>
              <a:rPr lang="en-US" sz="900" i="1" dirty="0">
                <a:solidFill>
                  <a:schemeClr val="bg1"/>
                </a:solidFill>
              </a:rPr>
              <a:t>a star in a magnetic bottle</a:t>
            </a:r>
            <a:endParaRPr lang="en-US" sz="1050" dirty="0"/>
          </a:p>
        </p:txBody>
      </p:sp>
      <p:sp>
        <p:nvSpPr>
          <p:cNvPr id="24" name="arrow-366"/>
          <p:cNvSpPr/>
          <p:nvPr/>
        </p:nvSpPr>
        <p:spPr>
          <a:xfrm>
            <a:off x="1623060" y="3867912"/>
            <a:ext cx="544068" cy="361188"/>
          </a:xfrm>
          <a:prstGeom prst="line">
            <a:avLst/>
          </a:prstGeom>
          <a:noFill/>
          <a:ln w="28575">
            <a:solidFill>
              <a:schemeClr val="accent6"/>
            </a:solidFill>
            <a:prstDash val="solid"/>
            <a:tailEnd type="triangle"/>
          </a:ln>
        </p:spPr>
      </p:sp>
      <p:sp>
        <p:nvSpPr>
          <p:cNvPr id="25" name="arrow-367"/>
          <p:cNvSpPr/>
          <p:nvPr/>
        </p:nvSpPr>
        <p:spPr>
          <a:xfrm flipH="1">
            <a:off x="3044952" y="3867912"/>
            <a:ext cx="544068" cy="361188"/>
          </a:xfrm>
          <a:prstGeom prst="line">
            <a:avLst/>
          </a:prstGeom>
          <a:noFill/>
          <a:ln w="28575">
            <a:solidFill>
              <a:schemeClr val="tx2"/>
            </a:solidFill>
            <a:prstDash val="solid"/>
            <a:tailEnd type="triangle"/>
          </a:ln>
        </p:spPr>
      </p:sp>
      <p:sp>
        <p:nvSpPr>
          <p:cNvPr id="26" name="line-368"/>
          <p:cNvSpPr/>
          <p:nvPr/>
        </p:nvSpPr>
        <p:spPr>
          <a:xfrm>
            <a:off x="5897880" y="3867912"/>
            <a:ext cx="914" cy="923544"/>
          </a:xfrm>
          <a:prstGeom prst="line">
            <a:avLst/>
          </a:prstGeom>
          <a:noFill/>
          <a:ln w="28575">
            <a:solidFill>
              <a:schemeClr val="accent1"/>
            </a:solidFill>
            <a:prstDash val="solid"/>
          </a:ln>
        </p:spPr>
      </p:sp>
      <p:sp>
        <p:nvSpPr>
          <p:cNvPr id="27" name="line-369"/>
          <p:cNvSpPr/>
          <p:nvPr/>
        </p:nvSpPr>
        <p:spPr>
          <a:xfrm flipH="1">
            <a:off x="3461004" y="4791456"/>
            <a:ext cx="2436876" cy="914"/>
          </a:xfrm>
          <a:prstGeom prst="line">
            <a:avLst/>
          </a:prstGeom>
          <a:noFill/>
          <a:ln w="28575">
            <a:solidFill>
              <a:schemeClr val="accent1"/>
            </a:solidFill>
            <a:prstDash val="solid"/>
            <a:tailEnd type="triangle"/>
          </a:ln>
        </p:spPr>
      </p:sp>
      <p:sp>
        <p:nvSpPr>
          <p:cNvPr id="28" name="text-370"/>
          <p:cNvSpPr txBox="1"/>
          <p:nvPr/>
        </p:nvSpPr>
        <p:spPr>
          <a:xfrm>
            <a:off x="3589020" y="4498848"/>
            <a:ext cx="1463040" cy="237744"/>
          </a:xfrm>
          <a:prstGeom prst="rect">
            <a:avLst/>
          </a:prstGeom>
          <a:noFill/>
          <a:ln/>
        </p:spPr>
        <p:txBody>
          <a:bodyPr wrap="square" lIns="0" tIns="0" rIns="0" bIns="0" rtlCol="0" anchor="t"/>
          <a:lstStyle/>
          <a:p>
            <a:pPr indent="0" marL="0">
              <a:buNone/>
            </a:pPr>
            <a:r>
              <a:rPr lang="en-US" sz="950" b="1" dirty="0">
                <a:solidFill>
                  <a:schemeClr val="accent1"/>
                </a:solidFill>
              </a:rPr>
              <a:t>start-up power</a:t>
            </a:r>
            <a:endParaRPr lang="en-US" sz="950" dirty="0"/>
          </a:p>
        </p:txBody>
      </p:sp>
      <p:sp>
        <p:nvSpPr>
          <p:cNvPr id="29" name="card-371"/>
          <p:cNvSpPr/>
          <p:nvPr/>
        </p:nvSpPr>
        <p:spPr>
          <a:xfrm>
            <a:off x="822960" y="6003036"/>
            <a:ext cx="1600200" cy="603504"/>
          </a:xfrm>
          <a:prstGeom prst="roundRect">
            <a:avLst>
              <a:gd name="adj" fmla="val 10606"/>
            </a:avLst>
          </a:prstGeom>
          <a:solidFill>
            <a:schemeClr val="accent3"/>
          </a:solidFill>
          <a:ln w="12700">
            <a:solidFill>
              <a:schemeClr val="accent3"/>
            </a:solidFill>
            <a:prstDash val="solid"/>
          </a:ln>
        </p:spPr>
      </p:sp>
      <p:sp>
        <p:nvSpPr>
          <p:cNvPr id="30" name="text-372"/>
          <p:cNvSpPr txBox="1"/>
          <p:nvPr/>
        </p:nvSpPr>
        <p:spPr>
          <a:xfrm>
            <a:off x="896112" y="6003036"/>
            <a:ext cx="1453896" cy="60350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Electricity</a:t>
            </a:r>
            <a:endParaRPr lang="en-US" sz="1050" dirty="0"/>
          </a:p>
        </p:txBody>
      </p:sp>
      <p:sp>
        <p:nvSpPr>
          <p:cNvPr id="31" name="card-373"/>
          <p:cNvSpPr/>
          <p:nvPr/>
        </p:nvSpPr>
        <p:spPr>
          <a:xfrm>
            <a:off x="2788920" y="6003036"/>
            <a:ext cx="1600200" cy="603504"/>
          </a:xfrm>
          <a:prstGeom prst="roundRect">
            <a:avLst>
              <a:gd name="adj" fmla="val 10606"/>
            </a:avLst>
          </a:prstGeom>
          <a:solidFill>
            <a:schemeClr val="accent2"/>
          </a:solidFill>
          <a:ln w="12700">
            <a:solidFill>
              <a:schemeClr val="accent2"/>
            </a:solidFill>
            <a:prstDash val="solid"/>
          </a:ln>
        </p:spPr>
      </p:sp>
      <p:sp>
        <p:nvSpPr>
          <p:cNvPr id="32" name="text-374"/>
          <p:cNvSpPr txBox="1"/>
          <p:nvPr/>
        </p:nvSpPr>
        <p:spPr>
          <a:xfrm>
            <a:off x="2862072" y="6003036"/>
            <a:ext cx="1453896" cy="60350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Heat</a:t>
            </a:r>
            <a:endParaRPr lang="en-US" sz="1050" dirty="0"/>
          </a:p>
        </p:txBody>
      </p:sp>
      <p:sp>
        <p:nvSpPr>
          <p:cNvPr id="33" name="arrow-375"/>
          <p:cNvSpPr/>
          <p:nvPr/>
        </p:nvSpPr>
        <p:spPr>
          <a:xfrm flipH="1">
            <a:off x="1623060" y="5573268"/>
            <a:ext cx="525780" cy="384048"/>
          </a:xfrm>
          <a:prstGeom prst="line">
            <a:avLst/>
          </a:prstGeom>
          <a:noFill/>
          <a:ln w="28575">
            <a:solidFill>
              <a:schemeClr val="accent3"/>
            </a:solidFill>
            <a:prstDash val="solid"/>
            <a:tailEnd type="triangle"/>
          </a:ln>
        </p:spPr>
      </p:sp>
      <p:sp>
        <p:nvSpPr>
          <p:cNvPr id="34" name="arrow-376"/>
          <p:cNvSpPr/>
          <p:nvPr/>
        </p:nvSpPr>
        <p:spPr>
          <a:xfrm>
            <a:off x="3063240" y="5573268"/>
            <a:ext cx="525780" cy="384048"/>
          </a:xfrm>
          <a:prstGeom prst="line">
            <a:avLst/>
          </a:prstGeom>
          <a:noFill/>
          <a:ln w="28575">
            <a:solidFill>
              <a:schemeClr val="accent2"/>
            </a:solidFill>
            <a:prstDash val="solid"/>
            <a:tailEnd type="triangle"/>
          </a:ln>
        </p:spPr>
      </p:sp>
      <p:sp>
        <p:nvSpPr>
          <p:cNvPr id="35" name="card-377"/>
          <p:cNvSpPr/>
          <p:nvPr/>
        </p:nvSpPr>
        <p:spPr>
          <a:xfrm>
            <a:off x="777240" y="6972300"/>
            <a:ext cx="3657600" cy="658368"/>
          </a:xfrm>
          <a:prstGeom prst="roundRect">
            <a:avLst>
              <a:gd name="adj" fmla="val 9722"/>
            </a:avLst>
          </a:prstGeom>
          <a:solidFill>
            <a:schemeClr val="tx1"/>
          </a:solidFill>
          <a:ln w="12700">
            <a:solidFill>
              <a:schemeClr val="tx1"/>
            </a:solidFill>
            <a:prstDash val="solid"/>
          </a:ln>
        </p:spPr>
      </p:sp>
      <p:sp>
        <p:nvSpPr>
          <p:cNvPr id="36" name="text-378"/>
          <p:cNvSpPr txBox="1"/>
          <p:nvPr/>
        </p:nvSpPr>
        <p:spPr>
          <a:xfrm>
            <a:off x="850392" y="6972300"/>
            <a:ext cx="3511296" cy="658368"/>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THE CITY</a:t>
            </a:r>
            <a:endParaRPr lang="en-US" sz="1050" dirty="0"/>
          </a:p>
          <a:p>
            <a:pPr algn="ctr" indent="0" marL="0">
              <a:lnSpc>
                <a:spcPct val="100000"/>
              </a:lnSpc>
              <a:buNone/>
            </a:pPr>
            <a:r>
              <a:rPr lang="en-US" sz="950" dirty="0">
                <a:solidFill>
                  <a:schemeClr val="bg2"/>
                </a:solidFill>
              </a:rPr>
              <a:t>homes · hospital · metro · food plant</a:t>
            </a:r>
            <a:endParaRPr lang="en-US" sz="1050" dirty="0"/>
          </a:p>
        </p:txBody>
      </p:sp>
      <p:sp>
        <p:nvSpPr>
          <p:cNvPr id="37" name="arrow-379"/>
          <p:cNvSpPr/>
          <p:nvPr/>
        </p:nvSpPr>
        <p:spPr>
          <a:xfrm>
            <a:off x="1623060" y="6643116"/>
            <a:ext cx="914" cy="283464"/>
          </a:xfrm>
          <a:prstGeom prst="line">
            <a:avLst/>
          </a:prstGeom>
          <a:noFill/>
          <a:ln w="28575">
            <a:solidFill>
              <a:schemeClr val="accent3"/>
            </a:solidFill>
            <a:prstDash val="solid"/>
            <a:tailEnd type="triangle"/>
          </a:ln>
        </p:spPr>
      </p:sp>
      <p:sp>
        <p:nvSpPr>
          <p:cNvPr id="38" name="arrow-380"/>
          <p:cNvSpPr/>
          <p:nvPr/>
        </p:nvSpPr>
        <p:spPr>
          <a:xfrm>
            <a:off x="3589020" y="6643116"/>
            <a:ext cx="914" cy="283464"/>
          </a:xfrm>
          <a:prstGeom prst="line">
            <a:avLst/>
          </a:prstGeom>
          <a:noFill/>
          <a:ln w="28575">
            <a:solidFill>
              <a:schemeClr val="accent2"/>
            </a:solidFill>
            <a:prstDash val="solid"/>
            <a:tailEnd type="triangle"/>
          </a:ln>
        </p:spPr>
      </p:sp>
      <p:sp>
        <p:nvSpPr>
          <p:cNvPr id="39" name="card-381"/>
          <p:cNvSpPr/>
          <p:nvPr/>
        </p:nvSpPr>
        <p:spPr>
          <a:xfrm>
            <a:off x="4983480" y="5157216"/>
            <a:ext cx="1828800" cy="1508760"/>
          </a:xfrm>
          <a:prstGeom prst="roundRect">
            <a:avLst>
              <a:gd name="adj" fmla="val 4848"/>
            </a:avLst>
          </a:prstGeom>
          <a:solidFill>
            <a:schemeClr val="bg1"/>
          </a:solidFill>
          <a:ln w="15875">
            <a:solidFill>
              <a:schemeClr val="accent1"/>
            </a:solidFill>
            <a:prstDash val="solid"/>
          </a:ln>
        </p:spPr>
      </p:sp>
      <p:sp>
        <p:nvSpPr>
          <p:cNvPr id="40" name="text-382"/>
          <p:cNvSpPr txBox="1"/>
          <p:nvPr/>
        </p:nvSpPr>
        <p:spPr>
          <a:xfrm>
            <a:off x="5093208" y="5248656"/>
            <a:ext cx="1609344" cy="1371600"/>
          </a:xfrm>
          <a:prstGeom prst="rect">
            <a:avLst/>
          </a:prstGeom>
          <a:noFill/>
          <a:ln/>
        </p:spPr>
        <p:txBody>
          <a:bodyPr wrap="square" lIns="0" tIns="0" rIns="0" bIns="0" rtlCol="0" anchor="t"/>
          <a:lstStyle/>
          <a:p>
            <a:pPr indent="0" marL="0">
              <a:lnSpc>
                <a:spcPct val="104000"/>
              </a:lnSpc>
              <a:spcAft>
                <a:spcPts val="300"/>
              </a:spcAft>
              <a:buNone/>
            </a:pPr>
            <a:r>
              <a:rPr lang="en-US" sz="900" b="1" spc="200" kern="0" dirty="0">
                <a:solidFill>
                  <a:schemeClr val="accent1"/>
                </a:solidFill>
              </a:rPr>
              <a:t>BACKUP</a:t>
            </a:r>
            <a:endParaRPr lang="en-US" sz="1050" dirty="0"/>
          </a:p>
          <a:p>
            <a:pPr indent="0" marL="0">
              <a:lnSpc>
                <a:spcPct val="104000"/>
              </a:lnSpc>
              <a:buNone/>
            </a:pPr>
            <a:r>
              <a:rPr lang="en-US" sz="1000" dirty="0">
                <a:solidFill>
                  <a:schemeClr val="tx1"/>
                </a:solidFill>
              </a:rPr>
              <a:t>If the core stops, wind, sun, geothermal and stored heat keep basic heating, the hospital and the shelters going.</a:t>
            </a:r>
            <a:endParaRPr lang="en-US" sz="1050" dirty="0"/>
          </a:p>
        </p:txBody>
      </p:sp>
      <p:sp>
        <p:nvSpPr>
          <p:cNvPr id="41" name="line-383"/>
          <p:cNvSpPr/>
          <p:nvPr/>
        </p:nvSpPr>
        <p:spPr>
          <a:xfrm>
            <a:off x="5897880" y="6702552"/>
            <a:ext cx="914" cy="598932"/>
          </a:xfrm>
          <a:prstGeom prst="line">
            <a:avLst/>
          </a:prstGeom>
          <a:noFill/>
          <a:ln w="25400">
            <a:solidFill>
              <a:schemeClr val="accent1"/>
            </a:solidFill>
            <a:prstDash val="dash"/>
          </a:ln>
        </p:spPr>
      </p:sp>
      <p:sp>
        <p:nvSpPr>
          <p:cNvPr id="42" name="line-384"/>
          <p:cNvSpPr/>
          <p:nvPr/>
        </p:nvSpPr>
        <p:spPr>
          <a:xfrm flipH="1">
            <a:off x="4489704" y="7301484"/>
            <a:ext cx="1408176" cy="914"/>
          </a:xfrm>
          <a:prstGeom prst="line">
            <a:avLst/>
          </a:prstGeom>
          <a:noFill/>
          <a:ln w="25400">
            <a:solidFill>
              <a:schemeClr val="accent1"/>
            </a:solidFill>
            <a:prstDash val="dash"/>
            <a:tailEnd type="triangle"/>
          </a:ln>
        </p:spPr>
      </p:sp>
      <p:sp>
        <p:nvSpPr>
          <p:cNvPr id="43" name="note-rule-385"/>
          <p:cNvSpPr/>
          <p:nvPr/>
        </p:nvSpPr>
        <p:spPr>
          <a:xfrm>
            <a:off x="548640" y="8092440"/>
            <a:ext cx="2033016" cy="45720"/>
          </a:xfrm>
          <a:prstGeom prst="rect">
            <a:avLst/>
          </a:prstGeom>
          <a:solidFill>
            <a:schemeClr val="accent3"/>
          </a:solidFill>
          <a:ln w="12700">
            <a:solidFill>
              <a:schemeClr val="accent3"/>
            </a:solidFill>
            <a:prstDash val="solid"/>
          </a:ln>
        </p:spPr>
      </p:sp>
      <p:sp>
        <p:nvSpPr>
          <p:cNvPr id="44" name="text-386"/>
          <p:cNvSpPr txBox="1"/>
          <p:nvPr/>
        </p:nvSpPr>
        <p:spPr>
          <a:xfrm>
            <a:off x="548640" y="8229600"/>
            <a:ext cx="2033016" cy="274320"/>
          </a:xfrm>
          <a:prstGeom prst="rect">
            <a:avLst/>
          </a:prstGeom>
          <a:noFill/>
          <a:ln/>
        </p:spPr>
        <p:txBody>
          <a:bodyPr wrap="square" lIns="0" tIns="0" rIns="0" bIns="0" rtlCol="0" anchor="t"/>
          <a:lstStyle/>
          <a:p>
            <a:pPr indent="0" marL="0">
              <a:buNone/>
            </a:pPr>
            <a:r>
              <a:rPr lang="en-US" sz="1300" b="1" dirty="0">
                <a:solidFill>
                  <a:schemeClr val="accent3"/>
                </a:solidFill>
                <a:latin typeface="+mj-lt" pitchFamily="34" charset="0"/>
                <a:ea typeface="+mj-lt" pitchFamily="34" charset="-122"/>
                <a:cs typeface="+mj-lt" pitchFamily="34" charset="-120"/>
              </a:rPr>
              <a:t>Fuel from snow</a:t>
            </a:r>
            <a:endParaRPr lang="en-US" sz="1300" dirty="0"/>
          </a:p>
        </p:txBody>
      </p:sp>
      <p:sp>
        <p:nvSpPr>
          <p:cNvPr id="45" name="text-387"/>
          <p:cNvSpPr txBox="1"/>
          <p:nvPr/>
        </p:nvSpPr>
        <p:spPr>
          <a:xfrm>
            <a:off x="548640" y="8549640"/>
            <a:ext cx="2033016" cy="1417320"/>
          </a:xfrm>
          <a:prstGeom prst="rect">
            <a:avLst/>
          </a:prstGeom>
          <a:noFill/>
          <a:ln/>
        </p:spPr>
        <p:txBody>
          <a:bodyPr wrap="square" lIns="0" tIns="0" rIns="0" bIns="0" rtlCol="0" anchor="t"/>
          <a:lstStyle/>
          <a:p>
            <a:pPr indent="0" marL="0">
              <a:lnSpc>
                <a:spcPct val="110000"/>
              </a:lnSpc>
              <a:buNone/>
            </a:pPr>
            <a:r>
              <a:rPr lang="en-US" sz="1050" dirty="0">
                <a:solidFill>
                  <a:schemeClr val="tx1"/>
                </a:solidFill>
              </a:rPr>
              <a:t>Deuterium comes from snowmelt; tritium is made from lithium in the reactor wall [6].</a:t>
            </a:r>
            <a:endParaRPr lang="en-US" sz="1050" dirty="0"/>
          </a:p>
        </p:txBody>
      </p:sp>
      <p:sp>
        <p:nvSpPr>
          <p:cNvPr id="46" name="note-rule-388"/>
          <p:cNvSpPr/>
          <p:nvPr/>
        </p:nvSpPr>
        <p:spPr>
          <a:xfrm>
            <a:off x="2764536" y="8092440"/>
            <a:ext cx="2033016" cy="45720"/>
          </a:xfrm>
          <a:prstGeom prst="rect">
            <a:avLst/>
          </a:prstGeom>
          <a:solidFill>
            <a:schemeClr val="accent3"/>
          </a:solidFill>
          <a:ln w="12700">
            <a:solidFill>
              <a:schemeClr val="accent3"/>
            </a:solidFill>
            <a:prstDash val="solid"/>
          </a:ln>
        </p:spPr>
      </p:sp>
      <p:sp>
        <p:nvSpPr>
          <p:cNvPr id="47" name="text-389"/>
          <p:cNvSpPr txBox="1"/>
          <p:nvPr/>
        </p:nvSpPr>
        <p:spPr>
          <a:xfrm>
            <a:off x="2764536" y="8229600"/>
            <a:ext cx="2033016" cy="274320"/>
          </a:xfrm>
          <a:prstGeom prst="rect">
            <a:avLst/>
          </a:prstGeom>
          <a:noFill/>
          <a:ln/>
        </p:spPr>
        <p:txBody>
          <a:bodyPr wrap="square" lIns="0" tIns="0" rIns="0" bIns="0" rtlCol="0" anchor="t"/>
          <a:lstStyle/>
          <a:p>
            <a:pPr indent="0" marL="0">
              <a:buNone/>
            </a:pPr>
            <a:r>
              <a:rPr lang="en-US" sz="1300" b="1" dirty="0">
                <a:solidFill>
                  <a:schemeClr val="accent3"/>
                </a:solidFill>
                <a:latin typeface="+mj-lt" pitchFamily="34" charset="0"/>
                <a:ea typeface="+mj-lt" pitchFamily="34" charset="-122"/>
                <a:cs typeface="+mj-lt" pitchFamily="34" charset="-120"/>
              </a:rPr>
              <a:t>Safe by design</a:t>
            </a:r>
            <a:endParaRPr lang="en-US" sz="1300" dirty="0"/>
          </a:p>
        </p:txBody>
      </p:sp>
      <p:sp>
        <p:nvSpPr>
          <p:cNvPr id="48" name="text-390"/>
          <p:cNvSpPr txBox="1"/>
          <p:nvPr/>
        </p:nvSpPr>
        <p:spPr>
          <a:xfrm>
            <a:off x="2764536" y="8549640"/>
            <a:ext cx="2033016" cy="1417320"/>
          </a:xfrm>
          <a:prstGeom prst="rect">
            <a:avLst/>
          </a:prstGeom>
          <a:noFill/>
          <a:ln/>
        </p:spPr>
        <p:txBody>
          <a:bodyPr wrap="square" lIns="0" tIns="0" rIns="0" bIns="0" rtlCol="0" anchor="t"/>
          <a:lstStyle/>
          <a:p>
            <a:pPr indent="0" marL="0">
              <a:lnSpc>
                <a:spcPct val="110000"/>
              </a:lnSpc>
              <a:buNone/>
            </a:pPr>
            <a:r>
              <a:rPr lang="en-US" sz="1050" dirty="0">
                <a:solidFill>
                  <a:schemeClr val="tx1"/>
                </a:solidFill>
              </a:rPr>
              <a:t>If anything goes wrong, the plasma cools in seconds. Tritium stays in sealed loops.</a:t>
            </a:r>
            <a:endParaRPr lang="en-US" sz="1050" dirty="0"/>
          </a:p>
        </p:txBody>
      </p:sp>
      <p:sp>
        <p:nvSpPr>
          <p:cNvPr id="49" name="note-rule-391"/>
          <p:cNvSpPr/>
          <p:nvPr/>
        </p:nvSpPr>
        <p:spPr>
          <a:xfrm>
            <a:off x="4980432" y="8092440"/>
            <a:ext cx="2033016" cy="45720"/>
          </a:xfrm>
          <a:prstGeom prst="rect">
            <a:avLst/>
          </a:prstGeom>
          <a:solidFill>
            <a:schemeClr val="accent3"/>
          </a:solidFill>
          <a:ln w="12700">
            <a:solidFill>
              <a:schemeClr val="accent3"/>
            </a:solidFill>
            <a:prstDash val="solid"/>
          </a:ln>
        </p:spPr>
      </p:sp>
      <p:sp>
        <p:nvSpPr>
          <p:cNvPr id="50" name="text-392"/>
          <p:cNvSpPr txBox="1"/>
          <p:nvPr/>
        </p:nvSpPr>
        <p:spPr>
          <a:xfrm>
            <a:off x="4980432" y="8229600"/>
            <a:ext cx="2033016" cy="274320"/>
          </a:xfrm>
          <a:prstGeom prst="rect">
            <a:avLst/>
          </a:prstGeom>
          <a:noFill/>
          <a:ln/>
        </p:spPr>
        <p:txBody>
          <a:bodyPr wrap="square" lIns="0" tIns="0" rIns="0" bIns="0" rtlCol="0" anchor="t"/>
          <a:lstStyle/>
          <a:p>
            <a:pPr indent="0" marL="0">
              <a:buNone/>
            </a:pPr>
            <a:r>
              <a:rPr lang="en-US" sz="1300" b="1" dirty="0">
                <a:solidFill>
                  <a:schemeClr val="accent3"/>
                </a:solidFill>
                <a:latin typeface="+mj-lt" pitchFamily="34" charset="0"/>
                <a:ea typeface="+mj-lt" pitchFamily="34" charset="-122"/>
                <a:cs typeface="+mj-lt" pitchFamily="34" charset="-120"/>
              </a:rPr>
              <a:t>Nothing burns</a:t>
            </a:r>
            <a:endParaRPr lang="en-US" sz="1300" dirty="0"/>
          </a:p>
        </p:txBody>
      </p:sp>
      <p:sp>
        <p:nvSpPr>
          <p:cNvPr id="51" name="text-393"/>
          <p:cNvSpPr txBox="1"/>
          <p:nvPr/>
        </p:nvSpPr>
        <p:spPr>
          <a:xfrm>
            <a:off x="4980432" y="8549640"/>
            <a:ext cx="2033016" cy="1417320"/>
          </a:xfrm>
          <a:prstGeom prst="rect">
            <a:avLst/>
          </a:prstGeom>
          <a:noFill/>
          <a:ln/>
        </p:spPr>
        <p:txBody>
          <a:bodyPr wrap="square" lIns="0" tIns="0" rIns="0" bIns="0" rtlCol="0" anchor="t"/>
          <a:lstStyle/>
          <a:p>
            <a:pPr indent="0" marL="0">
              <a:lnSpc>
                <a:spcPct val="110000"/>
              </a:lnSpc>
              <a:buNone/>
            </a:pPr>
            <a:r>
              <a:rPr lang="en-US" sz="1050" dirty="0">
                <a:solidFill>
                  <a:schemeClr val="tx1"/>
                </a:solidFill>
              </a:rPr>
              <a:t>No CO₂, and the reactor’s spare heat melts the snow we drink.</a:t>
            </a:r>
            <a:endParaRPr lang="en-US" sz="1050" dirty="0"/>
          </a:p>
        </p:txBody>
      </p:sp>
      <p:sp>
        <p:nvSpPr>
          <p:cNvPr id="5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14</a:t>
            </a:r>
            <a:endParaRPr lang="en-US" sz="900" dirty="0"/>
          </a:p>
        </p:txBody>
      </p:sp>
      <p:sp>
        <p:nvSpPr>
          <p:cNvPr id="5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94" descr="food">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95" descr="shade">    </p:cNvPr>
          <p:cNvPicPr>
            <a:picLocks noChangeAspect="1"/>
          </p:cNvPicPr>
          <p:nvPr/>
        </p:nvPicPr>
        <p:blipFill>
          <a:blip r:embed="rId2"/>
          <a:stretch>
            <a:fillRect/>
          </a:stretch>
        </p:blipFill>
        <p:spPr>
          <a:xfrm>
            <a:off x="0" y="0"/>
            <a:ext cx="7562088" cy="5669280"/>
          </a:xfrm>
          <a:prstGeom prst="rect">
            <a:avLst/>
          </a:prstGeom>
        </p:spPr>
      </p:pic>
      <p:pic>
        <p:nvPicPr>
          <p:cNvPr id="4" name="shade-topStrong-396" descr="shade">    </p:cNvPr>
          <p:cNvPicPr>
            <a:picLocks noChangeAspect="1"/>
          </p:cNvPicPr>
          <p:nvPr/>
        </p:nvPicPr>
        <p:blipFill>
          <a:blip r:embed="rId3"/>
          <a:stretch>
            <a:fillRect/>
          </a:stretch>
        </p:blipFill>
        <p:spPr>
          <a:xfrm>
            <a:off x="0" y="0"/>
            <a:ext cx="7562088" cy="5669280"/>
          </a:xfrm>
          <a:prstGeom prst="rect">
            <a:avLst/>
          </a:prstGeom>
        </p:spPr>
      </p:pic>
      <p:pic>
        <p:nvPicPr>
          <p:cNvPr id="5" name="shade-topStrong-397" descr="shade">    </p:cNvPr>
          <p:cNvPicPr>
            <a:picLocks noChangeAspect="1"/>
          </p:cNvPicPr>
          <p:nvPr/>
        </p:nvPicPr>
        <p:blipFill>
          <a:blip r:embed="rId4"/>
          <a:stretch>
            <a:fillRect/>
          </a:stretch>
        </p:blipFill>
        <p:spPr>
          <a:xfrm>
            <a:off x="0" y="0"/>
            <a:ext cx="7562088" cy="5669280"/>
          </a:xfrm>
          <a:prstGeom prst="rect">
            <a:avLst/>
          </a:prstGeom>
        </p:spPr>
      </p:pic>
      <p:pic>
        <p:nvPicPr>
          <p:cNvPr id="6" name="shade-bottom-398" descr="shade">    </p:cNvPr>
          <p:cNvPicPr>
            <a:picLocks noChangeAspect="1"/>
          </p:cNvPicPr>
          <p:nvPr/>
        </p:nvPicPr>
        <p:blipFill>
          <a:blip r:embed="rId5"/>
          <a:stretch>
            <a:fillRect/>
          </a:stretch>
        </p:blipFill>
        <p:spPr>
          <a:xfrm>
            <a:off x="0" y="6583680"/>
            <a:ext cx="7562088" cy="4105656"/>
          </a:xfrm>
          <a:prstGeom prst="rect">
            <a:avLst/>
          </a:prstGeom>
        </p:spPr>
      </p:pic>
      <p:sp>
        <p:nvSpPr>
          <p:cNvPr id="7" name="marker-399"/>
          <p:cNvSpPr/>
          <p:nvPr/>
        </p:nvSpPr>
        <p:spPr>
          <a:xfrm>
            <a:off x="548640" y="548640"/>
            <a:ext cx="731520" cy="731520"/>
          </a:xfrm>
          <a:prstGeom prst="ellipse">
            <a:avLst/>
          </a:prstGeom>
          <a:solidFill>
            <a:schemeClr val="accent4"/>
          </a:solidFill>
          <a:ln w="19050">
            <a:solidFill>
              <a:schemeClr val="bg1"/>
            </a:solidFill>
            <a:prstDash val="solid"/>
          </a:ln>
        </p:spPr>
      </p:sp>
      <p:sp>
        <p:nvSpPr>
          <p:cNvPr id="8" name="text-400"/>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9" name="kicker-dot-401"/>
          <p:cNvSpPr/>
          <p:nvPr/>
        </p:nvSpPr>
        <p:spPr>
          <a:xfrm>
            <a:off x="548640" y="1549908"/>
            <a:ext cx="100584" cy="100584"/>
          </a:xfrm>
          <a:prstGeom prst="ellipse">
            <a:avLst/>
          </a:prstGeom>
          <a:solidFill>
            <a:schemeClr val="accent1"/>
          </a:solidFill>
          <a:ln w="12700">
            <a:solidFill>
              <a:schemeClr val="accent1"/>
            </a:solidFill>
            <a:prstDash val="solid"/>
          </a:ln>
        </p:spPr>
      </p:sp>
      <p:sp>
        <p:nvSpPr>
          <p:cNvPr id="10" name="text-402"/>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BREAKTHROUGH 2 · SNOW-TO-FOOD &amp; WATER PLANT</a:t>
            </a:r>
            <a:endParaRPr lang="en-US" sz="900" dirty="0"/>
          </a:p>
        </p:txBody>
      </p:sp>
      <p:sp>
        <p:nvSpPr>
          <p:cNvPr id="11" name="title-403"/>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2" name="text-405"/>
          <p:cNvSpPr txBox="1"/>
          <p:nvPr/>
        </p:nvSpPr>
        <p:spPr>
          <a:xfrm>
            <a:off x="548640" y="3246120"/>
            <a:ext cx="5669280" cy="64008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a plant that makes water and food from snow and air.</a:t>
            </a:r>
            <a:endParaRPr lang="en-US" sz="1500" dirty="0"/>
          </a:p>
        </p:txBody>
      </p:sp>
      <p:sp>
        <p:nvSpPr>
          <p:cNvPr id="13" name="panel-406"/>
          <p:cNvSpPr/>
          <p:nvPr/>
        </p:nvSpPr>
        <p:spPr>
          <a:xfrm>
            <a:off x="365760" y="7360920"/>
            <a:ext cx="6830568" cy="2432304"/>
          </a:xfrm>
          <a:prstGeom prst="rect">
            <a:avLst/>
          </a:prstGeom>
          <a:solidFill>
            <a:schemeClr val="tx1">
              <a:alpha val="88000"/>
            </a:schemeClr>
          </a:solidFill>
          <a:ln w="12700">
            <a:solidFill>
              <a:schemeClr val="tx1">
                <a:alpha val="0"/>
              </a:schemeClr>
            </a:solidFill>
            <a:prstDash val="solid"/>
          </a:ln>
        </p:spPr>
      </p:sp>
      <p:sp>
        <p:nvSpPr>
          <p:cNvPr id="14" name="kicker-dot-407"/>
          <p:cNvSpPr/>
          <p:nvPr/>
        </p:nvSpPr>
        <p:spPr>
          <a:xfrm>
            <a:off x="530352" y="7530084"/>
            <a:ext cx="100584" cy="100584"/>
          </a:xfrm>
          <a:prstGeom prst="ellipse">
            <a:avLst/>
          </a:prstGeom>
          <a:solidFill>
            <a:schemeClr val="accent1"/>
          </a:solidFill>
          <a:ln w="12700">
            <a:solidFill>
              <a:schemeClr val="accent1"/>
            </a:solidFill>
            <a:prstDash val="solid"/>
          </a:ln>
        </p:spPr>
      </p:sp>
      <p:sp>
        <p:nvSpPr>
          <p:cNvPr id="15" name="text-408"/>
          <p:cNvSpPr txBox="1"/>
          <p:nvPr/>
        </p:nvSpPr>
        <p:spPr>
          <a:xfrm>
            <a:off x="713232" y="7488936"/>
            <a:ext cx="128016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6" name="text-409"/>
          <p:cNvSpPr txBox="1"/>
          <p:nvPr/>
        </p:nvSpPr>
        <p:spPr>
          <a:xfrm>
            <a:off x="1920240" y="7479792"/>
            <a:ext cx="5111496" cy="219456"/>
          </a:xfrm>
          <a:prstGeom prst="rect">
            <a:avLst/>
          </a:prstGeom>
          <a:noFill/>
          <a:ln/>
        </p:spPr>
        <p:txBody>
          <a:bodyPr wrap="square" lIns="0" tIns="0" rIns="0" bIns="0" rtlCol="0" anchor="t"/>
          <a:lstStyle/>
          <a:p>
            <a:pPr algn="r" indent="0" marL="0">
              <a:buNone/>
            </a:pPr>
            <a:r>
              <a:rPr lang="en-US" sz="850" i="1" dirty="0">
                <a:solidFill>
                  <a:schemeClr val="bg2"/>
                </a:solidFill>
              </a:rPr>
              <a:t>Above: the Bioreactor Silos in the low sun.</a:t>
            </a:r>
            <a:endParaRPr lang="en-US" sz="850" dirty="0"/>
          </a:p>
        </p:txBody>
      </p:sp>
      <p:sp>
        <p:nvSpPr>
          <p:cNvPr id="17" name="text-410"/>
          <p:cNvSpPr txBox="1"/>
          <p:nvPr/>
        </p:nvSpPr>
        <p:spPr>
          <a:xfrm>
            <a:off x="530352" y="7781544"/>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PROBLEM</a:t>
            </a:r>
            <a:endParaRPr lang="en-US" sz="800" dirty="0"/>
          </a:p>
        </p:txBody>
      </p:sp>
      <p:sp>
        <p:nvSpPr>
          <p:cNvPr id="18" name="text-411"/>
          <p:cNvSpPr txBox="1"/>
          <p:nvPr/>
        </p:nvSpPr>
        <p:spPr>
          <a:xfrm>
            <a:off x="530352" y="7982712"/>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Almost nothing grows at −45 °C, and winter food comes only by air.</a:t>
            </a:r>
            <a:endParaRPr lang="en-US" sz="950" dirty="0"/>
          </a:p>
        </p:txBody>
      </p:sp>
      <p:sp>
        <p:nvSpPr>
          <p:cNvPr id="19" name="text-412"/>
          <p:cNvSpPr txBox="1"/>
          <p:nvPr/>
        </p:nvSpPr>
        <p:spPr>
          <a:xfrm>
            <a:off x="3854196" y="7781544"/>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IDEA</a:t>
            </a:r>
            <a:endParaRPr lang="en-US" sz="800" dirty="0"/>
          </a:p>
        </p:txBody>
      </p:sp>
      <p:sp>
        <p:nvSpPr>
          <p:cNvPr id="20" name="text-413"/>
          <p:cNvSpPr txBox="1"/>
          <p:nvPr/>
        </p:nvSpPr>
        <p:spPr>
          <a:xfrm>
            <a:off x="3854196" y="7982712"/>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Spare fusion heat melts snow for drinking water; microbes turn hydrogen and CO₂ into protein flour.</a:t>
            </a:r>
            <a:endParaRPr lang="en-US" sz="950" dirty="0"/>
          </a:p>
        </p:txBody>
      </p:sp>
      <p:sp>
        <p:nvSpPr>
          <p:cNvPr id="21" name="text-414"/>
          <p:cNvSpPr txBox="1"/>
          <p:nvPr/>
        </p:nvSpPr>
        <p:spPr>
          <a:xfrm>
            <a:off x="530352" y="8805672"/>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WHAT’S NEW</a:t>
            </a:r>
            <a:endParaRPr lang="en-US" sz="800" dirty="0"/>
          </a:p>
        </p:txBody>
      </p:sp>
      <p:sp>
        <p:nvSpPr>
          <p:cNvPr id="22" name="text-415"/>
          <p:cNvSpPr txBox="1"/>
          <p:nvPr/>
        </p:nvSpPr>
        <p:spPr>
          <a:xfrm>
            <a:off x="530352" y="9006840"/>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Solar Foods makes protein from air [9], and Denmark’s Kalundborg factories share heat and water [10]. We join both in one closed loop inside a city.</a:t>
            </a:r>
            <a:endParaRPr lang="en-US" sz="950" dirty="0"/>
          </a:p>
        </p:txBody>
      </p:sp>
      <p:sp>
        <p:nvSpPr>
          <p:cNvPr id="23" name="text-416"/>
          <p:cNvSpPr txBox="1"/>
          <p:nvPr/>
        </p:nvSpPr>
        <p:spPr>
          <a:xfrm>
            <a:off x="3854196" y="8805672"/>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IMPACT</a:t>
            </a:r>
            <a:endParaRPr lang="en-US" sz="800" dirty="0"/>
          </a:p>
        </p:txBody>
      </p:sp>
      <p:sp>
        <p:nvSpPr>
          <p:cNvPr id="24" name="text-417"/>
          <p:cNvSpPr txBox="1"/>
          <p:nvPr/>
        </p:nvSpPr>
        <p:spPr>
          <a:xfrm>
            <a:off x="3854196" y="9006840"/>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Bread, noodles and drinks made here all year, with fewer supply flights.</a:t>
            </a:r>
            <a:endParaRPr lang="en-US" sz="950" dirty="0"/>
          </a:p>
        </p:txBody>
      </p:sp>
      <p:sp>
        <p:nvSpPr>
          <p:cNvPr id="2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15</a:t>
            </a:r>
            <a:endParaRPr lang="en-US" sz="900" dirty="0"/>
          </a:p>
        </p:txBody>
      </p:sp>
      <p:sp>
        <p:nvSpPr>
          <p:cNvPr id="2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418"/>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41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42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From Snow to Supper</a:t>
            </a:r>
            <a:endParaRPr lang="en-US" sz="3400" dirty="0"/>
          </a:p>
        </p:txBody>
      </p:sp>
      <p:sp>
        <p:nvSpPr>
          <p:cNvPr id="5" name="card-422"/>
          <p:cNvSpPr/>
          <p:nvPr/>
        </p:nvSpPr>
        <p:spPr>
          <a:xfrm>
            <a:off x="548640" y="1554480"/>
            <a:ext cx="6464808" cy="6766560"/>
          </a:xfrm>
          <a:prstGeom prst="roundRect">
            <a:avLst>
              <a:gd name="adj" fmla="val 1132"/>
            </a:avLst>
          </a:prstGeom>
          <a:solidFill>
            <a:schemeClr val="bg2"/>
          </a:solidFill>
          <a:ln w="12700">
            <a:solidFill>
              <a:schemeClr val="bg2"/>
            </a:solidFill>
            <a:prstDash val="solid"/>
          </a:ln>
        </p:spPr>
      </p:sp>
      <p:sp>
        <p:nvSpPr>
          <p:cNvPr id="6" name="text-423"/>
          <p:cNvSpPr txBox="1"/>
          <p:nvPr/>
        </p:nvSpPr>
        <p:spPr>
          <a:xfrm>
            <a:off x="731520" y="1691640"/>
            <a:ext cx="45720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FROM SNOW AND AIR TO WATER AND FOOD</a:t>
            </a:r>
            <a:endParaRPr lang="en-US" sz="900" dirty="0"/>
          </a:p>
        </p:txBody>
      </p:sp>
      <p:sp>
        <p:nvSpPr>
          <p:cNvPr id="7" name="card-424"/>
          <p:cNvSpPr/>
          <p:nvPr/>
        </p:nvSpPr>
        <p:spPr>
          <a:xfrm>
            <a:off x="777240" y="2103120"/>
            <a:ext cx="2331720" cy="694944"/>
          </a:xfrm>
          <a:prstGeom prst="roundRect">
            <a:avLst>
              <a:gd name="adj" fmla="val 9211"/>
            </a:avLst>
          </a:prstGeom>
          <a:solidFill>
            <a:schemeClr val="accent6"/>
          </a:solidFill>
          <a:ln w="12700">
            <a:solidFill>
              <a:schemeClr val="accent6"/>
            </a:solidFill>
            <a:prstDash val="solid"/>
          </a:ln>
        </p:spPr>
      </p:sp>
      <p:sp>
        <p:nvSpPr>
          <p:cNvPr id="8" name="text-425"/>
          <p:cNvSpPr txBox="1"/>
          <p:nvPr/>
        </p:nvSpPr>
        <p:spPr>
          <a:xfrm>
            <a:off x="850392" y="2103120"/>
            <a:ext cx="2185416"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Snow</a:t>
            </a:r>
            <a:endParaRPr lang="en-US" sz="1050" dirty="0"/>
          </a:p>
          <a:p>
            <a:pPr algn="ctr" indent="0" marL="0">
              <a:lnSpc>
                <a:spcPct val="100000"/>
              </a:lnSpc>
              <a:buNone/>
            </a:pPr>
            <a:r>
              <a:rPr lang="en-US" sz="950" dirty="0">
                <a:solidFill>
                  <a:schemeClr val="bg1"/>
                </a:solidFill>
              </a:rPr>
              <a:t>fresh in winter, stored for summer</a:t>
            </a:r>
            <a:endParaRPr lang="en-US" sz="1050" dirty="0"/>
          </a:p>
        </p:txBody>
      </p:sp>
      <p:sp>
        <p:nvSpPr>
          <p:cNvPr id="9" name="arrow-426"/>
          <p:cNvSpPr/>
          <p:nvPr/>
        </p:nvSpPr>
        <p:spPr>
          <a:xfrm>
            <a:off x="1943100" y="2825496"/>
            <a:ext cx="914" cy="283464"/>
          </a:xfrm>
          <a:prstGeom prst="line">
            <a:avLst/>
          </a:prstGeom>
          <a:noFill/>
          <a:ln w="25400">
            <a:solidFill>
              <a:schemeClr val="tx2"/>
            </a:solidFill>
            <a:prstDash val="solid"/>
            <a:tailEnd type="triangle"/>
          </a:ln>
        </p:spPr>
      </p:sp>
      <p:sp>
        <p:nvSpPr>
          <p:cNvPr id="10" name="card-427"/>
          <p:cNvSpPr/>
          <p:nvPr/>
        </p:nvSpPr>
        <p:spPr>
          <a:xfrm>
            <a:off x="777240" y="3145536"/>
            <a:ext cx="2331720" cy="694944"/>
          </a:xfrm>
          <a:prstGeom prst="roundRect">
            <a:avLst>
              <a:gd name="adj" fmla="val 9211"/>
            </a:avLst>
          </a:prstGeom>
          <a:solidFill>
            <a:schemeClr val="accent4"/>
          </a:solidFill>
          <a:ln w="12700">
            <a:solidFill>
              <a:schemeClr val="accent4"/>
            </a:solidFill>
            <a:prstDash val="solid"/>
          </a:ln>
        </p:spPr>
      </p:sp>
      <p:sp>
        <p:nvSpPr>
          <p:cNvPr id="11" name="text-428"/>
          <p:cNvSpPr txBox="1"/>
          <p:nvPr/>
        </p:nvSpPr>
        <p:spPr>
          <a:xfrm>
            <a:off x="850392" y="3145536"/>
            <a:ext cx="2185416"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Melt hall</a:t>
            </a:r>
            <a:endParaRPr lang="en-US" sz="1050" dirty="0"/>
          </a:p>
        </p:txBody>
      </p:sp>
      <p:sp>
        <p:nvSpPr>
          <p:cNvPr id="12" name="arrow-429"/>
          <p:cNvSpPr/>
          <p:nvPr/>
        </p:nvSpPr>
        <p:spPr>
          <a:xfrm>
            <a:off x="1943100" y="3867912"/>
            <a:ext cx="914" cy="283464"/>
          </a:xfrm>
          <a:prstGeom prst="line">
            <a:avLst/>
          </a:prstGeom>
          <a:noFill/>
          <a:ln w="25400">
            <a:solidFill>
              <a:schemeClr val="tx2"/>
            </a:solidFill>
            <a:prstDash val="solid"/>
            <a:tailEnd type="triangle"/>
          </a:ln>
        </p:spPr>
      </p:sp>
      <p:sp>
        <p:nvSpPr>
          <p:cNvPr id="13" name="card-430"/>
          <p:cNvSpPr/>
          <p:nvPr/>
        </p:nvSpPr>
        <p:spPr>
          <a:xfrm>
            <a:off x="777240" y="4187952"/>
            <a:ext cx="2331720" cy="694944"/>
          </a:xfrm>
          <a:prstGeom prst="roundRect">
            <a:avLst>
              <a:gd name="adj" fmla="val 9211"/>
            </a:avLst>
          </a:prstGeom>
          <a:solidFill>
            <a:schemeClr val="accent6"/>
          </a:solidFill>
          <a:ln w="12700">
            <a:solidFill>
              <a:schemeClr val="accent6"/>
            </a:solidFill>
            <a:prstDash val="solid"/>
          </a:ln>
        </p:spPr>
      </p:sp>
      <p:sp>
        <p:nvSpPr>
          <p:cNvPr id="14" name="text-431"/>
          <p:cNvSpPr txBox="1"/>
          <p:nvPr/>
        </p:nvSpPr>
        <p:spPr>
          <a:xfrm>
            <a:off x="850392" y="4187952"/>
            <a:ext cx="2185416"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Clean water</a:t>
            </a:r>
            <a:endParaRPr lang="en-US" sz="1050" dirty="0"/>
          </a:p>
        </p:txBody>
      </p:sp>
      <p:sp>
        <p:nvSpPr>
          <p:cNvPr id="15" name="arrow-432"/>
          <p:cNvSpPr/>
          <p:nvPr/>
        </p:nvSpPr>
        <p:spPr>
          <a:xfrm>
            <a:off x="1943100" y="4910328"/>
            <a:ext cx="914" cy="283464"/>
          </a:xfrm>
          <a:prstGeom prst="line">
            <a:avLst/>
          </a:prstGeom>
          <a:noFill/>
          <a:ln w="25400">
            <a:solidFill>
              <a:schemeClr val="tx2"/>
            </a:solidFill>
            <a:prstDash val="solid"/>
            <a:tailEnd type="triangle"/>
          </a:ln>
        </p:spPr>
      </p:sp>
      <p:sp>
        <p:nvSpPr>
          <p:cNvPr id="16" name="card-433"/>
          <p:cNvSpPr/>
          <p:nvPr/>
        </p:nvSpPr>
        <p:spPr>
          <a:xfrm>
            <a:off x="777240" y="5230368"/>
            <a:ext cx="2331720" cy="694944"/>
          </a:xfrm>
          <a:prstGeom prst="roundRect">
            <a:avLst>
              <a:gd name="adj" fmla="val 9211"/>
            </a:avLst>
          </a:prstGeom>
          <a:solidFill>
            <a:schemeClr val="accent4"/>
          </a:solidFill>
          <a:ln w="12700">
            <a:solidFill>
              <a:schemeClr val="accent4"/>
            </a:solidFill>
            <a:prstDash val="solid"/>
          </a:ln>
        </p:spPr>
      </p:sp>
      <p:sp>
        <p:nvSpPr>
          <p:cNvPr id="17" name="text-434"/>
          <p:cNvSpPr txBox="1"/>
          <p:nvPr/>
        </p:nvSpPr>
        <p:spPr>
          <a:xfrm>
            <a:off x="850392" y="5230368"/>
            <a:ext cx="2185416"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Electrolysis</a:t>
            </a:r>
            <a:endParaRPr lang="en-US" sz="1050" dirty="0"/>
          </a:p>
          <a:p>
            <a:pPr algn="ctr" indent="0" marL="0">
              <a:lnSpc>
                <a:spcPct val="100000"/>
              </a:lnSpc>
              <a:buNone/>
            </a:pPr>
            <a:r>
              <a:rPr lang="en-US" sz="950" dirty="0">
                <a:solidFill>
                  <a:schemeClr val="bg1"/>
                </a:solidFill>
              </a:rPr>
              <a:t>splits water with fusion power</a:t>
            </a:r>
            <a:endParaRPr lang="en-US" sz="1050" dirty="0"/>
          </a:p>
        </p:txBody>
      </p:sp>
      <p:sp>
        <p:nvSpPr>
          <p:cNvPr id="18" name="arrow-435"/>
          <p:cNvSpPr/>
          <p:nvPr/>
        </p:nvSpPr>
        <p:spPr>
          <a:xfrm>
            <a:off x="1943100" y="5952744"/>
            <a:ext cx="914" cy="283464"/>
          </a:xfrm>
          <a:prstGeom prst="line">
            <a:avLst/>
          </a:prstGeom>
          <a:noFill/>
          <a:ln w="25400">
            <a:solidFill>
              <a:schemeClr val="tx2"/>
            </a:solidFill>
            <a:prstDash val="solid"/>
            <a:tailEnd type="triangle"/>
          </a:ln>
        </p:spPr>
      </p:sp>
      <p:sp>
        <p:nvSpPr>
          <p:cNvPr id="19" name="card-436"/>
          <p:cNvSpPr/>
          <p:nvPr/>
        </p:nvSpPr>
        <p:spPr>
          <a:xfrm>
            <a:off x="777240" y="6272784"/>
            <a:ext cx="2331720" cy="694944"/>
          </a:xfrm>
          <a:prstGeom prst="roundRect">
            <a:avLst>
              <a:gd name="adj" fmla="val 9211"/>
            </a:avLst>
          </a:prstGeom>
          <a:solidFill>
            <a:schemeClr val="accent4"/>
          </a:solidFill>
          <a:ln w="12700">
            <a:solidFill>
              <a:schemeClr val="accent4"/>
            </a:solidFill>
            <a:prstDash val="solid"/>
          </a:ln>
        </p:spPr>
      </p:sp>
      <p:sp>
        <p:nvSpPr>
          <p:cNvPr id="20" name="text-437"/>
          <p:cNvSpPr txBox="1"/>
          <p:nvPr/>
        </p:nvSpPr>
        <p:spPr>
          <a:xfrm>
            <a:off x="850392" y="6272784"/>
            <a:ext cx="2185416"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Microbes &amp; enzymes</a:t>
            </a:r>
            <a:endParaRPr lang="en-US" sz="1050" dirty="0"/>
          </a:p>
          <a:p>
            <a:pPr algn="ctr" indent="0" marL="0">
              <a:lnSpc>
                <a:spcPct val="100000"/>
              </a:lnSpc>
              <a:buNone/>
            </a:pPr>
            <a:r>
              <a:rPr lang="en-US" sz="950" dirty="0">
                <a:solidFill>
                  <a:schemeClr val="bg1"/>
                </a:solidFill>
              </a:rPr>
              <a:t>in the bioreactor silos</a:t>
            </a:r>
            <a:endParaRPr lang="en-US" sz="1050" dirty="0"/>
          </a:p>
        </p:txBody>
      </p:sp>
      <p:sp>
        <p:nvSpPr>
          <p:cNvPr id="21" name="arrow-438"/>
          <p:cNvSpPr/>
          <p:nvPr/>
        </p:nvSpPr>
        <p:spPr>
          <a:xfrm>
            <a:off x="1943100" y="6995160"/>
            <a:ext cx="914" cy="283464"/>
          </a:xfrm>
          <a:prstGeom prst="line">
            <a:avLst/>
          </a:prstGeom>
          <a:noFill/>
          <a:ln w="25400">
            <a:solidFill>
              <a:schemeClr val="tx2"/>
            </a:solidFill>
            <a:prstDash val="solid"/>
            <a:tailEnd type="triangle"/>
          </a:ln>
        </p:spPr>
      </p:sp>
      <p:sp>
        <p:nvSpPr>
          <p:cNvPr id="22" name="card-439"/>
          <p:cNvSpPr/>
          <p:nvPr/>
        </p:nvSpPr>
        <p:spPr>
          <a:xfrm>
            <a:off x="777240" y="7315200"/>
            <a:ext cx="2331720" cy="694944"/>
          </a:xfrm>
          <a:prstGeom prst="roundRect">
            <a:avLst>
              <a:gd name="adj" fmla="val 9211"/>
            </a:avLst>
          </a:prstGeom>
          <a:solidFill>
            <a:schemeClr val="accent4"/>
          </a:solidFill>
          <a:ln w="12700">
            <a:solidFill>
              <a:schemeClr val="accent4"/>
            </a:solidFill>
            <a:prstDash val="solid"/>
          </a:ln>
        </p:spPr>
      </p:sp>
      <p:sp>
        <p:nvSpPr>
          <p:cNvPr id="23" name="text-440"/>
          <p:cNvSpPr txBox="1"/>
          <p:nvPr/>
        </p:nvSpPr>
        <p:spPr>
          <a:xfrm>
            <a:off x="850392" y="7315200"/>
            <a:ext cx="2185416"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Protein flour &amp; starch</a:t>
            </a:r>
            <a:endParaRPr lang="en-US" sz="1050" dirty="0"/>
          </a:p>
        </p:txBody>
      </p:sp>
      <p:sp>
        <p:nvSpPr>
          <p:cNvPr id="24" name="text-441"/>
          <p:cNvSpPr txBox="1"/>
          <p:nvPr/>
        </p:nvSpPr>
        <p:spPr>
          <a:xfrm>
            <a:off x="2052828" y="5961888"/>
            <a:ext cx="914400" cy="201168"/>
          </a:xfrm>
          <a:prstGeom prst="rect">
            <a:avLst/>
          </a:prstGeom>
          <a:noFill/>
          <a:ln/>
        </p:spPr>
        <p:txBody>
          <a:bodyPr wrap="square" lIns="0" tIns="0" rIns="0" bIns="0" rtlCol="0" anchor="t"/>
          <a:lstStyle/>
          <a:p>
            <a:pPr indent="0" marL="0">
              <a:buNone/>
            </a:pPr>
            <a:r>
              <a:rPr lang="en-US" sz="950" b="1" i="1" dirty="0">
                <a:solidFill>
                  <a:schemeClr val="accent4"/>
                </a:solidFill>
              </a:rPr>
              <a:t>hydrogen</a:t>
            </a:r>
            <a:endParaRPr lang="en-US" sz="950" dirty="0"/>
          </a:p>
        </p:txBody>
      </p:sp>
      <p:sp>
        <p:nvSpPr>
          <p:cNvPr id="25" name="card-442"/>
          <p:cNvSpPr/>
          <p:nvPr/>
        </p:nvSpPr>
        <p:spPr>
          <a:xfrm>
            <a:off x="3886200" y="3145536"/>
            <a:ext cx="2898648" cy="694944"/>
          </a:xfrm>
          <a:prstGeom prst="roundRect">
            <a:avLst>
              <a:gd name="adj" fmla="val 9211"/>
            </a:avLst>
          </a:prstGeom>
          <a:solidFill>
            <a:schemeClr val="accent2"/>
          </a:solidFill>
          <a:ln w="12700">
            <a:solidFill>
              <a:schemeClr val="accent2"/>
            </a:solidFill>
            <a:prstDash val="solid"/>
          </a:ln>
        </p:spPr>
      </p:sp>
      <p:sp>
        <p:nvSpPr>
          <p:cNvPr id="26" name="text-443"/>
          <p:cNvSpPr txBox="1"/>
          <p:nvPr/>
        </p:nvSpPr>
        <p:spPr>
          <a:xfrm>
            <a:off x="3959352" y="3145536"/>
            <a:ext cx="2752344"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Spare heat</a:t>
            </a:r>
            <a:endParaRPr lang="en-US" sz="1050" dirty="0"/>
          </a:p>
          <a:p>
            <a:pPr algn="ctr" indent="0" marL="0">
              <a:lnSpc>
                <a:spcPct val="100000"/>
              </a:lnSpc>
              <a:buNone/>
            </a:pPr>
            <a:r>
              <a:rPr lang="en-US" sz="950" dirty="0">
                <a:solidFill>
                  <a:schemeClr val="bg1"/>
                </a:solidFill>
              </a:rPr>
              <a:t>from the Fusion Core</a:t>
            </a:r>
            <a:endParaRPr lang="en-US" sz="1050" dirty="0"/>
          </a:p>
        </p:txBody>
      </p:sp>
      <p:sp>
        <p:nvSpPr>
          <p:cNvPr id="27" name="arrow-444"/>
          <p:cNvSpPr/>
          <p:nvPr/>
        </p:nvSpPr>
        <p:spPr>
          <a:xfrm flipH="1">
            <a:off x="3163824" y="3493008"/>
            <a:ext cx="667512" cy="914"/>
          </a:xfrm>
          <a:prstGeom prst="line">
            <a:avLst/>
          </a:prstGeom>
          <a:noFill/>
          <a:ln w="28575">
            <a:solidFill>
              <a:schemeClr val="accent2"/>
            </a:solidFill>
            <a:prstDash val="solid"/>
            <a:tailEnd type="triangle"/>
          </a:ln>
        </p:spPr>
      </p:sp>
      <p:sp>
        <p:nvSpPr>
          <p:cNvPr id="28" name="card-445"/>
          <p:cNvSpPr/>
          <p:nvPr/>
        </p:nvSpPr>
        <p:spPr>
          <a:xfrm>
            <a:off x="3886200" y="4187952"/>
            <a:ext cx="2898648" cy="694944"/>
          </a:xfrm>
          <a:prstGeom prst="roundRect">
            <a:avLst>
              <a:gd name="adj" fmla="val 9211"/>
            </a:avLst>
          </a:prstGeom>
          <a:solidFill>
            <a:schemeClr val="accent6"/>
          </a:solidFill>
          <a:ln w="12700">
            <a:solidFill>
              <a:schemeClr val="accent6"/>
            </a:solidFill>
            <a:prstDash val="solid"/>
          </a:ln>
        </p:spPr>
      </p:sp>
      <p:sp>
        <p:nvSpPr>
          <p:cNvPr id="29" name="text-446"/>
          <p:cNvSpPr txBox="1"/>
          <p:nvPr/>
        </p:nvSpPr>
        <p:spPr>
          <a:xfrm>
            <a:off x="3959352" y="4187952"/>
            <a:ext cx="2752344"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Drinking water</a:t>
            </a:r>
            <a:endParaRPr lang="en-US" sz="1050" dirty="0"/>
          </a:p>
          <a:p>
            <a:pPr algn="ctr" indent="0" marL="0">
              <a:lnSpc>
                <a:spcPct val="100000"/>
              </a:lnSpc>
              <a:buNone/>
            </a:pPr>
            <a:r>
              <a:rPr lang="en-US" sz="950" dirty="0">
                <a:solidFill>
                  <a:schemeClr val="bg1"/>
                </a:solidFill>
              </a:rPr>
              <a:t>for every tap</a:t>
            </a:r>
            <a:endParaRPr lang="en-US" sz="1050" dirty="0"/>
          </a:p>
        </p:txBody>
      </p:sp>
      <p:sp>
        <p:nvSpPr>
          <p:cNvPr id="30" name="arrow-447"/>
          <p:cNvSpPr/>
          <p:nvPr/>
        </p:nvSpPr>
        <p:spPr>
          <a:xfrm>
            <a:off x="3163824" y="4535424"/>
            <a:ext cx="667512" cy="914"/>
          </a:xfrm>
          <a:prstGeom prst="line">
            <a:avLst/>
          </a:prstGeom>
          <a:noFill/>
          <a:ln w="28575">
            <a:solidFill>
              <a:schemeClr val="accent6"/>
            </a:solidFill>
            <a:prstDash val="solid"/>
            <a:tailEnd type="triangle"/>
          </a:ln>
        </p:spPr>
      </p:sp>
      <p:sp>
        <p:nvSpPr>
          <p:cNvPr id="31" name="card-448"/>
          <p:cNvSpPr/>
          <p:nvPr/>
        </p:nvSpPr>
        <p:spPr>
          <a:xfrm>
            <a:off x="3886200" y="5230368"/>
            <a:ext cx="2898648" cy="694944"/>
          </a:xfrm>
          <a:prstGeom prst="roundRect">
            <a:avLst>
              <a:gd name="adj" fmla="val 9211"/>
            </a:avLst>
          </a:prstGeom>
          <a:solidFill>
            <a:schemeClr val="accent1"/>
          </a:solidFill>
          <a:ln w="12700">
            <a:solidFill>
              <a:schemeClr val="accent1"/>
            </a:solidFill>
            <a:prstDash val="solid"/>
          </a:ln>
        </p:spPr>
      </p:sp>
      <p:sp>
        <p:nvSpPr>
          <p:cNvPr id="32" name="text-449"/>
          <p:cNvSpPr txBox="1"/>
          <p:nvPr/>
        </p:nvSpPr>
        <p:spPr>
          <a:xfrm>
            <a:off x="3959352" y="5230368"/>
            <a:ext cx="2752344"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Oxygen + deuterium-rich water</a:t>
            </a:r>
            <a:endParaRPr lang="en-US" sz="1050" dirty="0"/>
          </a:p>
          <a:p>
            <a:pPr algn="ctr" indent="0" marL="0">
              <a:lnSpc>
                <a:spcPct val="100000"/>
              </a:lnSpc>
              <a:buNone/>
            </a:pPr>
            <a:r>
              <a:rPr lang="en-US" sz="950" dirty="0">
                <a:solidFill>
                  <a:schemeClr val="bg1"/>
                </a:solidFill>
              </a:rPr>
              <a:t>for the hospital and the Fusion Core</a:t>
            </a:r>
            <a:endParaRPr lang="en-US" sz="1050" dirty="0"/>
          </a:p>
        </p:txBody>
      </p:sp>
      <p:sp>
        <p:nvSpPr>
          <p:cNvPr id="33" name="arrow-450"/>
          <p:cNvSpPr/>
          <p:nvPr/>
        </p:nvSpPr>
        <p:spPr>
          <a:xfrm>
            <a:off x="3163824" y="5577840"/>
            <a:ext cx="667512" cy="914"/>
          </a:xfrm>
          <a:prstGeom prst="line">
            <a:avLst/>
          </a:prstGeom>
          <a:noFill/>
          <a:ln w="28575">
            <a:solidFill>
              <a:schemeClr val="accent1"/>
            </a:solidFill>
            <a:prstDash val="solid"/>
            <a:tailEnd type="triangle"/>
          </a:ln>
        </p:spPr>
      </p:sp>
      <p:sp>
        <p:nvSpPr>
          <p:cNvPr id="34" name="card-451"/>
          <p:cNvSpPr/>
          <p:nvPr/>
        </p:nvSpPr>
        <p:spPr>
          <a:xfrm>
            <a:off x="3886200" y="6272784"/>
            <a:ext cx="2898648" cy="694944"/>
          </a:xfrm>
          <a:prstGeom prst="roundRect">
            <a:avLst>
              <a:gd name="adj" fmla="val 9211"/>
            </a:avLst>
          </a:prstGeom>
          <a:solidFill>
            <a:schemeClr val="tx2"/>
          </a:solidFill>
          <a:ln w="12700">
            <a:solidFill>
              <a:schemeClr val="tx2"/>
            </a:solidFill>
            <a:prstDash val="solid"/>
          </a:ln>
        </p:spPr>
      </p:sp>
      <p:sp>
        <p:nvSpPr>
          <p:cNvPr id="35" name="text-452"/>
          <p:cNvSpPr txBox="1"/>
          <p:nvPr/>
        </p:nvSpPr>
        <p:spPr>
          <a:xfrm>
            <a:off x="3959352" y="6272784"/>
            <a:ext cx="2752344"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CO₂</a:t>
            </a:r>
            <a:endParaRPr lang="en-US" sz="1050" dirty="0"/>
          </a:p>
          <a:p>
            <a:pPr algn="ctr" indent="0" marL="0">
              <a:lnSpc>
                <a:spcPct val="100000"/>
              </a:lnSpc>
              <a:buNone/>
            </a:pPr>
            <a:r>
              <a:rPr lang="en-US" sz="950" dirty="0">
                <a:solidFill>
                  <a:schemeClr val="bg1"/>
                </a:solidFill>
              </a:rPr>
              <a:t>from the waste converter and the air</a:t>
            </a:r>
            <a:endParaRPr lang="en-US" sz="1050" dirty="0"/>
          </a:p>
        </p:txBody>
      </p:sp>
      <p:sp>
        <p:nvSpPr>
          <p:cNvPr id="36" name="arrow-453"/>
          <p:cNvSpPr/>
          <p:nvPr/>
        </p:nvSpPr>
        <p:spPr>
          <a:xfrm flipH="1">
            <a:off x="3163824" y="6620256"/>
            <a:ext cx="667512" cy="914"/>
          </a:xfrm>
          <a:prstGeom prst="line">
            <a:avLst/>
          </a:prstGeom>
          <a:noFill/>
          <a:ln w="28575">
            <a:solidFill>
              <a:schemeClr val="tx2"/>
            </a:solidFill>
            <a:prstDash val="solid"/>
            <a:tailEnd type="triangle"/>
          </a:ln>
        </p:spPr>
      </p:sp>
      <p:sp>
        <p:nvSpPr>
          <p:cNvPr id="37" name="card-454"/>
          <p:cNvSpPr/>
          <p:nvPr/>
        </p:nvSpPr>
        <p:spPr>
          <a:xfrm>
            <a:off x="3886200" y="7315200"/>
            <a:ext cx="2898648" cy="694944"/>
          </a:xfrm>
          <a:prstGeom prst="roundRect">
            <a:avLst>
              <a:gd name="adj" fmla="val 9211"/>
            </a:avLst>
          </a:prstGeom>
          <a:solidFill>
            <a:schemeClr val="tx1"/>
          </a:solidFill>
          <a:ln w="12700">
            <a:solidFill>
              <a:schemeClr val="tx1"/>
            </a:solidFill>
            <a:prstDash val="solid"/>
          </a:ln>
        </p:spPr>
      </p:sp>
      <p:sp>
        <p:nvSpPr>
          <p:cNvPr id="38" name="text-455"/>
          <p:cNvSpPr txBox="1"/>
          <p:nvPr/>
        </p:nvSpPr>
        <p:spPr>
          <a:xfrm>
            <a:off x="3959352" y="7315200"/>
            <a:ext cx="2752344" cy="694944"/>
          </a:xfrm>
          <a:prstGeom prst="rect">
            <a:avLst/>
          </a:prstGeom>
          <a:noFill/>
          <a:ln/>
        </p:spPr>
        <p:txBody>
          <a:bodyPr wrap="square" lIns="0" tIns="0" rIns="0" bIns="0" rtlCol="0" anchor="ctr"/>
          <a:lstStyle/>
          <a:p>
            <a:pPr algn="ctr" indent="0" marL="0">
              <a:lnSpc>
                <a:spcPct val="100000"/>
              </a:lnSpc>
              <a:buNone/>
            </a:pPr>
            <a:r>
              <a:rPr lang="en-US" sz="1100" b="1" dirty="0">
                <a:solidFill>
                  <a:schemeClr val="bg1"/>
                </a:solidFill>
              </a:rPr>
              <a:t>Bread, noodles, drinks</a:t>
            </a:r>
            <a:endParaRPr lang="en-US" sz="1050" dirty="0"/>
          </a:p>
        </p:txBody>
      </p:sp>
      <p:sp>
        <p:nvSpPr>
          <p:cNvPr id="39" name="arrow-456"/>
          <p:cNvSpPr/>
          <p:nvPr/>
        </p:nvSpPr>
        <p:spPr>
          <a:xfrm>
            <a:off x="3163824" y="7662672"/>
            <a:ext cx="667512" cy="914"/>
          </a:xfrm>
          <a:prstGeom prst="line">
            <a:avLst/>
          </a:prstGeom>
          <a:noFill/>
          <a:ln w="28575">
            <a:solidFill>
              <a:schemeClr val="tx1"/>
            </a:solidFill>
            <a:prstDash val="solid"/>
            <a:tailEnd type="triangle"/>
          </a:ln>
        </p:spPr>
      </p:sp>
      <p:sp>
        <p:nvSpPr>
          <p:cNvPr id="40" name="card-457"/>
          <p:cNvSpPr/>
          <p:nvPr/>
        </p:nvSpPr>
        <p:spPr>
          <a:xfrm>
            <a:off x="548640" y="8503920"/>
            <a:ext cx="3140964" cy="1463040"/>
          </a:xfrm>
          <a:prstGeom prst="roundRect">
            <a:avLst>
              <a:gd name="adj" fmla="val 5000"/>
            </a:avLst>
          </a:prstGeom>
          <a:solidFill>
            <a:schemeClr val="bg2"/>
          </a:solidFill>
          <a:ln w="12700">
            <a:solidFill>
              <a:schemeClr val="bg2"/>
            </a:solidFill>
            <a:prstDash val="solid"/>
          </a:ln>
        </p:spPr>
      </p:sp>
      <p:sp>
        <p:nvSpPr>
          <p:cNvPr id="41" name="kicker-dot-458"/>
          <p:cNvSpPr/>
          <p:nvPr/>
        </p:nvSpPr>
        <p:spPr>
          <a:xfrm>
            <a:off x="694944" y="8691372"/>
            <a:ext cx="100584" cy="100584"/>
          </a:xfrm>
          <a:prstGeom prst="ellipse">
            <a:avLst/>
          </a:prstGeom>
          <a:solidFill>
            <a:schemeClr val="accent4"/>
          </a:solidFill>
          <a:ln w="12700">
            <a:solidFill>
              <a:schemeClr val="accent4"/>
            </a:solidFill>
            <a:prstDash val="solid"/>
          </a:ln>
        </p:spPr>
      </p:sp>
      <p:sp>
        <p:nvSpPr>
          <p:cNvPr id="42" name="text-459"/>
          <p:cNvSpPr txBox="1"/>
          <p:nvPr/>
        </p:nvSpPr>
        <p:spPr>
          <a:xfrm>
            <a:off x="877824" y="8650224"/>
            <a:ext cx="2811780"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43" name="text-460"/>
          <p:cNvSpPr txBox="1"/>
          <p:nvPr/>
        </p:nvSpPr>
        <p:spPr>
          <a:xfrm>
            <a:off x="694944" y="8924544"/>
            <a:ext cx="2848356" cy="950976"/>
          </a:xfrm>
          <a:prstGeom prst="rect">
            <a:avLst/>
          </a:prstGeom>
          <a:noFill/>
          <a:ln/>
        </p:spPr>
        <p:txBody>
          <a:bodyPr wrap="square" lIns="0" tIns="0" rIns="0" bIns="0" rtlCol="0" anchor="t"/>
          <a:lstStyle/>
          <a:p>
            <a:pPr indent="0" marL="0">
              <a:lnSpc>
                <a:spcPct val="106000"/>
              </a:lnSpc>
              <a:buNone/>
            </a:pPr>
            <a:r>
              <a:rPr lang="en-US" sz="1100" dirty="0">
                <a:solidFill>
                  <a:schemeClr val="tx1"/>
                </a:solidFill>
              </a:rPr>
              <a:t>Solar Foods in Finland already makes Solein protein from air and electricity [9]. Starch from CO₂ works, but only in a lab so far [11].</a:t>
            </a:r>
            <a:endParaRPr lang="en-US" sz="1100" dirty="0"/>
          </a:p>
        </p:txBody>
      </p:sp>
      <p:sp>
        <p:nvSpPr>
          <p:cNvPr id="44" name="card-461"/>
          <p:cNvSpPr/>
          <p:nvPr/>
        </p:nvSpPr>
        <p:spPr>
          <a:xfrm>
            <a:off x="3872484" y="8503920"/>
            <a:ext cx="3140964" cy="1463040"/>
          </a:xfrm>
          <a:prstGeom prst="roundRect">
            <a:avLst>
              <a:gd name="adj" fmla="val 5000"/>
            </a:avLst>
          </a:prstGeom>
          <a:solidFill>
            <a:schemeClr val="bg2"/>
          </a:solidFill>
          <a:ln w="12700">
            <a:solidFill>
              <a:schemeClr val="bg2"/>
            </a:solidFill>
            <a:prstDash val="solid"/>
          </a:ln>
        </p:spPr>
      </p:sp>
      <p:sp>
        <p:nvSpPr>
          <p:cNvPr id="45" name="kicker-dot-462"/>
          <p:cNvSpPr/>
          <p:nvPr/>
        </p:nvSpPr>
        <p:spPr>
          <a:xfrm>
            <a:off x="4018788" y="8691372"/>
            <a:ext cx="100584" cy="100584"/>
          </a:xfrm>
          <a:prstGeom prst="ellipse">
            <a:avLst/>
          </a:prstGeom>
          <a:solidFill>
            <a:schemeClr val="accent4"/>
          </a:solidFill>
          <a:ln w="12700">
            <a:solidFill>
              <a:schemeClr val="accent4"/>
            </a:solidFill>
            <a:prstDash val="solid"/>
          </a:ln>
        </p:spPr>
      </p:sp>
      <p:sp>
        <p:nvSpPr>
          <p:cNvPr id="46" name="text-463"/>
          <p:cNvSpPr txBox="1"/>
          <p:nvPr/>
        </p:nvSpPr>
        <p:spPr>
          <a:xfrm>
            <a:off x="4201668" y="8650224"/>
            <a:ext cx="2811780"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47" name="text-464"/>
          <p:cNvSpPr txBox="1"/>
          <p:nvPr/>
        </p:nvSpPr>
        <p:spPr>
          <a:xfrm>
            <a:off x="4018788" y="8924544"/>
            <a:ext cx="2848356" cy="950976"/>
          </a:xfrm>
          <a:prstGeom prst="rect">
            <a:avLst/>
          </a:prstGeom>
          <a:noFill/>
          <a:ln/>
        </p:spPr>
        <p:txBody>
          <a:bodyPr wrap="square" lIns="0" tIns="0" rIns="0" bIns="0" rtlCol="0" anchor="t"/>
          <a:lstStyle/>
          <a:p>
            <a:pPr indent="0" marL="0">
              <a:lnSpc>
                <a:spcPct val="106000"/>
              </a:lnSpc>
              <a:buNone/>
            </a:pPr>
            <a:r>
              <a:rPr lang="en-US" sz="1100" dirty="0">
                <a:solidFill>
                  <a:schemeClr val="tx1"/>
                </a:solidFill>
              </a:rPr>
              <a:t>Snow does not fall all year, so winter snow and ice are stored for summer and most water is recycled. Our estimate: melting it takes only a little spare heat.</a:t>
            </a:r>
            <a:endParaRPr lang="en-US" sz="1100" dirty="0"/>
          </a:p>
        </p:txBody>
      </p:sp>
      <p:sp>
        <p:nvSpPr>
          <p:cNvPr id="4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16</a:t>
            </a:r>
            <a:endParaRPr lang="en-US" sz="900" dirty="0"/>
          </a:p>
        </p:txBody>
      </p:sp>
      <p:sp>
        <p:nvSpPr>
          <p:cNvPr id="49"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465" descr="spa">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466" descr="shade">    </p:cNvPr>
          <p:cNvPicPr>
            <a:picLocks noChangeAspect="1"/>
          </p:cNvPicPr>
          <p:nvPr/>
        </p:nvPicPr>
        <p:blipFill>
          <a:blip r:embed="rId2"/>
          <a:stretch>
            <a:fillRect/>
          </a:stretch>
        </p:blipFill>
        <p:spPr>
          <a:xfrm>
            <a:off x="0" y="0"/>
            <a:ext cx="7562088" cy="4754880"/>
          </a:xfrm>
          <a:prstGeom prst="rect">
            <a:avLst/>
          </a:prstGeom>
        </p:spPr>
      </p:pic>
      <p:pic>
        <p:nvPicPr>
          <p:cNvPr id="4" name="shade-topStrong-467" descr="shade">    </p:cNvPr>
          <p:cNvPicPr>
            <a:picLocks noChangeAspect="1"/>
          </p:cNvPicPr>
          <p:nvPr/>
        </p:nvPicPr>
        <p:blipFill>
          <a:blip r:embed="rId3"/>
          <a:stretch>
            <a:fillRect/>
          </a:stretch>
        </p:blipFill>
        <p:spPr>
          <a:xfrm>
            <a:off x="0" y="0"/>
            <a:ext cx="7562088" cy="4754880"/>
          </a:xfrm>
          <a:prstGeom prst="rect">
            <a:avLst/>
          </a:prstGeom>
        </p:spPr>
      </p:pic>
      <p:pic>
        <p:nvPicPr>
          <p:cNvPr id="5" name="shade-bottom-468" descr="shade">    </p:cNvPr>
          <p:cNvPicPr>
            <a:picLocks noChangeAspect="1"/>
          </p:cNvPicPr>
          <p:nvPr/>
        </p:nvPicPr>
        <p:blipFill>
          <a:blip r:embed="rId4"/>
          <a:stretch>
            <a:fillRect/>
          </a:stretch>
        </p:blipFill>
        <p:spPr>
          <a:xfrm>
            <a:off x="0" y="6400800"/>
            <a:ext cx="7562088" cy="4288536"/>
          </a:xfrm>
          <a:prstGeom prst="rect">
            <a:avLst/>
          </a:prstGeom>
        </p:spPr>
      </p:pic>
      <p:sp>
        <p:nvSpPr>
          <p:cNvPr id="6" name="marker-469"/>
          <p:cNvSpPr/>
          <p:nvPr/>
        </p:nvSpPr>
        <p:spPr>
          <a:xfrm>
            <a:off x="548640" y="548640"/>
            <a:ext cx="731520" cy="731520"/>
          </a:xfrm>
          <a:prstGeom prst="ellipse">
            <a:avLst/>
          </a:prstGeom>
          <a:solidFill>
            <a:schemeClr val="accent5"/>
          </a:solidFill>
          <a:ln w="19050">
            <a:solidFill>
              <a:schemeClr val="bg1"/>
            </a:solidFill>
            <a:prstDash val="solid"/>
          </a:ln>
        </p:spPr>
      </p:sp>
      <p:sp>
        <p:nvSpPr>
          <p:cNvPr id="7" name="text-470"/>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8" name="kicker-dot-471"/>
          <p:cNvSpPr/>
          <p:nvPr/>
        </p:nvSpPr>
        <p:spPr>
          <a:xfrm>
            <a:off x="548640" y="1549908"/>
            <a:ext cx="100584" cy="100584"/>
          </a:xfrm>
          <a:prstGeom prst="ellipse">
            <a:avLst/>
          </a:prstGeom>
          <a:solidFill>
            <a:schemeClr val="accent5"/>
          </a:solidFill>
          <a:ln w="12700">
            <a:solidFill>
              <a:schemeClr val="accent5"/>
            </a:solidFill>
            <a:prstDash val="solid"/>
          </a:ln>
        </p:spPr>
      </p:sp>
      <p:sp>
        <p:nvSpPr>
          <p:cNvPr id="9" name="text-472"/>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BREAKTHROUGH 3 · MOUNT AURORA</a:t>
            </a:r>
            <a:endParaRPr lang="en-US" sz="900" dirty="0"/>
          </a:p>
        </p:txBody>
      </p:sp>
      <p:sp>
        <p:nvSpPr>
          <p:cNvPr id="10" name="title-473"/>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1" name="text-475"/>
          <p:cNvSpPr txBox="1"/>
          <p:nvPr/>
        </p:nvSpPr>
        <p:spPr>
          <a:xfrm>
            <a:off x="548640" y="3154680"/>
            <a:ext cx="585216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the mountain is the building, with warm pools and saunas inside a snow peak.</a:t>
            </a:r>
            <a:endParaRPr lang="en-US" sz="1450" dirty="0"/>
          </a:p>
        </p:txBody>
      </p:sp>
      <p:sp>
        <p:nvSpPr>
          <p:cNvPr id="12" name="panel-476"/>
          <p:cNvSpPr/>
          <p:nvPr/>
        </p:nvSpPr>
        <p:spPr>
          <a:xfrm>
            <a:off x="365760" y="7360920"/>
            <a:ext cx="6830568" cy="2432304"/>
          </a:xfrm>
          <a:prstGeom prst="rect">
            <a:avLst/>
          </a:prstGeom>
          <a:solidFill>
            <a:schemeClr val="tx1">
              <a:alpha val="88000"/>
            </a:schemeClr>
          </a:solidFill>
          <a:ln w="12700">
            <a:solidFill>
              <a:schemeClr val="tx1">
                <a:alpha val="0"/>
              </a:schemeClr>
            </a:solidFill>
            <a:prstDash val="solid"/>
          </a:ln>
        </p:spPr>
      </p:sp>
      <p:sp>
        <p:nvSpPr>
          <p:cNvPr id="13" name="kicker-dot-477"/>
          <p:cNvSpPr/>
          <p:nvPr/>
        </p:nvSpPr>
        <p:spPr>
          <a:xfrm>
            <a:off x="530352" y="7530084"/>
            <a:ext cx="100584" cy="100584"/>
          </a:xfrm>
          <a:prstGeom prst="ellipse">
            <a:avLst/>
          </a:prstGeom>
          <a:solidFill>
            <a:schemeClr val="accent5"/>
          </a:solidFill>
          <a:ln w="12700">
            <a:solidFill>
              <a:schemeClr val="accent5"/>
            </a:solidFill>
            <a:prstDash val="solid"/>
          </a:ln>
        </p:spPr>
      </p:sp>
      <p:sp>
        <p:nvSpPr>
          <p:cNvPr id="14" name="text-478"/>
          <p:cNvSpPr txBox="1"/>
          <p:nvPr/>
        </p:nvSpPr>
        <p:spPr>
          <a:xfrm>
            <a:off x="713232" y="7488936"/>
            <a:ext cx="128016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5" name="text-479"/>
          <p:cNvSpPr txBox="1"/>
          <p:nvPr/>
        </p:nvSpPr>
        <p:spPr>
          <a:xfrm>
            <a:off x="1920240" y="7479792"/>
            <a:ext cx="5111496" cy="219456"/>
          </a:xfrm>
          <a:prstGeom prst="rect">
            <a:avLst/>
          </a:prstGeom>
          <a:noFill/>
          <a:ln/>
        </p:spPr>
        <p:txBody>
          <a:bodyPr wrap="square" lIns="0" tIns="0" rIns="0" bIns="0" rtlCol="0" anchor="t"/>
          <a:lstStyle/>
          <a:p>
            <a:pPr algn="r" indent="0" marL="0">
              <a:buNone/>
            </a:pPr>
            <a:r>
              <a:rPr lang="en-US" sz="850" i="1" dirty="0">
                <a:solidFill>
                  <a:schemeClr val="bg2"/>
                </a:solidFill>
              </a:rPr>
              <a:t>Cutaway view: four spa levels inside the snow peak, crowned by the glass Aurora Eye.</a:t>
            </a:r>
            <a:endParaRPr lang="en-US" sz="850" dirty="0"/>
          </a:p>
        </p:txBody>
      </p:sp>
      <p:sp>
        <p:nvSpPr>
          <p:cNvPr id="16" name="text-480"/>
          <p:cNvSpPr txBox="1"/>
          <p:nvPr/>
        </p:nvSpPr>
        <p:spPr>
          <a:xfrm>
            <a:off x="530352" y="7781544"/>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PROBLEM</a:t>
            </a:r>
            <a:endParaRPr lang="en-US" sz="800" dirty="0"/>
          </a:p>
        </p:txBody>
      </p:sp>
      <p:sp>
        <p:nvSpPr>
          <p:cNvPr id="17" name="text-481"/>
          <p:cNvSpPr txBox="1"/>
          <p:nvPr/>
        </p:nvSpPr>
        <p:spPr>
          <a:xfrm>
            <a:off x="530352" y="7982712"/>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Long, dark winters are linked to seasonal affective disorder, a winter depression [12]. People need a warm, bright place to meet.</a:t>
            </a:r>
            <a:endParaRPr lang="en-US" sz="950" dirty="0"/>
          </a:p>
        </p:txBody>
      </p:sp>
      <p:sp>
        <p:nvSpPr>
          <p:cNvPr id="18" name="text-482"/>
          <p:cNvSpPr txBox="1"/>
          <p:nvPr/>
        </p:nvSpPr>
        <p:spPr>
          <a:xfrm>
            <a:off x="3854196" y="7781544"/>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IDEA</a:t>
            </a:r>
            <a:endParaRPr lang="en-US" sz="800" dirty="0"/>
          </a:p>
        </p:txBody>
      </p:sp>
      <p:sp>
        <p:nvSpPr>
          <p:cNvPr id="19" name="text-483"/>
          <p:cNvSpPr txBox="1"/>
          <p:nvPr/>
        </p:nvSpPr>
        <p:spPr>
          <a:xfrm>
            <a:off x="3854196" y="7982712"/>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Four warm spa levels inside an insulated snow peak, heated by a hot spring.</a:t>
            </a:r>
            <a:endParaRPr lang="en-US" sz="950" dirty="0"/>
          </a:p>
        </p:txBody>
      </p:sp>
      <p:sp>
        <p:nvSpPr>
          <p:cNvPr id="20" name="text-484"/>
          <p:cNvSpPr txBox="1"/>
          <p:nvPr/>
        </p:nvSpPr>
        <p:spPr>
          <a:xfrm>
            <a:off x="530352" y="8805672"/>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WHAT’S NEW</a:t>
            </a:r>
            <a:endParaRPr lang="en-US" sz="800" dirty="0"/>
          </a:p>
        </p:txBody>
      </p:sp>
      <p:sp>
        <p:nvSpPr>
          <p:cNvPr id="21" name="text-485"/>
          <p:cNvSpPr txBox="1"/>
          <p:nvPr/>
        </p:nvSpPr>
        <p:spPr>
          <a:xfrm>
            <a:off x="530352" y="9006840"/>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Alaska’s Chena Hot Springs makes its own geothermal power and grows vegetables in greenhouses [13]. We turn a whole snow peak into an insulated building that is also a shelter.</a:t>
            </a:r>
            <a:endParaRPr lang="en-US" sz="950" dirty="0"/>
          </a:p>
        </p:txBody>
      </p:sp>
      <p:sp>
        <p:nvSpPr>
          <p:cNvPr id="22" name="text-486"/>
          <p:cNvSpPr txBox="1"/>
          <p:nvPr/>
        </p:nvSpPr>
        <p:spPr>
          <a:xfrm>
            <a:off x="3854196" y="8805672"/>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IMPACT</a:t>
            </a:r>
            <a:endParaRPr lang="en-US" sz="800" dirty="0"/>
          </a:p>
        </p:txBody>
      </p:sp>
      <p:sp>
        <p:nvSpPr>
          <p:cNvPr id="23" name="text-487"/>
          <p:cNvSpPr txBox="1"/>
          <p:nvPr/>
        </p:nvSpPr>
        <p:spPr>
          <a:xfrm>
            <a:off x="3854196" y="9006840"/>
            <a:ext cx="3186684" cy="777240"/>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Rest and light for residents, income from visitors and a refuge in a disaster.</a:t>
            </a:r>
            <a:endParaRPr lang="en-US" sz="950" dirty="0"/>
          </a:p>
        </p:txBody>
      </p:sp>
      <p:sp>
        <p:nvSpPr>
          <p:cNvPr id="2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17</a:t>
            </a:r>
            <a:endParaRPr lang="en-US" sz="900" dirty="0"/>
          </a:p>
        </p:txBody>
      </p:sp>
      <p:sp>
        <p:nvSpPr>
          <p:cNvPr id="2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88" descr="grotto">    </p:cNvPr>
          <p:cNvPicPr>
            <a:picLocks noChangeAspect="1"/>
          </p:cNvPicPr>
          <p:nvPr/>
        </p:nvPicPr>
        <p:blipFill>
          <a:blip r:embed="rId1"/>
          <a:srcRect l="1" r="0" t="0" b="0"/>
          <a:stretch/>
        </p:blipFill>
        <p:spPr>
          <a:xfrm>
            <a:off x="0" y="0"/>
            <a:ext cx="7562088" cy="10689336"/>
          </a:xfrm>
          <a:prstGeom prst="rect">
            <a:avLst/>
          </a:prstGeom>
        </p:spPr>
      </p:pic>
      <p:pic>
        <p:nvPicPr>
          <p:cNvPr id="3" name="shade-topStrong-489" descr="shade">    </p:cNvPr>
          <p:cNvPicPr>
            <a:picLocks noChangeAspect="1"/>
          </p:cNvPicPr>
          <p:nvPr/>
        </p:nvPicPr>
        <p:blipFill>
          <a:blip r:embed="rId2"/>
          <a:stretch>
            <a:fillRect/>
          </a:stretch>
        </p:blipFill>
        <p:spPr>
          <a:xfrm>
            <a:off x="0" y="0"/>
            <a:ext cx="7562088" cy="4572000"/>
          </a:xfrm>
          <a:prstGeom prst="rect">
            <a:avLst/>
          </a:prstGeom>
        </p:spPr>
      </p:pic>
      <p:pic>
        <p:nvPicPr>
          <p:cNvPr id="4" name="shade-bottom-490" descr="shade">    </p:cNvPr>
          <p:cNvPicPr>
            <a:picLocks noChangeAspect="1"/>
          </p:cNvPicPr>
          <p:nvPr/>
        </p:nvPicPr>
        <p:blipFill>
          <a:blip r:embed="rId3"/>
          <a:stretch>
            <a:fillRect/>
          </a:stretch>
        </p:blipFill>
        <p:spPr>
          <a:xfrm>
            <a:off x="0" y="8412480"/>
            <a:ext cx="7562088" cy="2276856"/>
          </a:xfrm>
          <a:prstGeom prst="rect">
            <a:avLst/>
          </a:prstGeom>
        </p:spPr>
      </p:pic>
      <p:sp>
        <p:nvSpPr>
          <p:cNvPr id="5" name="kicker-dot-494"/>
          <p:cNvSpPr/>
          <p:nvPr/>
        </p:nvSpPr>
        <p:spPr>
          <a:xfrm>
            <a:off x="548640" y="589788"/>
            <a:ext cx="100584" cy="100584"/>
          </a:xfrm>
          <a:prstGeom prst="ellipse">
            <a:avLst/>
          </a:prstGeom>
          <a:solidFill>
            <a:schemeClr val="accent5"/>
          </a:solidFill>
          <a:ln w="12700">
            <a:solidFill>
              <a:schemeClr val="accent5"/>
            </a:solidFill>
            <a:prstDash val="solid"/>
          </a:ln>
        </p:spPr>
      </p:sp>
      <p:sp>
        <p:nvSpPr>
          <p:cNvPr id="6" name="text-495"/>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7" name="title-496"/>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8" name="text-498"/>
          <p:cNvSpPr txBox="1"/>
          <p:nvPr/>
        </p:nvSpPr>
        <p:spPr>
          <a:xfrm>
            <a:off x="548640" y="1783080"/>
            <a:ext cx="4206240" cy="777240"/>
          </a:xfrm>
          <a:prstGeom prst="rect">
            <a:avLst/>
          </a:prstGeom>
          <a:noFill/>
          <a:ln/>
        </p:spPr>
        <p:txBody>
          <a:bodyPr wrap="square" lIns="0" tIns="0" rIns="0" bIns="0" rtlCol="0" anchor="t"/>
          <a:lstStyle/>
          <a:p>
            <a:pPr indent="0" marL="0">
              <a:lnSpc>
                <a:spcPct val="108000"/>
              </a:lnSpc>
              <a:buNone/>
            </a:pPr>
            <a:r>
              <a:rPr lang="en-US" sz="1500" i="1" dirty="0">
                <a:solidFill>
                  <a:schemeClr val="bg1"/>
                </a:solidFill>
                <a:latin typeface="+mj-lt" pitchFamily="34" charset="0"/>
                <a:ea typeface="+mj-lt" pitchFamily="34" charset="-122"/>
                <a:cs typeface="+mj-lt" pitchFamily="34" charset="-120"/>
              </a:rPr>
              <a:t>Level 1 is the arrival floor: a welcome hall, changing rooms and the Mineral Lake grotto.</a:t>
            </a:r>
            <a:endParaRPr lang="en-US" sz="15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18</a:t>
            </a:r>
            <a:endParaRPr lang="en-US" sz="900" dirty="0"/>
          </a:p>
        </p:txBody>
      </p:sp>
      <p:sp>
        <p:nvSpPr>
          <p:cNvPr id="1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91" descr="grotto">    </p:cNvPr>
          <p:cNvPicPr>
            <a:picLocks noChangeAspect="1"/>
          </p:cNvPicPr>
          <p:nvPr/>
        </p:nvPicPr>
        <p:blipFill>
          <a:blip r:embed="rId1"/>
          <a:srcRect l="0" r="1" t="0" b="0"/>
          <a:stretch/>
        </p:blipFill>
        <p:spPr>
          <a:xfrm>
            <a:off x="0" y="0"/>
            <a:ext cx="7562088" cy="10689336"/>
          </a:xfrm>
          <a:prstGeom prst="rect">
            <a:avLst/>
          </a:prstGeom>
        </p:spPr>
      </p:pic>
      <p:pic>
        <p:nvPicPr>
          <p:cNvPr id="3" name="shade-topStrong-492" descr="shade">    </p:cNvPr>
          <p:cNvPicPr>
            <a:picLocks noChangeAspect="1"/>
          </p:cNvPicPr>
          <p:nvPr/>
        </p:nvPicPr>
        <p:blipFill>
          <a:blip r:embed="rId2"/>
          <a:stretch>
            <a:fillRect/>
          </a:stretch>
        </p:blipFill>
        <p:spPr>
          <a:xfrm>
            <a:off x="0" y="0"/>
            <a:ext cx="7562088" cy="4572000"/>
          </a:xfrm>
          <a:prstGeom prst="rect">
            <a:avLst/>
          </a:prstGeom>
        </p:spPr>
      </p:pic>
      <p:pic>
        <p:nvPicPr>
          <p:cNvPr id="4" name="shade-bottom-493" descr="shade">    </p:cNvPr>
          <p:cNvPicPr>
            <a:picLocks noChangeAspect="1"/>
          </p:cNvPicPr>
          <p:nvPr/>
        </p:nvPicPr>
        <p:blipFill>
          <a:blip r:embed="rId3"/>
          <a:stretch>
            <a:fillRect/>
          </a:stretch>
        </p:blipFill>
        <p:spPr>
          <a:xfrm>
            <a:off x="0" y="8412480"/>
            <a:ext cx="7562088" cy="2276856"/>
          </a:xfrm>
          <a:prstGeom prst="rect">
            <a:avLst/>
          </a:prstGeom>
        </p:spPr>
      </p:pic>
      <p:sp>
        <p:nvSpPr>
          <p:cNvPr id="5" name="panel-499"/>
          <p:cNvSpPr/>
          <p:nvPr/>
        </p:nvSpPr>
        <p:spPr>
          <a:xfrm>
            <a:off x="548640" y="548640"/>
            <a:ext cx="3140964" cy="1874520"/>
          </a:xfrm>
          <a:prstGeom prst="rect">
            <a:avLst/>
          </a:prstGeom>
          <a:solidFill>
            <a:schemeClr val="tx1">
              <a:alpha val="85000"/>
            </a:schemeClr>
          </a:solidFill>
          <a:ln w="12700">
            <a:solidFill>
              <a:schemeClr val="tx1">
                <a:alpha val="0"/>
              </a:schemeClr>
            </a:solidFill>
            <a:prstDash val="solid"/>
          </a:ln>
        </p:spPr>
      </p:sp>
      <p:sp>
        <p:nvSpPr>
          <p:cNvPr id="6" name="kicker-dot-500"/>
          <p:cNvSpPr/>
          <p:nvPr/>
        </p:nvSpPr>
        <p:spPr>
          <a:xfrm>
            <a:off x="694944" y="736092"/>
            <a:ext cx="100584" cy="100584"/>
          </a:xfrm>
          <a:prstGeom prst="ellipse">
            <a:avLst/>
          </a:prstGeom>
          <a:solidFill>
            <a:schemeClr val="accent5"/>
          </a:solidFill>
          <a:ln w="12700">
            <a:solidFill>
              <a:schemeClr val="accent5"/>
            </a:solidFill>
            <a:prstDash val="solid"/>
          </a:ln>
        </p:spPr>
      </p:sp>
      <p:sp>
        <p:nvSpPr>
          <p:cNvPr id="7" name="text-501"/>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8" name="text-502"/>
          <p:cNvSpPr txBox="1"/>
          <p:nvPr/>
        </p:nvSpPr>
        <p:spPr>
          <a:xfrm>
            <a:off x="694944" y="969264"/>
            <a:ext cx="2848356" cy="1362456"/>
          </a:xfrm>
          <a:prstGeom prst="rect">
            <a:avLst/>
          </a:prstGeom>
          <a:noFill/>
          <a:ln/>
        </p:spPr>
        <p:txBody>
          <a:bodyPr wrap="square" lIns="0" tIns="0" rIns="0" bIns="0" rtlCol="0" anchor="t"/>
          <a:lstStyle/>
          <a:p>
            <a:pPr indent="0" marL="0">
              <a:lnSpc>
                <a:spcPct val="106000"/>
              </a:lnSpc>
              <a:buNone/>
            </a:pPr>
            <a:r>
              <a:rPr lang="en-US" sz="1050" dirty="0">
                <a:solidFill>
                  <a:schemeClr val="bg1"/>
                </a:solidFill>
              </a:rPr>
              <a:t>Iceland’s Blue Lagoon bathes visitors in water from a geothermal power plant [14]. Mount Aurora goes further: the peak itself is the building.</a:t>
            </a:r>
            <a:endParaRPr lang="en-US" sz="1050" dirty="0"/>
          </a:p>
        </p:txBody>
      </p:sp>
      <p:sp>
        <p:nvSpPr>
          <p:cNvPr id="9" name="panel-503"/>
          <p:cNvSpPr/>
          <p:nvPr/>
        </p:nvSpPr>
        <p:spPr>
          <a:xfrm>
            <a:off x="3872484" y="548640"/>
            <a:ext cx="3140964" cy="1874520"/>
          </a:xfrm>
          <a:prstGeom prst="rect">
            <a:avLst/>
          </a:prstGeom>
          <a:solidFill>
            <a:schemeClr val="tx1">
              <a:alpha val="85000"/>
            </a:schemeClr>
          </a:solidFill>
          <a:ln w="12700">
            <a:solidFill>
              <a:schemeClr val="tx1">
                <a:alpha val="0"/>
              </a:schemeClr>
            </a:solidFill>
            <a:prstDash val="solid"/>
          </a:ln>
        </p:spPr>
      </p:sp>
      <p:sp>
        <p:nvSpPr>
          <p:cNvPr id="10" name="kicker-dot-504"/>
          <p:cNvSpPr/>
          <p:nvPr/>
        </p:nvSpPr>
        <p:spPr>
          <a:xfrm>
            <a:off x="4018788" y="736092"/>
            <a:ext cx="100584" cy="100584"/>
          </a:xfrm>
          <a:prstGeom prst="ellipse">
            <a:avLst/>
          </a:prstGeom>
          <a:solidFill>
            <a:schemeClr val="accent5"/>
          </a:solidFill>
          <a:ln w="12700">
            <a:solidFill>
              <a:schemeClr val="accent5"/>
            </a:solidFill>
            <a:prstDash val="solid"/>
          </a:ln>
        </p:spPr>
      </p:sp>
      <p:sp>
        <p:nvSpPr>
          <p:cNvPr id="11" name="text-505"/>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2" name="text-506"/>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28 °C inside</a:t>
            </a:r>
            <a:endParaRPr lang="en-US" sz="2400" dirty="0"/>
          </a:p>
        </p:txBody>
      </p:sp>
      <p:sp>
        <p:nvSpPr>
          <p:cNvPr id="13" name="text-507"/>
          <p:cNvSpPr txBox="1"/>
          <p:nvPr/>
        </p:nvSpPr>
        <p:spPr>
          <a:xfrm>
            <a:off x="4018788" y="1472184"/>
            <a:ext cx="2848356" cy="859536"/>
          </a:xfrm>
          <a:prstGeom prst="rect">
            <a:avLst/>
          </a:prstGeom>
          <a:noFill/>
          <a:ln/>
        </p:spPr>
        <p:txBody>
          <a:bodyPr wrap="square" lIns="0" tIns="0" rIns="0" bIns="0" rtlCol="0" anchor="t"/>
          <a:lstStyle/>
          <a:p>
            <a:pPr indent="0" marL="0">
              <a:lnSpc>
                <a:spcPct val="106000"/>
              </a:lnSpc>
              <a:buNone/>
            </a:pPr>
            <a:r>
              <a:rPr lang="en-US" sz="1050" dirty="0">
                <a:solidFill>
                  <a:schemeClr val="bg1"/>
                </a:solidFill>
              </a:rPr>
              <a:t>An insulated rock shell keeps the spa warm at −45 °C. The hot spring must still be confirmed by drilling, and thermosyphons keep the ground frozen [15].</a:t>
            </a:r>
            <a:endParaRPr lang="en-US" sz="1050" dirty="0"/>
          </a:p>
        </p:txBody>
      </p:sp>
      <p:sp>
        <p:nvSpPr>
          <p:cNvPr id="14" name="text-508"/>
          <p:cNvSpPr txBox="1"/>
          <p:nvPr/>
        </p:nvSpPr>
        <p:spPr>
          <a:xfrm>
            <a:off x="2990088" y="9601200"/>
            <a:ext cx="4023360" cy="3200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and its larch footbridge.</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19</a:t>
            </a:r>
            <a:endParaRPr lang="en-US" sz="900" dirty="0"/>
          </a:p>
        </p:txBody>
      </p:sp>
      <p:sp>
        <p:nvSpPr>
          <p:cNvPr id="1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509"/>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51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HOW IT WORKS</a:t>
            </a:r>
            <a:endParaRPr lang="en-US" sz="900" dirty="0"/>
          </a:p>
        </p:txBody>
      </p:sp>
      <p:sp>
        <p:nvSpPr>
          <p:cNvPr id="4" name="title-51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ection-513" descr="Section through Mount Aurora: four warm spa levels inside an insulated snow peak, the Aurora Eye dome on top, a hot spring below and thermosyphons keeping the permafrost frozen">    </p:cNvPr>
          <p:cNvPicPr>
            <a:picLocks noChangeAspect="1"/>
          </p:cNvPicPr>
          <p:nvPr/>
        </p:nvPicPr>
        <p:blipFill>
          <a:blip r:embed="rId1"/>
          <a:stretch>
            <a:fillRect/>
          </a:stretch>
        </p:blipFill>
        <p:spPr>
          <a:xfrm>
            <a:off x="548640" y="1554480"/>
            <a:ext cx="6464808" cy="6452006"/>
          </a:xfrm>
          <a:prstGeom prst="rect">
            <a:avLst/>
          </a:prstGeom>
        </p:spPr>
      </p:pic>
      <p:sp>
        <p:nvSpPr>
          <p:cNvPr id="6" name="note-rule-514"/>
          <p:cNvSpPr/>
          <p:nvPr/>
        </p:nvSpPr>
        <p:spPr>
          <a:xfrm>
            <a:off x="548640" y="8229600"/>
            <a:ext cx="3095244" cy="45720"/>
          </a:xfrm>
          <a:prstGeom prst="rect">
            <a:avLst/>
          </a:prstGeom>
          <a:solidFill>
            <a:schemeClr val="accent5"/>
          </a:solidFill>
          <a:ln w="12700">
            <a:solidFill>
              <a:schemeClr val="accent5"/>
            </a:solidFill>
            <a:prstDash val="solid"/>
          </a:ln>
        </p:spPr>
      </p:sp>
      <p:sp>
        <p:nvSpPr>
          <p:cNvPr id="7" name="text-515"/>
          <p:cNvSpPr txBox="1"/>
          <p:nvPr/>
        </p:nvSpPr>
        <p:spPr>
          <a:xfrm>
            <a:off x="548640" y="8366760"/>
            <a:ext cx="3095244" cy="274320"/>
          </a:xfrm>
          <a:prstGeom prst="rect">
            <a:avLst/>
          </a:prstGeom>
          <a:noFill/>
          <a:ln/>
        </p:spPr>
        <p:txBody>
          <a:bodyPr wrap="square" lIns="0" tIns="0" rIns="0" bIns="0" rtlCol="0" anchor="t"/>
          <a:lstStyle/>
          <a:p>
            <a:pPr indent="0" marL="0">
              <a:buNone/>
            </a:pPr>
            <a:r>
              <a:rPr lang="en-US" sz="1300" b="1" dirty="0">
                <a:solidFill>
                  <a:schemeClr val="accent5"/>
                </a:solidFill>
                <a:latin typeface="+mj-lt" pitchFamily="34" charset="0"/>
                <a:ea typeface="+mj-lt" pitchFamily="34" charset="-122"/>
                <a:cs typeface="+mj-lt" pitchFamily="34" charset="-120"/>
              </a:rPr>
              <a:t>How it stays warm</a:t>
            </a:r>
            <a:endParaRPr lang="en-US" sz="1300" dirty="0"/>
          </a:p>
        </p:txBody>
      </p:sp>
      <p:sp>
        <p:nvSpPr>
          <p:cNvPr id="8" name="text-516"/>
          <p:cNvSpPr txBox="1"/>
          <p:nvPr/>
        </p:nvSpPr>
        <p:spPr>
          <a:xfrm>
            <a:off x="548640" y="8686800"/>
            <a:ext cx="3095244" cy="128016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A hot spring heats the pools, and the rock and snow hold the warmth in, like an igloo.</a:t>
            </a:r>
            <a:endParaRPr lang="en-US" sz="1100" dirty="0"/>
          </a:p>
        </p:txBody>
      </p:sp>
      <p:sp>
        <p:nvSpPr>
          <p:cNvPr id="9" name="note-rule-517"/>
          <p:cNvSpPr/>
          <p:nvPr/>
        </p:nvSpPr>
        <p:spPr>
          <a:xfrm>
            <a:off x="3918204" y="8229600"/>
            <a:ext cx="3095244" cy="45720"/>
          </a:xfrm>
          <a:prstGeom prst="rect">
            <a:avLst/>
          </a:prstGeom>
          <a:solidFill>
            <a:schemeClr val="accent5"/>
          </a:solidFill>
          <a:ln w="12700">
            <a:solidFill>
              <a:schemeClr val="accent5"/>
            </a:solidFill>
            <a:prstDash val="solid"/>
          </a:ln>
        </p:spPr>
      </p:sp>
      <p:sp>
        <p:nvSpPr>
          <p:cNvPr id="10" name="text-518"/>
          <p:cNvSpPr txBox="1"/>
          <p:nvPr/>
        </p:nvSpPr>
        <p:spPr>
          <a:xfrm>
            <a:off x="3918204" y="8366760"/>
            <a:ext cx="3095244" cy="274320"/>
          </a:xfrm>
          <a:prstGeom prst="rect">
            <a:avLst/>
          </a:prstGeom>
          <a:noFill/>
          <a:ln/>
        </p:spPr>
        <p:txBody>
          <a:bodyPr wrap="square" lIns="0" tIns="0" rIns="0" bIns="0" rtlCol="0" anchor="t"/>
          <a:lstStyle/>
          <a:p>
            <a:pPr indent="0" marL="0">
              <a:buNone/>
            </a:pPr>
            <a:r>
              <a:rPr lang="en-US" sz="1300" b="1" dirty="0">
                <a:solidFill>
                  <a:schemeClr val="accent5"/>
                </a:solidFill>
                <a:latin typeface="+mj-lt" pitchFamily="34" charset="0"/>
                <a:ea typeface="+mj-lt" pitchFamily="34" charset="-122"/>
                <a:cs typeface="+mj-lt" pitchFamily="34" charset="-120"/>
              </a:rPr>
              <a:t>Also a shelter</a:t>
            </a:r>
            <a:endParaRPr lang="en-US" sz="1300" dirty="0"/>
          </a:p>
        </p:txBody>
      </p:sp>
      <p:sp>
        <p:nvSpPr>
          <p:cNvPr id="11" name="text-519"/>
          <p:cNvSpPr txBox="1"/>
          <p:nvPr/>
        </p:nvSpPr>
        <p:spPr>
          <a:xfrm>
            <a:off x="3918204" y="8686800"/>
            <a:ext cx="3095244" cy="128016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In a blizzard or a power cut, its heat comes from the ground, not the grid.</a:t>
            </a:r>
            <a:endParaRPr lang="en-US" sz="110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20</a:t>
            </a:r>
            <a:endParaRPr lang="en-US" sz="900" dirty="0"/>
          </a:p>
        </p:txBody>
      </p:sp>
      <p:sp>
        <p:nvSpPr>
          <p:cNvPr id="1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52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52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524"/>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Before any picture, we built Aurora Haven ourselves in the Eco-Polis Builder, place by place.</a:t>
            </a:r>
            <a:endParaRPr lang="en-US" sz="1300" dirty="0"/>
          </a:p>
        </p:txBody>
      </p:sp>
      <p:pic>
        <p:nvPicPr>
          <p:cNvPr id="6" name="picture-525" descr="overview">    </p:cNvPr>
          <p:cNvPicPr>
            <a:picLocks noChangeAspect="1"/>
          </p:cNvPicPr>
          <p:nvPr/>
        </p:nvPicPr>
        <p:blipFill>
          <a:blip r:embed="rId1"/>
          <a:srcRect l="0" r="0" t="0" b="0"/>
          <a:stretch/>
        </p:blipFill>
        <p:spPr>
          <a:xfrm>
            <a:off x="548640" y="2103120"/>
            <a:ext cx="6464808" cy="3633761"/>
          </a:xfrm>
          <a:prstGeom prst="rect">
            <a:avLst/>
          </a:prstGeom>
        </p:spPr>
      </p:pic>
      <p:sp>
        <p:nvSpPr>
          <p:cNvPr id="7" name="text-526"/>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527" descr="fusion">    </p:cNvPr>
          <p:cNvPicPr>
            <a:picLocks noChangeAspect="1"/>
          </p:cNvPicPr>
          <p:nvPr/>
        </p:nvPicPr>
        <p:blipFill>
          <a:blip r:embed="rId2"/>
          <a:srcRect l="8333" r="8333" t="0" b="0"/>
          <a:stretch/>
        </p:blipFill>
        <p:spPr>
          <a:xfrm>
            <a:off x="548640" y="6056921"/>
            <a:ext cx="1547622" cy="1238098"/>
          </a:xfrm>
          <a:prstGeom prst="rect">
            <a:avLst/>
          </a:prstGeom>
        </p:spPr>
      </p:pic>
      <p:sp>
        <p:nvSpPr>
          <p:cNvPr id="9" name="text-528"/>
          <p:cNvSpPr txBox="1"/>
          <p:nvPr/>
        </p:nvSpPr>
        <p:spPr>
          <a:xfrm>
            <a:off x="548640" y="732245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529" descr="food">    </p:cNvPr>
          <p:cNvPicPr>
            <a:picLocks noChangeAspect="1"/>
          </p:cNvPicPr>
          <p:nvPr/>
        </p:nvPicPr>
        <p:blipFill>
          <a:blip r:embed="rId3"/>
          <a:srcRect l="8333" r="8333" t="0" b="0"/>
          <a:stretch/>
        </p:blipFill>
        <p:spPr>
          <a:xfrm>
            <a:off x="2187702" y="6056921"/>
            <a:ext cx="1547622" cy="1238098"/>
          </a:xfrm>
          <a:prstGeom prst="rect">
            <a:avLst/>
          </a:prstGeom>
        </p:spPr>
      </p:pic>
      <p:sp>
        <p:nvSpPr>
          <p:cNvPr id="11" name="text-530"/>
          <p:cNvSpPr txBox="1"/>
          <p:nvPr/>
        </p:nvSpPr>
        <p:spPr>
          <a:xfrm>
            <a:off x="2187702" y="732245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531" descr="mount">    </p:cNvPr>
          <p:cNvPicPr>
            <a:picLocks noChangeAspect="1"/>
          </p:cNvPicPr>
          <p:nvPr/>
        </p:nvPicPr>
        <p:blipFill>
          <a:blip r:embed="rId4"/>
          <a:srcRect l="8333" r="8333" t="0" b="0"/>
          <a:stretch/>
        </p:blipFill>
        <p:spPr>
          <a:xfrm>
            <a:off x="3826764" y="6056921"/>
            <a:ext cx="1547622" cy="1238098"/>
          </a:xfrm>
          <a:prstGeom prst="rect">
            <a:avLst/>
          </a:prstGeom>
        </p:spPr>
      </p:pic>
      <p:sp>
        <p:nvSpPr>
          <p:cNvPr id="13" name="text-532"/>
          <p:cNvSpPr txBox="1"/>
          <p:nvPr/>
        </p:nvSpPr>
        <p:spPr>
          <a:xfrm>
            <a:off x="3826764" y="732245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533" descr="downtown">    </p:cNvPr>
          <p:cNvPicPr>
            <a:picLocks noChangeAspect="1"/>
          </p:cNvPicPr>
          <p:nvPr/>
        </p:nvPicPr>
        <p:blipFill>
          <a:blip r:embed="rId5"/>
          <a:srcRect l="8333" r="8333" t="0" b="0"/>
          <a:stretch/>
        </p:blipFill>
        <p:spPr>
          <a:xfrm>
            <a:off x="5465826" y="6056921"/>
            <a:ext cx="1547622" cy="1238098"/>
          </a:xfrm>
          <a:prstGeom prst="rect">
            <a:avLst/>
          </a:prstGeom>
        </p:spPr>
      </p:pic>
      <p:sp>
        <p:nvSpPr>
          <p:cNvPr id="15" name="text-534"/>
          <p:cNvSpPr txBox="1"/>
          <p:nvPr/>
        </p:nvSpPr>
        <p:spPr>
          <a:xfrm>
            <a:off x="5465826" y="732245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535" descr="QR code: 1 · Download our map">
            <a:hlinkClick r:id="rId7" tooltip="1 · Download our map"/>
          </p:cNvPr>
          <p:cNvPicPr>
            <a:picLocks noChangeAspect="1"/>
          </p:cNvPicPr>
          <p:nvPr/>
        </p:nvPicPr>
        <p:blipFill>
          <a:blip r:embed="rId6"/>
          <a:stretch>
            <a:fillRect/>
          </a:stretch>
        </p:blipFill>
        <p:spPr>
          <a:xfrm>
            <a:off x="548640" y="7752218"/>
            <a:ext cx="1280160" cy="1280160"/>
          </a:xfrm>
          <a:prstGeom prst="rect">
            <a:avLst/>
          </a:prstGeom>
        </p:spPr>
      </p:pic>
      <p:sp>
        <p:nvSpPr>
          <p:cNvPr id="17" name="text-536"/>
          <p:cNvSpPr txBox="1"/>
          <p:nvPr/>
        </p:nvSpPr>
        <p:spPr>
          <a:xfrm>
            <a:off x="457200" y="9078098"/>
            <a:ext cx="146304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537"/>
          <p:cNvSpPr txBox="1"/>
          <p:nvPr/>
        </p:nvSpPr>
        <p:spPr>
          <a:xfrm>
            <a:off x="411480" y="9279266"/>
            <a:ext cx="155448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538" descr="QR code: 2 · Open Eco-Polis">
            <a:hlinkClick r:id="rId9" tooltip="2 · Open Eco-Polis"/>
          </p:cNvPr>
          <p:cNvPicPr>
            <a:picLocks noChangeAspect="1"/>
          </p:cNvPicPr>
          <p:nvPr/>
        </p:nvPicPr>
        <p:blipFill>
          <a:blip r:embed="rId8"/>
          <a:stretch>
            <a:fillRect/>
          </a:stretch>
        </p:blipFill>
        <p:spPr>
          <a:xfrm>
            <a:off x="2103120" y="7752218"/>
            <a:ext cx="1280160" cy="1280160"/>
          </a:xfrm>
          <a:prstGeom prst="rect">
            <a:avLst/>
          </a:prstGeom>
        </p:spPr>
      </p:pic>
      <p:sp>
        <p:nvSpPr>
          <p:cNvPr id="20" name="text-539"/>
          <p:cNvSpPr txBox="1"/>
          <p:nvPr/>
        </p:nvSpPr>
        <p:spPr>
          <a:xfrm>
            <a:off x="2011680" y="9078098"/>
            <a:ext cx="146304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540"/>
          <p:cNvSpPr txBox="1"/>
          <p:nvPr/>
        </p:nvSpPr>
        <p:spPr>
          <a:xfrm>
            <a:off x="1965960" y="9279266"/>
            <a:ext cx="155448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541"/>
          <p:cNvSpPr/>
          <p:nvPr/>
        </p:nvSpPr>
        <p:spPr>
          <a:xfrm>
            <a:off x="3749040" y="7706498"/>
            <a:ext cx="3264408" cy="2260462"/>
          </a:xfrm>
          <a:prstGeom prst="roundRect">
            <a:avLst>
              <a:gd name="adj" fmla="val 3236"/>
            </a:avLst>
          </a:prstGeom>
          <a:solidFill>
            <a:schemeClr val="bg2"/>
          </a:solidFill>
          <a:ln w="12700">
            <a:solidFill>
              <a:schemeClr val="bg2"/>
            </a:solidFill>
            <a:prstDash val="solid"/>
          </a:ln>
        </p:spPr>
      </p:sp>
      <p:sp>
        <p:nvSpPr>
          <p:cNvPr id="23" name="kicker-dot-542"/>
          <p:cNvSpPr/>
          <p:nvPr/>
        </p:nvSpPr>
        <p:spPr>
          <a:xfrm>
            <a:off x="3895344" y="7893950"/>
            <a:ext cx="100584" cy="100584"/>
          </a:xfrm>
          <a:prstGeom prst="ellipse">
            <a:avLst/>
          </a:prstGeom>
          <a:solidFill>
            <a:schemeClr val="accent6"/>
          </a:solidFill>
          <a:ln w="12700">
            <a:solidFill>
              <a:schemeClr val="accent6"/>
            </a:solidFill>
            <a:prstDash val="solid"/>
          </a:ln>
        </p:spPr>
      </p:sp>
      <p:sp>
        <p:nvSpPr>
          <p:cNvPr id="24" name="text-543"/>
          <p:cNvSpPr txBox="1"/>
          <p:nvPr/>
        </p:nvSpPr>
        <p:spPr>
          <a:xfrm>
            <a:off x="4078224" y="7852802"/>
            <a:ext cx="293522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544"/>
          <p:cNvSpPr txBox="1"/>
          <p:nvPr/>
        </p:nvSpPr>
        <p:spPr>
          <a:xfrm>
            <a:off x="3895344" y="8127122"/>
            <a:ext cx="2971800" cy="1748398"/>
          </a:xfrm>
          <a:prstGeom prst="rect">
            <a:avLst/>
          </a:prstGeom>
          <a:noFill/>
          <a:ln/>
        </p:spPr>
        <p:txBody>
          <a:bodyPr wrap="square" lIns="0" tIns="0" rIns="0" bIns="0" rtlCol="0" anchor="t"/>
          <a:lstStyle/>
          <a:p>
            <a:pPr indent="0" marL="0">
              <a:lnSpc>
                <a:spcPct val="106000"/>
              </a:lnSpc>
              <a:spcAft>
                <a:spcPts val="600"/>
              </a:spcAft>
              <a:buNone/>
            </a:pPr>
            <a:r>
              <a:rPr lang="en-US" sz="1100" b="1" dirty="0">
                <a:solidFill>
                  <a:schemeClr val="accent6"/>
                </a:solidFill>
              </a:rPr>
              <a:t>1. </a:t>
            </a:r>
            <a:pPr indent="0" marL="0">
              <a:lnSpc>
                <a:spcPct val="106000"/>
              </a:lnSpc>
              <a:buNone/>
            </a:pPr>
            <a:r>
              <a:rPr lang="en-US" sz="1100" dirty="0">
                <a:solidFill>
                  <a:schemeClr val="tx1"/>
                </a:solidFill>
              </a:rPr>
              <a:t>Scan code 1 to download our map file.</a:t>
            </a:r>
            <a:endParaRPr lang="en-US" sz="1100" dirty="0"/>
          </a:p>
          <a:p>
            <a:pPr indent="0" marL="0">
              <a:lnSpc>
                <a:spcPct val="106000"/>
              </a:lnSpc>
              <a:spcAft>
                <a:spcPts val="600"/>
              </a:spcAft>
              <a:buNone/>
            </a:pPr>
            <a:r>
              <a:rPr lang="en-US" sz="1100" b="1" dirty="0">
                <a:solidFill>
                  <a:schemeClr val="accent6"/>
                </a:solidFill>
              </a:rPr>
              <a:t>2. </a:t>
            </a:r>
            <a:pPr indent="0" marL="0">
              <a:lnSpc>
                <a:spcPct val="106000"/>
              </a:lnSpc>
              <a:buNone/>
            </a:pPr>
            <a:r>
              <a:rPr lang="en-US" sz="1100" dirty="0">
                <a:solidFill>
                  <a:schemeClr val="tx1"/>
                </a:solidFill>
              </a:rPr>
              <a:t>Scan code 2 to open the Eco-Polis Builder.</a:t>
            </a:r>
            <a:endParaRPr lang="en-US" sz="1100" dirty="0"/>
          </a:p>
          <a:p>
            <a:pPr indent="0" marL="0">
              <a:lnSpc>
                <a:spcPct val="106000"/>
              </a:lnSpc>
              <a:spcAft>
                <a:spcPts val="600"/>
              </a:spcAft>
              <a:buNone/>
            </a:pPr>
            <a:r>
              <a:rPr lang="en-US" sz="1100" b="1" dirty="0">
                <a:solidFill>
                  <a:schemeClr val="accent6"/>
                </a:solidFill>
              </a:rPr>
              <a:t>3. </a:t>
            </a:r>
            <a:pPr indent="0" marL="0">
              <a:lnSpc>
                <a:spcPct val="106000"/>
              </a:lnSpc>
              <a:buNone/>
            </a:pPr>
            <a:r>
              <a:rPr lang="en-US" sz="1100" dirty="0">
                <a:solidFill>
                  <a:schemeClr val="tx1"/>
                </a:solidFill>
              </a:rPr>
              <a:t>Click Load (the folder icon) and choose Aurora_Haven.json.</a:t>
            </a:r>
            <a:endParaRPr lang="en-US" sz="1100" dirty="0"/>
          </a:p>
          <a:p>
            <a:pPr indent="0" marL="0">
              <a:lnSpc>
                <a:spcPct val="106000"/>
              </a:lnSpc>
              <a:spcAft>
                <a:spcPts val="600"/>
              </a:spcAft>
              <a:buNone/>
            </a:pPr>
            <a:r>
              <a:rPr lang="en-US" sz="1100" b="1" dirty="0">
                <a:solidFill>
                  <a:schemeClr val="accent6"/>
                </a:solidFill>
              </a:rPr>
              <a:t>4. </a:t>
            </a:r>
            <a:pPr indent="0" marL="0">
              <a:lnSpc>
                <a:spcPct val="106000"/>
              </a:lnSpc>
              <a:buNone/>
            </a:pPr>
            <a:r>
              <a:rPr lang="en-US" sz="1100" dirty="0">
                <a:solidFill>
                  <a:schemeClr val="tx1"/>
                </a:solidFill>
              </a:rPr>
              <a:t>Click Lock (View), then Full Screen.</a:t>
            </a:r>
            <a:endParaRPr lang="en-US" sz="1100" dirty="0"/>
          </a:p>
          <a:p>
            <a:pPr indent="0" marL="0">
              <a:lnSpc>
                <a:spcPct val="106000"/>
              </a:lnSpc>
              <a:spcAft>
                <a:spcPts val="600"/>
              </a:spcAft>
              <a:buNone/>
            </a:pPr>
            <a:r>
              <a:rPr lang="en-US" sz="1100" b="1" dirty="0">
                <a:solidFill>
                  <a:schemeClr val="accent6"/>
                </a:solidFill>
              </a:rPr>
              <a:t>5. </a:t>
            </a:r>
            <a:pPr indent="0" marL="0">
              <a:lnSpc>
                <a:spcPct val="106000"/>
              </a:lnSpc>
              <a:buNone/>
            </a:pPr>
            <a:r>
              <a:rPr lang="en-US" sz="1100" dirty="0">
                <a:solidFill>
                  <a:schemeClr val="tx1"/>
                </a:solidFill>
              </a:rPr>
              <a:t>Drag to turn, scroll to zoom, click a building to read about it.</a:t>
            </a:r>
            <a:endParaRPr lang="en-US" sz="1100" dirty="0"/>
          </a:p>
        </p:txBody>
      </p:sp>
      <p:sp>
        <p:nvSpPr>
          <p:cNvPr id="2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21</a:t>
            </a:r>
            <a:endParaRPr lang="en-US" sz="900" dirty="0"/>
          </a:p>
        </p:txBody>
      </p:sp>
      <p:sp>
        <p:nvSpPr>
          <p:cNvPr id="2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54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4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4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4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Our three breakthroughs work as one system, so heat, water and waste go round.</a:t>
            </a:r>
            <a:endParaRPr lang="en-US" sz="1400" dirty="0"/>
          </a:p>
        </p:txBody>
      </p:sp>
      <p:sp>
        <p:nvSpPr>
          <p:cNvPr id="6" name="loop-node-550"/>
          <p:cNvSpPr/>
          <p:nvPr/>
        </p:nvSpPr>
        <p:spPr>
          <a:xfrm>
            <a:off x="685800" y="2331720"/>
            <a:ext cx="1828800" cy="1828800"/>
          </a:xfrm>
          <a:prstGeom prst="ellipse">
            <a:avLst/>
          </a:prstGeom>
          <a:solidFill>
            <a:schemeClr val="accent3"/>
          </a:solidFill>
          <a:ln w="25400">
            <a:solidFill>
              <a:schemeClr val="bg1"/>
            </a:solidFill>
            <a:prstDash val="solid"/>
          </a:ln>
        </p:spPr>
      </p:sp>
      <p:sp>
        <p:nvSpPr>
          <p:cNvPr id="7" name="text-551"/>
          <p:cNvSpPr txBox="1"/>
          <p:nvPr/>
        </p:nvSpPr>
        <p:spPr>
          <a:xfrm>
            <a:off x="822960" y="2834640"/>
            <a:ext cx="15544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52"/>
          <p:cNvSpPr txBox="1"/>
          <p:nvPr/>
        </p:nvSpPr>
        <p:spPr>
          <a:xfrm>
            <a:off x="822960" y="3319272"/>
            <a:ext cx="1554480" cy="411480"/>
          </a:xfrm>
          <a:prstGeom prst="rect">
            <a:avLst/>
          </a:prstGeom>
          <a:noFill/>
          <a:ln/>
        </p:spPr>
        <p:txBody>
          <a:bodyPr wrap="square" lIns="0" tIns="0" rIns="0" bIns="0" rtlCol="0" anchor="t"/>
          <a:lstStyle/>
          <a:p>
            <a:pPr algn="ctr" indent="0" marL="0">
              <a:buNone/>
            </a:pPr>
            <a:r>
              <a:rPr lang="en-US" sz="950" dirty="0">
                <a:solidFill>
                  <a:schemeClr val="bg1"/>
                </a:solidFill>
              </a:rPr>
              <a:t>heat · power · waste converter</a:t>
            </a:r>
            <a:endParaRPr lang="en-US" sz="950" dirty="0"/>
          </a:p>
        </p:txBody>
      </p:sp>
      <p:sp>
        <p:nvSpPr>
          <p:cNvPr id="9" name="loop-node-553"/>
          <p:cNvSpPr/>
          <p:nvPr/>
        </p:nvSpPr>
        <p:spPr>
          <a:xfrm>
            <a:off x="5047488" y="2331720"/>
            <a:ext cx="1828800" cy="1828800"/>
          </a:xfrm>
          <a:prstGeom prst="ellipse">
            <a:avLst/>
          </a:prstGeom>
          <a:solidFill>
            <a:schemeClr val="accent4"/>
          </a:solidFill>
          <a:ln w="25400">
            <a:solidFill>
              <a:schemeClr val="bg1"/>
            </a:solidFill>
            <a:prstDash val="solid"/>
          </a:ln>
        </p:spPr>
      </p:sp>
      <p:sp>
        <p:nvSpPr>
          <p:cNvPr id="10" name="text-554"/>
          <p:cNvSpPr txBox="1"/>
          <p:nvPr/>
        </p:nvSpPr>
        <p:spPr>
          <a:xfrm>
            <a:off x="5184648" y="2834640"/>
            <a:ext cx="15544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55"/>
          <p:cNvSpPr txBox="1"/>
          <p:nvPr/>
        </p:nvSpPr>
        <p:spPr>
          <a:xfrm>
            <a:off x="5184648" y="3319272"/>
            <a:ext cx="1554480" cy="411480"/>
          </a:xfrm>
          <a:prstGeom prst="rect">
            <a:avLst/>
          </a:prstGeom>
          <a:noFill/>
          <a:ln/>
        </p:spPr>
        <p:txBody>
          <a:bodyPr wrap="square" lIns="0" tIns="0" rIns="0" bIns="0" rtlCol="0" anchor="t"/>
          <a:lstStyle/>
          <a:p>
            <a:pPr algn="ctr" indent="0" marL="0">
              <a:buNone/>
            </a:pPr>
            <a:r>
              <a:rPr lang="en-US" sz="950" dirty="0">
                <a:solidFill>
                  <a:schemeClr val="bg1"/>
                </a:solidFill>
              </a:rPr>
              <a:t>water · food · oxygen</a:t>
            </a:r>
            <a:endParaRPr lang="en-US" sz="950" dirty="0"/>
          </a:p>
        </p:txBody>
      </p:sp>
      <p:sp>
        <p:nvSpPr>
          <p:cNvPr id="12" name="loop-node-556"/>
          <p:cNvSpPr/>
          <p:nvPr/>
        </p:nvSpPr>
        <p:spPr>
          <a:xfrm>
            <a:off x="5184648" y="5257800"/>
            <a:ext cx="1554480" cy="1554480"/>
          </a:xfrm>
          <a:prstGeom prst="ellipse">
            <a:avLst/>
          </a:prstGeom>
          <a:solidFill>
            <a:schemeClr val="accent5"/>
          </a:solidFill>
          <a:ln w="25400">
            <a:solidFill>
              <a:schemeClr val="bg1"/>
            </a:solidFill>
            <a:prstDash val="solid"/>
          </a:ln>
        </p:spPr>
      </p:sp>
      <p:sp>
        <p:nvSpPr>
          <p:cNvPr id="13" name="text-557"/>
          <p:cNvSpPr txBox="1"/>
          <p:nvPr/>
        </p:nvSpPr>
        <p:spPr>
          <a:xfrm>
            <a:off x="5321808" y="5623560"/>
            <a:ext cx="128016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a:t>
            </a:r>
            <a:endParaRPr lang="en-US" sz="1500" dirty="0"/>
          </a:p>
        </p:txBody>
      </p:sp>
      <p:sp>
        <p:nvSpPr>
          <p:cNvPr id="14" name="text-558"/>
          <p:cNvSpPr txBox="1"/>
          <p:nvPr/>
        </p:nvSpPr>
        <p:spPr>
          <a:xfrm>
            <a:off x="5321808" y="6108192"/>
            <a:ext cx="1280160" cy="411480"/>
          </a:xfrm>
          <a:prstGeom prst="rect">
            <a:avLst/>
          </a:prstGeom>
          <a:noFill/>
          <a:ln/>
        </p:spPr>
        <p:txBody>
          <a:bodyPr wrap="square" lIns="0" tIns="0" rIns="0" bIns="0" rtlCol="0" anchor="t"/>
          <a:lstStyle/>
          <a:p>
            <a:pPr algn="ctr" indent="0" marL="0">
              <a:buNone/>
            </a:pPr>
            <a:r>
              <a:rPr lang="en-US" sz="950" dirty="0">
                <a:solidFill>
                  <a:schemeClr val="bg1"/>
                </a:solidFill>
              </a:rPr>
              <a:t>geothermal spa · shelter</a:t>
            </a:r>
            <a:endParaRPr lang="en-US" sz="950" dirty="0"/>
          </a:p>
        </p:txBody>
      </p:sp>
      <p:sp>
        <p:nvSpPr>
          <p:cNvPr id="15" name="loop-node-city"/>
          <p:cNvSpPr/>
          <p:nvPr/>
        </p:nvSpPr>
        <p:spPr>
          <a:xfrm>
            <a:off x="685800" y="5440680"/>
            <a:ext cx="1828800" cy="1188720"/>
          </a:xfrm>
          <a:prstGeom prst="roundRect">
            <a:avLst>
              <a:gd name="adj" fmla="val 7692"/>
            </a:avLst>
          </a:prstGeom>
          <a:solidFill>
            <a:schemeClr val="tx1"/>
          </a:solidFill>
          <a:ln w="25400">
            <a:solidFill>
              <a:schemeClr val="bg1"/>
            </a:solidFill>
            <a:prstDash val="solid"/>
          </a:ln>
        </p:spPr>
      </p:sp>
      <p:sp>
        <p:nvSpPr>
          <p:cNvPr id="16" name="text-559"/>
          <p:cNvSpPr txBox="1"/>
          <p:nvPr/>
        </p:nvSpPr>
        <p:spPr>
          <a:xfrm>
            <a:off x="777240" y="5586984"/>
            <a:ext cx="164592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60"/>
          <p:cNvSpPr txBox="1"/>
          <p:nvPr/>
        </p:nvSpPr>
        <p:spPr>
          <a:xfrm>
            <a:off x="822960" y="5971032"/>
            <a:ext cx="1554480" cy="548640"/>
          </a:xfrm>
          <a:prstGeom prst="rect">
            <a:avLst/>
          </a:prstGeom>
          <a:noFill/>
          <a:ln/>
        </p:spPr>
        <p:txBody>
          <a:bodyPr wrap="square" lIns="0" tIns="0" rIns="0" bIns="0" rtlCol="0" anchor="t"/>
          <a:lstStyle/>
          <a:p>
            <a:pPr algn="ctr" indent="0" marL="0">
              <a:buNone/>
            </a:pPr>
            <a:r>
              <a:rPr lang="en-US" sz="950" dirty="0">
                <a:solidFill>
                  <a:schemeClr val="bg2"/>
                </a:solidFill>
              </a:rPr>
              <a:t>45,000 people, homes and greenhouses</a:t>
            </a:r>
            <a:endParaRPr lang="en-US" sz="950" dirty="0"/>
          </a:p>
        </p:txBody>
      </p:sp>
      <p:sp>
        <p:nvSpPr>
          <p:cNvPr id="18" name="arrow-561"/>
          <p:cNvSpPr/>
          <p:nvPr/>
        </p:nvSpPr>
        <p:spPr>
          <a:xfrm>
            <a:off x="2587752" y="2944368"/>
            <a:ext cx="2386584" cy="914"/>
          </a:xfrm>
          <a:prstGeom prst="line">
            <a:avLst/>
          </a:prstGeom>
          <a:noFill/>
          <a:ln w="28575">
            <a:solidFill>
              <a:schemeClr val="accent2"/>
            </a:solidFill>
            <a:prstDash val="solid"/>
            <a:tailEnd type="triangle"/>
          </a:ln>
        </p:spPr>
      </p:sp>
      <p:sp>
        <p:nvSpPr>
          <p:cNvPr id="19" name="text-562"/>
          <p:cNvSpPr txBox="1"/>
          <p:nvPr/>
        </p:nvSpPr>
        <p:spPr>
          <a:xfrm>
            <a:off x="2587752" y="2697480"/>
            <a:ext cx="2386584" cy="201168"/>
          </a:xfrm>
          <a:prstGeom prst="rect">
            <a:avLst/>
          </a:prstGeom>
          <a:noFill/>
          <a:ln/>
        </p:spPr>
        <p:txBody>
          <a:bodyPr wrap="square" lIns="0" tIns="0" rIns="0" bIns="0" rtlCol="0" anchor="t"/>
          <a:lstStyle/>
          <a:p>
            <a:pPr algn="ctr" indent="0" marL="0">
              <a:buNone/>
            </a:pPr>
            <a:r>
              <a:rPr lang="en-US" sz="950" b="1" dirty="0">
                <a:solidFill>
                  <a:schemeClr val="accent2"/>
                </a:solidFill>
              </a:rPr>
              <a:t>Spare heat melts the snow</a:t>
            </a:r>
            <a:endParaRPr lang="en-US" sz="950" dirty="0"/>
          </a:p>
        </p:txBody>
      </p:sp>
      <p:sp>
        <p:nvSpPr>
          <p:cNvPr id="20" name="arrow-563"/>
          <p:cNvSpPr/>
          <p:nvPr/>
        </p:nvSpPr>
        <p:spPr>
          <a:xfrm>
            <a:off x="2587752" y="3355848"/>
            <a:ext cx="2386584" cy="914"/>
          </a:xfrm>
          <a:prstGeom prst="line">
            <a:avLst/>
          </a:prstGeom>
          <a:noFill/>
          <a:ln w="28575">
            <a:solidFill>
              <a:schemeClr val="bg2"/>
            </a:solidFill>
            <a:prstDash val="solid"/>
            <a:tailEnd type="triangle"/>
          </a:ln>
        </p:spPr>
      </p:sp>
      <p:sp>
        <p:nvSpPr>
          <p:cNvPr id="21" name="text-564"/>
          <p:cNvSpPr txBox="1"/>
          <p:nvPr/>
        </p:nvSpPr>
        <p:spPr>
          <a:xfrm>
            <a:off x="2587752" y="3108960"/>
            <a:ext cx="2386584" cy="201168"/>
          </a:xfrm>
          <a:prstGeom prst="rect">
            <a:avLst/>
          </a:prstGeom>
          <a:noFill/>
          <a:ln/>
        </p:spPr>
        <p:txBody>
          <a:bodyPr wrap="square" lIns="0" tIns="0" rIns="0" bIns="0" rtlCol="0" anchor="t"/>
          <a:lstStyle/>
          <a:p>
            <a:pPr algn="ctr" indent="0" marL="0">
              <a:buNone/>
            </a:pPr>
            <a:r>
              <a:rPr lang="en-US" sz="950" b="1" dirty="0">
                <a:solidFill>
                  <a:schemeClr val="bg2"/>
                </a:solidFill>
              </a:rPr>
              <a:t>Hydrogen &amp; CO₂ made from rubbish</a:t>
            </a:r>
            <a:endParaRPr lang="en-US" sz="950" dirty="0"/>
          </a:p>
        </p:txBody>
      </p:sp>
      <p:sp>
        <p:nvSpPr>
          <p:cNvPr id="22" name="arrow-565"/>
          <p:cNvSpPr/>
          <p:nvPr/>
        </p:nvSpPr>
        <p:spPr>
          <a:xfrm flipH="1">
            <a:off x="2587752" y="3767328"/>
            <a:ext cx="2386584" cy="914"/>
          </a:xfrm>
          <a:prstGeom prst="line">
            <a:avLst/>
          </a:prstGeom>
          <a:noFill/>
          <a:ln w="28575">
            <a:solidFill>
              <a:schemeClr val="accent6"/>
            </a:solidFill>
            <a:prstDash val="solid"/>
            <a:tailEnd type="triangle"/>
          </a:ln>
        </p:spPr>
      </p:sp>
      <p:sp>
        <p:nvSpPr>
          <p:cNvPr id="23" name="text-566"/>
          <p:cNvSpPr txBox="1"/>
          <p:nvPr/>
        </p:nvSpPr>
        <p:spPr>
          <a:xfrm>
            <a:off x="2587752" y="3520440"/>
            <a:ext cx="2386584" cy="201168"/>
          </a:xfrm>
          <a:prstGeom prst="rect">
            <a:avLst/>
          </a:prstGeom>
          <a:noFill/>
          <a:ln/>
        </p:spPr>
        <p:txBody>
          <a:bodyPr wrap="square" lIns="0" tIns="0" rIns="0" bIns="0" rtlCol="0" anchor="t"/>
          <a:lstStyle/>
          <a:p>
            <a:pPr algn="ctr" indent="0" marL="0">
              <a:buNone/>
            </a:pPr>
            <a:r>
              <a:rPr lang="en-US" sz="950" b="1" dirty="0">
                <a:solidFill>
                  <a:schemeClr val="accent6"/>
                </a:solidFill>
              </a:rPr>
              <a:t>Deuterium-rich water returns as fuel</a:t>
            </a:r>
            <a:endParaRPr lang="en-US" sz="950" dirty="0"/>
          </a:p>
        </p:txBody>
      </p:sp>
      <p:sp>
        <p:nvSpPr>
          <p:cNvPr id="24" name="arrow-567"/>
          <p:cNvSpPr/>
          <p:nvPr/>
        </p:nvSpPr>
        <p:spPr>
          <a:xfrm>
            <a:off x="1325880" y="4233672"/>
            <a:ext cx="914" cy="1133856"/>
          </a:xfrm>
          <a:prstGeom prst="line">
            <a:avLst/>
          </a:prstGeom>
          <a:noFill/>
          <a:ln w="28575">
            <a:solidFill>
              <a:schemeClr val="accent2"/>
            </a:solidFill>
            <a:prstDash val="solid"/>
            <a:tailEnd type="triangle"/>
          </a:ln>
        </p:spPr>
      </p:sp>
      <p:sp>
        <p:nvSpPr>
          <p:cNvPr id="25" name="arrow-568"/>
          <p:cNvSpPr/>
          <p:nvPr/>
        </p:nvSpPr>
        <p:spPr>
          <a:xfrm flipV="1">
            <a:off x="1874520" y="4233672"/>
            <a:ext cx="914" cy="1133856"/>
          </a:xfrm>
          <a:prstGeom prst="line">
            <a:avLst/>
          </a:prstGeom>
          <a:noFill/>
          <a:ln w="28575">
            <a:solidFill>
              <a:schemeClr val="bg2"/>
            </a:solidFill>
            <a:prstDash val="solid"/>
            <a:tailEnd type="triangle"/>
          </a:ln>
        </p:spPr>
      </p:sp>
      <p:sp>
        <p:nvSpPr>
          <p:cNvPr id="26" name="text-569"/>
          <p:cNvSpPr txBox="1"/>
          <p:nvPr/>
        </p:nvSpPr>
        <p:spPr>
          <a:xfrm>
            <a:off x="2011680" y="4389120"/>
            <a:ext cx="1280160" cy="822960"/>
          </a:xfrm>
          <a:prstGeom prst="rect">
            <a:avLst/>
          </a:prstGeom>
          <a:noFill/>
          <a:ln/>
        </p:spPr>
        <p:txBody>
          <a:bodyPr wrap="square" lIns="0" tIns="0" rIns="0" bIns="0" rtlCol="0" anchor="t"/>
          <a:lstStyle/>
          <a:p>
            <a:pPr indent="0" marL="0">
              <a:spcAft>
                <a:spcPts val="600"/>
              </a:spcAft>
              <a:buNone/>
            </a:pPr>
            <a:r>
              <a:rPr lang="en-US" sz="950" b="1" dirty="0">
                <a:solidFill>
                  <a:schemeClr val="accent2"/>
                </a:solidFill>
              </a:rPr>
              <a:t>↓ Heat and power</a:t>
            </a:r>
            <a:endParaRPr lang="en-US" sz="950" dirty="0"/>
          </a:p>
          <a:p>
            <a:pPr indent="0" marL="0">
              <a:buNone/>
            </a:pPr>
            <a:r>
              <a:rPr lang="en-US" sz="950" b="1" dirty="0">
                <a:solidFill>
                  <a:schemeClr val="bg2"/>
                </a:solidFill>
              </a:rPr>
              <a:t>↑ Rubbish for the converter</a:t>
            </a:r>
            <a:endParaRPr lang="en-US" sz="950" dirty="0"/>
          </a:p>
        </p:txBody>
      </p:sp>
      <p:sp>
        <p:nvSpPr>
          <p:cNvPr id="27" name="arrow-570"/>
          <p:cNvSpPr/>
          <p:nvPr/>
        </p:nvSpPr>
        <p:spPr>
          <a:xfrm flipH="1">
            <a:off x="2587752" y="3886200"/>
            <a:ext cx="2715768" cy="1783080"/>
          </a:xfrm>
          <a:prstGeom prst="line">
            <a:avLst/>
          </a:prstGeom>
          <a:noFill/>
          <a:ln w="28575">
            <a:solidFill>
              <a:schemeClr val="accent4"/>
            </a:solidFill>
            <a:prstDash val="solid"/>
            <a:tailEnd type="triangle"/>
          </a:ln>
        </p:spPr>
      </p:sp>
      <p:sp>
        <p:nvSpPr>
          <p:cNvPr id="28" name="text-571"/>
          <p:cNvSpPr txBox="1"/>
          <p:nvPr/>
        </p:nvSpPr>
        <p:spPr>
          <a:xfrm>
            <a:off x="4709160" y="4389120"/>
            <a:ext cx="1463040" cy="457200"/>
          </a:xfrm>
          <a:prstGeom prst="rect">
            <a:avLst/>
          </a:prstGeom>
          <a:noFill/>
          <a:ln/>
        </p:spPr>
        <p:txBody>
          <a:bodyPr wrap="square" lIns="0" tIns="0" rIns="0" bIns="0" rtlCol="0" anchor="t"/>
          <a:lstStyle/>
          <a:p>
            <a:pPr indent="0" marL="0">
              <a:buNone/>
            </a:pPr>
            <a:r>
              <a:rPr lang="en-US" sz="950" b="1" dirty="0">
                <a:solidFill>
                  <a:schemeClr val="bg2"/>
                </a:solidFill>
              </a:rPr>
              <a:t>Drinking water, food and medical oxygen</a:t>
            </a:r>
            <a:endParaRPr lang="en-US" sz="950" dirty="0"/>
          </a:p>
        </p:txBody>
      </p:sp>
      <p:sp>
        <p:nvSpPr>
          <p:cNvPr id="29" name="arrow-572"/>
          <p:cNvSpPr/>
          <p:nvPr/>
        </p:nvSpPr>
        <p:spPr>
          <a:xfrm flipH="1">
            <a:off x="2587752" y="6263640"/>
            <a:ext cx="2523744" cy="914"/>
          </a:xfrm>
          <a:prstGeom prst="line">
            <a:avLst/>
          </a:prstGeom>
          <a:noFill/>
          <a:ln w="31750">
            <a:solidFill>
              <a:schemeClr val="accent5"/>
            </a:solidFill>
            <a:prstDash val="solid"/>
            <a:tailEnd type="triangle"/>
          </a:ln>
        </p:spPr>
      </p:sp>
      <p:sp>
        <p:nvSpPr>
          <p:cNvPr id="30" name="text-573"/>
          <p:cNvSpPr txBox="1"/>
          <p:nvPr/>
        </p:nvSpPr>
        <p:spPr>
          <a:xfrm>
            <a:off x="2834640" y="6355080"/>
            <a:ext cx="2121408" cy="411480"/>
          </a:xfrm>
          <a:prstGeom prst="rect">
            <a:avLst/>
          </a:prstGeom>
          <a:noFill/>
          <a:ln/>
        </p:spPr>
        <p:txBody>
          <a:bodyPr wrap="square" lIns="0" tIns="0" rIns="0" bIns="0" rtlCol="0" anchor="t"/>
          <a:lstStyle/>
          <a:p>
            <a:pPr algn="ctr" indent="0" marL="0">
              <a:buNone/>
            </a:pPr>
            <a:r>
              <a:rPr lang="en-US" sz="950" b="1" dirty="0">
                <a:solidFill>
                  <a:srgbClr val="F08CAE"/>
                </a:solidFill>
              </a:rPr>
              <a:t>Warm spa water heats the greenhouses</a:t>
            </a:r>
            <a:endParaRPr lang="en-US" sz="950" dirty="0"/>
          </a:p>
        </p:txBody>
      </p:sp>
      <p:sp>
        <p:nvSpPr>
          <p:cNvPr id="31" name="arrow-574"/>
          <p:cNvSpPr/>
          <p:nvPr/>
        </p:nvSpPr>
        <p:spPr>
          <a:xfrm flipV="1">
            <a:off x="5961888" y="6867144"/>
            <a:ext cx="914" cy="448056"/>
          </a:xfrm>
          <a:prstGeom prst="line">
            <a:avLst/>
          </a:prstGeom>
          <a:noFill/>
          <a:ln w="28575">
            <a:solidFill>
              <a:schemeClr val="accent2"/>
            </a:solidFill>
            <a:prstDash val="solid"/>
            <a:tailEnd type="triangle"/>
          </a:ln>
        </p:spPr>
      </p:sp>
      <p:sp>
        <p:nvSpPr>
          <p:cNvPr id="32" name="text-575"/>
          <p:cNvSpPr txBox="1"/>
          <p:nvPr/>
        </p:nvSpPr>
        <p:spPr>
          <a:xfrm>
            <a:off x="4590288" y="7040880"/>
            <a:ext cx="1234440" cy="228600"/>
          </a:xfrm>
          <a:prstGeom prst="rect">
            <a:avLst/>
          </a:prstGeom>
          <a:noFill/>
          <a:ln/>
        </p:spPr>
        <p:txBody>
          <a:bodyPr wrap="square" lIns="0" tIns="0" rIns="0" bIns="0" rtlCol="0" anchor="t"/>
          <a:lstStyle/>
          <a:p>
            <a:pPr algn="r" indent="0" marL="0">
              <a:buNone/>
            </a:pPr>
            <a:r>
              <a:rPr lang="en-US" sz="950" b="1" dirty="0">
                <a:solidFill>
                  <a:schemeClr val="accent2"/>
                </a:solidFill>
              </a:rPr>
              <a:t>Hot spring</a:t>
            </a:r>
            <a:endParaRPr lang="en-US" sz="950" dirty="0"/>
          </a:p>
        </p:txBody>
      </p:sp>
      <p:sp>
        <p:nvSpPr>
          <p:cNvPr id="33" name="flow-dot-576"/>
          <p:cNvSpPr/>
          <p:nvPr/>
        </p:nvSpPr>
        <p:spPr>
          <a:xfrm>
            <a:off x="548640" y="7772400"/>
            <a:ext cx="128016" cy="128016"/>
          </a:xfrm>
          <a:prstGeom prst="ellipse">
            <a:avLst/>
          </a:prstGeom>
          <a:solidFill>
            <a:schemeClr val="accent2"/>
          </a:solidFill>
          <a:ln w="12700">
            <a:solidFill>
              <a:schemeClr val="accent2"/>
            </a:solidFill>
            <a:prstDash val="solid"/>
          </a:ln>
        </p:spPr>
      </p:sp>
      <p:sp>
        <p:nvSpPr>
          <p:cNvPr id="34" name="text-577"/>
          <p:cNvSpPr txBox="1"/>
          <p:nvPr/>
        </p:nvSpPr>
        <p:spPr>
          <a:xfrm>
            <a:off x="777240" y="7726680"/>
            <a:ext cx="2866644" cy="219456"/>
          </a:xfrm>
          <a:prstGeom prst="rect">
            <a:avLst/>
          </a:prstGeom>
          <a:noFill/>
          <a:ln/>
        </p:spPr>
        <p:txBody>
          <a:bodyPr wrap="square" lIns="0" tIns="0" rIns="0" bIns="0" rtlCol="0" anchor="t"/>
          <a:lstStyle/>
          <a:p>
            <a:pPr indent="0" marL="0">
              <a:buNone/>
            </a:pPr>
            <a:r>
              <a:rPr lang="en-US" sz="1100" b="1" dirty="0">
                <a:solidFill>
                  <a:schemeClr val="bg1"/>
                </a:solidFill>
              </a:rPr>
              <a:t>Heat</a:t>
            </a:r>
            <a:endParaRPr lang="en-US" sz="1100" dirty="0"/>
          </a:p>
        </p:txBody>
      </p:sp>
      <p:sp>
        <p:nvSpPr>
          <p:cNvPr id="35" name="text-578"/>
          <p:cNvSpPr txBox="1"/>
          <p:nvPr/>
        </p:nvSpPr>
        <p:spPr>
          <a:xfrm>
            <a:off x="777240" y="7973568"/>
            <a:ext cx="2866644" cy="68580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Spare fusion heat melts the snow: snow is the reactor’s cooling tower.</a:t>
            </a:r>
            <a:endParaRPr lang="en-US" sz="1000" dirty="0"/>
          </a:p>
        </p:txBody>
      </p:sp>
      <p:sp>
        <p:nvSpPr>
          <p:cNvPr id="36" name="flow-dot-579"/>
          <p:cNvSpPr/>
          <p:nvPr/>
        </p:nvSpPr>
        <p:spPr>
          <a:xfrm>
            <a:off x="3918204" y="7772400"/>
            <a:ext cx="128016" cy="128016"/>
          </a:xfrm>
          <a:prstGeom prst="ellipse">
            <a:avLst/>
          </a:prstGeom>
          <a:solidFill>
            <a:schemeClr val="accent6"/>
          </a:solidFill>
          <a:ln w="12700">
            <a:solidFill>
              <a:schemeClr val="accent6"/>
            </a:solidFill>
            <a:prstDash val="solid"/>
          </a:ln>
        </p:spPr>
      </p:sp>
      <p:sp>
        <p:nvSpPr>
          <p:cNvPr id="37" name="text-580"/>
          <p:cNvSpPr txBox="1"/>
          <p:nvPr/>
        </p:nvSpPr>
        <p:spPr>
          <a:xfrm>
            <a:off x="4146804" y="7726680"/>
            <a:ext cx="2866644" cy="219456"/>
          </a:xfrm>
          <a:prstGeom prst="rect">
            <a:avLst/>
          </a:prstGeom>
          <a:noFill/>
          <a:ln/>
        </p:spPr>
        <p:txBody>
          <a:bodyPr wrap="square" lIns="0" tIns="0" rIns="0" bIns="0" rtlCol="0" anchor="t"/>
          <a:lstStyle/>
          <a:p>
            <a:pPr indent="0" marL="0">
              <a:buNone/>
            </a:pPr>
            <a:r>
              <a:rPr lang="en-US" sz="1100" b="1" dirty="0">
                <a:solidFill>
                  <a:schemeClr val="bg1"/>
                </a:solidFill>
              </a:rPr>
              <a:t>Water</a:t>
            </a:r>
            <a:endParaRPr lang="en-US" sz="1100" dirty="0"/>
          </a:p>
        </p:txBody>
      </p:sp>
      <p:sp>
        <p:nvSpPr>
          <p:cNvPr id="38" name="text-581"/>
          <p:cNvSpPr txBox="1"/>
          <p:nvPr/>
        </p:nvSpPr>
        <p:spPr>
          <a:xfrm>
            <a:off x="4146804" y="7973568"/>
            <a:ext cx="2866644" cy="68580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Deuterium-rich water returns as fuel; oxygen goes to the hospital.</a:t>
            </a:r>
            <a:endParaRPr lang="en-US" sz="1000" dirty="0"/>
          </a:p>
        </p:txBody>
      </p:sp>
      <p:sp>
        <p:nvSpPr>
          <p:cNvPr id="39" name="flow-dot-582"/>
          <p:cNvSpPr/>
          <p:nvPr/>
        </p:nvSpPr>
        <p:spPr>
          <a:xfrm>
            <a:off x="548640" y="8796528"/>
            <a:ext cx="128016" cy="128016"/>
          </a:xfrm>
          <a:prstGeom prst="ellipse">
            <a:avLst/>
          </a:prstGeom>
          <a:solidFill>
            <a:schemeClr val="bg2"/>
          </a:solidFill>
          <a:ln w="12700">
            <a:solidFill>
              <a:schemeClr val="bg2"/>
            </a:solidFill>
            <a:prstDash val="solid"/>
          </a:ln>
        </p:spPr>
      </p:sp>
      <p:sp>
        <p:nvSpPr>
          <p:cNvPr id="40" name="text-583"/>
          <p:cNvSpPr txBox="1"/>
          <p:nvPr/>
        </p:nvSpPr>
        <p:spPr>
          <a:xfrm>
            <a:off x="777240" y="8750808"/>
            <a:ext cx="2866644" cy="219456"/>
          </a:xfrm>
          <a:prstGeom prst="rect">
            <a:avLst/>
          </a:prstGeom>
          <a:noFill/>
          <a:ln/>
        </p:spPr>
        <p:txBody>
          <a:bodyPr wrap="square" lIns="0" tIns="0" rIns="0" bIns="0" rtlCol="0" anchor="t"/>
          <a:lstStyle/>
          <a:p>
            <a:pPr indent="0" marL="0">
              <a:buNone/>
            </a:pPr>
            <a:r>
              <a:rPr lang="en-US" sz="1100" b="1" dirty="0">
                <a:solidFill>
                  <a:schemeClr val="bg1"/>
                </a:solidFill>
              </a:rPr>
              <a:t>Waste</a:t>
            </a:r>
            <a:endParaRPr lang="en-US" sz="1100" dirty="0"/>
          </a:p>
        </p:txBody>
      </p:sp>
      <p:sp>
        <p:nvSpPr>
          <p:cNvPr id="41" name="text-584"/>
          <p:cNvSpPr txBox="1"/>
          <p:nvPr/>
        </p:nvSpPr>
        <p:spPr>
          <a:xfrm>
            <a:off x="777240" y="8997696"/>
            <a:ext cx="2866644" cy="68580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Rubbish becomes hydrogen and CO₂ for food.</a:t>
            </a:r>
            <a:endParaRPr lang="en-US" sz="1000" dirty="0"/>
          </a:p>
        </p:txBody>
      </p:sp>
      <p:sp>
        <p:nvSpPr>
          <p:cNvPr id="42" name="flow-dot-585"/>
          <p:cNvSpPr/>
          <p:nvPr/>
        </p:nvSpPr>
        <p:spPr>
          <a:xfrm>
            <a:off x="3918204" y="8796528"/>
            <a:ext cx="128016" cy="128016"/>
          </a:xfrm>
          <a:prstGeom prst="ellipse">
            <a:avLst/>
          </a:prstGeom>
          <a:solidFill>
            <a:schemeClr val="accent5"/>
          </a:solidFill>
          <a:ln w="12700">
            <a:solidFill>
              <a:schemeClr val="accent5"/>
            </a:solidFill>
            <a:prstDash val="solid"/>
          </a:ln>
        </p:spPr>
      </p:sp>
      <p:sp>
        <p:nvSpPr>
          <p:cNvPr id="43" name="text-586"/>
          <p:cNvSpPr txBox="1"/>
          <p:nvPr/>
        </p:nvSpPr>
        <p:spPr>
          <a:xfrm>
            <a:off x="4146804" y="8750808"/>
            <a:ext cx="2866644" cy="219456"/>
          </a:xfrm>
          <a:prstGeom prst="rect">
            <a:avLst/>
          </a:prstGeom>
          <a:noFill/>
          <a:ln/>
        </p:spPr>
        <p:txBody>
          <a:bodyPr wrap="square" lIns="0" tIns="0" rIns="0" bIns="0" rtlCol="0" anchor="t"/>
          <a:lstStyle/>
          <a:p>
            <a:pPr indent="0" marL="0">
              <a:buNone/>
            </a:pPr>
            <a:r>
              <a:rPr lang="en-US" sz="1100" b="1" dirty="0">
                <a:solidFill>
                  <a:schemeClr val="bg1"/>
                </a:solidFill>
              </a:rPr>
              <a:t>Wellbeing</a:t>
            </a:r>
            <a:endParaRPr lang="en-US" sz="1100" dirty="0"/>
          </a:p>
        </p:txBody>
      </p:sp>
      <p:sp>
        <p:nvSpPr>
          <p:cNvPr id="44" name="text-587"/>
          <p:cNvSpPr txBox="1"/>
          <p:nvPr/>
        </p:nvSpPr>
        <p:spPr>
          <a:xfrm>
            <a:off x="4146804" y="8997696"/>
            <a:ext cx="2866644" cy="68580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Spa water heats the greenhouses; the mountain is a shelter.</a:t>
            </a:r>
            <a:endParaRPr lang="en-US" sz="1000" dirty="0"/>
          </a:p>
        </p:txBody>
      </p:sp>
      <p:sp>
        <p:nvSpPr>
          <p:cNvPr id="4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22</a:t>
            </a:r>
            <a:endParaRPr lang="en-US" sz="900" dirty="0"/>
          </a:p>
        </p:txBody>
      </p:sp>
      <p:sp>
        <p:nvSpPr>
          <p:cNvPr id="46"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SYSTEMS &amp; LIFE</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9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Liveable City Every Day</a:t>
            </a:r>
            <a:endParaRPr lang="en-US" sz="3400" dirty="0"/>
          </a:p>
        </p:txBody>
      </p:sp>
      <p:pic>
        <p:nvPicPr>
          <p:cNvPr id="5" name="picture-592" descr="houses dusk">    </p:cNvPr>
          <p:cNvPicPr>
            <a:picLocks noChangeAspect="1"/>
          </p:cNvPicPr>
          <p:nvPr/>
        </p:nvPicPr>
        <p:blipFill>
          <a:blip r:embed="rId1"/>
          <a:srcRect l="0" r="0" t="18985" b="15533"/>
          <a:stretch/>
        </p:blipFill>
        <p:spPr>
          <a:xfrm>
            <a:off x="0" y="1508760"/>
            <a:ext cx="7562088" cy="4023360"/>
          </a:xfrm>
          <a:prstGeom prst="rect">
            <a:avLst/>
          </a:prstGeom>
        </p:spPr>
      </p:pic>
      <p:sp>
        <p:nvSpPr>
          <p:cNvPr id="6" name="text-593"/>
          <p:cNvSpPr txBox="1"/>
          <p:nvPr/>
        </p:nvSpPr>
        <p:spPr>
          <a:xfrm>
            <a:off x="548640" y="5596128"/>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sheltered by planted spruces.</a:t>
            </a:r>
            <a:endParaRPr lang="en-US" sz="850" dirty="0"/>
          </a:p>
        </p:txBody>
      </p:sp>
      <p:sp>
        <p:nvSpPr>
          <p:cNvPr id="7" name="kicker-dot-594"/>
          <p:cNvSpPr/>
          <p:nvPr/>
        </p:nvSpPr>
        <p:spPr>
          <a:xfrm>
            <a:off x="548640" y="6076188"/>
            <a:ext cx="100584" cy="100584"/>
          </a:xfrm>
          <a:prstGeom prst="ellipse">
            <a:avLst/>
          </a:prstGeom>
          <a:solidFill>
            <a:schemeClr val="accent6"/>
          </a:solidFill>
          <a:ln w="12700">
            <a:solidFill>
              <a:schemeClr val="accent6"/>
            </a:solidFill>
            <a:prstDash val="solid"/>
          </a:ln>
        </p:spPr>
      </p:sp>
      <p:sp>
        <p:nvSpPr>
          <p:cNvPr id="8" name="text-595"/>
          <p:cNvSpPr txBox="1"/>
          <p:nvPr/>
        </p:nvSpPr>
        <p:spPr>
          <a:xfrm>
            <a:off x="731520" y="60350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96"/>
          <p:cNvSpPr txBox="1"/>
          <p:nvPr/>
        </p:nvSpPr>
        <p:spPr>
          <a:xfrm>
            <a:off x="548640" y="6281928"/>
            <a:ext cx="3232404" cy="50292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Family houses, eco-homes and high-rise apartments.</a:t>
            </a:r>
            <a:endParaRPr lang="en-US" sz="1050" dirty="0"/>
          </a:p>
        </p:txBody>
      </p:sp>
      <p:sp>
        <p:nvSpPr>
          <p:cNvPr id="10" name="kicker-dot-597"/>
          <p:cNvSpPr/>
          <p:nvPr/>
        </p:nvSpPr>
        <p:spPr>
          <a:xfrm>
            <a:off x="548640" y="6862572"/>
            <a:ext cx="100584" cy="100584"/>
          </a:xfrm>
          <a:prstGeom prst="ellipse">
            <a:avLst/>
          </a:prstGeom>
          <a:solidFill>
            <a:schemeClr val="accent6"/>
          </a:solidFill>
          <a:ln w="12700">
            <a:solidFill>
              <a:schemeClr val="accent6"/>
            </a:solidFill>
            <a:prstDash val="solid"/>
          </a:ln>
        </p:spPr>
      </p:sp>
      <p:sp>
        <p:nvSpPr>
          <p:cNvPr id="11" name="text-598"/>
          <p:cNvSpPr txBox="1"/>
          <p:nvPr/>
        </p:nvSpPr>
        <p:spPr>
          <a:xfrm>
            <a:off x="731520" y="682142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99"/>
          <p:cNvSpPr txBox="1"/>
          <p:nvPr/>
        </p:nvSpPr>
        <p:spPr>
          <a:xfrm>
            <a:off x="548640" y="7068312"/>
            <a:ext cx="3232404" cy="50292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Kindergartens, two schools and Arctic University.</a:t>
            </a:r>
            <a:endParaRPr lang="en-US" sz="1050" dirty="0"/>
          </a:p>
        </p:txBody>
      </p:sp>
      <p:sp>
        <p:nvSpPr>
          <p:cNvPr id="13" name="kicker-dot-600"/>
          <p:cNvSpPr/>
          <p:nvPr/>
        </p:nvSpPr>
        <p:spPr>
          <a:xfrm>
            <a:off x="548640" y="7648956"/>
            <a:ext cx="100584" cy="100584"/>
          </a:xfrm>
          <a:prstGeom prst="ellipse">
            <a:avLst/>
          </a:prstGeom>
          <a:solidFill>
            <a:schemeClr val="accent6"/>
          </a:solidFill>
          <a:ln w="12700">
            <a:solidFill>
              <a:schemeClr val="accent6"/>
            </a:solidFill>
            <a:prstDash val="solid"/>
          </a:ln>
        </p:spPr>
      </p:sp>
      <p:sp>
        <p:nvSpPr>
          <p:cNvPr id="14" name="text-601"/>
          <p:cNvSpPr txBox="1"/>
          <p:nvPr/>
        </p:nvSpPr>
        <p:spPr>
          <a:xfrm>
            <a:off x="731520" y="760780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602"/>
          <p:cNvSpPr txBox="1"/>
          <p:nvPr/>
        </p:nvSpPr>
        <p:spPr>
          <a:xfrm>
            <a:off x="548640" y="7854696"/>
            <a:ext cx="3232404" cy="50292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Snowflake General Hospital, open around the clock.</a:t>
            </a:r>
            <a:endParaRPr lang="en-US" sz="1050" dirty="0"/>
          </a:p>
        </p:txBody>
      </p:sp>
      <p:sp>
        <p:nvSpPr>
          <p:cNvPr id="16" name="kicker-dot-603"/>
          <p:cNvSpPr/>
          <p:nvPr/>
        </p:nvSpPr>
        <p:spPr>
          <a:xfrm>
            <a:off x="548640" y="8435340"/>
            <a:ext cx="100584" cy="100584"/>
          </a:xfrm>
          <a:prstGeom prst="ellipse">
            <a:avLst/>
          </a:prstGeom>
          <a:solidFill>
            <a:schemeClr val="accent6"/>
          </a:solidFill>
          <a:ln w="12700">
            <a:solidFill>
              <a:schemeClr val="accent6"/>
            </a:solidFill>
            <a:prstDash val="solid"/>
          </a:ln>
        </p:spPr>
      </p:sp>
      <p:sp>
        <p:nvSpPr>
          <p:cNvPr id="17" name="text-604"/>
          <p:cNvSpPr txBox="1"/>
          <p:nvPr/>
        </p:nvSpPr>
        <p:spPr>
          <a:xfrm>
            <a:off x="731520" y="839419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605"/>
          <p:cNvSpPr txBox="1"/>
          <p:nvPr/>
        </p:nvSpPr>
        <p:spPr>
          <a:xfrm>
            <a:off x="548640" y="8641080"/>
            <a:ext cx="3232404" cy="50292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A supermarket, a night market and a mall with an indoor park.</a:t>
            </a:r>
            <a:endParaRPr lang="en-US" sz="1050" dirty="0"/>
          </a:p>
        </p:txBody>
      </p:sp>
      <p:sp>
        <p:nvSpPr>
          <p:cNvPr id="19" name="kicker-dot-606"/>
          <p:cNvSpPr/>
          <p:nvPr/>
        </p:nvSpPr>
        <p:spPr>
          <a:xfrm>
            <a:off x="548640" y="9221724"/>
            <a:ext cx="100584" cy="100584"/>
          </a:xfrm>
          <a:prstGeom prst="ellipse">
            <a:avLst/>
          </a:prstGeom>
          <a:solidFill>
            <a:schemeClr val="accent6"/>
          </a:solidFill>
          <a:ln w="12700">
            <a:solidFill>
              <a:schemeClr val="accent6"/>
            </a:solidFill>
            <a:prstDash val="solid"/>
          </a:ln>
        </p:spPr>
      </p:sp>
      <p:sp>
        <p:nvSpPr>
          <p:cNvPr id="20" name="text-607"/>
          <p:cNvSpPr txBox="1"/>
          <p:nvPr/>
        </p:nvSpPr>
        <p:spPr>
          <a:xfrm>
            <a:off x="731520" y="918057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GREEN SPACE</a:t>
            </a:r>
            <a:endParaRPr lang="en-US" sz="900" dirty="0"/>
          </a:p>
        </p:txBody>
      </p:sp>
      <p:sp>
        <p:nvSpPr>
          <p:cNvPr id="21" name="text-608"/>
          <p:cNvSpPr txBox="1"/>
          <p:nvPr/>
        </p:nvSpPr>
        <p:spPr>
          <a:xfrm>
            <a:off x="548640" y="9427464"/>
            <a:ext cx="3232404" cy="502920"/>
          </a:xfrm>
          <a:prstGeom prst="rect">
            <a:avLst/>
          </a:prstGeom>
          <a:noFill/>
          <a:ln/>
        </p:spPr>
        <p:txBody>
          <a:bodyPr wrap="square" lIns="0" tIns="0" rIns="0" bIns="0" rtlCol="0" anchor="t"/>
          <a:lstStyle/>
          <a:p>
            <a:pPr indent="0" marL="0">
              <a:lnSpc>
                <a:spcPct val="105000"/>
              </a:lnSpc>
              <a:buNone/>
            </a:pPr>
            <a:r>
              <a:rPr lang="en-US" sz="1050" dirty="0">
                <a:solidFill>
                  <a:schemeClr val="tx1"/>
                </a:solidFill>
              </a:rPr>
              <a:t>A cinema, an all-night library, the Snow Stadium and parks.</a:t>
            </a:r>
            <a:endParaRPr lang="en-US" sz="1050" dirty="0"/>
          </a:p>
        </p:txBody>
      </p:sp>
      <p:pic>
        <p:nvPicPr>
          <p:cNvPr id="22" name="picture-609" descr="approach dusk">    </p:cNvPr>
          <p:cNvPicPr>
            <a:picLocks noChangeAspect="1"/>
          </p:cNvPicPr>
          <p:nvPr/>
        </p:nvPicPr>
        <p:blipFill>
          <a:blip r:embed="rId2"/>
          <a:srcRect l="13494" r="13494" t="0" b="0"/>
          <a:stretch/>
        </p:blipFill>
        <p:spPr>
          <a:xfrm>
            <a:off x="4055364" y="6035040"/>
            <a:ext cx="2958084" cy="3291840"/>
          </a:xfrm>
          <a:prstGeom prst="rect">
            <a:avLst/>
          </a:prstGeom>
        </p:spPr>
      </p:pic>
      <p:sp>
        <p:nvSpPr>
          <p:cNvPr id="23" name="text-610"/>
          <p:cNvSpPr txBox="1"/>
          <p:nvPr/>
        </p:nvSpPr>
        <p:spPr>
          <a:xfrm>
            <a:off x="4055364" y="9390888"/>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and soft lamps keep the aurora in view.</a:t>
            </a:r>
            <a:endParaRPr lang="en-US" sz="850" dirty="0"/>
          </a:p>
        </p:txBody>
      </p:sp>
      <p:sp>
        <p:nvSpPr>
          <p:cNvPr id="2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23</a:t>
            </a:r>
            <a:endParaRPr lang="en-US" sz="900" dirty="0"/>
          </a:p>
        </p:txBody>
      </p:sp>
      <p:sp>
        <p:nvSpPr>
          <p:cNvPr id="2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611" descr="homes">    </p:cNvPr>
          <p:cNvPicPr>
            <a:picLocks noChangeAspect="1"/>
          </p:cNvPicPr>
          <p:nvPr/>
        </p:nvPicPr>
        <p:blipFill>
          <a:blip r:embed="rId1"/>
          <a:srcRect l="0" r="0" t="7506" b="7506"/>
          <a:stretch/>
        </p:blipFill>
        <p:spPr>
          <a:xfrm>
            <a:off x="0" y="0"/>
            <a:ext cx="7562088" cy="3749040"/>
          </a:xfrm>
          <a:prstGeom prst="rect">
            <a:avLst/>
          </a:prstGeom>
        </p:spPr>
      </p:pic>
      <p:sp>
        <p:nvSpPr>
          <p:cNvPr id="3" name="text-612"/>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wind farm behind.</a:t>
            </a:r>
            <a:endParaRPr lang="en-US" sz="850" dirty="0"/>
          </a:p>
        </p:txBody>
      </p:sp>
      <p:sp>
        <p:nvSpPr>
          <p:cNvPr id="4" name="kicker-dot-613"/>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614"/>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615"/>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617"/>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Every home stays warm and bright at −45 °C without thawing the ground beneath it.</a:t>
            </a:r>
            <a:endParaRPr lang="en-US" sz="1300" dirty="0"/>
          </a:p>
        </p:txBody>
      </p:sp>
      <p:sp>
        <p:nvSpPr>
          <p:cNvPr id="8" name="text-618"/>
          <p:cNvSpPr txBox="1"/>
          <p:nvPr/>
        </p:nvSpPr>
        <p:spPr>
          <a:xfrm>
            <a:off x="548640" y="577900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619"/>
          <p:cNvSpPr/>
          <p:nvPr/>
        </p:nvSpPr>
        <p:spPr>
          <a:xfrm>
            <a:off x="548640" y="6053328"/>
            <a:ext cx="2063496" cy="1170432"/>
          </a:xfrm>
          <a:prstGeom prst="roundRect">
            <a:avLst>
              <a:gd name="adj" fmla="val 6250"/>
            </a:avLst>
          </a:prstGeom>
          <a:solidFill>
            <a:schemeClr val="bg2"/>
          </a:solidFill>
          <a:ln w="12700">
            <a:solidFill>
              <a:schemeClr val="bg2"/>
            </a:solidFill>
            <a:prstDash val="solid"/>
          </a:ln>
        </p:spPr>
      </p:sp>
      <p:sp>
        <p:nvSpPr>
          <p:cNvPr id="10" name="text-620"/>
          <p:cNvSpPr txBox="1"/>
          <p:nvPr/>
        </p:nvSpPr>
        <p:spPr>
          <a:xfrm>
            <a:off x="658368" y="6153912"/>
            <a:ext cx="1844040" cy="219456"/>
          </a:xfrm>
          <a:prstGeom prst="rect">
            <a:avLst/>
          </a:prstGeom>
          <a:noFill/>
          <a:ln/>
        </p:spPr>
        <p:txBody>
          <a:bodyPr wrap="square" lIns="0" tIns="0" rIns="0" bIns="0" rtlCol="0" anchor="t"/>
          <a:lstStyle/>
          <a:p>
            <a:pPr indent="0" marL="0">
              <a:buNone/>
            </a:pPr>
            <a:r>
              <a:rPr lang="en-US" sz="1100" b="1" dirty="0">
                <a:solidFill>
                  <a:schemeClr val="accent6"/>
                </a:solidFill>
              </a:rPr>
              <a:t>Insulated piles</a:t>
            </a:r>
            <a:endParaRPr lang="en-US" sz="1100" dirty="0"/>
          </a:p>
        </p:txBody>
      </p:sp>
      <p:sp>
        <p:nvSpPr>
          <p:cNvPr id="11" name="text-621"/>
          <p:cNvSpPr txBox="1"/>
          <p:nvPr/>
        </p:nvSpPr>
        <p:spPr>
          <a:xfrm>
            <a:off x="658368" y="6419088"/>
            <a:ext cx="1844040" cy="768096"/>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Homes stand on piles above an air gap, so their warmth does not reach the permafrost.</a:t>
            </a:r>
            <a:endParaRPr lang="en-US" sz="1050" dirty="0"/>
          </a:p>
        </p:txBody>
      </p:sp>
      <p:sp>
        <p:nvSpPr>
          <p:cNvPr id="12" name="card-622"/>
          <p:cNvSpPr/>
          <p:nvPr/>
        </p:nvSpPr>
        <p:spPr>
          <a:xfrm>
            <a:off x="2749296" y="6053328"/>
            <a:ext cx="2063496" cy="1170432"/>
          </a:xfrm>
          <a:prstGeom prst="roundRect">
            <a:avLst>
              <a:gd name="adj" fmla="val 6250"/>
            </a:avLst>
          </a:prstGeom>
          <a:solidFill>
            <a:schemeClr val="bg2"/>
          </a:solidFill>
          <a:ln w="12700">
            <a:solidFill>
              <a:schemeClr val="bg2"/>
            </a:solidFill>
            <a:prstDash val="solid"/>
          </a:ln>
        </p:spPr>
      </p:sp>
      <p:sp>
        <p:nvSpPr>
          <p:cNvPr id="13" name="text-623"/>
          <p:cNvSpPr txBox="1"/>
          <p:nvPr/>
        </p:nvSpPr>
        <p:spPr>
          <a:xfrm>
            <a:off x="2859024" y="6153912"/>
            <a:ext cx="1844040" cy="219456"/>
          </a:xfrm>
          <a:prstGeom prst="rect">
            <a:avLst/>
          </a:prstGeom>
          <a:noFill/>
          <a:ln/>
        </p:spPr>
        <p:txBody>
          <a:bodyPr wrap="square" lIns="0" tIns="0" rIns="0" bIns="0" rtlCol="0" anchor="t"/>
          <a:lstStyle/>
          <a:p>
            <a:pPr indent="0" marL="0">
              <a:buNone/>
            </a:pPr>
            <a:r>
              <a:rPr lang="en-US" sz="1100" b="1" dirty="0">
                <a:solidFill>
                  <a:schemeClr val="accent6"/>
                </a:solidFill>
              </a:rPr>
              <a:t>Super-insulated shell</a:t>
            </a:r>
            <a:endParaRPr lang="en-US" sz="1100" dirty="0"/>
          </a:p>
        </p:txBody>
      </p:sp>
      <p:sp>
        <p:nvSpPr>
          <p:cNvPr id="14" name="text-624"/>
          <p:cNvSpPr txBox="1"/>
          <p:nvPr/>
        </p:nvSpPr>
        <p:spPr>
          <a:xfrm>
            <a:off x="2859024" y="6419088"/>
            <a:ext cx="1844040" cy="768096"/>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Thick walls and triple glazing keep the heat in.</a:t>
            </a:r>
            <a:endParaRPr lang="en-US" sz="1050" dirty="0"/>
          </a:p>
        </p:txBody>
      </p:sp>
      <p:sp>
        <p:nvSpPr>
          <p:cNvPr id="15" name="card-625"/>
          <p:cNvSpPr/>
          <p:nvPr/>
        </p:nvSpPr>
        <p:spPr>
          <a:xfrm>
            <a:off x="4949952" y="6053328"/>
            <a:ext cx="2063496" cy="1170432"/>
          </a:xfrm>
          <a:prstGeom prst="roundRect">
            <a:avLst>
              <a:gd name="adj" fmla="val 6250"/>
            </a:avLst>
          </a:prstGeom>
          <a:solidFill>
            <a:schemeClr val="bg2"/>
          </a:solidFill>
          <a:ln w="12700">
            <a:solidFill>
              <a:schemeClr val="bg2"/>
            </a:solidFill>
            <a:prstDash val="solid"/>
          </a:ln>
        </p:spPr>
      </p:sp>
      <p:sp>
        <p:nvSpPr>
          <p:cNvPr id="16" name="text-626"/>
          <p:cNvSpPr txBox="1"/>
          <p:nvPr/>
        </p:nvSpPr>
        <p:spPr>
          <a:xfrm>
            <a:off x="5059680" y="6153912"/>
            <a:ext cx="1844040" cy="219456"/>
          </a:xfrm>
          <a:prstGeom prst="rect">
            <a:avLst/>
          </a:prstGeom>
          <a:noFill/>
          <a:ln/>
        </p:spPr>
        <p:txBody>
          <a:bodyPr wrap="square" lIns="0" tIns="0" rIns="0" bIns="0" rtlCol="0" anchor="t"/>
          <a:lstStyle/>
          <a:p>
            <a:pPr indent="0" marL="0">
              <a:buNone/>
            </a:pPr>
            <a:r>
              <a:rPr lang="en-US" sz="1100" b="1" dirty="0">
                <a:solidFill>
                  <a:schemeClr val="accent6"/>
                </a:solidFill>
              </a:rPr>
              <a:t>Heat-recovery air</a:t>
            </a:r>
            <a:endParaRPr lang="en-US" sz="1100" dirty="0"/>
          </a:p>
        </p:txBody>
      </p:sp>
      <p:sp>
        <p:nvSpPr>
          <p:cNvPr id="17" name="text-627"/>
          <p:cNvSpPr txBox="1"/>
          <p:nvPr/>
        </p:nvSpPr>
        <p:spPr>
          <a:xfrm>
            <a:off x="5059680" y="6419088"/>
            <a:ext cx="1844040" cy="768096"/>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Outgoing air warms the fresh air coming in.</a:t>
            </a:r>
            <a:endParaRPr lang="en-US" sz="1050" dirty="0"/>
          </a:p>
        </p:txBody>
      </p:sp>
      <p:sp>
        <p:nvSpPr>
          <p:cNvPr id="18" name="card-628"/>
          <p:cNvSpPr/>
          <p:nvPr/>
        </p:nvSpPr>
        <p:spPr>
          <a:xfrm>
            <a:off x="548640" y="7315200"/>
            <a:ext cx="2063496" cy="1170432"/>
          </a:xfrm>
          <a:prstGeom prst="roundRect">
            <a:avLst>
              <a:gd name="adj" fmla="val 6250"/>
            </a:avLst>
          </a:prstGeom>
          <a:solidFill>
            <a:schemeClr val="bg2"/>
          </a:solidFill>
          <a:ln w="12700">
            <a:solidFill>
              <a:schemeClr val="bg2"/>
            </a:solidFill>
            <a:prstDash val="solid"/>
          </a:ln>
        </p:spPr>
      </p:sp>
      <p:sp>
        <p:nvSpPr>
          <p:cNvPr id="19" name="text-629"/>
          <p:cNvSpPr txBox="1"/>
          <p:nvPr/>
        </p:nvSpPr>
        <p:spPr>
          <a:xfrm>
            <a:off x="658368" y="7415784"/>
            <a:ext cx="1844040" cy="219456"/>
          </a:xfrm>
          <a:prstGeom prst="rect">
            <a:avLst/>
          </a:prstGeom>
          <a:noFill/>
          <a:ln/>
        </p:spPr>
        <p:txBody>
          <a:bodyPr wrap="square" lIns="0" tIns="0" rIns="0" bIns="0" rtlCol="0" anchor="t"/>
          <a:lstStyle/>
          <a:p>
            <a:pPr indent="0" marL="0">
              <a:buNone/>
            </a:pPr>
            <a:r>
              <a:rPr lang="en-US" sz="1100" b="1" dirty="0">
                <a:solidFill>
                  <a:schemeClr val="accent6"/>
                </a:solidFill>
              </a:rPr>
              <a:t>Winter gardens</a:t>
            </a:r>
            <a:endParaRPr lang="en-US" sz="1100" dirty="0"/>
          </a:p>
        </p:txBody>
      </p:sp>
      <p:sp>
        <p:nvSpPr>
          <p:cNvPr id="20" name="text-630"/>
          <p:cNvSpPr txBox="1"/>
          <p:nvPr/>
        </p:nvSpPr>
        <p:spPr>
          <a:xfrm>
            <a:off x="658368" y="7680960"/>
            <a:ext cx="1844040" cy="768096"/>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Glazed balconies add a warm buffer.</a:t>
            </a:r>
            <a:endParaRPr lang="en-US" sz="1050" dirty="0"/>
          </a:p>
        </p:txBody>
      </p:sp>
      <p:sp>
        <p:nvSpPr>
          <p:cNvPr id="21" name="card-631"/>
          <p:cNvSpPr/>
          <p:nvPr/>
        </p:nvSpPr>
        <p:spPr>
          <a:xfrm>
            <a:off x="2749296" y="7315200"/>
            <a:ext cx="2063496" cy="1170432"/>
          </a:xfrm>
          <a:prstGeom prst="roundRect">
            <a:avLst>
              <a:gd name="adj" fmla="val 6250"/>
            </a:avLst>
          </a:prstGeom>
          <a:solidFill>
            <a:schemeClr val="bg2"/>
          </a:solidFill>
          <a:ln w="12700">
            <a:solidFill>
              <a:schemeClr val="bg2"/>
            </a:solidFill>
            <a:prstDash val="solid"/>
          </a:ln>
        </p:spPr>
      </p:sp>
      <p:sp>
        <p:nvSpPr>
          <p:cNvPr id="22" name="text-632"/>
          <p:cNvSpPr txBox="1"/>
          <p:nvPr/>
        </p:nvSpPr>
        <p:spPr>
          <a:xfrm>
            <a:off x="2859024" y="7415784"/>
            <a:ext cx="1844040" cy="219456"/>
          </a:xfrm>
          <a:prstGeom prst="rect">
            <a:avLst/>
          </a:prstGeom>
          <a:noFill/>
          <a:ln/>
        </p:spPr>
        <p:txBody>
          <a:bodyPr wrap="square" lIns="0" tIns="0" rIns="0" bIns="0" rtlCol="0" anchor="t"/>
          <a:lstStyle/>
          <a:p>
            <a:pPr indent="0" marL="0">
              <a:buNone/>
            </a:pPr>
            <a:r>
              <a:rPr lang="en-US" sz="1100" b="1" dirty="0">
                <a:solidFill>
                  <a:schemeClr val="accent6"/>
                </a:solidFill>
              </a:rPr>
              <a:t>Snow-shedding roofs</a:t>
            </a:r>
            <a:endParaRPr lang="en-US" sz="1100" dirty="0"/>
          </a:p>
        </p:txBody>
      </p:sp>
      <p:sp>
        <p:nvSpPr>
          <p:cNvPr id="23" name="text-633"/>
          <p:cNvSpPr txBox="1"/>
          <p:nvPr/>
        </p:nvSpPr>
        <p:spPr>
          <a:xfrm>
            <a:off x="2859024" y="7680960"/>
            <a:ext cx="1844040" cy="768096"/>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Steep roofs let heavy snow slide off.</a:t>
            </a:r>
            <a:endParaRPr lang="en-US" sz="1050" dirty="0"/>
          </a:p>
        </p:txBody>
      </p:sp>
      <p:sp>
        <p:nvSpPr>
          <p:cNvPr id="24" name="card-634"/>
          <p:cNvSpPr/>
          <p:nvPr/>
        </p:nvSpPr>
        <p:spPr>
          <a:xfrm>
            <a:off x="4949952" y="7315200"/>
            <a:ext cx="2063496" cy="1170432"/>
          </a:xfrm>
          <a:prstGeom prst="roundRect">
            <a:avLst>
              <a:gd name="adj" fmla="val 6250"/>
            </a:avLst>
          </a:prstGeom>
          <a:solidFill>
            <a:schemeClr val="bg2"/>
          </a:solidFill>
          <a:ln w="12700">
            <a:solidFill>
              <a:schemeClr val="bg2"/>
            </a:solidFill>
            <a:prstDash val="solid"/>
          </a:ln>
        </p:spPr>
      </p:sp>
      <p:sp>
        <p:nvSpPr>
          <p:cNvPr id="25" name="text-635"/>
          <p:cNvSpPr txBox="1"/>
          <p:nvPr/>
        </p:nvSpPr>
        <p:spPr>
          <a:xfrm>
            <a:off x="5059680" y="7415784"/>
            <a:ext cx="1844040" cy="219456"/>
          </a:xfrm>
          <a:prstGeom prst="rect">
            <a:avLst/>
          </a:prstGeom>
          <a:noFill/>
          <a:ln/>
        </p:spPr>
        <p:txBody>
          <a:bodyPr wrap="square" lIns="0" tIns="0" rIns="0" bIns="0" rtlCol="0" anchor="t"/>
          <a:lstStyle/>
          <a:p>
            <a:pPr indent="0" marL="0">
              <a:buNone/>
            </a:pPr>
            <a:r>
              <a:rPr lang="en-US" sz="1100" b="1" dirty="0">
                <a:solidFill>
                  <a:schemeClr val="accent6"/>
                </a:solidFill>
              </a:rPr>
              <a:t>Light in the dark</a:t>
            </a:r>
            <a:endParaRPr lang="en-US" sz="1100" dirty="0"/>
          </a:p>
        </p:txBody>
      </p:sp>
      <p:sp>
        <p:nvSpPr>
          <p:cNvPr id="26" name="text-636"/>
          <p:cNvSpPr txBox="1"/>
          <p:nvPr/>
        </p:nvSpPr>
        <p:spPr>
          <a:xfrm>
            <a:off x="5059680" y="7680960"/>
            <a:ext cx="1844040" cy="768096"/>
          </a:xfrm>
          <a:prstGeom prst="rect">
            <a:avLst/>
          </a:prstGeom>
          <a:noFill/>
          <a:ln/>
        </p:spPr>
        <p:txBody>
          <a:bodyPr wrap="square" lIns="0" tIns="0" rIns="0" bIns="0" rtlCol="0" anchor="t"/>
          <a:lstStyle/>
          <a:p>
            <a:pPr indent="0" marL="0">
              <a:lnSpc>
                <a:spcPct val="104000"/>
              </a:lnSpc>
              <a:buNone/>
            </a:pPr>
            <a:r>
              <a:rPr lang="en-US" sz="1050" dirty="0">
                <a:solidFill>
                  <a:schemeClr val="tx1"/>
                </a:solidFill>
              </a:rPr>
              <a:t>Light tubes and dawn lamps for the polar night.</a:t>
            </a:r>
            <a:endParaRPr lang="en-US" sz="1050" dirty="0"/>
          </a:p>
        </p:txBody>
      </p:sp>
      <p:sp>
        <p:nvSpPr>
          <p:cNvPr id="27" name="card-637"/>
          <p:cNvSpPr/>
          <p:nvPr/>
        </p:nvSpPr>
        <p:spPr>
          <a:xfrm>
            <a:off x="548640" y="8686800"/>
            <a:ext cx="6464808" cy="1234440"/>
          </a:xfrm>
          <a:prstGeom prst="roundRect">
            <a:avLst>
              <a:gd name="adj" fmla="val 5926"/>
            </a:avLst>
          </a:prstGeom>
          <a:solidFill>
            <a:schemeClr val="tx1"/>
          </a:solidFill>
          <a:ln w="12700">
            <a:solidFill>
              <a:schemeClr val="tx1"/>
            </a:solidFill>
            <a:prstDash val="solid"/>
          </a:ln>
        </p:spPr>
      </p:sp>
      <p:sp>
        <p:nvSpPr>
          <p:cNvPr id="28" name="text-638"/>
          <p:cNvSpPr txBox="1"/>
          <p:nvPr/>
        </p:nvSpPr>
        <p:spPr>
          <a:xfrm>
            <a:off x="731520" y="8759952"/>
            <a:ext cx="6099048" cy="1097280"/>
          </a:xfrm>
          <a:prstGeom prst="rect">
            <a:avLst/>
          </a:prstGeom>
          <a:noFill/>
          <a:ln/>
        </p:spPr>
        <p:txBody>
          <a:bodyPr wrap="square" lIns="0" tIns="0" rIns="0" bIns="0" rtlCol="0" anchor="ctr"/>
          <a:lstStyle/>
          <a:p>
            <a:pPr indent="0" marL="0">
              <a:lnSpc>
                <a:spcPct val="110000"/>
              </a:lnSpc>
              <a:buNone/>
            </a:pPr>
            <a:r>
              <a:rPr lang="en-US" sz="1100" b="1" spc="200" kern="0" dirty="0">
                <a:solidFill>
                  <a:schemeClr val="accent1"/>
                </a:solidFill>
              </a:rPr>
              <a:t>A HOME FOR EVERYONE  </a:t>
            </a:r>
            <a:pPr indent="0" marL="0">
              <a:lnSpc>
                <a:spcPct val="110000"/>
              </a:lnSpc>
              <a:buNone/>
            </a:pPr>
            <a:r>
              <a:rPr lang="en-US" sz="1100" dirty="0">
                <a:solidFill>
                  <a:schemeClr val="bg1"/>
                </a:solidFill>
              </a:rPr>
              <a:t>Family houses, apartment towers, co-living, and homes for students and older people, all close to the heating loop and the metro.</a:t>
            </a:r>
            <a:endParaRPr lang="en-US" sz="1100" dirty="0"/>
          </a:p>
        </p:txBody>
      </p:sp>
      <p:sp>
        <p:nvSpPr>
          <p:cNvPr id="2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24</a:t>
            </a:r>
            <a:endParaRPr lang="en-US" sz="900" dirty="0"/>
          </a:p>
        </p:txBody>
      </p:sp>
      <p:sp>
        <p:nvSpPr>
          <p:cNvPr id="3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63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4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64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643" descr="renewable">    </p:cNvPr>
          <p:cNvPicPr>
            <a:picLocks noChangeAspect="1"/>
          </p:cNvPicPr>
          <p:nvPr/>
        </p:nvPicPr>
        <p:blipFill>
          <a:blip r:embed="rId1"/>
          <a:srcRect l="14728" r="14728" t="0" b="0"/>
          <a:stretch/>
        </p:blipFill>
        <p:spPr>
          <a:xfrm>
            <a:off x="0" y="1508760"/>
            <a:ext cx="7562088" cy="5806440"/>
          </a:xfrm>
          <a:prstGeom prst="rect">
            <a:avLst/>
          </a:prstGeom>
        </p:spPr>
      </p:pic>
      <p:sp>
        <p:nvSpPr>
          <p:cNvPr id="6" name="text-644"/>
          <p:cNvSpPr txBox="1"/>
          <p:nvPr/>
        </p:nvSpPr>
        <p:spPr>
          <a:xfrm>
            <a:off x="548640" y="737920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wind and solar farms of the Northern Renewable Park.</a:t>
            </a:r>
            <a:endParaRPr lang="en-US" sz="850" dirty="0"/>
          </a:p>
        </p:txBody>
      </p:sp>
      <p:sp>
        <p:nvSpPr>
          <p:cNvPr id="7" name="text-645"/>
          <p:cNvSpPr txBox="1"/>
          <p:nvPr/>
        </p:nvSpPr>
        <p:spPr>
          <a:xfrm>
            <a:off x="548640" y="7699248"/>
            <a:ext cx="6464808" cy="4114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Wind and sun start the city’s own sun. Once fusion runs, they stand guard.</a:t>
            </a:r>
            <a:endParaRPr lang="en-US" sz="1400" dirty="0"/>
          </a:p>
        </p:txBody>
      </p:sp>
      <p:sp>
        <p:nvSpPr>
          <p:cNvPr id="8" name="card-646"/>
          <p:cNvSpPr/>
          <p:nvPr/>
        </p:nvSpPr>
        <p:spPr>
          <a:xfrm>
            <a:off x="548640" y="8229600"/>
            <a:ext cx="1972056" cy="1691640"/>
          </a:xfrm>
          <a:prstGeom prst="roundRect">
            <a:avLst>
              <a:gd name="adj" fmla="val 4324"/>
            </a:avLst>
          </a:prstGeom>
          <a:solidFill>
            <a:schemeClr val="bg2"/>
          </a:solidFill>
          <a:ln w="12700">
            <a:solidFill>
              <a:schemeClr val="bg2"/>
            </a:solidFill>
            <a:prstDash val="solid"/>
          </a:ln>
        </p:spPr>
      </p:sp>
      <p:sp>
        <p:nvSpPr>
          <p:cNvPr id="9" name="step-head-647"/>
          <p:cNvSpPr/>
          <p:nvPr/>
        </p:nvSpPr>
        <p:spPr>
          <a:xfrm>
            <a:off x="548640" y="8229600"/>
            <a:ext cx="1972056" cy="365760"/>
          </a:xfrm>
          <a:prstGeom prst="rect">
            <a:avLst/>
          </a:prstGeom>
          <a:solidFill>
            <a:schemeClr val="accent1"/>
          </a:solidFill>
          <a:ln w="12700">
            <a:solidFill>
              <a:schemeClr val="accent1"/>
            </a:solidFill>
            <a:prstDash val="solid"/>
          </a:ln>
        </p:spPr>
      </p:sp>
      <p:sp>
        <p:nvSpPr>
          <p:cNvPr id="10" name="text-648"/>
          <p:cNvSpPr txBox="1"/>
          <p:nvPr/>
        </p:nvSpPr>
        <p:spPr>
          <a:xfrm>
            <a:off x="676656" y="8229600"/>
            <a:ext cx="1716024" cy="365760"/>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649"/>
          <p:cNvSpPr txBox="1"/>
          <p:nvPr/>
        </p:nvSpPr>
        <p:spPr>
          <a:xfrm>
            <a:off x="676656" y="8705088"/>
            <a:ext cx="1716024" cy="1188720"/>
          </a:xfrm>
          <a:prstGeom prst="rect">
            <a:avLst/>
          </a:prstGeom>
          <a:noFill/>
          <a:ln/>
        </p:spPr>
        <p:txBody>
          <a:bodyPr wrap="square" lIns="0" tIns="0" rIns="0" bIns="0" rtlCol="0" anchor="t"/>
          <a:lstStyle/>
          <a:p>
            <a:pPr indent="0" marL="0">
              <a:lnSpc>
                <a:spcPct val="108000"/>
              </a:lnSpc>
              <a:buNone/>
            </a:pPr>
            <a:r>
              <a:rPr lang="en-US" sz="1100" dirty="0">
                <a:solidFill>
                  <a:schemeClr val="tx1"/>
                </a:solidFill>
              </a:rPr>
              <a:t>Wind and solar farms charge a battery bank that starts the reactor.</a:t>
            </a:r>
            <a:endParaRPr lang="en-US" sz="1100" dirty="0"/>
          </a:p>
        </p:txBody>
      </p:sp>
      <p:sp>
        <p:nvSpPr>
          <p:cNvPr id="12" name="arrow-650"/>
          <p:cNvSpPr/>
          <p:nvPr/>
        </p:nvSpPr>
        <p:spPr>
          <a:xfrm>
            <a:off x="2548128" y="9144000"/>
            <a:ext cx="219456" cy="914"/>
          </a:xfrm>
          <a:prstGeom prst="line">
            <a:avLst/>
          </a:prstGeom>
          <a:noFill/>
          <a:ln w="31750">
            <a:solidFill>
              <a:schemeClr val="tx2"/>
            </a:solidFill>
            <a:prstDash val="solid"/>
            <a:tailEnd type="triangle"/>
          </a:ln>
        </p:spPr>
      </p:sp>
      <p:sp>
        <p:nvSpPr>
          <p:cNvPr id="13" name="card-651"/>
          <p:cNvSpPr/>
          <p:nvPr/>
        </p:nvSpPr>
        <p:spPr>
          <a:xfrm>
            <a:off x="2795016" y="8229600"/>
            <a:ext cx="1972056" cy="1691640"/>
          </a:xfrm>
          <a:prstGeom prst="roundRect">
            <a:avLst>
              <a:gd name="adj" fmla="val 4324"/>
            </a:avLst>
          </a:prstGeom>
          <a:solidFill>
            <a:schemeClr val="bg2"/>
          </a:solidFill>
          <a:ln w="12700">
            <a:solidFill>
              <a:schemeClr val="bg2"/>
            </a:solidFill>
            <a:prstDash val="solid"/>
          </a:ln>
        </p:spPr>
      </p:sp>
      <p:sp>
        <p:nvSpPr>
          <p:cNvPr id="14" name="step-head-652"/>
          <p:cNvSpPr/>
          <p:nvPr/>
        </p:nvSpPr>
        <p:spPr>
          <a:xfrm>
            <a:off x="2795016" y="8229600"/>
            <a:ext cx="1972056" cy="365760"/>
          </a:xfrm>
          <a:prstGeom prst="rect">
            <a:avLst/>
          </a:prstGeom>
          <a:solidFill>
            <a:schemeClr val="accent3"/>
          </a:solidFill>
          <a:ln w="12700">
            <a:solidFill>
              <a:schemeClr val="accent3"/>
            </a:solidFill>
            <a:prstDash val="solid"/>
          </a:ln>
        </p:spPr>
      </p:sp>
      <p:sp>
        <p:nvSpPr>
          <p:cNvPr id="15" name="text-653"/>
          <p:cNvSpPr txBox="1"/>
          <p:nvPr/>
        </p:nvSpPr>
        <p:spPr>
          <a:xfrm>
            <a:off x="2923032" y="8229600"/>
            <a:ext cx="1716024" cy="365760"/>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6" name="text-654"/>
          <p:cNvSpPr txBox="1"/>
          <p:nvPr/>
        </p:nvSpPr>
        <p:spPr>
          <a:xfrm>
            <a:off x="2923032" y="8705088"/>
            <a:ext cx="1716024" cy="1188720"/>
          </a:xfrm>
          <a:prstGeom prst="rect">
            <a:avLst/>
          </a:prstGeom>
          <a:noFill/>
          <a:ln/>
        </p:spPr>
        <p:txBody>
          <a:bodyPr wrap="square" lIns="0" tIns="0" rIns="0" bIns="0" rtlCol="0" anchor="t"/>
          <a:lstStyle/>
          <a:p>
            <a:pPr indent="0" marL="0">
              <a:lnSpc>
                <a:spcPct val="108000"/>
              </a:lnSpc>
              <a:buNone/>
            </a:pPr>
            <a:r>
              <a:rPr lang="en-US" sz="1100" dirty="0">
                <a:solidFill>
                  <a:schemeClr val="tx1"/>
                </a:solidFill>
              </a:rPr>
              <a:t>Fusion then powers and heats the whole city, day and night.</a:t>
            </a:r>
            <a:endParaRPr lang="en-US" sz="1100" dirty="0"/>
          </a:p>
        </p:txBody>
      </p:sp>
      <p:sp>
        <p:nvSpPr>
          <p:cNvPr id="17" name="arrow-655"/>
          <p:cNvSpPr/>
          <p:nvPr/>
        </p:nvSpPr>
        <p:spPr>
          <a:xfrm>
            <a:off x="4794504" y="9144000"/>
            <a:ext cx="219456" cy="914"/>
          </a:xfrm>
          <a:prstGeom prst="line">
            <a:avLst/>
          </a:prstGeom>
          <a:noFill/>
          <a:ln w="31750">
            <a:solidFill>
              <a:schemeClr val="tx2"/>
            </a:solidFill>
            <a:prstDash val="solid"/>
            <a:tailEnd type="triangle"/>
          </a:ln>
        </p:spPr>
      </p:sp>
      <p:sp>
        <p:nvSpPr>
          <p:cNvPr id="18" name="card-656"/>
          <p:cNvSpPr/>
          <p:nvPr/>
        </p:nvSpPr>
        <p:spPr>
          <a:xfrm>
            <a:off x="5041392" y="8229600"/>
            <a:ext cx="1972056" cy="1691640"/>
          </a:xfrm>
          <a:prstGeom prst="roundRect">
            <a:avLst>
              <a:gd name="adj" fmla="val 4324"/>
            </a:avLst>
          </a:prstGeom>
          <a:solidFill>
            <a:schemeClr val="bg2"/>
          </a:solidFill>
          <a:ln w="12700">
            <a:solidFill>
              <a:schemeClr val="bg2"/>
            </a:solidFill>
            <a:prstDash val="solid"/>
          </a:ln>
        </p:spPr>
      </p:sp>
      <p:sp>
        <p:nvSpPr>
          <p:cNvPr id="19" name="step-head-657"/>
          <p:cNvSpPr/>
          <p:nvPr/>
        </p:nvSpPr>
        <p:spPr>
          <a:xfrm>
            <a:off x="5041392" y="8229600"/>
            <a:ext cx="1972056" cy="365760"/>
          </a:xfrm>
          <a:prstGeom prst="rect">
            <a:avLst/>
          </a:prstGeom>
          <a:solidFill>
            <a:schemeClr val="accent6"/>
          </a:solidFill>
          <a:ln w="12700">
            <a:solidFill>
              <a:schemeClr val="accent6"/>
            </a:solidFill>
            <a:prstDash val="solid"/>
          </a:ln>
        </p:spPr>
      </p:sp>
      <p:sp>
        <p:nvSpPr>
          <p:cNvPr id="20" name="text-658"/>
          <p:cNvSpPr txBox="1"/>
          <p:nvPr/>
        </p:nvSpPr>
        <p:spPr>
          <a:xfrm>
            <a:off x="5169408" y="8229600"/>
            <a:ext cx="1716024" cy="365760"/>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1" name="text-659"/>
          <p:cNvSpPr txBox="1"/>
          <p:nvPr/>
        </p:nvSpPr>
        <p:spPr>
          <a:xfrm>
            <a:off x="5169408" y="8705088"/>
            <a:ext cx="1716024" cy="1188720"/>
          </a:xfrm>
          <a:prstGeom prst="rect">
            <a:avLst/>
          </a:prstGeom>
          <a:noFill/>
          <a:ln/>
        </p:spPr>
        <p:txBody>
          <a:bodyPr wrap="square" lIns="0" tIns="0" rIns="0" bIns="0" rtlCol="0" anchor="t"/>
          <a:lstStyle/>
          <a:p>
            <a:pPr indent="0" marL="0">
              <a:lnSpc>
                <a:spcPct val="108000"/>
              </a:lnSpc>
              <a:buNone/>
            </a:pPr>
            <a:r>
              <a:rPr lang="en-US" sz="1100" dirty="0">
                <a:solidFill>
                  <a:schemeClr val="tx1"/>
                </a:solidFill>
              </a:rPr>
              <a:t>If the reactor stops, wind, sun, geothermal and stored heat keep basic heating, the hospital and the shelters going.</a:t>
            </a:r>
            <a:endParaRPr lang="en-US" sz="1100" dirty="0"/>
          </a:p>
        </p:txBody>
      </p:sp>
      <p:sp>
        <p:nvSpPr>
          <p:cNvPr id="2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25</a:t>
            </a:r>
            <a:endParaRPr lang="en-US" sz="900" dirty="0"/>
          </a:p>
        </p:txBody>
      </p:sp>
      <p:sp>
        <p:nvSpPr>
          <p:cNvPr id="23"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6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6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6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64" descr="water">    </p:cNvPr>
          <p:cNvPicPr>
            <a:picLocks noChangeAspect="1"/>
          </p:cNvPicPr>
          <p:nvPr/>
        </p:nvPicPr>
        <p:blipFill>
          <a:blip r:embed="rId1"/>
          <a:srcRect l="0" r="0" t="5353" b="5353"/>
          <a:stretch/>
        </p:blipFill>
        <p:spPr>
          <a:xfrm>
            <a:off x="0" y="1508760"/>
            <a:ext cx="7562088" cy="3657600"/>
          </a:xfrm>
          <a:prstGeom prst="rect">
            <a:avLst/>
          </a:prstGeom>
        </p:spPr>
      </p:pic>
      <p:sp>
        <p:nvSpPr>
          <p:cNvPr id="6" name="text-665"/>
          <p:cNvSpPr txBox="1"/>
          <p:nvPr/>
        </p:nvSpPr>
        <p:spPr>
          <a:xfrm>
            <a:off x="548640" y="523036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Water Recycling Line.</a:t>
            </a:r>
            <a:endParaRPr lang="en-US" sz="850" dirty="0"/>
          </a:p>
        </p:txBody>
      </p:sp>
      <p:sp>
        <p:nvSpPr>
          <p:cNvPr id="7" name="text-666"/>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USED WATER, CLEANED IN SIX STEPS</a:t>
            </a:r>
            <a:endParaRPr lang="en-US" sz="900" dirty="0"/>
          </a:p>
        </p:txBody>
      </p:sp>
      <p:sp>
        <p:nvSpPr>
          <p:cNvPr id="8" name="arrow-667"/>
          <p:cNvSpPr/>
          <p:nvPr/>
        </p:nvSpPr>
        <p:spPr>
          <a:xfrm>
            <a:off x="1315974" y="6153912"/>
            <a:ext cx="620268" cy="914"/>
          </a:xfrm>
          <a:prstGeom prst="line">
            <a:avLst/>
          </a:prstGeom>
          <a:noFill/>
          <a:ln w="22225">
            <a:solidFill>
              <a:schemeClr val="accent4"/>
            </a:solidFill>
            <a:prstDash val="solid"/>
            <a:tailEnd type="triangle"/>
          </a:ln>
        </p:spPr>
      </p:sp>
      <p:sp>
        <p:nvSpPr>
          <p:cNvPr id="9" name="marker-668"/>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69"/>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70"/>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900" b="1" dirty="0">
                <a:solidFill>
                  <a:schemeClr val="tx1"/>
                </a:solidFill>
              </a:rPr>
              <a:t>Used water in</a:t>
            </a:r>
            <a:endParaRPr lang="en-US" sz="900" dirty="0"/>
          </a:p>
        </p:txBody>
      </p:sp>
      <p:sp>
        <p:nvSpPr>
          <p:cNvPr id="12" name="arrow-671"/>
          <p:cNvSpPr/>
          <p:nvPr/>
        </p:nvSpPr>
        <p:spPr>
          <a:xfrm>
            <a:off x="2393442" y="6153912"/>
            <a:ext cx="620268" cy="914"/>
          </a:xfrm>
          <a:prstGeom prst="line">
            <a:avLst/>
          </a:prstGeom>
          <a:noFill/>
          <a:ln w="22225">
            <a:solidFill>
              <a:schemeClr val="accent4"/>
            </a:solidFill>
            <a:prstDash val="solid"/>
            <a:tailEnd type="triangle"/>
          </a:ln>
        </p:spPr>
      </p:sp>
      <p:sp>
        <p:nvSpPr>
          <p:cNvPr id="13" name="marker-672"/>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73"/>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74"/>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900" b="1" dirty="0">
                <a:solidFill>
                  <a:schemeClr val="tx1"/>
                </a:solidFill>
              </a:rPr>
              <a:t>Screens</a:t>
            </a:r>
            <a:endParaRPr lang="en-US" sz="900" dirty="0"/>
          </a:p>
        </p:txBody>
      </p:sp>
      <p:sp>
        <p:nvSpPr>
          <p:cNvPr id="16" name="arrow-675"/>
          <p:cNvSpPr/>
          <p:nvPr/>
        </p:nvSpPr>
        <p:spPr>
          <a:xfrm>
            <a:off x="3470910" y="6153912"/>
            <a:ext cx="620268" cy="914"/>
          </a:xfrm>
          <a:prstGeom prst="line">
            <a:avLst/>
          </a:prstGeom>
          <a:noFill/>
          <a:ln w="22225">
            <a:solidFill>
              <a:schemeClr val="accent4"/>
            </a:solidFill>
            <a:prstDash val="solid"/>
            <a:tailEnd type="triangle"/>
          </a:ln>
        </p:spPr>
      </p:sp>
      <p:sp>
        <p:nvSpPr>
          <p:cNvPr id="17" name="marker-676"/>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77"/>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78"/>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900" b="1" dirty="0">
                <a:solidFill>
                  <a:schemeClr val="tx1"/>
                </a:solidFill>
              </a:rPr>
              <a:t>Settling basins</a:t>
            </a:r>
            <a:endParaRPr lang="en-US" sz="900" dirty="0"/>
          </a:p>
        </p:txBody>
      </p:sp>
      <p:sp>
        <p:nvSpPr>
          <p:cNvPr id="20" name="arrow-679"/>
          <p:cNvSpPr/>
          <p:nvPr/>
        </p:nvSpPr>
        <p:spPr>
          <a:xfrm>
            <a:off x="4548378" y="6153912"/>
            <a:ext cx="620268" cy="914"/>
          </a:xfrm>
          <a:prstGeom prst="line">
            <a:avLst/>
          </a:prstGeom>
          <a:noFill/>
          <a:ln w="22225">
            <a:solidFill>
              <a:schemeClr val="accent4"/>
            </a:solidFill>
            <a:prstDash val="solid"/>
            <a:tailEnd type="triangle"/>
          </a:ln>
        </p:spPr>
      </p:sp>
      <p:sp>
        <p:nvSpPr>
          <p:cNvPr id="21" name="marker-680"/>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81"/>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82"/>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900" b="1" dirty="0">
                <a:solidFill>
                  <a:schemeClr val="tx1"/>
                </a:solidFill>
              </a:rPr>
              <a:t>Sand &amp; membrane filters</a:t>
            </a:r>
            <a:endParaRPr lang="en-US" sz="900" dirty="0"/>
          </a:p>
        </p:txBody>
      </p:sp>
      <p:sp>
        <p:nvSpPr>
          <p:cNvPr id="24" name="arrow-683"/>
          <p:cNvSpPr/>
          <p:nvPr/>
        </p:nvSpPr>
        <p:spPr>
          <a:xfrm>
            <a:off x="5625846" y="6153912"/>
            <a:ext cx="620268" cy="914"/>
          </a:xfrm>
          <a:prstGeom prst="line">
            <a:avLst/>
          </a:prstGeom>
          <a:noFill/>
          <a:ln w="22225">
            <a:solidFill>
              <a:schemeClr val="accent4"/>
            </a:solidFill>
            <a:prstDash val="solid"/>
            <a:tailEnd type="triangle"/>
          </a:ln>
        </p:spPr>
      </p:sp>
      <p:sp>
        <p:nvSpPr>
          <p:cNvPr id="25" name="marker-684"/>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85"/>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86"/>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900" b="1" dirty="0">
                <a:solidFill>
                  <a:schemeClr val="tx1"/>
                </a:solidFill>
              </a:rPr>
              <a:t>UV light</a:t>
            </a:r>
            <a:endParaRPr lang="en-US" sz="900" dirty="0"/>
          </a:p>
        </p:txBody>
      </p:sp>
      <p:sp>
        <p:nvSpPr>
          <p:cNvPr id="28" name="marker-687"/>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88"/>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89"/>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900" b="1" dirty="0">
                <a:solidFill>
                  <a:schemeClr val="tx1"/>
                </a:solidFill>
              </a:rPr>
              <a:t>Recycled water tower</a:t>
            </a:r>
            <a:endParaRPr lang="en-US" sz="900" dirty="0"/>
          </a:p>
        </p:txBody>
      </p:sp>
      <p:sp>
        <p:nvSpPr>
          <p:cNvPr id="31" name="text-690"/>
          <p:cNvSpPr txBox="1"/>
          <p:nvPr/>
        </p:nvSpPr>
        <p:spPr>
          <a:xfrm>
            <a:off x="548640" y="7132320"/>
            <a:ext cx="3095244" cy="173736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Water from sinks and showers is cleaned in six steps and reused in toilets, laundries and greenhouses. Toilet water is treated on its own and becomes biogas.</a:t>
            </a:r>
            <a:endParaRPr lang="en-US" sz="1100" dirty="0"/>
          </a:p>
        </p:txBody>
      </p:sp>
      <p:sp>
        <p:nvSpPr>
          <p:cNvPr id="32" name="text-691"/>
          <p:cNvSpPr txBox="1"/>
          <p:nvPr/>
        </p:nvSpPr>
        <p:spPr>
          <a:xfrm>
            <a:off x="3918204" y="7132320"/>
            <a:ext cx="3095244" cy="173736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The Circular Recycling Center sorts and repairs materials. Food scraps become biogas, and a plasma converter turns the rest into gas and building blocks.</a:t>
            </a:r>
            <a:endParaRPr lang="en-US" sz="1100" dirty="0"/>
          </a:p>
        </p:txBody>
      </p:sp>
      <p:sp>
        <p:nvSpPr>
          <p:cNvPr id="33" name="card-692"/>
          <p:cNvSpPr/>
          <p:nvPr/>
        </p:nvSpPr>
        <p:spPr>
          <a:xfrm>
            <a:off x="548640" y="8915400"/>
            <a:ext cx="6464808" cy="1005840"/>
          </a:xfrm>
          <a:prstGeom prst="roundRect">
            <a:avLst>
              <a:gd name="adj" fmla="val 7273"/>
            </a:avLst>
          </a:prstGeom>
          <a:solidFill>
            <a:schemeClr val="bg2"/>
          </a:solidFill>
          <a:ln w="12700">
            <a:solidFill>
              <a:schemeClr val="bg2"/>
            </a:solidFill>
            <a:prstDash val="solid"/>
          </a:ln>
        </p:spPr>
      </p:sp>
      <p:sp>
        <p:nvSpPr>
          <p:cNvPr id="34" name="text-693"/>
          <p:cNvSpPr txBox="1"/>
          <p:nvPr/>
        </p:nvSpPr>
        <p:spPr>
          <a:xfrm>
            <a:off x="731520" y="8961120"/>
            <a:ext cx="1280160" cy="914400"/>
          </a:xfrm>
          <a:prstGeom prst="rect">
            <a:avLst/>
          </a:prstGeom>
          <a:noFill/>
          <a:ln/>
        </p:spPr>
        <p:txBody>
          <a:bodyPr wrap="square" lIns="0" tIns="0" rIns="0" bIns="0" rtlCol="0" anchor="ctr"/>
          <a:lstStyle/>
          <a:p>
            <a:pPr indent="0" marL="0">
              <a:buNone/>
            </a:pPr>
            <a:r>
              <a:rPr lang="en-US" sz="3200" b="1" dirty="0">
                <a:solidFill>
                  <a:schemeClr val="accent4"/>
                </a:solidFill>
                <a:latin typeface="+mj-lt" pitchFamily="34" charset="0"/>
                <a:ea typeface="+mj-lt" pitchFamily="34" charset="-122"/>
                <a:cs typeface="+mj-lt" pitchFamily="34" charset="-120"/>
              </a:rPr>
              <a:t>95%</a:t>
            </a:r>
            <a:endParaRPr lang="en-US" sz="3200" dirty="0"/>
          </a:p>
        </p:txBody>
      </p:sp>
      <p:sp>
        <p:nvSpPr>
          <p:cNvPr id="35" name="text-694"/>
          <p:cNvSpPr txBox="1"/>
          <p:nvPr/>
        </p:nvSpPr>
        <p:spPr>
          <a:xfrm>
            <a:off x="1965960" y="8961120"/>
            <a:ext cx="1554480" cy="914400"/>
          </a:xfrm>
          <a:prstGeom prst="rect">
            <a:avLst/>
          </a:prstGeom>
          <a:noFill/>
          <a:ln/>
        </p:spPr>
        <p:txBody>
          <a:bodyPr wrap="square" lIns="0" tIns="0" rIns="0" bIns="0" rtlCol="0" anchor="ctr"/>
          <a:lstStyle/>
          <a:p>
            <a:pPr indent="0" marL="0">
              <a:buNone/>
            </a:pPr>
            <a:r>
              <a:rPr lang="en-US" sz="1100" b="1" dirty="0">
                <a:solidFill>
                  <a:schemeClr val="tx1"/>
                </a:solidFill>
              </a:rPr>
              <a:t>of the city’s water is used again</a:t>
            </a:r>
            <a:endParaRPr lang="en-US" sz="1100" dirty="0"/>
          </a:p>
        </p:txBody>
      </p:sp>
      <p:sp>
        <p:nvSpPr>
          <p:cNvPr id="36" name="divider-695"/>
          <p:cNvSpPr/>
          <p:nvPr/>
        </p:nvSpPr>
        <p:spPr>
          <a:xfrm>
            <a:off x="3781044" y="9098280"/>
            <a:ext cx="0" cy="640080"/>
          </a:xfrm>
          <a:prstGeom prst="line">
            <a:avLst/>
          </a:prstGeom>
          <a:noFill/>
          <a:ln w="12700">
            <a:solidFill>
              <a:schemeClr val="accent4"/>
            </a:solidFill>
            <a:prstDash val="solid"/>
          </a:ln>
        </p:spPr>
      </p:sp>
      <p:sp>
        <p:nvSpPr>
          <p:cNvPr id="37" name="text-696"/>
          <p:cNvSpPr txBox="1"/>
          <p:nvPr/>
        </p:nvSpPr>
        <p:spPr>
          <a:xfrm>
            <a:off x="4009644" y="8961120"/>
            <a:ext cx="2820924" cy="914400"/>
          </a:xfrm>
          <a:prstGeom prst="rect">
            <a:avLst/>
          </a:prstGeom>
          <a:noFill/>
          <a:ln/>
        </p:spPr>
        <p:txBody>
          <a:bodyPr wrap="square" lIns="0" tIns="0" rIns="0" bIns="0" rtlCol="0" anchor="ctr"/>
          <a:lstStyle/>
          <a:p>
            <a:pPr indent="0" marL="0">
              <a:buNone/>
            </a:pPr>
            <a:r>
              <a:rPr lang="en-US" sz="1400" b="1" i="1" dirty="0">
                <a:solidFill>
                  <a:schemeClr val="accent4"/>
                </a:solidFill>
                <a:latin typeface="+mj-lt" pitchFamily="34" charset="0"/>
                <a:ea typeface="+mj-lt" pitchFamily="34" charset="-122"/>
                <a:cs typeface="+mj-lt" pitchFamily="34" charset="-120"/>
              </a:rPr>
              <a:t>Almost nothing goes to landfill in the permafrost.</a:t>
            </a:r>
            <a:endParaRPr lang="en-US" sz="1400" dirty="0"/>
          </a:p>
        </p:txBody>
      </p:sp>
      <p:sp>
        <p:nvSpPr>
          <p:cNvPr id="3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26</a:t>
            </a:r>
            <a:endParaRPr lang="en-US" sz="900" dirty="0"/>
          </a:p>
        </p:txBody>
      </p:sp>
      <p:sp>
        <p:nvSpPr>
          <p:cNvPr id="39"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97" descr="ecosystem">    </p:cNvPr>
          <p:cNvPicPr>
            <a:picLocks noChangeAspect="1"/>
          </p:cNvPicPr>
          <p:nvPr/>
        </p:nvPicPr>
        <p:blipFill>
          <a:blip r:embed="rId1"/>
          <a:srcRect l="0" r="0" t="2713" b="2220"/>
          <a:stretch/>
        </p:blipFill>
        <p:spPr>
          <a:xfrm>
            <a:off x="0" y="0"/>
            <a:ext cx="7562088" cy="4343400"/>
          </a:xfrm>
          <a:prstGeom prst="rect">
            <a:avLst/>
          </a:prstGeom>
        </p:spPr>
      </p:pic>
      <p:sp>
        <p:nvSpPr>
          <p:cNvPr id="3" name="text-698"/>
          <p:cNvSpPr txBox="1"/>
          <p:nvPr/>
        </p:nvSpPr>
        <p:spPr>
          <a:xfrm>
            <a:off x="548640" y="438912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on the tundra by the Snow Garden Park.</a:t>
            </a:r>
            <a:endParaRPr lang="en-US" sz="850" dirty="0"/>
          </a:p>
        </p:txBody>
      </p:sp>
      <p:sp>
        <p:nvSpPr>
          <p:cNvPr id="4" name="kicker-dot-699"/>
          <p:cNvSpPr/>
          <p:nvPr/>
        </p:nvSpPr>
        <p:spPr>
          <a:xfrm>
            <a:off x="548640" y="4796028"/>
            <a:ext cx="100584" cy="100584"/>
          </a:xfrm>
          <a:prstGeom prst="ellipse">
            <a:avLst/>
          </a:prstGeom>
          <a:solidFill>
            <a:schemeClr val="accent1"/>
          </a:solidFill>
          <a:ln w="12700">
            <a:solidFill>
              <a:schemeClr val="accent1"/>
            </a:solidFill>
            <a:prstDash val="solid"/>
          </a:ln>
        </p:spPr>
      </p:sp>
      <p:sp>
        <p:nvSpPr>
          <p:cNvPr id="5" name="text-700"/>
          <p:cNvSpPr txBox="1"/>
          <p:nvPr/>
        </p:nvSpPr>
        <p:spPr>
          <a:xfrm>
            <a:off x="731520" y="475488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701"/>
          <p:cNvSpPr txBox="1"/>
          <p:nvPr/>
        </p:nvSpPr>
        <p:spPr>
          <a:xfrm>
            <a:off x="548640" y="500176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703"/>
          <p:cNvSpPr txBox="1"/>
          <p:nvPr/>
        </p:nvSpPr>
        <p:spPr>
          <a:xfrm>
            <a:off x="548640" y="5669280"/>
            <a:ext cx="6464808" cy="54864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We share the tundra: animals move through the city, and planted trees work as snow fences.</a:t>
            </a:r>
            <a:endParaRPr lang="en-US" sz="1300" dirty="0"/>
          </a:p>
        </p:txBody>
      </p:sp>
      <p:sp>
        <p:nvSpPr>
          <p:cNvPr id="8" name="text-704"/>
          <p:cNvSpPr txBox="1"/>
          <p:nvPr/>
        </p:nvSpPr>
        <p:spPr>
          <a:xfrm>
            <a:off x="548640" y="6537960"/>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705"/>
          <p:cNvSpPr txBox="1"/>
          <p:nvPr/>
        </p:nvSpPr>
        <p:spPr>
          <a:xfrm>
            <a:off x="548640" y="6812280"/>
            <a:ext cx="3095244" cy="1691640"/>
          </a:xfrm>
          <a:prstGeom prst="rect">
            <a:avLst/>
          </a:prstGeom>
          <a:noFill/>
          <a:ln/>
        </p:spPr>
        <p:txBody>
          <a:bodyPr wrap="square" lIns="0" tIns="0" rIns="0" bIns="0" rtlCol="0" anchor="t"/>
          <a:lstStyle/>
          <a:p>
            <a:pPr indent="0" marL="0">
              <a:lnSpc>
                <a:spcPct val="110000"/>
              </a:lnSpc>
              <a:spcAft>
                <a:spcPts val="800"/>
              </a:spcAft>
              <a:buNone/>
            </a:pPr>
            <a:r>
              <a:rPr lang="en-US" sz="1100" b="1" dirty="0">
                <a:solidFill>
                  <a:schemeClr val="tx1"/>
                </a:solidFill>
              </a:rPr>
              <a:t>Wildlife corridors. </a:t>
            </a:r>
            <a:pPr indent="0" marL="0">
              <a:lnSpc>
                <a:spcPct val="110000"/>
              </a:lnSpc>
              <a:buNone/>
            </a:pPr>
            <a:r>
              <a:rPr lang="en-US" sz="1100" dirty="0">
                <a:solidFill>
                  <a:schemeClr val="tx1"/>
                </a:solidFill>
              </a:rPr>
              <a:t>Tree belts link the tundra to the parks, with dim lights and underpasses.</a:t>
            </a:r>
            <a:endParaRPr lang="en-US" sz="1100" dirty="0"/>
          </a:p>
          <a:p>
            <a:pPr indent="0" marL="0">
              <a:lnSpc>
                <a:spcPct val="110000"/>
              </a:lnSpc>
              <a:spcAft>
                <a:spcPts val="800"/>
              </a:spcAft>
              <a:buNone/>
            </a:pPr>
            <a:r>
              <a:rPr lang="en-US" sz="1100" b="1" dirty="0">
                <a:solidFill>
                  <a:schemeClr val="tx1"/>
                </a:solidFill>
              </a:rPr>
              <a:t>Reindeer. </a:t>
            </a:r>
            <a:pPr indent="0" marL="0">
              <a:lnSpc>
                <a:spcPct val="110000"/>
              </a:lnSpc>
              <a:buNone/>
            </a:pPr>
            <a:r>
              <a:rPr lang="en-US" sz="1100" dirty="0">
                <a:solidFill>
                  <a:schemeClr val="tx1"/>
                </a:solidFill>
              </a:rPr>
              <a:t>Local herders keep a small eco-tour herd.</a:t>
            </a:r>
            <a:endParaRPr lang="en-US" sz="1100" dirty="0"/>
          </a:p>
          <a:p>
            <a:pPr indent="0" marL="0">
              <a:lnSpc>
                <a:spcPct val="110000"/>
              </a:lnSpc>
              <a:spcAft>
                <a:spcPts val="800"/>
              </a:spcAft>
              <a:buNone/>
            </a:pPr>
            <a:r>
              <a:rPr lang="en-US" sz="1100" b="1" dirty="0">
                <a:solidFill>
                  <a:schemeClr val="tx1"/>
                </a:solidFill>
              </a:rPr>
              <a:t>Polar bears. </a:t>
            </a:r>
            <a:pPr indent="0" marL="0">
              <a:lnSpc>
                <a:spcPct val="110000"/>
              </a:lnSpc>
              <a:buNone/>
            </a:pPr>
            <a:r>
              <a:rPr lang="en-US" sz="1100" dirty="0">
                <a:solidFill>
                  <a:schemeClr val="tx1"/>
                </a:solidFill>
              </a:rPr>
              <a:t>Fence sensors call a wildlife team when a bear comes close.</a:t>
            </a:r>
            <a:endParaRPr lang="en-US" sz="1100" dirty="0"/>
          </a:p>
        </p:txBody>
      </p:sp>
      <p:sp>
        <p:nvSpPr>
          <p:cNvPr id="10" name="text-706"/>
          <p:cNvSpPr txBox="1"/>
          <p:nvPr/>
        </p:nvSpPr>
        <p:spPr>
          <a:xfrm>
            <a:off x="3918204" y="6537960"/>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707"/>
          <p:cNvSpPr txBox="1"/>
          <p:nvPr/>
        </p:nvSpPr>
        <p:spPr>
          <a:xfrm>
            <a:off x="3918204" y="6812280"/>
            <a:ext cx="3095244" cy="1691640"/>
          </a:xfrm>
          <a:prstGeom prst="rect">
            <a:avLst/>
          </a:prstGeom>
          <a:noFill/>
          <a:ln/>
        </p:spPr>
        <p:txBody>
          <a:bodyPr wrap="square" lIns="0" tIns="0" rIns="0" bIns="0" rtlCol="0" anchor="t"/>
          <a:lstStyle/>
          <a:p>
            <a:pPr indent="0" marL="0">
              <a:lnSpc>
                <a:spcPct val="110000"/>
              </a:lnSpc>
              <a:spcAft>
                <a:spcPts val="800"/>
              </a:spcAft>
              <a:buNone/>
            </a:pPr>
            <a:r>
              <a:rPr lang="en-US" sz="1100" b="1" dirty="0">
                <a:solidFill>
                  <a:schemeClr val="tx1"/>
                </a:solidFill>
              </a:rPr>
              <a:t>Living snow fences. </a:t>
            </a:r>
            <a:pPr indent="0" marL="0">
              <a:lnSpc>
                <a:spcPct val="110000"/>
              </a:lnSpc>
              <a:buNone/>
            </a:pPr>
            <a:r>
              <a:rPr lang="en-US" sz="1100" dirty="0">
                <a:solidFill>
                  <a:schemeClr val="tx1"/>
                </a:solidFill>
              </a:rPr>
              <a:t>Belts of hardy spruce trap drifting snow and slow the wind.</a:t>
            </a:r>
            <a:endParaRPr lang="en-US" sz="1100" dirty="0"/>
          </a:p>
          <a:p>
            <a:pPr indent="0" marL="0">
              <a:lnSpc>
                <a:spcPct val="110000"/>
              </a:lnSpc>
              <a:spcAft>
                <a:spcPts val="800"/>
              </a:spcAft>
              <a:buNone/>
            </a:pPr>
            <a:r>
              <a:rPr lang="en-US" sz="1100" b="1" dirty="0">
                <a:solidFill>
                  <a:schemeClr val="tx1"/>
                </a:solidFill>
              </a:rPr>
              <a:t>Aquaponics. </a:t>
            </a:r>
            <a:pPr indent="0" marL="0">
              <a:lnSpc>
                <a:spcPct val="110000"/>
              </a:lnSpc>
              <a:buNone/>
            </a:pPr>
            <a:r>
              <a:rPr lang="en-US" sz="1100" dirty="0">
                <a:solidFill>
                  <a:schemeClr val="tx1"/>
                </a:solidFill>
              </a:rPr>
              <a:t>Fish feed lettuce and herbs in the greenhouse.</a:t>
            </a:r>
            <a:endParaRPr lang="en-US" sz="1100" dirty="0"/>
          </a:p>
          <a:p>
            <a:pPr indent="0" marL="0">
              <a:lnSpc>
                <a:spcPct val="110000"/>
              </a:lnSpc>
              <a:spcAft>
                <a:spcPts val="800"/>
              </a:spcAft>
              <a:buNone/>
            </a:pPr>
            <a:r>
              <a:rPr lang="en-US" sz="1100" b="1" dirty="0">
                <a:solidFill>
                  <a:schemeClr val="tx1"/>
                </a:solidFill>
              </a:rPr>
              <a:t>Shelter and science. </a:t>
            </a:r>
            <a:pPr indent="0" marL="0">
              <a:lnSpc>
                <a:spcPct val="110000"/>
              </a:lnSpc>
              <a:buNone/>
            </a:pPr>
            <a:r>
              <a:rPr lang="en-US" sz="1100" dirty="0">
                <a:solidFill>
                  <a:schemeClr val="tx1"/>
                </a:solidFill>
              </a:rPr>
              <a:t>Rock gardens shelter ptarmigans and hares.</a:t>
            </a:r>
            <a:endParaRPr lang="en-US" sz="1100" dirty="0"/>
          </a:p>
        </p:txBody>
      </p:sp>
      <p:sp>
        <p:nvSpPr>
          <p:cNvPr id="12" name="card-708"/>
          <p:cNvSpPr/>
          <p:nvPr/>
        </p:nvSpPr>
        <p:spPr>
          <a:xfrm>
            <a:off x="548640" y="8778240"/>
            <a:ext cx="6464808" cy="1143000"/>
          </a:xfrm>
          <a:prstGeom prst="roundRect">
            <a:avLst>
              <a:gd name="adj" fmla="val 6400"/>
            </a:avLst>
          </a:prstGeom>
          <a:solidFill>
            <a:schemeClr val="bg2"/>
          </a:solidFill>
          <a:ln w="12700">
            <a:solidFill>
              <a:schemeClr val="bg2"/>
            </a:solidFill>
            <a:prstDash val="solid"/>
          </a:ln>
        </p:spPr>
      </p:sp>
      <p:sp>
        <p:nvSpPr>
          <p:cNvPr id="13" name="text-709"/>
          <p:cNvSpPr txBox="1"/>
          <p:nvPr/>
        </p:nvSpPr>
        <p:spPr>
          <a:xfrm>
            <a:off x="731520" y="8833104"/>
            <a:ext cx="6099048" cy="1033272"/>
          </a:xfrm>
          <a:prstGeom prst="rect">
            <a:avLst/>
          </a:prstGeom>
          <a:noFill/>
          <a:ln/>
        </p:spPr>
        <p:txBody>
          <a:bodyPr wrap="square" lIns="0" tIns="0" rIns="0" bIns="0" rtlCol="0" anchor="ctr"/>
          <a:lstStyle/>
          <a:p>
            <a:pPr indent="0" marL="0">
              <a:lnSpc>
                <a:spcPct val="108000"/>
              </a:lnSpc>
              <a:buNone/>
            </a:pPr>
            <a:r>
              <a:rPr lang="en-US" sz="1100" b="1" spc="200" kern="0" dirty="0">
                <a:solidFill>
                  <a:schemeClr val="accent4"/>
                </a:solidFill>
              </a:rPr>
              <a:t>HOW THEY SURVIVE  </a:t>
            </a:r>
            <a:pPr indent="0" marL="0">
              <a:lnSpc>
                <a:spcPct val="108000"/>
              </a:lnSpc>
              <a:buNone/>
            </a:pPr>
            <a:r>
              <a:rPr lang="en-US" sz="1100" dirty="0">
                <a:solidFill>
                  <a:schemeClr val="tx1"/>
                </a:solidFill>
              </a:rPr>
              <a:t>Arctic foxes grow a thick winter coat that lets them survive down to about −50 °C [16]. The city gives them cover, safe crossings and dark nights.</a:t>
            </a:r>
            <a:endParaRPr lang="en-US" sz="110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27</a:t>
            </a:r>
            <a:endParaRPr lang="en-US" sz="900" dirty="0"/>
          </a:p>
        </p:txBody>
      </p:sp>
      <p:sp>
        <p:nvSpPr>
          <p:cNvPr id="1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71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1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71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714" descr="airport">    </p:cNvPr>
          <p:cNvPicPr>
            <a:picLocks noChangeAspect="1"/>
          </p:cNvPicPr>
          <p:nvPr/>
        </p:nvPicPr>
        <p:blipFill>
          <a:blip r:embed="rId1"/>
          <a:srcRect l="0" r="0" t="8702" b="8702"/>
          <a:stretch/>
        </p:blipFill>
        <p:spPr>
          <a:xfrm>
            <a:off x="0" y="1508760"/>
            <a:ext cx="7562088" cy="3383280"/>
          </a:xfrm>
          <a:prstGeom prst="rect">
            <a:avLst/>
          </a:prstGeom>
        </p:spPr>
      </p:pic>
      <p:sp>
        <p:nvSpPr>
          <p:cNvPr id="6" name="text-715"/>
          <p:cNvSpPr txBox="1"/>
          <p:nvPr/>
        </p:nvSpPr>
        <p:spPr>
          <a:xfrm>
            <a:off x="548640" y="4956048"/>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the city’s winter supply link.</a:t>
            </a:r>
            <a:endParaRPr lang="en-US" sz="850" dirty="0"/>
          </a:p>
        </p:txBody>
      </p:sp>
      <p:sp>
        <p:nvSpPr>
          <p:cNvPr id="7" name="text-716"/>
          <p:cNvSpPr txBox="1"/>
          <p:nvPr/>
        </p:nvSpPr>
        <p:spPr>
          <a:xfrm>
            <a:off x="548640" y="5349240"/>
            <a:ext cx="3703320" cy="265176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On the ground, everything is electric. Public transport starts with two driverless metro lines that meet under Liberty Mall, deep below the blizzards. Trams, buses and shared robotaxis stop at heated shelters.</a:t>
            </a:r>
            <a:endParaRPr lang="en-US" sz="1100" dirty="0"/>
          </a:p>
          <a:p>
            <a:pPr indent="0" marL="0">
              <a:lnSpc>
                <a:spcPct val="112000"/>
              </a:lnSpc>
              <a:spcAft>
                <a:spcPts val="700"/>
              </a:spcAft>
              <a:buNone/>
            </a:pPr>
            <a:r>
              <a:rPr lang="en-US" sz="1100" dirty="0">
                <a:solidFill>
                  <a:schemeClr val="tx1"/>
                </a:solidFill>
              </a:rPr>
              <a:t>Warm streets and tunnels sit on thick insulation, and thermosyphons, as on the Trans-Alaska Pipeline, keep the ground below frozen [15].</a:t>
            </a:r>
            <a:endParaRPr lang="en-US" sz="1100" dirty="0"/>
          </a:p>
          <a:p>
            <a:pPr indent="0" marL="0">
              <a:lnSpc>
                <a:spcPct val="112000"/>
              </a:lnSpc>
              <a:spcAft>
                <a:spcPts val="700"/>
              </a:spcAft>
              <a:buNone/>
            </a:pPr>
            <a:r>
              <a:rPr lang="en-US" sz="1100" dirty="0">
                <a:solidFill>
                  <a:schemeClr val="tx1"/>
                </a:solidFill>
              </a:rPr>
              <a:t>Planes fly on e-fuel made with clean power.</a:t>
            </a:r>
            <a:endParaRPr lang="en-US" sz="1100" dirty="0"/>
          </a:p>
        </p:txBody>
      </p:sp>
      <p:sp>
        <p:nvSpPr>
          <p:cNvPr id="8" name="metro-aurora-line"/>
          <p:cNvSpPr/>
          <p:nvPr/>
        </p:nvSpPr>
        <p:spPr>
          <a:xfrm>
            <a:off x="5792724" y="5394960"/>
            <a:ext cx="0" cy="2377440"/>
          </a:xfrm>
          <a:prstGeom prst="line">
            <a:avLst/>
          </a:prstGeom>
          <a:noFill/>
          <a:ln w="88900">
            <a:solidFill>
              <a:schemeClr val="accent6"/>
            </a:solidFill>
            <a:prstDash val="solid"/>
          </a:ln>
        </p:spPr>
      </p:sp>
      <p:sp>
        <p:nvSpPr>
          <p:cNvPr id="9" name="metro-glacier-line"/>
          <p:cNvSpPr/>
          <p:nvPr/>
        </p:nvSpPr>
        <p:spPr>
          <a:xfrm>
            <a:off x="4572000" y="6583680"/>
            <a:ext cx="2441448" cy="0"/>
          </a:xfrm>
          <a:prstGeom prst="line">
            <a:avLst/>
          </a:prstGeom>
          <a:noFill/>
          <a:ln w="88900">
            <a:solidFill>
              <a:schemeClr val="accent4"/>
            </a:solidFill>
            <a:prstDash val="solid"/>
          </a:ln>
        </p:spPr>
      </p:sp>
      <p:sp>
        <p:nvSpPr>
          <p:cNvPr id="10" name="metro-interchange"/>
          <p:cNvSpPr/>
          <p:nvPr/>
        </p:nvSpPr>
        <p:spPr>
          <a:xfrm>
            <a:off x="5591556" y="6382512"/>
            <a:ext cx="402336" cy="402336"/>
          </a:xfrm>
          <a:prstGeom prst="ellipse">
            <a:avLst/>
          </a:prstGeom>
          <a:solidFill>
            <a:schemeClr val="bg1"/>
          </a:solidFill>
          <a:ln w="38100">
            <a:solidFill>
              <a:schemeClr val="tx1"/>
            </a:solidFill>
            <a:prstDash val="solid"/>
          </a:ln>
        </p:spPr>
      </p:sp>
      <p:sp>
        <p:nvSpPr>
          <p:cNvPr id="11" name="text-717"/>
          <p:cNvSpPr txBox="1"/>
          <p:nvPr/>
        </p:nvSpPr>
        <p:spPr>
          <a:xfrm>
            <a:off x="5920740" y="5394960"/>
            <a:ext cx="1188720" cy="384048"/>
          </a:xfrm>
          <a:prstGeom prst="rect">
            <a:avLst/>
          </a:prstGeom>
          <a:noFill/>
          <a:ln/>
        </p:spPr>
        <p:txBody>
          <a:bodyPr wrap="square" lIns="0" tIns="0" rIns="0" bIns="0" rtlCol="0" anchor="t"/>
          <a:lstStyle/>
          <a:p>
            <a:pPr indent="0" marL="0">
              <a:buNone/>
            </a:pPr>
            <a:r>
              <a:rPr lang="en-US" sz="950" b="1" dirty="0">
                <a:solidFill>
                  <a:schemeClr val="accent6"/>
                </a:solidFill>
              </a:rPr>
              <a:t>Aurora Line</a:t>
            </a:r>
            <a:endParaRPr lang="en-US" sz="950" dirty="0"/>
          </a:p>
          <a:p>
            <a:pPr indent="0" marL="0">
              <a:buNone/>
            </a:pPr>
            <a:r>
              <a:rPr lang="en-US" sz="950" b="1" dirty="0">
                <a:solidFill>
                  <a:schemeClr val="accent6"/>
                </a:solidFill>
              </a:rPr>
              <a:t>north–south</a:t>
            </a:r>
            <a:endParaRPr lang="en-US" sz="950" dirty="0"/>
          </a:p>
        </p:txBody>
      </p:sp>
      <p:sp>
        <p:nvSpPr>
          <p:cNvPr id="12" name="text-718"/>
          <p:cNvSpPr txBox="1"/>
          <p:nvPr/>
        </p:nvSpPr>
        <p:spPr>
          <a:xfrm>
            <a:off x="4572000" y="6729984"/>
            <a:ext cx="1005840" cy="384048"/>
          </a:xfrm>
          <a:prstGeom prst="rect">
            <a:avLst/>
          </a:prstGeom>
          <a:noFill/>
          <a:ln/>
        </p:spPr>
        <p:txBody>
          <a:bodyPr wrap="square" lIns="0" tIns="0" rIns="0" bIns="0" rtlCol="0" anchor="t"/>
          <a:lstStyle/>
          <a:p>
            <a:pPr indent="0" marL="0">
              <a:buNone/>
            </a:pPr>
            <a:r>
              <a:rPr lang="en-US" sz="950" b="1" dirty="0">
                <a:solidFill>
                  <a:schemeClr val="accent4"/>
                </a:solidFill>
              </a:rPr>
              <a:t>Glacier Line</a:t>
            </a:r>
            <a:endParaRPr lang="en-US" sz="950" dirty="0"/>
          </a:p>
          <a:p>
            <a:pPr indent="0" marL="0">
              <a:buNone/>
            </a:pPr>
            <a:r>
              <a:rPr lang="en-US" sz="950" b="1" dirty="0">
                <a:solidFill>
                  <a:schemeClr val="accent4"/>
                </a:solidFill>
              </a:rPr>
              <a:t>east–west</a:t>
            </a:r>
            <a:endParaRPr lang="en-US" sz="950" dirty="0"/>
          </a:p>
        </p:txBody>
      </p:sp>
      <p:sp>
        <p:nvSpPr>
          <p:cNvPr id="13" name="text-719"/>
          <p:cNvSpPr txBox="1"/>
          <p:nvPr/>
        </p:nvSpPr>
        <p:spPr>
          <a:xfrm>
            <a:off x="6067044" y="5980176"/>
            <a:ext cx="1005840" cy="530352"/>
          </a:xfrm>
          <a:prstGeom prst="rect">
            <a:avLst/>
          </a:prstGeom>
          <a:noFill/>
          <a:ln/>
        </p:spPr>
        <p:txBody>
          <a:bodyPr wrap="square" lIns="0" tIns="0" rIns="0" bIns="0" rtlCol="0" anchor="b"/>
          <a:lstStyle/>
          <a:p>
            <a:pPr indent="0" marL="0">
              <a:buNone/>
            </a:pPr>
            <a:r>
              <a:rPr lang="en-US" sz="950" b="1" dirty="0">
                <a:solidFill>
                  <a:schemeClr val="tx1"/>
                </a:solidFill>
              </a:rPr>
              <a:t>Central Interchange, under Liberty Mall</a:t>
            </a:r>
            <a:endParaRPr lang="en-US" sz="950" dirty="0"/>
          </a:p>
        </p:txBody>
      </p:sp>
      <p:sp>
        <p:nvSpPr>
          <p:cNvPr id="14" name="card-720"/>
          <p:cNvSpPr/>
          <p:nvPr/>
        </p:nvSpPr>
        <p:spPr>
          <a:xfrm>
            <a:off x="548640" y="8138160"/>
            <a:ext cx="1533906" cy="1783080"/>
          </a:xfrm>
          <a:prstGeom prst="roundRect">
            <a:avLst>
              <a:gd name="adj" fmla="val 4769"/>
            </a:avLst>
          </a:prstGeom>
          <a:solidFill>
            <a:schemeClr val="bg2"/>
          </a:solidFill>
          <a:ln w="12700">
            <a:solidFill>
              <a:schemeClr val="bg2"/>
            </a:solidFill>
            <a:prstDash val="solid"/>
          </a:ln>
        </p:spPr>
      </p:sp>
      <p:sp>
        <p:nvSpPr>
          <p:cNvPr id="15" name="text-721"/>
          <p:cNvSpPr txBox="1"/>
          <p:nvPr/>
        </p:nvSpPr>
        <p:spPr>
          <a:xfrm>
            <a:off x="658368" y="8247888"/>
            <a:ext cx="1314450" cy="237744"/>
          </a:xfrm>
          <a:prstGeom prst="rect">
            <a:avLst/>
          </a:prstGeom>
          <a:noFill/>
          <a:ln/>
        </p:spPr>
        <p:txBody>
          <a:bodyPr wrap="square" lIns="0" tIns="0" rIns="0" bIns="0" rtlCol="0" anchor="t"/>
          <a:lstStyle/>
          <a:p>
            <a:pPr indent="0" marL="0">
              <a:buNone/>
            </a:pPr>
            <a:r>
              <a:rPr lang="en-US" sz="1150" b="1" dirty="0">
                <a:solidFill>
                  <a:schemeClr val="accent6"/>
                </a:solidFill>
              </a:rPr>
              <a:t>Who rides</a:t>
            </a:r>
            <a:endParaRPr lang="en-US" sz="1150" dirty="0"/>
          </a:p>
        </p:txBody>
      </p:sp>
      <p:sp>
        <p:nvSpPr>
          <p:cNvPr id="16" name="text-722"/>
          <p:cNvSpPr txBox="1"/>
          <p:nvPr/>
        </p:nvSpPr>
        <p:spPr>
          <a:xfrm>
            <a:off x="658368" y="8549640"/>
            <a:ext cx="1314450" cy="1325880"/>
          </a:xfrm>
          <a:prstGeom prst="rect">
            <a:avLst/>
          </a:prstGeom>
          <a:noFill/>
          <a:ln/>
        </p:spPr>
        <p:txBody>
          <a:bodyPr wrap="square" lIns="0" tIns="0" rIns="0" bIns="0" rtlCol="0" anchor="t"/>
          <a:lstStyle/>
          <a:p>
            <a:pPr indent="0" marL="0">
              <a:lnSpc>
                <a:spcPct val="108000"/>
              </a:lnSpc>
              <a:buNone/>
            </a:pPr>
            <a:r>
              <a:rPr lang="en-US" sz="1100" dirty="0">
                <a:solidFill>
                  <a:schemeClr val="tx1"/>
                </a:solidFill>
              </a:rPr>
              <a:t>Commuters, students and fans, with room for wheelchairs and skis.</a:t>
            </a:r>
            <a:endParaRPr lang="en-US" sz="1100" dirty="0"/>
          </a:p>
        </p:txBody>
      </p:sp>
      <p:sp>
        <p:nvSpPr>
          <p:cNvPr id="17" name="card-723"/>
          <p:cNvSpPr/>
          <p:nvPr/>
        </p:nvSpPr>
        <p:spPr>
          <a:xfrm>
            <a:off x="2192274" y="8138160"/>
            <a:ext cx="1533906" cy="1783080"/>
          </a:xfrm>
          <a:prstGeom prst="roundRect">
            <a:avLst>
              <a:gd name="adj" fmla="val 4769"/>
            </a:avLst>
          </a:prstGeom>
          <a:solidFill>
            <a:schemeClr val="bg2"/>
          </a:solidFill>
          <a:ln w="12700">
            <a:solidFill>
              <a:schemeClr val="bg2"/>
            </a:solidFill>
            <a:prstDash val="solid"/>
          </a:ln>
        </p:spPr>
      </p:sp>
      <p:sp>
        <p:nvSpPr>
          <p:cNvPr id="18" name="text-724"/>
          <p:cNvSpPr txBox="1"/>
          <p:nvPr/>
        </p:nvSpPr>
        <p:spPr>
          <a:xfrm>
            <a:off x="2302002" y="8247888"/>
            <a:ext cx="1314450" cy="237744"/>
          </a:xfrm>
          <a:prstGeom prst="rect">
            <a:avLst/>
          </a:prstGeom>
          <a:noFill/>
          <a:ln/>
        </p:spPr>
        <p:txBody>
          <a:bodyPr wrap="square" lIns="0" tIns="0" rIns="0" bIns="0" rtlCol="0" anchor="t"/>
          <a:lstStyle/>
          <a:p>
            <a:pPr indent="0" marL="0">
              <a:buNone/>
            </a:pPr>
            <a:r>
              <a:rPr lang="en-US" sz="1150" b="1" dirty="0">
                <a:solidFill>
                  <a:schemeClr val="accent6"/>
                </a:solidFill>
              </a:rPr>
              <a:t>How many</a:t>
            </a:r>
            <a:endParaRPr lang="en-US" sz="1150" dirty="0"/>
          </a:p>
        </p:txBody>
      </p:sp>
      <p:sp>
        <p:nvSpPr>
          <p:cNvPr id="19" name="text-725"/>
          <p:cNvSpPr txBox="1"/>
          <p:nvPr/>
        </p:nvSpPr>
        <p:spPr>
          <a:xfrm>
            <a:off x="2302002" y="8549640"/>
            <a:ext cx="1314450" cy="1325880"/>
          </a:xfrm>
          <a:prstGeom prst="rect">
            <a:avLst/>
          </a:prstGeom>
          <a:noFill/>
          <a:ln/>
        </p:spPr>
        <p:txBody>
          <a:bodyPr wrap="square" lIns="0" tIns="0" rIns="0" bIns="0" rtlCol="0" anchor="t"/>
          <a:lstStyle/>
          <a:p>
            <a:pPr indent="0" marL="0">
              <a:lnSpc>
                <a:spcPct val="108000"/>
              </a:lnSpc>
              <a:buNone/>
            </a:pPr>
            <a:r>
              <a:rPr lang="en-US" sz="1100" dirty="0">
                <a:solidFill>
                  <a:schemeClr val="tx1"/>
                </a:solidFill>
              </a:rPr>
              <a:t>About 8,000 people an hour each way (our estimate).</a:t>
            </a:r>
            <a:endParaRPr lang="en-US" sz="1100" dirty="0"/>
          </a:p>
        </p:txBody>
      </p:sp>
      <p:sp>
        <p:nvSpPr>
          <p:cNvPr id="20" name="card-726"/>
          <p:cNvSpPr/>
          <p:nvPr/>
        </p:nvSpPr>
        <p:spPr>
          <a:xfrm>
            <a:off x="3835908" y="8138160"/>
            <a:ext cx="1533906" cy="1783080"/>
          </a:xfrm>
          <a:prstGeom prst="roundRect">
            <a:avLst>
              <a:gd name="adj" fmla="val 4769"/>
            </a:avLst>
          </a:prstGeom>
          <a:solidFill>
            <a:schemeClr val="bg2"/>
          </a:solidFill>
          <a:ln w="12700">
            <a:solidFill>
              <a:schemeClr val="bg2"/>
            </a:solidFill>
            <a:prstDash val="solid"/>
          </a:ln>
        </p:spPr>
      </p:sp>
      <p:sp>
        <p:nvSpPr>
          <p:cNvPr id="21" name="text-727"/>
          <p:cNvSpPr txBox="1"/>
          <p:nvPr/>
        </p:nvSpPr>
        <p:spPr>
          <a:xfrm>
            <a:off x="3945636" y="8247888"/>
            <a:ext cx="1314450" cy="237744"/>
          </a:xfrm>
          <a:prstGeom prst="rect">
            <a:avLst/>
          </a:prstGeom>
          <a:noFill/>
          <a:ln/>
        </p:spPr>
        <p:txBody>
          <a:bodyPr wrap="square" lIns="0" tIns="0" rIns="0" bIns="0" rtlCol="0" anchor="t"/>
          <a:lstStyle/>
          <a:p>
            <a:pPr indent="0" marL="0">
              <a:buNone/>
            </a:pPr>
            <a:r>
              <a:rPr lang="en-US" sz="1150" b="1" dirty="0">
                <a:solidFill>
                  <a:schemeClr val="accent6"/>
                </a:solidFill>
              </a:rPr>
              <a:t>Safe in a storm</a:t>
            </a:r>
            <a:endParaRPr lang="en-US" sz="1150" dirty="0"/>
          </a:p>
        </p:txBody>
      </p:sp>
      <p:sp>
        <p:nvSpPr>
          <p:cNvPr id="22" name="text-728"/>
          <p:cNvSpPr txBox="1"/>
          <p:nvPr/>
        </p:nvSpPr>
        <p:spPr>
          <a:xfrm>
            <a:off x="3945636" y="8549640"/>
            <a:ext cx="1314450" cy="1325880"/>
          </a:xfrm>
          <a:prstGeom prst="rect">
            <a:avLst/>
          </a:prstGeom>
          <a:noFill/>
          <a:ln/>
        </p:spPr>
        <p:txBody>
          <a:bodyPr wrap="square" lIns="0" tIns="0" rIns="0" bIns="0" rtlCol="0" anchor="t"/>
          <a:lstStyle/>
          <a:p>
            <a:pPr indent="0" marL="0">
              <a:lnSpc>
                <a:spcPct val="108000"/>
              </a:lnSpc>
              <a:buNone/>
            </a:pPr>
            <a:r>
              <a:rPr lang="en-US" sz="1100" dirty="0">
                <a:solidFill>
                  <a:schemeClr val="tx1"/>
                </a:solidFill>
              </a:rPr>
              <a:t>Insulated tunnels with doors straight into the shelters.</a:t>
            </a:r>
            <a:endParaRPr lang="en-US" sz="1100" dirty="0"/>
          </a:p>
        </p:txBody>
      </p:sp>
      <p:sp>
        <p:nvSpPr>
          <p:cNvPr id="23" name="card-729"/>
          <p:cNvSpPr/>
          <p:nvPr/>
        </p:nvSpPr>
        <p:spPr>
          <a:xfrm>
            <a:off x="5479542" y="8138160"/>
            <a:ext cx="1533906" cy="1783080"/>
          </a:xfrm>
          <a:prstGeom prst="roundRect">
            <a:avLst>
              <a:gd name="adj" fmla="val 4769"/>
            </a:avLst>
          </a:prstGeom>
          <a:solidFill>
            <a:schemeClr val="bg2"/>
          </a:solidFill>
          <a:ln w="12700">
            <a:solidFill>
              <a:schemeClr val="bg2"/>
            </a:solidFill>
            <a:prstDash val="solid"/>
          </a:ln>
        </p:spPr>
      </p:sp>
      <p:sp>
        <p:nvSpPr>
          <p:cNvPr id="24" name="text-730"/>
          <p:cNvSpPr txBox="1"/>
          <p:nvPr/>
        </p:nvSpPr>
        <p:spPr>
          <a:xfrm>
            <a:off x="5589270" y="8247888"/>
            <a:ext cx="1314450" cy="237744"/>
          </a:xfrm>
          <a:prstGeom prst="rect">
            <a:avLst/>
          </a:prstGeom>
          <a:noFill/>
          <a:ln/>
        </p:spPr>
        <p:txBody>
          <a:bodyPr wrap="square" lIns="0" tIns="0" rIns="0" bIns="0" rtlCol="0" anchor="t"/>
          <a:lstStyle/>
          <a:p>
            <a:pPr indent="0" marL="0">
              <a:buNone/>
            </a:pPr>
            <a:r>
              <a:rPr lang="en-US" sz="1150" b="1" dirty="0">
                <a:solidFill>
                  <a:schemeClr val="accent6"/>
                </a:solidFill>
              </a:rPr>
              <a:t>Energy</a:t>
            </a:r>
            <a:endParaRPr lang="en-US" sz="1150" dirty="0"/>
          </a:p>
        </p:txBody>
      </p:sp>
      <p:sp>
        <p:nvSpPr>
          <p:cNvPr id="25" name="text-731"/>
          <p:cNvSpPr txBox="1"/>
          <p:nvPr/>
        </p:nvSpPr>
        <p:spPr>
          <a:xfrm>
            <a:off x="5589270" y="8549640"/>
            <a:ext cx="1314450" cy="1325880"/>
          </a:xfrm>
          <a:prstGeom prst="rect">
            <a:avLst/>
          </a:prstGeom>
          <a:noFill/>
          <a:ln/>
        </p:spPr>
        <p:txBody>
          <a:bodyPr wrap="square" lIns="0" tIns="0" rIns="0" bIns="0" rtlCol="0" anchor="t"/>
          <a:lstStyle/>
          <a:p>
            <a:pPr indent="0" marL="0">
              <a:lnSpc>
                <a:spcPct val="108000"/>
              </a:lnSpc>
              <a:buNone/>
            </a:pPr>
            <a:r>
              <a:rPr lang="en-US" sz="1100" dirty="0">
                <a:solidFill>
                  <a:schemeClr val="tx1"/>
                </a:solidFill>
              </a:rPr>
              <a:t>All-electric; braking trains feed power back.</a:t>
            </a:r>
            <a:endParaRPr lang="en-US" sz="1100" dirty="0"/>
          </a:p>
        </p:txBody>
      </p:sp>
      <p:sp>
        <p:nvSpPr>
          <p:cNvPr id="2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28</a:t>
            </a:r>
            <a:endParaRPr lang="en-US" sz="900" dirty="0"/>
          </a:p>
        </p:txBody>
      </p:sp>
      <p:sp>
        <p:nvSpPr>
          <p:cNvPr id="27"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732" descr="greenhouse">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733" descr="shade">    </p:cNvPr>
          <p:cNvPicPr>
            <a:picLocks noChangeAspect="1"/>
          </p:cNvPicPr>
          <p:nvPr/>
        </p:nvPicPr>
        <p:blipFill>
          <a:blip r:embed="rId2"/>
          <a:stretch>
            <a:fillRect/>
          </a:stretch>
        </p:blipFill>
        <p:spPr>
          <a:xfrm>
            <a:off x="0" y="0"/>
            <a:ext cx="7562088" cy="4206240"/>
          </a:xfrm>
          <a:prstGeom prst="rect">
            <a:avLst/>
          </a:prstGeom>
        </p:spPr>
      </p:pic>
      <p:pic>
        <p:nvPicPr>
          <p:cNvPr id="4" name="shade-topStrong-734" descr="shade">    </p:cNvPr>
          <p:cNvPicPr>
            <a:picLocks noChangeAspect="1"/>
          </p:cNvPicPr>
          <p:nvPr/>
        </p:nvPicPr>
        <p:blipFill>
          <a:blip r:embed="rId3"/>
          <a:stretch>
            <a:fillRect/>
          </a:stretch>
        </p:blipFill>
        <p:spPr>
          <a:xfrm>
            <a:off x="0" y="0"/>
            <a:ext cx="7562088" cy="4206240"/>
          </a:xfrm>
          <a:prstGeom prst="rect">
            <a:avLst/>
          </a:prstGeom>
        </p:spPr>
      </p:pic>
      <p:pic>
        <p:nvPicPr>
          <p:cNvPr id="5" name="shade-fade-735" descr="shade">    </p:cNvPr>
          <p:cNvPicPr>
            <a:picLocks noChangeAspect="1"/>
          </p:cNvPicPr>
          <p:nvPr/>
        </p:nvPicPr>
        <p:blipFill>
          <a:blip r:embed="rId4"/>
          <a:stretch>
            <a:fillRect/>
          </a:stretch>
        </p:blipFill>
        <p:spPr>
          <a:xfrm>
            <a:off x="0" y="5120640"/>
            <a:ext cx="7562088" cy="5568696"/>
          </a:xfrm>
          <a:prstGeom prst="rect">
            <a:avLst/>
          </a:prstGeom>
        </p:spPr>
      </p:pic>
      <p:pic>
        <p:nvPicPr>
          <p:cNvPr id="6" name="shade-fade-736" descr="shade">    </p:cNvPr>
          <p:cNvPicPr>
            <a:picLocks noChangeAspect="1"/>
          </p:cNvPicPr>
          <p:nvPr/>
        </p:nvPicPr>
        <p:blipFill>
          <a:blip r:embed="rId5"/>
          <a:stretch>
            <a:fillRect/>
          </a:stretch>
        </p:blipFill>
        <p:spPr>
          <a:xfrm>
            <a:off x="0" y="5120640"/>
            <a:ext cx="7562088" cy="5568696"/>
          </a:xfrm>
          <a:prstGeom prst="rect">
            <a:avLst/>
          </a:prstGeom>
        </p:spPr>
      </p:pic>
      <p:sp>
        <p:nvSpPr>
          <p:cNvPr id="7" name="kicker-dot-737"/>
          <p:cNvSpPr/>
          <p:nvPr/>
        </p:nvSpPr>
        <p:spPr>
          <a:xfrm>
            <a:off x="548640" y="589788"/>
            <a:ext cx="100584" cy="100584"/>
          </a:xfrm>
          <a:prstGeom prst="ellipse">
            <a:avLst/>
          </a:prstGeom>
          <a:solidFill>
            <a:schemeClr val="accent1"/>
          </a:solidFill>
          <a:ln w="12700">
            <a:solidFill>
              <a:schemeClr val="accent1"/>
            </a:solidFill>
            <a:prstDash val="solid"/>
          </a:ln>
        </p:spPr>
      </p:sp>
      <p:sp>
        <p:nvSpPr>
          <p:cNvPr id="8" name="text-738"/>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9" name="title-739"/>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10" name="text-741"/>
          <p:cNvSpPr txBox="1"/>
          <p:nvPr/>
        </p:nvSpPr>
        <p:spPr>
          <a:xfrm>
            <a:off x="548640" y="2286000"/>
            <a:ext cx="5669280" cy="6858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Fresh salad, tomatoes and berries all year, even in the polar night.</a:t>
            </a:r>
            <a:endParaRPr lang="en-US" sz="1500" dirty="0"/>
          </a:p>
        </p:txBody>
      </p:sp>
      <p:sp>
        <p:nvSpPr>
          <p:cNvPr id="11" name="text-742"/>
          <p:cNvSpPr txBox="1"/>
          <p:nvPr/>
        </p:nvSpPr>
        <p:spPr>
          <a:xfrm>
            <a:off x="548640" y="8366760"/>
            <a:ext cx="4114800" cy="146304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bg1"/>
                </a:solidFill>
              </a:rPr>
              <a:t>The clear roof catches the midnight sun in summer. In the polar night, LEDs take over and thermal curtains keep the heat in, with warmth from the heating loop and Mount Aurora’s spa water.</a:t>
            </a:r>
            <a:endParaRPr lang="en-US" sz="1100" dirty="0"/>
          </a:p>
        </p:txBody>
      </p:sp>
      <p:sp>
        <p:nvSpPr>
          <p:cNvPr id="12" name="text-743"/>
          <p:cNvSpPr txBox="1"/>
          <p:nvPr/>
        </p:nvSpPr>
        <p:spPr>
          <a:xfrm>
            <a:off x="5074920" y="8321040"/>
            <a:ext cx="1938528" cy="428752"/>
          </a:xfrm>
          <a:prstGeom prst="rect">
            <a:avLst/>
          </a:prstGeom>
          <a:noFill/>
          <a:ln/>
        </p:spPr>
        <p:txBody>
          <a:bodyPr wrap="square" lIns="0" tIns="0" rIns="0" bIns="0" rtlCol="0" anchor="b"/>
          <a:lstStyle/>
          <a:p>
            <a:pPr indent="0" marL="0">
              <a:buNone/>
            </a:pPr>
            <a:r>
              <a:rPr lang="en-US" sz="2800" b="1" dirty="0">
                <a:solidFill>
                  <a:schemeClr val="accent1"/>
                </a:solidFill>
                <a:latin typeface="+mj-lt" pitchFamily="34" charset="0"/>
                <a:ea typeface="+mj-lt" pitchFamily="34" charset="-122"/>
                <a:cs typeface="+mj-lt" pitchFamily="34" charset="-120"/>
              </a:rPr>
              <a:t>≈ 90%</a:t>
            </a:r>
            <a:endParaRPr lang="en-US" sz="2800" dirty="0"/>
          </a:p>
        </p:txBody>
      </p:sp>
      <p:sp>
        <p:nvSpPr>
          <p:cNvPr id="13" name="text-744"/>
          <p:cNvSpPr txBox="1"/>
          <p:nvPr/>
        </p:nvSpPr>
        <p:spPr>
          <a:xfrm>
            <a:off x="5074920" y="8777224"/>
            <a:ext cx="1938528" cy="45720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less water than field farming [17]</a:t>
            </a:r>
            <a:endParaRPr lang="en-US" sz="1000" dirty="0"/>
          </a:p>
        </p:txBody>
      </p:sp>
      <p:sp>
        <p:nvSpPr>
          <p:cNvPr id="14" name="text-745"/>
          <p:cNvSpPr txBox="1"/>
          <p:nvPr/>
        </p:nvSpPr>
        <p:spPr>
          <a:xfrm>
            <a:off x="548640" y="7909560"/>
            <a:ext cx="6464808" cy="27432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29</a:t>
            </a:r>
            <a:endParaRPr lang="en-US" sz="900" dirty="0"/>
          </a:p>
        </p:txBody>
      </p:sp>
      <p:sp>
        <p:nvSpPr>
          <p:cNvPr id="1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SYSTEMS &amp; LIFE</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46"/>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4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4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50" descr="rescue">    </p:cNvPr>
          <p:cNvPicPr>
            <a:picLocks noChangeAspect="1"/>
          </p:cNvPicPr>
          <p:nvPr/>
        </p:nvPicPr>
        <p:blipFill>
          <a:blip r:embed="rId1"/>
          <a:srcRect l="8522" r="8522" t="0" b="0"/>
          <a:stretch/>
        </p:blipFill>
        <p:spPr>
          <a:xfrm>
            <a:off x="0" y="1508760"/>
            <a:ext cx="7562088" cy="4937760"/>
          </a:xfrm>
          <a:prstGeom prst="rect">
            <a:avLst/>
          </a:prstGeom>
        </p:spPr>
      </p:pic>
      <p:sp>
        <p:nvSpPr>
          <p:cNvPr id="6" name="text-751"/>
          <p:cNvSpPr txBox="1"/>
          <p:nvPr/>
        </p:nvSpPr>
        <p:spPr>
          <a:xfrm>
            <a:off x="548640" y="64922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north of downtown.</a:t>
            </a:r>
            <a:endParaRPr lang="en-US" sz="850" dirty="0"/>
          </a:p>
        </p:txBody>
      </p:sp>
      <p:sp>
        <p:nvSpPr>
          <p:cNvPr id="7" name="text-752"/>
          <p:cNvSpPr txBox="1"/>
          <p:nvPr/>
        </p:nvSpPr>
        <p:spPr>
          <a:xfrm>
            <a:off x="548640" y="6903720"/>
            <a:ext cx="3095244" cy="173736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The rescue station houses the fire brigade, ambulances, ice rescue and the 112 emergency centre, with a helicopter ready day and night.</a:t>
            </a:r>
            <a:endParaRPr lang="en-US" sz="1100" dirty="0"/>
          </a:p>
        </p:txBody>
      </p:sp>
      <p:sp>
        <p:nvSpPr>
          <p:cNvPr id="8" name="text-753"/>
          <p:cNvSpPr txBox="1"/>
          <p:nvPr/>
        </p:nvSpPr>
        <p:spPr>
          <a:xfrm>
            <a:off x="3918204" y="6903720"/>
            <a:ext cx="3095244" cy="173736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Under Liberty Mall, four shelters hold supplies for every resident. Aurora Core, the city’s AI control tower, sends blizzard warnings to every phone.</a:t>
            </a:r>
            <a:endParaRPr lang="en-US" sz="1100" dirty="0"/>
          </a:p>
        </p:txBody>
      </p:sp>
      <p:sp>
        <p:nvSpPr>
          <p:cNvPr id="9" name="text-754"/>
          <p:cNvSpPr txBox="1"/>
          <p:nvPr/>
        </p:nvSpPr>
        <p:spPr>
          <a:xfrm>
            <a:off x="548640" y="8823960"/>
            <a:ext cx="3095244" cy="454152"/>
          </a:xfrm>
          <a:prstGeom prst="rect">
            <a:avLst/>
          </a:prstGeom>
          <a:noFill/>
          <a:ln/>
        </p:spPr>
        <p:txBody>
          <a:bodyPr wrap="square" lIns="0" tIns="0" rIns="0" bIns="0" rtlCol="0" anchor="b"/>
          <a:lstStyle/>
          <a:p>
            <a:pPr indent="0" marL="0">
              <a:buNone/>
            </a:pPr>
            <a:r>
              <a:rPr lang="en-US" sz="3000" b="1" dirty="0">
                <a:solidFill>
                  <a:schemeClr val="accent2"/>
                </a:solidFill>
                <a:latin typeface="+mj-lt" pitchFamily="34" charset="0"/>
                <a:ea typeface="+mj-lt" pitchFamily="34" charset="-122"/>
                <a:cs typeface="+mj-lt" pitchFamily="34" charset="-120"/>
              </a:rPr>
              <a:t>30 days</a:t>
            </a:r>
            <a:endParaRPr lang="en-US" sz="3000" dirty="0"/>
          </a:p>
        </p:txBody>
      </p:sp>
      <p:sp>
        <p:nvSpPr>
          <p:cNvPr id="10" name="text-755"/>
          <p:cNvSpPr txBox="1"/>
          <p:nvPr/>
        </p:nvSpPr>
        <p:spPr>
          <a:xfrm>
            <a:off x="548640" y="9305544"/>
            <a:ext cx="3095244" cy="411480"/>
          </a:xfrm>
          <a:prstGeom prst="rect">
            <a:avLst/>
          </a:prstGeom>
          <a:noFill/>
          <a:ln/>
        </p:spPr>
        <p:txBody>
          <a:bodyPr wrap="square" lIns="0" tIns="0" rIns="0" bIns="0" rtlCol="0" anchor="t"/>
          <a:lstStyle/>
          <a:p>
            <a:pPr indent="0" marL="0">
              <a:lnSpc>
                <a:spcPct val="105000"/>
              </a:lnSpc>
              <a:buNone/>
            </a:pPr>
            <a:r>
              <a:rPr lang="en-US" sz="1050" dirty="0">
                <a:solidFill>
                  <a:schemeClr val="tx2"/>
                </a:solidFill>
              </a:rPr>
              <a:t>of supplies for every resident</a:t>
            </a:r>
            <a:endParaRPr lang="en-US" sz="1050" dirty="0"/>
          </a:p>
        </p:txBody>
      </p:sp>
      <p:sp>
        <p:nvSpPr>
          <p:cNvPr id="11" name="text-756"/>
          <p:cNvSpPr txBox="1"/>
          <p:nvPr/>
        </p:nvSpPr>
        <p:spPr>
          <a:xfrm>
            <a:off x="3918204" y="8823960"/>
            <a:ext cx="3095244" cy="454152"/>
          </a:xfrm>
          <a:prstGeom prst="rect">
            <a:avLst/>
          </a:prstGeom>
          <a:noFill/>
          <a:ln/>
        </p:spPr>
        <p:txBody>
          <a:bodyPr wrap="square" lIns="0" tIns="0" rIns="0" bIns="0" rtlCol="0" anchor="b"/>
          <a:lstStyle/>
          <a:p>
            <a:pPr indent="0" marL="0">
              <a:buNone/>
            </a:pPr>
            <a:r>
              <a:rPr lang="en-US" sz="3000" b="1" dirty="0">
                <a:solidFill>
                  <a:schemeClr val="accent2"/>
                </a:solidFill>
                <a:latin typeface="+mj-lt" pitchFamily="34" charset="0"/>
                <a:ea typeface="+mj-lt" pitchFamily="34" charset="-122"/>
                <a:cs typeface="+mj-lt" pitchFamily="34" charset="-120"/>
              </a:rPr>
              <a:t>48 h</a:t>
            </a:r>
            <a:endParaRPr lang="en-US" sz="3000" dirty="0"/>
          </a:p>
        </p:txBody>
      </p:sp>
      <p:sp>
        <p:nvSpPr>
          <p:cNvPr id="12" name="text-757"/>
          <p:cNvSpPr txBox="1"/>
          <p:nvPr/>
        </p:nvSpPr>
        <p:spPr>
          <a:xfrm>
            <a:off x="3918204" y="9305544"/>
            <a:ext cx="3095244" cy="411480"/>
          </a:xfrm>
          <a:prstGeom prst="rect">
            <a:avLst/>
          </a:prstGeom>
          <a:noFill/>
          <a:ln/>
        </p:spPr>
        <p:txBody>
          <a:bodyPr wrap="square" lIns="0" tIns="0" rIns="0" bIns="0" rtlCol="0" anchor="t"/>
          <a:lstStyle/>
          <a:p>
            <a:pPr indent="0" marL="0">
              <a:lnSpc>
                <a:spcPct val="105000"/>
              </a:lnSpc>
              <a:buNone/>
            </a:pPr>
            <a:r>
              <a:rPr lang="en-US" sz="1050" dirty="0">
                <a:solidFill>
                  <a:schemeClr val="tx2"/>
                </a:solidFill>
              </a:rPr>
              <a:t>warning before a blizzard</a:t>
            </a:r>
            <a:endParaRPr lang="en-US" sz="1050" dirty="0"/>
          </a:p>
        </p:txBody>
      </p:sp>
      <p:sp>
        <p:nvSpPr>
          <p:cNvPr id="13"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30</a:t>
            </a:r>
            <a:endParaRPr lang="en-US" sz="900" dirty="0"/>
          </a:p>
        </p:txBody>
      </p:sp>
      <p:sp>
        <p:nvSpPr>
          <p:cNvPr id="14"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58"/>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5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a:t>
            </a:r>
            <a:endParaRPr lang="en-US" sz="900" dirty="0"/>
          </a:p>
        </p:txBody>
      </p:sp>
      <p:sp>
        <p:nvSpPr>
          <p:cNvPr id="4" name="title-76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62"/>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No city is perfect: here is our honest balance sheet.</a:t>
            </a:r>
            <a:endParaRPr lang="en-US" sz="1300" dirty="0"/>
          </a:p>
        </p:txBody>
      </p:sp>
      <p:sp>
        <p:nvSpPr>
          <p:cNvPr id="6" name="list-head-763"/>
          <p:cNvSpPr/>
          <p:nvPr/>
        </p:nvSpPr>
        <p:spPr>
          <a:xfrm>
            <a:off x="548640" y="2011680"/>
            <a:ext cx="3095244" cy="310896"/>
          </a:xfrm>
          <a:prstGeom prst="rect">
            <a:avLst/>
          </a:prstGeom>
          <a:solidFill>
            <a:schemeClr val="accent1"/>
          </a:solidFill>
          <a:ln w="12700">
            <a:solidFill>
              <a:schemeClr val="accent1"/>
            </a:solidFill>
            <a:prstDash val="solid"/>
          </a:ln>
        </p:spPr>
      </p:sp>
      <p:sp>
        <p:nvSpPr>
          <p:cNvPr id="7" name="text-764"/>
          <p:cNvSpPr txBox="1"/>
          <p:nvPr/>
        </p:nvSpPr>
        <p:spPr>
          <a:xfrm>
            <a:off x="658368" y="201168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65"/>
          <p:cNvSpPr txBox="1"/>
          <p:nvPr/>
        </p:nvSpPr>
        <p:spPr>
          <a:xfrm>
            <a:off x="594360" y="2432304"/>
            <a:ext cx="3003804" cy="2103120"/>
          </a:xfrm>
          <a:prstGeom prst="rect">
            <a:avLst/>
          </a:prstGeom>
          <a:noFill/>
          <a:ln/>
        </p:spPr>
        <p:txBody>
          <a:bodyPr wrap="square" lIns="0" tIns="0" rIns="0" bIns="0" rtlCol="0" anchor="t"/>
          <a:lstStyle/>
          <a:p>
            <a:pPr indent="0" marL="0">
              <a:lnSpc>
                <a:spcPct val="105000"/>
              </a:lnSpc>
              <a:spcAft>
                <a:spcPts val="700"/>
              </a:spcAft>
              <a:buNone/>
            </a:pPr>
            <a:r>
              <a:rPr lang="en-US" sz="1150" b="1" dirty="0">
                <a:solidFill>
                  <a:schemeClr val="tx1"/>
                </a:solidFill>
              </a:rPr>
              <a:t>Zero carbon. </a:t>
            </a:r>
            <a:pPr indent="0" marL="0">
              <a:lnSpc>
                <a:spcPct val="105000"/>
              </a:lnSpc>
              <a:buNone/>
            </a:pPr>
            <a:r>
              <a:rPr lang="en-US" sz="1150" dirty="0">
                <a:solidFill>
                  <a:schemeClr val="tx1"/>
                </a:solidFill>
              </a:rPr>
              <a:t>No fossil fuel burns anywhere.</a:t>
            </a:r>
            <a:endParaRPr lang="en-US" sz="1150" dirty="0"/>
          </a:p>
          <a:p>
            <a:pPr indent="0" marL="0">
              <a:lnSpc>
                <a:spcPct val="105000"/>
              </a:lnSpc>
              <a:spcAft>
                <a:spcPts val="700"/>
              </a:spcAft>
              <a:buNone/>
            </a:pPr>
            <a:r>
              <a:rPr lang="en-US" sz="1150" b="1" dirty="0">
                <a:solidFill>
                  <a:schemeClr val="tx1"/>
                </a:solidFill>
              </a:rPr>
              <a:t>Closed loops. </a:t>
            </a:r>
            <a:pPr indent="0" marL="0">
              <a:lnSpc>
                <a:spcPct val="105000"/>
              </a:lnSpc>
              <a:buNone/>
            </a:pPr>
            <a:r>
              <a:rPr lang="en-US" sz="1150" dirty="0">
                <a:solidFill>
                  <a:schemeClr val="tx1"/>
                </a:solidFill>
              </a:rPr>
              <a:t>Water and waste go round, not to landfill.</a:t>
            </a:r>
            <a:endParaRPr lang="en-US" sz="1150" dirty="0"/>
          </a:p>
          <a:p>
            <a:pPr indent="0" marL="0">
              <a:lnSpc>
                <a:spcPct val="105000"/>
              </a:lnSpc>
              <a:spcAft>
                <a:spcPts val="700"/>
              </a:spcAft>
              <a:buNone/>
            </a:pPr>
            <a:r>
              <a:rPr lang="en-US" sz="1150" b="1" dirty="0">
                <a:solidFill>
                  <a:schemeClr val="tx1"/>
                </a:solidFill>
              </a:rPr>
              <a:t>Food security. </a:t>
            </a:r>
            <a:pPr indent="0" marL="0">
              <a:lnSpc>
                <a:spcPct val="105000"/>
              </a:lnSpc>
              <a:buNone/>
            </a:pPr>
            <a:r>
              <a:rPr lang="en-US" sz="1150" dirty="0">
                <a:solidFill>
                  <a:schemeClr val="tx1"/>
                </a:solidFill>
              </a:rPr>
              <a:t>Tap water and much of the food are made here.</a:t>
            </a:r>
            <a:endParaRPr lang="en-US" sz="1150" dirty="0"/>
          </a:p>
          <a:p>
            <a:pPr indent="0" marL="0">
              <a:lnSpc>
                <a:spcPct val="105000"/>
              </a:lnSpc>
              <a:spcAft>
                <a:spcPts val="700"/>
              </a:spcAft>
              <a:buNone/>
            </a:pPr>
            <a:r>
              <a:rPr lang="en-US" sz="1150" b="1" dirty="0">
                <a:solidFill>
                  <a:schemeClr val="tx1"/>
                </a:solidFill>
              </a:rPr>
              <a:t>Safety. </a:t>
            </a:r>
            <a:pPr indent="0" marL="0">
              <a:lnSpc>
                <a:spcPct val="105000"/>
              </a:lnSpc>
              <a:buNone/>
            </a:pPr>
            <a:r>
              <a:rPr lang="en-US" sz="1150" dirty="0">
                <a:solidFill>
                  <a:schemeClr val="tx1"/>
                </a:solidFill>
              </a:rPr>
              <a:t>Shelters, blizzard warnings and a storm-proof metro.</a:t>
            </a:r>
            <a:endParaRPr lang="en-US" sz="1150" dirty="0"/>
          </a:p>
          <a:p>
            <a:pPr indent="0" marL="0">
              <a:lnSpc>
                <a:spcPct val="105000"/>
              </a:lnSpc>
              <a:spcAft>
                <a:spcPts val="700"/>
              </a:spcAft>
              <a:buNone/>
            </a:pPr>
            <a:r>
              <a:rPr lang="en-US" sz="1150" b="1" dirty="0">
                <a:solidFill>
                  <a:schemeClr val="tx1"/>
                </a:solidFill>
              </a:rPr>
              <a:t>Wellbeing. </a:t>
            </a:r>
            <a:pPr indent="0" marL="0">
              <a:lnSpc>
                <a:spcPct val="105000"/>
              </a:lnSpc>
              <a:buNone/>
            </a:pPr>
            <a:r>
              <a:rPr lang="en-US" sz="1150" dirty="0">
                <a:solidFill>
                  <a:schemeClr val="tx1"/>
                </a:solidFill>
              </a:rPr>
              <a:t>Everything a short walk away, plus a spa.</a:t>
            </a:r>
            <a:endParaRPr lang="en-US" sz="1150" dirty="0"/>
          </a:p>
        </p:txBody>
      </p:sp>
      <p:sp>
        <p:nvSpPr>
          <p:cNvPr id="9" name="list-head-766"/>
          <p:cNvSpPr/>
          <p:nvPr/>
        </p:nvSpPr>
        <p:spPr>
          <a:xfrm>
            <a:off x="3918204" y="2011680"/>
            <a:ext cx="3095244" cy="310896"/>
          </a:xfrm>
          <a:prstGeom prst="rect">
            <a:avLst/>
          </a:prstGeom>
          <a:solidFill>
            <a:schemeClr val="accent2"/>
          </a:solidFill>
          <a:ln w="12700">
            <a:solidFill>
              <a:schemeClr val="accent2"/>
            </a:solidFill>
            <a:prstDash val="solid"/>
          </a:ln>
        </p:spPr>
      </p:sp>
      <p:sp>
        <p:nvSpPr>
          <p:cNvPr id="10" name="text-767"/>
          <p:cNvSpPr txBox="1"/>
          <p:nvPr/>
        </p:nvSpPr>
        <p:spPr>
          <a:xfrm>
            <a:off x="4027932" y="201168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68"/>
          <p:cNvSpPr txBox="1"/>
          <p:nvPr/>
        </p:nvSpPr>
        <p:spPr>
          <a:xfrm>
            <a:off x="3963924" y="2432304"/>
            <a:ext cx="3003804" cy="2103120"/>
          </a:xfrm>
          <a:prstGeom prst="rect">
            <a:avLst/>
          </a:prstGeom>
          <a:noFill/>
          <a:ln/>
        </p:spPr>
        <p:txBody>
          <a:bodyPr wrap="square" lIns="0" tIns="0" rIns="0" bIns="0" rtlCol="0" anchor="t"/>
          <a:lstStyle/>
          <a:p>
            <a:pPr indent="0" marL="0">
              <a:lnSpc>
                <a:spcPct val="105000"/>
              </a:lnSpc>
              <a:spcAft>
                <a:spcPts val="700"/>
              </a:spcAft>
              <a:buNone/>
            </a:pPr>
            <a:r>
              <a:rPr lang="en-US" sz="1150" b="1" dirty="0">
                <a:solidFill>
                  <a:schemeClr val="tx1"/>
                </a:solidFill>
              </a:rPr>
              <a:t>Fusion is not ready. </a:t>
            </a:r>
            <a:pPr indent="0" marL="0">
              <a:lnSpc>
                <a:spcPct val="105000"/>
              </a:lnSpc>
              <a:buNone/>
            </a:pPr>
            <a:r>
              <a:rPr lang="en-US" sz="1150" dirty="0">
                <a:solidFill>
                  <a:schemeClr val="tx1"/>
                </a:solidFill>
              </a:rPr>
              <a:t>ITER plans to burn fusion fuel only from 2039 [7].</a:t>
            </a:r>
            <a:endParaRPr lang="en-US" sz="1150" dirty="0"/>
          </a:p>
          <a:p>
            <a:pPr indent="0" marL="0">
              <a:lnSpc>
                <a:spcPct val="105000"/>
              </a:lnSpc>
              <a:spcAft>
                <a:spcPts val="700"/>
              </a:spcAft>
              <a:buNone/>
            </a:pPr>
            <a:r>
              <a:rPr lang="en-US" sz="1150" b="1" dirty="0">
                <a:solidFill>
                  <a:schemeClr val="tx1"/>
                </a:solidFill>
              </a:rPr>
              <a:t>One heating loop. </a:t>
            </a:r>
            <a:pPr indent="0" marL="0">
              <a:lnSpc>
                <a:spcPct val="105000"/>
              </a:lnSpc>
              <a:buNone/>
            </a:pPr>
            <a:r>
              <a:rPr lang="en-US" sz="1150" dirty="0">
                <a:solidFill>
                  <a:schemeClr val="tx1"/>
                </a:solidFill>
              </a:rPr>
              <a:t>If it fails, backup heat goes to the hospital and shelters first.</a:t>
            </a:r>
            <a:endParaRPr lang="en-US" sz="1150" dirty="0"/>
          </a:p>
          <a:p>
            <a:pPr indent="0" marL="0">
              <a:lnSpc>
                <a:spcPct val="105000"/>
              </a:lnSpc>
              <a:spcAft>
                <a:spcPts val="700"/>
              </a:spcAft>
              <a:buNone/>
            </a:pPr>
            <a:r>
              <a:rPr lang="en-US" sz="1150" b="1" dirty="0">
                <a:solidFill>
                  <a:schemeClr val="tx1"/>
                </a:solidFill>
              </a:rPr>
              <a:t>Thawing ground. </a:t>
            </a:r>
            <a:pPr indent="0" marL="0">
              <a:lnSpc>
                <a:spcPct val="105000"/>
              </a:lnSpc>
              <a:buNone/>
            </a:pPr>
            <a:r>
              <a:rPr lang="en-US" sz="1150" dirty="0">
                <a:solidFill>
                  <a:schemeClr val="tx1"/>
                </a:solidFill>
              </a:rPr>
              <a:t>A heat leak could crack foundations [3].</a:t>
            </a:r>
            <a:endParaRPr lang="en-US" sz="1150" dirty="0"/>
          </a:p>
          <a:p>
            <a:pPr indent="0" marL="0">
              <a:lnSpc>
                <a:spcPct val="105000"/>
              </a:lnSpc>
              <a:spcAft>
                <a:spcPts val="700"/>
              </a:spcAft>
              <a:buNone/>
            </a:pPr>
            <a:r>
              <a:rPr lang="en-US" sz="1150" b="1" dirty="0">
                <a:solidFill>
                  <a:schemeClr val="tx1"/>
                </a:solidFill>
              </a:rPr>
              <a:t>Isolation. </a:t>
            </a:r>
            <a:pPr indent="0" marL="0">
              <a:lnSpc>
                <a:spcPct val="105000"/>
              </a:lnSpc>
              <a:buNone/>
            </a:pPr>
            <a:r>
              <a:rPr lang="en-US" sz="1150" dirty="0">
                <a:solidFill>
                  <a:schemeClr val="tx1"/>
                </a:solidFill>
              </a:rPr>
              <a:t>In deep winter, supplies come only by air.</a:t>
            </a:r>
            <a:endParaRPr lang="en-US" sz="1150" dirty="0"/>
          </a:p>
          <a:p>
            <a:pPr indent="0" marL="0">
              <a:lnSpc>
                <a:spcPct val="105000"/>
              </a:lnSpc>
              <a:spcAft>
                <a:spcPts val="700"/>
              </a:spcAft>
              <a:buNone/>
            </a:pPr>
            <a:r>
              <a:rPr lang="en-US" sz="1150" b="1" dirty="0">
                <a:solidFill>
                  <a:schemeClr val="tx1"/>
                </a:solidFill>
              </a:rPr>
              <a:t>High-tech risks. </a:t>
            </a:r>
            <a:pPr indent="0" marL="0">
              <a:lnSpc>
                <a:spcPct val="105000"/>
              </a:lnSpc>
              <a:buNone/>
            </a:pPr>
            <a:r>
              <a:rPr lang="en-US" sz="1150" dirty="0">
                <a:solidFill>
                  <a:schemeClr val="tx1"/>
                </a:solidFill>
              </a:rPr>
              <a:t>AI systems need cyber-security; new foods need trust.</a:t>
            </a:r>
            <a:endParaRPr lang="en-US" sz="1150" dirty="0"/>
          </a:p>
        </p:txBody>
      </p:sp>
      <p:sp>
        <p:nvSpPr>
          <p:cNvPr id="12" name="text-769"/>
          <p:cNvSpPr txBox="1"/>
          <p:nvPr/>
        </p:nvSpPr>
        <p:spPr>
          <a:xfrm>
            <a:off x="548640" y="466344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70"/>
          <p:cNvSpPr txBox="1"/>
          <p:nvPr/>
        </p:nvSpPr>
        <p:spPr>
          <a:xfrm>
            <a:off x="548640" y="4937760"/>
            <a:ext cx="6464808" cy="73152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Fusion is one of the most expensive machines ever built: ITER alone is estimated at €18–22 billion [18]. Indoor farms save water but use far more electricity [17].</a:t>
            </a:r>
            <a:endParaRPr lang="en-US" sz="1100" dirty="0"/>
          </a:p>
        </p:txBody>
      </p:sp>
      <p:sp>
        <p:nvSpPr>
          <p:cNvPr id="14" name="text-771"/>
          <p:cNvSpPr txBox="1"/>
          <p:nvPr/>
        </p:nvSpPr>
        <p:spPr>
          <a:xfrm>
            <a:off x="548640" y="59436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 WHAT WE GAVE UP</a:t>
            </a:r>
            <a:endParaRPr lang="en-US" sz="900" dirty="0"/>
          </a:p>
        </p:txBody>
      </p:sp>
      <p:sp>
        <p:nvSpPr>
          <p:cNvPr id="15" name="row-band-772"/>
          <p:cNvSpPr/>
          <p:nvPr/>
        </p:nvSpPr>
        <p:spPr>
          <a:xfrm>
            <a:off x="548640" y="6217920"/>
            <a:ext cx="6464808" cy="548640"/>
          </a:xfrm>
          <a:prstGeom prst="rect">
            <a:avLst/>
          </a:prstGeom>
          <a:solidFill>
            <a:schemeClr val="bg2"/>
          </a:solidFill>
          <a:ln w="12700">
            <a:solidFill>
              <a:schemeClr val="bg2"/>
            </a:solidFill>
            <a:prstDash val="solid"/>
          </a:ln>
        </p:spPr>
      </p:sp>
      <p:sp>
        <p:nvSpPr>
          <p:cNvPr id="16" name="text-773"/>
          <p:cNvSpPr txBox="1"/>
          <p:nvPr/>
        </p:nvSpPr>
        <p:spPr>
          <a:xfrm>
            <a:off x="640080" y="6217920"/>
            <a:ext cx="3017520" cy="548640"/>
          </a:xfrm>
          <a:prstGeom prst="rect">
            <a:avLst/>
          </a:prstGeom>
          <a:noFill/>
          <a:ln/>
        </p:spPr>
        <p:txBody>
          <a:bodyPr wrap="square" lIns="0" tIns="0" rIns="0" bIns="0" rtlCol="0" anchor="ctr"/>
          <a:lstStyle/>
          <a:p>
            <a:pPr indent="0" marL="0">
              <a:buNone/>
            </a:pPr>
            <a:r>
              <a:rPr lang="en-US" sz="1100" b="1" dirty="0">
                <a:solidFill>
                  <a:schemeClr val="tx1"/>
                </a:solidFill>
              </a:rPr>
              <a:t>Compact blocks that save heat</a:t>
            </a:r>
            <a:endParaRPr lang="en-US" sz="1100" dirty="0"/>
          </a:p>
        </p:txBody>
      </p:sp>
      <p:sp>
        <p:nvSpPr>
          <p:cNvPr id="17" name="text-774"/>
          <p:cNvSpPr txBox="1"/>
          <p:nvPr/>
        </p:nvSpPr>
        <p:spPr>
          <a:xfrm>
            <a:off x="3703320" y="6217920"/>
            <a:ext cx="274320" cy="54864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8" name="text-775"/>
          <p:cNvSpPr txBox="1"/>
          <p:nvPr/>
        </p:nvSpPr>
        <p:spPr>
          <a:xfrm>
            <a:off x="4023360" y="6217920"/>
            <a:ext cx="2898648" cy="548640"/>
          </a:xfrm>
          <a:prstGeom prst="rect">
            <a:avLst/>
          </a:prstGeom>
          <a:noFill/>
          <a:ln/>
        </p:spPr>
        <p:txBody>
          <a:bodyPr wrap="square" lIns="0" tIns="0" rIns="0" bIns="0" rtlCol="0" anchor="ctr"/>
          <a:lstStyle/>
          <a:p>
            <a:pPr indent="0" marL="0">
              <a:buNone/>
            </a:pPr>
            <a:r>
              <a:rPr lang="en-US" sz="1100" dirty="0">
                <a:solidFill>
                  <a:schemeClr val="tx2"/>
                </a:solidFill>
              </a:rPr>
              <a:t>smaller homes and less private space</a:t>
            </a:r>
            <a:endParaRPr lang="en-US" sz="1100" dirty="0"/>
          </a:p>
        </p:txBody>
      </p:sp>
      <p:sp>
        <p:nvSpPr>
          <p:cNvPr id="19" name="text-776"/>
          <p:cNvSpPr txBox="1"/>
          <p:nvPr/>
        </p:nvSpPr>
        <p:spPr>
          <a:xfrm>
            <a:off x="640080" y="6766560"/>
            <a:ext cx="3017520" cy="548640"/>
          </a:xfrm>
          <a:prstGeom prst="rect">
            <a:avLst/>
          </a:prstGeom>
          <a:noFill/>
          <a:ln/>
        </p:spPr>
        <p:txBody>
          <a:bodyPr wrap="square" lIns="0" tIns="0" rIns="0" bIns="0" rtlCol="0" anchor="ctr"/>
          <a:lstStyle/>
          <a:p>
            <a:pPr indent="0" marL="0">
              <a:buNone/>
            </a:pPr>
            <a:r>
              <a:rPr lang="en-US" sz="1100" b="1" dirty="0">
                <a:solidFill>
                  <a:schemeClr val="tx1"/>
                </a:solidFill>
              </a:rPr>
              <a:t>Metro, trams and shared robotaxis</a:t>
            </a:r>
            <a:endParaRPr lang="en-US" sz="1100" dirty="0"/>
          </a:p>
        </p:txBody>
      </p:sp>
      <p:sp>
        <p:nvSpPr>
          <p:cNvPr id="20" name="text-777"/>
          <p:cNvSpPr txBox="1"/>
          <p:nvPr/>
        </p:nvSpPr>
        <p:spPr>
          <a:xfrm>
            <a:off x="3703320" y="6766560"/>
            <a:ext cx="274320" cy="54864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1" name="text-778"/>
          <p:cNvSpPr txBox="1"/>
          <p:nvPr/>
        </p:nvSpPr>
        <p:spPr>
          <a:xfrm>
            <a:off x="4023360" y="6766560"/>
            <a:ext cx="2898648" cy="548640"/>
          </a:xfrm>
          <a:prstGeom prst="rect">
            <a:avLst/>
          </a:prstGeom>
          <a:noFill/>
          <a:ln/>
        </p:spPr>
        <p:txBody>
          <a:bodyPr wrap="square" lIns="0" tIns="0" rIns="0" bIns="0" rtlCol="0" anchor="ctr"/>
          <a:lstStyle/>
          <a:p>
            <a:pPr indent="0" marL="0">
              <a:buNone/>
            </a:pPr>
            <a:r>
              <a:rPr lang="en-US" sz="1100" dirty="0">
                <a:solidFill>
                  <a:schemeClr val="tx2"/>
                </a:solidFill>
              </a:rPr>
              <a:t>fewer private cars and less freedom to drive</a:t>
            </a:r>
            <a:endParaRPr lang="en-US" sz="1100" dirty="0"/>
          </a:p>
        </p:txBody>
      </p:sp>
      <p:sp>
        <p:nvSpPr>
          <p:cNvPr id="22" name="row-band-779"/>
          <p:cNvSpPr/>
          <p:nvPr/>
        </p:nvSpPr>
        <p:spPr>
          <a:xfrm>
            <a:off x="548640" y="7315200"/>
            <a:ext cx="6464808" cy="548640"/>
          </a:xfrm>
          <a:prstGeom prst="rect">
            <a:avLst/>
          </a:prstGeom>
          <a:solidFill>
            <a:schemeClr val="bg2"/>
          </a:solidFill>
          <a:ln w="12700">
            <a:solidFill>
              <a:schemeClr val="bg2"/>
            </a:solidFill>
            <a:prstDash val="solid"/>
          </a:ln>
        </p:spPr>
      </p:sp>
      <p:sp>
        <p:nvSpPr>
          <p:cNvPr id="23" name="text-780"/>
          <p:cNvSpPr txBox="1"/>
          <p:nvPr/>
        </p:nvSpPr>
        <p:spPr>
          <a:xfrm>
            <a:off x="640080" y="7315200"/>
            <a:ext cx="3017520" cy="548640"/>
          </a:xfrm>
          <a:prstGeom prst="rect">
            <a:avLst/>
          </a:prstGeom>
          <a:noFill/>
          <a:ln/>
        </p:spPr>
        <p:txBody>
          <a:bodyPr wrap="square" lIns="0" tIns="0" rIns="0" bIns="0" rtlCol="0" anchor="ctr"/>
          <a:lstStyle/>
          <a:p>
            <a:pPr indent="0" marL="0">
              <a:buNone/>
            </a:pPr>
            <a:r>
              <a:rPr lang="en-US" sz="1100" b="1" dirty="0">
                <a:solidFill>
                  <a:schemeClr val="tx1"/>
                </a:solidFill>
              </a:rPr>
              <a:t>Lights that switch on only when needed</a:t>
            </a:r>
            <a:endParaRPr lang="en-US" sz="1100" dirty="0"/>
          </a:p>
        </p:txBody>
      </p:sp>
      <p:sp>
        <p:nvSpPr>
          <p:cNvPr id="24" name="text-781"/>
          <p:cNvSpPr txBox="1"/>
          <p:nvPr/>
        </p:nvSpPr>
        <p:spPr>
          <a:xfrm>
            <a:off x="3703320" y="7315200"/>
            <a:ext cx="274320" cy="54864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5" name="text-782"/>
          <p:cNvSpPr txBox="1"/>
          <p:nvPr/>
        </p:nvSpPr>
        <p:spPr>
          <a:xfrm>
            <a:off x="4023360" y="7315200"/>
            <a:ext cx="2898648" cy="548640"/>
          </a:xfrm>
          <a:prstGeom prst="rect">
            <a:avLst/>
          </a:prstGeom>
          <a:noFill/>
          <a:ln/>
        </p:spPr>
        <p:txBody>
          <a:bodyPr wrap="square" lIns="0" tIns="0" rIns="0" bIns="0" rtlCol="0" anchor="ctr"/>
          <a:lstStyle/>
          <a:p>
            <a:pPr indent="0" marL="0">
              <a:buNone/>
            </a:pPr>
            <a:r>
              <a:rPr lang="en-US" sz="1100" dirty="0">
                <a:solidFill>
                  <a:schemeClr val="tx2"/>
                </a:solidFill>
              </a:rPr>
              <a:t>darker streets, for the aurora and the wildlife</a:t>
            </a:r>
            <a:endParaRPr lang="en-US" sz="1100" dirty="0"/>
          </a:p>
        </p:txBody>
      </p:sp>
      <p:sp>
        <p:nvSpPr>
          <p:cNvPr id="26" name="text-783"/>
          <p:cNvSpPr txBox="1"/>
          <p:nvPr/>
        </p:nvSpPr>
        <p:spPr>
          <a:xfrm>
            <a:off x="640080" y="7863840"/>
            <a:ext cx="3017520" cy="548640"/>
          </a:xfrm>
          <a:prstGeom prst="rect">
            <a:avLst/>
          </a:prstGeom>
          <a:noFill/>
          <a:ln/>
        </p:spPr>
        <p:txBody>
          <a:bodyPr wrap="square" lIns="0" tIns="0" rIns="0" bIns="0" rtlCol="0" anchor="ctr"/>
          <a:lstStyle/>
          <a:p>
            <a:pPr indent="0" marL="0">
              <a:buNone/>
            </a:pPr>
            <a:r>
              <a:rPr lang="en-US" sz="1100" b="1" dirty="0">
                <a:solidFill>
                  <a:schemeClr val="tx1"/>
                </a:solidFill>
              </a:rPr>
              <a:t>Factory-made food</a:t>
            </a:r>
            <a:endParaRPr lang="en-US" sz="1100" dirty="0"/>
          </a:p>
        </p:txBody>
      </p:sp>
      <p:sp>
        <p:nvSpPr>
          <p:cNvPr id="27" name="text-784"/>
          <p:cNvSpPr txBox="1"/>
          <p:nvPr/>
        </p:nvSpPr>
        <p:spPr>
          <a:xfrm>
            <a:off x="3703320" y="7863840"/>
            <a:ext cx="274320" cy="54864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8" name="text-785"/>
          <p:cNvSpPr txBox="1"/>
          <p:nvPr/>
        </p:nvSpPr>
        <p:spPr>
          <a:xfrm>
            <a:off x="4023360" y="7863840"/>
            <a:ext cx="2898648" cy="548640"/>
          </a:xfrm>
          <a:prstGeom prst="rect">
            <a:avLst/>
          </a:prstGeom>
          <a:noFill/>
          <a:ln/>
        </p:spPr>
        <p:txBody>
          <a:bodyPr wrap="square" lIns="0" tIns="0" rIns="0" bIns="0" rtlCol="0" anchor="ctr"/>
          <a:lstStyle/>
          <a:p>
            <a:pPr indent="0" marL="0">
              <a:buNone/>
            </a:pPr>
            <a:r>
              <a:rPr lang="en-US" sz="1100" dirty="0">
                <a:solidFill>
                  <a:schemeClr val="tx2"/>
                </a:solidFill>
              </a:rPr>
              <a:t>no farmland needed, but more electricity and new tastes</a:t>
            </a:r>
            <a:endParaRPr lang="en-US" sz="1100" dirty="0"/>
          </a:p>
        </p:txBody>
      </p:sp>
      <p:sp>
        <p:nvSpPr>
          <p:cNvPr id="29" name="card-786"/>
          <p:cNvSpPr/>
          <p:nvPr/>
        </p:nvSpPr>
        <p:spPr>
          <a:xfrm>
            <a:off x="548640" y="8915400"/>
            <a:ext cx="6464808" cy="914400"/>
          </a:xfrm>
          <a:prstGeom prst="roundRect">
            <a:avLst>
              <a:gd name="adj" fmla="val 8000"/>
            </a:avLst>
          </a:prstGeom>
          <a:solidFill>
            <a:schemeClr val="tx1"/>
          </a:solidFill>
          <a:ln w="12700">
            <a:solidFill>
              <a:schemeClr val="tx1"/>
            </a:solidFill>
            <a:prstDash val="solid"/>
          </a:ln>
        </p:spPr>
      </p:sp>
      <p:sp>
        <p:nvSpPr>
          <p:cNvPr id="30" name="text-787"/>
          <p:cNvSpPr txBox="1"/>
          <p:nvPr/>
        </p:nvSpPr>
        <p:spPr>
          <a:xfrm>
            <a:off x="731520" y="8961120"/>
            <a:ext cx="6099048" cy="822960"/>
          </a:xfrm>
          <a:prstGeom prst="rect">
            <a:avLst/>
          </a:prstGeom>
          <a:noFill/>
          <a:ln/>
        </p:spPr>
        <p:txBody>
          <a:bodyPr wrap="square" lIns="0" tIns="0" rIns="0" bIns="0" rtlCol="0" anchor="ctr"/>
          <a:lstStyle/>
          <a:p>
            <a:pPr indent="0" marL="0">
              <a:lnSpc>
                <a:spcPct val="110000"/>
              </a:lnSpc>
              <a:buNone/>
            </a:pPr>
            <a:r>
              <a:rPr lang="en-US" sz="1150" b="1" spc="200" kern="0" dirty="0">
                <a:solidFill>
                  <a:schemeClr val="accent1"/>
                </a:solidFill>
              </a:rPr>
              <a:t>OUR PLAN B  </a:t>
            </a:r>
            <a:pPr indent="0" marL="0">
              <a:lnSpc>
                <a:spcPct val="110000"/>
              </a:lnSpc>
              <a:buNone/>
            </a:pPr>
            <a:r>
              <a:rPr lang="en-US" sz="1150" dirty="0">
                <a:solidFill>
                  <a:schemeClr val="bg1"/>
                </a:solidFill>
              </a:rPr>
              <a:t>Build in stages: geothermal, wind, sun and storage first; fusion only once it is proven.</a:t>
            </a:r>
            <a:endParaRPr lang="en-US" sz="1150" dirty="0"/>
          </a:p>
        </p:txBody>
      </p:sp>
      <p:sp>
        <p:nvSpPr>
          <p:cNvPr id="31"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31</a:t>
            </a:r>
            <a:endParaRPr lang="en-US" sz="900" dirty="0"/>
          </a:p>
        </p:txBody>
      </p:sp>
      <p:sp>
        <p:nvSpPr>
          <p:cNvPr id="32"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88" descr="approach dusk">    </p:cNvPr>
          <p:cNvPicPr>
            <a:picLocks noChangeAspect="1"/>
          </p:cNvPicPr>
          <p:nvPr/>
        </p:nvPicPr>
        <p:blipFill>
          <a:blip r:embed="rId1"/>
          <a:srcRect l="0" r="0" t="22900" b="27989"/>
          <a:stretch/>
        </p:blipFill>
        <p:spPr>
          <a:xfrm>
            <a:off x="0" y="0"/>
            <a:ext cx="7562088" cy="3017520"/>
          </a:xfrm>
          <a:prstGeom prst="rect">
            <a:avLst/>
          </a:prstGeom>
        </p:spPr>
      </p:pic>
      <p:pic>
        <p:nvPicPr>
          <p:cNvPr id="3" name="shade-bottom-789" descr="shade">    </p:cNvPr>
          <p:cNvPicPr>
            <a:picLocks noChangeAspect="1"/>
          </p:cNvPicPr>
          <p:nvPr/>
        </p:nvPicPr>
        <p:blipFill>
          <a:blip r:embed="rId2"/>
          <a:stretch>
            <a:fillRect/>
          </a:stretch>
        </p:blipFill>
        <p:spPr>
          <a:xfrm>
            <a:off x="0" y="914400"/>
            <a:ext cx="7562088" cy="2103120"/>
          </a:xfrm>
          <a:prstGeom prst="rect">
            <a:avLst/>
          </a:prstGeom>
        </p:spPr>
      </p:pic>
      <p:pic>
        <p:nvPicPr>
          <p:cNvPr id="4" name="shade-bottom-790" descr="shade">    </p:cNvPr>
          <p:cNvPicPr>
            <a:picLocks noChangeAspect="1"/>
          </p:cNvPicPr>
          <p:nvPr/>
        </p:nvPicPr>
        <p:blipFill>
          <a:blip r:embed="rId3"/>
          <a:stretch>
            <a:fillRect/>
          </a:stretch>
        </p:blipFill>
        <p:spPr>
          <a:xfrm>
            <a:off x="0" y="914400"/>
            <a:ext cx="7562088" cy="2103120"/>
          </a:xfrm>
          <a:prstGeom prst="rect">
            <a:avLst/>
          </a:prstGeom>
        </p:spPr>
      </p:pic>
      <p:sp>
        <p:nvSpPr>
          <p:cNvPr id="5" name="kicker-dot-791"/>
          <p:cNvSpPr/>
          <p:nvPr/>
        </p:nvSpPr>
        <p:spPr>
          <a:xfrm>
            <a:off x="548640" y="1979676"/>
            <a:ext cx="100584" cy="100584"/>
          </a:xfrm>
          <a:prstGeom prst="ellipse">
            <a:avLst/>
          </a:prstGeom>
          <a:solidFill>
            <a:schemeClr val="accent1"/>
          </a:solidFill>
          <a:ln w="12700">
            <a:solidFill>
              <a:schemeClr val="accent1"/>
            </a:solidFill>
            <a:prstDash val="solid"/>
          </a:ln>
        </p:spPr>
      </p:sp>
      <p:sp>
        <p:nvSpPr>
          <p:cNvPr id="6" name="text-792"/>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7" name="title-793"/>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8" name="text-795"/>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a:t>
            </a:r>
            <a:endParaRPr lang="en-US" sz="850" dirty="0"/>
          </a:p>
        </p:txBody>
      </p:sp>
      <p:sp>
        <p:nvSpPr>
          <p:cNvPr id="9" name="text-796"/>
          <p:cNvSpPr txBox="1"/>
          <p:nvPr/>
        </p:nvSpPr>
        <p:spPr>
          <a:xfrm>
            <a:off x="548640" y="3383280"/>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We are looking for partners to build a zero-carbon city, step by step.</a:t>
            </a:r>
            <a:endParaRPr lang="en-US" sz="1400" dirty="0"/>
          </a:p>
        </p:txBody>
      </p:sp>
      <p:sp>
        <p:nvSpPr>
          <p:cNvPr id="10" name="text-797"/>
          <p:cNvSpPr txBox="1"/>
          <p:nvPr/>
        </p:nvSpPr>
        <p:spPr>
          <a:xfrm>
            <a:off x="548640" y="420624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1" name="card-798"/>
          <p:cNvSpPr/>
          <p:nvPr/>
        </p:nvSpPr>
        <p:spPr>
          <a:xfrm>
            <a:off x="548640" y="4480560"/>
            <a:ext cx="2063496" cy="1234440"/>
          </a:xfrm>
          <a:prstGeom prst="roundRect">
            <a:avLst>
              <a:gd name="adj" fmla="val 5926"/>
            </a:avLst>
          </a:prstGeom>
          <a:solidFill>
            <a:schemeClr val="bg2"/>
          </a:solidFill>
          <a:ln w="12700">
            <a:solidFill>
              <a:schemeClr val="bg2"/>
            </a:solidFill>
            <a:prstDash val="solid"/>
          </a:ln>
        </p:spPr>
      </p:sp>
      <p:sp>
        <p:nvSpPr>
          <p:cNvPr id="12" name="marker-799"/>
          <p:cNvSpPr/>
          <p:nvPr/>
        </p:nvSpPr>
        <p:spPr>
          <a:xfrm>
            <a:off x="658368" y="4590288"/>
            <a:ext cx="329184" cy="329184"/>
          </a:xfrm>
          <a:prstGeom prst="ellipse">
            <a:avLst/>
          </a:prstGeom>
          <a:solidFill>
            <a:schemeClr val="accent1"/>
          </a:solidFill>
          <a:ln w="12700">
            <a:solidFill>
              <a:schemeClr val="accent1"/>
            </a:solidFill>
            <a:prstDash val="solid"/>
          </a:ln>
        </p:spPr>
      </p:sp>
      <p:sp>
        <p:nvSpPr>
          <p:cNvPr id="13" name="text-800"/>
          <p:cNvSpPr txBox="1"/>
          <p:nvPr/>
        </p:nvSpPr>
        <p:spPr>
          <a:xfrm>
            <a:off x="658368" y="4590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4" name="text-801"/>
          <p:cNvSpPr txBox="1"/>
          <p:nvPr/>
        </p:nvSpPr>
        <p:spPr>
          <a:xfrm>
            <a:off x="1078992" y="4636008"/>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5" name="text-802"/>
          <p:cNvSpPr txBox="1"/>
          <p:nvPr/>
        </p:nvSpPr>
        <p:spPr>
          <a:xfrm>
            <a:off x="658368" y="5029200"/>
            <a:ext cx="1844040" cy="640080"/>
          </a:xfrm>
          <a:prstGeom prst="rect">
            <a:avLst/>
          </a:prstGeom>
          <a:noFill/>
          <a:ln/>
        </p:spPr>
        <p:txBody>
          <a:bodyPr wrap="square" lIns="0" tIns="0" rIns="0" bIns="0" rtlCol="0" anchor="t"/>
          <a:lstStyle/>
          <a:p>
            <a:pPr indent="0" marL="0">
              <a:lnSpc>
                <a:spcPct val="104000"/>
              </a:lnSpc>
              <a:buNone/>
            </a:pPr>
            <a:r>
              <a:rPr lang="en-US" sz="1050" dirty="0">
                <a:solidFill>
                  <a:schemeClr val="tx2"/>
                </a:solidFill>
              </a:rPr>
              <a:t>Fund Stage 1, repaid from heat and power sales.</a:t>
            </a:r>
            <a:endParaRPr lang="en-US" sz="1050" dirty="0"/>
          </a:p>
        </p:txBody>
      </p:sp>
      <p:sp>
        <p:nvSpPr>
          <p:cNvPr id="16" name="card-803"/>
          <p:cNvSpPr/>
          <p:nvPr/>
        </p:nvSpPr>
        <p:spPr>
          <a:xfrm>
            <a:off x="2749296" y="4480560"/>
            <a:ext cx="2063496" cy="1234440"/>
          </a:xfrm>
          <a:prstGeom prst="roundRect">
            <a:avLst>
              <a:gd name="adj" fmla="val 5926"/>
            </a:avLst>
          </a:prstGeom>
          <a:solidFill>
            <a:schemeClr val="bg2"/>
          </a:solidFill>
          <a:ln w="12700">
            <a:solidFill>
              <a:schemeClr val="bg2"/>
            </a:solidFill>
            <a:prstDash val="solid"/>
          </a:ln>
        </p:spPr>
      </p:sp>
      <p:sp>
        <p:nvSpPr>
          <p:cNvPr id="17" name="marker-804"/>
          <p:cNvSpPr/>
          <p:nvPr/>
        </p:nvSpPr>
        <p:spPr>
          <a:xfrm>
            <a:off x="2859024" y="4590288"/>
            <a:ext cx="329184" cy="329184"/>
          </a:xfrm>
          <a:prstGeom prst="ellipse">
            <a:avLst/>
          </a:prstGeom>
          <a:solidFill>
            <a:schemeClr val="accent1"/>
          </a:solidFill>
          <a:ln w="12700">
            <a:solidFill>
              <a:schemeClr val="accent1"/>
            </a:solidFill>
            <a:prstDash val="solid"/>
          </a:ln>
        </p:spPr>
      </p:sp>
      <p:sp>
        <p:nvSpPr>
          <p:cNvPr id="18" name="text-805"/>
          <p:cNvSpPr txBox="1"/>
          <p:nvPr/>
        </p:nvSpPr>
        <p:spPr>
          <a:xfrm>
            <a:off x="2859024" y="4590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9" name="text-806"/>
          <p:cNvSpPr txBox="1"/>
          <p:nvPr/>
        </p:nvSpPr>
        <p:spPr>
          <a:xfrm>
            <a:off x="3279648" y="4636008"/>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20" name="text-807"/>
          <p:cNvSpPr txBox="1"/>
          <p:nvPr/>
        </p:nvSpPr>
        <p:spPr>
          <a:xfrm>
            <a:off x="2859024" y="5029200"/>
            <a:ext cx="1844040" cy="640080"/>
          </a:xfrm>
          <a:prstGeom prst="rect">
            <a:avLst/>
          </a:prstGeom>
          <a:noFill/>
          <a:ln/>
        </p:spPr>
        <p:txBody>
          <a:bodyPr wrap="square" lIns="0" tIns="0" rIns="0" bIns="0" rtlCol="0" anchor="t"/>
          <a:lstStyle/>
          <a:p>
            <a:pPr indent="0" marL="0">
              <a:lnSpc>
                <a:spcPct val="104000"/>
              </a:lnSpc>
              <a:buNone/>
            </a:pPr>
            <a:r>
              <a:rPr lang="en-US" sz="1050" dirty="0">
                <a:solidFill>
                  <a:schemeClr val="tx2"/>
                </a:solidFill>
              </a:rPr>
              <a:t>Residents co-own the wind and solar farms.</a:t>
            </a:r>
            <a:endParaRPr lang="en-US" sz="1050" dirty="0"/>
          </a:p>
        </p:txBody>
      </p:sp>
      <p:sp>
        <p:nvSpPr>
          <p:cNvPr id="21" name="card-808"/>
          <p:cNvSpPr/>
          <p:nvPr/>
        </p:nvSpPr>
        <p:spPr>
          <a:xfrm>
            <a:off x="4949952" y="4480560"/>
            <a:ext cx="2063496" cy="1234440"/>
          </a:xfrm>
          <a:prstGeom prst="roundRect">
            <a:avLst>
              <a:gd name="adj" fmla="val 5926"/>
            </a:avLst>
          </a:prstGeom>
          <a:solidFill>
            <a:schemeClr val="bg2"/>
          </a:solidFill>
          <a:ln w="12700">
            <a:solidFill>
              <a:schemeClr val="bg2"/>
            </a:solidFill>
            <a:prstDash val="solid"/>
          </a:ln>
        </p:spPr>
      </p:sp>
      <p:sp>
        <p:nvSpPr>
          <p:cNvPr id="22" name="marker-809"/>
          <p:cNvSpPr/>
          <p:nvPr/>
        </p:nvSpPr>
        <p:spPr>
          <a:xfrm>
            <a:off x="5059680" y="4590288"/>
            <a:ext cx="329184" cy="329184"/>
          </a:xfrm>
          <a:prstGeom prst="ellipse">
            <a:avLst/>
          </a:prstGeom>
          <a:solidFill>
            <a:schemeClr val="accent1"/>
          </a:solidFill>
          <a:ln w="12700">
            <a:solidFill>
              <a:schemeClr val="accent1"/>
            </a:solidFill>
            <a:prstDash val="solid"/>
          </a:ln>
        </p:spPr>
      </p:sp>
      <p:sp>
        <p:nvSpPr>
          <p:cNvPr id="23" name="text-810"/>
          <p:cNvSpPr txBox="1"/>
          <p:nvPr/>
        </p:nvSpPr>
        <p:spPr>
          <a:xfrm>
            <a:off x="5059680" y="4590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4" name="text-811"/>
          <p:cNvSpPr txBox="1"/>
          <p:nvPr/>
        </p:nvSpPr>
        <p:spPr>
          <a:xfrm>
            <a:off x="5480304" y="4636008"/>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5" name="text-812"/>
          <p:cNvSpPr txBox="1"/>
          <p:nvPr/>
        </p:nvSpPr>
        <p:spPr>
          <a:xfrm>
            <a:off x="5059680" y="5029200"/>
            <a:ext cx="1844040" cy="640080"/>
          </a:xfrm>
          <a:prstGeom prst="rect">
            <a:avLst/>
          </a:prstGeom>
          <a:noFill/>
          <a:ln/>
        </p:spPr>
        <p:txBody>
          <a:bodyPr wrap="square" lIns="0" tIns="0" rIns="0" bIns="0" rtlCol="0" anchor="t"/>
          <a:lstStyle/>
          <a:p>
            <a:pPr indent="0" marL="0">
              <a:lnSpc>
                <a:spcPct val="104000"/>
              </a:lnSpc>
              <a:buNone/>
            </a:pPr>
            <a:r>
              <a:rPr lang="en-US" sz="1050" dirty="0">
                <a:solidFill>
                  <a:schemeClr val="tx2"/>
                </a:solidFill>
              </a:rPr>
              <a:t>Test new ideas with Arctic University.</a:t>
            </a:r>
            <a:endParaRPr lang="en-US" sz="1050" dirty="0"/>
          </a:p>
        </p:txBody>
      </p:sp>
      <p:sp>
        <p:nvSpPr>
          <p:cNvPr id="26" name="text-813"/>
          <p:cNvSpPr txBox="1"/>
          <p:nvPr/>
        </p:nvSpPr>
        <p:spPr>
          <a:xfrm>
            <a:off x="548640" y="603504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7" name="stage-line"/>
          <p:cNvSpPr/>
          <p:nvPr/>
        </p:nvSpPr>
        <p:spPr>
          <a:xfrm>
            <a:off x="731520" y="6446520"/>
            <a:ext cx="0" cy="1188720"/>
          </a:xfrm>
          <a:prstGeom prst="line">
            <a:avLst/>
          </a:prstGeom>
          <a:noFill/>
          <a:ln w="25400">
            <a:solidFill>
              <a:schemeClr val="accent1"/>
            </a:solidFill>
            <a:prstDash val="solid"/>
          </a:ln>
        </p:spPr>
      </p:sp>
      <p:sp>
        <p:nvSpPr>
          <p:cNvPr id="28" name="marker-814"/>
          <p:cNvSpPr/>
          <p:nvPr/>
        </p:nvSpPr>
        <p:spPr>
          <a:xfrm>
            <a:off x="548640" y="6309360"/>
            <a:ext cx="365760" cy="365760"/>
          </a:xfrm>
          <a:prstGeom prst="ellipse">
            <a:avLst/>
          </a:prstGeom>
          <a:solidFill>
            <a:schemeClr val="accent1"/>
          </a:solidFill>
          <a:ln w="12700">
            <a:solidFill>
              <a:schemeClr val="accent1"/>
            </a:solidFill>
            <a:prstDash val="solid"/>
          </a:ln>
        </p:spPr>
      </p:sp>
      <p:sp>
        <p:nvSpPr>
          <p:cNvPr id="29" name="text-815"/>
          <p:cNvSpPr txBox="1"/>
          <p:nvPr/>
        </p:nvSpPr>
        <p:spPr>
          <a:xfrm>
            <a:off x="548640" y="63093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30" name="text-816"/>
          <p:cNvSpPr txBox="1"/>
          <p:nvPr/>
        </p:nvSpPr>
        <p:spPr>
          <a:xfrm>
            <a:off x="1051560" y="6364224"/>
            <a:ext cx="5961888" cy="329184"/>
          </a:xfrm>
          <a:prstGeom prst="rect">
            <a:avLst/>
          </a:prstGeom>
          <a:noFill/>
          <a:ln/>
        </p:spPr>
        <p:txBody>
          <a:bodyPr wrap="square" lIns="0" tIns="0" rIns="0" bIns="0" rtlCol="0" anchor="t"/>
          <a:lstStyle/>
          <a:p>
            <a:pPr indent="0" marL="0">
              <a:lnSpc>
                <a:spcPct val="104000"/>
              </a:lnSpc>
              <a:buNone/>
            </a:pPr>
            <a:r>
              <a:rPr lang="en-US" sz="1100" b="1" dirty="0">
                <a:solidFill>
                  <a:schemeClr val="tx1"/>
                </a:solidFill>
              </a:rPr>
              <a:t>Stage 1 · A clean base: </a:t>
            </a:r>
            <a:pPr indent="0" marL="0">
              <a:lnSpc>
                <a:spcPct val="104000"/>
              </a:lnSpc>
              <a:buNone/>
            </a:pPr>
            <a:r>
              <a:rPr lang="en-US" sz="1100" dirty="0">
                <a:solidFill>
                  <a:schemeClr val="tx1"/>
                </a:solidFill>
              </a:rPr>
              <a:t>geothermal, wind, sun, storage and the metro.</a:t>
            </a:r>
            <a:endParaRPr lang="en-US" sz="1100" dirty="0"/>
          </a:p>
        </p:txBody>
      </p:sp>
      <p:sp>
        <p:nvSpPr>
          <p:cNvPr id="31" name="marker-817"/>
          <p:cNvSpPr/>
          <p:nvPr/>
        </p:nvSpPr>
        <p:spPr>
          <a:xfrm>
            <a:off x="548640" y="6903720"/>
            <a:ext cx="365760" cy="365760"/>
          </a:xfrm>
          <a:prstGeom prst="ellipse">
            <a:avLst/>
          </a:prstGeom>
          <a:solidFill>
            <a:schemeClr val="accent1"/>
          </a:solidFill>
          <a:ln w="12700">
            <a:solidFill>
              <a:schemeClr val="accent1"/>
            </a:solidFill>
            <a:prstDash val="solid"/>
          </a:ln>
        </p:spPr>
      </p:sp>
      <p:sp>
        <p:nvSpPr>
          <p:cNvPr id="32" name="text-818"/>
          <p:cNvSpPr txBox="1"/>
          <p:nvPr/>
        </p:nvSpPr>
        <p:spPr>
          <a:xfrm>
            <a:off x="548640" y="69037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3" name="text-819"/>
          <p:cNvSpPr txBox="1"/>
          <p:nvPr/>
        </p:nvSpPr>
        <p:spPr>
          <a:xfrm>
            <a:off x="1051560" y="6958584"/>
            <a:ext cx="5961888" cy="329184"/>
          </a:xfrm>
          <a:prstGeom prst="rect">
            <a:avLst/>
          </a:prstGeom>
          <a:noFill/>
          <a:ln/>
        </p:spPr>
        <p:txBody>
          <a:bodyPr wrap="square" lIns="0" tIns="0" rIns="0" bIns="0" rtlCol="0" anchor="t"/>
          <a:lstStyle/>
          <a:p>
            <a:pPr indent="0" marL="0">
              <a:lnSpc>
                <a:spcPct val="104000"/>
              </a:lnSpc>
              <a:buNone/>
            </a:pPr>
            <a:r>
              <a:rPr lang="en-US" sz="1100" b="1" dirty="0">
                <a:solidFill>
                  <a:schemeClr val="tx1"/>
                </a:solidFill>
              </a:rPr>
              <a:t>Stage 2 · Food and water: </a:t>
            </a:r>
            <a:pPr indent="0" marL="0">
              <a:lnSpc>
                <a:spcPct val="104000"/>
              </a:lnSpc>
              <a:buNone/>
            </a:pPr>
            <a:r>
              <a:rPr lang="en-US" sz="1100" dirty="0">
                <a:solidFill>
                  <a:schemeClr val="tx1"/>
                </a:solidFill>
              </a:rPr>
              <a:t>the Snow-to-Food plant, starting small.</a:t>
            </a:r>
            <a:endParaRPr lang="en-US" sz="1100" dirty="0"/>
          </a:p>
        </p:txBody>
      </p:sp>
      <p:sp>
        <p:nvSpPr>
          <p:cNvPr id="34" name="marker-820"/>
          <p:cNvSpPr/>
          <p:nvPr/>
        </p:nvSpPr>
        <p:spPr>
          <a:xfrm>
            <a:off x="548640" y="7498080"/>
            <a:ext cx="365760" cy="365760"/>
          </a:xfrm>
          <a:prstGeom prst="ellipse">
            <a:avLst/>
          </a:prstGeom>
          <a:solidFill>
            <a:schemeClr val="accent1"/>
          </a:solidFill>
          <a:ln w="12700">
            <a:solidFill>
              <a:schemeClr val="accent1"/>
            </a:solidFill>
            <a:prstDash val="solid"/>
          </a:ln>
        </p:spPr>
      </p:sp>
      <p:sp>
        <p:nvSpPr>
          <p:cNvPr id="35" name="text-821"/>
          <p:cNvSpPr txBox="1"/>
          <p:nvPr/>
        </p:nvSpPr>
        <p:spPr>
          <a:xfrm>
            <a:off x="548640" y="74980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6" name="text-822"/>
          <p:cNvSpPr txBox="1"/>
          <p:nvPr/>
        </p:nvSpPr>
        <p:spPr>
          <a:xfrm>
            <a:off x="1051560" y="7552944"/>
            <a:ext cx="5961888" cy="329184"/>
          </a:xfrm>
          <a:prstGeom prst="rect">
            <a:avLst/>
          </a:prstGeom>
          <a:noFill/>
          <a:ln/>
        </p:spPr>
        <p:txBody>
          <a:bodyPr wrap="square" lIns="0" tIns="0" rIns="0" bIns="0" rtlCol="0" anchor="t"/>
          <a:lstStyle/>
          <a:p>
            <a:pPr indent="0" marL="0">
              <a:lnSpc>
                <a:spcPct val="104000"/>
              </a:lnSpc>
              <a:buNone/>
            </a:pPr>
            <a:r>
              <a:rPr lang="en-US" sz="1100" b="1" dirty="0">
                <a:solidFill>
                  <a:schemeClr val="tx1"/>
                </a:solidFill>
              </a:rPr>
              <a:t>Stage 3 · Fusion: </a:t>
            </a:r>
            <a:pPr indent="0" marL="0">
              <a:lnSpc>
                <a:spcPct val="104000"/>
              </a:lnSpc>
              <a:buNone/>
            </a:pPr>
            <a:r>
              <a:rPr lang="en-US" sz="1100" dirty="0">
                <a:solidFill>
                  <a:schemeClr val="tx1"/>
                </a:solidFill>
              </a:rPr>
              <a:t>only once fusion is proven (page 31).</a:t>
            </a:r>
            <a:endParaRPr lang="en-US" sz="1100" dirty="0"/>
          </a:p>
        </p:txBody>
      </p:sp>
      <p:sp>
        <p:nvSpPr>
          <p:cNvPr id="37" name="text-823"/>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8" name="card-824"/>
          <p:cNvSpPr/>
          <p:nvPr/>
        </p:nvSpPr>
        <p:spPr>
          <a:xfrm>
            <a:off x="548640" y="8430768"/>
            <a:ext cx="1533906" cy="640080"/>
          </a:xfrm>
          <a:prstGeom prst="roundRect">
            <a:avLst>
              <a:gd name="adj" fmla="val 11429"/>
            </a:avLst>
          </a:prstGeom>
          <a:solidFill>
            <a:schemeClr val="bg2"/>
          </a:solidFill>
          <a:ln w="12700">
            <a:solidFill>
              <a:schemeClr val="bg2"/>
            </a:solidFill>
            <a:prstDash val="solid"/>
          </a:ln>
        </p:spPr>
      </p:sp>
      <p:sp>
        <p:nvSpPr>
          <p:cNvPr id="39" name="text-825"/>
          <p:cNvSpPr txBox="1"/>
          <p:nvPr/>
        </p:nvSpPr>
        <p:spPr>
          <a:xfrm>
            <a:off x="640080" y="8449056"/>
            <a:ext cx="1351026" cy="603504"/>
          </a:xfrm>
          <a:prstGeom prst="rect">
            <a:avLst/>
          </a:prstGeom>
          <a:noFill/>
          <a:ln/>
        </p:spPr>
        <p:txBody>
          <a:bodyPr wrap="square" lIns="0" tIns="0" rIns="0" bIns="0" rtlCol="0" anchor="ctr"/>
          <a:lstStyle/>
          <a:p>
            <a:pPr indent="0" marL="0">
              <a:lnSpc>
                <a:spcPct val="102000"/>
              </a:lnSpc>
              <a:buNone/>
            </a:pPr>
            <a:r>
              <a:rPr lang="en-US" sz="1000" dirty="0">
                <a:solidFill>
                  <a:schemeClr val="tx1"/>
                </a:solidFill>
              </a:rPr>
              <a:t>Steady income from heat, power and food</a:t>
            </a:r>
            <a:endParaRPr lang="en-US" sz="1000" dirty="0"/>
          </a:p>
        </p:txBody>
      </p:sp>
      <p:sp>
        <p:nvSpPr>
          <p:cNvPr id="40" name="card-826"/>
          <p:cNvSpPr/>
          <p:nvPr/>
        </p:nvSpPr>
        <p:spPr>
          <a:xfrm>
            <a:off x="2192274" y="8430768"/>
            <a:ext cx="1533906" cy="640080"/>
          </a:xfrm>
          <a:prstGeom prst="roundRect">
            <a:avLst>
              <a:gd name="adj" fmla="val 11429"/>
            </a:avLst>
          </a:prstGeom>
          <a:solidFill>
            <a:schemeClr val="bg2"/>
          </a:solidFill>
          <a:ln w="12700">
            <a:solidFill>
              <a:schemeClr val="bg2"/>
            </a:solidFill>
            <a:prstDash val="solid"/>
          </a:ln>
        </p:spPr>
      </p:sp>
      <p:sp>
        <p:nvSpPr>
          <p:cNvPr id="41" name="text-827"/>
          <p:cNvSpPr txBox="1"/>
          <p:nvPr/>
        </p:nvSpPr>
        <p:spPr>
          <a:xfrm>
            <a:off x="2283714" y="8449056"/>
            <a:ext cx="1351026" cy="603504"/>
          </a:xfrm>
          <a:prstGeom prst="rect">
            <a:avLst/>
          </a:prstGeom>
          <a:noFill/>
          <a:ln/>
        </p:spPr>
        <p:txBody>
          <a:bodyPr wrap="square" lIns="0" tIns="0" rIns="0" bIns="0" rtlCol="0" anchor="ctr"/>
          <a:lstStyle/>
          <a:p>
            <a:pPr indent="0" marL="0">
              <a:lnSpc>
                <a:spcPct val="102000"/>
              </a:lnSpc>
              <a:buNone/>
            </a:pPr>
            <a:r>
              <a:rPr lang="en-US" sz="1000" dirty="0">
                <a:solidFill>
                  <a:schemeClr val="tx1"/>
                </a:solidFill>
              </a:rPr>
              <a:t>Visitors all year</a:t>
            </a:r>
            <a:endParaRPr lang="en-US" sz="1000" dirty="0"/>
          </a:p>
        </p:txBody>
      </p:sp>
      <p:sp>
        <p:nvSpPr>
          <p:cNvPr id="42" name="card-828"/>
          <p:cNvSpPr/>
          <p:nvPr/>
        </p:nvSpPr>
        <p:spPr>
          <a:xfrm>
            <a:off x="3835908" y="8430768"/>
            <a:ext cx="1533906" cy="640080"/>
          </a:xfrm>
          <a:prstGeom prst="roundRect">
            <a:avLst>
              <a:gd name="adj" fmla="val 11429"/>
            </a:avLst>
          </a:prstGeom>
          <a:solidFill>
            <a:schemeClr val="bg2"/>
          </a:solidFill>
          <a:ln w="12700">
            <a:solidFill>
              <a:schemeClr val="bg2"/>
            </a:solidFill>
            <a:prstDash val="solid"/>
          </a:ln>
        </p:spPr>
      </p:sp>
      <p:sp>
        <p:nvSpPr>
          <p:cNvPr id="43" name="text-829"/>
          <p:cNvSpPr txBox="1"/>
          <p:nvPr/>
        </p:nvSpPr>
        <p:spPr>
          <a:xfrm>
            <a:off x="3927348" y="8449056"/>
            <a:ext cx="1351026" cy="603504"/>
          </a:xfrm>
          <a:prstGeom prst="rect">
            <a:avLst/>
          </a:prstGeom>
          <a:noFill/>
          <a:ln/>
        </p:spPr>
        <p:txBody>
          <a:bodyPr wrap="square" lIns="0" tIns="0" rIns="0" bIns="0" rtlCol="0" anchor="ctr"/>
          <a:lstStyle/>
          <a:p>
            <a:pPr indent="0" marL="0">
              <a:lnSpc>
                <a:spcPct val="102000"/>
              </a:lnSpc>
              <a:buNone/>
            </a:pPr>
            <a:r>
              <a:rPr lang="en-US" sz="1000" dirty="0">
                <a:solidFill>
                  <a:schemeClr val="tx1"/>
                </a:solidFill>
              </a:rPr>
              <a:t>Know-how for other Arctic towns</a:t>
            </a:r>
            <a:endParaRPr lang="en-US" sz="1000" dirty="0"/>
          </a:p>
        </p:txBody>
      </p:sp>
      <p:sp>
        <p:nvSpPr>
          <p:cNvPr id="44" name="card-830"/>
          <p:cNvSpPr/>
          <p:nvPr/>
        </p:nvSpPr>
        <p:spPr>
          <a:xfrm>
            <a:off x="5479542" y="8430768"/>
            <a:ext cx="1533906" cy="640080"/>
          </a:xfrm>
          <a:prstGeom prst="roundRect">
            <a:avLst>
              <a:gd name="adj" fmla="val 11429"/>
            </a:avLst>
          </a:prstGeom>
          <a:solidFill>
            <a:schemeClr val="bg2"/>
          </a:solidFill>
          <a:ln w="12700">
            <a:solidFill>
              <a:schemeClr val="bg2"/>
            </a:solidFill>
            <a:prstDash val="solid"/>
          </a:ln>
        </p:spPr>
      </p:sp>
      <p:sp>
        <p:nvSpPr>
          <p:cNvPr id="45" name="text-831"/>
          <p:cNvSpPr txBox="1"/>
          <p:nvPr/>
        </p:nvSpPr>
        <p:spPr>
          <a:xfrm>
            <a:off x="5570982" y="8449056"/>
            <a:ext cx="1351026" cy="603504"/>
          </a:xfrm>
          <a:prstGeom prst="rect">
            <a:avLst/>
          </a:prstGeom>
          <a:noFill/>
          <a:ln/>
        </p:spPr>
        <p:txBody>
          <a:bodyPr wrap="square" lIns="0" tIns="0" rIns="0" bIns="0" rtlCol="0" anchor="ctr"/>
          <a:lstStyle/>
          <a:p>
            <a:pPr indent="0" marL="0">
              <a:lnSpc>
                <a:spcPct val="102000"/>
              </a:lnSpc>
              <a:buNone/>
            </a:pPr>
            <a:r>
              <a:rPr lang="en-US" sz="1000" dirty="0">
                <a:solidFill>
                  <a:schemeClr val="tx1"/>
                </a:solidFill>
              </a:rPr>
              <a:t>No fuel or carbon bills</a:t>
            </a:r>
            <a:endParaRPr lang="en-US" sz="1000" dirty="0"/>
          </a:p>
        </p:txBody>
      </p:sp>
      <p:sp>
        <p:nvSpPr>
          <p:cNvPr id="46" name="text-832"/>
          <p:cNvSpPr txBox="1"/>
          <p:nvPr/>
        </p:nvSpPr>
        <p:spPr>
          <a:xfrm>
            <a:off x="548640" y="9125712"/>
            <a:ext cx="6464808" cy="228600"/>
          </a:xfrm>
          <a:prstGeom prst="rect">
            <a:avLst/>
          </a:prstGeom>
          <a:noFill/>
          <a:ln/>
        </p:spPr>
        <p:txBody>
          <a:bodyPr wrap="square" lIns="0" tIns="0" rIns="0" bIns="0" rtlCol="0" anchor="t"/>
          <a:lstStyle/>
          <a:p>
            <a:pPr indent="0" marL="0">
              <a:buNone/>
            </a:pPr>
            <a:r>
              <a:rPr lang="en-US" sz="950" i="1" dirty="0">
                <a:solidFill>
                  <a:schemeClr val="tx2"/>
                </a:solidFill>
              </a:rPr>
              <a:t>Future concepts, not tested projects: no return is guaranteed.</a:t>
            </a:r>
            <a:endParaRPr lang="en-US" sz="950" dirty="0"/>
          </a:p>
        </p:txBody>
      </p:sp>
      <p:sp>
        <p:nvSpPr>
          <p:cNvPr id="47" name="card-833"/>
          <p:cNvSpPr/>
          <p:nvPr/>
        </p:nvSpPr>
        <p:spPr>
          <a:xfrm>
            <a:off x="548640" y="9418320"/>
            <a:ext cx="6464808" cy="548640"/>
          </a:xfrm>
          <a:prstGeom prst="roundRect">
            <a:avLst>
              <a:gd name="adj" fmla="val 13333"/>
            </a:avLst>
          </a:prstGeom>
          <a:solidFill>
            <a:schemeClr val="tx1"/>
          </a:solidFill>
          <a:ln w="12700">
            <a:solidFill>
              <a:schemeClr val="tx1"/>
            </a:solidFill>
            <a:prstDash val="solid"/>
          </a:ln>
        </p:spPr>
      </p:sp>
      <p:sp>
        <p:nvSpPr>
          <p:cNvPr id="48" name="text-834"/>
          <p:cNvSpPr txBox="1"/>
          <p:nvPr/>
        </p:nvSpPr>
        <p:spPr>
          <a:xfrm>
            <a:off x="685800" y="9445752"/>
            <a:ext cx="6190488" cy="493776"/>
          </a:xfrm>
          <a:prstGeom prst="rect">
            <a:avLst/>
          </a:prstGeom>
          <a:noFill/>
          <a:ln/>
        </p:spPr>
        <p:txBody>
          <a:bodyPr wrap="square" lIns="0" tIns="0" rIns="0" bIns="0" rtlCol="0" anchor="ctr"/>
          <a:lstStyle/>
          <a:p>
            <a:pPr indent="0" marL="0">
              <a:buNone/>
            </a:pPr>
            <a:r>
              <a:rPr lang="en-US" sz="1050" b="1" spc="200" kern="0" dirty="0">
                <a:solidFill>
                  <a:schemeClr val="accent1"/>
                </a:solidFill>
              </a:rPr>
              <a:t>READY TO BUILD THE FUTURE?  </a:t>
            </a:r>
            <a:pPr indent="0" marL="0">
              <a:buNone/>
            </a:pPr>
            <a:r>
              <a:rPr lang="en-US" sz="1050" dirty="0">
                <a:solidFill>
                  <a:schemeClr val="bg1"/>
                </a:solidFill>
              </a:rPr>
              <a:t>Join Stage 1 with a green city bond.</a:t>
            </a:r>
            <a:endParaRPr lang="en-US" sz="1050" dirty="0"/>
          </a:p>
        </p:txBody>
      </p:sp>
      <p:sp>
        <p:nvSpPr>
          <p:cNvPr id="4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32</a:t>
            </a:r>
            <a:endParaRPr lang="en-US" sz="900" dirty="0"/>
          </a:p>
        </p:txBody>
      </p:sp>
      <p:sp>
        <p:nvSpPr>
          <p:cNvPr id="5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INVEST</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3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39"/>
          <p:cNvSpPr txBox="1"/>
          <p:nvPr/>
        </p:nvSpPr>
        <p:spPr>
          <a:xfrm>
            <a:off x="548640" y="1463040"/>
            <a:ext cx="6464808" cy="64008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From downtown out to the plants, the snow peak and the windy north.</a:t>
            </a:r>
            <a:endParaRPr lang="en-US" sz="1400" dirty="0"/>
          </a:p>
        </p:txBody>
      </p:sp>
      <p:sp>
        <p:nvSpPr>
          <p:cNvPr id="6" name="tour-route-840"/>
          <p:cNvSpPr/>
          <p:nvPr/>
        </p:nvSpPr>
        <p:spPr>
          <a:xfrm>
            <a:off x="749808" y="2423160"/>
            <a:ext cx="0" cy="2523744"/>
          </a:xfrm>
          <a:prstGeom prst="line">
            <a:avLst/>
          </a:prstGeom>
          <a:noFill/>
          <a:ln w="25400">
            <a:solidFill>
              <a:schemeClr val="accent6"/>
            </a:solidFill>
            <a:prstDash val="dash"/>
          </a:ln>
        </p:spPr>
      </p:sp>
      <p:sp>
        <p:nvSpPr>
          <p:cNvPr id="7" name="marker-841"/>
          <p:cNvSpPr/>
          <p:nvPr/>
        </p:nvSpPr>
        <p:spPr>
          <a:xfrm>
            <a:off x="548640" y="2240280"/>
            <a:ext cx="402336" cy="402336"/>
          </a:xfrm>
          <a:prstGeom prst="ellipse">
            <a:avLst/>
          </a:prstGeom>
          <a:solidFill>
            <a:schemeClr val="accent6"/>
          </a:solidFill>
          <a:ln w="12700">
            <a:solidFill>
              <a:schemeClr val="accent6"/>
            </a:solidFill>
            <a:prstDash val="solid"/>
          </a:ln>
        </p:spPr>
      </p:sp>
      <p:sp>
        <p:nvSpPr>
          <p:cNvPr id="8" name="text-84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43"/>
          <p:cNvSpPr txBox="1"/>
          <p:nvPr/>
        </p:nvSpPr>
        <p:spPr>
          <a:xfrm>
            <a:off x="1097280" y="2258568"/>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Founding Mayor Monument</a:t>
            </a:r>
            <a:endParaRPr lang="en-US" sz="1050" dirty="0"/>
          </a:p>
          <a:p>
            <a:pPr indent="0" marL="0">
              <a:lnSpc>
                <a:spcPct val="100000"/>
              </a:lnSpc>
              <a:buNone/>
            </a:pPr>
            <a:r>
              <a:rPr lang="en-US" sz="1050" dirty="0">
                <a:solidFill>
                  <a:schemeClr val="tx2"/>
                </a:solidFill>
              </a:rPr>
              <a:t>The civic heart of the city.</a:t>
            </a:r>
            <a:endParaRPr lang="en-US" sz="1050" dirty="0"/>
          </a:p>
        </p:txBody>
      </p:sp>
      <p:sp>
        <p:nvSpPr>
          <p:cNvPr id="10" name="marker-844"/>
          <p:cNvSpPr/>
          <p:nvPr/>
        </p:nvSpPr>
        <p:spPr>
          <a:xfrm>
            <a:off x="548640" y="3081528"/>
            <a:ext cx="402336" cy="402336"/>
          </a:xfrm>
          <a:prstGeom prst="ellipse">
            <a:avLst/>
          </a:prstGeom>
          <a:solidFill>
            <a:schemeClr val="accent6"/>
          </a:solidFill>
          <a:ln w="12700">
            <a:solidFill>
              <a:schemeClr val="accent6"/>
            </a:solidFill>
            <a:prstDash val="solid"/>
          </a:ln>
        </p:spPr>
      </p:sp>
      <p:sp>
        <p:nvSpPr>
          <p:cNvPr id="11" name="text-845"/>
          <p:cNvSpPr txBox="1"/>
          <p:nvPr/>
        </p:nvSpPr>
        <p:spPr>
          <a:xfrm>
            <a:off x="548640" y="30815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46"/>
          <p:cNvSpPr txBox="1"/>
          <p:nvPr/>
        </p:nvSpPr>
        <p:spPr>
          <a:xfrm>
            <a:off x="1097280" y="3099816"/>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Central Interchange Station</a:t>
            </a:r>
            <a:endParaRPr lang="en-US" sz="1050" dirty="0"/>
          </a:p>
          <a:p>
            <a:pPr indent="0" marL="0">
              <a:lnSpc>
                <a:spcPct val="100000"/>
              </a:lnSpc>
              <a:buNone/>
            </a:pPr>
            <a:r>
              <a:rPr lang="en-US" sz="1050" dirty="0">
                <a:solidFill>
                  <a:schemeClr val="tx2"/>
                </a:solidFill>
              </a:rPr>
              <a:t>Down to the metro and shelters.</a:t>
            </a:r>
            <a:endParaRPr lang="en-US" sz="1050" dirty="0"/>
          </a:p>
        </p:txBody>
      </p:sp>
      <p:sp>
        <p:nvSpPr>
          <p:cNvPr id="13" name="marker-847"/>
          <p:cNvSpPr/>
          <p:nvPr/>
        </p:nvSpPr>
        <p:spPr>
          <a:xfrm>
            <a:off x="548640" y="3922776"/>
            <a:ext cx="402336" cy="402336"/>
          </a:xfrm>
          <a:prstGeom prst="ellipse">
            <a:avLst/>
          </a:prstGeom>
          <a:solidFill>
            <a:schemeClr val="accent6"/>
          </a:solidFill>
          <a:ln w="12700">
            <a:solidFill>
              <a:schemeClr val="accent6"/>
            </a:solidFill>
            <a:prstDash val="solid"/>
          </a:ln>
        </p:spPr>
      </p:sp>
      <p:sp>
        <p:nvSpPr>
          <p:cNvPr id="14" name="text-848"/>
          <p:cNvSpPr txBox="1"/>
          <p:nvPr/>
        </p:nvSpPr>
        <p:spPr>
          <a:xfrm>
            <a:off x="548640" y="392277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49"/>
          <p:cNvSpPr txBox="1"/>
          <p:nvPr/>
        </p:nvSpPr>
        <p:spPr>
          <a:xfrm>
            <a:off x="1097280" y="3941064"/>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Snowflake General Hospital</a:t>
            </a:r>
            <a:endParaRPr lang="en-US" sz="1050" dirty="0"/>
          </a:p>
          <a:p>
            <a:pPr indent="0" marL="0">
              <a:lnSpc>
                <a:spcPct val="100000"/>
              </a:lnSpc>
              <a:buNone/>
            </a:pPr>
            <a:r>
              <a:rPr lang="en-US" sz="1050" dirty="0">
                <a:solidFill>
                  <a:schemeClr val="tx2"/>
                </a:solidFill>
              </a:rPr>
              <a:t>The main hospital.</a:t>
            </a:r>
            <a:endParaRPr lang="en-US" sz="1050" dirty="0"/>
          </a:p>
        </p:txBody>
      </p:sp>
      <p:sp>
        <p:nvSpPr>
          <p:cNvPr id="16" name="marker-850"/>
          <p:cNvSpPr/>
          <p:nvPr/>
        </p:nvSpPr>
        <p:spPr>
          <a:xfrm>
            <a:off x="548640" y="4764024"/>
            <a:ext cx="402336" cy="402336"/>
          </a:xfrm>
          <a:prstGeom prst="ellipse">
            <a:avLst/>
          </a:prstGeom>
          <a:solidFill>
            <a:schemeClr val="accent6"/>
          </a:solidFill>
          <a:ln w="12700">
            <a:solidFill>
              <a:schemeClr val="accent6"/>
            </a:solidFill>
            <a:prstDash val="solid"/>
          </a:ln>
        </p:spPr>
      </p:sp>
      <p:sp>
        <p:nvSpPr>
          <p:cNvPr id="17" name="text-851"/>
          <p:cNvSpPr txBox="1"/>
          <p:nvPr/>
        </p:nvSpPr>
        <p:spPr>
          <a:xfrm>
            <a:off x="548640" y="476402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52"/>
          <p:cNvSpPr txBox="1"/>
          <p:nvPr/>
        </p:nvSpPr>
        <p:spPr>
          <a:xfrm>
            <a:off x="1097280" y="4782312"/>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Fusion Core</a:t>
            </a:r>
            <a:endParaRPr lang="en-US" sz="1050" dirty="0"/>
          </a:p>
          <a:p>
            <a:pPr indent="0" marL="0">
              <a:lnSpc>
                <a:spcPct val="100000"/>
              </a:lnSpc>
              <a:buNone/>
            </a:pPr>
            <a:r>
              <a:rPr lang="en-US" sz="1050" dirty="0">
                <a:solidFill>
                  <a:schemeClr val="tx2"/>
                </a:solidFill>
              </a:rPr>
              <a:t>The city’s own sun.</a:t>
            </a:r>
            <a:endParaRPr lang="en-US" sz="1050" dirty="0"/>
          </a:p>
        </p:txBody>
      </p:sp>
      <p:sp>
        <p:nvSpPr>
          <p:cNvPr id="19" name="tour-route-853"/>
          <p:cNvSpPr/>
          <p:nvPr/>
        </p:nvSpPr>
        <p:spPr>
          <a:xfrm>
            <a:off x="4119372" y="2423160"/>
            <a:ext cx="0" cy="2523744"/>
          </a:xfrm>
          <a:prstGeom prst="line">
            <a:avLst/>
          </a:prstGeom>
          <a:noFill/>
          <a:ln w="25400">
            <a:solidFill>
              <a:schemeClr val="accent6"/>
            </a:solidFill>
            <a:prstDash val="dash"/>
          </a:ln>
        </p:spPr>
      </p:sp>
      <p:sp>
        <p:nvSpPr>
          <p:cNvPr id="20" name="marker-854"/>
          <p:cNvSpPr/>
          <p:nvPr/>
        </p:nvSpPr>
        <p:spPr>
          <a:xfrm>
            <a:off x="3918204" y="2240280"/>
            <a:ext cx="402336" cy="402336"/>
          </a:xfrm>
          <a:prstGeom prst="ellipse">
            <a:avLst/>
          </a:prstGeom>
          <a:solidFill>
            <a:schemeClr val="accent6"/>
          </a:solidFill>
          <a:ln w="12700">
            <a:solidFill>
              <a:schemeClr val="accent6"/>
            </a:solidFill>
            <a:prstDash val="solid"/>
          </a:ln>
        </p:spPr>
      </p:sp>
      <p:sp>
        <p:nvSpPr>
          <p:cNvPr id="21" name="text-855"/>
          <p:cNvSpPr txBox="1"/>
          <p:nvPr/>
        </p:nvSpPr>
        <p:spPr>
          <a:xfrm>
            <a:off x="3918204"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2" name="text-856"/>
          <p:cNvSpPr txBox="1"/>
          <p:nvPr/>
        </p:nvSpPr>
        <p:spPr>
          <a:xfrm>
            <a:off x="4466844" y="2258568"/>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Snow Harvest &amp; Melt Hall</a:t>
            </a:r>
            <a:endParaRPr lang="en-US" sz="1050" dirty="0"/>
          </a:p>
          <a:p>
            <a:pPr indent="0" marL="0">
              <a:lnSpc>
                <a:spcPct val="100000"/>
              </a:lnSpc>
              <a:buNone/>
            </a:pPr>
            <a:r>
              <a:rPr lang="en-US" sz="1050" dirty="0">
                <a:solidFill>
                  <a:schemeClr val="tx2"/>
                </a:solidFill>
              </a:rPr>
              <a:t>Where snow becomes water.</a:t>
            </a:r>
            <a:endParaRPr lang="en-US" sz="1050" dirty="0"/>
          </a:p>
        </p:txBody>
      </p:sp>
      <p:sp>
        <p:nvSpPr>
          <p:cNvPr id="23" name="marker-857"/>
          <p:cNvSpPr/>
          <p:nvPr/>
        </p:nvSpPr>
        <p:spPr>
          <a:xfrm>
            <a:off x="3918204" y="3081528"/>
            <a:ext cx="402336" cy="402336"/>
          </a:xfrm>
          <a:prstGeom prst="ellipse">
            <a:avLst/>
          </a:prstGeom>
          <a:solidFill>
            <a:schemeClr val="accent6"/>
          </a:solidFill>
          <a:ln w="12700">
            <a:solidFill>
              <a:schemeClr val="accent6"/>
            </a:solidFill>
            <a:prstDash val="solid"/>
          </a:ln>
        </p:spPr>
      </p:sp>
      <p:sp>
        <p:nvSpPr>
          <p:cNvPr id="24" name="text-858"/>
          <p:cNvSpPr txBox="1"/>
          <p:nvPr/>
        </p:nvSpPr>
        <p:spPr>
          <a:xfrm>
            <a:off x="3918204" y="30815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5" name="text-859"/>
          <p:cNvSpPr txBox="1"/>
          <p:nvPr/>
        </p:nvSpPr>
        <p:spPr>
          <a:xfrm>
            <a:off x="4466844" y="3099816"/>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Mount Aurora</a:t>
            </a:r>
            <a:endParaRPr lang="en-US" sz="1050" dirty="0"/>
          </a:p>
          <a:p>
            <a:pPr indent="0" marL="0">
              <a:lnSpc>
                <a:spcPct val="100000"/>
              </a:lnSpc>
              <a:buNone/>
            </a:pPr>
            <a:r>
              <a:rPr lang="en-US" sz="1050" dirty="0">
                <a:solidFill>
                  <a:schemeClr val="tx2"/>
                </a:solidFill>
              </a:rPr>
              <a:t>The snow peak with a spa inside.</a:t>
            </a:r>
            <a:endParaRPr lang="en-US" sz="1050" dirty="0"/>
          </a:p>
        </p:txBody>
      </p:sp>
      <p:sp>
        <p:nvSpPr>
          <p:cNvPr id="26" name="marker-860"/>
          <p:cNvSpPr/>
          <p:nvPr/>
        </p:nvSpPr>
        <p:spPr>
          <a:xfrm>
            <a:off x="3918204" y="3922776"/>
            <a:ext cx="402336" cy="402336"/>
          </a:xfrm>
          <a:prstGeom prst="ellipse">
            <a:avLst/>
          </a:prstGeom>
          <a:solidFill>
            <a:schemeClr val="accent6"/>
          </a:solidFill>
          <a:ln w="12700">
            <a:solidFill>
              <a:schemeClr val="accent6"/>
            </a:solidFill>
            <a:prstDash val="solid"/>
          </a:ln>
        </p:spPr>
      </p:sp>
      <p:sp>
        <p:nvSpPr>
          <p:cNvPr id="27" name="text-861"/>
          <p:cNvSpPr txBox="1"/>
          <p:nvPr/>
        </p:nvSpPr>
        <p:spPr>
          <a:xfrm>
            <a:off x="3918204" y="392277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8" name="text-862"/>
          <p:cNvSpPr txBox="1"/>
          <p:nvPr/>
        </p:nvSpPr>
        <p:spPr>
          <a:xfrm>
            <a:off x="4466844" y="3941064"/>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Ice-Proof Wind Farm</a:t>
            </a:r>
            <a:endParaRPr lang="en-US" sz="1050" dirty="0"/>
          </a:p>
          <a:p>
            <a:pPr indent="0" marL="0">
              <a:lnSpc>
                <a:spcPct val="100000"/>
              </a:lnSpc>
              <a:buNone/>
            </a:pPr>
            <a:r>
              <a:rPr lang="en-US" sz="1050" dirty="0">
                <a:solidFill>
                  <a:schemeClr val="tx2"/>
                </a:solidFill>
              </a:rPr>
              <a:t>Turbines built for storms.</a:t>
            </a:r>
            <a:endParaRPr lang="en-US" sz="1050" dirty="0"/>
          </a:p>
        </p:txBody>
      </p:sp>
      <p:sp>
        <p:nvSpPr>
          <p:cNvPr id="29" name="marker-863"/>
          <p:cNvSpPr/>
          <p:nvPr/>
        </p:nvSpPr>
        <p:spPr>
          <a:xfrm>
            <a:off x="3918204" y="4764024"/>
            <a:ext cx="402336" cy="402336"/>
          </a:xfrm>
          <a:prstGeom prst="ellipse">
            <a:avLst/>
          </a:prstGeom>
          <a:solidFill>
            <a:schemeClr val="accent6"/>
          </a:solidFill>
          <a:ln w="12700">
            <a:solidFill>
              <a:schemeClr val="accent6"/>
            </a:solidFill>
            <a:prstDash val="solid"/>
          </a:ln>
        </p:spPr>
      </p:sp>
      <p:sp>
        <p:nvSpPr>
          <p:cNvPr id="30" name="text-864"/>
          <p:cNvSpPr txBox="1"/>
          <p:nvPr/>
        </p:nvSpPr>
        <p:spPr>
          <a:xfrm>
            <a:off x="3918204" y="476402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1" name="text-865"/>
          <p:cNvSpPr txBox="1"/>
          <p:nvPr/>
        </p:nvSpPr>
        <p:spPr>
          <a:xfrm>
            <a:off x="4466844" y="4782312"/>
            <a:ext cx="2546604" cy="749808"/>
          </a:xfrm>
          <a:prstGeom prst="rect">
            <a:avLst/>
          </a:prstGeom>
          <a:noFill/>
          <a:ln/>
        </p:spPr>
        <p:txBody>
          <a:bodyPr wrap="square" lIns="0" tIns="0" rIns="0" bIns="0" rtlCol="0" anchor="t"/>
          <a:lstStyle/>
          <a:p>
            <a:pPr indent="0" marL="0">
              <a:lnSpc>
                <a:spcPct val="100000"/>
              </a:lnSpc>
              <a:spcAft>
                <a:spcPts val="200"/>
              </a:spcAft>
              <a:buNone/>
            </a:pPr>
            <a:r>
              <a:rPr lang="en-US" sz="1150" b="1" dirty="0">
                <a:solidFill>
                  <a:schemeClr val="tx1"/>
                </a:solidFill>
              </a:rPr>
              <a:t>Polar Rescue and Resilience Station</a:t>
            </a:r>
            <a:endParaRPr lang="en-US" sz="1050" dirty="0"/>
          </a:p>
          <a:p>
            <a:pPr indent="0" marL="0">
              <a:lnSpc>
                <a:spcPct val="100000"/>
              </a:lnSpc>
              <a:buNone/>
            </a:pPr>
            <a:r>
              <a:rPr lang="en-US" sz="1050" dirty="0">
                <a:solidFill>
                  <a:schemeClr val="tx2"/>
                </a:solidFill>
              </a:rPr>
              <a:t>The 112 emergency centre.</a:t>
            </a:r>
            <a:endParaRPr lang="en-US" sz="1050" dirty="0"/>
          </a:p>
        </p:txBody>
      </p:sp>
      <p:pic>
        <p:nvPicPr>
          <p:cNvPr id="32" name="picture-866" descr="stadium">    </p:cNvPr>
          <p:cNvPicPr>
            <a:picLocks noChangeAspect="1"/>
          </p:cNvPicPr>
          <p:nvPr/>
        </p:nvPicPr>
        <p:blipFill>
          <a:blip r:embed="rId1"/>
          <a:srcRect l="0" r="0" t="3679" b="3679"/>
          <a:stretch/>
        </p:blipFill>
        <p:spPr>
          <a:xfrm>
            <a:off x="0" y="5760720"/>
            <a:ext cx="7562088" cy="3794760"/>
          </a:xfrm>
          <a:prstGeom prst="rect">
            <a:avLst/>
          </a:prstGeom>
        </p:spPr>
      </p:pic>
      <p:sp>
        <p:nvSpPr>
          <p:cNvPr id="33" name="text-867"/>
          <p:cNvSpPr txBox="1"/>
          <p:nvPr/>
        </p:nvSpPr>
        <p:spPr>
          <a:xfrm>
            <a:off x="548640" y="9619488"/>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33</a:t>
            </a:r>
            <a:endParaRPr lang="en-US" sz="900" dirty="0"/>
          </a:p>
        </p:txBody>
      </p:sp>
      <p:sp>
        <p:nvSpPr>
          <p:cNvPr id="3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GUIDE</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6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72"/>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1050" i="1" dirty="0">
                <a:solidFill>
                  <a:schemeClr val="tx2"/>
                </a:solidFill>
              </a:rPr>
              <a:t>The numbers match the markers on the city plan on page 10.</a:t>
            </a:r>
            <a:endParaRPr lang="en-US" sz="1050" dirty="0"/>
          </a:p>
        </p:txBody>
      </p:sp>
      <p:sp>
        <p:nvSpPr>
          <p:cNvPr id="6" name="row-band-873"/>
          <p:cNvSpPr/>
          <p:nvPr/>
        </p:nvSpPr>
        <p:spPr>
          <a:xfrm>
            <a:off x="548640" y="1874520"/>
            <a:ext cx="3095244" cy="449580"/>
          </a:xfrm>
          <a:prstGeom prst="rect">
            <a:avLst/>
          </a:prstGeom>
          <a:solidFill>
            <a:schemeClr val="bg2"/>
          </a:solidFill>
          <a:ln w="12700">
            <a:solidFill>
              <a:schemeClr val="bg2"/>
            </a:solidFill>
            <a:prstDash val="solid"/>
          </a:ln>
        </p:spPr>
      </p:sp>
      <p:sp>
        <p:nvSpPr>
          <p:cNvPr id="7" name="text-874"/>
          <p:cNvSpPr txBox="1"/>
          <p:nvPr/>
        </p:nvSpPr>
        <p:spPr>
          <a:xfrm>
            <a:off x="621792" y="18745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a:t>
            </a:r>
            <a:endParaRPr lang="en-US" sz="1200" dirty="0"/>
          </a:p>
        </p:txBody>
      </p:sp>
      <p:sp>
        <p:nvSpPr>
          <p:cNvPr id="8" name="text-875"/>
          <p:cNvSpPr txBox="1"/>
          <p:nvPr/>
        </p:nvSpPr>
        <p:spPr>
          <a:xfrm>
            <a:off x="1005840" y="18745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Founding Mayor Monument</a:t>
            </a:r>
            <a:endParaRPr lang="en-US" sz="1050" dirty="0"/>
          </a:p>
        </p:txBody>
      </p:sp>
      <p:sp>
        <p:nvSpPr>
          <p:cNvPr id="9" name="text-876"/>
          <p:cNvSpPr txBox="1"/>
          <p:nvPr/>
        </p:nvSpPr>
        <p:spPr>
          <a:xfrm>
            <a:off x="621792" y="23241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a:t>
            </a:r>
            <a:endParaRPr lang="en-US" sz="1200" dirty="0"/>
          </a:p>
        </p:txBody>
      </p:sp>
      <p:sp>
        <p:nvSpPr>
          <p:cNvPr id="10" name="text-877"/>
          <p:cNvSpPr txBox="1"/>
          <p:nvPr/>
        </p:nvSpPr>
        <p:spPr>
          <a:xfrm>
            <a:off x="1005840" y="23241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Civic Center &amp; Municipal Hall</a:t>
            </a:r>
            <a:endParaRPr lang="en-US" sz="1050" dirty="0"/>
          </a:p>
        </p:txBody>
      </p:sp>
      <p:sp>
        <p:nvSpPr>
          <p:cNvPr id="11" name="row-band-878"/>
          <p:cNvSpPr/>
          <p:nvPr/>
        </p:nvSpPr>
        <p:spPr>
          <a:xfrm>
            <a:off x="548640" y="2773680"/>
            <a:ext cx="3095244" cy="449580"/>
          </a:xfrm>
          <a:prstGeom prst="rect">
            <a:avLst/>
          </a:prstGeom>
          <a:solidFill>
            <a:schemeClr val="bg2"/>
          </a:solidFill>
          <a:ln w="12700">
            <a:solidFill>
              <a:schemeClr val="bg2"/>
            </a:solidFill>
            <a:prstDash val="solid"/>
          </a:ln>
        </p:spPr>
      </p:sp>
      <p:sp>
        <p:nvSpPr>
          <p:cNvPr id="12" name="text-879"/>
          <p:cNvSpPr txBox="1"/>
          <p:nvPr/>
        </p:nvSpPr>
        <p:spPr>
          <a:xfrm>
            <a:off x="621792" y="277368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3</a:t>
            </a:r>
            <a:endParaRPr lang="en-US" sz="1200" dirty="0"/>
          </a:p>
        </p:txBody>
      </p:sp>
      <p:sp>
        <p:nvSpPr>
          <p:cNvPr id="13" name="text-880"/>
          <p:cNvSpPr txBox="1"/>
          <p:nvPr/>
        </p:nvSpPr>
        <p:spPr>
          <a:xfrm>
            <a:off x="1005840" y="277368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Snowflake General Hospital</a:t>
            </a:r>
            <a:endParaRPr lang="en-US" sz="1050" dirty="0"/>
          </a:p>
        </p:txBody>
      </p:sp>
      <p:sp>
        <p:nvSpPr>
          <p:cNvPr id="14" name="text-881"/>
          <p:cNvSpPr txBox="1"/>
          <p:nvPr/>
        </p:nvSpPr>
        <p:spPr>
          <a:xfrm>
            <a:off x="621792" y="322326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4</a:t>
            </a:r>
            <a:endParaRPr lang="en-US" sz="1200" dirty="0"/>
          </a:p>
        </p:txBody>
      </p:sp>
      <p:sp>
        <p:nvSpPr>
          <p:cNvPr id="15" name="text-882"/>
          <p:cNvSpPr txBox="1"/>
          <p:nvPr/>
        </p:nvSpPr>
        <p:spPr>
          <a:xfrm>
            <a:off x="1005840" y="322326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Northern Lights School &amp; Botanical Conservatory</a:t>
            </a:r>
            <a:endParaRPr lang="en-US" sz="1050" dirty="0"/>
          </a:p>
        </p:txBody>
      </p:sp>
      <p:sp>
        <p:nvSpPr>
          <p:cNvPr id="16" name="row-band-883"/>
          <p:cNvSpPr/>
          <p:nvPr/>
        </p:nvSpPr>
        <p:spPr>
          <a:xfrm>
            <a:off x="548640" y="3672840"/>
            <a:ext cx="3095244" cy="449580"/>
          </a:xfrm>
          <a:prstGeom prst="rect">
            <a:avLst/>
          </a:prstGeom>
          <a:solidFill>
            <a:schemeClr val="bg2"/>
          </a:solidFill>
          <a:ln w="12700">
            <a:solidFill>
              <a:schemeClr val="bg2"/>
            </a:solidFill>
            <a:prstDash val="solid"/>
          </a:ln>
        </p:spPr>
      </p:sp>
      <p:sp>
        <p:nvSpPr>
          <p:cNvPr id="17" name="text-884"/>
          <p:cNvSpPr txBox="1"/>
          <p:nvPr/>
        </p:nvSpPr>
        <p:spPr>
          <a:xfrm>
            <a:off x="621792" y="367284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5</a:t>
            </a:r>
            <a:endParaRPr lang="en-US" sz="1200" dirty="0"/>
          </a:p>
        </p:txBody>
      </p:sp>
      <p:sp>
        <p:nvSpPr>
          <p:cNvPr id="18" name="text-885"/>
          <p:cNvSpPr txBox="1"/>
          <p:nvPr/>
        </p:nvSpPr>
        <p:spPr>
          <a:xfrm>
            <a:off x="1005840" y="367284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Igloo Fresh Supermarket &amp; Food Hall</a:t>
            </a:r>
            <a:endParaRPr lang="en-US" sz="1050" dirty="0"/>
          </a:p>
        </p:txBody>
      </p:sp>
      <p:sp>
        <p:nvSpPr>
          <p:cNvPr id="19" name="text-886"/>
          <p:cNvSpPr txBox="1"/>
          <p:nvPr/>
        </p:nvSpPr>
        <p:spPr>
          <a:xfrm>
            <a:off x="621792" y="41224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6</a:t>
            </a:r>
            <a:endParaRPr lang="en-US" sz="1200" dirty="0"/>
          </a:p>
        </p:txBody>
      </p:sp>
      <p:sp>
        <p:nvSpPr>
          <p:cNvPr id="20" name="text-887"/>
          <p:cNvSpPr txBox="1"/>
          <p:nvPr/>
        </p:nvSpPr>
        <p:spPr>
          <a:xfrm>
            <a:off x="1005840" y="41224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Cinema &amp; Performing Arts Center</a:t>
            </a:r>
            <a:endParaRPr lang="en-US" sz="1050" dirty="0"/>
          </a:p>
        </p:txBody>
      </p:sp>
      <p:sp>
        <p:nvSpPr>
          <p:cNvPr id="21" name="row-band-888"/>
          <p:cNvSpPr/>
          <p:nvPr/>
        </p:nvSpPr>
        <p:spPr>
          <a:xfrm>
            <a:off x="548640" y="4572000"/>
            <a:ext cx="3095244" cy="449580"/>
          </a:xfrm>
          <a:prstGeom prst="rect">
            <a:avLst/>
          </a:prstGeom>
          <a:solidFill>
            <a:schemeClr val="bg2"/>
          </a:solidFill>
          <a:ln w="12700">
            <a:solidFill>
              <a:schemeClr val="bg2"/>
            </a:solidFill>
            <a:prstDash val="solid"/>
          </a:ln>
        </p:spPr>
      </p:sp>
      <p:sp>
        <p:nvSpPr>
          <p:cNvPr id="22" name="text-889"/>
          <p:cNvSpPr txBox="1"/>
          <p:nvPr/>
        </p:nvSpPr>
        <p:spPr>
          <a:xfrm>
            <a:off x="621792" y="45720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7</a:t>
            </a:r>
            <a:endParaRPr lang="en-US" sz="1200" dirty="0"/>
          </a:p>
        </p:txBody>
      </p:sp>
      <p:sp>
        <p:nvSpPr>
          <p:cNvPr id="23" name="text-890"/>
          <p:cNvSpPr txBox="1"/>
          <p:nvPr/>
        </p:nvSpPr>
        <p:spPr>
          <a:xfrm>
            <a:off x="1005840" y="45720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Underground Metro &amp; Emergency Shelters</a:t>
            </a:r>
            <a:endParaRPr lang="en-US" sz="1050" dirty="0"/>
          </a:p>
        </p:txBody>
      </p:sp>
      <p:sp>
        <p:nvSpPr>
          <p:cNvPr id="24" name="text-891"/>
          <p:cNvSpPr txBox="1"/>
          <p:nvPr/>
        </p:nvSpPr>
        <p:spPr>
          <a:xfrm>
            <a:off x="621792" y="502158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8</a:t>
            </a:r>
            <a:endParaRPr lang="en-US" sz="1200" dirty="0"/>
          </a:p>
        </p:txBody>
      </p:sp>
      <p:sp>
        <p:nvSpPr>
          <p:cNvPr id="25" name="text-892"/>
          <p:cNvSpPr txBox="1"/>
          <p:nvPr/>
        </p:nvSpPr>
        <p:spPr>
          <a:xfrm>
            <a:off x="1005840" y="502158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Core – AI Control Tower</a:t>
            </a:r>
            <a:endParaRPr lang="en-US" sz="1050" dirty="0"/>
          </a:p>
        </p:txBody>
      </p:sp>
      <p:sp>
        <p:nvSpPr>
          <p:cNvPr id="26" name="row-band-893"/>
          <p:cNvSpPr/>
          <p:nvPr/>
        </p:nvSpPr>
        <p:spPr>
          <a:xfrm>
            <a:off x="548640" y="5471160"/>
            <a:ext cx="3095244" cy="449580"/>
          </a:xfrm>
          <a:prstGeom prst="rect">
            <a:avLst/>
          </a:prstGeom>
          <a:solidFill>
            <a:schemeClr val="bg2"/>
          </a:solidFill>
          <a:ln w="12700">
            <a:solidFill>
              <a:schemeClr val="bg2"/>
            </a:solidFill>
            <a:prstDash val="solid"/>
          </a:ln>
        </p:spPr>
      </p:sp>
      <p:sp>
        <p:nvSpPr>
          <p:cNvPr id="27" name="text-894"/>
          <p:cNvSpPr txBox="1"/>
          <p:nvPr/>
        </p:nvSpPr>
        <p:spPr>
          <a:xfrm>
            <a:off x="621792" y="547116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9</a:t>
            </a:r>
            <a:endParaRPr lang="en-US" sz="1200" dirty="0"/>
          </a:p>
        </p:txBody>
      </p:sp>
      <p:sp>
        <p:nvSpPr>
          <p:cNvPr id="28" name="text-895"/>
          <p:cNvSpPr txBox="1"/>
          <p:nvPr/>
        </p:nvSpPr>
        <p:spPr>
          <a:xfrm>
            <a:off x="1005840" y="547116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Haven Police Headquarters</a:t>
            </a:r>
            <a:endParaRPr lang="en-US" sz="1050" dirty="0"/>
          </a:p>
        </p:txBody>
      </p:sp>
      <p:sp>
        <p:nvSpPr>
          <p:cNvPr id="29" name="text-896"/>
          <p:cNvSpPr txBox="1"/>
          <p:nvPr/>
        </p:nvSpPr>
        <p:spPr>
          <a:xfrm>
            <a:off x="621792" y="592074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10</a:t>
            </a:r>
            <a:endParaRPr lang="en-US" sz="1200" dirty="0"/>
          </a:p>
        </p:txBody>
      </p:sp>
      <p:sp>
        <p:nvSpPr>
          <p:cNvPr id="30" name="text-897"/>
          <p:cNvSpPr txBox="1"/>
          <p:nvPr/>
        </p:nvSpPr>
        <p:spPr>
          <a:xfrm>
            <a:off x="1005840" y="592074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Arctic University – Main Hall</a:t>
            </a:r>
            <a:endParaRPr lang="en-US" sz="1050" dirty="0"/>
          </a:p>
        </p:txBody>
      </p:sp>
      <p:sp>
        <p:nvSpPr>
          <p:cNvPr id="31" name="row-band-898"/>
          <p:cNvSpPr/>
          <p:nvPr/>
        </p:nvSpPr>
        <p:spPr>
          <a:xfrm>
            <a:off x="548640" y="6370320"/>
            <a:ext cx="3095244" cy="449580"/>
          </a:xfrm>
          <a:prstGeom prst="rect">
            <a:avLst/>
          </a:prstGeom>
          <a:solidFill>
            <a:schemeClr val="bg2"/>
          </a:solidFill>
          <a:ln w="12700">
            <a:solidFill>
              <a:schemeClr val="bg2"/>
            </a:solidFill>
            <a:prstDash val="solid"/>
          </a:ln>
        </p:spPr>
      </p:sp>
      <p:sp>
        <p:nvSpPr>
          <p:cNvPr id="32" name="text-899"/>
          <p:cNvSpPr txBox="1"/>
          <p:nvPr/>
        </p:nvSpPr>
        <p:spPr>
          <a:xfrm>
            <a:off x="621792" y="63703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11</a:t>
            </a:r>
            <a:endParaRPr lang="en-US" sz="1200" dirty="0"/>
          </a:p>
        </p:txBody>
      </p:sp>
      <p:sp>
        <p:nvSpPr>
          <p:cNvPr id="33" name="text-900"/>
          <p:cNvSpPr txBox="1"/>
          <p:nvPr/>
        </p:nvSpPr>
        <p:spPr>
          <a:xfrm>
            <a:off x="1005840" y="63703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Public Library</a:t>
            </a:r>
            <a:endParaRPr lang="en-US" sz="1050" dirty="0"/>
          </a:p>
        </p:txBody>
      </p:sp>
      <p:sp>
        <p:nvSpPr>
          <p:cNvPr id="34" name="text-901"/>
          <p:cNvSpPr txBox="1"/>
          <p:nvPr/>
        </p:nvSpPr>
        <p:spPr>
          <a:xfrm>
            <a:off x="621792" y="68199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12</a:t>
            </a:r>
            <a:endParaRPr lang="en-US" sz="1200" dirty="0"/>
          </a:p>
        </p:txBody>
      </p:sp>
      <p:sp>
        <p:nvSpPr>
          <p:cNvPr id="35" name="text-902"/>
          <p:cNvSpPr txBox="1"/>
          <p:nvPr/>
        </p:nvSpPr>
        <p:spPr>
          <a:xfrm>
            <a:off x="1005840" y="68199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West Market Fire &amp; Ambulance Station</a:t>
            </a:r>
            <a:endParaRPr lang="en-US" sz="1050" dirty="0"/>
          </a:p>
        </p:txBody>
      </p:sp>
      <p:sp>
        <p:nvSpPr>
          <p:cNvPr id="36" name="row-band-903"/>
          <p:cNvSpPr/>
          <p:nvPr/>
        </p:nvSpPr>
        <p:spPr>
          <a:xfrm>
            <a:off x="548640" y="7269480"/>
            <a:ext cx="3095244" cy="449580"/>
          </a:xfrm>
          <a:prstGeom prst="rect">
            <a:avLst/>
          </a:prstGeom>
          <a:solidFill>
            <a:schemeClr val="bg2"/>
          </a:solidFill>
          <a:ln w="12700">
            <a:solidFill>
              <a:schemeClr val="bg2"/>
            </a:solidFill>
            <a:prstDash val="solid"/>
          </a:ln>
        </p:spPr>
      </p:sp>
      <p:sp>
        <p:nvSpPr>
          <p:cNvPr id="37" name="text-904"/>
          <p:cNvSpPr txBox="1"/>
          <p:nvPr/>
        </p:nvSpPr>
        <p:spPr>
          <a:xfrm>
            <a:off x="621792" y="726948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13</a:t>
            </a:r>
            <a:endParaRPr lang="en-US" sz="1200" dirty="0"/>
          </a:p>
        </p:txBody>
      </p:sp>
      <p:sp>
        <p:nvSpPr>
          <p:cNvPr id="38" name="text-905"/>
          <p:cNvSpPr txBox="1"/>
          <p:nvPr/>
        </p:nvSpPr>
        <p:spPr>
          <a:xfrm>
            <a:off x="1005840" y="726948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Glacier Mall &amp; Crystal Atrium</a:t>
            </a:r>
            <a:endParaRPr lang="en-US" sz="1050" dirty="0"/>
          </a:p>
        </p:txBody>
      </p:sp>
      <p:sp>
        <p:nvSpPr>
          <p:cNvPr id="39" name="text-906"/>
          <p:cNvSpPr txBox="1"/>
          <p:nvPr/>
        </p:nvSpPr>
        <p:spPr>
          <a:xfrm>
            <a:off x="621792" y="771906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14</a:t>
            </a:r>
            <a:endParaRPr lang="en-US" sz="1200" dirty="0"/>
          </a:p>
        </p:txBody>
      </p:sp>
      <p:sp>
        <p:nvSpPr>
          <p:cNvPr id="40" name="text-907"/>
          <p:cNvSpPr txBox="1"/>
          <p:nvPr/>
        </p:nvSpPr>
        <p:spPr>
          <a:xfrm>
            <a:off x="1005840" y="771906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Snow Lantern Primary School</a:t>
            </a:r>
            <a:endParaRPr lang="en-US" sz="1050" dirty="0"/>
          </a:p>
        </p:txBody>
      </p:sp>
      <p:sp>
        <p:nvSpPr>
          <p:cNvPr id="41" name="row-band-908"/>
          <p:cNvSpPr/>
          <p:nvPr/>
        </p:nvSpPr>
        <p:spPr>
          <a:xfrm>
            <a:off x="548640" y="8168640"/>
            <a:ext cx="3095244" cy="449580"/>
          </a:xfrm>
          <a:prstGeom prst="rect">
            <a:avLst/>
          </a:prstGeom>
          <a:solidFill>
            <a:schemeClr val="bg2"/>
          </a:solidFill>
          <a:ln w="12700">
            <a:solidFill>
              <a:schemeClr val="bg2"/>
            </a:solidFill>
            <a:prstDash val="solid"/>
          </a:ln>
        </p:spPr>
      </p:sp>
      <p:sp>
        <p:nvSpPr>
          <p:cNvPr id="42" name="text-909"/>
          <p:cNvSpPr txBox="1"/>
          <p:nvPr/>
        </p:nvSpPr>
        <p:spPr>
          <a:xfrm>
            <a:off x="621792" y="816864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15</a:t>
            </a:r>
            <a:endParaRPr lang="en-US" sz="1200" dirty="0"/>
          </a:p>
        </p:txBody>
      </p:sp>
      <p:sp>
        <p:nvSpPr>
          <p:cNvPr id="43" name="text-910"/>
          <p:cNvSpPr txBox="1"/>
          <p:nvPr/>
        </p:nvSpPr>
        <p:spPr>
          <a:xfrm>
            <a:off x="1005840" y="816864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Pinecone Kindergarten</a:t>
            </a:r>
            <a:endParaRPr lang="en-US" sz="1050" dirty="0"/>
          </a:p>
        </p:txBody>
      </p:sp>
      <p:sp>
        <p:nvSpPr>
          <p:cNvPr id="44" name="text-911"/>
          <p:cNvSpPr txBox="1"/>
          <p:nvPr/>
        </p:nvSpPr>
        <p:spPr>
          <a:xfrm>
            <a:off x="621792" y="86182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16</a:t>
            </a:r>
            <a:endParaRPr lang="en-US" sz="1200" dirty="0"/>
          </a:p>
        </p:txBody>
      </p:sp>
      <p:sp>
        <p:nvSpPr>
          <p:cNvPr id="45" name="text-912"/>
          <p:cNvSpPr txBox="1"/>
          <p:nvPr/>
        </p:nvSpPr>
        <p:spPr>
          <a:xfrm>
            <a:off x="1005840" y="86182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81 – Polar Landmark Tower</a:t>
            </a:r>
            <a:endParaRPr lang="en-US" sz="1050" dirty="0"/>
          </a:p>
        </p:txBody>
      </p:sp>
      <p:sp>
        <p:nvSpPr>
          <p:cNvPr id="46" name="row-band-913"/>
          <p:cNvSpPr/>
          <p:nvPr/>
        </p:nvSpPr>
        <p:spPr>
          <a:xfrm>
            <a:off x="548640" y="9067800"/>
            <a:ext cx="3095244" cy="449580"/>
          </a:xfrm>
          <a:prstGeom prst="rect">
            <a:avLst/>
          </a:prstGeom>
          <a:solidFill>
            <a:schemeClr val="bg2"/>
          </a:solidFill>
          <a:ln w="12700">
            <a:solidFill>
              <a:schemeClr val="bg2"/>
            </a:solidFill>
            <a:prstDash val="solid"/>
          </a:ln>
        </p:spPr>
      </p:sp>
      <p:sp>
        <p:nvSpPr>
          <p:cNvPr id="47" name="text-914"/>
          <p:cNvSpPr txBox="1"/>
          <p:nvPr/>
        </p:nvSpPr>
        <p:spPr>
          <a:xfrm>
            <a:off x="621792" y="90678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17</a:t>
            </a:r>
            <a:endParaRPr lang="en-US" sz="1200" dirty="0"/>
          </a:p>
        </p:txBody>
      </p:sp>
      <p:sp>
        <p:nvSpPr>
          <p:cNvPr id="48" name="text-915"/>
          <p:cNvSpPr txBox="1"/>
          <p:nvPr/>
        </p:nvSpPr>
        <p:spPr>
          <a:xfrm>
            <a:off x="1005840" y="90678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Snow Garden Park</a:t>
            </a:r>
            <a:endParaRPr lang="en-US" sz="1050" dirty="0"/>
          </a:p>
        </p:txBody>
      </p:sp>
      <p:sp>
        <p:nvSpPr>
          <p:cNvPr id="49" name="text-916"/>
          <p:cNvSpPr txBox="1"/>
          <p:nvPr/>
        </p:nvSpPr>
        <p:spPr>
          <a:xfrm>
            <a:off x="621792" y="951738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18</a:t>
            </a:r>
            <a:endParaRPr lang="en-US" sz="1200" dirty="0"/>
          </a:p>
        </p:txBody>
      </p:sp>
      <p:sp>
        <p:nvSpPr>
          <p:cNvPr id="50" name="text-917"/>
          <p:cNvSpPr txBox="1"/>
          <p:nvPr/>
        </p:nvSpPr>
        <p:spPr>
          <a:xfrm>
            <a:off x="1005840" y="951738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Mount Aurora – Snow Peak &amp; Hanging Glacier</a:t>
            </a:r>
            <a:endParaRPr lang="en-US" sz="1050" dirty="0"/>
          </a:p>
        </p:txBody>
      </p:sp>
      <p:sp>
        <p:nvSpPr>
          <p:cNvPr id="51" name="row-band-918"/>
          <p:cNvSpPr/>
          <p:nvPr/>
        </p:nvSpPr>
        <p:spPr>
          <a:xfrm>
            <a:off x="3918204" y="1874520"/>
            <a:ext cx="3095244" cy="449580"/>
          </a:xfrm>
          <a:prstGeom prst="rect">
            <a:avLst/>
          </a:prstGeom>
          <a:solidFill>
            <a:schemeClr val="bg2"/>
          </a:solidFill>
          <a:ln w="12700">
            <a:solidFill>
              <a:schemeClr val="bg2"/>
            </a:solidFill>
            <a:prstDash val="solid"/>
          </a:ln>
        </p:spPr>
      </p:sp>
      <p:sp>
        <p:nvSpPr>
          <p:cNvPr id="52" name="text-919"/>
          <p:cNvSpPr txBox="1"/>
          <p:nvPr/>
        </p:nvSpPr>
        <p:spPr>
          <a:xfrm>
            <a:off x="3991356" y="18745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19</a:t>
            </a:r>
            <a:endParaRPr lang="en-US" sz="1200" dirty="0"/>
          </a:p>
        </p:txBody>
      </p:sp>
      <p:sp>
        <p:nvSpPr>
          <p:cNvPr id="53" name="text-920"/>
          <p:cNvSpPr txBox="1"/>
          <p:nvPr/>
        </p:nvSpPr>
        <p:spPr>
          <a:xfrm>
            <a:off x="4375404" y="18745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Summit Sanctuary &amp; Aurora Eye</a:t>
            </a:r>
            <a:endParaRPr lang="en-US" sz="1050" dirty="0"/>
          </a:p>
        </p:txBody>
      </p:sp>
      <p:sp>
        <p:nvSpPr>
          <p:cNvPr id="54" name="text-921"/>
          <p:cNvSpPr txBox="1"/>
          <p:nvPr/>
        </p:nvSpPr>
        <p:spPr>
          <a:xfrm>
            <a:off x="3991356" y="23241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20</a:t>
            </a:r>
            <a:endParaRPr lang="en-US" sz="1200" dirty="0"/>
          </a:p>
        </p:txBody>
      </p:sp>
      <p:sp>
        <p:nvSpPr>
          <p:cNvPr id="55" name="text-922"/>
          <p:cNvSpPr txBox="1"/>
          <p:nvPr/>
        </p:nvSpPr>
        <p:spPr>
          <a:xfrm>
            <a:off x="4375404" y="23241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Lagoon – Outdoor Geothermal Mineral Pool</a:t>
            </a:r>
            <a:endParaRPr lang="en-US" sz="1050" dirty="0"/>
          </a:p>
        </p:txBody>
      </p:sp>
      <p:sp>
        <p:nvSpPr>
          <p:cNvPr id="56" name="row-band-923"/>
          <p:cNvSpPr/>
          <p:nvPr/>
        </p:nvSpPr>
        <p:spPr>
          <a:xfrm>
            <a:off x="3918204" y="2773680"/>
            <a:ext cx="3095244" cy="449580"/>
          </a:xfrm>
          <a:prstGeom prst="rect">
            <a:avLst/>
          </a:prstGeom>
          <a:solidFill>
            <a:schemeClr val="bg2"/>
          </a:solidFill>
          <a:ln w="12700">
            <a:solidFill>
              <a:schemeClr val="bg2"/>
            </a:solidFill>
            <a:prstDash val="solid"/>
          </a:ln>
        </p:spPr>
      </p:sp>
      <p:sp>
        <p:nvSpPr>
          <p:cNvPr id="57" name="text-924"/>
          <p:cNvSpPr txBox="1"/>
          <p:nvPr/>
        </p:nvSpPr>
        <p:spPr>
          <a:xfrm>
            <a:off x="3991356" y="277368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21</a:t>
            </a:r>
            <a:endParaRPr lang="en-US" sz="1200" dirty="0"/>
          </a:p>
        </p:txBody>
      </p:sp>
      <p:sp>
        <p:nvSpPr>
          <p:cNvPr id="58" name="text-925"/>
          <p:cNvSpPr txBox="1"/>
          <p:nvPr/>
        </p:nvSpPr>
        <p:spPr>
          <a:xfrm>
            <a:off x="4375404" y="277368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Fusion Core – Compact D-T Tokamak</a:t>
            </a:r>
            <a:endParaRPr lang="en-US" sz="1050" dirty="0"/>
          </a:p>
        </p:txBody>
      </p:sp>
      <p:sp>
        <p:nvSpPr>
          <p:cNvPr id="59" name="text-926"/>
          <p:cNvSpPr txBox="1"/>
          <p:nvPr/>
        </p:nvSpPr>
        <p:spPr>
          <a:xfrm>
            <a:off x="3991356" y="322326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22</a:t>
            </a:r>
            <a:endParaRPr lang="en-US" sz="1200" dirty="0"/>
          </a:p>
        </p:txBody>
      </p:sp>
      <p:sp>
        <p:nvSpPr>
          <p:cNvPr id="60" name="text-927"/>
          <p:cNvSpPr txBox="1"/>
          <p:nvPr/>
        </p:nvSpPr>
        <p:spPr>
          <a:xfrm>
            <a:off x="4375404" y="322326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Power Conversion &amp; Heat Export Hall</a:t>
            </a:r>
            <a:endParaRPr lang="en-US" sz="1050" dirty="0"/>
          </a:p>
        </p:txBody>
      </p:sp>
      <p:sp>
        <p:nvSpPr>
          <p:cNvPr id="61" name="row-band-928"/>
          <p:cNvSpPr/>
          <p:nvPr/>
        </p:nvSpPr>
        <p:spPr>
          <a:xfrm>
            <a:off x="3918204" y="3672840"/>
            <a:ext cx="3095244" cy="449580"/>
          </a:xfrm>
          <a:prstGeom prst="rect">
            <a:avLst/>
          </a:prstGeom>
          <a:solidFill>
            <a:schemeClr val="bg2"/>
          </a:solidFill>
          <a:ln w="12700">
            <a:solidFill>
              <a:schemeClr val="bg2"/>
            </a:solidFill>
            <a:prstDash val="solid"/>
          </a:ln>
        </p:spPr>
      </p:sp>
      <p:sp>
        <p:nvSpPr>
          <p:cNvPr id="62" name="text-929"/>
          <p:cNvSpPr txBox="1"/>
          <p:nvPr/>
        </p:nvSpPr>
        <p:spPr>
          <a:xfrm>
            <a:off x="3991356" y="367284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23</a:t>
            </a:r>
            <a:endParaRPr lang="en-US" sz="1200" dirty="0"/>
          </a:p>
        </p:txBody>
      </p:sp>
      <p:sp>
        <p:nvSpPr>
          <p:cNvPr id="63" name="text-930"/>
          <p:cNvSpPr txBox="1"/>
          <p:nvPr/>
        </p:nvSpPr>
        <p:spPr>
          <a:xfrm>
            <a:off x="4375404" y="367284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Plasma Waste Converter</a:t>
            </a:r>
            <a:endParaRPr lang="en-US" sz="1050" dirty="0"/>
          </a:p>
        </p:txBody>
      </p:sp>
      <p:sp>
        <p:nvSpPr>
          <p:cNvPr id="64" name="text-931"/>
          <p:cNvSpPr txBox="1"/>
          <p:nvPr/>
        </p:nvSpPr>
        <p:spPr>
          <a:xfrm>
            <a:off x="3991356" y="41224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24</a:t>
            </a:r>
            <a:endParaRPr lang="en-US" sz="1200" dirty="0"/>
          </a:p>
        </p:txBody>
      </p:sp>
      <p:sp>
        <p:nvSpPr>
          <p:cNvPr id="65" name="text-932"/>
          <p:cNvSpPr txBox="1"/>
          <p:nvPr/>
        </p:nvSpPr>
        <p:spPr>
          <a:xfrm>
            <a:off x="4375404" y="41224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Snow Harvest &amp; Melt Hall</a:t>
            </a:r>
            <a:endParaRPr lang="en-US" sz="1050" dirty="0"/>
          </a:p>
        </p:txBody>
      </p:sp>
      <p:sp>
        <p:nvSpPr>
          <p:cNvPr id="66" name="row-band-933"/>
          <p:cNvSpPr/>
          <p:nvPr/>
        </p:nvSpPr>
        <p:spPr>
          <a:xfrm>
            <a:off x="3918204" y="4572000"/>
            <a:ext cx="3095244" cy="449580"/>
          </a:xfrm>
          <a:prstGeom prst="rect">
            <a:avLst/>
          </a:prstGeom>
          <a:solidFill>
            <a:schemeClr val="bg2"/>
          </a:solidFill>
          <a:ln w="12700">
            <a:solidFill>
              <a:schemeClr val="bg2"/>
            </a:solidFill>
            <a:prstDash val="solid"/>
          </a:ln>
        </p:spPr>
      </p:sp>
      <p:sp>
        <p:nvSpPr>
          <p:cNvPr id="67" name="text-934"/>
          <p:cNvSpPr txBox="1"/>
          <p:nvPr/>
        </p:nvSpPr>
        <p:spPr>
          <a:xfrm>
            <a:off x="3991356" y="45720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25</a:t>
            </a:r>
            <a:endParaRPr lang="en-US" sz="1200" dirty="0"/>
          </a:p>
        </p:txBody>
      </p:sp>
      <p:sp>
        <p:nvSpPr>
          <p:cNvPr id="68" name="text-935"/>
          <p:cNvSpPr txBox="1"/>
          <p:nvPr/>
        </p:nvSpPr>
        <p:spPr>
          <a:xfrm>
            <a:off x="4375404" y="45720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Drinking-Water &amp; Mineral Works</a:t>
            </a:r>
            <a:endParaRPr lang="en-US" sz="1050" dirty="0"/>
          </a:p>
        </p:txBody>
      </p:sp>
      <p:sp>
        <p:nvSpPr>
          <p:cNvPr id="69" name="text-936"/>
          <p:cNvSpPr txBox="1"/>
          <p:nvPr/>
        </p:nvSpPr>
        <p:spPr>
          <a:xfrm>
            <a:off x="3991356" y="502158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26</a:t>
            </a:r>
            <a:endParaRPr lang="en-US" sz="1200" dirty="0"/>
          </a:p>
        </p:txBody>
      </p:sp>
      <p:sp>
        <p:nvSpPr>
          <p:cNvPr id="70" name="text-937"/>
          <p:cNvSpPr txBox="1"/>
          <p:nvPr/>
        </p:nvSpPr>
        <p:spPr>
          <a:xfrm>
            <a:off x="4375404" y="502158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Bioreactor Silos</a:t>
            </a:r>
            <a:endParaRPr lang="en-US" sz="1050" dirty="0"/>
          </a:p>
        </p:txBody>
      </p:sp>
      <p:sp>
        <p:nvSpPr>
          <p:cNvPr id="71" name="row-band-938"/>
          <p:cNvSpPr/>
          <p:nvPr/>
        </p:nvSpPr>
        <p:spPr>
          <a:xfrm>
            <a:off x="3918204" y="5471160"/>
            <a:ext cx="3095244" cy="449580"/>
          </a:xfrm>
          <a:prstGeom prst="rect">
            <a:avLst/>
          </a:prstGeom>
          <a:solidFill>
            <a:schemeClr val="bg2"/>
          </a:solidFill>
          <a:ln w="12700">
            <a:solidFill>
              <a:schemeClr val="bg2"/>
            </a:solidFill>
            <a:prstDash val="solid"/>
          </a:ln>
        </p:spPr>
      </p:sp>
      <p:sp>
        <p:nvSpPr>
          <p:cNvPr id="72" name="text-939"/>
          <p:cNvSpPr txBox="1"/>
          <p:nvPr/>
        </p:nvSpPr>
        <p:spPr>
          <a:xfrm>
            <a:off x="3991356" y="547116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27</a:t>
            </a:r>
            <a:endParaRPr lang="en-US" sz="1200" dirty="0"/>
          </a:p>
        </p:txBody>
      </p:sp>
      <p:sp>
        <p:nvSpPr>
          <p:cNvPr id="73" name="text-940"/>
          <p:cNvSpPr txBox="1"/>
          <p:nvPr/>
        </p:nvSpPr>
        <p:spPr>
          <a:xfrm>
            <a:off x="4375404" y="547116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Ice-Proof Wind Farm</a:t>
            </a:r>
            <a:endParaRPr lang="en-US" sz="1050" dirty="0"/>
          </a:p>
        </p:txBody>
      </p:sp>
      <p:sp>
        <p:nvSpPr>
          <p:cNvPr id="74" name="text-941"/>
          <p:cNvSpPr txBox="1"/>
          <p:nvPr/>
        </p:nvSpPr>
        <p:spPr>
          <a:xfrm>
            <a:off x="3991356" y="592074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28</a:t>
            </a:r>
            <a:endParaRPr lang="en-US" sz="1200" dirty="0"/>
          </a:p>
        </p:txBody>
      </p:sp>
      <p:sp>
        <p:nvSpPr>
          <p:cNvPr id="75" name="text-942"/>
          <p:cNvSpPr txBox="1"/>
          <p:nvPr/>
        </p:nvSpPr>
        <p:spPr>
          <a:xfrm>
            <a:off x="4375404" y="592074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Bifacial Solar Farm</a:t>
            </a:r>
            <a:endParaRPr lang="en-US" sz="1050" dirty="0"/>
          </a:p>
        </p:txBody>
      </p:sp>
      <p:sp>
        <p:nvSpPr>
          <p:cNvPr id="76" name="row-band-943"/>
          <p:cNvSpPr/>
          <p:nvPr/>
        </p:nvSpPr>
        <p:spPr>
          <a:xfrm>
            <a:off x="3918204" y="6370320"/>
            <a:ext cx="3095244" cy="449580"/>
          </a:xfrm>
          <a:prstGeom prst="rect">
            <a:avLst/>
          </a:prstGeom>
          <a:solidFill>
            <a:schemeClr val="bg2"/>
          </a:solidFill>
          <a:ln w="12700">
            <a:solidFill>
              <a:schemeClr val="bg2"/>
            </a:solidFill>
            <a:prstDash val="solid"/>
          </a:ln>
        </p:spPr>
      </p:sp>
      <p:sp>
        <p:nvSpPr>
          <p:cNvPr id="77" name="text-944"/>
          <p:cNvSpPr txBox="1"/>
          <p:nvPr/>
        </p:nvSpPr>
        <p:spPr>
          <a:xfrm>
            <a:off x="3991356" y="63703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29</a:t>
            </a:r>
            <a:endParaRPr lang="en-US" sz="1200" dirty="0"/>
          </a:p>
        </p:txBody>
      </p:sp>
      <p:sp>
        <p:nvSpPr>
          <p:cNvPr id="78" name="text-945"/>
          <p:cNvSpPr txBox="1"/>
          <p:nvPr/>
        </p:nvSpPr>
        <p:spPr>
          <a:xfrm>
            <a:off x="4375404" y="63703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Water Recycling Line – Recycled Water Tower</a:t>
            </a:r>
            <a:endParaRPr lang="en-US" sz="1050" dirty="0"/>
          </a:p>
        </p:txBody>
      </p:sp>
      <p:sp>
        <p:nvSpPr>
          <p:cNvPr id="79" name="text-946"/>
          <p:cNvSpPr txBox="1"/>
          <p:nvPr/>
        </p:nvSpPr>
        <p:spPr>
          <a:xfrm>
            <a:off x="3991356" y="68199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30</a:t>
            </a:r>
            <a:endParaRPr lang="en-US" sz="1200" dirty="0"/>
          </a:p>
        </p:txBody>
      </p:sp>
      <p:sp>
        <p:nvSpPr>
          <p:cNvPr id="80" name="text-947"/>
          <p:cNvSpPr txBox="1"/>
          <p:nvPr/>
        </p:nvSpPr>
        <p:spPr>
          <a:xfrm>
            <a:off x="4375404" y="68199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Geothermal Power Plant</a:t>
            </a:r>
            <a:endParaRPr lang="en-US" sz="1050" dirty="0"/>
          </a:p>
        </p:txBody>
      </p:sp>
      <p:sp>
        <p:nvSpPr>
          <p:cNvPr id="81" name="row-band-948"/>
          <p:cNvSpPr/>
          <p:nvPr/>
        </p:nvSpPr>
        <p:spPr>
          <a:xfrm>
            <a:off x="3918204" y="7269480"/>
            <a:ext cx="3095244" cy="449580"/>
          </a:xfrm>
          <a:prstGeom prst="rect">
            <a:avLst/>
          </a:prstGeom>
          <a:solidFill>
            <a:schemeClr val="bg2"/>
          </a:solidFill>
          <a:ln w="12700">
            <a:solidFill>
              <a:schemeClr val="bg2"/>
            </a:solidFill>
            <a:prstDash val="solid"/>
          </a:ln>
        </p:spPr>
      </p:sp>
      <p:sp>
        <p:nvSpPr>
          <p:cNvPr id="82" name="text-949"/>
          <p:cNvSpPr txBox="1"/>
          <p:nvPr/>
        </p:nvSpPr>
        <p:spPr>
          <a:xfrm>
            <a:off x="3991356" y="726948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31</a:t>
            </a:r>
            <a:endParaRPr lang="en-US" sz="1200" dirty="0"/>
          </a:p>
        </p:txBody>
      </p:sp>
      <p:sp>
        <p:nvSpPr>
          <p:cNvPr id="83" name="text-950"/>
          <p:cNvSpPr txBox="1"/>
          <p:nvPr/>
        </p:nvSpPr>
        <p:spPr>
          <a:xfrm>
            <a:off x="4375404" y="726948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Polar Rescue and Resilience Station</a:t>
            </a:r>
            <a:endParaRPr lang="en-US" sz="1050" dirty="0"/>
          </a:p>
        </p:txBody>
      </p:sp>
      <p:sp>
        <p:nvSpPr>
          <p:cNvPr id="84" name="text-951"/>
          <p:cNvSpPr txBox="1"/>
          <p:nvPr/>
        </p:nvSpPr>
        <p:spPr>
          <a:xfrm>
            <a:off x="3991356" y="771906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32</a:t>
            </a:r>
            <a:endParaRPr lang="en-US" sz="1200" dirty="0"/>
          </a:p>
        </p:txBody>
      </p:sp>
      <p:sp>
        <p:nvSpPr>
          <p:cNvPr id="85" name="text-952"/>
          <p:cNvSpPr txBox="1"/>
          <p:nvPr/>
        </p:nvSpPr>
        <p:spPr>
          <a:xfrm>
            <a:off x="4375404" y="771906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Glass Terminal, Control Tower &amp; Gate 1 Dreamliner</a:t>
            </a:r>
            <a:endParaRPr lang="en-US" sz="1050" dirty="0"/>
          </a:p>
        </p:txBody>
      </p:sp>
      <p:sp>
        <p:nvSpPr>
          <p:cNvPr id="86" name="row-band-953"/>
          <p:cNvSpPr/>
          <p:nvPr/>
        </p:nvSpPr>
        <p:spPr>
          <a:xfrm>
            <a:off x="3918204" y="8168640"/>
            <a:ext cx="3095244" cy="449580"/>
          </a:xfrm>
          <a:prstGeom prst="rect">
            <a:avLst/>
          </a:prstGeom>
          <a:solidFill>
            <a:schemeClr val="bg2"/>
          </a:solidFill>
          <a:ln w="12700">
            <a:solidFill>
              <a:schemeClr val="bg2"/>
            </a:solidFill>
            <a:prstDash val="solid"/>
          </a:ln>
        </p:spPr>
      </p:sp>
      <p:sp>
        <p:nvSpPr>
          <p:cNvPr id="87" name="text-954"/>
          <p:cNvSpPr txBox="1"/>
          <p:nvPr/>
        </p:nvSpPr>
        <p:spPr>
          <a:xfrm>
            <a:off x="3991356" y="816864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33</a:t>
            </a:r>
            <a:endParaRPr lang="en-US" sz="1200" dirty="0"/>
          </a:p>
        </p:txBody>
      </p:sp>
      <p:sp>
        <p:nvSpPr>
          <p:cNvPr id="88" name="text-955"/>
          <p:cNvSpPr txBox="1"/>
          <p:nvPr/>
        </p:nvSpPr>
        <p:spPr>
          <a:xfrm>
            <a:off x="4375404" y="816864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Evergreen Greenhouse Dome</a:t>
            </a:r>
            <a:endParaRPr lang="en-US" sz="1050" dirty="0"/>
          </a:p>
        </p:txBody>
      </p:sp>
      <p:sp>
        <p:nvSpPr>
          <p:cNvPr id="89" name="text-956"/>
          <p:cNvSpPr txBox="1"/>
          <p:nvPr/>
        </p:nvSpPr>
        <p:spPr>
          <a:xfrm>
            <a:off x="3991356" y="861822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34</a:t>
            </a:r>
            <a:endParaRPr lang="en-US" sz="1200" dirty="0"/>
          </a:p>
        </p:txBody>
      </p:sp>
      <p:sp>
        <p:nvSpPr>
          <p:cNvPr id="90" name="text-957"/>
          <p:cNvSpPr txBox="1"/>
          <p:nvPr/>
        </p:nvSpPr>
        <p:spPr>
          <a:xfrm>
            <a:off x="4375404" y="861822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Circular Recycling Center</a:t>
            </a:r>
            <a:endParaRPr lang="en-US" sz="1050" dirty="0"/>
          </a:p>
        </p:txBody>
      </p:sp>
      <p:sp>
        <p:nvSpPr>
          <p:cNvPr id="91" name="row-band-958"/>
          <p:cNvSpPr/>
          <p:nvPr/>
        </p:nvSpPr>
        <p:spPr>
          <a:xfrm>
            <a:off x="3918204" y="9067800"/>
            <a:ext cx="3095244" cy="449580"/>
          </a:xfrm>
          <a:prstGeom prst="rect">
            <a:avLst/>
          </a:prstGeom>
          <a:solidFill>
            <a:schemeClr val="bg2"/>
          </a:solidFill>
          <a:ln w="12700">
            <a:solidFill>
              <a:schemeClr val="bg2"/>
            </a:solidFill>
            <a:prstDash val="solid"/>
          </a:ln>
        </p:spPr>
      </p:sp>
      <p:sp>
        <p:nvSpPr>
          <p:cNvPr id="92" name="text-959"/>
          <p:cNvSpPr txBox="1"/>
          <p:nvPr/>
        </p:nvSpPr>
        <p:spPr>
          <a:xfrm>
            <a:off x="3991356" y="9067800"/>
            <a:ext cx="347472" cy="449580"/>
          </a:xfrm>
          <a:prstGeom prst="rect">
            <a:avLst/>
          </a:prstGeom>
          <a:noFill/>
          <a:ln/>
        </p:spPr>
        <p:txBody>
          <a:bodyPr wrap="square" lIns="0" tIns="0" rIns="0" bIns="0" rtlCol="0" anchor="ctr"/>
          <a:lstStyle/>
          <a:p>
            <a:pPr indent="0" marL="0">
              <a:buNone/>
            </a:pPr>
            <a:r>
              <a:rPr lang="en-US" sz="1200" b="1" dirty="0">
                <a:solidFill>
                  <a:schemeClr val="accent6"/>
                </a:solidFill>
                <a:latin typeface="+mj-lt" pitchFamily="34" charset="0"/>
                <a:ea typeface="+mj-lt" pitchFamily="34" charset="-122"/>
                <a:cs typeface="+mj-lt" pitchFamily="34" charset="-120"/>
              </a:rPr>
              <a:t>35</a:t>
            </a:r>
            <a:endParaRPr lang="en-US" sz="1200" dirty="0"/>
          </a:p>
        </p:txBody>
      </p:sp>
      <p:sp>
        <p:nvSpPr>
          <p:cNvPr id="93" name="text-960"/>
          <p:cNvSpPr txBox="1"/>
          <p:nvPr/>
        </p:nvSpPr>
        <p:spPr>
          <a:xfrm>
            <a:off x="4375404" y="9067800"/>
            <a:ext cx="2546604" cy="449580"/>
          </a:xfrm>
          <a:prstGeom prst="rect">
            <a:avLst/>
          </a:prstGeom>
          <a:noFill/>
          <a:ln/>
        </p:spPr>
        <p:txBody>
          <a:bodyPr wrap="square" lIns="0" tIns="0" rIns="0" bIns="0" rtlCol="0" anchor="ctr"/>
          <a:lstStyle/>
          <a:p>
            <a:pPr indent="0" marL="0">
              <a:lnSpc>
                <a:spcPct val="100000"/>
              </a:lnSpc>
              <a:buNone/>
            </a:pPr>
            <a:r>
              <a:rPr lang="en-US" sz="1050" b="1" dirty="0">
                <a:solidFill>
                  <a:schemeClr val="tx1"/>
                </a:solidFill>
              </a:rPr>
              <a:t>Aurora Snow Stadium</a:t>
            </a:r>
            <a:endParaRPr lang="en-US" sz="1050" dirty="0"/>
          </a:p>
        </p:txBody>
      </p:sp>
      <p:sp>
        <p:nvSpPr>
          <p:cNvPr id="94"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34</a:t>
            </a:r>
            <a:endParaRPr lang="en-US" sz="900" dirty="0"/>
          </a:p>
        </p:txBody>
      </p:sp>
      <p:sp>
        <p:nvSpPr>
          <p:cNvPr id="95"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GUIDE</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961" descr="resident">    </p:cNvPr>
          <p:cNvPicPr>
            <a:picLocks noChangeAspect="1"/>
          </p:cNvPicPr>
          <p:nvPr/>
        </p:nvPicPr>
        <p:blipFill>
          <a:blip r:embed="rId1"/>
          <a:srcRect l="5622" r="5622" t="0" b="0"/>
          <a:stretch/>
        </p:blipFill>
        <p:spPr>
          <a:xfrm>
            <a:off x="0" y="0"/>
            <a:ext cx="7562088" cy="6035040"/>
          </a:xfrm>
          <a:prstGeom prst="rect">
            <a:avLst/>
          </a:prstGeom>
        </p:spPr>
      </p:pic>
      <p:pic>
        <p:nvPicPr>
          <p:cNvPr id="3" name="shade-fade-962" descr="shade">    </p:cNvPr>
          <p:cNvPicPr>
            <a:picLocks noChangeAspect="1"/>
          </p:cNvPicPr>
          <p:nvPr/>
        </p:nvPicPr>
        <p:blipFill>
          <a:blip r:embed="rId2"/>
          <a:stretch>
            <a:fillRect/>
          </a:stretch>
        </p:blipFill>
        <p:spPr>
          <a:xfrm>
            <a:off x="0" y="3749040"/>
            <a:ext cx="7562088" cy="2331720"/>
          </a:xfrm>
          <a:prstGeom prst="rect">
            <a:avLst/>
          </a:prstGeom>
        </p:spPr>
      </p:pic>
      <p:pic>
        <p:nvPicPr>
          <p:cNvPr id="4" name="shade-fade-963" descr="shade">    </p:cNvPr>
          <p:cNvPicPr>
            <a:picLocks noChangeAspect="1"/>
          </p:cNvPicPr>
          <p:nvPr/>
        </p:nvPicPr>
        <p:blipFill>
          <a:blip r:embed="rId3"/>
          <a:stretch>
            <a:fillRect/>
          </a:stretch>
        </p:blipFill>
        <p:spPr>
          <a:xfrm>
            <a:off x="0" y="3749040"/>
            <a:ext cx="7562088" cy="2331720"/>
          </a:xfrm>
          <a:prstGeom prst="rect">
            <a:avLst/>
          </a:prstGeom>
        </p:spPr>
      </p:pic>
      <p:sp>
        <p:nvSpPr>
          <p:cNvPr id="5" name="kicker-dot-964"/>
          <p:cNvSpPr/>
          <p:nvPr/>
        </p:nvSpPr>
        <p:spPr>
          <a:xfrm>
            <a:off x="548640" y="4933188"/>
            <a:ext cx="100584" cy="100584"/>
          </a:xfrm>
          <a:prstGeom prst="ellipse">
            <a:avLst/>
          </a:prstGeom>
          <a:solidFill>
            <a:schemeClr val="accent1"/>
          </a:solidFill>
          <a:ln w="12700">
            <a:solidFill>
              <a:schemeClr val="accent1"/>
            </a:solidFill>
            <a:prstDash val="solid"/>
          </a:ln>
        </p:spPr>
      </p:sp>
      <p:sp>
        <p:nvSpPr>
          <p:cNvPr id="6" name="text-965"/>
          <p:cNvSpPr txBox="1"/>
          <p:nvPr/>
        </p:nvSpPr>
        <p:spPr>
          <a:xfrm>
            <a:off x="731520" y="48920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7" name="title-966"/>
          <p:cNvSpPr txBox="1"/>
          <p:nvPr/>
        </p:nvSpPr>
        <p:spPr>
          <a:xfrm>
            <a:off x="548640" y="514807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8" name="text-968"/>
          <p:cNvSpPr txBox="1"/>
          <p:nvPr/>
        </p:nvSpPr>
        <p:spPr>
          <a:xfrm>
            <a:off x="548640" y="5943600"/>
            <a:ext cx="6464808" cy="594360"/>
          </a:xfrm>
          <a:prstGeom prst="rect">
            <a:avLst/>
          </a:prstGeom>
          <a:noFill/>
          <a:ln/>
        </p:spPr>
        <p:txBody>
          <a:bodyPr wrap="square" lIns="0" tIns="0" rIns="0" bIns="0" rtlCol="0" anchor="t"/>
          <a:lstStyle/>
          <a:p>
            <a:pPr indent="0" marL="0">
              <a:lnSpc>
                <a:spcPct val="110000"/>
              </a:lnSpc>
              <a:buNone/>
            </a:pPr>
            <a:r>
              <a:rPr lang="en-US" sz="1350" i="1" dirty="0">
                <a:solidFill>
                  <a:schemeClr val="bg2"/>
                </a:solidFill>
                <a:latin typeface="+mj-lt" pitchFamily="34" charset="0"/>
                <a:ea typeface="+mj-lt" pitchFamily="34" charset="-122"/>
                <a:cs typeface="+mj-lt" pitchFamily="34" charset="-120"/>
              </a:rPr>
              <a:t>January, six weeks without a sunrise: a winter day for Mai, sixteen, a student here.</a:t>
            </a:r>
            <a:endParaRPr lang="en-US" sz="1350" dirty="0"/>
          </a:p>
        </p:txBody>
      </p:sp>
      <p:sp>
        <p:nvSpPr>
          <p:cNvPr id="9" name="text-969"/>
          <p:cNvSpPr txBox="1"/>
          <p:nvPr/>
        </p:nvSpPr>
        <p:spPr>
          <a:xfrm>
            <a:off x="548640" y="6766560"/>
            <a:ext cx="4206240" cy="3200400"/>
          </a:xfrm>
          <a:prstGeom prst="rect">
            <a:avLst/>
          </a:prstGeom>
          <a:noFill/>
          <a:ln/>
        </p:spPr>
        <p:txBody>
          <a:bodyPr wrap="square" lIns="0" tIns="0" rIns="0" bIns="0" rtlCol="0" anchor="t"/>
          <a:lstStyle/>
          <a:p>
            <a:pPr indent="0" marL="0">
              <a:lnSpc>
                <a:spcPct val="112000"/>
              </a:lnSpc>
              <a:spcAft>
                <a:spcPts val="1000"/>
              </a:spcAft>
              <a:buNone/>
            </a:pPr>
            <a:r>
              <a:rPr lang="en-US" sz="1200" b="1" dirty="0">
                <a:solidFill>
                  <a:schemeClr val="accent1"/>
                </a:solidFill>
                <a:latin typeface="+mj-lt" pitchFamily="34" charset="0"/>
                <a:ea typeface="+mj-lt" pitchFamily="34" charset="-122"/>
                <a:cs typeface="+mj-lt" pitchFamily="34" charset="-120"/>
              </a:rPr>
              <a:t>07:30  </a:t>
            </a:r>
            <a:pPr indent="0" marL="0">
              <a:lnSpc>
                <a:spcPct val="112000"/>
              </a:lnSpc>
              <a:buNone/>
            </a:pPr>
            <a:r>
              <a:rPr lang="en-US" sz="1200" dirty="0">
                <a:solidFill>
                  <a:schemeClr val="bg1"/>
                </a:solidFill>
              </a:rPr>
              <a:t>Mai’s flat in the Aurora 81 Residences is warm without a heater. Breakfast is bread made from snow and air.</a:t>
            </a:r>
            <a:endParaRPr lang="en-US" sz="1200" dirty="0"/>
          </a:p>
          <a:p>
            <a:pPr indent="0" marL="0">
              <a:lnSpc>
                <a:spcPct val="112000"/>
              </a:lnSpc>
              <a:spcAft>
                <a:spcPts val="1000"/>
              </a:spcAft>
              <a:buNone/>
            </a:pPr>
            <a:r>
              <a:rPr lang="en-US" sz="1200" b="1" dirty="0">
                <a:solidFill>
                  <a:schemeClr val="accent1"/>
                </a:solidFill>
                <a:latin typeface="+mj-lt" pitchFamily="34" charset="0"/>
                <a:ea typeface="+mj-lt" pitchFamily="34" charset="-122"/>
                <a:cs typeface="+mj-lt" pitchFamily="34" charset="-120"/>
              </a:rPr>
              <a:t>08:10  </a:t>
            </a:r>
            <a:pPr indent="0" marL="0">
              <a:lnSpc>
                <a:spcPct val="112000"/>
              </a:lnSpc>
              <a:buNone/>
            </a:pPr>
            <a:r>
              <a:rPr lang="en-US" sz="1200" dirty="0">
                <a:solidFill>
                  <a:schemeClr val="bg1"/>
                </a:solidFill>
              </a:rPr>
              <a:t>The driverless metro takes her to school, blizzard or not.</a:t>
            </a:r>
            <a:endParaRPr lang="en-US" sz="1200" dirty="0"/>
          </a:p>
          <a:p>
            <a:pPr indent="0" marL="0">
              <a:lnSpc>
                <a:spcPct val="112000"/>
              </a:lnSpc>
              <a:spcAft>
                <a:spcPts val="1000"/>
              </a:spcAft>
              <a:buNone/>
            </a:pPr>
            <a:r>
              <a:rPr lang="en-US" sz="1200" b="1" dirty="0">
                <a:solidFill>
                  <a:schemeClr val="accent1"/>
                </a:solidFill>
                <a:latin typeface="+mj-lt" pitchFamily="34" charset="0"/>
                <a:ea typeface="+mj-lt" pitchFamily="34" charset="-122"/>
                <a:cs typeface="+mj-lt" pitchFamily="34" charset="-120"/>
              </a:rPr>
              <a:t>12:30  </a:t>
            </a:r>
            <a:pPr indent="0" marL="0">
              <a:lnSpc>
                <a:spcPct val="112000"/>
              </a:lnSpc>
              <a:buNone/>
            </a:pPr>
            <a:r>
              <a:rPr lang="en-US" sz="1200" dirty="0">
                <a:solidFill>
                  <a:schemeClr val="bg1"/>
                </a:solidFill>
              </a:rPr>
              <a:t>Lunch is a greenhouse salad. After school, she borrows a light-therapy lamp from the library.</a:t>
            </a:r>
            <a:endParaRPr lang="en-US" sz="1200" dirty="0"/>
          </a:p>
          <a:p>
            <a:pPr indent="0" marL="0">
              <a:lnSpc>
                <a:spcPct val="112000"/>
              </a:lnSpc>
              <a:spcAft>
                <a:spcPts val="1000"/>
              </a:spcAft>
              <a:buNone/>
            </a:pPr>
            <a:r>
              <a:rPr lang="en-US" sz="1200" b="1" dirty="0">
                <a:solidFill>
                  <a:schemeClr val="accent1"/>
                </a:solidFill>
                <a:latin typeface="+mj-lt" pitchFamily="34" charset="0"/>
                <a:ea typeface="+mj-lt" pitchFamily="34" charset="-122"/>
                <a:cs typeface="+mj-lt" pitchFamily="34" charset="-120"/>
              </a:rPr>
              <a:t>17:00  </a:t>
            </a:r>
            <a:pPr indent="0" marL="0">
              <a:lnSpc>
                <a:spcPct val="112000"/>
              </a:lnSpc>
              <a:buNone/>
            </a:pPr>
            <a:r>
              <a:rPr lang="en-US" sz="1200" dirty="0">
                <a:solidFill>
                  <a:schemeClr val="bg1"/>
                </a:solidFill>
              </a:rPr>
              <a:t>Every phone pings a blizzard warning two days ahead. Nobody panics.</a:t>
            </a:r>
            <a:endParaRPr lang="en-US" sz="1200" dirty="0"/>
          </a:p>
          <a:p>
            <a:pPr indent="0" marL="0">
              <a:lnSpc>
                <a:spcPct val="112000"/>
              </a:lnSpc>
              <a:spcAft>
                <a:spcPts val="1000"/>
              </a:spcAft>
              <a:buNone/>
            </a:pPr>
            <a:r>
              <a:rPr lang="en-US" sz="1200" b="1" dirty="0">
                <a:solidFill>
                  <a:schemeClr val="accent1"/>
                </a:solidFill>
                <a:latin typeface="+mj-lt" pitchFamily="34" charset="0"/>
                <a:ea typeface="+mj-lt" pitchFamily="34" charset="-122"/>
                <a:cs typeface="+mj-lt" pitchFamily="34" charset="-120"/>
              </a:rPr>
              <a:t>20:00  </a:t>
            </a:r>
            <a:pPr indent="0" marL="0">
              <a:lnSpc>
                <a:spcPct val="112000"/>
              </a:lnSpc>
              <a:buNone/>
            </a:pPr>
            <a:r>
              <a:rPr lang="en-US" sz="1200" dirty="0">
                <a:solidFill>
                  <a:schemeClr val="bg1"/>
                </a:solidFill>
              </a:rPr>
              <a:t>At Mount Aurora, she floats in the warm lagoon under the northern lights.</a:t>
            </a:r>
            <a:endParaRPr lang="en-US" sz="1200" dirty="0"/>
          </a:p>
        </p:txBody>
      </p:sp>
      <p:sp>
        <p:nvSpPr>
          <p:cNvPr id="10" name="quote-rule-970"/>
          <p:cNvSpPr/>
          <p:nvPr/>
        </p:nvSpPr>
        <p:spPr>
          <a:xfrm>
            <a:off x="4983480" y="6903720"/>
            <a:ext cx="548640" cy="45720"/>
          </a:xfrm>
          <a:prstGeom prst="rect">
            <a:avLst/>
          </a:prstGeom>
          <a:solidFill>
            <a:schemeClr val="accent1"/>
          </a:solidFill>
          <a:ln w="12700">
            <a:solidFill>
              <a:schemeClr val="accent1"/>
            </a:solidFill>
            <a:prstDash val="solid"/>
          </a:ln>
        </p:spPr>
      </p:sp>
      <p:sp>
        <p:nvSpPr>
          <p:cNvPr id="11" name="text-971"/>
          <p:cNvSpPr txBox="1"/>
          <p:nvPr/>
        </p:nvSpPr>
        <p:spPr>
          <a:xfrm>
            <a:off x="4983480" y="7068312"/>
            <a:ext cx="2029968" cy="1828800"/>
          </a:xfrm>
          <a:prstGeom prst="rect">
            <a:avLst/>
          </a:prstGeom>
          <a:noFill/>
          <a:ln/>
        </p:spPr>
        <p:txBody>
          <a:bodyPr wrap="square" lIns="0" tIns="0" rIns="0" bIns="0" rtlCol="0" anchor="t"/>
          <a:lstStyle/>
          <a:p>
            <a:pPr indent="0" marL="0">
              <a:lnSpc>
                <a:spcPct val="102000"/>
              </a:lnSpc>
              <a:buNone/>
            </a:pPr>
            <a:r>
              <a:rPr lang="en-US" sz="1900" b="1" i="1" dirty="0">
                <a:solidFill>
                  <a:schemeClr val="accent1"/>
                </a:solidFill>
                <a:latin typeface="+mj-lt" pitchFamily="34" charset="0"/>
                <a:ea typeface="+mj-lt" pitchFamily="34" charset="-122"/>
                <a:cs typeface="+mj-lt" pitchFamily="34" charset="-120"/>
              </a:rPr>
              <a:t>“In the polar night, my city is the warmest place I know.”</a:t>
            </a:r>
            <a:endParaRPr lang="en-US" sz="1900" dirty="0"/>
          </a:p>
        </p:txBody>
      </p:sp>
      <p:sp>
        <p:nvSpPr>
          <p:cNvPr id="12" name="text-972"/>
          <p:cNvSpPr txBox="1"/>
          <p:nvPr/>
        </p:nvSpPr>
        <p:spPr>
          <a:xfrm>
            <a:off x="4983480" y="9601200"/>
            <a:ext cx="2029968" cy="320040"/>
          </a:xfrm>
          <a:prstGeom prst="rect">
            <a:avLst/>
          </a:prstGeom>
          <a:noFill/>
          <a:ln/>
        </p:spPr>
        <p:txBody>
          <a:bodyPr wrap="square" lIns="0" tIns="0" rIns="0" bIns="0" rtlCol="0" anchor="t"/>
          <a:lstStyle/>
          <a:p>
            <a:pPr indent="0" marL="0">
              <a:buNone/>
            </a:pPr>
            <a:r>
              <a:rPr lang="en-US" sz="850" i="1" dirty="0">
                <a:solidFill>
                  <a:schemeClr val="bg2"/>
                </a:solidFill>
              </a:rPr>
              <a:t>Walking home under the northern lights.</a:t>
            </a:r>
            <a:endParaRPr lang="en-US" sz="850" dirty="0"/>
          </a:p>
        </p:txBody>
      </p:sp>
      <p:sp>
        <p:nvSpPr>
          <p:cNvPr id="1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35</a:t>
            </a:r>
            <a:endParaRPr lang="en-US" sz="900" dirty="0"/>
          </a:p>
        </p:txBody>
      </p:sp>
      <p:sp>
        <p:nvSpPr>
          <p:cNvPr id="14"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GUIDE</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97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7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7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77"/>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78"/>
          <p:cNvSpPr/>
          <p:nvPr/>
        </p:nvSpPr>
        <p:spPr>
          <a:xfrm>
            <a:off x="548640" y="1691640"/>
            <a:ext cx="2063496" cy="1097280"/>
          </a:xfrm>
          <a:prstGeom prst="roundRect">
            <a:avLst>
              <a:gd name="adj" fmla="val 6667"/>
            </a:avLst>
          </a:prstGeom>
          <a:solidFill>
            <a:schemeClr val="bg2"/>
          </a:solidFill>
          <a:ln w="12700">
            <a:solidFill>
              <a:schemeClr val="bg2"/>
            </a:solidFill>
            <a:prstDash val="solid"/>
          </a:ln>
        </p:spPr>
      </p:sp>
      <p:sp>
        <p:nvSpPr>
          <p:cNvPr id="7" name="text-979"/>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50" b="1" dirty="0">
                <a:solidFill>
                  <a:schemeClr val="accent6"/>
                </a:solidFill>
              </a:rPr>
              <a:t>Design values</a:t>
            </a:r>
            <a:endParaRPr lang="en-US" sz="1050" dirty="0"/>
          </a:p>
        </p:txBody>
      </p:sp>
      <p:sp>
        <p:nvSpPr>
          <p:cNvPr id="8" name="text-980"/>
          <p:cNvSpPr txBox="1"/>
          <p:nvPr/>
        </p:nvSpPr>
        <p:spPr>
          <a:xfrm>
            <a:off x="658368" y="2011680"/>
            <a:ext cx="1844040" cy="731520"/>
          </a:xfrm>
          <a:prstGeom prst="rect">
            <a:avLst/>
          </a:prstGeom>
          <a:noFill/>
          <a:ln/>
        </p:spPr>
        <p:txBody>
          <a:bodyPr wrap="square" lIns="0" tIns="0" rIns="0" bIns="0" rtlCol="0" anchor="t"/>
          <a:lstStyle/>
          <a:p>
            <a:pPr indent="0" marL="0">
              <a:lnSpc>
                <a:spcPct val="102000"/>
              </a:lnSpc>
              <a:buNone/>
            </a:pPr>
            <a:r>
              <a:rPr lang="en-US" sz="900" dirty="0">
                <a:solidFill>
                  <a:schemeClr val="tx1"/>
                </a:solidFill>
              </a:rPr>
              <a:t>Figures from our own plan, such as 45,000 residents, not from a real city.</a:t>
            </a:r>
            <a:endParaRPr lang="en-US" sz="900" dirty="0"/>
          </a:p>
        </p:txBody>
      </p:sp>
      <p:sp>
        <p:nvSpPr>
          <p:cNvPr id="9" name="card-981"/>
          <p:cNvSpPr/>
          <p:nvPr/>
        </p:nvSpPr>
        <p:spPr>
          <a:xfrm>
            <a:off x="2749296" y="1691640"/>
            <a:ext cx="2063496" cy="1097280"/>
          </a:xfrm>
          <a:prstGeom prst="roundRect">
            <a:avLst>
              <a:gd name="adj" fmla="val 6667"/>
            </a:avLst>
          </a:prstGeom>
          <a:solidFill>
            <a:schemeClr val="bg2"/>
          </a:solidFill>
          <a:ln w="12700">
            <a:solidFill>
              <a:schemeClr val="bg2"/>
            </a:solidFill>
            <a:prstDash val="solid"/>
          </a:ln>
        </p:spPr>
      </p:sp>
      <p:sp>
        <p:nvSpPr>
          <p:cNvPr id="10" name="text-982"/>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50" b="1" dirty="0">
                <a:solidFill>
                  <a:schemeClr val="accent6"/>
                </a:solidFill>
              </a:rPr>
              <a:t>Our estimates</a:t>
            </a:r>
            <a:endParaRPr lang="en-US" sz="1050" dirty="0"/>
          </a:p>
        </p:txBody>
      </p:sp>
      <p:sp>
        <p:nvSpPr>
          <p:cNvPr id="11" name="text-983"/>
          <p:cNvSpPr txBox="1"/>
          <p:nvPr/>
        </p:nvSpPr>
        <p:spPr>
          <a:xfrm>
            <a:off x="2859024" y="2011680"/>
            <a:ext cx="1844040" cy="731520"/>
          </a:xfrm>
          <a:prstGeom prst="rect">
            <a:avLst/>
          </a:prstGeom>
          <a:noFill/>
          <a:ln/>
        </p:spPr>
        <p:txBody>
          <a:bodyPr wrap="square" lIns="0" tIns="0" rIns="0" bIns="0" rtlCol="0" anchor="t"/>
          <a:lstStyle/>
          <a:p>
            <a:pPr indent="0" marL="0">
              <a:lnSpc>
                <a:spcPct val="102000"/>
              </a:lnSpc>
              <a:buNone/>
            </a:pPr>
            <a:r>
              <a:rPr lang="en-US" sz="900" dirty="0">
                <a:solidFill>
                  <a:schemeClr val="tx1"/>
                </a:solidFill>
              </a:rPr>
              <a:t>Our own sums, marked “our estimate”: reasonable, not exact.</a:t>
            </a:r>
            <a:endParaRPr lang="en-US" sz="900" dirty="0"/>
          </a:p>
        </p:txBody>
      </p:sp>
      <p:sp>
        <p:nvSpPr>
          <p:cNvPr id="12" name="card-984"/>
          <p:cNvSpPr/>
          <p:nvPr/>
        </p:nvSpPr>
        <p:spPr>
          <a:xfrm>
            <a:off x="4949952" y="1691640"/>
            <a:ext cx="2063496" cy="1097280"/>
          </a:xfrm>
          <a:prstGeom prst="roundRect">
            <a:avLst>
              <a:gd name="adj" fmla="val 6667"/>
            </a:avLst>
          </a:prstGeom>
          <a:solidFill>
            <a:schemeClr val="bg2"/>
          </a:solidFill>
          <a:ln w="12700">
            <a:solidFill>
              <a:schemeClr val="bg2"/>
            </a:solidFill>
            <a:prstDash val="solid"/>
          </a:ln>
        </p:spPr>
      </p:sp>
      <p:sp>
        <p:nvSpPr>
          <p:cNvPr id="13" name="text-985"/>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50" b="1" dirty="0">
                <a:solidFill>
                  <a:schemeClr val="accent6"/>
                </a:solidFill>
              </a:rPr>
              <a:t>Future concepts</a:t>
            </a:r>
            <a:endParaRPr lang="en-US" sz="1050" dirty="0"/>
          </a:p>
        </p:txBody>
      </p:sp>
      <p:sp>
        <p:nvSpPr>
          <p:cNvPr id="14" name="text-986"/>
          <p:cNvSpPr txBox="1"/>
          <p:nvPr/>
        </p:nvSpPr>
        <p:spPr>
          <a:xfrm>
            <a:off x="5059680" y="2011680"/>
            <a:ext cx="1844040" cy="731520"/>
          </a:xfrm>
          <a:prstGeom prst="rect">
            <a:avLst/>
          </a:prstGeom>
          <a:noFill/>
          <a:ln/>
        </p:spPr>
        <p:txBody>
          <a:bodyPr wrap="square" lIns="0" tIns="0" rIns="0" bIns="0" rtlCol="0" anchor="t"/>
          <a:lstStyle/>
          <a:p>
            <a:pPr indent="0" marL="0">
              <a:lnSpc>
                <a:spcPct val="102000"/>
              </a:lnSpc>
              <a:buNone/>
            </a:pPr>
            <a:r>
              <a:rPr lang="en-US" sz="900" dirty="0">
                <a:solidFill>
                  <a:schemeClr val="tx1"/>
                </a:solidFill>
              </a:rPr>
              <a:t>The fusion station and the food plant do not exist at this size yet. Nothing has been tested.</a:t>
            </a:r>
            <a:endParaRPr lang="en-US" sz="900" dirty="0"/>
          </a:p>
        </p:txBody>
      </p:sp>
      <p:sp>
        <p:nvSpPr>
          <p:cNvPr id="15" name="text-987"/>
          <p:cNvSpPr txBox="1"/>
          <p:nvPr/>
        </p:nvSpPr>
        <p:spPr>
          <a:xfrm>
            <a:off x="548640" y="3017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88"/>
          <p:cNvSpPr txBox="1"/>
          <p:nvPr/>
        </p:nvSpPr>
        <p:spPr>
          <a:xfrm>
            <a:off x="548640" y="3291840"/>
            <a:ext cx="3095244" cy="5440680"/>
          </a:xfrm>
          <a:prstGeom prst="rect">
            <a:avLst/>
          </a:prstGeom>
          <a:noFill/>
          <a:ln/>
        </p:spPr>
        <p:txBody>
          <a:bodyPr wrap="square" lIns="0" tIns="0" rIns="0" bIns="0" rtlCol="0" anchor="t"/>
          <a:lstStyle/>
          <a:p>
            <a:pPr indent="0" marL="0">
              <a:lnSpc>
                <a:spcPct val="106000"/>
              </a:lnSpc>
              <a:spcAft>
                <a:spcPts val="900"/>
              </a:spcAft>
              <a:buNone/>
            </a:pPr>
            <a:r>
              <a:rPr lang="en-US" sz="1000" b="1" dirty="0">
                <a:solidFill>
                  <a:schemeClr val="accent6"/>
                </a:solidFill>
              </a:rPr>
              <a:t>[1]  </a:t>
            </a:r>
            <a:pPr indent="0" marL="0">
              <a:lnSpc>
                <a:spcPct val="106000"/>
              </a:lnSpc>
              <a:buNone/>
            </a:pPr>
            <a:r>
              <a:rPr lang="en-US" sz="1000" dirty="0">
                <a:solidFill>
                  <a:schemeClr val="tx1"/>
                </a:solidFill>
              </a:rPr>
              <a:t>Visit Tromsø. Winter in Tromsø: the polar night. visittromso.no</a:t>
            </a:r>
            <a:endParaRPr lang="en-US" sz="1000" dirty="0"/>
          </a:p>
          <a:p>
            <a:pPr indent="0" marL="0">
              <a:lnSpc>
                <a:spcPct val="106000"/>
              </a:lnSpc>
              <a:spcAft>
                <a:spcPts val="900"/>
              </a:spcAft>
              <a:buNone/>
            </a:pPr>
            <a:r>
              <a:rPr lang="en-US" sz="1000" b="1" dirty="0">
                <a:solidFill>
                  <a:schemeClr val="accent6"/>
                </a:solidFill>
              </a:rPr>
              <a:t>[2]  </a:t>
            </a:r>
            <a:pPr indent="0" marL="0">
              <a:lnSpc>
                <a:spcPct val="106000"/>
              </a:lnSpc>
              <a:buNone/>
            </a:pPr>
            <a:r>
              <a:rPr lang="en-US" sz="1000" dirty="0">
                <a:solidFill>
                  <a:schemeClr val="tx1"/>
                </a:solidFill>
              </a:rPr>
              <a:t>Rantanen, M. et al. (2022). The Arctic has warmed nearly four times faster than the globe since 1979. Communications Earth &amp; Environment, 3, 168. doi.org/10.1038/s43247-022-00498-3</a:t>
            </a:r>
            <a:endParaRPr lang="en-US" sz="1000" dirty="0"/>
          </a:p>
          <a:p>
            <a:pPr indent="0" marL="0">
              <a:lnSpc>
                <a:spcPct val="106000"/>
              </a:lnSpc>
              <a:spcAft>
                <a:spcPts val="900"/>
              </a:spcAft>
              <a:buNone/>
            </a:pPr>
            <a:r>
              <a:rPr lang="en-US" sz="1000" b="1" dirty="0">
                <a:solidFill>
                  <a:schemeClr val="accent6"/>
                </a:solidFill>
              </a:rPr>
              <a:t>[3]  </a:t>
            </a:r>
            <a:pPr indent="0" marL="0">
              <a:lnSpc>
                <a:spcPct val="106000"/>
              </a:lnSpc>
              <a:buNone/>
            </a:pPr>
            <a:r>
              <a:rPr lang="en-US" sz="1000" dirty="0">
                <a:solidFill>
                  <a:schemeClr val="tx1"/>
                </a:solidFill>
              </a:rPr>
              <a:t>Hjort, J. et al. (2018). Degrading permafrost puts Arctic infrastructure at risk by mid-century. Nature Communications, 9, 5147. doi.org/10.1038/s41467-018-07557-4</a:t>
            </a:r>
            <a:endParaRPr lang="en-US" sz="1000" dirty="0"/>
          </a:p>
          <a:p>
            <a:pPr indent="0" marL="0">
              <a:lnSpc>
                <a:spcPct val="106000"/>
              </a:lnSpc>
              <a:spcAft>
                <a:spcPts val="900"/>
              </a:spcAft>
              <a:buNone/>
            </a:pPr>
            <a:r>
              <a:rPr lang="en-US" sz="1000" b="1" dirty="0">
                <a:solidFill>
                  <a:schemeClr val="accent6"/>
                </a:solidFill>
              </a:rPr>
              <a:t>[4]  </a:t>
            </a:r>
            <a:pPr indent="0" marL="0">
              <a:lnSpc>
                <a:spcPct val="106000"/>
              </a:lnSpc>
              <a:buNone/>
            </a:pPr>
            <a:r>
              <a:rPr lang="en-US" sz="1000" dirty="0">
                <a:solidFill>
                  <a:schemeClr val="tx1"/>
                </a:solidFill>
              </a:rPr>
              <a:t>Arctic Human Development Report (2004). Stefansson Arctic Institute for the Arctic Council: about 4 million people live in the Arctic.</a:t>
            </a:r>
            <a:endParaRPr lang="en-US" sz="1000" dirty="0"/>
          </a:p>
          <a:p>
            <a:pPr indent="0" marL="0">
              <a:lnSpc>
                <a:spcPct val="106000"/>
              </a:lnSpc>
              <a:spcAft>
                <a:spcPts val="900"/>
              </a:spcAft>
              <a:buNone/>
            </a:pPr>
            <a:r>
              <a:rPr lang="en-US" sz="1000" b="1" dirty="0">
                <a:solidFill>
                  <a:schemeClr val="accent6"/>
                </a:solidFill>
              </a:rPr>
              <a:t>[5]  </a:t>
            </a:r>
            <a:pPr indent="0" marL="0">
              <a:lnSpc>
                <a:spcPct val="106000"/>
              </a:lnSpc>
              <a:buNone/>
            </a:pPr>
            <a:r>
              <a:rPr lang="en-US" sz="1000" dirty="0">
                <a:solidFill>
                  <a:schemeClr val="tx1"/>
                </a:solidFill>
              </a:rPr>
              <a:t>Akademik Lomonosov (floating nuclear power station, Pevek). Wikipedia, accessed October 2026. en.wikipedia.org/wiki/Akademik_Lomonosov</a:t>
            </a:r>
            <a:endParaRPr lang="en-US" sz="1000" dirty="0"/>
          </a:p>
          <a:p>
            <a:pPr indent="0" marL="0">
              <a:lnSpc>
                <a:spcPct val="106000"/>
              </a:lnSpc>
              <a:spcAft>
                <a:spcPts val="900"/>
              </a:spcAft>
              <a:buNone/>
            </a:pPr>
            <a:r>
              <a:rPr lang="en-US" sz="1000" b="1" dirty="0">
                <a:solidFill>
                  <a:schemeClr val="accent6"/>
                </a:solidFill>
              </a:rPr>
              <a:t>[6]  </a:t>
            </a:r>
            <a:pPr indent="0" marL="0">
              <a:lnSpc>
                <a:spcPct val="106000"/>
              </a:lnSpc>
              <a:buNone/>
            </a:pPr>
            <a:r>
              <a:rPr lang="en-US" sz="1000" dirty="0">
                <a:solidFill>
                  <a:schemeClr val="tx1"/>
                </a:solidFill>
              </a:rPr>
              <a:t>ITER Organization. Advantages of fusion. iter.org/sci/Fusion</a:t>
            </a:r>
            <a:endParaRPr lang="en-US" sz="1000" dirty="0"/>
          </a:p>
          <a:p>
            <a:pPr indent="0" marL="0">
              <a:lnSpc>
                <a:spcPct val="106000"/>
              </a:lnSpc>
              <a:spcAft>
                <a:spcPts val="900"/>
              </a:spcAft>
              <a:buNone/>
            </a:pPr>
            <a:r>
              <a:rPr lang="en-US" sz="1000" b="1" dirty="0">
                <a:solidFill>
                  <a:schemeClr val="accent6"/>
                </a:solidFill>
              </a:rPr>
              <a:t>[7]  </a:t>
            </a:r>
            <a:pPr indent="0" marL="0">
              <a:lnSpc>
                <a:spcPct val="106000"/>
              </a:lnSpc>
              <a:buNone/>
            </a:pPr>
            <a:r>
              <a:rPr lang="en-US" sz="1000" dirty="0">
                <a:solidFill>
                  <a:schemeClr val="tx1"/>
                </a:solidFill>
              </a:rPr>
              <a:t>ITER Organization (2024). Baseline 2024: press conference summary, July 2024. iter.org</a:t>
            </a:r>
            <a:endParaRPr lang="en-US" sz="1000" dirty="0"/>
          </a:p>
          <a:p>
            <a:pPr indent="0" marL="0">
              <a:lnSpc>
                <a:spcPct val="106000"/>
              </a:lnSpc>
              <a:spcAft>
                <a:spcPts val="900"/>
              </a:spcAft>
              <a:buNone/>
            </a:pPr>
            <a:r>
              <a:rPr lang="en-US" sz="1000" b="1" dirty="0">
                <a:solidFill>
                  <a:schemeClr val="accent6"/>
                </a:solidFill>
              </a:rPr>
              <a:t>[8]  </a:t>
            </a:r>
            <a:pPr indent="0" marL="0">
              <a:lnSpc>
                <a:spcPct val="106000"/>
              </a:lnSpc>
              <a:buNone/>
            </a:pPr>
            <a:r>
              <a:rPr lang="en-US" sz="1000" dirty="0">
                <a:solidFill>
                  <a:schemeClr val="tx1"/>
                </a:solidFill>
              </a:rPr>
              <a:t>ITER Organization. Tritium breeding. iter.org</a:t>
            </a:r>
            <a:endParaRPr lang="en-US" sz="1000" dirty="0"/>
          </a:p>
          <a:p>
            <a:pPr indent="0" marL="0">
              <a:lnSpc>
                <a:spcPct val="106000"/>
              </a:lnSpc>
              <a:spcAft>
                <a:spcPts val="900"/>
              </a:spcAft>
              <a:buNone/>
            </a:pPr>
            <a:r>
              <a:rPr lang="en-US" sz="1000" b="1" dirty="0">
                <a:solidFill>
                  <a:schemeClr val="accent6"/>
                </a:solidFill>
              </a:rPr>
              <a:t>[9]  </a:t>
            </a:r>
            <a:pPr indent="0" marL="0">
              <a:lnSpc>
                <a:spcPct val="106000"/>
              </a:lnSpc>
              <a:buNone/>
            </a:pPr>
            <a:r>
              <a:rPr lang="en-US" sz="1000" dirty="0">
                <a:solidFill>
                  <a:schemeClr val="tx1"/>
                </a:solidFill>
              </a:rPr>
              <a:t>Solar Foods (2024). Factory 01 starts production of Solein in Vantaa, Finland (press release, 15 April 2024) and Factory 01 press kit. solarfoods.com</a:t>
            </a:r>
            <a:endParaRPr lang="en-US" sz="1000" dirty="0"/>
          </a:p>
        </p:txBody>
      </p:sp>
      <p:sp>
        <p:nvSpPr>
          <p:cNvPr id="17" name="text-989"/>
          <p:cNvSpPr txBox="1"/>
          <p:nvPr/>
        </p:nvSpPr>
        <p:spPr>
          <a:xfrm>
            <a:off x="3918204" y="3291840"/>
            <a:ext cx="3095244" cy="5440680"/>
          </a:xfrm>
          <a:prstGeom prst="rect">
            <a:avLst/>
          </a:prstGeom>
          <a:noFill/>
          <a:ln/>
        </p:spPr>
        <p:txBody>
          <a:bodyPr wrap="square" lIns="0" tIns="0" rIns="0" bIns="0" rtlCol="0" anchor="t"/>
          <a:lstStyle/>
          <a:p>
            <a:pPr indent="0" marL="0">
              <a:lnSpc>
                <a:spcPct val="106000"/>
              </a:lnSpc>
              <a:spcAft>
                <a:spcPts val="900"/>
              </a:spcAft>
              <a:buNone/>
            </a:pPr>
            <a:r>
              <a:rPr lang="en-US" sz="1000" b="1" dirty="0">
                <a:solidFill>
                  <a:schemeClr val="accent6"/>
                </a:solidFill>
              </a:rPr>
              <a:t>[10]  </a:t>
            </a:r>
            <a:pPr indent="0" marL="0">
              <a:lnSpc>
                <a:spcPct val="106000"/>
              </a:lnSpc>
              <a:buNone/>
            </a:pPr>
            <a:r>
              <a:rPr lang="en-US" sz="1000" dirty="0">
                <a:solidFill>
                  <a:schemeClr val="tx1"/>
                </a:solidFill>
              </a:rPr>
              <a:t>Kalundborg Eco-industrial Park. Wikipedia, accessed October 2026. en.wikipedia.org/wiki/Kalundborg_Eco-industrial_Park</a:t>
            </a:r>
            <a:endParaRPr lang="en-US" sz="1000" dirty="0"/>
          </a:p>
          <a:p>
            <a:pPr indent="0" marL="0">
              <a:lnSpc>
                <a:spcPct val="106000"/>
              </a:lnSpc>
              <a:spcAft>
                <a:spcPts val="900"/>
              </a:spcAft>
              <a:buNone/>
            </a:pPr>
            <a:r>
              <a:rPr lang="en-US" sz="1000" b="1" dirty="0">
                <a:solidFill>
                  <a:schemeClr val="accent6"/>
                </a:solidFill>
              </a:rPr>
              <a:t>[11]  </a:t>
            </a:r>
            <a:pPr indent="0" marL="0">
              <a:lnSpc>
                <a:spcPct val="106000"/>
              </a:lnSpc>
              <a:buNone/>
            </a:pPr>
            <a:r>
              <a:rPr lang="en-US" sz="1000" dirty="0">
                <a:solidFill>
                  <a:schemeClr val="tx1"/>
                </a:solidFill>
              </a:rPr>
              <a:t>Cai, T. et al. (2021). Cell-free chemoenzymatic starch synthesis from carbon dioxide. Science, 373, 1523–1527. doi.org/10.1126/science.abh4049</a:t>
            </a:r>
            <a:endParaRPr lang="en-US" sz="1000" dirty="0"/>
          </a:p>
          <a:p>
            <a:pPr indent="0" marL="0">
              <a:lnSpc>
                <a:spcPct val="106000"/>
              </a:lnSpc>
              <a:spcAft>
                <a:spcPts val="900"/>
              </a:spcAft>
              <a:buNone/>
            </a:pPr>
            <a:r>
              <a:rPr lang="en-US" sz="1000" b="1" dirty="0">
                <a:solidFill>
                  <a:schemeClr val="accent6"/>
                </a:solidFill>
              </a:rPr>
              <a:t>[12]  </a:t>
            </a:r>
            <a:pPr indent="0" marL="0">
              <a:lnSpc>
                <a:spcPct val="106000"/>
              </a:lnSpc>
              <a:buNone/>
            </a:pPr>
            <a:r>
              <a:rPr lang="en-US" sz="1000" dirty="0">
                <a:solidFill>
                  <a:schemeClr val="tx1"/>
                </a:solidFill>
              </a:rPr>
              <a:t>Seasonal affective disorder. Wikipedia, accessed October 2026. en.wikipedia.org/wiki/Seasonal_affective_disorder</a:t>
            </a:r>
            <a:endParaRPr lang="en-US" sz="1000" dirty="0"/>
          </a:p>
          <a:p>
            <a:pPr indent="0" marL="0">
              <a:lnSpc>
                <a:spcPct val="106000"/>
              </a:lnSpc>
              <a:spcAft>
                <a:spcPts val="900"/>
              </a:spcAft>
              <a:buNone/>
            </a:pPr>
            <a:r>
              <a:rPr lang="en-US" sz="1000" b="1" dirty="0">
                <a:solidFill>
                  <a:schemeClr val="accent6"/>
                </a:solidFill>
              </a:rPr>
              <a:t>[13]  </a:t>
            </a:r>
            <a:pPr indent="0" marL="0">
              <a:lnSpc>
                <a:spcPct val="106000"/>
              </a:lnSpc>
              <a:buNone/>
            </a:pPr>
            <a:r>
              <a:rPr lang="en-US" sz="1000" dirty="0">
                <a:solidFill>
                  <a:schemeClr val="tx1"/>
                </a:solidFill>
              </a:rPr>
              <a:t>Chena Hot Springs, Alaska. Wikipedia, accessed October 2026. en.wikipedia.org/wiki/Chena_Hot_Springs,_Alaska</a:t>
            </a:r>
            <a:endParaRPr lang="en-US" sz="1000" dirty="0"/>
          </a:p>
          <a:p>
            <a:pPr indent="0" marL="0">
              <a:lnSpc>
                <a:spcPct val="106000"/>
              </a:lnSpc>
              <a:spcAft>
                <a:spcPts val="900"/>
              </a:spcAft>
              <a:buNone/>
            </a:pPr>
            <a:r>
              <a:rPr lang="en-US" sz="1000" b="1" dirty="0">
                <a:solidFill>
                  <a:schemeClr val="accent6"/>
                </a:solidFill>
              </a:rPr>
              <a:t>[14]  </a:t>
            </a:r>
            <a:pPr indent="0" marL="0">
              <a:lnSpc>
                <a:spcPct val="106000"/>
              </a:lnSpc>
              <a:buNone/>
            </a:pPr>
            <a:r>
              <a:rPr lang="en-US" sz="1000" dirty="0">
                <a:solidFill>
                  <a:schemeClr val="tx1"/>
                </a:solidFill>
              </a:rPr>
              <a:t>Blue Lagoon (geothermal spa). Wikipedia, accessed October 2026. en.wikipedia.org/wiki/Blue_Lagoon_(geothermal_spa)</a:t>
            </a:r>
            <a:endParaRPr lang="en-US" sz="1000" dirty="0"/>
          </a:p>
          <a:p>
            <a:pPr indent="0" marL="0">
              <a:lnSpc>
                <a:spcPct val="106000"/>
              </a:lnSpc>
              <a:spcAft>
                <a:spcPts val="900"/>
              </a:spcAft>
              <a:buNone/>
            </a:pPr>
            <a:r>
              <a:rPr lang="en-US" sz="1000" b="1" dirty="0">
                <a:solidFill>
                  <a:schemeClr val="accent6"/>
                </a:solidFill>
              </a:rPr>
              <a:t>[15]  </a:t>
            </a:r>
            <a:pPr indent="0" marL="0">
              <a:lnSpc>
                <a:spcPct val="106000"/>
              </a:lnSpc>
              <a:buNone/>
            </a:pPr>
            <a:r>
              <a:rPr lang="en-US" sz="1000" dirty="0">
                <a:solidFill>
                  <a:schemeClr val="tx1"/>
                </a:solidFill>
              </a:rPr>
              <a:t>Hasemyer, D. (17 July 2021). Thawing permafrost is artificially chilled to stabilize Alaska oil pipeline. Scientific American / Inside Climate News.</a:t>
            </a:r>
            <a:endParaRPr lang="en-US" sz="1000" dirty="0"/>
          </a:p>
          <a:p>
            <a:pPr indent="0" marL="0">
              <a:lnSpc>
                <a:spcPct val="106000"/>
              </a:lnSpc>
              <a:spcAft>
                <a:spcPts val="900"/>
              </a:spcAft>
              <a:buNone/>
            </a:pPr>
            <a:r>
              <a:rPr lang="en-US" sz="1000" b="1" dirty="0">
                <a:solidFill>
                  <a:schemeClr val="accent6"/>
                </a:solidFill>
              </a:rPr>
              <a:t>[16]  </a:t>
            </a:r>
            <a:pPr indent="0" marL="0">
              <a:lnSpc>
                <a:spcPct val="106000"/>
              </a:lnSpc>
              <a:buNone/>
            </a:pPr>
            <a:r>
              <a:rPr lang="en-US" sz="1000" dirty="0">
                <a:solidFill>
                  <a:schemeClr val="tx1"/>
                </a:solidFill>
              </a:rPr>
              <a:t>AECO. Arctic fox: wildlife guidelines. aeco.no/guideline/wildlife/arctic-fox</a:t>
            </a:r>
            <a:endParaRPr lang="en-US" sz="1000" dirty="0"/>
          </a:p>
          <a:p>
            <a:pPr indent="0" marL="0">
              <a:lnSpc>
                <a:spcPct val="106000"/>
              </a:lnSpc>
              <a:spcAft>
                <a:spcPts val="900"/>
              </a:spcAft>
              <a:buNone/>
            </a:pPr>
            <a:r>
              <a:rPr lang="en-US" sz="1000" b="1" dirty="0">
                <a:solidFill>
                  <a:schemeClr val="accent6"/>
                </a:solidFill>
              </a:rPr>
              <a:t>[17]  </a:t>
            </a:r>
            <a:pPr indent="0" marL="0">
              <a:lnSpc>
                <a:spcPct val="106000"/>
              </a:lnSpc>
              <a:buNone/>
            </a:pPr>
            <a:r>
              <a:rPr lang="en-US" sz="1000" dirty="0">
                <a:solidFill>
                  <a:schemeClr val="tx1"/>
                </a:solidFill>
              </a:rPr>
              <a:t>Barbosa, G. L. et al. (2015). Comparison of land, water, and energy requirements of lettuce grown using hydroponic vs. conventional agricultural methods. Int. J. Environ. Res. Public Health, 12(6), 6879–6891.</a:t>
            </a:r>
            <a:endParaRPr lang="en-US" sz="1000" dirty="0"/>
          </a:p>
          <a:p>
            <a:pPr indent="0" marL="0">
              <a:lnSpc>
                <a:spcPct val="106000"/>
              </a:lnSpc>
              <a:spcAft>
                <a:spcPts val="900"/>
              </a:spcAft>
              <a:buNone/>
            </a:pPr>
            <a:r>
              <a:rPr lang="en-US" sz="1000" b="1" dirty="0">
                <a:solidFill>
                  <a:schemeClr val="accent6"/>
                </a:solidFill>
              </a:rPr>
              <a:t>[18]  </a:t>
            </a:r>
            <a:pPr indent="0" marL="0">
              <a:lnSpc>
                <a:spcPct val="106000"/>
              </a:lnSpc>
              <a:buNone/>
            </a:pPr>
            <a:r>
              <a:rPr lang="en-US" sz="1000" dirty="0">
                <a:solidFill>
                  <a:schemeClr val="tx1"/>
                </a:solidFill>
              </a:rPr>
              <a:t>Kramer, D. (29 April 2016). ITER costs are pinned down, with caveats. Physics Today. physicstoday.aip.org</a:t>
            </a:r>
            <a:endParaRPr lang="en-US" sz="1000" dirty="0"/>
          </a:p>
        </p:txBody>
      </p:sp>
      <p:sp>
        <p:nvSpPr>
          <p:cNvPr id="18" name="card-990"/>
          <p:cNvSpPr/>
          <p:nvPr/>
        </p:nvSpPr>
        <p:spPr>
          <a:xfrm>
            <a:off x="548640" y="8869680"/>
            <a:ext cx="6464808" cy="1097280"/>
          </a:xfrm>
          <a:prstGeom prst="roundRect">
            <a:avLst>
              <a:gd name="adj" fmla="val 6667"/>
            </a:avLst>
          </a:prstGeom>
          <a:solidFill>
            <a:schemeClr val="bg2"/>
          </a:solidFill>
          <a:ln w="12700">
            <a:solidFill>
              <a:schemeClr val="bg2"/>
            </a:solidFill>
            <a:prstDash val="solid"/>
          </a:ln>
        </p:spPr>
      </p:sp>
      <p:sp>
        <p:nvSpPr>
          <p:cNvPr id="19" name="text-991"/>
          <p:cNvSpPr txBox="1"/>
          <p:nvPr/>
        </p:nvSpPr>
        <p:spPr>
          <a:xfrm>
            <a:off x="685800" y="8924544"/>
            <a:ext cx="6190488" cy="987552"/>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The cover and the city pictures are photo-realistic images made with AI tools (Stable Diffusion XL, and Nano Banana Pro for the cover sky) from renders of our own 3D model. The maps and diagrams are drawn from our model, and the Eco-Polis photos on page 21 are real screenshots.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36</a:t>
            </a:r>
            <a:endParaRPr lang="en-US" sz="900" dirty="0"/>
          </a:p>
        </p:txBody>
      </p:sp>
      <p:sp>
        <p:nvSpPr>
          <p:cNvPr id="2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GUIDE</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back">    </p:cNvPr>
          <p:cNvPicPr>
            <a:picLocks noChangeAspect="1"/>
          </p:cNvPicPr>
          <p:nvPr/>
        </p:nvPicPr>
        <p:blipFill>
          <a:blip r:embed="rId1"/>
          <a:srcRect l="0" r="0" t="0" b="0"/>
          <a:stretch/>
        </p:blipFill>
        <p:spPr>
          <a:xfrm>
            <a:off x="0" y="0"/>
            <a:ext cx="7562088" cy="10689336"/>
          </a:xfrm>
          <a:prstGeom prst="rect">
            <a:avLst/>
          </a:prstGeom>
        </p:spPr>
      </p:pic>
      <p:sp>
        <p:nvSpPr>
          <p:cNvPr id="3" name="kicker-dot-993"/>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9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95"/>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96"/>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97"/>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998"/>
          <p:cNvSpPr txBox="1"/>
          <p:nvPr/>
        </p:nvSpPr>
        <p:spPr>
          <a:xfrm>
            <a:off x="548640" y="4160520"/>
            <a:ext cx="2880360" cy="82296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study at Arctic University, or spend a night at the Mount Aurora spa.</a:t>
            </a:r>
            <a:endParaRPr lang="en-US" sz="950" dirty="0"/>
          </a:p>
        </p:txBody>
      </p:sp>
      <p:sp>
        <p:nvSpPr>
          <p:cNvPr id="9" name="panel-999"/>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Aurora Haven logo">    </p:cNvPr>
          <p:cNvPicPr>
            <a:picLocks noChangeAspect="1"/>
          </p:cNvPicPr>
          <p:nvPr/>
        </p:nvPicPr>
        <p:blipFill>
          <a:blip r:embed="rId2"/>
          <a:stretch>
            <a:fillRect/>
          </a:stretch>
        </p:blipFill>
        <p:spPr>
          <a:xfrm>
            <a:off x="3977640" y="685800"/>
            <a:ext cx="960120" cy="960120"/>
          </a:xfrm>
          <a:prstGeom prst="rect">
            <a:avLst/>
          </a:prstGeom>
        </p:spPr>
      </p:pic>
      <p:sp>
        <p:nvSpPr>
          <p:cNvPr id="11" name="text-1000"/>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01"/>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02"/>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Lê Quý Đôn High School logo">    </p:cNvPr>
          <p:cNvPicPr>
            <a:picLocks noChangeAspect="1"/>
          </p:cNvPicPr>
          <p:nvPr/>
        </p:nvPicPr>
        <p:blipFill>
          <a:blip r:embed="rId3"/>
          <a:stretch>
            <a:fillRect/>
          </a:stretch>
        </p:blipFill>
        <p:spPr>
          <a:xfrm>
            <a:off x="5897880" y="1874520"/>
            <a:ext cx="960120" cy="960120"/>
          </a:xfrm>
          <a:prstGeom prst="rect">
            <a:avLst/>
          </a:prstGeom>
        </p:spPr>
      </p:pic>
      <p:sp>
        <p:nvSpPr>
          <p:cNvPr id="15" name="card-1003"/>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04" descr="QR code: Read the interactive edition">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05"/>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2026-10-30T13:57:35Z</dcterms:created>
  <dcterms:modified xsi:type="dcterms:W3CDTF">2026-10-30T13:57:35Z</dcterms:modified>
</cp:coreProperties>
</file>