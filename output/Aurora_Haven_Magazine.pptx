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b0ac2a9d-6ec9-5b7f-89f7-f973d2ac6ac6}">
          <p14:sldIdLst>
            <p14:sldId id="256"/>
            <p14:sldId id="257"/>
          </p14:sldIdLst>
        </p14:section>
        <p14:section name="Welcome" id="{c7c4ba2e-033a-4048-de2a-ad07f1861f16}">
          <p14:sldIdLst>
            <p14:sldId id="258"/>
            <p14:sldId id="259"/>
            <p14:sldId id="260"/>
            <p14:sldId id="261"/>
            <p14:sldId id="262"/>
          </p14:sldIdLst>
        </p14:section>
        <p14:section name="The City" id="{a1176860-fc6c-8484-dab1-420153a523de}">
          <p14:sldIdLst>
            <p14:sldId id="263"/>
            <p14:sldId id="264"/>
            <p14:sldId id="265"/>
            <p14:sldId id="266"/>
            <p14:sldId id="267"/>
            <p14:sldId id="268"/>
          </p14:sldIdLst>
        </p14:section>
        <p14:section name="Signature Districts" id="{dd0546c3-04b3-5179-2186-269adc85cb71}">
          <p14:sldIdLst>
            <p14:sldId id="269"/>
            <p14:sldId id="270"/>
            <p14:sldId id="271"/>
            <p14:sldId id="272"/>
            <p14:sldId id="273"/>
            <p14:sldId id="274"/>
            <p14:sldId id="275"/>
            <p14:sldId id="276"/>
            <p14:sldId id="277"/>
            <p14:sldId id="278"/>
            <p14:sldId id="279"/>
          </p14:sldIdLst>
        </p14:section>
        <p14:section name="Living in Aurora Haven" id="{af825767-abbe-89b1-4ee5-da39dc4a2109}">
          <p14:sldIdLst>
            <p14:sldId id="280"/>
            <p14:sldId id="281"/>
            <p14:sldId id="282"/>
            <p14:sldId id="283"/>
            <p14:sldId id="284"/>
            <p14:sldId id="285"/>
            <p14:sldId id="286"/>
            <p14:sldId id="287"/>
            <p14:sldId id="288"/>
          </p14:sldIdLst>
        </p14:section>
        <p14:section name="Invest" id="{5466dc2a-0b2a-0f7a-3824-da264d9f0081}">
          <p14:sldIdLst>
            <p14:sldId id="289"/>
          </p14:sldIdLst>
        </p14:section>
        <p14:section name="Guide" id="{c5444bc2-3b4d-d3fc-6f39-08347c1b36f0}">
          <p14:sldIdLst>
            <p14:sldId id="290"/>
            <p14:sldId id="291"/>
            <p14:sldId id="292"/>
            <p14:sldId id="293"/>
            <p14:sldId id="294"/>
          </p14:sldIdLst>
        </p14:section>
        <p14:section name="Back Cover" id="{33851ac3-a0f8-dd88-ef6c-487d696c55b2}">
          <p14:sldIdLst>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ANK">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_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1005840" y="10195560"/>
            <a:ext cx="3657600" cy="182880"/>
          </a:xfrm>
          <a:prstGeom prst="rect">
            <a:avLst/>
          </a:prstGeom>
          <a:noFill/>
          <a:ln/>
        </p:spPr>
        <p:txBody>
          <a:bodyPr wrap="square" lIns="0" tIns="0" rIns="0" bIns="0" rtlCol="0" anchor="ctr"/>
          <a:lstStyle/>
          <a:p>
            <a:pPr algn="l" indent="0" marL="0">
              <a:buNone/>
            </a:pPr>
            <a:r>
              <a:rPr lang="en-US" sz="700" b="1" spc="200" kern="0" dirty="0">
                <a:solidFill>
                  <a:schemeClr val="tx2"/>
                </a:solidFill>
              </a:rPr>
              <a:t>AURORA HAVEN  ·  ISSUE 01</a:t>
            </a:r>
            <a:endParaRPr lang="en-US" sz="7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_ICE">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1005840" y="10195560"/>
            <a:ext cx="3657600" cy="182880"/>
          </a:xfrm>
          <a:prstGeom prst="rect">
            <a:avLst/>
          </a:prstGeom>
          <a:noFill/>
          <a:ln/>
        </p:spPr>
        <p:txBody>
          <a:bodyPr wrap="square" lIns="0" tIns="0" rIns="0" bIns="0" rtlCol="0" anchor="ctr"/>
          <a:lstStyle/>
          <a:p>
            <a:pPr algn="l" indent="0" marL="0">
              <a:buNone/>
            </a:pPr>
            <a:r>
              <a:rPr lang="en-US" sz="700" b="1" spc="200" kern="0" dirty="0">
                <a:solidFill>
                  <a:schemeClr val="tx2"/>
                </a:solidFill>
              </a:rPr>
              <a:t>AURORA HAVEN  ·  ISSUE 01</a:t>
            </a:r>
            <a:endParaRPr lang="en-US" sz="7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L_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1005840" y="10195560"/>
            <a:ext cx="3657600" cy="182880"/>
          </a:xfrm>
          <a:prstGeom prst="rect">
            <a:avLst/>
          </a:prstGeom>
          <a:noFill/>
          <a:ln/>
        </p:spPr>
        <p:txBody>
          <a:bodyPr wrap="square" lIns="0" tIns="0" rIns="0" bIns="0" rtlCol="0" anchor="ctr"/>
          <a:lstStyle/>
          <a:p>
            <a:pPr algn="l" indent="0" marL="0">
              <a:buNone/>
            </a:pPr>
            <a:r>
              <a:rPr lang="en-US" sz="700" b="1" spc="200" kern="0" dirty="0">
                <a:solidFill>
                  <a:schemeClr val="bg2"/>
                </a:solidFill>
              </a:rPr>
              <a:t>AURORA HAVEN  ·  ISSUE 01</a:t>
            </a:r>
            <a:endParaRPr lang="en-US" sz="7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R_LIGH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2898648" y="10195560"/>
            <a:ext cx="3657600" cy="182880"/>
          </a:xfrm>
          <a:prstGeom prst="rect">
            <a:avLst/>
          </a:prstGeom>
          <a:noFill/>
          <a:ln/>
        </p:spPr>
        <p:txBody>
          <a:bodyPr wrap="square" lIns="0" tIns="0" rIns="0" bIns="0" rtlCol="0" anchor="ctr"/>
          <a:lstStyle/>
          <a:p>
            <a:pPr algn="r" indent="0" marL="0">
              <a:buNone/>
            </a:pPr>
            <a:r>
              <a:rPr lang="en-US" sz="700" b="1" spc="200" kern="0" dirty="0">
                <a:solidFill>
                  <a:schemeClr val="tx2"/>
                </a:solidFill>
              </a:rPr>
              <a:t>AURORA HAVEN  ·  ISSUE 01</a:t>
            </a:r>
            <a:endParaRPr lang="en-US" sz="7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_ICE">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2898648" y="10195560"/>
            <a:ext cx="3657600" cy="182880"/>
          </a:xfrm>
          <a:prstGeom prst="rect">
            <a:avLst/>
          </a:prstGeom>
          <a:noFill/>
          <a:ln/>
        </p:spPr>
        <p:txBody>
          <a:bodyPr wrap="square" lIns="0" tIns="0" rIns="0" bIns="0" rtlCol="0" anchor="ctr"/>
          <a:lstStyle/>
          <a:p>
            <a:pPr algn="r" indent="0" marL="0">
              <a:buNone/>
            </a:pPr>
            <a:r>
              <a:rPr lang="en-US" sz="700" b="1" spc="200" kern="0" dirty="0">
                <a:solidFill>
                  <a:schemeClr val="tx2"/>
                </a:solidFill>
              </a:rPr>
              <a:t>AURORA HAVEN  ·  ISSUE 01</a:t>
            </a:r>
            <a:endParaRPr lang="en-US" sz="7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R_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2898648" y="10195560"/>
            <a:ext cx="3657600" cy="182880"/>
          </a:xfrm>
          <a:prstGeom prst="rect">
            <a:avLst/>
          </a:prstGeom>
          <a:noFill/>
          <a:ln/>
        </p:spPr>
        <p:txBody>
          <a:bodyPr wrap="square" lIns="0" tIns="0" rIns="0" bIns="0" rtlCol="0" anchor="ctr"/>
          <a:lstStyle/>
          <a:p>
            <a:pPr algn="r" indent="0" marL="0">
              <a:buNone/>
            </a:pPr>
            <a:r>
              <a:rPr lang="en-US" sz="700" b="1" spc="200" kern="0" dirty="0">
                <a:solidFill>
                  <a:schemeClr val="bg2"/>
                </a:solidFill>
              </a:rPr>
              <a:t>AURORA HAVEN  ·  ISSUE 01</a:t>
            </a:r>
            <a:endParaRPr lang="en-US" sz="7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7.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hyperlink" Target="https://youtu.be/QwcP_2Q3Esc" TargetMode="External"/><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image" Target="../media/image-5-5.jpg"/><Relationship Id="rId6" Type="http://schemas.openxmlformats.org/officeDocument/2006/relationships/image" Target="../media/image-5-6.jpg"/><Relationship Id="rId7" Type="http://schemas.openxmlformats.org/officeDocument/2006/relationships/image" Target="../media/image-5-7.png"/><Relationship Id="rId9" Type="http://schemas.openxmlformats.org/officeDocument/2006/relationships/slideLayout" Target="../slideLayouts/slideLayout7.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7.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6.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7.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6.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slideLayout" Target="../slideLayouts/slideLayout9.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7.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6.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9.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9.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9.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png"/><Relationship Id="rId3" Type="http://schemas.openxmlformats.org/officeDocument/2006/relationships/slideLayout" Target="../slideLayouts/slideLayout6.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png"/><Relationship Id="rId3" Type="http://schemas.openxmlformats.org/officeDocument/2006/relationships/slideLayout" Target="../slideLayouts/slideLayout9.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jpg"/><Relationship Id="rId3" Type="http://schemas.openxmlformats.org/officeDocument/2006/relationships/image" Target="../media/image-23-3.jpg"/><Relationship Id="rId4" Type="http://schemas.openxmlformats.org/officeDocument/2006/relationships/image" Target="../media/image-23-4.jpg"/><Relationship Id="rId5" Type="http://schemas.openxmlformats.org/officeDocument/2006/relationships/image" Target="../media/image-23-5.jp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7.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jpg"/><Relationship Id="rId3" Type="http://schemas.openxmlformats.org/officeDocument/2006/relationships/slideLayout" Target="../slideLayouts/slideLayout7.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7.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7.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9.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image" Target="../media/image-34-2.png"/><Relationship Id="rId3" Type="http://schemas.openxmlformats.org/officeDocument/2006/relationships/slideLayout" Target="../slideLayouts/slideLayout4.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8.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image" Target="../media/image-37-2.png"/><Relationship Id="rId3" Type="http://schemas.openxmlformats.org/officeDocument/2006/relationships/slideLayout" Target="../slideLayouts/slideLayout9.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5" Type="http://schemas.openxmlformats.org/officeDocument/2006/relationships/hyperlink" Target="https://online.fliphtml5.com/MagazinePolarCity71844894/Aurora_Haven_Magazine_web/" TargetMode="External"/><Relationship Id="rId1" Type="http://schemas.openxmlformats.org/officeDocument/2006/relationships/image" Target="../media/image-40-1.jp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6" Type="http://schemas.openxmlformats.org/officeDocument/2006/relationships/slideLayout" Target="../slideLayouts/slideLayout2.xml"/><Relationship Id="rId7"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picture" descr="/home/user/chatbox-bi-n-o/magazine/assets/renders/cover.jpg">    </p:cNvPr>
          <p:cNvPicPr>
            <a:picLocks noChangeAspect="1"/>
          </p:cNvPicPr>
          <p:nvPr/>
        </p:nvPicPr>
        <p:blipFill>
          <a:blip r:embed="rId1"/>
          <a:stretch>
            <a:fillRect/>
          </a:stretch>
        </p:blipFill>
        <p:spPr>
          <a:xfrm>
            <a:off x="0" y="0"/>
            <a:ext cx="7562088" cy="10689336"/>
          </a:xfrm>
          <a:prstGeom prst="rect">
            <a:avLst/>
          </a:prstGeom>
        </p:spPr>
      </p:pic>
      <p:pic>
        <p:nvPicPr>
          <p:cNvPr id="3" name="shade-bottom-1" descr="/home/user/chatbox-bi-n-o/magazine/assets/ui/shade_bottom.png">    </p:cNvPr>
          <p:cNvPicPr>
            <a:picLocks noChangeAspect="1"/>
          </p:cNvPicPr>
          <p:nvPr/>
        </p:nvPicPr>
        <p:blipFill>
          <a:blip r:embed="rId2"/>
          <a:stretch>
            <a:fillRect/>
          </a:stretch>
        </p:blipFill>
        <p:spPr>
          <a:xfrm>
            <a:off x="0" y="7223760"/>
            <a:ext cx="7562088" cy="3465576"/>
          </a:xfrm>
          <a:prstGeom prst="rect">
            <a:avLst/>
          </a:prstGeom>
        </p:spPr>
      </p:pic>
      <p:sp>
        <p:nvSpPr>
          <p:cNvPr id="4" name="text-2"/>
          <p:cNvSpPr txBox="1"/>
          <p:nvPr/>
        </p:nvSpPr>
        <p:spPr>
          <a:xfrm>
            <a:off x="548640" y="347472"/>
            <a:ext cx="6464808" cy="201168"/>
          </a:xfrm>
          <a:prstGeom prst="rect">
            <a:avLst/>
          </a:prstGeom>
          <a:noFill/>
          <a:ln/>
        </p:spPr>
        <p:txBody>
          <a:bodyPr wrap="square" lIns="0" tIns="0" rIns="0" bIns="0" rtlCol="0" anchor="t"/>
          <a:lstStyle/>
          <a:p>
            <a:pPr algn="ctr" indent="0" marL="0">
              <a:buNone/>
            </a:pPr>
            <a:r>
              <a:rPr lang="en-US" sz="850" b="1" spc="300" kern="0" dirty="0">
                <a:solidFill>
                  <a:schemeClr val="bg1"/>
                </a:solidFill>
              </a:rPr>
              <a:t>ISSUE 01   ·   POLAR / ICE CITY   ·   A CITY BUILT IN 3D</a:t>
            </a:r>
            <a:endParaRPr lang="en-US" sz="850" dirty="0"/>
          </a:p>
        </p:txBody>
      </p:sp>
      <p:sp>
        <p:nvSpPr>
          <p:cNvPr id="5" name="text-3"/>
          <p:cNvSpPr txBox="1"/>
          <p:nvPr/>
        </p:nvSpPr>
        <p:spPr>
          <a:xfrm>
            <a:off x="182880" y="548640"/>
            <a:ext cx="7196328" cy="1051560"/>
          </a:xfrm>
          <a:prstGeom prst="rect">
            <a:avLst/>
          </a:prstGeom>
          <a:noFill/>
          <a:ln/>
        </p:spPr>
        <p:txBody>
          <a:bodyPr wrap="square" lIns="0" tIns="0" rIns="0" bIns="0" rtlCol="0" anchor="t"/>
          <a:lstStyle/>
          <a:p>
            <a:pPr algn="ctr" indent="0" marL="0">
              <a:buNone/>
            </a:pPr>
            <a:r>
              <a:rPr lang="en-US" sz="6400" b="1" spc="100" kern="0" dirty="0">
                <a:solidFill>
                  <a:schemeClr val="bg1"/>
                </a:solidFill>
                <a:latin typeface="+mj-lt" pitchFamily="34" charset="0"/>
                <a:ea typeface="+mj-lt" pitchFamily="34" charset="-122"/>
                <a:cs typeface="+mj-lt" pitchFamily="34" charset="-120"/>
              </a:rPr>
              <a:t>AURORA HAVEN</a:t>
            </a:r>
            <a:endParaRPr lang="en-US" sz="6400" dirty="0"/>
          </a:p>
        </p:txBody>
      </p:sp>
      <p:pic>
        <p:nvPicPr>
          <p:cNvPr id="6" name="cover-tower-overlay" descr="/home/user/chatbox-bi-n-o/magazine/assets/renders/cover_tower_top.png">    </p:cNvPr>
          <p:cNvPicPr>
            <a:picLocks noChangeAspect="1"/>
          </p:cNvPicPr>
          <p:nvPr/>
        </p:nvPicPr>
        <p:blipFill>
          <a:blip r:embed="rId3"/>
          <a:stretch>
            <a:fillRect/>
          </a:stretch>
        </p:blipFill>
        <p:spPr>
          <a:xfrm>
            <a:off x="0" y="0"/>
            <a:ext cx="7562088" cy="2139626"/>
          </a:xfrm>
          <a:prstGeom prst="rect">
            <a:avLst/>
          </a:prstGeom>
        </p:spPr>
      </p:pic>
      <p:sp>
        <p:nvSpPr>
          <p:cNvPr id="7" name="text-4"/>
          <p:cNvSpPr txBox="1"/>
          <p:nvPr/>
        </p:nvSpPr>
        <p:spPr>
          <a:xfrm>
            <a:off x="182880" y="1627632"/>
            <a:ext cx="7196328" cy="320040"/>
          </a:xfrm>
          <a:prstGeom prst="rect">
            <a:avLst/>
          </a:prstGeom>
          <a:noFill/>
          <a:ln/>
        </p:spPr>
        <p:txBody>
          <a:bodyPr wrap="square" lIns="0" tIns="0" rIns="0" bIns="0" rtlCol="0" anchor="t"/>
          <a:lstStyle/>
          <a:p>
            <a:pPr algn="ctr" indent="0" marL="0">
              <a:buNone/>
            </a:pPr>
            <a:r>
              <a:rPr lang="en-US" sz="1500" i="1" dirty="0">
                <a:solidFill>
                  <a:schemeClr val="bg1"/>
                </a:solidFill>
                <a:latin typeface="+mj-lt" pitchFamily="34" charset="0"/>
                <a:ea typeface="+mj-lt" pitchFamily="34" charset="-122"/>
                <a:cs typeface="+mj-lt" pitchFamily="34" charset="-120"/>
              </a:rPr>
              <a:t>A polar city that thrives</a:t>
            </a:r>
            <a:endParaRPr lang="en-US" sz="1500" dirty="0"/>
          </a:p>
        </p:txBody>
      </p:sp>
      <p:sp>
        <p:nvSpPr>
          <p:cNvPr id="8" name="text-5"/>
          <p:cNvSpPr txBox="1"/>
          <p:nvPr/>
        </p:nvSpPr>
        <p:spPr>
          <a:xfrm>
            <a:off x="4864608" y="2011680"/>
            <a:ext cx="2148840" cy="1325880"/>
          </a:xfrm>
          <a:prstGeom prst="rect">
            <a:avLst/>
          </a:prstGeom>
          <a:noFill/>
          <a:ln/>
          <a:effectLst>
            <a:outerShdw sx="100000" sy="100000" kx="0" ky="0" algn="bl" rotWithShape="0" blurRad="76200" dist="12700" dir="5400000">
              <a:srgbClr val="06102A">
                <a:alpha val="60000"/>
              </a:srgbClr>
            </a:outerShdw>
          </a:effectLst>
        </p:spPr>
        <p:txBody>
          <a:bodyPr wrap="square" lIns="0" tIns="0" rIns="0" bIns="0" rtlCol="0" anchor="t"/>
          <a:lstStyle/>
          <a:p>
            <a:pPr algn="r" indent="0" marL="0">
              <a:lnSpc>
                <a:spcPct val="105000"/>
              </a:lnSpc>
              <a:spcAft>
                <a:spcPts val="300"/>
              </a:spcAft>
              <a:buNone/>
            </a:pPr>
            <a:r>
              <a:rPr lang="en-US" sz="1500" b="1" dirty="0">
                <a:solidFill>
                  <a:schemeClr val="bg1"/>
                </a:solidFill>
                <a:latin typeface="+mj-lt" pitchFamily="34" charset="0"/>
                <a:ea typeface="+mj-lt" pitchFamily="34" charset="-122"/>
                <a:cs typeface="+mj-lt" pitchFamily="34" charset="-120"/>
              </a:rPr>
              <a:t>The city's own sun</a:t>
            </a:r>
            <a:endParaRPr lang="en-US" sz="1050" dirty="0"/>
          </a:p>
          <a:p>
            <a:pPr algn="r" indent="0" marL="0">
              <a:lnSpc>
                <a:spcPct val="105000"/>
              </a:lnSpc>
              <a:spcAft>
                <a:spcPts val="300"/>
              </a:spcAft>
              <a:buNone/>
            </a:pPr>
            <a:r>
              <a:rPr lang="en-US" sz="1050" dirty="0">
                <a:solidFill>
                  <a:schemeClr val="bg2"/>
                </a:solidFill>
              </a:rPr>
              <a:t>A compact fusion station keeps 45,000 people warm through the polar night</a:t>
            </a:r>
            <a:endParaRPr lang="en-US" sz="1050" dirty="0"/>
          </a:p>
          <a:p>
            <a:pPr algn="r" indent="0" marL="0">
              <a:lnSpc>
                <a:spcPct val="105000"/>
              </a:lnSpc>
              <a:buNone/>
            </a:pPr>
            <a:r>
              <a:rPr lang="en-US" sz="800" b="1" spc="200" kern="0" dirty="0">
                <a:solidFill>
                  <a:schemeClr val="accent1"/>
                </a:solidFill>
              </a:rPr>
              <a:t>PAGE 12</a:t>
            </a:r>
            <a:endParaRPr lang="en-US" sz="1050" dirty="0"/>
          </a:p>
        </p:txBody>
      </p:sp>
      <p:sp>
        <p:nvSpPr>
          <p:cNvPr id="9" name="text-6"/>
          <p:cNvSpPr txBox="1"/>
          <p:nvPr/>
        </p:nvSpPr>
        <p:spPr>
          <a:xfrm>
            <a:off x="4864608" y="3154680"/>
            <a:ext cx="2148840" cy="1325880"/>
          </a:xfrm>
          <a:prstGeom prst="rect">
            <a:avLst/>
          </a:prstGeom>
          <a:noFill/>
          <a:ln/>
          <a:effectLst>
            <a:outerShdw sx="100000" sy="100000" kx="0" ky="0" algn="bl" rotWithShape="0" blurRad="76200" dist="12700" dir="5400000">
              <a:srgbClr val="06102A">
                <a:alpha val="60000"/>
              </a:srgbClr>
            </a:outerShdw>
          </a:effectLst>
        </p:spPr>
        <p:txBody>
          <a:bodyPr wrap="square" lIns="0" tIns="0" rIns="0" bIns="0" rtlCol="0" anchor="t"/>
          <a:lstStyle/>
          <a:p>
            <a:pPr algn="r" indent="0" marL="0">
              <a:lnSpc>
                <a:spcPct val="105000"/>
              </a:lnSpc>
              <a:spcAft>
                <a:spcPts val="300"/>
              </a:spcAft>
              <a:buNone/>
            </a:pPr>
            <a:r>
              <a:rPr lang="en-US" sz="1500" b="1" dirty="0">
                <a:solidFill>
                  <a:schemeClr val="bg1"/>
                </a:solidFill>
                <a:latin typeface="+mj-lt" pitchFamily="34" charset="0"/>
                <a:ea typeface="+mj-lt" pitchFamily="34" charset="-122"/>
                <a:cs typeface="+mj-lt" pitchFamily="34" charset="-120"/>
              </a:rPr>
              <a:t>A snow mountain</a:t>
            </a:r>
            <a:endParaRPr lang="en-US" sz="1050" dirty="0"/>
          </a:p>
          <a:p>
            <a:pPr algn="r" indent="0" marL="0">
              <a:lnSpc>
                <a:spcPct val="105000"/>
              </a:lnSpc>
              <a:spcAft>
                <a:spcPts val="300"/>
              </a:spcAft>
              <a:buNone/>
            </a:pPr>
            <a:r>
              <a:rPr lang="en-US" sz="1500" b="1" dirty="0">
                <a:solidFill>
                  <a:schemeClr val="bg1"/>
                </a:solidFill>
                <a:latin typeface="+mj-lt" pitchFamily="34" charset="0"/>
                <a:ea typeface="+mj-lt" pitchFamily="34" charset="-122"/>
                <a:cs typeface="+mj-lt" pitchFamily="34" charset="-120"/>
              </a:rPr>
              <a:t>you can walk inside</a:t>
            </a:r>
            <a:endParaRPr lang="en-US" sz="1050" dirty="0"/>
          </a:p>
          <a:p>
            <a:pPr algn="r" indent="0" marL="0">
              <a:lnSpc>
                <a:spcPct val="105000"/>
              </a:lnSpc>
              <a:spcAft>
                <a:spcPts val="300"/>
              </a:spcAft>
              <a:buNone/>
            </a:pPr>
            <a:r>
              <a:rPr lang="en-US" sz="1050" dirty="0">
                <a:solidFill>
                  <a:schemeClr val="bg2"/>
                </a:solidFill>
              </a:rPr>
              <a:t>A whole leisure world inside a 35-metre snow peak</a:t>
            </a:r>
            <a:endParaRPr lang="en-US" sz="1050" dirty="0"/>
          </a:p>
          <a:p>
            <a:pPr algn="r" indent="0" marL="0">
              <a:lnSpc>
                <a:spcPct val="105000"/>
              </a:lnSpc>
              <a:buNone/>
            </a:pPr>
            <a:r>
              <a:rPr lang="en-US" sz="800" b="1" spc="200" kern="0" dirty="0">
                <a:solidFill>
                  <a:schemeClr val="accent1"/>
                </a:solidFill>
              </a:rPr>
              <a:t>PAGE 17</a:t>
            </a:r>
            <a:endParaRPr lang="en-US" sz="1050" dirty="0"/>
          </a:p>
        </p:txBody>
      </p:sp>
      <p:sp>
        <p:nvSpPr>
          <p:cNvPr id="10" name="text-7"/>
          <p:cNvSpPr txBox="1"/>
          <p:nvPr/>
        </p:nvSpPr>
        <p:spPr>
          <a:xfrm>
            <a:off x="548640" y="8915400"/>
            <a:ext cx="3017520" cy="1325880"/>
          </a:xfrm>
          <a:prstGeom prst="rect">
            <a:avLst/>
          </a:prstGeom>
          <a:noFill/>
          <a:ln/>
          <a:effectLst>
            <a:outerShdw sx="100000" sy="100000" kx="0" ky="0" algn="bl" rotWithShape="0" blurRad="76200" dist="12700" dir="5400000">
              <a:srgbClr val="06102A">
                <a:alpha val="60000"/>
              </a:srgbClr>
            </a:outerShdw>
          </a:effectLst>
        </p:spPr>
        <p:txBody>
          <a:bodyPr wrap="square" lIns="0" tIns="0" rIns="0" bIns="0" rtlCol="0" anchor="t"/>
          <a:lstStyle/>
          <a:p>
            <a:pPr algn="l" indent="0" marL="0">
              <a:lnSpc>
                <a:spcPct val="105000"/>
              </a:lnSpc>
              <a:spcAft>
                <a:spcPts val="300"/>
              </a:spcAft>
              <a:buNone/>
            </a:pPr>
            <a:r>
              <a:rPr lang="en-US" sz="1500" b="1" dirty="0">
                <a:solidFill>
                  <a:schemeClr val="bg1"/>
                </a:solidFill>
                <a:latin typeface="+mj-lt" pitchFamily="34" charset="0"/>
                <a:ea typeface="+mj-lt" pitchFamily="34" charset="-122"/>
                <a:cs typeface="+mj-lt" pitchFamily="34" charset="-120"/>
              </a:rPr>
              <a:t>Bread and water from snow and air</a:t>
            </a:r>
            <a:endParaRPr lang="en-US" sz="1050" dirty="0"/>
          </a:p>
          <a:p>
            <a:pPr algn="l" indent="0" marL="0">
              <a:lnSpc>
                <a:spcPct val="105000"/>
              </a:lnSpc>
              <a:spcAft>
                <a:spcPts val="300"/>
              </a:spcAft>
              <a:buNone/>
            </a:pPr>
            <a:r>
              <a:rPr lang="en-US" sz="1050" dirty="0">
                <a:solidFill>
                  <a:schemeClr val="bg2"/>
                </a:solidFill>
              </a:rPr>
              <a:t>Inside the plant that feeds a city with no farmland</a:t>
            </a:r>
            <a:endParaRPr lang="en-US" sz="1050" dirty="0"/>
          </a:p>
          <a:p>
            <a:pPr algn="l" indent="0" marL="0">
              <a:lnSpc>
                <a:spcPct val="105000"/>
              </a:lnSpc>
              <a:buNone/>
            </a:pPr>
            <a:r>
              <a:rPr lang="en-US" sz="800" b="1" spc="200" kern="0" dirty="0">
                <a:solidFill>
                  <a:schemeClr val="accent1"/>
                </a:solidFill>
              </a:rPr>
              <a:t>PAGE 15</a:t>
            </a:r>
            <a:endParaRPr lang="en-US" sz="1050" dirty="0"/>
          </a:p>
        </p:txBody>
      </p:sp>
      <p:sp>
        <p:nvSpPr>
          <p:cNvPr id="11" name="text-8"/>
          <p:cNvSpPr txBox="1"/>
          <p:nvPr/>
        </p:nvSpPr>
        <p:spPr>
          <a:xfrm>
            <a:off x="3995928" y="8915400"/>
            <a:ext cx="3017520" cy="1325880"/>
          </a:xfrm>
          <a:prstGeom prst="rect">
            <a:avLst/>
          </a:prstGeom>
          <a:noFill/>
          <a:ln/>
          <a:effectLst>
            <a:outerShdw sx="100000" sy="100000" kx="0" ky="0" algn="bl" rotWithShape="0" blurRad="76200" dist="12700" dir="5400000">
              <a:srgbClr val="06102A">
                <a:alpha val="60000"/>
              </a:srgbClr>
            </a:outerShdw>
          </a:effectLst>
        </p:spPr>
        <p:txBody>
          <a:bodyPr wrap="square" lIns="0" tIns="0" rIns="0" bIns="0" rtlCol="0" anchor="t"/>
          <a:lstStyle/>
          <a:p>
            <a:pPr algn="r" indent="0" marL="0">
              <a:lnSpc>
                <a:spcPct val="105000"/>
              </a:lnSpc>
              <a:spcAft>
                <a:spcPts val="300"/>
              </a:spcAft>
              <a:buNone/>
            </a:pPr>
            <a:r>
              <a:rPr lang="en-US" sz="1500" b="1" dirty="0">
                <a:solidFill>
                  <a:schemeClr val="bg1"/>
                </a:solidFill>
                <a:latin typeface="+mj-lt" pitchFamily="34" charset="0"/>
                <a:ea typeface="+mj-lt" pitchFamily="34" charset="-122"/>
                <a:cs typeface="+mj-lt" pitchFamily="34" charset="-120"/>
              </a:rPr>
              <a:t>−45 °C. 120 km/h. No sun.</a:t>
            </a:r>
            <a:endParaRPr lang="en-US" sz="1050" dirty="0"/>
          </a:p>
          <a:p>
            <a:pPr algn="r" indent="0" marL="0">
              <a:lnSpc>
                <a:spcPct val="105000"/>
              </a:lnSpc>
              <a:spcAft>
                <a:spcPts val="300"/>
              </a:spcAft>
              <a:buNone/>
            </a:pPr>
            <a:r>
              <a:rPr lang="en-US" sz="1050" dirty="0">
                <a:solidFill>
                  <a:schemeClr val="bg2"/>
                </a:solidFill>
              </a:rPr>
              <a:t>The polar challenge, and the five ideas that answer it</a:t>
            </a:r>
            <a:endParaRPr lang="en-US" sz="1050" dirty="0"/>
          </a:p>
          <a:p>
            <a:pPr algn="r" indent="0" marL="0">
              <a:lnSpc>
                <a:spcPct val="105000"/>
              </a:lnSpc>
              <a:buNone/>
            </a:pPr>
            <a:r>
              <a:rPr lang="en-US" sz="800" b="1" spc="200" kern="0" dirty="0">
                <a:solidFill>
                  <a:schemeClr val="accent1"/>
                </a:solidFill>
              </a:rPr>
              <a:t>PAGE 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picture-9" descr="/home/user/chatbox-bi-n-o/magazine/assets/renders/street_dusk.jpg">    </p:cNvPr>
          <p:cNvPicPr>
            <a:picLocks noChangeAspect="1"/>
          </p:cNvPicPr>
          <p:nvPr/>
        </p:nvPicPr>
        <p:blipFill>
          <a:blip r:embed="rId1"/>
          <a:srcRect l="0" r="0" t="0" b="0"/>
          <a:stretch/>
        </p:blipFill>
        <p:spPr>
          <a:xfrm>
            <a:off x="0" y="0"/>
            <a:ext cx="7562088" cy="3931920"/>
          </a:xfrm>
          <a:prstGeom prst="rect">
            <a:avLst/>
          </a:prstGeom>
        </p:spPr>
      </p:pic>
      <p:pic>
        <p:nvPicPr>
          <p:cNvPr id="3" name="shade-bottom-10" descr="/home/user/chatbox-bi-n-o/magazine/assets/ui/shade_bottom.png">    </p:cNvPr>
          <p:cNvPicPr>
            <a:picLocks noChangeAspect="1"/>
          </p:cNvPicPr>
          <p:nvPr/>
        </p:nvPicPr>
        <p:blipFill>
          <a:blip r:embed="rId2"/>
          <a:stretch>
            <a:fillRect/>
          </a:stretch>
        </p:blipFill>
        <p:spPr>
          <a:xfrm>
            <a:off x="0" y="1645920"/>
            <a:ext cx="7562088" cy="2286000"/>
          </a:xfrm>
          <a:prstGeom prst="rect">
            <a:avLst/>
          </a:prstGeom>
        </p:spPr>
      </p:pic>
      <p:sp>
        <p:nvSpPr>
          <p:cNvPr id="4" name="kicker-dot-11"/>
          <p:cNvSpPr/>
          <p:nvPr/>
        </p:nvSpPr>
        <p:spPr>
          <a:xfrm>
            <a:off x="548640" y="2766060"/>
            <a:ext cx="100584" cy="100584"/>
          </a:xfrm>
          <a:prstGeom prst="ellipse">
            <a:avLst/>
          </a:prstGeom>
          <a:solidFill>
            <a:schemeClr val="accent1"/>
          </a:solidFill>
          <a:ln w="12700">
            <a:solidFill>
              <a:schemeClr val="accent1"/>
            </a:solidFill>
            <a:prstDash val="solid"/>
          </a:ln>
        </p:spPr>
      </p:sp>
      <p:sp>
        <p:nvSpPr>
          <p:cNvPr id="5" name="text-12"/>
          <p:cNvSpPr txBox="1"/>
          <p:nvPr/>
        </p:nvSpPr>
        <p:spPr>
          <a:xfrm>
            <a:off x="731520" y="2724912"/>
            <a:ext cx="5486400" cy="201168"/>
          </a:xfrm>
          <a:prstGeom prst="rect">
            <a:avLst/>
          </a:prstGeom>
          <a:noFill/>
          <a:ln/>
        </p:spPr>
        <p:txBody>
          <a:bodyPr wrap="square" lIns="0" tIns="0" rIns="0" bIns="0" rtlCol="0" anchor="t"/>
          <a:lstStyle/>
          <a:p>
            <a:pPr indent="0" marL="0">
              <a:buNone/>
            </a:pPr>
            <a:r>
              <a:rPr lang="en-US" sz="900" b="1" spc="300" kern="0" dirty="0">
                <a:solidFill>
                  <a:schemeClr val="bg1"/>
                </a:solidFill>
              </a:rPr>
              <a:t>INSIDE THIS ISSUE</a:t>
            </a:r>
            <a:endParaRPr lang="en-US" sz="900" dirty="0"/>
          </a:p>
        </p:txBody>
      </p:sp>
      <p:sp>
        <p:nvSpPr>
          <p:cNvPr id="6" name="title-13"/>
          <p:cNvSpPr txBox="1"/>
          <p:nvPr/>
        </p:nvSpPr>
        <p:spPr>
          <a:xfrm>
            <a:off x="548640" y="2980944"/>
            <a:ext cx="6464808" cy="731520"/>
          </a:xfrm>
          <a:prstGeom prst="rect">
            <a:avLst/>
          </a:prstGeom>
          <a:noFill/>
          <a:ln/>
        </p:spPr>
        <p:txBody>
          <a:bodyPr wrap="square" lIns="0" tIns="0" rIns="0" bIns="0" rtlCol="0" anchor="t"/>
          <a:lstStyle/>
          <a:p>
            <a:pPr indent="0" marL="0">
              <a:lnSpc>
                <a:spcPct val="92000"/>
              </a:lnSpc>
              <a:buNone/>
            </a:pPr>
            <a:r>
              <a:rPr lang="en-US" sz="4400" b="1" dirty="0">
                <a:solidFill>
                  <a:schemeClr val="bg1"/>
                </a:solidFill>
                <a:latin typeface="+mj-lt" pitchFamily="34" charset="0"/>
                <a:ea typeface="+mj-lt" pitchFamily="34" charset="-122"/>
                <a:cs typeface="+mj-lt" pitchFamily="34" charset="-120"/>
              </a:rPr>
              <a:t>Contents</a:t>
            </a:r>
            <a:endParaRPr lang="en-US" sz="4400" dirty="0"/>
          </a:p>
        </p:txBody>
      </p:sp>
      <p:sp>
        <p:nvSpPr>
          <p:cNvPr id="7" name="text-15"/>
          <p:cNvSpPr txBox="1"/>
          <p:nvPr/>
        </p:nvSpPr>
        <p:spPr>
          <a:xfrm>
            <a:off x="548640" y="4005072"/>
            <a:ext cx="6464808" cy="228600"/>
          </a:xfrm>
          <a:prstGeom prst="rect">
            <a:avLst/>
          </a:prstGeom>
          <a:noFill/>
          <a:ln/>
        </p:spPr>
        <p:txBody>
          <a:bodyPr wrap="square" lIns="0" tIns="0" rIns="0" bIns="0" rtlCol="0" anchor="t"/>
          <a:lstStyle/>
          <a:p>
            <a:pPr indent="0" marL="0">
              <a:buNone/>
            </a:pPr>
            <a:r>
              <a:rPr lang="en-US" sz="850" i="1" dirty="0">
                <a:solidFill>
                  <a:schemeClr val="tx2"/>
                </a:solidFill>
              </a:rPr>
              <a:t>Shops and cafés on a downtown street at dusk. The streets are warmed from below, so they stay clear of ice without salt.</a:t>
            </a:r>
            <a:endParaRPr lang="en-US" sz="850" dirty="0"/>
          </a:p>
        </p:txBody>
      </p:sp>
      <p:sp>
        <p:nvSpPr>
          <p:cNvPr id="8" name="text-16"/>
          <p:cNvSpPr txBox="1"/>
          <p:nvPr/>
        </p:nvSpPr>
        <p:spPr>
          <a:xfrm>
            <a:off x="548640" y="438912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2</a:t>
            </a:r>
            <a:endParaRPr lang="en-US" sz="1700" dirty="0"/>
          </a:p>
        </p:txBody>
      </p:sp>
      <p:sp>
        <p:nvSpPr>
          <p:cNvPr id="9" name="text-17"/>
          <p:cNvSpPr txBox="1"/>
          <p:nvPr/>
        </p:nvSpPr>
        <p:spPr>
          <a:xfrm>
            <a:off x="1051560" y="4407408"/>
            <a:ext cx="2592324" cy="201168"/>
          </a:xfrm>
          <a:prstGeom prst="rect">
            <a:avLst/>
          </a:prstGeom>
          <a:noFill/>
          <a:ln/>
        </p:spPr>
        <p:txBody>
          <a:bodyPr wrap="square" lIns="0" tIns="0" rIns="0" bIns="0" rtlCol="0" anchor="t"/>
          <a:lstStyle/>
          <a:p>
            <a:pPr indent="0" marL="0">
              <a:buNone/>
            </a:pPr>
            <a:r>
              <a:rPr lang="en-US" sz="1050" b="1" dirty="0">
                <a:solidFill>
                  <a:schemeClr val="tx1"/>
                </a:solidFill>
              </a:rPr>
              <a:t>Letter from the Founders</a:t>
            </a:r>
            <a:endParaRPr lang="en-US" sz="1050" dirty="0"/>
          </a:p>
        </p:txBody>
      </p:sp>
      <p:sp>
        <p:nvSpPr>
          <p:cNvPr id="10" name="text-18"/>
          <p:cNvSpPr txBox="1"/>
          <p:nvPr/>
        </p:nvSpPr>
        <p:spPr>
          <a:xfrm>
            <a:off x="1051560" y="4599432"/>
            <a:ext cx="2592324" cy="201168"/>
          </a:xfrm>
          <a:prstGeom prst="rect">
            <a:avLst/>
          </a:prstGeom>
          <a:noFill/>
          <a:ln/>
        </p:spPr>
        <p:txBody>
          <a:bodyPr wrap="square" lIns="0" tIns="0" rIns="0" bIns="0" rtlCol="0" anchor="t"/>
          <a:lstStyle/>
          <a:p>
            <a:pPr indent="0" marL="0">
              <a:buNone/>
            </a:pPr>
            <a:r>
              <a:rPr lang="en-US" sz="850" dirty="0">
                <a:solidFill>
                  <a:schemeClr val="tx2"/>
                </a:solidFill>
              </a:rPr>
              <a:t>Who we are, our team and why we built Aurora Haven</a:t>
            </a:r>
            <a:endParaRPr lang="en-US" sz="850" dirty="0"/>
          </a:p>
        </p:txBody>
      </p:sp>
      <p:sp>
        <p:nvSpPr>
          <p:cNvPr id="11" name="text-19"/>
          <p:cNvSpPr txBox="1"/>
          <p:nvPr/>
        </p:nvSpPr>
        <p:spPr>
          <a:xfrm>
            <a:off x="548640" y="4809744"/>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4</a:t>
            </a:r>
            <a:endParaRPr lang="en-US" sz="1700" dirty="0"/>
          </a:p>
        </p:txBody>
      </p:sp>
      <p:sp>
        <p:nvSpPr>
          <p:cNvPr id="12" name="text-20"/>
          <p:cNvSpPr txBox="1"/>
          <p:nvPr/>
        </p:nvSpPr>
        <p:spPr>
          <a:xfrm>
            <a:off x="1051560" y="4828032"/>
            <a:ext cx="2592324" cy="201168"/>
          </a:xfrm>
          <a:prstGeom prst="rect">
            <a:avLst/>
          </a:prstGeom>
          <a:noFill/>
          <a:ln/>
        </p:spPr>
        <p:txBody>
          <a:bodyPr wrap="square" lIns="0" tIns="0" rIns="0" bIns="0" rtlCol="0" anchor="t"/>
          <a:lstStyle/>
          <a:p>
            <a:pPr indent="0" marL="0">
              <a:buNone/>
            </a:pPr>
            <a:r>
              <a:rPr lang="en-US" sz="1050" b="1" dirty="0">
                <a:solidFill>
                  <a:schemeClr val="tx1"/>
                </a:solidFill>
              </a:rPr>
              <a:t>Welcome to Aurora Haven</a:t>
            </a:r>
            <a:endParaRPr lang="en-US" sz="1050" dirty="0"/>
          </a:p>
        </p:txBody>
      </p:sp>
      <p:sp>
        <p:nvSpPr>
          <p:cNvPr id="13" name="text-21"/>
          <p:cNvSpPr txBox="1"/>
          <p:nvPr/>
        </p:nvSpPr>
        <p:spPr>
          <a:xfrm>
            <a:off x="1051560" y="5020056"/>
            <a:ext cx="2592324" cy="201168"/>
          </a:xfrm>
          <a:prstGeom prst="rect">
            <a:avLst/>
          </a:prstGeom>
          <a:noFill/>
          <a:ln/>
        </p:spPr>
        <p:txBody>
          <a:bodyPr wrap="square" lIns="0" tIns="0" rIns="0" bIns="0" rtlCol="0" anchor="t"/>
          <a:lstStyle/>
          <a:p>
            <a:pPr indent="0" marL="0">
              <a:buNone/>
            </a:pPr>
            <a:r>
              <a:rPr lang="en-US" sz="850" dirty="0">
                <a:solidFill>
                  <a:schemeClr val="tx2"/>
                </a:solidFill>
              </a:rPr>
              <a:t>A compact city of 45,000 under a snow peak</a:t>
            </a:r>
            <a:endParaRPr lang="en-US" sz="850" dirty="0"/>
          </a:p>
        </p:txBody>
      </p:sp>
      <p:sp>
        <p:nvSpPr>
          <p:cNvPr id="14" name="text-22"/>
          <p:cNvSpPr txBox="1"/>
          <p:nvPr/>
        </p:nvSpPr>
        <p:spPr>
          <a:xfrm>
            <a:off x="548640" y="5230368"/>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6</a:t>
            </a:r>
            <a:endParaRPr lang="en-US" sz="1700" dirty="0"/>
          </a:p>
        </p:txBody>
      </p:sp>
      <p:sp>
        <p:nvSpPr>
          <p:cNvPr id="15" name="text-23"/>
          <p:cNvSpPr txBox="1"/>
          <p:nvPr/>
        </p:nvSpPr>
        <p:spPr>
          <a:xfrm>
            <a:off x="1051560" y="5248656"/>
            <a:ext cx="2592324" cy="201168"/>
          </a:xfrm>
          <a:prstGeom prst="rect">
            <a:avLst/>
          </a:prstGeom>
          <a:noFill/>
          <a:ln/>
        </p:spPr>
        <p:txBody>
          <a:bodyPr wrap="square" lIns="0" tIns="0" rIns="0" bIns="0" rtlCol="0" anchor="t"/>
          <a:lstStyle/>
          <a:p>
            <a:pPr indent="0" marL="0">
              <a:buNone/>
            </a:pPr>
            <a:r>
              <a:rPr lang="en-US" sz="1050" b="1" dirty="0">
                <a:solidFill>
                  <a:schemeClr val="tx1"/>
                </a:solidFill>
              </a:rPr>
              <a:t>The Polar Challenge</a:t>
            </a:r>
            <a:endParaRPr lang="en-US" sz="1050" dirty="0"/>
          </a:p>
        </p:txBody>
      </p:sp>
      <p:sp>
        <p:nvSpPr>
          <p:cNvPr id="16" name="text-24"/>
          <p:cNvSpPr txBox="1"/>
          <p:nvPr/>
        </p:nvSpPr>
        <p:spPr>
          <a:xfrm>
            <a:off x="1051560" y="5440680"/>
            <a:ext cx="2592324" cy="201168"/>
          </a:xfrm>
          <a:prstGeom prst="rect">
            <a:avLst/>
          </a:prstGeom>
          <a:noFill/>
          <a:ln/>
        </p:spPr>
        <p:txBody>
          <a:bodyPr wrap="square" lIns="0" tIns="0" rIns="0" bIns="0" rtlCol="0" anchor="t"/>
          <a:lstStyle/>
          <a:p>
            <a:pPr indent="0" marL="0">
              <a:buNone/>
            </a:pPr>
            <a:r>
              <a:rPr lang="en-US" sz="850" dirty="0">
                <a:solidFill>
                  <a:schemeClr val="tx2"/>
                </a:solidFill>
              </a:rPr>
              <a:t>Cold, darkness, wind and thawing ground</a:t>
            </a:r>
            <a:endParaRPr lang="en-US" sz="850" dirty="0"/>
          </a:p>
        </p:txBody>
      </p:sp>
      <p:sp>
        <p:nvSpPr>
          <p:cNvPr id="17" name="text-25"/>
          <p:cNvSpPr txBox="1"/>
          <p:nvPr/>
        </p:nvSpPr>
        <p:spPr>
          <a:xfrm>
            <a:off x="548640" y="5650992"/>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7</a:t>
            </a:r>
            <a:endParaRPr lang="en-US" sz="1700" dirty="0"/>
          </a:p>
        </p:txBody>
      </p:sp>
      <p:sp>
        <p:nvSpPr>
          <p:cNvPr id="18" name="text-26"/>
          <p:cNvSpPr txBox="1"/>
          <p:nvPr/>
        </p:nvSpPr>
        <p:spPr>
          <a:xfrm>
            <a:off x="1051560" y="5669280"/>
            <a:ext cx="2592324" cy="201168"/>
          </a:xfrm>
          <a:prstGeom prst="rect">
            <a:avLst/>
          </a:prstGeom>
          <a:noFill/>
          <a:ln/>
        </p:spPr>
        <p:txBody>
          <a:bodyPr wrap="square" lIns="0" tIns="0" rIns="0" bIns="0" rtlCol="0" anchor="t"/>
          <a:lstStyle/>
          <a:p>
            <a:pPr indent="0" marL="0">
              <a:buNone/>
            </a:pPr>
            <a:r>
              <a:rPr lang="en-US" sz="1050" b="1" dirty="0">
                <a:solidFill>
                  <a:schemeClr val="tx1"/>
                </a:solidFill>
              </a:rPr>
              <a:t>Our Vision &amp; Mission</a:t>
            </a:r>
            <a:endParaRPr lang="en-US" sz="1050" dirty="0"/>
          </a:p>
        </p:txBody>
      </p:sp>
      <p:sp>
        <p:nvSpPr>
          <p:cNvPr id="19" name="text-27"/>
          <p:cNvSpPr txBox="1"/>
          <p:nvPr/>
        </p:nvSpPr>
        <p:spPr>
          <a:xfrm>
            <a:off x="1051560" y="5861304"/>
            <a:ext cx="2592324" cy="201168"/>
          </a:xfrm>
          <a:prstGeom prst="rect">
            <a:avLst/>
          </a:prstGeom>
          <a:noFill/>
          <a:ln/>
        </p:spPr>
        <p:txBody>
          <a:bodyPr wrap="square" lIns="0" tIns="0" rIns="0" bIns="0" rtlCol="0" anchor="t"/>
          <a:lstStyle/>
          <a:p>
            <a:pPr indent="0" marL="0">
              <a:buNone/>
            </a:pPr>
            <a:r>
              <a:rPr lang="en-US" sz="850" dirty="0">
                <a:solidFill>
                  <a:schemeClr val="tx2"/>
                </a:solidFill>
              </a:rPr>
              <a:t>Who is affected, and the five ideas that answer it</a:t>
            </a:r>
            <a:endParaRPr lang="en-US" sz="850" dirty="0"/>
          </a:p>
        </p:txBody>
      </p:sp>
      <p:sp>
        <p:nvSpPr>
          <p:cNvPr id="20" name="text-28"/>
          <p:cNvSpPr txBox="1"/>
          <p:nvPr/>
        </p:nvSpPr>
        <p:spPr>
          <a:xfrm>
            <a:off x="548640" y="6071616"/>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8</a:t>
            </a:r>
            <a:endParaRPr lang="en-US" sz="1700" dirty="0"/>
          </a:p>
        </p:txBody>
      </p:sp>
      <p:sp>
        <p:nvSpPr>
          <p:cNvPr id="21" name="text-29"/>
          <p:cNvSpPr txBox="1"/>
          <p:nvPr/>
        </p:nvSpPr>
        <p:spPr>
          <a:xfrm>
            <a:off x="1051560" y="6089904"/>
            <a:ext cx="2592324" cy="201168"/>
          </a:xfrm>
          <a:prstGeom prst="rect">
            <a:avLst/>
          </a:prstGeom>
          <a:noFill/>
          <a:ln/>
        </p:spPr>
        <p:txBody>
          <a:bodyPr wrap="square" lIns="0" tIns="0" rIns="0" bIns="0" rtlCol="0" anchor="t"/>
          <a:lstStyle/>
          <a:p>
            <a:pPr indent="0" marL="0">
              <a:buNone/>
            </a:pPr>
            <a:r>
              <a:rPr lang="en-US" sz="1050" b="1" dirty="0">
                <a:solidFill>
                  <a:schemeClr val="tx1"/>
                </a:solidFill>
              </a:rPr>
              <a:t>Nine Blocks, One Short Walk</a:t>
            </a:r>
            <a:endParaRPr lang="en-US" sz="1050" dirty="0"/>
          </a:p>
        </p:txBody>
      </p:sp>
      <p:sp>
        <p:nvSpPr>
          <p:cNvPr id="22" name="text-30"/>
          <p:cNvSpPr txBox="1"/>
          <p:nvPr/>
        </p:nvSpPr>
        <p:spPr>
          <a:xfrm>
            <a:off x="1051560" y="6281928"/>
            <a:ext cx="2592324" cy="201168"/>
          </a:xfrm>
          <a:prstGeom prst="rect">
            <a:avLst/>
          </a:prstGeom>
          <a:noFill/>
          <a:ln/>
        </p:spPr>
        <p:txBody>
          <a:bodyPr wrap="square" lIns="0" tIns="0" rIns="0" bIns="0" rtlCol="0" anchor="t"/>
          <a:lstStyle/>
          <a:p>
            <a:pPr indent="0" marL="0">
              <a:buNone/>
            </a:pPr>
            <a:r>
              <a:rPr lang="en-US" sz="850" dirty="0">
                <a:solidFill>
                  <a:schemeClr val="tx2"/>
                </a:solidFill>
              </a:rPr>
              <a:t>Downtown around the Aurora Roundabout</a:t>
            </a:r>
            <a:endParaRPr lang="en-US" sz="850" dirty="0"/>
          </a:p>
        </p:txBody>
      </p:sp>
      <p:sp>
        <p:nvSpPr>
          <p:cNvPr id="23" name="text-31"/>
          <p:cNvSpPr txBox="1"/>
          <p:nvPr/>
        </p:nvSpPr>
        <p:spPr>
          <a:xfrm>
            <a:off x="548640" y="64922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10</a:t>
            </a:r>
            <a:endParaRPr lang="en-US" sz="1700" dirty="0"/>
          </a:p>
        </p:txBody>
      </p:sp>
      <p:sp>
        <p:nvSpPr>
          <p:cNvPr id="24" name="text-32"/>
          <p:cNvSpPr txBox="1"/>
          <p:nvPr/>
        </p:nvSpPr>
        <p:spPr>
          <a:xfrm>
            <a:off x="1051560" y="6510528"/>
            <a:ext cx="2592324" cy="201168"/>
          </a:xfrm>
          <a:prstGeom prst="rect">
            <a:avLst/>
          </a:prstGeom>
          <a:noFill/>
          <a:ln/>
        </p:spPr>
        <p:txBody>
          <a:bodyPr wrap="square" lIns="0" tIns="0" rIns="0" bIns="0" rtlCol="0" anchor="t"/>
          <a:lstStyle/>
          <a:p>
            <a:pPr indent="0" marL="0">
              <a:buNone/>
            </a:pPr>
            <a:r>
              <a:rPr lang="en-US" sz="1050" b="1" dirty="0">
                <a:solidFill>
                  <a:schemeClr val="tx1"/>
                </a:solidFill>
              </a:rPr>
              <a:t>The Whole City Plan</a:t>
            </a:r>
            <a:endParaRPr lang="en-US" sz="1050" dirty="0"/>
          </a:p>
        </p:txBody>
      </p:sp>
      <p:sp>
        <p:nvSpPr>
          <p:cNvPr id="25" name="text-33"/>
          <p:cNvSpPr txBox="1"/>
          <p:nvPr/>
        </p:nvSpPr>
        <p:spPr>
          <a:xfrm>
            <a:off x="1051560" y="6702552"/>
            <a:ext cx="2592324" cy="201168"/>
          </a:xfrm>
          <a:prstGeom prst="rect">
            <a:avLst/>
          </a:prstGeom>
          <a:noFill/>
          <a:ln/>
        </p:spPr>
        <p:txBody>
          <a:bodyPr wrap="square" lIns="0" tIns="0" rIns="0" bIns="0" rtlCol="0" anchor="t"/>
          <a:lstStyle/>
          <a:p>
            <a:pPr indent="0" marL="0">
              <a:buNone/>
            </a:pPr>
            <a:r>
              <a:rPr lang="en-US" sz="850" dirty="0">
                <a:solidFill>
                  <a:schemeClr val="tx2"/>
                </a:solidFill>
              </a:rPr>
              <a:t>From the wind farm to Mount Aurora</a:t>
            </a:r>
            <a:endParaRPr lang="en-US" sz="850" dirty="0"/>
          </a:p>
        </p:txBody>
      </p:sp>
      <p:sp>
        <p:nvSpPr>
          <p:cNvPr id="26" name="text-34"/>
          <p:cNvSpPr txBox="1"/>
          <p:nvPr/>
        </p:nvSpPr>
        <p:spPr>
          <a:xfrm>
            <a:off x="548640" y="6912864"/>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12</a:t>
            </a:r>
            <a:endParaRPr lang="en-US" sz="1700" dirty="0"/>
          </a:p>
        </p:txBody>
      </p:sp>
      <p:sp>
        <p:nvSpPr>
          <p:cNvPr id="27" name="text-35"/>
          <p:cNvSpPr txBox="1"/>
          <p:nvPr/>
        </p:nvSpPr>
        <p:spPr>
          <a:xfrm>
            <a:off x="1051560" y="6931152"/>
            <a:ext cx="2592324" cy="201168"/>
          </a:xfrm>
          <a:prstGeom prst="rect">
            <a:avLst/>
          </a:prstGeom>
          <a:noFill/>
          <a:ln/>
        </p:spPr>
        <p:txBody>
          <a:bodyPr wrap="square" lIns="0" tIns="0" rIns="0" bIns="0" rtlCol="0" anchor="t"/>
          <a:lstStyle/>
          <a:p>
            <a:pPr indent="0" marL="0">
              <a:buNone/>
            </a:pPr>
            <a:r>
              <a:rPr lang="en-US" sz="1050" b="1" dirty="0">
                <a:solidFill>
                  <a:schemeClr val="tx1"/>
                </a:solidFill>
              </a:rPr>
              <a:t>The City's Own Sun</a:t>
            </a:r>
            <a:endParaRPr lang="en-US" sz="1050" dirty="0"/>
          </a:p>
        </p:txBody>
      </p:sp>
      <p:sp>
        <p:nvSpPr>
          <p:cNvPr id="28" name="text-36"/>
          <p:cNvSpPr txBox="1"/>
          <p:nvPr/>
        </p:nvSpPr>
        <p:spPr>
          <a:xfrm>
            <a:off x="1051560" y="7123176"/>
            <a:ext cx="2592324" cy="201168"/>
          </a:xfrm>
          <a:prstGeom prst="rect">
            <a:avLst/>
          </a:prstGeom>
          <a:noFill/>
          <a:ln/>
        </p:spPr>
        <p:txBody>
          <a:bodyPr wrap="square" lIns="0" tIns="0" rIns="0" bIns="0" rtlCol="0" anchor="t"/>
          <a:lstStyle/>
          <a:p>
            <a:pPr indent="0" marL="0">
              <a:buNone/>
            </a:pPr>
            <a:r>
              <a:rPr lang="en-US" sz="850" dirty="0">
                <a:solidFill>
                  <a:schemeClr val="tx2"/>
                </a:solidFill>
              </a:rPr>
              <a:t>Breakthrough 1 · Fusion Power Station</a:t>
            </a:r>
            <a:endParaRPr lang="en-US" sz="850" dirty="0"/>
          </a:p>
        </p:txBody>
      </p:sp>
      <p:sp>
        <p:nvSpPr>
          <p:cNvPr id="29" name="text-37"/>
          <p:cNvSpPr txBox="1"/>
          <p:nvPr/>
        </p:nvSpPr>
        <p:spPr>
          <a:xfrm>
            <a:off x="548640" y="7333488"/>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15</a:t>
            </a:r>
            <a:endParaRPr lang="en-US" sz="1700" dirty="0"/>
          </a:p>
        </p:txBody>
      </p:sp>
      <p:sp>
        <p:nvSpPr>
          <p:cNvPr id="30" name="text-38"/>
          <p:cNvSpPr txBox="1"/>
          <p:nvPr/>
        </p:nvSpPr>
        <p:spPr>
          <a:xfrm>
            <a:off x="1051560" y="7351776"/>
            <a:ext cx="2592324" cy="201168"/>
          </a:xfrm>
          <a:prstGeom prst="rect">
            <a:avLst/>
          </a:prstGeom>
          <a:noFill/>
          <a:ln/>
        </p:spPr>
        <p:txBody>
          <a:bodyPr wrap="square" lIns="0" tIns="0" rIns="0" bIns="0" rtlCol="0" anchor="t"/>
          <a:lstStyle/>
          <a:p>
            <a:pPr indent="0" marL="0">
              <a:buNone/>
            </a:pPr>
            <a:r>
              <a:rPr lang="en-US" sz="1050" b="1" dirty="0">
                <a:solidFill>
                  <a:schemeClr val="tx1"/>
                </a:solidFill>
              </a:rPr>
              <a:t>Bread and Water from Snow and Air</a:t>
            </a:r>
            <a:endParaRPr lang="en-US" sz="1050" dirty="0"/>
          </a:p>
        </p:txBody>
      </p:sp>
      <p:sp>
        <p:nvSpPr>
          <p:cNvPr id="31" name="text-39"/>
          <p:cNvSpPr txBox="1"/>
          <p:nvPr/>
        </p:nvSpPr>
        <p:spPr>
          <a:xfrm>
            <a:off x="1051560" y="7543800"/>
            <a:ext cx="2592324" cy="201168"/>
          </a:xfrm>
          <a:prstGeom prst="rect">
            <a:avLst/>
          </a:prstGeom>
          <a:noFill/>
          <a:ln/>
        </p:spPr>
        <p:txBody>
          <a:bodyPr wrap="square" lIns="0" tIns="0" rIns="0" bIns="0" rtlCol="0" anchor="t"/>
          <a:lstStyle/>
          <a:p>
            <a:pPr indent="0" marL="0">
              <a:buNone/>
            </a:pPr>
            <a:r>
              <a:rPr lang="en-US" sz="850" dirty="0">
                <a:solidFill>
                  <a:schemeClr val="tx2"/>
                </a:solidFill>
              </a:rPr>
              <a:t>Breakthrough 2 · Snow-to-Food &amp; Water Plant</a:t>
            </a:r>
            <a:endParaRPr lang="en-US" sz="850" dirty="0"/>
          </a:p>
        </p:txBody>
      </p:sp>
      <p:sp>
        <p:nvSpPr>
          <p:cNvPr id="32" name="text-40"/>
          <p:cNvSpPr txBox="1"/>
          <p:nvPr/>
        </p:nvSpPr>
        <p:spPr>
          <a:xfrm>
            <a:off x="548640" y="7754112"/>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17</a:t>
            </a:r>
            <a:endParaRPr lang="en-US" sz="1700" dirty="0"/>
          </a:p>
        </p:txBody>
      </p:sp>
      <p:sp>
        <p:nvSpPr>
          <p:cNvPr id="33" name="text-41"/>
          <p:cNvSpPr txBox="1"/>
          <p:nvPr/>
        </p:nvSpPr>
        <p:spPr>
          <a:xfrm>
            <a:off x="1051560" y="7772400"/>
            <a:ext cx="2592324" cy="201168"/>
          </a:xfrm>
          <a:prstGeom prst="rect">
            <a:avLst/>
          </a:prstGeom>
          <a:noFill/>
          <a:ln/>
        </p:spPr>
        <p:txBody>
          <a:bodyPr wrap="square" lIns="0" tIns="0" rIns="0" bIns="0" rtlCol="0" anchor="t"/>
          <a:lstStyle/>
          <a:p>
            <a:pPr indent="0" marL="0">
              <a:buNone/>
            </a:pPr>
            <a:r>
              <a:rPr lang="en-US" sz="1050" b="1" dirty="0">
                <a:solidFill>
                  <a:schemeClr val="tx1"/>
                </a:solidFill>
              </a:rPr>
              <a:t>A Snow Mountain You Can Walk Inside</a:t>
            </a:r>
            <a:endParaRPr lang="en-US" sz="1050" dirty="0"/>
          </a:p>
        </p:txBody>
      </p:sp>
      <p:sp>
        <p:nvSpPr>
          <p:cNvPr id="34" name="text-42"/>
          <p:cNvSpPr txBox="1"/>
          <p:nvPr/>
        </p:nvSpPr>
        <p:spPr>
          <a:xfrm>
            <a:off x="1051560" y="7964424"/>
            <a:ext cx="2592324" cy="201168"/>
          </a:xfrm>
          <a:prstGeom prst="rect">
            <a:avLst/>
          </a:prstGeom>
          <a:noFill/>
          <a:ln/>
        </p:spPr>
        <p:txBody>
          <a:bodyPr wrap="square" lIns="0" tIns="0" rIns="0" bIns="0" rtlCol="0" anchor="t"/>
          <a:lstStyle/>
          <a:p>
            <a:pPr indent="0" marL="0">
              <a:buNone/>
            </a:pPr>
            <a:r>
              <a:rPr lang="en-US" sz="850" dirty="0">
                <a:solidFill>
                  <a:schemeClr val="tx2"/>
                </a:solidFill>
              </a:rPr>
              <a:t>Breakthrough 3 · Mount Aurora</a:t>
            </a:r>
            <a:endParaRPr lang="en-US" sz="850" dirty="0"/>
          </a:p>
        </p:txBody>
      </p:sp>
      <p:sp>
        <p:nvSpPr>
          <p:cNvPr id="35" name="text-43"/>
          <p:cNvSpPr txBox="1"/>
          <p:nvPr/>
        </p:nvSpPr>
        <p:spPr>
          <a:xfrm>
            <a:off x="548640" y="8174736"/>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21</a:t>
            </a:r>
            <a:endParaRPr lang="en-US" sz="1700" dirty="0"/>
          </a:p>
        </p:txBody>
      </p:sp>
      <p:sp>
        <p:nvSpPr>
          <p:cNvPr id="36" name="text-44"/>
          <p:cNvSpPr txBox="1"/>
          <p:nvPr/>
        </p:nvSpPr>
        <p:spPr>
          <a:xfrm>
            <a:off x="1051560" y="8193024"/>
            <a:ext cx="2592324" cy="201168"/>
          </a:xfrm>
          <a:prstGeom prst="rect">
            <a:avLst/>
          </a:prstGeom>
          <a:noFill/>
          <a:ln/>
        </p:spPr>
        <p:txBody>
          <a:bodyPr wrap="square" lIns="0" tIns="0" rIns="0" bIns="0" rtlCol="0" anchor="t"/>
          <a:lstStyle/>
          <a:p>
            <a:pPr indent="0" marL="0">
              <a:buNone/>
            </a:pPr>
            <a:r>
              <a:rPr lang="en-US" sz="1050" b="1" dirty="0">
                <a:solidFill>
                  <a:schemeClr val="tx1"/>
                </a:solidFill>
              </a:rPr>
              <a:t>Built by Us</a:t>
            </a:r>
            <a:endParaRPr lang="en-US" sz="1050" dirty="0"/>
          </a:p>
        </p:txBody>
      </p:sp>
      <p:sp>
        <p:nvSpPr>
          <p:cNvPr id="37" name="text-45"/>
          <p:cNvSpPr txBox="1"/>
          <p:nvPr/>
        </p:nvSpPr>
        <p:spPr>
          <a:xfrm>
            <a:off x="1051560" y="8385048"/>
            <a:ext cx="2592324" cy="201168"/>
          </a:xfrm>
          <a:prstGeom prst="rect">
            <a:avLst/>
          </a:prstGeom>
          <a:noFill/>
          <a:ln/>
        </p:spPr>
        <p:txBody>
          <a:bodyPr wrap="square" lIns="0" tIns="0" rIns="0" bIns="0" rtlCol="0" anchor="t"/>
          <a:lstStyle/>
          <a:p>
            <a:pPr indent="0" marL="0">
              <a:buNone/>
            </a:pPr>
            <a:r>
              <a:rPr lang="en-US" sz="850" dirty="0">
                <a:solidFill>
                  <a:schemeClr val="tx2"/>
                </a:solidFill>
              </a:rPr>
              <a:t>Our Eco-Polis model, and how to explore it</a:t>
            </a:r>
            <a:endParaRPr lang="en-US" sz="850" dirty="0"/>
          </a:p>
        </p:txBody>
      </p:sp>
      <p:sp>
        <p:nvSpPr>
          <p:cNvPr id="38" name="text-46"/>
          <p:cNvSpPr txBox="1"/>
          <p:nvPr/>
        </p:nvSpPr>
        <p:spPr>
          <a:xfrm>
            <a:off x="548640" y="859536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22</a:t>
            </a:r>
            <a:endParaRPr lang="en-US" sz="1700" dirty="0"/>
          </a:p>
        </p:txBody>
      </p:sp>
      <p:sp>
        <p:nvSpPr>
          <p:cNvPr id="39" name="text-47"/>
          <p:cNvSpPr txBox="1"/>
          <p:nvPr/>
        </p:nvSpPr>
        <p:spPr>
          <a:xfrm>
            <a:off x="1051560" y="8613648"/>
            <a:ext cx="2592324" cy="201168"/>
          </a:xfrm>
          <a:prstGeom prst="rect">
            <a:avLst/>
          </a:prstGeom>
          <a:noFill/>
          <a:ln/>
        </p:spPr>
        <p:txBody>
          <a:bodyPr wrap="square" lIns="0" tIns="0" rIns="0" bIns="0" rtlCol="0" anchor="t"/>
          <a:lstStyle/>
          <a:p>
            <a:pPr indent="0" marL="0">
              <a:buNone/>
            </a:pPr>
            <a:r>
              <a:rPr lang="en-US" sz="1050" b="1" dirty="0">
                <a:solidFill>
                  <a:schemeClr val="tx1"/>
                </a:solidFill>
              </a:rPr>
              <a:t>Three Districts, One Loop</a:t>
            </a:r>
            <a:endParaRPr lang="en-US" sz="1050" dirty="0"/>
          </a:p>
        </p:txBody>
      </p:sp>
      <p:sp>
        <p:nvSpPr>
          <p:cNvPr id="40" name="text-48"/>
          <p:cNvSpPr txBox="1"/>
          <p:nvPr/>
        </p:nvSpPr>
        <p:spPr>
          <a:xfrm>
            <a:off x="1051560" y="8805672"/>
            <a:ext cx="2592324" cy="201168"/>
          </a:xfrm>
          <a:prstGeom prst="rect">
            <a:avLst/>
          </a:prstGeom>
          <a:noFill/>
          <a:ln/>
        </p:spPr>
        <p:txBody>
          <a:bodyPr wrap="square" lIns="0" tIns="0" rIns="0" bIns="0" rtlCol="0" anchor="t"/>
          <a:lstStyle/>
          <a:p>
            <a:pPr indent="0" marL="0">
              <a:buNone/>
            </a:pPr>
            <a:r>
              <a:rPr lang="en-US" sz="850" dirty="0">
                <a:solidFill>
                  <a:schemeClr val="tx2"/>
                </a:solidFill>
              </a:rPr>
              <a:t>How heat, water, oxygen and waste go round</a:t>
            </a:r>
            <a:endParaRPr lang="en-US" sz="850" dirty="0"/>
          </a:p>
        </p:txBody>
      </p:sp>
      <p:sp>
        <p:nvSpPr>
          <p:cNvPr id="41" name="text-49"/>
          <p:cNvSpPr txBox="1"/>
          <p:nvPr/>
        </p:nvSpPr>
        <p:spPr>
          <a:xfrm>
            <a:off x="548640" y="9015984"/>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23</a:t>
            </a:r>
            <a:endParaRPr lang="en-US" sz="1700" dirty="0"/>
          </a:p>
        </p:txBody>
      </p:sp>
      <p:sp>
        <p:nvSpPr>
          <p:cNvPr id="42" name="text-50"/>
          <p:cNvSpPr txBox="1"/>
          <p:nvPr/>
        </p:nvSpPr>
        <p:spPr>
          <a:xfrm>
            <a:off x="1051560" y="9034272"/>
            <a:ext cx="2592324" cy="201168"/>
          </a:xfrm>
          <a:prstGeom prst="rect">
            <a:avLst/>
          </a:prstGeom>
          <a:noFill/>
          <a:ln/>
        </p:spPr>
        <p:txBody>
          <a:bodyPr wrap="square" lIns="0" tIns="0" rIns="0" bIns="0" rtlCol="0" anchor="t"/>
          <a:lstStyle/>
          <a:p>
            <a:pPr indent="0" marL="0">
              <a:buNone/>
            </a:pPr>
            <a:r>
              <a:rPr lang="en-US" sz="1050" b="1" dirty="0">
                <a:solidFill>
                  <a:schemeClr val="tx1"/>
                </a:solidFill>
              </a:rPr>
              <a:t>A Livable City Every Day</a:t>
            </a:r>
            <a:endParaRPr lang="en-US" sz="1050" dirty="0"/>
          </a:p>
        </p:txBody>
      </p:sp>
      <p:sp>
        <p:nvSpPr>
          <p:cNvPr id="43" name="text-51"/>
          <p:cNvSpPr txBox="1"/>
          <p:nvPr/>
        </p:nvSpPr>
        <p:spPr>
          <a:xfrm>
            <a:off x="1051560" y="9226296"/>
            <a:ext cx="2592324" cy="201168"/>
          </a:xfrm>
          <a:prstGeom prst="rect">
            <a:avLst/>
          </a:prstGeom>
          <a:noFill/>
          <a:ln/>
        </p:spPr>
        <p:txBody>
          <a:bodyPr wrap="square" lIns="0" tIns="0" rIns="0" bIns="0" rtlCol="0" anchor="t"/>
          <a:lstStyle/>
          <a:p>
            <a:pPr indent="0" marL="0">
              <a:buNone/>
            </a:pPr>
            <a:r>
              <a:rPr lang="en-US" sz="850" dirty="0">
                <a:solidFill>
                  <a:schemeClr val="tx2"/>
                </a:solidFill>
              </a:rPr>
              <a:t>Schools, health, shops and culture</a:t>
            </a:r>
            <a:endParaRPr lang="en-US" sz="850" dirty="0"/>
          </a:p>
        </p:txBody>
      </p:sp>
      <p:sp>
        <p:nvSpPr>
          <p:cNvPr id="44" name="text-52"/>
          <p:cNvSpPr txBox="1"/>
          <p:nvPr/>
        </p:nvSpPr>
        <p:spPr>
          <a:xfrm>
            <a:off x="548640" y="9436608"/>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24</a:t>
            </a:r>
            <a:endParaRPr lang="en-US" sz="1700" dirty="0"/>
          </a:p>
        </p:txBody>
      </p:sp>
      <p:sp>
        <p:nvSpPr>
          <p:cNvPr id="45" name="text-53"/>
          <p:cNvSpPr txBox="1"/>
          <p:nvPr/>
        </p:nvSpPr>
        <p:spPr>
          <a:xfrm>
            <a:off x="1051560" y="9454896"/>
            <a:ext cx="2592324" cy="201168"/>
          </a:xfrm>
          <a:prstGeom prst="rect">
            <a:avLst/>
          </a:prstGeom>
          <a:noFill/>
          <a:ln/>
        </p:spPr>
        <p:txBody>
          <a:bodyPr wrap="square" lIns="0" tIns="0" rIns="0" bIns="0" rtlCol="0" anchor="t"/>
          <a:lstStyle/>
          <a:p>
            <a:pPr indent="0" marL="0">
              <a:buNone/>
            </a:pPr>
            <a:r>
              <a:rPr lang="en-US" sz="1050" b="1" dirty="0">
                <a:solidFill>
                  <a:schemeClr val="tx1"/>
                </a:solidFill>
              </a:rPr>
              <a:t>Homes for the Polar Night</a:t>
            </a:r>
            <a:endParaRPr lang="en-US" sz="1050" dirty="0"/>
          </a:p>
        </p:txBody>
      </p:sp>
      <p:sp>
        <p:nvSpPr>
          <p:cNvPr id="46" name="text-54"/>
          <p:cNvSpPr txBox="1"/>
          <p:nvPr/>
        </p:nvSpPr>
        <p:spPr>
          <a:xfrm>
            <a:off x="1051560" y="9646920"/>
            <a:ext cx="2592324" cy="201168"/>
          </a:xfrm>
          <a:prstGeom prst="rect">
            <a:avLst/>
          </a:prstGeom>
          <a:noFill/>
          <a:ln/>
        </p:spPr>
        <p:txBody>
          <a:bodyPr wrap="square" lIns="0" tIns="0" rIns="0" bIns="0" rtlCol="0" anchor="t"/>
          <a:lstStyle/>
          <a:p>
            <a:pPr indent="0" marL="0">
              <a:buNone/>
            </a:pPr>
            <a:r>
              <a:rPr lang="en-US" sz="850" dirty="0">
                <a:solidFill>
                  <a:schemeClr val="tx2"/>
                </a:solidFill>
              </a:rPr>
              <a:t>Housing for every age, built for −45 °C</a:t>
            </a:r>
            <a:endParaRPr lang="en-US" sz="850" dirty="0"/>
          </a:p>
        </p:txBody>
      </p:sp>
      <p:sp>
        <p:nvSpPr>
          <p:cNvPr id="47" name="text-55"/>
          <p:cNvSpPr txBox="1"/>
          <p:nvPr/>
        </p:nvSpPr>
        <p:spPr>
          <a:xfrm>
            <a:off x="3918204" y="438912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25</a:t>
            </a:r>
            <a:endParaRPr lang="en-US" sz="1700" dirty="0"/>
          </a:p>
        </p:txBody>
      </p:sp>
      <p:sp>
        <p:nvSpPr>
          <p:cNvPr id="48" name="text-56"/>
          <p:cNvSpPr txBox="1"/>
          <p:nvPr/>
        </p:nvSpPr>
        <p:spPr>
          <a:xfrm>
            <a:off x="4421124" y="4407408"/>
            <a:ext cx="2592324" cy="201168"/>
          </a:xfrm>
          <a:prstGeom prst="rect">
            <a:avLst/>
          </a:prstGeom>
          <a:noFill/>
          <a:ln/>
        </p:spPr>
        <p:txBody>
          <a:bodyPr wrap="square" lIns="0" tIns="0" rIns="0" bIns="0" rtlCol="0" anchor="t"/>
          <a:lstStyle/>
          <a:p>
            <a:pPr indent="0" marL="0">
              <a:buNone/>
            </a:pPr>
            <a:r>
              <a:rPr lang="en-US" sz="1050" b="1" dirty="0">
                <a:solidFill>
                  <a:schemeClr val="tx1"/>
                </a:solidFill>
              </a:rPr>
              <a:t>Energy for the Polar Night</a:t>
            </a:r>
            <a:endParaRPr lang="en-US" sz="1050" dirty="0"/>
          </a:p>
        </p:txBody>
      </p:sp>
      <p:sp>
        <p:nvSpPr>
          <p:cNvPr id="49" name="text-57"/>
          <p:cNvSpPr txBox="1"/>
          <p:nvPr/>
        </p:nvSpPr>
        <p:spPr>
          <a:xfrm>
            <a:off x="4421124" y="4599432"/>
            <a:ext cx="2592324" cy="201168"/>
          </a:xfrm>
          <a:prstGeom prst="rect">
            <a:avLst/>
          </a:prstGeom>
          <a:noFill/>
          <a:ln/>
        </p:spPr>
        <p:txBody>
          <a:bodyPr wrap="square" lIns="0" tIns="0" rIns="0" bIns="0" rtlCol="0" anchor="t"/>
          <a:lstStyle/>
          <a:p>
            <a:pPr indent="0" marL="0">
              <a:buNone/>
            </a:pPr>
            <a:r>
              <a:rPr lang="en-US" sz="850" dirty="0">
                <a:solidFill>
                  <a:schemeClr val="tx2"/>
                </a:solidFill>
              </a:rPr>
              <a:t>Fusion, wind, sun, geothermal and storage</a:t>
            </a:r>
            <a:endParaRPr lang="en-US" sz="850" dirty="0"/>
          </a:p>
        </p:txBody>
      </p:sp>
      <p:sp>
        <p:nvSpPr>
          <p:cNvPr id="50" name="text-58"/>
          <p:cNvSpPr txBox="1"/>
          <p:nvPr/>
        </p:nvSpPr>
        <p:spPr>
          <a:xfrm>
            <a:off x="3918204" y="4809744"/>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26</a:t>
            </a:r>
            <a:endParaRPr lang="en-US" sz="1700" dirty="0"/>
          </a:p>
        </p:txBody>
      </p:sp>
      <p:sp>
        <p:nvSpPr>
          <p:cNvPr id="51" name="text-59"/>
          <p:cNvSpPr txBox="1"/>
          <p:nvPr/>
        </p:nvSpPr>
        <p:spPr>
          <a:xfrm>
            <a:off x="4421124" y="4828032"/>
            <a:ext cx="2592324" cy="201168"/>
          </a:xfrm>
          <a:prstGeom prst="rect">
            <a:avLst/>
          </a:prstGeom>
          <a:noFill/>
          <a:ln/>
        </p:spPr>
        <p:txBody>
          <a:bodyPr wrap="square" lIns="0" tIns="0" rIns="0" bIns="0" rtlCol="0" anchor="t"/>
          <a:lstStyle/>
          <a:p>
            <a:pPr indent="0" marL="0">
              <a:buNone/>
            </a:pPr>
            <a:r>
              <a:rPr lang="en-US" sz="1050" b="1" dirty="0">
                <a:solidFill>
                  <a:schemeClr val="tx1"/>
                </a:solidFill>
              </a:rPr>
              <a:t>Nothing Is Wasted</a:t>
            </a:r>
            <a:endParaRPr lang="en-US" sz="1050" dirty="0"/>
          </a:p>
        </p:txBody>
      </p:sp>
      <p:sp>
        <p:nvSpPr>
          <p:cNvPr id="52" name="text-60"/>
          <p:cNvSpPr txBox="1"/>
          <p:nvPr/>
        </p:nvSpPr>
        <p:spPr>
          <a:xfrm>
            <a:off x="4421124" y="5020056"/>
            <a:ext cx="2592324" cy="201168"/>
          </a:xfrm>
          <a:prstGeom prst="rect">
            <a:avLst/>
          </a:prstGeom>
          <a:noFill/>
          <a:ln/>
        </p:spPr>
        <p:txBody>
          <a:bodyPr wrap="square" lIns="0" tIns="0" rIns="0" bIns="0" rtlCol="0" anchor="t"/>
          <a:lstStyle/>
          <a:p>
            <a:pPr indent="0" marL="0">
              <a:buNone/>
            </a:pPr>
            <a:r>
              <a:rPr lang="en-US" sz="850" dirty="0">
                <a:solidFill>
                  <a:schemeClr val="tx2"/>
                </a:solidFill>
              </a:rPr>
              <a:t>Water and waste in closed loops</a:t>
            </a:r>
            <a:endParaRPr lang="en-US" sz="850" dirty="0"/>
          </a:p>
        </p:txBody>
      </p:sp>
      <p:sp>
        <p:nvSpPr>
          <p:cNvPr id="53" name="text-61"/>
          <p:cNvSpPr txBox="1"/>
          <p:nvPr/>
        </p:nvSpPr>
        <p:spPr>
          <a:xfrm>
            <a:off x="3918204" y="5230368"/>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27</a:t>
            </a:r>
            <a:endParaRPr lang="en-US" sz="1700" dirty="0"/>
          </a:p>
        </p:txBody>
      </p:sp>
      <p:sp>
        <p:nvSpPr>
          <p:cNvPr id="54" name="text-62"/>
          <p:cNvSpPr txBox="1"/>
          <p:nvPr/>
        </p:nvSpPr>
        <p:spPr>
          <a:xfrm>
            <a:off x="4421124" y="5248656"/>
            <a:ext cx="2592324" cy="201168"/>
          </a:xfrm>
          <a:prstGeom prst="rect">
            <a:avLst/>
          </a:prstGeom>
          <a:noFill/>
          <a:ln/>
        </p:spPr>
        <p:txBody>
          <a:bodyPr wrap="square" lIns="0" tIns="0" rIns="0" bIns="0" rtlCol="0" anchor="t"/>
          <a:lstStyle/>
          <a:p>
            <a:pPr indent="0" marL="0">
              <a:buNone/>
            </a:pPr>
            <a:r>
              <a:rPr lang="en-US" sz="1050" b="1" dirty="0">
                <a:solidFill>
                  <a:schemeClr val="tx1"/>
                </a:solidFill>
              </a:rPr>
              <a:t>Wild Neighbours</a:t>
            </a:r>
            <a:endParaRPr lang="en-US" sz="1050" dirty="0"/>
          </a:p>
        </p:txBody>
      </p:sp>
      <p:sp>
        <p:nvSpPr>
          <p:cNvPr id="55" name="text-63"/>
          <p:cNvSpPr txBox="1"/>
          <p:nvPr/>
        </p:nvSpPr>
        <p:spPr>
          <a:xfrm>
            <a:off x="4421124" y="5440680"/>
            <a:ext cx="2592324" cy="201168"/>
          </a:xfrm>
          <a:prstGeom prst="rect">
            <a:avLst/>
          </a:prstGeom>
          <a:noFill/>
          <a:ln/>
        </p:spPr>
        <p:txBody>
          <a:bodyPr wrap="square" lIns="0" tIns="0" rIns="0" bIns="0" rtlCol="0" anchor="t"/>
          <a:lstStyle/>
          <a:p>
            <a:pPr indent="0" marL="0">
              <a:buNone/>
            </a:pPr>
            <a:r>
              <a:rPr lang="en-US" sz="850" dirty="0">
                <a:solidFill>
                  <a:schemeClr val="tx2"/>
                </a:solidFill>
              </a:rPr>
              <a:t>Our urban eco-system: plants and animals</a:t>
            </a:r>
            <a:endParaRPr lang="en-US" sz="850" dirty="0"/>
          </a:p>
        </p:txBody>
      </p:sp>
      <p:sp>
        <p:nvSpPr>
          <p:cNvPr id="56" name="text-64"/>
          <p:cNvSpPr txBox="1"/>
          <p:nvPr/>
        </p:nvSpPr>
        <p:spPr>
          <a:xfrm>
            <a:off x="3918204" y="5650992"/>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28</a:t>
            </a:r>
            <a:endParaRPr lang="en-US" sz="1700" dirty="0"/>
          </a:p>
        </p:txBody>
      </p:sp>
      <p:sp>
        <p:nvSpPr>
          <p:cNvPr id="57" name="text-65"/>
          <p:cNvSpPr txBox="1"/>
          <p:nvPr/>
        </p:nvSpPr>
        <p:spPr>
          <a:xfrm>
            <a:off x="4421124" y="5669280"/>
            <a:ext cx="2592324" cy="201168"/>
          </a:xfrm>
          <a:prstGeom prst="rect">
            <a:avLst/>
          </a:prstGeom>
          <a:noFill/>
          <a:ln/>
        </p:spPr>
        <p:txBody>
          <a:bodyPr wrap="square" lIns="0" tIns="0" rIns="0" bIns="0" rtlCol="0" anchor="t"/>
          <a:lstStyle/>
          <a:p>
            <a:pPr indent="0" marL="0">
              <a:buNone/>
            </a:pPr>
            <a:r>
              <a:rPr lang="en-US" sz="1050" b="1" dirty="0">
                <a:solidFill>
                  <a:schemeClr val="tx1"/>
                </a:solidFill>
              </a:rPr>
              <a:t>Getting Around Fossil-Free</a:t>
            </a:r>
            <a:endParaRPr lang="en-US" sz="1050" dirty="0"/>
          </a:p>
        </p:txBody>
      </p:sp>
      <p:sp>
        <p:nvSpPr>
          <p:cNvPr id="58" name="text-66"/>
          <p:cNvSpPr txBox="1"/>
          <p:nvPr/>
        </p:nvSpPr>
        <p:spPr>
          <a:xfrm>
            <a:off x="4421124" y="5861304"/>
            <a:ext cx="2592324" cy="201168"/>
          </a:xfrm>
          <a:prstGeom prst="rect">
            <a:avLst/>
          </a:prstGeom>
          <a:noFill/>
          <a:ln/>
        </p:spPr>
        <p:txBody>
          <a:bodyPr wrap="square" lIns="0" tIns="0" rIns="0" bIns="0" rtlCol="0" anchor="t"/>
          <a:lstStyle/>
          <a:p>
            <a:pPr indent="0" marL="0">
              <a:buNone/>
            </a:pPr>
            <a:r>
              <a:rPr lang="en-US" sz="850" dirty="0">
                <a:solidFill>
                  <a:schemeClr val="tx2"/>
                </a:solidFill>
              </a:rPr>
              <a:t>Routes, users, capacity, safety and energy</a:t>
            </a:r>
            <a:endParaRPr lang="en-US" sz="850" dirty="0"/>
          </a:p>
        </p:txBody>
      </p:sp>
      <p:sp>
        <p:nvSpPr>
          <p:cNvPr id="59" name="text-67"/>
          <p:cNvSpPr txBox="1"/>
          <p:nvPr/>
        </p:nvSpPr>
        <p:spPr>
          <a:xfrm>
            <a:off x="3918204" y="6071616"/>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29</a:t>
            </a:r>
            <a:endParaRPr lang="en-US" sz="1700" dirty="0"/>
          </a:p>
        </p:txBody>
      </p:sp>
      <p:sp>
        <p:nvSpPr>
          <p:cNvPr id="60" name="text-68"/>
          <p:cNvSpPr txBox="1"/>
          <p:nvPr/>
        </p:nvSpPr>
        <p:spPr>
          <a:xfrm>
            <a:off x="4421124" y="6089904"/>
            <a:ext cx="2592324" cy="201168"/>
          </a:xfrm>
          <a:prstGeom prst="rect">
            <a:avLst/>
          </a:prstGeom>
          <a:noFill/>
          <a:ln/>
        </p:spPr>
        <p:txBody>
          <a:bodyPr wrap="square" lIns="0" tIns="0" rIns="0" bIns="0" rtlCol="0" anchor="t"/>
          <a:lstStyle/>
          <a:p>
            <a:pPr indent="0" marL="0">
              <a:buNone/>
            </a:pPr>
            <a:r>
              <a:rPr lang="en-US" sz="1050" b="1" dirty="0">
                <a:solidFill>
                  <a:schemeClr val="tx1"/>
                </a:solidFill>
              </a:rPr>
              <a:t>Salad Under the Northern Lights</a:t>
            </a:r>
            <a:endParaRPr lang="en-US" sz="1050" dirty="0"/>
          </a:p>
        </p:txBody>
      </p:sp>
      <p:sp>
        <p:nvSpPr>
          <p:cNvPr id="61" name="text-69"/>
          <p:cNvSpPr txBox="1"/>
          <p:nvPr/>
        </p:nvSpPr>
        <p:spPr>
          <a:xfrm>
            <a:off x="4421124" y="6281928"/>
            <a:ext cx="2592324" cy="201168"/>
          </a:xfrm>
          <a:prstGeom prst="rect">
            <a:avLst/>
          </a:prstGeom>
          <a:noFill/>
          <a:ln/>
        </p:spPr>
        <p:txBody>
          <a:bodyPr wrap="square" lIns="0" tIns="0" rIns="0" bIns="0" rtlCol="0" anchor="t"/>
          <a:lstStyle/>
          <a:p>
            <a:pPr indent="0" marL="0">
              <a:buNone/>
            </a:pPr>
            <a:r>
              <a:rPr lang="en-US" sz="850" dirty="0">
                <a:solidFill>
                  <a:schemeClr val="tx2"/>
                </a:solidFill>
              </a:rPr>
              <a:t>Inside the Evergreen Greenhouse Dome</a:t>
            </a:r>
            <a:endParaRPr lang="en-US" sz="850" dirty="0"/>
          </a:p>
        </p:txBody>
      </p:sp>
      <p:sp>
        <p:nvSpPr>
          <p:cNvPr id="62" name="text-70"/>
          <p:cNvSpPr txBox="1"/>
          <p:nvPr/>
        </p:nvSpPr>
        <p:spPr>
          <a:xfrm>
            <a:off x="3918204" y="649224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30</a:t>
            </a:r>
            <a:endParaRPr lang="en-US" sz="1700" dirty="0"/>
          </a:p>
        </p:txBody>
      </p:sp>
      <p:sp>
        <p:nvSpPr>
          <p:cNvPr id="63" name="text-71"/>
          <p:cNvSpPr txBox="1"/>
          <p:nvPr/>
        </p:nvSpPr>
        <p:spPr>
          <a:xfrm>
            <a:off x="4421124" y="6510528"/>
            <a:ext cx="2592324" cy="201168"/>
          </a:xfrm>
          <a:prstGeom prst="rect">
            <a:avLst/>
          </a:prstGeom>
          <a:noFill/>
          <a:ln/>
        </p:spPr>
        <p:txBody>
          <a:bodyPr wrap="square" lIns="0" tIns="0" rIns="0" bIns="0" rtlCol="0" anchor="t"/>
          <a:lstStyle/>
          <a:p>
            <a:pPr indent="0" marL="0">
              <a:buNone/>
            </a:pPr>
            <a:r>
              <a:rPr lang="en-US" sz="1050" b="1" dirty="0">
                <a:solidFill>
                  <a:schemeClr val="tx1"/>
                </a:solidFill>
              </a:rPr>
              <a:t>Safe and Ready for Any Storm</a:t>
            </a:r>
            <a:endParaRPr lang="en-US" sz="1050" dirty="0"/>
          </a:p>
        </p:txBody>
      </p:sp>
      <p:sp>
        <p:nvSpPr>
          <p:cNvPr id="64" name="text-72"/>
          <p:cNvSpPr txBox="1"/>
          <p:nvPr/>
        </p:nvSpPr>
        <p:spPr>
          <a:xfrm>
            <a:off x="4421124" y="6702552"/>
            <a:ext cx="2592324" cy="201168"/>
          </a:xfrm>
          <a:prstGeom prst="rect">
            <a:avLst/>
          </a:prstGeom>
          <a:noFill/>
          <a:ln/>
        </p:spPr>
        <p:txBody>
          <a:bodyPr wrap="square" lIns="0" tIns="0" rIns="0" bIns="0" rtlCol="0" anchor="t"/>
          <a:lstStyle/>
          <a:p>
            <a:pPr indent="0" marL="0">
              <a:buNone/>
            </a:pPr>
            <a:r>
              <a:rPr lang="en-US" sz="850" dirty="0">
                <a:solidFill>
                  <a:schemeClr val="tx2"/>
                </a:solidFill>
              </a:rPr>
              <a:t>Rescue, shelters and blizzard forecasts</a:t>
            </a:r>
            <a:endParaRPr lang="en-US" sz="850" dirty="0"/>
          </a:p>
        </p:txBody>
      </p:sp>
      <p:sp>
        <p:nvSpPr>
          <p:cNvPr id="65" name="text-73"/>
          <p:cNvSpPr txBox="1"/>
          <p:nvPr/>
        </p:nvSpPr>
        <p:spPr>
          <a:xfrm>
            <a:off x="3918204" y="6912864"/>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31</a:t>
            </a:r>
            <a:endParaRPr lang="en-US" sz="1700" dirty="0"/>
          </a:p>
        </p:txBody>
      </p:sp>
      <p:sp>
        <p:nvSpPr>
          <p:cNvPr id="66" name="text-74"/>
          <p:cNvSpPr txBox="1"/>
          <p:nvPr/>
        </p:nvSpPr>
        <p:spPr>
          <a:xfrm>
            <a:off x="4421124" y="6931152"/>
            <a:ext cx="2592324" cy="201168"/>
          </a:xfrm>
          <a:prstGeom prst="rect">
            <a:avLst/>
          </a:prstGeom>
          <a:noFill/>
          <a:ln/>
        </p:spPr>
        <p:txBody>
          <a:bodyPr wrap="square" lIns="0" tIns="0" rIns="0" bIns="0" rtlCol="0" anchor="t"/>
          <a:lstStyle/>
          <a:p>
            <a:pPr indent="0" marL="0">
              <a:buNone/>
            </a:pPr>
            <a:r>
              <a:rPr lang="en-US" sz="1050" b="1" dirty="0">
                <a:solidFill>
                  <a:schemeClr val="tx1"/>
                </a:solidFill>
              </a:rPr>
              <a:t>Pros &amp; Cons</a:t>
            </a:r>
            <a:endParaRPr lang="en-US" sz="1050" dirty="0"/>
          </a:p>
        </p:txBody>
      </p:sp>
      <p:sp>
        <p:nvSpPr>
          <p:cNvPr id="67" name="text-75"/>
          <p:cNvSpPr txBox="1"/>
          <p:nvPr/>
        </p:nvSpPr>
        <p:spPr>
          <a:xfrm>
            <a:off x="4421124" y="7123176"/>
            <a:ext cx="2592324" cy="201168"/>
          </a:xfrm>
          <a:prstGeom prst="rect">
            <a:avLst/>
          </a:prstGeom>
          <a:noFill/>
          <a:ln/>
        </p:spPr>
        <p:txBody>
          <a:bodyPr wrap="square" lIns="0" tIns="0" rIns="0" bIns="0" rtlCol="0" anchor="t"/>
          <a:lstStyle/>
          <a:p>
            <a:pPr indent="0" marL="0">
              <a:buNone/>
            </a:pPr>
            <a:r>
              <a:rPr lang="en-US" sz="850" dirty="0">
                <a:solidFill>
                  <a:schemeClr val="tx2"/>
                </a:solidFill>
              </a:rPr>
              <a:t>Advantages, risks, costs and trade-offs</a:t>
            </a:r>
            <a:endParaRPr lang="en-US" sz="850" dirty="0"/>
          </a:p>
        </p:txBody>
      </p:sp>
      <p:sp>
        <p:nvSpPr>
          <p:cNvPr id="68" name="text-76"/>
          <p:cNvSpPr txBox="1"/>
          <p:nvPr/>
        </p:nvSpPr>
        <p:spPr>
          <a:xfrm>
            <a:off x="3918204" y="7333488"/>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32</a:t>
            </a:r>
            <a:endParaRPr lang="en-US" sz="1700" dirty="0"/>
          </a:p>
        </p:txBody>
      </p:sp>
      <p:sp>
        <p:nvSpPr>
          <p:cNvPr id="69" name="text-77"/>
          <p:cNvSpPr txBox="1"/>
          <p:nvPr/>
        </p:nvSpPr>
        <p:spPr>
          <a:xfrm>
            <a:off x="4421124" y="7351776"/>
            <a:ext cx="2592324" cy="201168"/>
          </a:xfrm>
          <a:prstGeom prst="rect">
            <a:avLst/>
          </a:prstGeom>
          <a:noFill/>
          <a:ln/>
        </p:spPr>
        <p:txBody>
          <a:bodyPr wrap="square" lIns="0" tIns="0" rIns="0" bIns="0" rtlCol="0" anchor="t"/>
          <a:lstStyle/>
          <a:p>
            <a:pPr indent="0" marL="0">
              <a:buNone/>
            </a:pPr>
            <a:r>
              <a:rPr lang="en-US" sz="1050" b="1" dirty="0">
                <a:solidFill>
                  <a:schemeClr val="tx1"/>
                </a:solidFill>
              </a:rPr>
              <a:t>Invest in Aurora Haven</a:t>
            </a:r>
            <a:endParaRPr lang="en-US" sz="1050" dirty="0"/>
          </a:p>
        </p:txBody>
      </p:sp>
      <p:sp>
        <p:nvSpPr>
          <p:cNvPr id="70" name="text-78"/>
          <p:cNvSpPr txBox="1"/>
          <p:nvPr/>
        </p:nvSpPr>
        <p:spPr>
          <a:xfrm>
            <a:off x="4421124" y="7543800"/>
            <a:ext cx="2592324" cy="201168"/>
          </a:xfrm>
          <a:prstGeom prst="rect">
            <a:avLst/>
          </a:prstGeom>
          <a:noFill/>
          <a:ln/>
        </p:spPr>
        <p:txBody>
          <a:bodyPr wrap="square" lIns="0" tIns="0" rIns="0" bIns="0" rtlCol="0" anchor="t"/>
          <a:lstStyle/>
          <a:p>
            <a:pPr indent="0" marL="0">
              <a:buNone/>
            </a:pPr>
            <a:r>
              <a:rPr lang="en-US" sz="850" dirty="0">
                <a:solidFill>
                  <a:schemeClr val="tx2"/>
                </a:solidFill>
              </a:rPr>
              <a:t>Three ways to fund the city, stage by stage</a:t>
            </a:r>
            <a:endParaRPr lang="en-US" sz="850" dirty="0"/>
          </a:p>
        </p:txBody>
      </p:sp>
      <p:sp>
        <p:nvSpPr>
          <p:cNvPr id="71" name="text-79"/>
          <p:cNvSpPr txBox="1"/>
          <p:nvPr/>
        </p:nvSpPr>
        <p:spPr>
          <a:xfrm>
            <a:off x="3918204" y="7754112"/>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33</a:t>
            </a:r>
            <a:endParaRPr lang="en-US" sz="1700" dirty="0"/>
          </a:p>
        </p:txBody>
      </p:sp>
      <p:sp>
        <p:nvSpPr>
          <p:cNvPr id="72" name="text-80"/>
          <p:cNvSpPr txBox="1"/>
          <p:nvPr/>
        </p:nvSpPr>
        <p:spPr>
          <a:xfrm>
            <a:off x="4421124" y="7772400"/>
            <a:ext cx="2592324" cy="201168"/>
          </a:xfrm>
          <a:prstGeom prst="rect">
            <a:avLst/>
          </a:prstGeom>
          <a:noFill/>
          <a:ln/>
        </p:spPr>
        <p:txBody>
          <a:bodyPr wrap="square" lIns="0" tIns="0" rIns="0" bIns="0" rtlCol="0" anchor="t"/>
          <a:lstStyle/>
          <a:p>
            <a:pPr indent="0" marL="0">
              <a:buNone/>
            </a:pPr>
            <a:r>
              <a:rPr lang="en-US" sz="1050" b="1" dirty="0">
                <a:solidFill>
                  <a:schemeClr val="tx1"/>
                </a:solidFill>
              </a:rPr>
              <a:t>Take the Tour</a:t>
            </a:r>
            <a:endParaRPr lang="en-US" sz="1050" dirty="0"/>
          </a:p>
        </p:txBody>
      </p:sp>
      <p:sp>
        <p:nvSpPr>
          <p:cNvPr id="73" name="text-81"/>
          <p:cNvSpPr txBox="1"/>
          <p:nvPr/>
        </p:nvSpPr>
        <p:spPr>
          <a:xfrm>
            <a:off x="4421124" y="7964424"/>
            <a:ext cx="2592324" cy="201168"/>
          </a:xfrm>
          <a:prstGeom prst="rect">
            <a:avLst/>
          </a:prstGeom>
          <a:noFill/>
          <a:ln/>
        </p:spPr>
        <p:txBody>
          <a:bodyPr wrap="square" lIns="0" tIns="0" rIns="0" bIns="0" rtlCol="0" anchor="t"/>
          <a:lstStyle/>
          <a:p>
            <a:pPr indent="0" marL="0">
              <a:buNone/>
            </a:pPr>
            <a:r>
              <a:rPr lang="en-US" sz="850" dirty="0">
                <a:solidFill>
                  <a:schemeClr val="tx2"/>
                </a:solidFill>
              </a:rPr>
              <a:t>Eight stops around the city</a:t>
            </a:r>
            <a:endParaRPr lang="en-US" sz="850" dirty="0"/>
          </a:p>
        </p:txBody>
      </p:sp>
      <p:sp>
        <p:nvSpPr>
          <p:cNvPr id="74" name="text-82"/>
          <p:cNvSpPr txBox="1"/>
          <p:nvPr/>
        </p:nvSpPr>
        <p:spPr>
          <a:xfrm>
            <a:off x="3918204" y="8174736"/>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34</a:t>
            </a:r>
            <a:endParaRPr lang="en-US" sz="1700" dirty="0"/>
          </a:p>
        </p:txBody>
      </p:sp>
      <p:sp>
        <p:nvSpPr>
          <p:cNvPr id="75" name="text-83"/>
          <p:cNvSpPr txBox="1"/>
          <p:nvPr/>
        </p:nvSpPr>
        <p:spPr>
          <a:xfrm>
            <a:off x="4421124" y="8193024"/>
            <a:ext cx="2592324" cy="201168"/>
          </a:xfrm>
          <a:prstGeom prst="rect">
            <a:avLst/>
          </a:prstGeom>
          <a:noFill/>
          <a:ln/>
        </p:spPr>
        <p:txBody>
          <a:bodyPr wrap="square" lIns="0" tIns="0" rIns="0" bIns="0" rtlCol="0" anchor="t"/>
          <a:lstStyle/>
          <a:p>
            <a:pPr indent="0" marL="0">
              <a:buNone/>
            </a:pPr>
            <a:r>
              <a:rPr lang="en-US" sz="1050" b="1" dirty="0">
                <a:solidFill>
                  <a:schemeClr val="tx1"/>
                </a:solidFill>
              </a:rPr>
              <a:t>Places to Visit</a:t>
            </a:r>
            <a:endParaRPr lang="en-US" sz="1050" dirty="0"/>
          </a:p>
        </p:txBody>
      </p:sp>
      <p:sp>
        <p:nvSpPr>
          <p:cNvPr id="76" name="text-84"/>
          <p:cNvSpPr txBox="1"/>
          <p:nvPr/>
        </p:nvSpPr>
        <p:spPr>
          <a:xfrm>
            <a:off x="4421124" y="8385048"/>
            <a:ext cx="2592324" cy="201168"/>
          </a:xfrm>
          <a:prstGeom prst="rect">
            <a:avLst/>
          </a:prstGeom>
          <a:noFill/>
          <a:ln/>
        </p:spPr>
        <p:txBody>
          <a:bodyPr wrap="square" lIns="0" tIns="0" rIns="0" bIns="0" rtlCol="0" anchor="t"/>
          <a:lstStyle/>
          <a:p>
            <a:pPr indent="0" marL="0">
              <a:buNone/>
            </a:pPr>
            <a:r>
              <a:rPr lang="en-US" sz="850" dirty="0">
                <a:solidFill>
                  <a:schemeClr val="tx2"/>
                </a:solidFill>
              </a:rPr>
              <a:t>35 key places and what they do</a:t>
            </a:r>
            <a:endParaRPr lang="en-US" sz="850" dirty="0"/>
          </a:p>
        </p:txBody>
      </p:sp>
      <p:sp>
        <p:nvSpPr>
          <p:cNvPr id="77" name="text-85"/>
          <p:cNvSpPr txBox="1"/>
          <p:nvPr/>
        </p:nvSpPr>
        <p:spPr>
          <a:xfrm>
            <a:off x="3918204" y="8595360"/>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35</a:t>
            </a:r>
            <a:endParaRPr lang="en-US" sz="1700" dirty="0"/>
          </a:p>
        </p:txBody>
      </p:sp>
      <p:sp>
        <p:nvSpPr>
          <p:cNvPr id="78" name="text-86"/>
          <p:cNvSpPr txBox="1"/>
          <p:nvPr/>
        </p:nvSpPr>
        <p:spPr>
          <a:xfrm>
            <a:off x="4421124" y="8613648"/>
            <a:ext cx="2592324" cy="201168"/>
          </a:xfrm>
          <a:prstGeom prst="rect">
            <a:avLst/>
          </a:prstGeom>
          <a:noFill/>
          <a:ln/>
        </p:spPr>
        <p:txBody>
          <a:bodyPr wrap="square" lIns="0" tIns="0" rIns="0" bIns="0" rtlCol="0" anchor="t"/>
          <a:lstStyle/>
          <a:p>
            <a:pPr indent="0" marL="0">
              <a:buNone/>
            </a:pPr>
            <a:r>
              <a:rPr lang="en-US" sz="1050" b="1" dirty="0">
                <a:solidFill>
                  <a:schemeClr val="tx1"/>
                </a:solidFill>
              </a:rPr>
              <a:t>Through a Resident’s Eyes</a:t>
            </a:r>
            <a:endParaRPr lang="en-US" sz="1050" dirty="0"/>
          </a:p>
        </p:txBody>
      </p:sp>
      <p:sp>
        <p:nvSpPr>
          <p:cNvPr id="79" name="text-87"/>
          <p:cNvSpPr txBox="1"/>
          <p:nvPr/>
        </p:nvSpPr>
        <p:spPr>
          <a:xfrm>
            <a:off x="4421124" y="8805672"/>
            <a:ext cx="2592324" cy="201168"/>
          </a:xfrm>
          <a:prstGeom prst="rect">
            <a:avLst/>
          </a:prstGeom>
          <a:noFill/>
          <a:ln/>
        </p:spPr>
        <p:txBody>
          <a:bodyPr wrap="square" lIns="0" tIns="0" rIns="0" bIns="0" rtlCol="0" anchor="t"/>
          <a:lstStyle/>
          <a:p>
            <a:pPr indent="0" marL="0">
              <a:buNone/>
            </a:pPr>
            <a:r>
              <a:rPr lang="en-US" sz="850" dirty="0">
                <a:solidFill>
                  <a:schemeClr val="tx2"/>
                </a:solidFill>
              </a:rPr>
              <a:t>An imagined day in the polar night</a:t>
            </a:r>
            <a:endParaRPr lang="en-US" sz="850" dirty="0"/>
          </a:p>
        </p:txBody>
      </p:sp>
      <p:sp>
        <p:nvSpPr>
          <p:cNvPr id="80" name="text-88"/>
          <p:cNvSpPr txBox="1"/>
          <p:nvPr/>
        </p:nvSpPr>
        <p:spPr>
          <a:xfrm>
            <a:off x="3918204" y="9015984"/>
            <a:ext cx="457200" cy="365760"/>
          </a:xfrm>
          <a:prstGeom prst="rect">
            <a:avLst/>
          </a:prstGeom>
          <a:noFill/>
          <a:ln/>
        </p:spPr>
        <p:txBody>
          <a:bodyPr wrap="square" lIns="0" tIns="0" rIns="0" bIns="0" rtlCol="0" anchor="t"/>
          <a:lstStyle/>
          <a:p>
            <a:pPr indent="0" marL="0">
              <a:buNone/>
            </a:pPr>
            <a:r>
              <a:rPr lang="en-US" sz="1700" b="1" dirty="0">
                <a:solidFill>
                  <a:schemeClr val="accent6"/>
                </a:solidFill>
                <a:latin typeface="+mj-lt" pitchFamily="34" charset="0"/>
                <a:ea typeface="+mj-lt" pitchFamily="34" charset="-122"/>
                <a:cs typeface="+mj-lt" pitchFamily="34" charset="-120"/>
              </a:rPr>
              <a:t>36</a:t>
            </a:r>
            <a:endParaRPr lang="en-US" sz="1700" dirty="0"/>
          </a:p>
        </p:txBody>
      </p:sp>
      <p:sp>
        <p:nvSpPr>
          <p:cNvPr id="81" name="text-89"/>
          <p:cNvSpPr txBox="1"/>
          <p:nvPr/>
        </p:nvSpPr>
        <p:spPr>
          <a:xfrm>
            <a:off x="4421124" y="9034272"/>
            <a:ext cx="2592324" cy="201168"/>
          </a:xfrm>
          <a:prstGeom prst="rect">
            <a:avLst/>
          </a:prstGeom>
          <a:noFill/>
          <a:ln/>
        </p:spPr>
        <p:txBody>
          <a:bodyPr wrap="square" lIns="0" tIns="0" rIns="0" bIns="0" rtlCol="0" anchor="t"/>
          <a:lstStyle/>
          <a:p>
            <a:pPr indent="0" marL="0">
              <a:buNone/>
            </a:pPr>
            <a:r>
              <a:rPr lang="en-US" sz="1050" b="1" dirty="0">
                <a:solidFill>
                  <a:schemeClr val="tx1"/>
                </a:solidFill>
              </a:rPr>
              <a:t>Sources &amp; Assumptions</a:t>
            </a:r>
            <a:endParaRPr lang="en-US" sz="1050" dirty="0"/>
          </a:p>
        </p:txBody>
      </p:sp>
      <p:sp>
        <p:nvSpPr>
          <p:cNvPr id="82" name="text-90"/>
          <p:cNvSpPr txBox="1"/>
          <p:nvPr/>
        </p:nvSpPr>
        <p:spPr>
          <a:xfrm>
            <a:off x="4421124" y="9226296"/>
            <a:ext cx="2592324" cy="201168"/>
          </a:xfrm>
          <a:prstGeom prst="rect">
            <a:avLst/>
          </a:prstGeom>
          <a:noFill/>
          <a:ln/>
        </p:spPr>
        <p:txBody>
          <a:bodyPr wrap="square" lIns="0" tIns="0" rIns="0" bIns="0" rtlCol="0" anchor="t"/>
          <a:lstStyle/>
          <a:p>
            <a:pPr indent="0" marL="0">
              <a:buNone/>
            </a:pPr>
            <a:r>
              <a:rPr lang="en-US" sz="850" dirty="0">
                <a:solidFill>
                  <a:schemeClr val="tx2"/>
                </a:solidFill>
              </a:rPr>
              <a:t>Where our facts come from</a:t>
            </a:r>
            <a:endParaRPr lang="en-US" sz="850" dirty="0"/>
          </a:p>
        </p:txBody>
      </p:sp>
      <p:sp>
        <p:nvSpPr>
          <p:cNvPr id="83" name="page-number"/>
          <p:cNvSpPr txBox="1"/>
          <p:nvPr/>
        </p:nvSpPr>
        <p:spPr>
          <a:xfrm>
            <a:off x="6601968" y="10177272"/>
            <a:ext cx="411480" cy="219456"/>
          </a:xfrm>
          <a:prstGeom prst="rect">
            <a:avLst/>
          </a:prstGeom>
          <a:noFill/>
          <a:ln/>
        </p:spPr>
        <p:txBody>
          <a:bodyPr wrap="square" lIns="0" tIns="0" rIns="0" bIns="0" rtlCol="0" anchor="ctr"/>
          <a:lstStyle/>
          <a:p>
            <a:pPr algn="r" indent="0" marL="0">
              <a:buNone/>
            </a:pPr>
            <a:r>
              <a:rPr lang="en-US" sz="900" b="1" dirty="0">
                <a:solidFill>
                  <a:schemeClr val="tx1"/>
                </a:solidFill>
              </a:rPr>
              <a:t>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dot-91"/>
          <p:cNvSpPr/>
          <p:nvPr/>
        </p:nvSpPr>
        <p:spPr>
          <a:xfrm>
            <a:off x="548640" y="544068"/>
            <a:ext cx="100584" cy="100584"/>
          </a:xfrm>
          <a:prstGeom prst="ellipse">
            <a:avLst/>
          </a:prstGeom>
          <a:solidFill>
            <a:schemeClr val="accent6"/>
          </a:solidFill>
          <a:ln w="12700">
            <a:solidFill>
              <a:schemeClr val="accent6"/>
            </a:solidFill>
            <a:prstDash val="solid"/>
          </a:ln>
        </p:spPr>
      </p:sp>
      <p:sp>
        <p:nvSpPr>
          <p:cNvPr id="3" name="text-92"/>
          <p:cNvSpPr txBox="1"/>
          <p:nvPr/>
        </p:nvSpPr>
        <p:spPr>
          <a:xfrm>
            <a:off x="731520" y="502920"/>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LETTER FROM THE FOUNDERS</a:t>
            </a:r>
            <a:endParaRPr lang="en-US" sz="900" dirty="0"/>
          </a:p>
        </p:txBody>
      </p:sp>
      <p:sp>
        <p:nvSpPr>
          <p:cNvPr id="4" name="text-93"/>
          <p:cNvSpPr txBox="1"/>
          <p:nvPr/>
        </p:nvSpPr>
        <p:spPr>
          <a:xfrm>
            <a:off x="548640" y="941832"/>
            <a:ext cx="6464808" cy="1097280"/>
          </a:xfrm>
          <a:prstGeom prst="rect">
            <a:avLst/>
          </a:prstGeom>
          <a:noFill/>
          <a:ln/>
        </p:spPr>
        <p:txBody>
          <a:bodyPr wrap="square" lIns="0" tIns="0" rIns="0" bIns="0" rtlCol="0" anchor="t"/>
          <a:lstStyle/>
          <a:p>
            <a:pPr indent="0" marL="0">
              <a:lnSpc>
                <a:spcPct val="102000"/>
              </a:lnSpc>
              <a:buNone/>
            </a:pPr>
            <a:r>
              <a:rPr lang="en-US" sz="2300" b="1" i="1" dirty="0">
                <a:solidFill>
                  <a:schemeClr val="tx1"/>
                </a:solidFill>
                <a:latin typeface="+mj-lt" pitchFamily="34" charset="0"/>
                <a:ea typeface="+mj-lt" pitchFamily="34" charset="-122"/>
                <a:cs typeface="+mj-lt" pitchFamily="34" charset="-120"/>
              </a:rPr>
              <a:t>“Our goal was not only to survive the cold but to build a city where people really want to live.”</a:t>
            </a:r>
            <a:endParaRPr lang="en-US" sz="2300" dirty="0"/>
          </a:p>
        </p:txBody>
      </p:sp>
      <p:pic>
        <p:nvPicPr>
          <p:cNvPr id="5" name="picture-94" descr="/home/user/chatbox-bi-n-o/magazine/assets/renders/lagoon.jpg">    </p:cNvPr>
          <p:cNvPicPr>
            <a:picLocks noChangeAspect="1"/>
          </p:cNvPicPr>
          <p:nvPr/>
        </p:nvPicPr>
        <p:blipFill>
          <a:blip r:embed="rId1"/>
          <a:srcRect l="0" r="0" t="0" b="0"/>
          <a:stretch/>
        </p:blipFill>
        <p:spPr>
          <a:xfrm>
            <a:off x="0" y="2240280"/>
            <a:ext cx="7562088" cy="3200400"/>
          </a:xfrm>
          <a:prstGeom prst="rect">
            <a:avLst/>
          </a:prstGeom>
        </p:spPr>
      </p:pic>
      <p:sp>
        <p:nvSpPr>
          <p:cNvPr id="6" name="text-95"/>
          <p:cNvSpPr txBox="1"/>
          <p:nvPr/>
        </p:nvSpPr>
        <p:spPr>
          <a:xfrm>
            <a:off x="548640" y="5504688"/>
            <a:ext cx="6464808" cy="228600"/>
          </a:xfrm>
          <a:prstGeom prst="rect">
            <a:avLst/>
          </a:prstGeom>
          <a:noFill/>
          <a:ln/>
        </p:spPr>
        <p:txBody>
          <a:bodyPr wrap="square" lIns="0" tIns="0" rIns="0" bIns="0" rtlCol="0" anchor="t"/>
          <a:lstStyle/>
          <a:p>
            <a:pPr indent="0" marL="0">
              <a:buNone/>
            </a:pPr>
            <a:r>
              <a:rPr lang="en-US" sz="850" i="1" dirty="0">
                <a:solidFill>
                  <a:schemeClr val="tx2"/>
                </a:solidFill>
              </a:rPr>
              <a:t>The Aurora Lagoon, a 38 °C open-air mineral pool at the foot of Mount Aurora, under the northern lights.</a:t>
            </a:r>
            <a:endParaRPr lang="en-US" sz="850" dirty="0"/>
          </a:p>
        </p:txBody>
      </p:sp>
      <p:sp>
        <p:nvSpPr>
          <p:cNvPr id="7" name="text-96"/>
          <p:cNvSpPr txBox="1"/>
          <p:nvPr/>
        </p:nvSpPr>
        <p:spPr>
          <a:xfrm>
            <a:off x="548640" y="5897880"/>
            <a:ext cx="3095244" cy="2194560"/>
          </a:xfrm>
          <a:prstGeom prst="rect">
            <a:avLst/>
          </a:prstGeom>
          <a:noFill/>
          <a:ln/>
        </p:spPr>
        <p:txBody>
          <a:bodyPr wrap="square" lIns="0" tIns="0" rIns="0" bIns="0" rtlCol="0" anchor="t"/>
          <a:lstStyle/>
          <a:p>
            <a:pPr indent="0" marL="0">
              <a:lnSpc>
                <a:spcPct val="112000"/>
              </a:lnSpc>
              <a:buNone/>
            </a:pPr>
            <a:r>
              <a:rPr lang="en-US" sz="1100" b="1" spc="100" kern="0" dirty="0">
                <a:solidFill>
                  <a:schemeClr val="tx1"/>
                </a:solidFill>
              </a:rPr>
              <a:t>WELCOME TO THIS SPECIAL FEATURE </a:t>
            </a:r>
            <a:pPr indent="0" marL="0">
              <a:lnSpc>
                <a:spcPct val="112000"/>
              </a:lnSpc>
              <a:spcAft>
                <a:spcPts val="700"/>
              </a:spcAft>
              <a:buNone/>
            </a:pPr>
            <a:r>
              <a:rPr lang="en-US" sz="1100" dirty="0">
                <a:solidFill>
                  <a:schemeClr val="tx1"/>
                </a:solidFill>
              </a:rPr>
              <a:t>on a polar city named Aurora Haven – a bold architectural marvel where human ingenuity meets the call of the wild. In an era shaped by global climate shifts, this project is more than just an urban concept; it represents a strategic vision for survival and sustainable development in the earth’s most extreme polar environments.</a:t>
            </a:r>
            <a:endParaRPr lang="en-US" sz="1100" dirty="0"/>
          </a:p>
        </p:txBody>
      </p:sp>
      <p:sp>
        <p:nvSpPr>
          <p:cNvPr id="8" name="text-97"/>
          <p:cNvSpPr txBox="1"/>
          <p:nvPr/>
        </p:nvSpPr>
        <p:spPr>
          <a:xfrm>
            <a:off x="3918204" y="5897880"/>
            <a:ext cx="3095244" cy="1554480"/>
          </a:xfrm>
          <a:prstGeom prst="rect">
            <a:avLst/>
          </a:prstGeom>
          <a:noFill/>
          <a:ln/>
        </p:spPr>
        <p:txBody>
          <a:bodyPr wrap="square" lIns="0" tIns="0" rIns="0" bIns="0" rtlCol="0" anchor="t"/>
          <a:lstStyle/>
          <a:p>
            <a:pPr indent="0" marL="0">
              <a:lnSpc>
                <a:spcPct val="112000"/>
              </a:lnSpc>
              <a:spcAft>
                <a:spcPts val="700"/>
              </a:spcAft>
              <a:buNone/>
            </a:pPr>
            <a:r>
              <a:rPr lang="en-US" sz="1100" dirty="0">
                <a:solidFill>
                  <a:schemeClr val="tx1"/>
                </a:solidFill>
              </a:rPr>
              <a:t>From its sleek structural design to intelligent renewable energy integration, Aurora Haven redefines how humanity can adapt and thrive under pressure. We invite you to turn the page and step into a world where extreme natural challenges are transformed into a vibrant, resilient, and forward-thinking community.</a:t>
            </a:r>
            <a:endParaRPr lang="en-US" sz="1100" dirty="0"/>
          </a:p>
        </p:txBody>
      </p:sp>
      <p:sp>
        <p:nvSpPr>
          <p:cNvPr id="9" name="text-98"/>
          <p:cNvSpPr txBox="1"/>
          <p:nvPr/>
        </p:nvSpPr>
        <p:spPr>
          <a:xfrm>
            <a:off x="3918204" y="7589520"/>
            <a:ext cx="3095244" cy="228600"/>
          </a:xfrm>
          <a:prstGeom prst="rect">
            <a:avLst/>
          </a:prstGeom>
          <a:noFill/>
          <a:ln/>
        </p:spPr>
        <p:txBody>
          <a:bodyPr wrap="square" lIns="0" tIns="0" rIns="0" bIns="0" rtlCol="0" anchor="t"/>
          <a:lstStyle/>
          <a:p>
            <a:pPr indent="0" marL="0">
              <a:buNone/>
            </a:pPr>
            <a:r>
              <a:rPr lang="en-US" sz="1200" b="1" i="1" dirty="0">
                <a:solidFill>
                  <a:schemeClr val="tx1"/>
                </a:solidFill>
                <a:latin typeface="+mj-lt" pitchFamily="34" charset="0"/>
                <a:ea typeface="+mj-lt" pitchFamily="34" charset="-122"/>
                <a:cs typeface="+mj-lt" pitchFamily="34" charset="-120"/>
              </a:rPr>
              <a:t>The Polar City team</a:t>
            </a:r>
            <a:endParaRPr lang="en-US" sz="1200" dirty="0"/>
          </a:p>
        </p:txBody>
      </p:sp>
      <p:sp>
        <p:nvSpPr>
          <p:cNvPr id="10" name="text-99"/>
          <p:cNvSpPr txBox="1"/>
          <p:nvPr/>
        </p:nvSpPr>
        <p:spPr>
          <a:xfrm>
            <a:off x="3918204" y="7836408"/>
            <a:ext cx="3095244" cy="201168"/>
          </a:xfrm>
          <a:prstGeom prst="rect">
            <a:avLst/>
          </a:prstGeom>
          <a:noFill/>
          <a:ln/>
        </p:spPr>
        <p:txBody>
          <a:bodyPr wrap="square" lIns="0" tIns="0" rIns="0" bIns="0" rtlCol="0" anchor="t"/>
          <a:lstStyle/>
          <a:p>
            <a:pPr indent="0" marL="0">
              <a:buNone/>
            </a:pPr>
            <a:r>
              <a:rPr lang="en-US" sz="900" dirty="0">
                <a:solidFill>
                  <a:schemeClr val="tx2"/>
                </a:solidFill>
                <a:latin typeface="Arial" pitchFamily="34" charset="0"/>
                <a:ea typeface="Arial" pitchFamily="34" charset="-122"/>
                <a:cs typeface="Arial" pitchFamily="34" charset="-120"/>
              </a:rPr>
              <a:t>Class 11A4 · Lê Quý Đôn High School</a:t>
            </a:r>
            <a:endParaRPr lang="en-US" sz="900" dirty="0"/>
          </a:p>
        </p:txBody>
      </p:sp>
      <p:sp>
        <p:nvSpPr>
          <p:cNvPr id="11" name="card-100"/>
          <p:cNvSpPr/>
          <p:nvPr/>
        </p:nvSpPr>
        <p:spPr>
          <a:xfrm>
            <a:off x="548640" y="8595360"/>
            <a:ext cx="6464808" cy="1325880"/>
          </a:xfrm>
          <a:prstGeom prst="roundRect">
            <a:avLst>
              <a:gd name="adj" fmla="val 5517"/>
            </a:avLst>
          </a:prstGeom>
          <a:solidFill>
            <a:schemeClr val="bg2"/>
          </a:solidFill>
          <a:ln w="12700">
            <a:solidFill>
              <a:schemeClr val="bg2"/>
            </a:solidFill>
            <a:prstDash val="solid"/>
          </a:ln>
        </p:spPr>
      </p:sp>
      <p:pic>
        <p:nvPicPr>
          <p:cNvPr id="12" name="picture-101" descr="/home/user/chatbox-bi-n-o/magazine/assets/renders/cover.jpg">    </p:cNvPr>
          <p:cNvPicPr>
            <a:picLocks noChangeAspect="1"/>
          </p:cNvPicPr>
          <p:nvPr/>
        </p:nvPicPr>
        <p:blipFill>
          <a:blip r:embed="rId2"/>
          <a:srcRect l="0" r="0" t="0" b="0"/>
          <a:stretch/>
        </p:blipFill>
        <p:spPr>
          <a:xfrm>
            <a:off x="685800" y="8732520"/>
            <a:ext cx="731520" cy="1051560"/>
          </a:xfrm>
          <a:prstGeom prst="rect">
            <a:avLst/>
          </a:prstGeom>
        </p:spPr>
      </p:pic>
      <p:sp>
        <p:nvSpPr>
          <p:cNvPr id="13" name="kicker-dot-102"/>
          <p:cNvSpPr/>
          <p:nvPr/>
        </p:nvSpPr>
        <p:spPr>
          <a:xfrm>
            <a:off x="1600200" y="8791956"/>
            <a:ext cx="100584" cy="100584"/>
          </a:xfrm>
          <a:prstGeom prst="ellipse">
            <a:avLst/>
          </a:prstGeom>
          <a:solidFill>
            <a:schemeClr val="accent6"/>
          </a:solidFill>
          <a:ln w="12700">
            <a:solidFill>
              <a:schemeClr val="accent6"/>
            </a:solidFill>
            <a:prstDash val="solid"/>
          </a:ln>
        </p:spPr>
      </p:sp>
      <p:sp>
        <p:nvSpPr>
          <p:cNvPr id="14" name="text-103"/>
          <p:cNvSpPr txBox="1"/>
          <p:nvPr/>
        </p:nvSpPr>
        <p:spPr>
          <a:xfrm>
            <a:off x="1783080" y="8750808"/>
            <a:ext cx="5230368" cy="201168"/>
          </a:xfrm>
          <a:prstGeom prst="rect">
            <a:avLst/>
          </a:prstGeom>
          <a:noFill/>
          <a:ln/>
        </p:spPr>
        <p:txBody>
          <a:bodyPr wrap="square" lIns="0" tIns="0" rIns="0" bIns="0" rtlCol="0" anchor="t"/>
          <a:lstStyle/>
          <a:p>
            <a:pPr indent="0" marL="0">
              <a:buNone/>
            </a:pPr>
            <a:r>
              <a:rPr lang="en-US" sz="900" b="1" spc="300" kern="0" dirty="0">
                <a:solidFill>
                  <a:schemeClr val="accent6"/>
                </a:solidFill>
              </a:rPr>
              <a:t>ON THE COVER</a:t>
            </a:r>
            <a:endParaRPr lang="en-US" sz="900" dirty="0"/>
          </a:p>
        </p:txBody>
      </p:sp>
      <p:sp>
        <p:nvSpPr>
          <p:cNvPr id="15" name="text-104"/>
          <p:cNvSpPr txBox="1"/>
          <p:nvPr/>
        </p:nvSpPr>
        <p:spPr>
          <a:xfrm>
            <a:off x="1600200" y="8988552"/>
            <a:ext cx="5276088" cy="822960"/>
          </a:xfrm>
          <a:prstGeom prst="rect">
            <a:avLst/>
          </a:prstGeom>
          <a:noFill/>
          <a:ln/>
        </p:spPr>
        <p:txBody>
          <a:bodyPr wrap="square" lIns="0" tIns="0" rIns="0" bIns="0" rtlCol="0" anchor="t"/>
          <a:lstStyle/>
          <a:p>
            <a:pPr indent="0" marL="0">
              <a:lnSpc>
                <a:spcPct val="105000"/>
              </a:lnSpc>
              <a:buNone/>
            </a:pPr>
            <a:r>
              <a:rPr lang="en-US" sz="950" dirty="0">
                <a:solidFill>
                  <a:schemeClr val="tx1"/>
                </a:solidFill>
              </a:rPr>
              <a:t>Aurora 81 – Polar Landmark Tower, named in honour of Landmark 81 in Ho Chi Minh City, beside the street that leads to the glowing terraces of the Mount Aurora spa, under the northern lights. Its nine bundled glass tubes step back like bamboo stalks and cut blizzard wind load by about 25%.</a:t>
            </a:r>
            <a:endParaRPr lang="en-US" sz="950" dirty="0"/>
          </a:p>
        </p:txBody>
      </p:sp>
      <p:sp>
        <p:nvSpPr>
          <p:cNvPr id="16" name="page-number"/>
          <p:cNvSpPr txBox="1"/>
          <p:nvPr/>
        </p:nvSpPr>
        <p:spPr>
          <a:xfrm>
            <a:off x="548640" y="10177272"/>
            <a:ext cx="411480" cy="219456"/>
          </a:xfrm>
          <a:prstGeom prst="rect">
            <a:avLst/>
          </a:prstGeom>
          <a:noFill/>
          <a:ln/>
        </p:spPr>
        <p:txBody>
          <a:bodyPr wrap="square" lIns="0" tIns="0" rIns="0" bIns="0" rtlCol="0" anchor="ctr"/>
          <a:lstStyle/>
          <a:p>
            <a:pPr algn="l" indent="0" marL="0">
              <a:buNone/>
            </a:pPr>
            <a:r>
              <a:rPr lang="en-US" sz="900" b="1" dirty="0">
                <a:solidFill>
                  <a:schemeClr val="tx1"/>
                </a:solidFill>
              </a:rPr>
              <a:t>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dot-105"/>
          <p:cNvSpPr/>
          <p:nvPr/>
        </p:nvSpPr>
        <p:spPr>
          <a:xfrm>
            <a:off x="548640" y="544068"/>
            <a:ext cx="100584" cy="100584"/>
          </a:xfrm>
          <a:prstGeom prst="ellipse">
            <a:avLst/>
          </a:prstGeom>
          <a:solidFill>
            <a:schemeClr val="accent6"/>
          </a:solidFill>
          <a:ln w="12700">
            <a:solidFill>
              <a:schemeClr val="accent6"/>
            </a:solidFill>
            <a:prstDash val="solid"/>
          </a:ln>
        </p:spPr>
      </p:sp>
      <p:sp>
        <p:nvSpPr>
          <p:cNvPr id="3" name="text-106"/>
          <p:cNvSpPr txBox="1"/>
          <p:nvPr/>
        </p:nvSpPr>
        <p:spPr>
          <a:xfrm>
            <a:off x="731520" y="502920"/>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THE TEAM BEHIND AURORA HAVEN</a:t>
            </a:r>
            <a:endParaRPr lang="en-US" sz="900" dirty="0"/>
          </a:p>
        </p:txBody>
      </p:sp>
      <p:sp>
        <p:nvSpPr>
          <p:cNvPr id="4" name="title-107"/>
          <p:cNvSpPr txBox="1"/>
          <p:nvPr/>
        </p:nvSpPr>
        <p:spPr>
          <a:xfrm>
            <a:off x="548640" y="758952"/>
            <a:ext cx="6464808" cy="685800"/>
          </a:xfrm>
          <a:prstGeom prst="rect">
            <a:avLst/>
          </a:prstGeom>
          <a:noFill/>
          <a:ln/>
        </p:spPr>
        <p:txBody>
          <a:bodyPr wrap="square" lIns="0" tIns="0" rIns="0" bIns="0" rtlCol="0" anchor="t"/>
          <a:lstStyle/>
          <a:p>
            <a:pPr indent="0" marL="0">
              <a:lnSpc>
                <a:spcPct val="92000"/>
              </a:lnSpc>
              <a:buNone/>
            </a:pPr>
            <a:r>
              <a:rPr lang="en-US" sz="3400" b="1" dirty="0">
                <a:solidFill>
                  <a:schemeClr val="tx1"/>
                </a:solidFill>
                <a:latin typeface="+mj-lt" pitchFamily="34" charset="0"/>
                <a:ea typeface="+mj-lt" pitchFamily="34" charset="-122"/>
                <a:cs typeface="+mj-lt" pitchFamily="34" charset="-120"/>
              </a:rPr>
              <a:t>Meet the Founders</a:t>
            </a:r>
            <a:endParaRPr lang="en-US" sz="3400" dirty="0"/>
          </a:p>
        </p:txBody>
      </p:sp>
      <p:sp>
        <p:nvSpPr>
          <p:cNvPr id="5" name="text-109"/>
          <p:cNvSpPr txBox="1"/>
          <p:nvPr/>
        </p:nvSpPr>
        <p:spPr>
          <a:xfrm>
            <a:off x="548640" y="1463040"/>
            <a:ext cx="6464808" cy="457200"/>
          </a:xfrm>
          <a:prstGeom prst="rect">
            <a:avLst/>
          </a:prstGeom>
          <a:noFill/>
          <a:ln/>
        </p:spPr>
        <p:txBody>
          <a:bodyPr wrap="square" lIns="0" tIns="0" rIns="0" bIns="0" rtlCol="0" anchor="t"/>
          <a:lstStyle/>
          <a:p>
            <a:pPr indent="0" marL="0">
              <a:lnSpc>
                <a:spcPct val="110000"/>
              </a:lnSpc>
              <a:buNone/>
            </a:pPr>
            <a:r>
              <a:rPr lang="en-US" sz="1300" i="1" dirty="0">
                <a:solidFill>
                  <a:schemeClr val="tx2"/>
                </a:solidFill>
                <a:latin typeface="+mj-lt" pitchFamily="34" charset="0"/>
                <a:ea typeface="+mj-lt" pitchFamily="34" charset="-122"/>
                <a:cs typeface="+mj-lt" pitchFamily="34" charset="-120"/>
              </a:rPr>
              <a:t>The people who planned, built and wrote Aurora Haven, and what each of us did.</a:t>
            </a:r>
            <a:endParaRPr lang="en-US" sz="1300" dirty="0"/>
          </a:p>
        </p:txBody>
      </p:sp>
      <p:sp>
        <p:nvSpPr>
          <p:cNvPr id="6" name="card-110"/>
          <p:cNvSpPr/>
          <p:nvPr/>
        </p:nvSpPr>
        <p:spPr>
          <a:xfrm>
            <a:off x="548640" y="2057400"/>
            <a:ext cx="2063496" cy="2926080"/>
          </a:xfrm>
          <a:prstGeom prst="roundRect">
            <a:avLst>
              <a:gd name="adj" fmla="val 3545"/>
            </a:avLst>
          </a:prstGeom>
          <a:solidFill>
            <a:schemeClr val="bg2"/>
          </a:solidFill>
          <a:ln w="12700">
            <a:solidFill>
              <a:schemeClr val="bg2"/>
            </a:solidFill>
            <a:prstDash val="solid"/>
          </a:ln>
        </p:spPr>
      </p:sp>
      <p:pic>
        <p:nvPicPr>
          <p:cNvPr id="7" name="member-photo-111" descr="/home/user/chatbox-bi-n-o/magazine/assets/team/nguyen_dong_bao.jpg">    </p:cNvPr>
          <p:cNvPicPr>
            <a:picLocks noChangeAspect="1"/>
          </p:cNvPicPr>
          <p:nvPr/>
        </p:nvPicPr>
        <p:blipFill>
          <a:blip r:embed="rId1"/>
          <a:stretch>
            <a:fillRect/>
          </a:stretch>
        </p:blipFill>
        <p:spPr>
          <a:xfrm>
            <a:off x="658368" y="2167128"/>
            <a:ext cx="1844040" cy="2194408"/>
          </a:xfrm>
          <a:prstGeom prst="rect">
            <a:avLst/>
          </a:prstGeom>
        </p:spPr>
      </p:pic>
      <p:sp>
        <p:nvSpPr>
          <p:cNvPr id="8" name="text-112"/>
          <p:cNvSpPr txBox="1"/>
          <p:nvPr/>
        </p:nvSpPr>
        <p:spPr>
          <a:xfrm>
            <a:off x="658368" y="4452976"/>
            <a:ext cx="1844040" cy="237744"/>
          </a:xfrm>
          <a:prstGeom prst="rect">
            <a:avLst/>
          </a:prstGeom>
          <a:noFill/>
          <a:ln/>
        </p:spPr>
        <p:txBody>
          <a:bodyPr wrap="square" lIns="0" tIns="0" rIns="0" bIns="0" rtlCol="0" anchor="t"/>
          <a:lstStyle/>
          <a:p>
            <a:pPr indent="0" marL="0">
              <a:buNone/>
            </a:pPr>
            <a:r>
              <a:rPr lang="en-US" sz="1100" b="1" dirty="0">
                <a:solidFill>
                  <a:schemeClr val="tx1"/>
                </a:solidFill>
                <a:latin typeface="Arial" pitchFamily="34" charset="0"/>
                <a:ea typeface="Arial" pitchFamily="34" charset="-122"/>
                <a:cs typeface="Arial" pitchFamily="34" charset="-120"/>
              </a:rPr>
              <a:t>Nguyễn Đông Bảo</a:t>
            </a:r>
            <a:endParaRPr lang="en-US" sz="1100" dirty="0"/>
          </a:p>
        </p:txBody>
      </p:sp>
      <p:sp>
        <p:nvSpPr>
          <p:cNvPr id="9" name="text-113"/>
          <p:cNvSpPr txBox="1"/>
          <p:nvPr/>
        </p:nvSpPr>
        <p:spPr>
          <a:xfrm>
            <a:off x="658368" y="4709008"/>
            <a:ext cx="1844040" cy="347472"/>
          </a:xfrm>
          <a:prstGeom prst="rect">
            <a:avLst/>
          </a:prstGeom>
          <a:noFill/>
          <a:ln/>
        </p:spPr>
        <p:txBody>
          <a:bodyPr wrap="square" lIns="0" tIns="0" rIns="0" bIns="0" rtlCol="0" anchor="t"/>
          <a:lstStyle/>
          <a:p>
            <a:pPr indent="0" marL="0">
              <a:lnSpc>
                <a:spcPct val="100000"/>
              </a:lnSpc>
              <a:buNone/>
            </a:pPr>
            <a:r>
              <a:rPr lang="en-US" sz="900" b="1" dirty="0">
                <a:solidFill>
                  <a:schemeClr val="accent6"/>
                </a:solidFill>
              </a:rPr>
              <a:t>Magazine design · 3D city design</a:t>
            </a:r>
            <a:endParaRPr lang="en-US" sz="900" dirty="0"/>
          </a:p>
        </p:txBody>
      </p:sp>
      <p:sp>
        <p:nvSpPr>
          <p:cNvPr id="10" name="card-114"/>
          <p:cNvSpPr/>
          <p:nvPr/>
        </p:nvSpPr>
        <p:spPr>
          <a:xfrm>
            <a:off x="2749296" y="2057400"/>
            <a:ext cx="2063496" cy="2926080"/>
          </a:xfrm>
          <a:prstGeom prst="roundRect">
            <a:avLst>
              <a:gd name="adj" fmla="val 3545"/>
            </a:avLst>
          </a:prstGeom>
          <a:solidFill>
            <a:schemeClr val="bg2"/>
          </a:solidFill>
          <a:ln w="12700">
            <a:solidFill>
              <a:schemeClr val="bg2"/>
            </a:solidFill>
            <a:prstDash val="solid"/>
          </a:ln>
        </p:spPr>
      </p:sp>
      <p:pic>
        <p:nvPicPr>
          <p:cNvPr id="11" name="member-photo-115" descr="/home/user/chatbox-bi-n-o/magazine/assets/team/nguyen_ba_hieu_thien.jpg">    </p:cNvPr>
          <p:cNvPicPr>
            <a:picLocks noChangeAspect="1"/>
          </p:cNvPicPr>
          <p:nvPr/>
        </p:nvPicPr>
        <p:blipFill>
          <a:blip r:embed="rId2"/>
          <a:stretch>
            <a:fillRect/>
          </a:stretch>
        </p:blipFill>
        <p:spPr>
          <a:xfrm>
            <a:off x="2859024" y="2167128"/>
            <a:ext cx="1844040" cy="2194408"/>
          </a:xfrm>
          <a:prstGeom prst="rect">
            <a:avLst/>
          </a:prstGeom>
        </p:spPr>
      </p:pic>
      <p:sp>
        <p:nvSpPr>
          <p:cNvPr id="12" name="text-116"/>
          <p:cNvSpPr txBox="1"/>
          <p:nvPr/>
        </p:nvSpPr>
        <p:spPr>
          <a:xfrm>
            <a:off x="2859024" y="4452976"/>
            <a:ext cx="1844040" cy="237744"/>
          </a:xfrm>
          <a:prstGeom prst="rect">
            <a:avLst/>
          </a:prstGeom>
          <a:noFill/>
          <a:ln/>
        </p:spPr>
        <p:txBody>
          <a:bodyPr wrap="square" lIns="0" tIns="0" rIns="0" bIns="0" rtlCol="0" anchor="t"/>
          <a:lstStyle/>
          <a:p>
            <a:pPr indent="0" marL="0">
              <a:buNone/>
            </a:pPr>
            <a:r>
              <a:rPr lang="en-US" sz="1100" b="1" dirty="0">
                <a:solidFill>
                  <a:schemeClr val="tx1"/>
                </a:solidFill>
                <a:latin typeface="Arial" pitchFamily="34" charset="0"/>
                <a:ea typeface="Arial" pitchFamily="34" charset="-122"/>
                <a:cs typeface="Arial" pitchFamily="34" charset="-120"/>
              </a:rPr>
              <a:t>Nguyễn Bá Hiếu Thiện</a:t>
            </a:r>
            <a:endParaRPr lang="en-US" sz="1100" dirty="0"/>
          </a:p>
        </p:txBody>
      </p:sp>
      <p:sp>
        <p:nvSpPr>
          <p:cNvPr id="13" name="text-117"/>
          <p:cNvSpPr txBox="1"/>
          <p:nvPr/>
        </p:nvSpPr>
        <p:spPr>
          <a:xfrm>
            <a:off x="2859024" y="4709008"/>
            <a:ext cx="1844040" cy="347472"/>
          </a:xfrm>
          <a:prstGeom prst="rect">
            <a:avLst/>
          </a:prstGeom>
          <a:noFill/>
          <a:ln/>
        </p:spPr>
        <p:txBody>
          <a:bodyPr wrap="square" lIns="0" tIns="0" rIns="0" bIns="0" rtlCol="0" anchor="t"/>
          <a:lstStyle/>
          <a:p>
            <a:pPr indent="0" marL="0">
              <a:lnSpc>
                <a:spcPct val="100000"/>
              </a:lnSpc>
              <a:buNone/>
            </a:pPr>
            <a:r>
              <a:rPr lang="en-US" sz="900" b="1" dirty="0">
                <a:solidFill>
                  <a:schemeClr val="accent6"/>
                </a:solidFill>
              </a:rPr>
              <a:t>Team leader · Research · 3D city design</a:t>
            </a:r>
            <a:endParaRPr lang="en-US" sz="900" dirty="0"/>
          </a:p>
        </p:txBody>
      </p:sp>
      <p:sp>
        <p:nvSpPr>
          <p:cNvPr id="14" name="card-118"/>
          <p:cNvSpPr/>
          <p:nvPr/>
        </p:nvSpPr>
        <p:spPr>
          <a:xfrm>
            <a:off x="4949952" y="2057400"/>
            <a:ext cx="2063496" cy="2926080"/>
          </a:xfrm>
          <a:prstGeom prst="roundRect">
            <a:avLst>
              <a:gd name="adj" fmla="val 3545"/>
            </a:avLst>
          </a:prstGeom>
          <a:solidFill>
            <a:schemeClr val="bg2"/>
          </a:solidFill>
          <a:ln w="12700">
            <a:solidFill>
              <a:schemeClr val="bg2"/>
            </a:solidFill>
            <a:prstDash val="solid"/>
          </a:ln>
        </p:spPr>
      </p:sp>
      <p:pic>
        <p:nvPicPr>
          <p:cNvPr id="15" name="member-photo-119" descr="/home/user/chatbox-bi-n-o/magazine/assets/team/phan_minh_khoi.jpg">    </p:cNvPr>
          <p:cNvPicPr>
            <a:picLocks noChangeAspect="1"/>
          </p:cNvPicPr>
          <p:nvPr/>
        </p:nvPicPr>
        <p:blipFill>
          <a:blip r:embed="rId3"/>
          <a:stretch>
            <a:fillRect/>
          </a:stretch>
        </p:blipFill>
        <p:spPr>
          <a:xfrm>
            <a:off x="5059680" y="2167128"/>
            <a:ext cx="1844040" cy="2194408"/>
          </a:xfrm>
          <a:prstGeom prst="rect">
            <a:avLst/>
          </a:prstGeom>
        </p:spPr>
      </p:pic>
      <p:sp>
        <p:nvSpPr>
          <p:cNvPr id="16" name="text-120"/>
          <p:cNvSpPr txBox="1"/>
          <p:nvPr/>
        </p:nvSpPr>
        <p:spPr>
          <a:xfrm>
            <a:off x="5059680" y="4452976"/>
            <a:ext cx="1844040" cy="237744"/>
          </a:xfrm>
          <a:prstGeom prst="rect">
            <a:avLst/>
          </a:prstGeom>
          <a:noFill/>
          <a:ln/>
        </p:spPr>
        <p:txBody>
          <a:bodyPr wrap="square" lIns="0" tIns="0" rIns="0" bIns="0" rtlCol="0" anchor="t"/>
          <a:lstStyle/>
          <a:p>
            <a:pPr indent="0" marL="0">
              <a:buNone/>
            </a:pPr>
            <a:r>
              <a:rPr lang="en-US" sz="1100" b="1" dirty="0">
                <a:solidFill>
                  <a:schemeClr val="tx1"/>
                </a:solidFill>
                <a:latin typeface="Arial" pitchFamily="34" charset="0"/>
                <a:ea typeface="Arial" pitchFamily="34" charset="-122"/>
                <a:cs typeface="Arial" pitchFamily="34" charset="-120"/>
              </a:rPr>
              <a:t>Phan Minh Khôi</a:t>
            </a:r>
            <a:endParaRPr lang="en-US" sz="1100" dirty="0"/>
          </a:p>
        </p:txBody>
      </p:sp>
      <p:sp>
        <p:nvSpPr>
          <p:cNvPr id="17" name="text-121"/>
          <p:cNvSpPr txBox="1"/>
          <p:nvPr/>
        </p:nvSpPr>
        <p:spPr>
          <a:xfrm>
            <a:off x="5059680" y="4709008"/>
            <a:ext cx="1844040" cy="347472"/>
          </a:xfrm>
          <a:prstGeom prst="rect">
            <a:avLst/>
          </a:prstGeom>
          <a:noFill/>
          <a:ln/>
        </p:spPr>
        <p:txBody>
          <a:bodyPr wrap="square" lIns="0" tIns="0" rIns="0" bIns="0" rtlCol="0" anchor="t"/>
          <a:lstStyle/>
          <a:p>
            <a:pPr indent="0" marL="0">
              <a:lnSpc>
                <a:spcPct val="100000"/>
              </a:lnSpc>
              <a:buNone/>
            </a:pPr>
            <a:r>
              <a:rPr lang="en-US" sz="900" b="1" dirty="0">
                <a:solidFill>
                  <a:schemeClr val="accent6"/>
                </a:solidFill>
              </a:rPr>
              <a:t>Research · Fact-checking</a:t>
            </a:r>
            <a:endParaRPr lang="en-US" sz="900" dirty="0"/>
          </a:p>
        </p:txBody>
      </p:sp>
      <p:sp>
        <p:nvSpPr>
          <p:cNvPr id="18" name="card-122"/>
          <p:cNvSpPr/>
          <p:nvPr/>
        </p:nvSpPr>
        <p:spPr>
          <a:xfrm>
            <a:off x="548640" y="5120640"/>
            <a:ext cx="2063496" cy="2926080"/>
          </a:xfrm>
          <a:prstGeom prst="roundRect">
            <a:avLst>
              <a:gd name="adj" fmla="val 3545"/>
            </a:avLst>
          </a:prstGeom>
          <a:solidFill>
            <a:schemeClr val="bg2"/>
          </a:solidFill>
          <a:ln w="12700">
            <a:solidFill>
              <a:schemeClr val="bg2"/>
            </a:solidFill>
            <a:prstDash val="solid"/>
          </a:ln>
        </p:spPr>
      </p:sp>
      <p:pic>
        <p:nvPicPr>
          <p:cNvPr id="19" name="member-photo-123" descr="/home/user/chatbox-bi-n-o/magazine/assets/team/duong_hang_nguyen.jpg">    </p:cNvPr>
          <p:cNvPicPr>
            <a:picLocks noChangeAspect="1"/>
          </p:cNvPicPr>
          <p:nvPr/>
        </p:nvPicPr>
        <p:blipFill>
          <a:blip r:embed="rId4"/>
          <a:stretch>
            <a:fillRect/>
          </a:stretch>
        </p:blipFill>
        <p:spPr>
          <a:xfrm>
            <a:off x="658368" y="5230368"/>
            <a:ext cx="1844040" cy="2194408"/>
          </a:xfrm>
          <a:prstGeom prst="rect">
            <a:avLst/>
          </a:prstGeom>
        </p:spPr>
      </p:pic>
      <p:sp>
        <p:nvSpPr>
          <p:cNvPr id="20" name="text-124"/>
          <p:cNvSpPr txBox="1"/>
          <p:nvPr/>
        </p:nvSpPr>
        <p:spPr>
          <a:xfrm>
            <a:off x="658368" y="7516216"/>
            <a:ext cx="1844040" cy="237744"/>
          </a:xfrm>
          <a:prstGeom prst="rect">
            <a:avLst/>
          </a:prstGeom>
          <a:noFill/>
          <a:ln/>
        </p:spPr>
        <p:txBody>
          <a:bodyPr wrap="square" lIns="0" tIns="0" rIns="0" bIns="0" rtlCol="0" anchor="t"/>
          <a:lstStyle/>
          <a:p>
            <a:pPr indent="0" marL="0">
              <a:buNone/>
            </a:pPr>
            <a:r>
              <a:rPr lang="en-US" sz="1100" b="1" dirty="0">
                <a:solidFill>
                  <a:schemeClr val="tx1"/>
                </a:solidFill>
                <a:latin typeface="Arial" pitchFamily="34" charset="0"/>
                <a:ea typeface="Arial" pitchFamily="34" charset="-122"/>
                <a:cs typeface="Arial" pitchFamily="34" charset="-120"/>
              </a:rPr>
              <a:t>Dương Hàng Nguyên</a:t>
            </a:r>
            <a:endParaRPr lang="en-US" sz="1100" dirty="0"/>
          </a:p>
        </p:txBody>
      </p:sp>
      <p:sp>
        <p:nvSpPr>
          <p:cNvPr id="21" name="text-125"/>
          <p:cNvSpPr txBox="1"/>
          <p:nvPr/>
        </p:nvSpPr>
        <p:spPr>
          <a:xfrm>
            <a:off x="658368" y="7772248"/>
            <a:ext cx="1844040" cy="347472"/>
          </a:xfrm>
          <a:prstGeom prst="rect">
            <a:avLst/>
          </a:prstGeom>
          <a:noFill/>
          <a:ln/>
        </p:spPr>
        <p:txBody>
          <a:bodyPr wrap="square" lIns="0" tIns="0" rIns="0" bIns="0" rtlCol="0" anchor="t"/>
          <a:lstStyle/>
          <a:p>
            <a:pPr indent="0" marL="0">
              <a:lnSpc>
                <a:spcPct val="100000"/>
              </a:lnSpc>
              <a:buNone/>
            </a:pPr>
            <a:r>
              <a:rPr lang="en-US" sz="900" b="1" dirty="0">
                <a:solidFill>
                  <a:schemeClr val="accent6"/>
                </a:solidFill>
              </a:rPr>
              <a:t>Video filming &amp; editing · 3D city design</a:t>
            </a:r>
            <a:endParaRPr lang="en-US" sz="900" dirty="0"/>
          </a:p>
        </p:txBody>
      </p:sp>
      <p:sp>
        <p:nvSpPr>
          <p:cNvPr id="22" name="card-126"/>
          <p:cNvSpPr/>
          <p:nvPr/>
        </p:nvSpPr>
        <p:spPr>
          <a:xfrm>
            <a:off x="2749296" y="5120640"/>
            <a:ext cx="2063496" cy="2926080"/>
          </a:xfrm>
          <a:prstGeom prst="roundRect">
            <a:avLst>
              <a:gd name="adj" fmla="val 3545"/>
            </a:avLst>
          </a:prstGeom>
          <a:solidFill>
            <a:schemeClr val="bg2"/>
          </a:solidFill>
          <a:ln w="12700">
            <a:solidFill>
              <a:schemeClr val="bg2"/>
            </a:solidFill>
            <a:prstDash val="solid"/>
          </a:ln>
        </p:spPr>
      </p:sp>
      <p:pic>
        <p:nvPicPr>
          <p:cNvPr id="23" name="member-photo-127" descr="/home/user/chatbox-bi-n-o/magazine/assets/team/pham_phuoc_khoa.jpg">    </p:cNvPr>
          <p:cNvPicPr>
            <a:picLocks noChangeAspect="1"/>
          </p:cNvPicPr>
          <p:nvPr/>
        </p:nvPicPr>
        <p:blipFill>
          <a:blip r:embed="rId5"/>
          <a:stretch>
            <a:fillRect/>
          </a:stretch>
        </p:blipFill>
        <p:spPr>
          <a:xfrm>
            <a:off x="2859024" y="5230368"/>
            <a:ext cx="1844040" cy="2194408"/>
          </a:xfrm>
          <a:prstGeom prst="rect">
            <a:avLst/>
          </a:prstGeom>
        </p:spPr>
      </p:pic>
      <p:sp>
        <p:nvSpPr>
          <p:cNvPr id="24" name="text-128"/>
          <p:cNvSpPr txBox="1"/>
          <p:nvPr/>
        </p:nvSpPr>
        <p:spPr>
          <a:xfrm>
            <a:off x="2859024" y="7516216"/>
            <a:ext cx="1844040" cy="237744"/>
          </a:xfrm>
          <a:prstGeom prst="rect">
            <a:avLst/>
          </a:prstGeom>
          <a:noFill/>
          <a:ln/>
        </p:spPr>
        <p:txBody>
          <a:bodyPr wrap="square" lIns="0" tIns="0" rIns="0" bIns="0" rtlCol="0" anchor="t"/>
          <a:lstStyle/>
          <a:p>
            <a:pPr indent="0" marL="0">
              <a:buNone/>
            </a:pPr>
            <a:r>
              <a:rPr lang="en-US" sz="1100" b="1" dirty="0">
                <a:solidFill>
                  <a:schemeClr val="tx1"/>
                </a:solidFill>
                <a:latin typeface="Arial" pitchFamily="34" charset="0"/>
                <a:ea typeface="Arial" pitchFamily="34" charset="-122"/>
                <a:cs typeface="Arial" pitchFamily="34" charset="-120"/>
              </a:rPr>
              <a:t>Phạm Phước Khoa</a:t>
            </a:r>
            <a:endParaRPr lang="en-US" sz="1100" dirty="0"/>
          </a:p>
        </p:txBody>
      </p:sp>
      <p:sp>
        <p:nvSpPr>
          <p:cNvPr id="25" name="text-129"/>
          <p:cNvSpPr txBox="1"/>
          <p:nvPr/>
        </p:nvSpPr>
        <p:spPr>
          <a:xfrm>
            <a:off x="2859024" y="7772248"/>
            <a:ext cx="1844040" cy="347472"/>
          </a:xfrm>
          <a:prstGeom prst="rect">
            <a:avLst/>
          </a:prstGeom>
          <a:noFill/>
          <a:ln/>
        </p:spPr>
        <p:txBody>
          <a:bodyPr wrap="square" lIns="0" tIns="0" rIns="0" bIns="0" rtlCol="0" anchor="t"/>
          <a:lstStyle/>
          <a:p>
            <a:pPr indent="0" marL="0">
              <a:lnSpc>
                <a:spcPct val="100000"/>
              </a:lnSpc>
              <a:buNone/>
            </a:pPr>
            <a:r>
              <a:rPr lang="en-US" sz="900" b="1" dirty="0">
                <a:solidFill>
                  <a:schemeClr val="accent6"/>
                </a:solidFill>
              </a:rPr>
              <a:t>Video editing · Magazine design</a:t>
            </a:r>
            <a:endParaRPr lang="en-US" sz="900" dirty="0"/>
          </a:p>
        </p:txBody>
      </p:sp>
      <p:sp>
        <p:nvSpPr>
          <p:cNvPr id="26" name="card-130"/>
          <p:cNvSpPr/>
          <p:nvPr/>
        </p:nvSpPr>
        <p:spPr>
          <a:xfrm>
            <a:off x="4949952" y="5120640"/>
            <a:ext cx="2063496" cy="2926080"/>
          </a:xfrm>
          <a:prstGeom prst="roundRect">
            <a:avLst>
              <a:gd name="adj" fmla="val 3545"/>
            </a:avLst>
          </a:prstGeom>
          <a:solidFill>
            <a:schemeClr val="bg2"/>
          </a:solidFill>
          <a:ln w="12700">
            <a:solidFill>
              <a:schemeClr val="bg2"/>
            </a:solidFill>
            <a:prstDash val="solid"/>
          </a:ln>
        </p:spPr>
      </p:sp>
      <p:pic>
        <p:nvPicPr>
          <p:cNvPr id="27" name="member-photo-131" descr="/home/user/chatbox-bi-n-o/magazine/assets/team/nguyen_minh_triet.jpg">    </p:cNvPr>
          <p:cNvPicPr>
            <a:picLocks noChangeAspect="1"/>
          </p:cNvPicPr>
          <p:nvPr/>
        </p:nvPicPr>
        <p:blipFill>
          <a:blip r:embed="rId6"/>
          <a:stretch>
            <a:fillRect/>
          </a:stretch>
        </p:blipFill>
        <p:spPr>
          <a:xfrm>
            <a:off x="5059680" y="5230368"/>
            <a:ext cx="1844040" cy="2194408"/>
          </a:xfrm>
          <a:prstGeom prst="rect">
            <a:avLst/>
          </a:prstGeom>
        </p:spPr>
      </p:pic>
      <p:sp>
        <p:nvSpPr>
          <p:cNvPr id="28" name="text-132"/>
          <p:cNvSpPr txBox="1"/>
          <p:nvPr/>
        </p:nvSpPr>
        <p:spPr>
          <a:xfrm>
            <a:off x="5059680" y="7516216"/>
            <a:ext cx="1844040" cy="237744"/>
          </a:xfrm>
          <a:prstGeom prst="rect">
            <a:avLst/>
          </a:prstGeom>
          <a:noFill/>
          <a:ln/>
        </p:spPr>
        <p:txBody>
          <a:bodyPr wrap="square" lIns="0" tIns="0" rIns="0" bIns="0" rtlCol="0" anchor="t"/>
          <a:lstStyle/>
          <a:p>
            <a:pPr indent="0" marL="0">
              <a:buNone/>
            </a:pPr>
            <a:r>
              <a:rPr lang="en-US" sz="1100" b="1" dirty="0">
                <a:solidFill>
                  <a:schemeClr val="tx1"/>
                </a:solidFill>
                <a:latin typeface="Arial" pitchFamily="34" charset="0"/>
                <a:ea typeface="Arial" pitchFamily="34" charset="-122"/>
                <a:cs typeface="Arial" pitchFamily="34" charset="-120"/>
              </a:rPr>
              <a:t>Nguyễn Minh Triết</a:t>
            </a:r>
            <a:endParaRPr lang="en-US" sz="1100" dirty="0"/>
          </a:p>
        </p:txBody>
      </p:sp>
      <p:sp>
        <p:nvSpPr>
          <p:cNvPr id="29" name="text-133"/>
          <p:cNvSpPr txBox="1"/>
          <p:nvPr/>
        </p:nvSpPr>
        <p:spPr>
          <a:xfrm>
            <a:off x="5059680" y="7772248"/>
            <a:ext cx="1844040" cy="347472"/>
          </a:xfrm>
          <a:prstGeom prst="rect">
            <a:avLst/>
          </a:prstGeom>
          <a:noFill/>
          <a:ln/>
        </p:spPr>
        <p:txBody>
          <a:bodyPr wrap="square" lIns="0" tIns="0" rIns="0" bIns="0" rtlCol="0" anchor="t"/>
          <a:lstStyle/>
          <a:p>
            <a:pPr indent="0" marL="0">
              <a:lnSpc>
                <a:spcPct val="100000"/>
              </a:lnSpc>
              <a:buNone/>
            </a:pPr>
            <a:r>
              <a:rPr lang="en-US" sz="900" b="1" dirty="0">
                <a:solidFill>
                  <a:schemeClr val="accent6"/>
                </a:solidFill>
              </a:rPr>
              <a:t>Magazine design · Report</a:t>
            </a:r>
            <a:endParaRPr lang="en-US" sz="900" dirty="0"/>
          </a:p>
        </p:txBody>
      </p:sp>
      <p:sp>
        <p:nvSpPr>
          <p:cNvPr id="30" name="card-134"/>
          <p:cNvSpPr/>
          <p:nvPr/>
        </p:nvSpPr>
        <p:spPr>
          <a:xfrm>
            <a:off x="548640" y="8229600"/>
            <a:ext cx="2743200" cy="1737360"/>
          </a:xfrm>
          <a:prstGeom prst="roundRect">
            <a:avLst>
              <a:gd name="adj" fmla="val 4211"/>
            </a:avLst>
          </a:prstGeom>
          <a:solidFill>
            <a:schemeClr val="bg2"/>
          </a:solidFill>
          <a:ln w="12700">
            <a:solidFill>
              <a:schemeClr val="bg2"/>
            </a:solidFill>
            <a:prstDash val="solid"/>
          </a:ln>
        </p:spPr>
      </p:sp>
      <p:pic>
        <p:nvPicPr>
          <p:cNvPr id="31" name="qr-interview-135" descr="/home/user/chatbox-bi-n-o/magazine/assets/ui/qr_interview.png">
            <a:hlinkClick r:id="rId8" tooltip="Watch our real-world interview"/>
          </p:cNvPr>
          <p:cNvPicPr>
            <a:picLocks noChangeAspect="1"/>
          </p:cNvPicPr>
          <p:nvPr/>
        </p:nvPicPr>
        <p:blipFill>
          <a:blip r:embed="rId7"/>
          <a:stretch>
            <a:fillRect/>
          </a:stretch>
        </p:blipFill>
        <p:spPr>
          <a:xfrm>
            <a:off x="685800" y="8549640"/>
            <a:ext cx="1097280" cy="1097280"/>
          </a:xfrm>
          <a:prstGeom prst="rect">
            <a:avLst/>
          </a:prstGeom>
        </p:spPr>
      </p:pic>
      <p:sp>
        <p:nvSpPr>
          <p:cNvPr id="32" name="text-136"/>
          <p:cNvSpPr txBox="1"/>
          <p:nvPr/>
        </p:nvSpPr>
        <p:spPr>
          <a:xfrm>
            <a:off x="1965960" y="8366760"/>
            <a:ext cx="1188720" cy="1463040"/>
          </a:xfrm>
          <a:prstGeom prst="rect">
            <a:avLst/>
          </a:prstGeom>
          <a:noFill/>
          <a:ln/>
        </p:spPr>
        <p:txBody>
          <a:bodyPr wrap="square" lIns="0" tIns="0" rIns="0" bIns="0" rtlCol="0" anchor="ctr"/>
          <a:lstStyle/>
          <a:p>
            <a:pPr indent="0" marL="0">
              <a:lnSpc>
                <a:spcPct val="100000"/>
              </a:lnSpc>
              <a:spcAft>
                <a:spcPts val="300"/>
              </a:spcAft>
              <a:buNone/>
            </a:pPr>
            <a:r>
              <a:rPr lang="en-US" sz="800" b="1" spc="150" kern="0" dirty="0">
                <a:solidFill>
                  <a:schemeClr val="accent4"/>
                </a:solidFill>
              </a:rPr>
              <a:t>SCAN TO WATCH</a:t>
            </a:r>
            <a:endParaRPr lang="en-US" sz="1050" dirty="0"/>
          </a:p>
          <a:p>
            <a:pPr indent="0" marL="0">
              <a:lnSpc>
                <a:spcPct val="100000"/>
              </a:lnSpc>
              <a:spcAft>
                <a:spcPts val="300"/>
              </a:spcAft>
              <a:buNone/>
            </a:pPr>
            <a:r>
              <a:rPr lang="en-US" sz="1400" b="1" dirty="0">
                <a:solidFill>
                  <a:schemeClr val="tx1"/>
                </a:solidFill>
                <a:latin typeface="+mj-lt" pitchFamily="34" charset="0"/>
                <a:ea typeface="+mj-lt" pitchFamily="34" charset="-122"/>
                <a:cs typeface="+mj-lt" pitchFamily="34" charset="-120"/>
              </a:rPr>
              <a:t>Our real-world interview</a:t>
            </a:r>
            <a:endParaRPr lang="en-US" sz="1050" dirty="0"/>
          </a:p>
          <a:p>
            <a:pPr indent="0" marL="0">
              <a:lnSpc>
                <a:spcPct val="100000"/>
              </a:lnSpc>
              <a:buNone/>
            </a:pPr>
            <a:r>
              <a:rPr lang="en-US" sz="850" dirty="0">
                <a:solidFill>
                  <a:schemeClr val="tx2"/>
                </a:solidFill>
              </a:rPr>
              <a:t>Video on YouTube</a:t>
            </a:r>
            <a:endParaRPr lang="en-US" sz="1050" dirty="0"/>
          </a:p>
          <a:p>
            <a:pPr indent="0" marL="0">
              <a:lnSpc>
                <a:spcPct val="100000"/>
              </a:lnSpc>
              <a:buNone/>
            </a:pPr>
            <a:r>
              <a:rPr lang="en-US" sz="850" b="1" u="sng" dirty="0">
                <a:solidFill>
                  <a:schemeClr val="accent6"/>
                </a:solidFill>
                <a:hlinkClick r:id="rId8" invalidUrl="" action="" tgtFrame="" tooltip="Watch our real-world interview" history="1" highlightClick="0" endSnd="0">
                  <a:extLst>
                    <a:ext uri="{A12FA001-AC4F-418D-AE19-62706E023703}">
                      <ahyp:hlinkClr xmlns:ahyp="http://schemas.microsoft.com/office/drawing/2018/hyperlinkcolor" val="tx"/>
                    </a:ext>
                  </a:extLst>
                </a:hlinkClick>
              </a:rPr>
              <a:t>youtu.be/QwcP_2Q3Esc</a:t>
            </a:r>
            <a:endParaRPr lang="en-US" sz="1050" dirty="0"/>
          </a:p>
        </p:txBody>
      </p:sp>
      <p:sp>
        <p:nvSpPr>
          <p:cNvPr id="33" name="kicker-dot-137"/>
          <p:cNvSpPr/>
          <p:nvPr/>
        </p:nvSpPr>
        <p:spPr>
          <a:xfrm>
            <a:off x="3429000" y="8316468"/>
            <a:ext cx="100584" cy="100584"/>
          </a:xfrm>
          <a:prstGeom prst="ellipse">
            <a:avLst/>
          </a:prstGeom>
          <a:solidFill>
            <a:schemeClr val="accent6"/>
          </a:solidFill>
          <a:ln w="12700">
            <a:solidFill>
              <a:schemeClr val="accent6"/>
            </a:solidFill>
            <a:prstDash val="solid"/>
          </a:ln>
        </p:spPr>
      </p:sp>
      <p:sp>
        <p:nvSpPr>
          <p:cNvPr id="34" name="text-138"/>
          <p:cNvSpPr txBox="1"/>
          <p:nvPr/>
        </p:nvSpPr>
        <p:spPr>
          <a:xfrm>
            <a:off x="3611880" y="8275320"/>
            <a:ext cx="3401568" cy="201168"/>
          </a:xfrm>
          <a:prstGeom prst="rect">
            <a:avLst/>
          </a:prstGeom>
          <a:noFill/>
          <a:ln/>
        </p:spPr>
        <p:txBody>
          <a:bodyPr wrap="square" lIns="0" tIns="0" rIns="0" bIns="0" rtlCol="0" anchor="t"/>
          <a:lstStyle/>
          <a:p>
            <a:pPr indent="0" marL="0">
              <a:buNone/>
            </a:pPr>
            <a:r>
              <a:rPr lang="en-US" sz="900" b="1" spc="300" kern="0" dirty="0">
                <a:solidFill>
                  <a:schemeClr val="accent6"/>
                </a:solidFill>
              </a:rPr>
              <a:t>INTERVIEW CONCLUSION</a:t>
            </a:r>
            <a:endParaRPr lang="en-US" sz="900" dirty="0"/>
          </a:p>
        </p:txBody>
      </p:sp>
      <p:sp>
        <p:nvSpPr>
          <p:cNvPr id="35" name="text-139"/>
          <p:cNvSpPr txBox="1"/>
          <p:nvPr/>
        </p:nvSpPr>
        <p:spPr>
          <a:xfrm>
            <a:off x="3429000" y="8531352"/>
            <a:ext cx="3584448" cy="1463040"/>
          </a:xfrm>
          <a:prstGeom prst="rect">
            <a:avLst/>
          </a:prstGeom>
          <a:noFill/>
          <a:ln/>
        </p:spPr>
        <p:txBody>
          <a:bodyPr wrap="square" lIns="0" tIns="0" rIns="0" bIns="0" rtlCol="0" anchor="t"/>
          <a:lstStyle/>
          <a:p>
            <a:pPr indent="0" marL="0">
              <a:lnSpc>
                <a:spcPct val="106000"/>
              </a:lnSpc>
              <a:buNone/>
            </a:pPr>
            <a:r>
              <a:rPr lang="en-US" sz="900" i="1" dirty="0">
                <a:solidFill>
                  <a:schemeClr val="tx1"/>
                </a:solidFill>
              </a:rPr>
              <a:t>Looking back on the interview session, our team not only gathered valuable architectural insights but also learned a great deal about creative thinking and teamwork. Preparing the questions, listening closely, and engaging in direct discussions helped us deeply understand how green technologies can be practically applied to extreme environmental challenges. Overall, this was a truly rewarding experience that broadened our perspectives and allowed us to bring the most inspiring stories to our magazine readers.</a:t>
            </a:r>
            <a:endParaRPr lang="en-US" sz="900" dirty="0"/>
          </a:p>
        </p:txBody>
      </p:sp>
      <p:sp>
        <p:nvSpPr>
          <p:cNvPr id="36" name="page-number"/>
          <p:cNvSpPr txBox="1"/>
          <p:nvPr/>
        </p:nvSpPr>
        <p:spPr>
          <a:xfrm>
            <a:off x="6601968" y="10177272"/>
            <a:ext cx="411480" cy="219456"/>
          </a:xfrm>
          <a:prstGeom prst="rect">
            <a:avLst/>
          </a:prstGeom>
          <a:noFill/>
          <a:ln/>
        </p:spPr>
        <p:txBody>
          <a:bodyPr wrap="square" lIns="0" tIns="0" rIns="0" bIns="0" rtlCol="0" anchor="ctr"/>
          <a:lstStyle/>
          <a:p>
            <a:pPr algn="r" indent="0" marL="0">
              <a:buNone/>
            </a:pPr>
            <a:r>
              <a:rPr lang="en-US" sz="900" b="1" dirty="0">
                <a:solidFill>
                  <a:schemeClr val="tx1"/>
                </a:solidFill>
              </a:rPr>
              <a:t>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picture-140" descr="/home/user/chatbox-bi-n-o/magazine/assets/renders/welcome_pano_L.jpg">    </p:cNvPr>
          <p:cNvPicPr>
            <a:picLocks noChangeAspect="1"/>
          </p:cNvPicPr>
          <p:nvPr/>
        </p:nvPicPr>
        <p:blipFill>
          <a:blip r:embed="rId1"/>
          <a:srcRect l="0" r="0" t="0" b="0"/>
          <a:stretch/>
        </p:blipFill>
        <p:spPr>
          <a:xfrm>
            <a:off x="0" y="0"/>
            <a:ext cx="7562088" cy="6400800"/>
          </a:xfrm>
          <a:prstGeom prst="rect">
            <a:avLst/>
          </a:prstGeom>
        </p:spPr>
      </p:pic>
      <p:pic>
        <p:nvPicPr>
          <p:cNvPr id="3" name="shade-bottom-141" descr="/home/user/chatbox-bi-n-o/magazine/assets/ui/shade_bottom.png">    </p:cNvPr>
          <p:cNvPicPr>
            <a:picLocks noChangeAspect="1"/>
          </p:cNvPicPr>
          <p:nvPr/>
        </p:nvPicPr>
        <p:blipFill>
          <a:blip r:embed="rId2"/>
          <a:stretch>
            <a:fillRect/>
          </a:stretch>
        </p:blipFill>
        <p:spPr>
          <a:xfrm>
            <a:off x="0" y="3474720"/>
            <a:ext cx="7562088" cy="2926080"/>
          </a:xfrm>
          <a:prstGeom prst="rect">
            <a:avLst/>
          </a:prstGeom>
        </p:spPr>
      </p:pic>
      <p:sp>
        <p:nvSpPr>
          <p:cNvPr id="4" name="kicker-dot-142"/>
          <p:cNvSpPr/>
          <p:nvPr/>
        </p:nvSpPr>
        <p:spPr>
          <a:xfrm>
            <a:off x="548640" y="4658868"/>
            <a:ext cx="100584" cy="100584"/>
          </a:xfrm>
          <a:prstGeom prst="ellipse">
            <a:avLst/>
          </a:prstGeom>
          <a:solidFill>
            <a:schemeClr val="accent1"/>
          </a:solidFill>
          <a:ln w="12700">
            <a:solidFill>
              <a:schemeClr val="accent1"/>
            </a:solidFill>
            <a:prstDash val="solid"/>
          </a:ln>
        </p:spPr>
      </p:sp>
      <p:sp>
        <p:nvSpPr>
          <p:cNvPr id="5" name="text-143"/>
          <p:cNvSpPr txBox="1"/>
          <p:nvPr/>
        </p:nvSpPr>
        <p:spPr>
          <a:xfrm>
            <a:off x="731520" y="4617720"/>
            <a:ext cx="5486400" cy="201168"/>
          </a:xfrm>
          <a:prstGeom prst="rect">
            <a:avLst/>
          </a:prstGeom>
          <a:noFill/>
          <a:ln/>
        </p:spPr>
        <p:txBody>
          <a:bodyPr wrap="square" lIns="0" tIns="0" rIns="0" bIns="0" rtlCol="0" anchor="t"/>
          <a:lstStyle/>
          <a:p>
            <a:pPr indent="0" marL="0">
              <a:buNone/>
            </a:pPr>
            <a:r>
              <a:rPr lang="en-US" sz="900" b="1" spc="300" kern="0" dirty="0">
                <a:solidFill>
                  <a:schemeClr val="bg1"/>
                </a:solidFill>
              </a:rPr>
              <a:t>CITY OVERVIEW</a:t>
            </a:r>
            <a:endParaRPr lang="en-US" sz="900" dirty="0"/>
          </a:p>
        </p:txBody>
      </p:sp>
      <p:sp>
        <p:nvSpPr>
          <p:cNvPr id="6" name="title-144"/>
          <p:cNvSpPr txBox="1"/>
          <p:nvPr/>
        </p:nvSpPr>
        <p:spPr>
          <a:xfrm>
            <a:off x="548640" y="4892040"/>
            <a:ext cx="6464808" cy="1280160"/>
          </a:xfrm>
          <a:prstGeom prst="rect">
            <a:avLst/>
          </a:prstGeom>
          <a:noFill/>
          <a:ln/>
        </p:spPr>
        <p:txBody>
          <a:bodyPr wrap="square" lIns="0" tIns="0" rIns="0" bIns="0" rtlCol="0" anchor="t"/>
          <a:lstStyle/>
          <a:p>
            <a:pPr indent="0" marL="0">
              <a:lnSpc>
                <a:spcPct val="92000"/>
              </a:lnSpc>
              <a:buNone/>
            </a:pPr>
            <a:r>
              <a:rPr lang="en-US" sz="4600" b="1" dirty="0">
                <a:solidFill>
                  <a:schemeClr val="bg1"/>
                </a:solidFill>
                <a:latin typeface="+mj-lt" pitchFamily="34" charset="0"/>
                <a:ea typeface="+mj-lt" pitchFamily="34" charset="-122"/>
                <a:cs typeface="+mj-lt" pitchFamily="34" charset="-120"/>
              </a:rPr>
              <a:t>Welcome to</a:t>
            </a:r>
            <a:endParaRPr lang="en-US" sz="4600" dirty="0"/>
          </a:p>
          <a:p>
            <a:pPr indent="0" marL="0">
              <a:lnSpc>
                <a:spcPct val="92000"/>
              </a:lnSpc>
              <a:buNone/>
            </a:pPr>
            <a:r>
              <a:rPr lang="en-US" sz="4600" b="1" dirty="0">
                <a:solidFill>
                  <a:schemeClr val="bg1"/>
                </a:solidFill>
                <a:latin typeface="+mj-lt" pitchFamily="34" charset="0"/>
                <a:ea typeface="+mj-lt" pitchFamily="34" charset="-122"/>
                <a:cs typeface="+mj-lt" pitchFamily="34" charset="-120"/>
              </a:rPr>
              <a:t>Aurora Haven</a:t>
            </a:r>
            <a:endParaRPr lang="en-US" sz="4600" dirty="0"/>
          </a:p>
        </p:txBody>
      </p:sp>
      <p:sp>
        <p:nvSpPr>
          <p:cNvPr id="7" name="text-146"/>
          <p:cNvSpPr txBox="1"/>
          <p:nvPr/>
        </p:nvSpPr>
        <p:spPr>
          <a:xfrm>
            <a:off x="548640" y="6720840"/>
            <a:ext cx="6464808" cy="640080"/>
          </a:xfrm>
          <a:prstGeom prst="rect">
            <a:avLst/>
          </a:prstGeom>
          <a:noFill/>
          <a:ln/>
        </p:spPr>
        <p:txBody>
          <a:bodyPr wrap="square" lIns="0" tIns="0" rIns="0" bIns="0" rtlCol="0" anchor="t"/>
          <a:lstStyle/>
          <a:p>
            <a:pPr indent="0" marL="0">
              <a:lnSpc>
                <a:spcPct val="110000"/>
              </a:lnSpc>
              <a:buNone/>
            </a:pPr>
            <a:r>
              <a:rPr lang="en-US" sz="1500" i="1" dirty="0">
                <a:solidFill>
                  <a:schemeClr val="tx1"/>
                </a:solidFill>
                <a:latin typeface="+mj-lt" pitchFamily="34" charset="0"/>
                <a:ea typeface="+mj-lt" pitchFamily="34" charset="-122"/>
                <a:cs typeface="+mj-lt" pitchFamily="34" charset="-120"/>
              </a:rPr>
              <a:t>Designed not just to survive the polar night, but to make life here warm, healthy and sustainable.</a:t>
            </a:r>
            <a:endParaRPr lang="en-US" sz="1500" dirty="0"/>
          </a:p>
        </p:txBody>
      </p:sp>
      <p:sp>
        <p:nvSpPr>
          <p:cNvPr id="8" name="text-147"/>
          <p:cNvSpPr txBox="1"/>
          <p:nvPr/>
        </p:nvSpPr>
        <p:spPr>
          <a:xfrm>
            <a:off x="548640" y="7543800"/>
            <a:ext cx="3095244" cy="2468880"/>
          </a:xfrm>
          <a:prstGeom prst="rect">
            <a:avLst/>
          </a:prstGeom>
          <a:noFill/>
          <a:ln/>
        </p:spPr>
        <p:txBody>
          <a:bodyPr wrap="square" lIns="0" tIns="0" rIns="0" bIns="0" rtlCol="0" anchor="t"/>
          <a:lstStyle/>
          <a:p>
            <a:pPr indent="0" marL="0">
              <a:lnSpc>
                <a:spcPct val="112000"/>
              </a:lnSpc>
              <a:buNone/>
            </a:pPr>
            <a:r>
              <a:rPr lang="en-US" sz="1050" b="1" spc="100" kern="0" dirty="0">
                <a:solidFill>
                  <a:schemeClr val="tx1"/>
                </a:solidFill>
              </a:rPr>
              <a:t>AURORA HAVEN IS </a:t>
            </a:r>
            <a:pPr indent="0" marL="0">
              <a:lnSpc>
                <a:spcPct val="112000"/>
              </a:lnSpc>
              <a:spcAft>
                <a:spcPts val="700"/>
              </a:spcAft>
              <a:buNone/>
            </a:pPr>
            <a:r>
              <a:rPr lang="en-US" sz="1050" dirty="0">
                <a:solidFill>
                  <a:schemeClr val="tx1"/>
                </a:solidFill>
              </a:rPr>
              <a:t>a compact polar city of around 45,000 people, built on a frozen tundra plateau beneath the snow peak of Mount Aurora. Winters fall to −45 °C, the sun disappears for two months of polar night, and almost nothing can grow.</a:t>
            </a:r>
            <a:endParaRPr lang="en-US" sz="1050" dirty="0"/>
          </a:p>
        </p:txBody>
      </p:sp>
      <p:sp>
        <p:nvSpPr>
          <p:cNvPr id="9" name="text-148"/>
          <p:cNvSpPr txBox="1"/>
          <p:nvPr/>
        </p:nvSpPr>
        <p:spPr>
          <a:xfrm>
            <a:off x="3918204" y="7543800"/>
            <a:ext cx="3095244" cy="2514600"/>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The whole city is shaped around one idea: heat, energy, water and food should never be wasted. Every building shares a single heating network, the city runs on zero-carbon energy, and nearly all of its water and waste is recycled.</a:t>
            </a:r>
            <a:endParaRPr lang="en-US" sz="1050" dirty="0"/>
          </a:p>
          <a:p>
            <a:pPr indent="0" marL="0">
              <a:lnSpc>
                <a:spcPct val="112000"/>
              </a:lnSpc>
              <a:spcAft>
                <a:spcPts val="700"/>
              </a:spcAft>
              <a:buNone/>
            </a:pPr>
            <a:r>
              <a:rPr lang="en-US" sz="1050" dirty="0">
                <a:solidFill>
                  <a:schemeClr val="tx1"/>
                </a:solidFill>
              </a:rPr>
              <a:t>Homes, schools, healthcare, shops and parks sit within a short walk of each other, connected by a downtown metro, electric trams and heated streets.</a:t>
            </a:r>
            <a:endParaRPr lang="en-US" sz="1050" dirty="0"/>
          </a:p>
        </p:txBody>
      </p:sp>
      <p:sp>
        <p:nvSpPr>
          <p:cNvPr id="10" name="page-number"/>
          <p:cNvSpPr txBox="1"/>
          <p:nvPr/>
        </p:nvSpPr>
        <p:spPr>
          <a:xfrm>
            <a:off x="548640" y="10177272"/>
            <a:ext cx="411480" cy="219456"/>
          </a:xfrm>
          <a:prstGeom prst="rect">
            <a:avLst/>
          </a:prstGeom>
          <a:noFill/>
          <a:ln/>
        </p:spPr>
        <p:txBody>
          <a:bodyPr wrap="square" lIns="0" tIns="0" rIns="0" bIns="0" rtlCol="0" anchor="ctr"/>
          <a:lstStyle/>
          <a:p>
            <a:pPr algn="l" indent="0" marL="0">
              <a:buNone/>
            </a:pPr>
            <a:r>
              <a:rPr lang="en-US" sz="900" b="1" dirty="0">
                <a:solidFill>
                  <a:schemeClr val="tx1"/>
                </a:solidFill>
              </a:rPr>
              <a:t>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picture-149" descr="/home/user/chatbox-bi-n-o/magazine/assets/renders/welcome_pano_R.jpg">    </p:cNvPr>
          <p:cNvPicPr>
            <a:picLocks noChangeAspect="1"/>
          </p:cNvPicPr>
          <p:nvPr/>
        </p:nvPicPr>
        <p:blipFill>
          <a:blip r:embed="rId1"/>
          <a:srcRect l="0" r="0" t="0" b="0"/>
          <a:stretch/>
        </p:blipFill>
        <p:spPr>
          <a:xfrm>
            <a:off x="0" y="0"/>
            <a:ext cx="7562088" cy="6400800"/>
          </a:xfrm>
          <a:prstGeom prst="rect">
            <a:avLst/>
          </a:prstGeom>
        </p:spPr>
      </p:pic>
      <p:pic>
        <p:nvPicPr>
          <p:cNvPr id="3" name="shade-bottom-150" descr="/home/user/chatbox-bi-n-o/magazine/assets/ui/shade_bottom.png">    </p:cNvPr>
          <p:cNvPicPr>
            <a:picLocks noChangeAspect="1"/>
          </p:cNvPicPr>
          <p:nvPr/>
        </p:nvPicPr>
        <p:blipFill>
          <a:blip r:embed="rId2"/>
          <a:stretch>
            <a:fillRect/>
          </a:stretch>
        </p:blipFill>
        <p:spPr>
          <a:xfrm>
            <a:off x="0" y="5212080"/>
            <a:ext cx="7562088" cy="1188720"/>
          </a:xfrm>
          <a:prstGeom prst="rect">
            <a:avLst/>
          </a:prstGeom>
        </p:spPr>
      </p:pic>
      <p:sp>
        <p:nvSpPr>
          <p:cNvPr id="4" name="text-151"/>
          <p:cNvSpPr txBox="1"/>
          <p:nvPr/>
        </p:nvSpPr>
        <p:spPr>
          <a:xfrm>
            <a:off x="3172968" y="5833872"/>
            <a:ext cx="3840480" cy="411480"/>
          </a:xfrm>
          <a:prstGeom prst="rect">
            <a:avLst/>
          </a:prstGeom>
          <a:noFill/>
          <a:ln/>
        </p:spPr>
        <p:txBody>
          <a:bodyPr wrap="square" lIns="0" tIns="0" rIns="0" bIns="0" rtlCol="0" anchor="t"/>
          <a:lstStyle/>
          <a:p>
            <a:pPr algn="r" indent="0" marL="0">
              <a:buNone/>
            </a:pPr>
            <a:r>
              <a:rPr lang="en-US" sz="850" i="1" dirty="0">
                <a:solidFill>
                  <a:schemeClr val="bg1"/>
                </a:solidFill>
              </a:rPr>
              <a:t>Aurora Haven at dusk, seen from the south-east: the fusion station in front, downtown and Aurora 81 in the middle, the wind farm on the windy northern edge.</a:t>
            </a:r>
            <a:endParaRPr lang="en-US" sz="850" dirty="0"/>
          </a:p>
        </p:txBody>
      </p:sp>
      <p:sp>
        <p:nvSpPr>
          <p:cNvPr id="5" name="text-152"/>
          <p:cNvSpPr txBox="1"/>
          <p:nvPr/>
        </p:nvSpPr>
        <p:spPr>
          <a:xfrm>
            <a:off x="548640" y="6766560"/>
            <a:ext cx="3461004" cy="3291840"/>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What makes Aurora Haven special is its three signature districts. A fusion power station acts as the city’s own sun, giving steady power and heat even through the polar night. A Snow-to-Food &amp; Water Plant turns snow and air into clean drinking water and food, so the city can feed itself without farmland.</a:t>
            </a:r>
            <a:endParaRPr lang="en-US" sz="1050" dirty="0"/>
          </a:p>
          <a:p>
            <a:pPr indent="0" marL="0">
              <a:lnSpc>
                <a:spcPct val="112000"/>
              </a:lnSpc>
              <a:spcAft>
                <a:spcPts val="700"/>
              </a:spcAft>
              <a:buNone/>
            </a:pPr>
            <a:r>
              <a:rPr lang="en-US" sz="1050" dirty="0">
                <a:solidFill>
                  <a:schemeClr val="tx1"/>
                </a:solidFill>
              </a:rPr>
              <a:t>And inside Mount Aurora, a geothermal spa resort offers warmth, rest and a view of the northern lights. Together they form one closed loop that keeps the city powered, fed and happy in one of the harshest places on Earth.</a:t>
            </a:r>
            <a:endParaRPr lang="en-US" sz="1050" dirty="0"/>
          </a:p>
        </p:txBody>
      </p:sp>
      <p:sp>
        <p:nvSpPr>
          <p:cNvPr id="6" name="text-153"/>
          <p:cNvSpPr txBox="1"/>
          <p:nvPr/>
        </p:nvSpPr>
        <p:spPr>
          <a:xfrm>
            <a:off x="4421124" y="6675120"/>
            <a:ext cx="2592324" cy="403352"/>
          </a:xfrm>
          <a:prstGeom prst="rect">
            <a:avLst/>
          </a:prstGeom>
          <a:noFill/>
          <a:ln/>
        </p:spPr>
        <p:txBody>
          <a:bodyPr wrap="square" lIns="0" tIns="0" rIns="0" bIns="0" rtlCol="0" anchor="b"/>
          <a:lstStyle/>
          <a:p>
            <a:pPr indent="0" marL="0">
              <a:buNone/>
            </a:pPr>
            <a:r>
              <a:rPr lang="en-US" sz="2600" b="1" dirty="0">
                <a:solidFill>
                  <a:schemeClr val="accent6"/>
                </a:solidFill>
                <a:latin typeface="+mj-lt" pitchFamily="34" charset="0"/>
                <a:ea typeface="+mj-lt" pitchFamily="34" charset="-122"/>
                <a:cs typeface="+mj-lt" pitchFamily="34" charset="-120"/>
              </a:rPr>
              <a:t>45,000</a:t>
            </a:r>
            <a:endParaRPr lang="en-US" sz="2600" dirty="0"/>
          </a:p>
        </p:txBody>
      </p:sp>
      <p:sp>
        <p:nvSpPr>
          <p:cNvPr id="7" name="text-154"/>
          <p:cNvSpPr txBox="1"/>
          <p:nvPr/>
        </p:nvSpPr>
        <p:spPr>
          <a:xfrm>
            <a:off x="4421124" y="7105904"/>
            <a:ext cx="2592324" cy="22860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residents</a:t>
            </a:r>
            <a:endParaRPr lang="en-US" sz="900" dirty="0"/>
          </a:p>
        </p:txBody>
      </p:sp>
      <p:sp>
        <p:nvSpPr>
          <p:cNvPr id="8" name="text-155"/>
          <p:cNvSpPr txBox="1"/>
          <p:nvPr/>
        </p:nvSpPr>
        <p:spPr>
          <a:xfrm>
            <a:off x="4421124" y="7516368"/>
            <a:ext cx="2592324" cy="403352"/>
          </a:xfrm>
          <a:prstGeom prst="rect">
            <a:avLst/>
          </a:prstGeom>
          <a:noFill/>
          <a:ln/>
        </p:spPr>
        <p:txBody>
          <a:bodyPr wrap="square" lIns="0" tIns="0" rIns="0" bIns="0" rtlCol="0" anchor="b"/>
          <a:lstStyle/>
          <a:p>
            <a:pPr indent="0" marL="0">
              <a:buNone/>
            </a:pPr>
            <a:r>
              <a:rPr lang="en-US" sz="2600" b="1" dirty="0">
                <a:solidFill>
                  <a:schemeClr val="accent6"/>
                </a:solidFill>
                <a:latin typeface="+mj-lt" pitchFamily="34" charset="0"/>
                <a:ea typeface="+mj-lt" pitchFamily="34" charset="-122"/>
                <a:cs typeface="+mj-lt" pitchFamily="34" charset="-120"/>
              </a:rPr>
              <a:t>−45 °C</a:t>
            </a:r>
            <a:endParaRPr lang="en-US" sz="2600" dirty="0"/>
          </a:p>
        </p:txBody>
      </p:sp>
      <p:sp>
        <p:nvSpPr>
          <p:cNvPr id="9" name="text-156"/>
          <p:cNvSpPr txBox="1"/>
          <p:nvPr/>
        </p:nvSpPr>
        <p:spPr>
          <a:xfrm>
            <a:off x="4421124" y="7947152"/>
            <a:ext cx="2592324" cy="22860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winter lows</a:t>
            </a:r>
            <a:endParaRPr lang="en-US" sz="900" dirty="0"/>
          </a:p>
        </p:txBody>
      </p:sp>
      <p:sp>
        <p:nvSpPr>
          <p:cNvPr id="10" name="text-157"/>
          <p:cNvSpPr txBox="1"/>
          <p:nvPr/>
        </p:nvSpPr>
        <p:spPr>
          <a:xfrm>
            <a:off x="4421124" y="8357616"/>
            <a:ext cx="2592324" cy="403352"/>
          </a:xfrm>
          <a:prstGeom prst="rect">
            <a:avLst/>
          </a:prstGeom>
          <a:noFill/>
          <a:ln/>
        </p:spPr>
        <p:txBody>
          <a:bodyPr wrap="square" lIns="0" tIns="0" rIns="0" bIns="0" rtlCol="0" anchor="b"/>
          <a:lstStyle/>
          <a:p>
            <a:pPr indent="0" marL="0">
              <a:buNone/>
            </a:pPr>
            <a:r>
              <a:rPr lang="en-US" sz="2600" b="1" dirty="0">
                <a:solidFill>
                  <a:schemeClr val="accent6"/>
                </a:solidFill>
                <a:latin typeface="+mj-lt" pitchFamily="34" charset="0"/>
                <a:ea typeface="+mj-lt" pitchFamily="34" charset="-122"/>
                <a:cs typeface="+mj-lt" pitchFamily="34" charset="-120"/>
              </a:rPr>
              <a:t>35 m</a:t>
            </a:r>
            <a:endParaRPr lang="en-US" sz="2600" dirty="0"/>
          </a:p>
        </p:txBody>
      </p:sp>
      <p:sp>
        <p:nvSpPr>
          <p:cNvPr id="11" name="text-158"/>
          <p:cNvSpPr txBox="1"/>
          <p:nvPr/>
        </p:nvSpPr>
        <p:spPr>
          <a:xfrm>
            <a:off x="4421124" y="8788400"/>
            <a:ext cx="2592324" cy="22860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Mount Aurora, the snow peak</a:t>
            </a:r>
            <a:endParaRPr lang="en-US" sz="900" dirty="0"/>
          </a:p>
        </p:txBody>
      </p:sp>
      <p:sp>
        <p:nvSpPr>
          <p:cNvPr id="12" name="text-159"/>
          <p:cNvSpPr txBox="1"/>
          <p:nvPr/>
        </p:nvSpPr>
        <p:spPr>
          <a:xfrm>
            <a:off x="4421124" y="9198864"/>
            <a:ext cx="2592324" cy="403352"/>
          </a:xfrm>
          <a:prstGeom prst="rect">
            <a:avLst/>
          </a:prstGeom>
          <a:noFill/>
          <a:ln/>
        </p:spPr>
        <p:txBody>
          <a:bodyPr wrap="square" lIns="0" tIns="0" rIns="0" bIns="0" rtlCol="0" anchor="b"/>
          <a:lstStyle/>
          <a:p>
            <a:pPr indent="0" marL="0">
              <a:buNone/>
            </a:pPr>
            <a:r>
              <a:rPr lang="en-US" sz="2600" b="1" dirty="0">
                <a:solidFill>
                  <a:schemeClr val="accent6"/>
                </a:solidFill>
                <a:latin typeface="+mj-lt" pitchFamily="34" charset="0"/>
                <a:ea typeface="+mj-lt" pitchFamily="34" charset="-122"/>
                <a:cs typeface="+mj-lt" pitchFamily="34" charset="-120"/>
              </a:rPr>
              <a:t>10 min</a:t>
            </a:r>
            <a:endParaRPr lang="en-US" sz="2600" dirty="0"/>
          </a:p>
        </p:txBody>
      </p:sp>
      <p:sp>
        <p:nvSpPr>
          <p:cNvPr id="13" name="text-160"/>
          <p:cNvSpPr txBox="1"/>
          <p:nvPr/>
        </p:nvSpPr>
        <p:spPr>
          <a:xfrm>
            <a:off x="4421124" y="9629648"/>
            <a:ext cx="2592324" cy="22860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walk to daily needs</a:t>
            </a:r>
            <a:endParaRPr lang="en-US" sz="900" dirty="0"/>
          </a:p>
        </p:txBody>
      </p:sp>
      <p:sp>
        <p:nvSpPr>
          <p:cNvPr id="14" name="page-number"/>
          <p:cNvSpPr txBox="1"/>
          <p:nvPr/>
        </p:nvSpPr>
        <p:spPr>
          <a:xfrm>
            <a:off x="6601968" y="10177272"/>
            <a:ext cx="411480" cy="219456"/>
          </a:xfrm>
          <a:prstGeom prst="rect">
            <a:avLst/>
          </a:prstGeom>
          <a:noFill/>
          <a:ln/>
        </p:spPr>
        <p:txBody>
          <a:bodyPr wrap="square" lIns="0" tIns="0" rIns="0" bIns="0" rtlCol="0" anchor="ctr"/>
          <a:lstStyle/>
          <a:p>
            <a:pPr algn="r" indent="0" marL="0">
              <a:buNone/>
            </a:pPr>
            <a:r>
              <a:rPr lang="en-US" sz="900" b="1" dirty="0">
                <a:solidFill>
                  <a:schemeClr val="tx1"/>
                </a:solidFill>
              </a:rPr>
              <a:t>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picture-161" descr="/home/user/chatbox-bi-n-o/magazine/assets/renders/storm.jpg">    </p:cNvPr>
          <p:cNvPicPr>
            <a:picLocks noChangeAspect="1"/>
          </p:cNvPicPr>
          <p:nvPr/>
        </p:nvPicPr>
        <p:blipFill>
          <a:blip r:embed="rId1"/>
          <a:srcRect l="0" r="0" t="0" b="0"/>
          <a:stretch/>
        </p:blipFill>
        <p:spPr>
          <a:xfrm>
            <a:off x="0" y="0"/>
            <a:ext cx="7562088" cy="5760720"/>
          </a:xfrm>
          <a:prstGeom prst="rect">
            <a:avLst/>
          </a:prstGeom>
        </p:spPr>
      </p:pic>
      <p:pic>
        <p:nvPicPr>
          <p:cNvPr id="3" name="shade-fade-162" descr="/home/user/chatbox-bi-n-o/magazine/assets/ui/fade_bottom.png">    </p:cNvPr>
          <p:cNvPicPr>
            <a:picLocks noChangeAspect="1"/>
          </p:cNvPicPr>
          <p:nvPr/>
        </p:nvPicPr>
        <p:blipFill>
          <a:blip r:embed="rId2"/>
          <a:stretch>
            <a:fillRect/>
          </a:stretch>
        </p:blipFill>
        <p:spPr>
          <a:xfrm>
            <a:off x="0" y="3566160"/>
            <a:ext cx="7562088" cy="2240280"/>
          </a:xfrm>
          <a:prstGeom prst="rect">
            <a:avLst/>
          </a:prstGeom>
        </p:spPr>
      </p:pic>
      <p:sp>
        <p:nvSpPr>
          <p:cNvPr id="4" name="kicker-dot-163"/>
          <p:cNvSpPr/>
          <p:nvPr/>
        </p:nvSpPr>
        <p:spPr>
          <a:xfrm>
            <a:off x="548640" y="4658868"/>
            <a:ext cx="100584" cy="100584"/>
          </a:xfrm>
          <a:prstGeom prst="ellipse">
            <a:avLst/>
          </a:prstGeom>
          <a:solidFill>
            <a:schemeClr val="accent1"/>
          </a:solidFill>
          <a:ln w="12700">
            <a:solidFill>
              <a:schemeClr val="accent1"/>
            </a:solidFill>
            <a:prstDash val="solid"/>
          </a:ln>
        </p:spPr>
      </p:sp>
      <p:sp>
        <p:nvSpPr>
          <p:cNvPr id="5" name="text-164"/>
          <p:cNvSpPr txBox="1"/>
          <p:nvPr/>
        </p:nvSpPr>
        <p:spPr>
          <a:xfrm>
            <a:off x="731520" y="4617720"/>
            <a:ext cx="5486400" cy="201168"/>
          </a:xfrm>
          <a:prstGeom prst="rect">
            <a:avLst/>
          </a:prstGeom>
          <a:noFill/>
          <a:ln/>
        </p:spPr>
        <p:txBody>
          <a:bodyPr wrap="square" lIns="0" tIns="0" rIns="0" bIns="0" rtlCol="0" anchor="t"/>
          <a:lstStyle/>
          <a:p>
            <a:pPr indent="0" marL="0">
              <a:buNone/>
            </a:pPr>
            <a:r>
              <a:rPr lang="en-US" sz="900" b="1" spc="300" kern="0" dirty="0">
                <a:solidFill>
                  <a:schemeClr val="bg1"/>
                </a:solidFill>
              </a:rPr>
              <a:t>THE PLACE</a:t>
            </a:r>
            <a:endParaRPr lang="en-US" sz="900" dirty="0"/>
          </a:p>
        </p:txBody>
      </p:sp>
      <p:sp>
        <p:nvSpPr>
          <p:cNvPr id="6" name="title-165"/>
          <p:cNvSpPr txBox="1"/>
          <p:nvPr/>
        </p:nvSpPr>
        <p:spPr>
          <a:xfrm>
            <a:off x="548640" y="4873752"/>
            <a:ext cx="6464808" cy="731520"/>
          </a:xfrm>
          <a:prstGeom prst="rect">
            <a:avLst/>
          </a:prstGeom>
          <a:noFill/>
          <a:ln/>
        </p:spPr>
        <p:txBody>
          <a:bodyPr wrap="square" lIns="0" tIns="0" rIns="0" bIns="0" rtlCol="0" anchor="t"/>
          <a:lstStyle/>
          <a:p>
            <a:pPr indent="0" marL="0">
              <a:lnSpc>
                <a:spcPct val="92000"/>
              </a:lnSpc>
              <a:buNone/>
            </a:pPr>
            <a:r>
              <a:rPr lang="en-US" sz="4400" b="1" dirty="0">
                <a:solidFill>
                  <a:schemeClr val="bg1"/>
                </a:solidFill>
                <a:latin typeface="+mj-lt" pitchFamily="34" charset="0"/>
                <a:ea typeface="+mj-lt" pitchFamily="34" charset="-122"/>
                <a:cs typeface="+mj-lt" pitchFamily="34" charset="-120"/>
              </a:rPr>
              <a:t>The Polar Challenge</a:t>
            </a:r>
            <a:endParaRPr lang="en-US" sz="4400" dirty="0"/>
          </a:p>
        </p:txBody>
      </p:sp>
      <p:sp>
        <p:nvSpPr>
          <p:cNvPr id="7" name="text-167"/>
          <p:cNvSpPr txBox="1"/>
          <p:nvPr/>
        </p:nvSpPr>
        <p:spPr>
          <a:xfrm>
            <a:off x="548640" y="5669280"/>
            <a:ext cx="6464808" cy="594360"/>
          </a:xfrm>
          <a:prstGeom prst="rect">
            <a:avLst/>
          </a:prstGeom>
          <a:noFill/>
          <a:ln/>
        </p:spPr>
        <p:txBody>
          <a:bodyPr wrap="square" lIns="0" tIns="0" rIns="0" bIns="0" rtlCol="0" anchor="t"/>
          <a:lstStyle/>
          <a:p>
            <a:pPr indent="0" marL="0">
              <a:lnSpc>
                <a:spcPct val="110000"/>
              </a:lnSpc>
              <a:buNone/>
            </a:pPr>
            <a:r>
              <a:rPr lang="en-US" sz="1500" i="1" dirty="0">
                <a:solidFill>
                  <a:schemeClr val="bg2"/>
                </a:solidFill>
                <a:latin typeface="+mj-lt" pitchFamily="34" charset="0"/>
                <a:ea typeface="+mj-lt" pitchFamily="34" charset="-122"/>
                <a:cs typeface="+mj-lt" pitchFamily="34" charset="-120"/>
              </a:rPr>
              <a:t>One of the hardest places on Earth to build a city, so every building had to answer one question.</a:t>
            </a:r>
            <a:endParaRPr lang="en-US" sz="1500" dirty="0"/>
          </a:p>
        </p:txBody>
      </p:sp>
      <p:sp>
        <p:nvSpPr>
          <p:cNvPr id="8" name="text-168"/>
          <p:cNvSpPr txBox="1"/>
          <p:nvPr/>
        </p:nvSpPr>
        <p:spPr>
          <a:xfrm>
            <a:off x="548640" y="6400800"/>
            <a:ext cx="3931920" cy="2651760"/>
          </a:xfrm>
          <a:prstGeom prst="rect">
            <a:avLst/>
          </a:prstGeom>
          <a:noFill/>
          <a:ln/>
        </p:spPr>
        <p:txBody>
          <a:bodyPr wrap="square" lIns="0" tIns="0" rIns="0" bIns="0" rtlCol="0" anchor="t"/>
          <a:lstStyle/>
          <a:p>
            <a:pPr indent="0" marL="0">
              <a:lnSpc>
                <a:spcPct val="112000"/>
              </a:lnSpc>
              <a:spcAft>
                <a:spcPts val="700"/>
              </a:spcAft>
              <a:buNone/>
            </a:pPr>
            <a:r>
              <a:rPr lang="en-US" sz="1000" dirty="0">
                <a:solidFill>
                  <a:schemeClr val="bg1"/>
                </a:solidFill>
              </a:rPr>
              <a:t>Aurora Haven sits in one of the hardest environments on Earth. In winter the temperature falls to minus 45 degrees. For about two months the sun never rises, as in Tromsø, Norway, which sees no sunrise from late November to mid-January [19]. Blizzards can reach 120 kilometres per hour.</a:t>
            </a:r>
            <a:endParaRPr lang="en-US" sz="1000" dirty="0"/>
          </a:p>
          <a:p>
            <a:pPr indent="0" marL="0">
              <a:lnSpc>
                <a:spcPct val="112000"/>
              </a:lnSpc>
              <a:spcAft>
                <a:spcPts val="700"/>
              </a:spcAft>
              <a:buNone/>
            </a:pPr>
            <a:r>
              <a:rPr lang="en-US" sz="1000" dirty="0">
                <a:solidFill>
                  <a:schemeClr val="bg1"/>
                </a:solidFill>
              </a:rPr>
              <a:t>The ground is permafrost, so a warm building can thaw it and crack its own foundations. Across the Arctic, about 70% of today’s buildings, roads and pipelines on permafrost stand where the ground could thaw by 2050 [2]. There is almost no farmland, and in deep winter supplies can only arrive by air.</a:t>
            </a:r>
            <a:endParaRPr lang="en-US" sz="1000" dirty="0"/>
          </a:p>
          <a:p>
            <a:pPr indent="0" marL="0">
              <a:lnSpc>
                <a:spcPct val="112000"/>
              </a:lnSpc>
              <a:spcAft>
                <a:spcPts val="700"/>
              </a:spcAft>
              <a:buNone/>
            </a:pPr>
            <a:r>
              <a:rPr lang="en-US" sz="1000" dirty="0">
                <a:solidFill>
                  <a:schemeClr val="bg1"/>
                </a:solidFill>
              </a:rPr>
              <a:t>So we asked one question about every building in the city:</a:t>
            </a:r>
            <a:endParaRPr lang="en-US" sz="1000" dirty="0"/>
          </a:p>
        </p:txBody>
      </p:sp>
      <p:sp>
        <p:nvSpPr>
          <p:cNvPr id="9" name="quote-rule-169"/>
          <p:cNvSpPr/>
          <p:nvPr/>
        </p:nvSpPr>
        <p:spPr>
          <a:xfrm>
            <a:off x="548640" y="8549640"/>
            <a:ext cx="548640" cy="45720"/>
          </a:xfrm>
          <a:prstGeom prst="rect">
            <a:avLst/>
          </a:prstGeom>
          <a:solidFill>
            <a:schemeClr val="accent1"/>
          </a:solidFill>
          <a:ln w="12700">
            <a:solidFill>
              <a:schemeClr val="accent1"/>
            </a:solidFill>
            <a:prstDash val="solid"/>
          </a:ln>
        </p:spPr>
      </p:sp>
      <p:sp>
        <p:nvSpPr>
          <p:cNvPr id="10" name="text-170"/>
          <p:cNvSpPr txBox="1"/>
          <p:nvPr/>
        </p:nvSpPr>
        <p:spPr>
          <a:xfrm>
            <a:off x="548640" y="8714232"/>
            <a:ext cx="3931920" cy="822960"/>
          </a:xfrm>
          <a:prstGeom prst="rect">
            <a:avLst/>
          </a:prstGeom>
          <a:noFill/>
          <a:ln/>
        </p:spPr>
        <p:txBody>
          <a:bodyPr wrap="square" lIns="0" tIns="0" rIns="0" bIns="0" rtlCol="0" anchor="t"/>
          <a:lstStyle/>
          <a:p>
            <a:pPr indent="0" marL="0">
              <a:lnSpc>
                <a:spcPct val="102000"/>
              </a:lnSpc>
              <a:buNone/>
            </a:pPr>
            <a:r>
              <a:rPr lang="en-US" sz="1700" b="1" i="1" dirty="0">
                <a:solidFill>
                  <a:schemeClr val="accent1"/>
                </a:solidFill>
                <a:latin typeface="+mj-lt" pitchFamily="34" charset="0"/>
                <a:ea typeface="+mj-lt" pitchFamily="34" charset="-122"/>
                <a:cs typeface="+mj-lt" pitchFamily="34" charset="-120"/>
              </a:rPr>
              <a:t>“How does it help people stay warm, fed, safe and happy here?”</a:t>
            </a:r>
            <a:endParaRPr lang="en-US" sz="1700" dirty="0"/>
          </a:p>
        </p:txBody>
      </p:sp>
      <p:sp>
        <p:nvSpPr>
          <p:cNvPr id="11" name="text-171"/>
          <p:cNvSpPr txBox="1"/>
          <p:nvPr/>
        </p:nvSpPr>
        <p:spPr>
          <a:xfrm>
            <a:off x="4846320" y="6355080"/>
            <a:ext cx="2167128" cy="377952"/>
          </a:xfrm>
          <a:prstGeom prst="rect">
            <a:avLst/>
          </a:prstGeom>
          <a:noFill/>
          <a:ln/>
        </p:spPr>
        <p:txBody>
          <a:bodyPr wrap="square" lIns="0" tIns="0" rIns="0" bIns="0" rtlCol="0" anchor="b"/>
          <a:lstStyle/>
          <a:p>
            <a:pPr indent="0" marL="0">
              <a:buNone/>
            </a:pPr>
            <a:r>
              <a:rPr lang="en-US" sz="2400" b="1" dirty="0">
                <a:solidFill>
                  <a:schemeClr val="accent1"/>
                </a:solidFill>
                <a:latin typeface="+mj-lt" pitchFamily="34" charset="0"/>
                <a:ea typeface="+mj-lt" pitchFamily="34" charset="-122"/>
                <a:cs typeface="+mj-lt" pitchFamily="34" charset="-120"/>
              </a:rPr>
              <a:t>−45 °C</a:t>
            </a:r>
            <a:endParaRPr lang="en-US" sz="2400" dirty="0"/>
          </a:p>
        </p:txBody>
      </p:sp>
      <p:sp>
        <p:nvSpPr>
          <p:cNvPr id="12" name="text-172"/>
          <p:cNvSpPr txBox="1"/>
          <p:nvPr/>
        </p:nvSpPr>
        <p:spPr>
          <a:xfrm>
            <a:off x="4846320" y="6760464"/>
            <a:ext cx="2167128" cy="36576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winter temperatures</a:t>
            </a:r>
            <a:endParaRPr lang="en-US" sz="900" dirty="0"/>
          </a:p>
        </p:txBody>
      </p:sp>
      <p:sp>
        <p:nvSpPr>
          <p:cNvPr id="13" name="text-173"/>
          <p:cNvSpPr txBox="1"/>
          <p:nvPr/>
        </p:nvSpPr>
        <p:spPr>
          <a:xfrm>
            <a:off x="4846320" y="7196328"/>
            <a:ext cx="2167128" cy="377952"/>
          </a:xfrm>
          <a:prstGeom prst="rect">
            <a:avLst/>
          </a:prstGeom>
          <a:noFill/>
          <a:ln/>
        </p:spPr>
        <p:txBody>
          <a:bodyPr wrap="square" lIns="0" tIns="0" rIns="0" bIns="0" rtlCol="0" anchor="b"/>
          <a:lstStyle/>
          <a:p>
            <a:pPr indent="0" marL="0">
              <a:buNone/>
            </a:pPr>
            <a:r>
              <a:rPr lang="en-US" sz="2400" b="1" dirty="0">
                <a:solidFill>
                  <a:schemeClr val="accent1"/>
                </a:solidFill>
                <a:latin typeface="+mj-lt" pitchFamily="34" charset="0"/>
                <a:ea typeface="+mj-lt" pitchFamily="34" charset="-122"/>
                <a:cs typeface="+mj-lt" pitchFamily="34" charset="-120"/>
              </a:rPr>
              <a:t>2 months</a:t>
            </a:r>
            <a:endParaRPr lang="en-US" sz="2400" dirty="0"/>
          </a:p>
        </p:txBody>
      </p:sp>
      <p:sp>
        <p:nvSpPr>
          <p:cNvPr id="14" name="text-174"/>
          <p:cNvSpPr txBox="1"/>
          <p:nvPr/>
        </p:nvSpPr>
        <p:spPr>
          <a:xfrm>
            <a:off x="4846320" y="7601712"/>
            <a:ext cx="2167128" cy="36576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of polar night, and two of midnight sun</a:t>
            </a:r>
            <a:endParaRPr lang="en-US" sz="900" dirty="0"/>
          </a:p>
        </p:txBody>
      </p:sp>
      <p:sp>
        <p:nvSpPr>
          <p:cNvPr id="15" name="text-175"/>
          <p:cNvSpPr txBox="1"/>
          <p:nvPr/>
        </p:nvSpPr>
        <p:spPr>
          <a:xfrm>
            <a:off x="4846320" y="8037576"/>
            <a:ext cx="2167128" cy="377952"/>
          </a:xfrm>
          <a:prstGeom prst="rect">
            <a:avLst/>
          </a:prstGeom>
          <a:noFill/>
          <a:ln/>
        </p:spPr>
        <p:txBody>
          <a:bodyPr wrap="square" lIns="0" tIns="0" rIns="0" bIns="0" rtlCol="0" anchor="b"/>
          <a:lstStyle/>
          <a:p>
            <a:pPr indent="0" marL="0">
              <a:buNone/>
            </a:pPr>
            <a:r>
              <a:rPr lang="en-US" sz="2400" b="1" dirty="0">
                <a:solidFill>
                  <a:schemeClr val="accent1"/>
                </a:solidFill>
                <a:latin typeface="+mj-lt" pitchFamily="34" charset="0"/>
                <a:ea typeface="+mj-lt" pitchFamily="34" charset="-122"/>
                <a:cs typeface="+mj-lt" pitchFamily="34" charset="-120"/>
              </a:rPr>
              <a:t>120 km/h</a:t>
            </a:r>
            <a:endParaRPr lang="en-US" sz="2400" dirty="0"/>
          </a:p>
        </p:txBody>
      </p:sp>
      <p:sp>
        <p:nvSpPr>
          <p:cNvPr id="16" name="text-176"/>
          <p:cNvSpPr txBox="1"/>
          <p:nvPr/>
        </p:nvSpPr>
        <p:spPr>
          <a:xfrm>
            <a:off x="4846320" y="8442960"/>
            <a:ext cx="2167128" cy="36576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blizzards</a:t>
            </a:r>
            <a:endParaRPr lang="en-US" sz="900" dirty="0"/>
          </a:p>
        </p:txBody>
      </p:sp>
      <p:sp>
        <p:nvSpPr>
          <p:cNvPr id="17" name="text-177"/>
          <p:cNvSpPr txBox="1"/>
          <p:nvPr/>
        </p:nvSpPr>
        <p:spPr>
          <a:xfrm>
            <a:off x="4846320" y="8878824"/>
            <a:ext cx="2167128" cy="377952"/>
          </a:xfrm>
          <a:prstGeom prst="rect">
            <a:avLst/>
          </a:prstGeom>
          <a:noFill/>
          <a:ln/>
        </p:spPr>
        <p:txBody>
          <a:bodyPr wrap="square" lIns="0" tIns="0" rIns="0" bIns="0" rtlCol="0" anchor="b"/>
          <a:lstStyle/>
          <a:p>
            <a:pPr indent="0" marL="0">
              <a:buNone/>
            </a:pPr>
            <a:r>
              <a:rPr lang="en-US" sz="2400" b="1" dirty="0">
                <a:solidFill>
                  <a:schemeClr val="accent1"/>
                </a:solidFill>
                <a:latin typeface="+mj-lt" pitchFamily="34" charset="0"/>
                <a:ea typeface="+mj-lt" pitchFamily="34" charset="-122"/>
                <a:cs typeface="+mj-lt" pitchFamily="34" charset="-120"/>
              </a:rPr>
              <a:t>≈4×</a:t>
            </a:r>
            <a:endParaRPr lang="en-US" sz="2400" dirty="0"/>
          </a:p>
        </p:txBody>
      </p:sp>
      <p:sp>
        <p:nvSpPr>
          <p:cNvPr id="18" name="text-178"/>
          <p:cNvSpPr txBox="1"/>
          <p:nvPr/>
        </p:nvSpPr>
        <p:spPr>
          <a:xfrm>
            <a:off x="4846320" y="9284208"/>
            <a:ext cx="2167128" cy="36576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faster warming in the Arctic than the world since 1979 [1]</a:t>
            </a:r>
            <a:endParaRPr lang="en-US" sz="900" dirty="0"/>
          </a:p>
        </p:txBody>
      </p:sp>
      <p:sp>
        <p:nvSpPr>
          <p:cNvPr id="19" name="text-179"/>
          <p:cNvSpPr txBox="1"/>
          <p:nvPr/>
        </p:nvSpPr>
        <p:spPr>
          <a:xfrm>
            <a:off x="4846320" y="9738360"/>
            <a:ext cx="2167128" cy="411480"/>
          </a:xfrm>
          <a:prstGeom prst="rect">
            <a:avLst/>
          </a:prstGeom>
          <a:noFill/>
          <a:ln/>
        </p:spPr>
        <p:txBody>
          <a:bodyPr wrap="square" lIns="0" tIns="0" rIns="0" bIns="0" rtlCol="0" anchor="t"/>
          <a:lstStyle/>
          <a:p>
            <a:pPr indent="0" marL="0">
              <a:buNone/>
            </a:pPr>
            <a:r>
              <a:rPr lang="en-US" sz="850" i="1" dirty="0">
                <a:solidFill>
                  <a:schemeClr val="bg2"/>
                </a:solidFill>
              </a:rPr>
              <a:t>A blizzard sweeps past the snowbreak pines towards the Ice-Proof Wind Farm on the windy northern edge.</a:t>
            </a:r>
            <a:endParaRPr lang="en-US" sz="850" dirty="0"/>
          </a:p>
        </p:txBody>
      </p:sp>
      <p:sp>
        <p:nvSpPr>
          <p:cNvPr id="20" name="page-number"/>
          <p:cNvSpPr txBox="1"/>
          <p:nvPr/>
        </p:nvSpPr>
        <p:spPr>
          <a:xfrm>
            <a:off x="548640" y="10177272"/>
            <a:ext cx="411480" cy="219456"/>
          </a:xfrm>
          <a:prstGeom prst="rect">
            <a:avLst/>
          </a:prstGeom>
          <a:noFill/>
          <a:ln/>
        </p:spPr>
        <p:txBody>
          <a:bodyPr wrap="square" lIns="0" tIns="0" rIns="0" bIns="0" rtlCol="0" anchor="ctr"/>
          <a:lstStyle/>
          <a:p>
            <a:pPr algn="l" indent="0" marL="0">
              <a:buNone/>
            </a:pPr>
            <a:r>
              <a:rPr lang="en-US" sz="900" b="1" dirty="0">
                <a:solidFill>
                  <a:schemeClr val="bg1"/>
                </a:solidFill>
              </a:rPr>
              <a:t>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picture-180" descr="/home/user/chatbox-bi-n-o/magazine/assets/renders/principles.jpg">    </p:cNvPr>
          <p:cNvPicPr>
            <a:picLocks noChangeAspect="1"/>
          </p:cNvPicPr>
          <p:nvPr/>
        </p:nvPicPr>
        <p:blipFill>
          <a:blip r:embed="rId1"/>
          <a:srcRect l="0" r="0" t="0" b="0"/>
          <a:stretch/>
        </p:blipFill>
        <p:spPr>
          <a:xfrm>
            <a:off x="0" y="0"/>
            <a:ext cx="7562088" cy="2651760"/>
          </a:xfrm>
          <a:prstGeom prst="rect">
            <a:avLst/>
          </a:prstGeom>
        </p:spPr>
      </p:pic>
      <p:sp>
        <p:nvSpPr>
          <p:cNvPr id="3" name="text-181"/>
          <p:cNvSpPr txBox="1"/>
          <p:nvPr/>
        </p:nvSpPr>
        <p:spPr>
          <a:xfrm>
            <a:off x="548640" y="2697480"/>
            <a:ext cx="6464808" cy="201168"/>
          </a:xfrm>
          <a:prstGeom prst="rect">
            <a:avLst/>
          </a:prstGeom>
          <a:noFill/>
          <a:ln/>
        </p:spPr>
        <p:txBody>
          <a:bodyPr wrap="square" lIns="0" tIns="0" rIns="0" bIns="0" rtlCol="0" anchor="t"/>
          <a:lstStyle/>
          <a:p>
            <a:pPr indent="0" marL="0">
              <a:buNone/>
            </a:pPr>
            <a:r>
              <a:rPr lang="en-US" sz="850" i="1" dirty="0">
                <a:solidFill>
                  <a:schemeClr val="tx2"/>
                </a:solidFill>
              </a:rPr>
              <a:t>Downtown in the low sun, with Aurora 81, the food plant silos and Mount Aurora behind.</a:t>
            </a:r>
            <a:endParaRPr lang="en-US" sz="850" dirty="0"/>
          </a:p>
        </p:txBody>
      </p:sp>
      <p:sp>
        <p:nvSpPr>
          <p:cNvPr id="4" name="kicker-dot-182"/>
          <p:cNvSpPr/>
          <p:nvPr/>
        </p:nvSpPr>
        <p:spPr>
          <a:xfrm>
            <a:off x="548640" y="3058668"/>
            <a:ext cx="100584" cy="100584"/>
          </a:xfrm>
          <a:prstGeom prst="ellipse">
            <a:avLst/>
          </a:prstGeom>
          <a:solidFill>
            <a:schemeClr val="accent6"/>
          </a:solidFill>
          <a:ln w="12700">
            <a:solidFill>
              <a:schemeClr val="accent6"/>
            </a:solidFill>
            <a:prstDash val="solid"/>
          </a:ln>
        </p:spPr>
      </p:sp>
      <p:sp>
        <p:nvSpPr>
          <p:cNvPr id="5" name="text-183"/>
          <p:cNvSpPr txBox="1"/>
          <p:nvPr/>
        </p:nvSpPr>
        <p:spPr>
          <a:xfrm>
            <a:off x="731520" y="3017520"/>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THE VISION</a:t>
            </a:r>
            <a:endParaRPr lang="en-US" sz="900" dirty="0"/>
          </a:p>
        </p:txBody>
      </p:sp>
      <p:sp>
        <p:nvSpPr>
          <p:cNvPr id="6" name="title-184"/>
          <p:cNvSpPr txBox="1"/>
          <p:nvPr/>
        </p:nvSpPr>
        <p:spPr>
          <a:xfrm>
            <a:off x="548640" y="3264408"/>
            <a:ext cx="6464808" cy="640080"/>
          </a:xfrm>
          <a:prstGeom prst="rect">
            <a:avLst/>
          </a:prstGeom>
          <a:noFill/>
          <a:ln/>
        </p:spPr>
        <p:txBody>
          <a:bodyPr wrap="square" lIns="0" tIns="0" rIns="0" bIns="0" rtlCol="0" anchor="t"/>
          <a:lstStyle/>
          <a:p>
            <a:pPr indent="0" marL="0">
              <a:lnSpc>
                <a:spcPct val="92000"/>
              </a:lnSpc>
              <a:buNone/>
            </a:pPr>
            <a:r>
              <a:rPr lang="en-US" sz="3400" b="1" dirty="0">
                <a:solidFill>
                  <a:schemeClr val="tx1"/>
                </a:solidFill>
                <a:latin typeface="+mj-lt" pitchFamily="34" charset="0"/>
                <a:ea typeface="+mj-lt" pitchFamily="34" charset="-122"/>
                <a:cs typeface="+mj-lt" pitchFamily="34" charset="-120"/>
              </a:rPr>
              <a:t>Our Vision &amp; Mission</a:t>
            </a:r>
            <a:endParaRPr lang="en-US" sz="3400" dirty="0"/>
          </a:p>
        </p:txBody>
      </p:sp>
      <p:sp>
        <p:nvSpPr>
          <p:cNvPr id="7" name="text-186"/>
          <p:cNvSpPr txBox="1"/>
          <p:nvPr/>
        </p:nvSpPr>
        <p:spPr>
          <a:xfrm>
            <a:off x="548640" y="4005072"/>
            <a:ext cx="6464808" cy="777240"/>
          </a:xfrm>
          <a:prstGeom prst="rect">
            <a:avLst/>
          </a:prstGeom>
          <a:noFill/>
          <a:ln/>
        </p:spPr>
        <p:txBody>
          <a:bodyPr wrap="square" lIns="0" tIns="0" rIns="0" bIns="0" rtlCol="0" anchor="t"/>
          <a:lstStyle/>
          <a:p>
            <a:pPr indent="0" marL="0">
              <a:lnSpc>
                <a:spcPct val="102000"/>
              </a:lnSpc>
              <a:buNone/>
            </a:pPr>
            <a:r>
              <a:rPr lang="en-US" sz="1550" b="1" i="1" dirty="0">
                <a:solidFill>
                  <a:schemeClr val="accent6"/>
                </a:solidFill>
                <a:latin typeface="+mj-lt" pitchFamily="34" charset="0"/>
                <a:ea typeface="+mj-lt" pitchFamily="34" charset="-122"/>
                <a:cs typeface="+mj-lt" pitchFamily="34" charset="-120"/>
              </a:rPr>
              <a:t>Our mission: a zero-carbon city where 45,000 people stay warm, fed, safe and happy through the polar night, without harming the tundra.</a:t>
            </a:r>
            <a:endParaRPr lang="en-US" sz="1550" dirty="0"/>
          </a:p>
        </p:txBody>
      </p:sp>
      <p:sp>
        <p:nvSpPr>
          <p:cNvPr id="8" name="text-187"/>
          <p:cNvSpPr txBox="1"/>
          <p:nvPr/>
        </p:nvSpPr>
        <p:spPr>
          <a:xfrm>
            <a:off x="548640" y="4983480"/>
            <a:ext cx="6464808" cy="201168"/>
          </a:xfrm>
          <a:prstGeom prst="rect">
            <a:avLst/>
          </a:prstGeom>
          <a:noFill/>
          <a:ln/>
        </p:spPr>
        <p:txBody>
          <a:bodyPr wrap="square" lIns="0" tIns="0" rIns="0" bIns="0" rtlCol="0" anchor="t"/>
          <a:lstStyle/>
          <a:p>
            <a:pPr indent="0" marL="0">
              <a:buNone/>
            </a:pPr>
            <a:r>
              <a:rPr lang="en-US" sz="900" b="1" spc="300" kern="0" dirty="0">
                <a:solidFill>
                  <a:schemeClr val="tx2"/>
                </a:solidFill>
              </a:rPr>
              <a:t>THE PEOPLE AND PLACES AT RISK</a:t>
            </a:r>
            <a:endParaRPr lang="en-US" sz="900" dirty="0"/>
          </a:p>
        </p:txBody>
      </p:sp>
      <p:sp>
        <p:nvSpPr>
          <p:cNvPr id="9" name="card-188"/>
          <p:cNvSpPr/>
          <p:nvPr/>
        </p:nvSpPr>
        <p:spPr>
          <a:xfrm>
            <a:off x="548640" y="5257800"/>
            <a:ext cx="3140964" cy="1024128"/>
          </a:xfrm>
          <a:prstGeom prst="roundRect">
            <a:avLst>
              <a:gd name="adj" fmla="val 7143"/>
            </a:avLst>
          </a:prstGeom>
          <a:solidFill>
            <a:schemeClr val="bg2"/>
          </a:solidFill>
          <a:ln w="12700">
            <a:solidFill>
              <a:schemeClr val="bg2"/>
            </a:solidFill>
            <a:prstDash val="solid"/>
          </a:ln>
        </p:spPr>
      </p:sp>
      <p:sp>
        <p:nvSpPr>
          <p:cNvPr id="10" name="text-189"/>
          <p:cNvSpPr txBox="1"/>
          <p:nvPr/>
        </p:nvSpPr>
        <p:spPr>
          <a:xfrm>
            <a:off x="685800" y="5349240"/>
            <a:ext cx="2866644" cy="219456"/>
          </a:xfrm>
          <a:prstGeom prst="rect">
            <a:avLst/>
          </a:prstGeom>
          <a:noFill/>
          <a:ln/>
        </p:spPr>
        <p:txBody>
          <a:bodyPr wrap="square" lIns="0" tIns="0" rIns="0" bIns="0" rtlCol="0" anchor="t"/>
          <a:lstStyle/>
          <a:p>
            <a:pPr indent="0" marL="0">
              <a:buNone/>
            </a:pPr>
            <a:r>
              <a:rPr lang="en-US" sz="1200" b="1" dirty="0">
                <a:solidFill>
                  <a:schemeClr val="accent6"/>
                </a:solidFill>
                <a:latin typeface="+mj-lt" pitchFamily="34" charset="0"/>
                <a:ea typeface="+mj-lt" pitchFamily="34" charset="-122"/>
                <a:cs typeface="+mj-lt" pitchFamily="34" charset="-120"/>
              </a:rPr>
              <a:t>45,000 residents</a:t>
            </a:r>
            <a:endParaRPr lang="en-US" sz="1200" dirty="0"/>
          </a:p>
        </p:txBody>
      </p:sp>
      <p:sp>
        <p:nvSpPr>
          <p:cNvPr id="11" name="text-190"/>
          <p:cNvSpPr txBox="1"/>
          <p:nvPr/>
        </p:nvSpPr>
        <p:spPr>
          <a:xfrm>
            <a:off x="685800" y="5605272"/>
            <a:ext cx="2866644" cy="640080"/>
          </a:xfrm>
          <a:prstGeom prst="rect">
            <a:avLst/>
          </a:prstGeom>
          <a:noFill/>
          <a:ln/>
        </p:spPr>
        <p:txBody>
          <a:bodyPr wrap="square" lIns="0" tIns="0" rIns="0" bIns="0" rtlCol="0" anchor="t"/>
          <a:lstStyle/>
          <a:p>
            <a:pPr indent="0" marL="0">
              <a:lnSpc>
                <a:spcPct val="104000"/>
              </a:lnSpc>
              <a:buNone/>
            </a:pPr>
            <a:r>
              <a:rPr lang="en-US" sz="900" dirty="0">
                <a:solidFill>
                  <a:schemeClr val="tx1"/>
                </a:solidFill>
              </a:rPr>
              <a:t>Families, children, older people and shift workers face −45 °C, two months without sun and 120 km/h blizzards every winter.</a:t>
            </a:r>
            <a:endParaRPr lang="en-US" sz="900" dirty="0"/>
          </a:p>
        </p:txBody>
      </p:sp>
      <p:sp>
        <p:nvSpPr>
          <p:cNvPr id="12" name="card-191"/>
          <p:cNvSpPr/>
          <p:nvPr/>
        </p:nvSpPr>
        <p:spPr>
          <a:xfrm>
            <a:off x="3872484" y="5257800"/>
            <a:ext cx="3140964" cy="1024128"/>
          </a:xfrm>
          <a:prstGeom prst="roundRect">
            <a:avLst>
              <a:gd name="adj" fmla="val 7143"/>
            </a:avLst>
          </a:prstGeom>
          <a:solidFill>
            <a:schemeClr val="bg2"/>
          </a:solidFill>
          <a:ln w="12700">
            <a:solidFill>
              <a:schemeClr val="bg2"/>
            </a:solidFill>
            <a:prstDash val="solid"/>
          </a:ln>
        </p:spPr>
      </p:sp>
      <p:sp>
        <p:nvSpPr>
          <p:cNvPr id="13" name="text-192"/>
          <p:cNvSpPr txBox="1"/>
          <p:nvPr/>
        </p:nvSpPr>
        <p:spPr>
          <a:xfrm>
            <a:off x="4009644" y="5349240"/>
            <a:ext cx="2866644" cy="219456"/>
          </a:xfrm>
          <a:prstGeom prst="rect">
            <a:avLst/>
          </a:prstGeom>
          <a:noFill/>
          <a:ln/>
        </p:spPr>
        <p:txBody>
          <a:bodyPr wrap="square" lIns="0" tIns="0" rIns="0" bIns="0" rtlCol="0" anchor="t"/>
          <a:lstStyle/>
          <a:p>
            <a:pPr indent="0" marL="0">
              <a:buNone/>
            </a:pPr>
            <a:r>
              <a:rPr lang="en-US" sz="1200" b="1" dirty="0">
                <a:solidFill>
                  <a:schemeClr val="accent6"/>
                </a:solidFill>
                <a:latin typeface="+mj-lt" pitchFamily="34" charset="0"/>
                <a:ea typeface="+mj-lt" pitchFamily="34" charset="-122"/>
                <a:cs typeface="+mj-lt" pitchFamily="34" charset="-120"/>
              </a:rPr>
              <a:t>4 million Arctic people</a:t>
            </a:r>
            <a:endParaRPr lang="en-US" sz="1200" dirty="0"/>
          </a:p>
        </p:txBody>
      </p:sp>
      <p:sp>
        <p:nvSpPr>
          <p:cNvPr id="14" name="text-193"/>
          <p:cNvSpPr txBox="1"/>
          <p:nvPr/>
        </p:nvSpPr>
        <p:spPr>
          <a:xfrm>
            <a:off x="4009644" y="5605272"/>
            <a:ext cx="2866644" cy="640080"/>
          </a:xfrm>
          <a:prstGeom prst="rect">
            <a:avLst/>
          </a:prstGeom>
          <a:noFill/>
          <a:ln/>
        </p:spPr>
        <p:txBody>
          <a:bodyPr wrap="square" lIns="0" tIns="0" rIns="0" bIns="0" rtlCol="0" anchor="t"/>
          <a:lstStyle/>
          <a:p>
            <a:pPr indent="0" marL="0">
              <a:lnSpc>
                <a:spcPct val="104000"/>
              </a:lnSpc>
              <a:buNone/>
            </a:pPr>
            <a:r>
              <a:rPr lang="en-US" sz="900" dirty="0">
                <a:solidFill>
                  <a:schemeClr val="tx1"/>
                </a:solidFill>
              </a:rPr>
              <a:t>About 4 million people live in the Arctic today [3]. By 2050, nearly 4 million people may live where thawing ground can crack homes, roads and pipes [2].</a:t>
            </a:r>
            <a:endParaRPr lang="en-US" sz="900" dirty="0"/>
          </a:p>
        </p:txBody>
      </p:sp>
      <p:sp>
        <p:nvSpPr>
          <p:cNvPr id="15" name="card-194"/>
          <p:cNvSpPr/>
          <p:nvPr/>
        </p:nvSpPr>
        <p:spPr>
          <a:xfrm>
            <a:off x="548640" y="6373368"/>
            <a:ext cx="3140964" cy="1024128"/>
          </a:xfrm>
          <a:prstGeom prst="roundRect">
            <a:avLst>
              <a:gd name="adj" fmla="val 7143"/>
            </a:avLst>
          </a:prstGeom>
          <a:solidFill>
            <a:schemeClr val="bg2"/>
          </a:solidFill>
          <a:ln w="12700">
            <a:solidFill>
              <a:schemeClr val="bg2"/>
            </a:solidFill>
            <a:prstDash val="solid"/>
          </a:ln>
        </p:spPr>
      </p:sp>
      <p:sp>
        <p:nvSpPr>
          <p:cNvPr id="16" name="text-195"/>
          <p:cNvSpPr txBox="1"/>
          <p:nvPr/>
        </p:nvSpPr>
        <p:spPr>
          <a:xfrm>
            <a:off x="685800" y="6464808"/>
            <a:ext cx="2866644" cy="219456"/>
          </a:xfrm>
          <a:prstGeom prst="rect">
            <a:avLst/>
          </a:prstGeom>
          <a:noFill/>
          <a:ln/>
        </p:spPr>
        <p:txBody>
          <a:bodyPr wrap="square" lIns="0" tIns="0" rIns="0" bIns="0" rtlCol="0" anchor="t"/>
          <a:lstStyle/>
          <a:p>
            <a:pPr indent="0" marL="0">
              <a:buNone/>
            </a:pPr>
            <a:r>
              <a:rPr lang="en-US" sz="1200" b="1" dirty="0">
                <a:solidFill>
                  <a:schemeClr val="accent6"/>
                </a:solidFill>
                <a:latin typeface="+mj-lt" pitchFamily="34" charset="0"/>
                <a:ea typeface="+mj-lt" pitchFamily="34" charset="-122"/>
                <a:cs typeface="+mj-lt" pitchFamily="34" charset="-120"/>
              </a:rPr>
              <a:t>Supply chains</a:t>
            </a:r>
            <a:endParaRPr lang="en-US" sz="1200" dirty="0"/>
          </a:p>
        </p:txBody>
      </p:sp>
      <p:sp>
        <p:nvSpPr>
          <p:cNvPr id="17" name="text-196"/>
          <p:cNvSpPr txBox="1"/>
          <p:nvPr/>
        </p:nvSpPr>
        <p:spPr>
          <a:xfrm>
            <a:off x="685800" y="6720840"/>
            <a:ext cx="2866644" cy="640080"/>
          </a:xfrm>
          <a:prstGeom prst="rect">
            <a:avLst/>
          </a:prstGeom>
          <a:noFill/>
          <a:ln/>
        </p:spPr>
        <p:txBody>
          <a:bodyPr wrap="square" lIns="0" tIns="0" rIns="0" bIns="0" rtlCol="0" anchor="t"/>
          <a:lstStyle/>
          <a:p>
            <a:pPr indent="0" marL="0">
              <a:lnSpc>
                <a:spcPct val="104000"/>
              </a:lnSpc>
              <a:buNone/>
            </a:pPr>
            <a:r>
              <a:rPr lang="en-US" sz="900" dirty="0">
                <a:solidFill>
                  <a:schemeClr val="tx1"/>
                </a:solidFill>
              </a:rPr>
              <a:t>In deep winter, food, medicine and spare parts can only arrive by air, so one long storm can cut a city off.</a:t>
            </a:r>
            <a:endParaRPr lang="en-US" sz="900" dirty="0"/>
          </a:p>
        </p:txBody>
      </p:sp>
      <p:sp>
        <p:nvSpPr>
          <p:cNvPr id="18" name="card-197"/>
          <p:cNvSpPr/>
          <p:nvPr/>
        </p:nvSpPr>
        <p:spPr>
          <a:xfrm>
            <a:off x="3872484" y="6373368"/>
            <a:ext cx="3140964" cy="1024128"/>
          </a:xfrm>
          <a:prstGeom prst="roundRect">
            <a:avLst>
              <a:gd name="adj" fmla="val 7143"/>
            </a:avLst>
          </a:prstGeom>
          <a:solidFill>
            <a:schemeClr val="bg2"/>
          </a:solidFill>
          <a:ln w="12700">
            <a:solidFill>
              <a:schemeClr val="bg2"/>
            </a:solidFill>
            <a:prstDash val="solid"/>
          </a:ln>
        </p:spPr>
      </p:sp>
      <p:sp>
        <p:nvSpPr>
          <p:cNvPr id="19" name="text-198"/>
          <p:cNvSpPr txBox="1"/>
          <p:nvPr/>
        </p:nvSpPr>
        <p:spPr>
          <a:xfrm>
            <a:off x="4009644" y="6464808"/>
            <a:ext cx="2866644" cy="219456"/>
          </a:xfrm>
          <a:prstGeom prst="rect">
            <a:avLst/>
          </a:prstGeom>
          <a:noFill/>
          <a:ln/>
        </p:spPr>
        <p:txBody>
          <a:bodyPr wrap="square" lIns="0" tIns="0" rIns="0" bIns="0" rtlCol="0" anchor="t"/>
          <a:lstStyle/>
          <a:p>
            <a:pPr indent="0" marL="0">
              <a:buNone/>
            </a:pPr>
            <a:r>
              <a:rPr lang="en-US" sz="1200" b="1" dirty="0">
                <a:solidFill>
                  <a:schemeClr val="accent6"/>
                </a:solidFill>
                <a:latin typeface="+mj-lt" pitchFamily="34" charset="0"/>
                <a:ea typeface="+mj-lt" pitchFamily="34" charset="-122"/>
                <a:cs typeface="+mj-lt" pitchFamily="34" charset="-120"/>
              </a:rPr>
              <a:t>The tundra and its wildlife</a:t>
            </a:r>
            <a:endParaRPr lang="en-US" sz="1200" dirty="0"/>
          </a:p>
        </p:txBody>
      </p:sp>
      <p:sp>
        <p:nvSpPr>
          <p:cNvPr id="20" name="text-199"/>
          <p:cNvSpPr txBox="1"/>
          <p:nvPr/>
        </p:nvSpPr>
        <p:spPr>
          <a:xfrm>
            <a:off x="4009644" y="6720840"/>
            <a:ext cx="2866644" cy="640080"/>
          </a:xfrm>
          <a:prstGeom prst="rect">
            <a:avLst/>
          </a:prstGeom>
          <a:noFill/>
          <a:ln/>
        </p:spPr>
        <p:txBody>
          <a:bodyPr wrap="square" lIns="0" tIns="0" rIns="0" bIns="0" rtlCol="0" anchor="t"/>
          <a:lstStyle/>
          <a:p>
            <a:pPr indent="0" marL="0">
              <a:lnSpc>
                <a:spcPct val="104000"/>
              </a:lnSpc>
              <a:buNone/>
            </a:pPr>
            <a:r>
              <a:rPr lang="en-US" sz="900" dirty="0">
                <a:solidFill>
                  <a:schemeClr val="tx1"/>
                </a:solidFill>
              </a:rPr>
              <a:t>Arctic foxes, hares, ptarmigans and reindeer depend on fragile, frozen land that a careless city would pollute, light up or melt.</a:t>
            </a:r>
            <a:endParaRPr lang="en-US" sz="900" dirty="0"/>
          </a:p>
        </p:txBody>
      </p:sp>
      <p:sp>
        <p:nvSpPr>
          <p:cNvPr id="21" name="text-200"/>
          <p:cNvSpPr txBox="1"/>
          <p:nvPr/>
        </p:nvSpPr>
        <p:spPr>
          <a:xfrm>
            <a:off x="548640" y="7589520"/>
            <a:ext cx="6464808" cy="201168"/>
          </a:xfrm>
          <a:prstGeom prst="rect">
            <a:avLst/>
          </a:prstGeom>
          <a:noFill/>
          <a:ln/>
        </p:spPr>
        <p:txBody>
          <a:bodyPr wrap="square" lIns="0" tIns="0" rIns="0" bIns="0" rtlCol="0" anchor="t"/>
          <a:lstStyle/>
          <a:p>
            <a:pPr indent="0" marL="0">
              <a:buNone/>
            </a:pPr>
            <a:r>
              <a:rPr lang="en-US" sz="900" b="1" spc="300" kern="0" dirty="0">
                <a:solidFill>
                  <a:schemeClr val="tx2"/>
                </a:solidFill>
              </a:rPr>
              <a:t>FIVE DESIGN PRINCIPLES</a:t>
            </a:r>
            <a:endParaRPr lang="en-US" sz="900" dirty="0"/>
          </a:p>
        </p:txBody>
      </p:sp>
      <p:sp>
        <p:nvSpPr>
          <p:cNvPr id="22" name="text-201"/>
          <p:cNvSpPr txBox="1"/>
          <p:nvPr/>
        </p:nvSpPr>
        <p:spPr>
          <a:xfrm>
            <a:off x="548640" y="7845552"/>
            <a:ext cx="457200" cy="329184"/>
          </a:xfrm>
          <a:prstGeom prst="rect">
            <a:avLst/>
          </a:prstGeom>
          <a:noFill/>
          <a:ln/>
        </p:spPr>
        <p:txBody>
          <a:bodyPr wrap="square" lIns="0" tIns="0" rIns="0" bIns="0" rtlCol="0" anchor="t"/>
          <a:lstStyle/>
          <a:p>
            <a:pPr indent="0" marL="0">
              <a:buNone/>
            </a:pPr>
            <a:r>
              <a:rPr lang="en-US" sz="1600" b="1" dirty="0">
                <a:solidFill>
                  <a:schemeClr val="accent6"/>
                </a:solidFill>
                <a:latin typeface="+mj-lt" pitchFamily="34" charset="0"/>
                <a:ea typeface="+mj-lt" pitchFamily="34" charset="-122"/>
                <a:cs typeface="+mj-lt" pitchFamily="34" charset="-120"/>
              </a:rPr>
              <a:t>01</a:t>
            </a:r>
            <a:endParaRPr lang="en-US" sz="1600" dirty="0"/>
          </a:p>
        </p:txBody>
      </p:sp>
      <p:sp>
        <p:nvSpPr>
          <p:cNvPr id="23" name="text-202"/>
          <p:cNvSpPr txBox="1"/>
          <p:nvPr/>
        </p:nvSpPr>
        <p:spPr>
          <a:xfrm>
            <a:off x="1051560" y="7891272"/>
            <a:ext cx="5961888" cy="402336"/>
          </a:xfrm>
          <a:prstGeom prst="rect">
            <a:avLst/>
          </a:prstGeom>
          <a:noFill/>
          <a:ln/>
        </p:spPr>
        <p:txBody>
          <a:bodyPr wrap="square" lIns="0" tIns="0" rIns="0" bIns="0" rtlCol="0" anchor="t"/>
          <a:lstStyle/>
          <a:p>
            <a:pPr indent="0" marL="0">
              <a:lnSpc>
                <a:spcPct val="104000"/>
              </a:lnSpc>
              <a:buNone/>
            </a:pPr>
            <a:r>
              <a:rPr lang="en-US" sz="1000" b="1" dirty="0">
                <a:solidFill>
                  <a:schemeClr val="tx1"/>
                </a:solidFill>
              </a:rPr>
              <a:t>Heat is life: </a:t>
            </a:r>
            <a:pPr indent="0" marL="0">
              <a:lnSpc>
                <a:spcPct val="104000"/>
              </a:lnSpc>
              <a:buNone/>
            </a:pPr>
            <a:r>
              <a:rPr lang="en-US" sz="1000" dirty="0">
                <a:solidFill>
                  <a:schemeClr val="tx2"/>
                </a:solidFill>
              </a:rPr>
              <a:t>one heating loop, fed by fusion and geothermal heat, warms every building; insulated piles keep the permafrost frozen.</a:t>
            </a:r>
            <a:endParaRPr lang="en-US" sz="1000" dirty="0"/>
          </a:p>
        </p:txBody>
      </p:sp>
      <p:sp>
        <p:nvSpPr>
          <p:cNvPr id="24" name="text-203"/>
          <p:cNvSpPr txBox="1"/>
          <p:nvPr/>
        </p:nvSpPr>
        <p:spPr>
          <a:xfrm>
            <a:off x="548640" y="8275320"/>
            <a:ext cx="457200" cy="329184"/>
          </a:xfrm>
          <a:prstGeom prst="rect">
            <a:avLst/>
          </a:prstGeom>
          <a:noFill/>
          <a:ln/>
        </p:spPr>
        <p:txBody>
          <a:bodyPr wrap="square" lIns="0" tIns="0" rIns="0" bIns="0" rtlCol="0" anchor="t"/>
          <a:lstStyle/>
          <a:p>
            <a:pPr indent="0" marL="0">
              <a:buNone/>
            </a:pPr>
            <a:r>
              <a:rPr lang="en-US" sz="1600" b="1" dirty="0">
                <a:solidFill>
                  <a:schemeClr val="accent6"/>
                </a:solidFill>
                <a:latin typeface="+mj-lt" pitchFamily="34" charset="0"/>
                <a:ea typeface="+mj-lt" pitchFamily="34" charset="-122"/>
                <a:cs typeface="+mj-lt" pitchFamily="34" charset="-120"/>
              </a:rPr>
              <a:t>02</a:t>
            </a:r>
            <a:endParaRPr lang="en-US" sz="1600" dirty="0"/>
          </a:p>
        </p:txBody>
      </p:sp>
      <p:sp>
        <p:nvSpPr>
          <p:cNvPr id="25" name="text-204"/>
          <p:cNvSpPr txBox="1"/>
          <p:nvPr/>
        </p:nvSpPr>
        <p:spPr>
          <a:xfrm>
            <a:off x="1051560" y="8321040"/>
            <a:ext cx="5961888" cy="402336"/>
          </a:xfrm>
          <a:prstGeom prst="rect">
            <a:avLst/>
          </a:prstGeom>
          <a:noFill/>
          <a:ln/>
        </p:spPr>
        <p:txBody>
          <a:bodyPr wrap="square" lIns="0" tIns="0" rIns="0" bIns="0" rtlCol="0" anchor="t"/>
          <a:lstStyle/>
          <a:p>
            <a:pPr indent="0" marL="0">
              <a:lnSpc>
                <a:spcPct val="104000"/>
              </a:lnSpc>
              <a:buNone/>
            </a:pPr>
            <a:r>
              <a:rPr lang="en-US" sz="1000" b="1" dirty="0">
                <a:solidFill>
                  <a:schemeClr val="tx1"/>
                </a:solidFill>
              </a:rPr>
              <a:t>Zero carbon: </a:t>
            </a:r>
            <a:pPr indent="0" marL="0">
              <a:lnSpc>
                <a:spcPct val="104000"/>
              </a:lnSpc>
              <a:buNone/>
            </a:pPr>
            <a:r>
              <a:rPr lang="en-US" sz="1000" dirty="0">
                <a:solidFill>
                  <a:schemeClr val="tx2"/>
                </a:solidFill>
              </a:rPr>
              <a:t>no fossil fuel burns anywhere; power comes from fusion, wind, sun and geothermal heat.</a:t>
            </a:r>
            <a:endParaRPr lang="en-US" sz="1000" dirty="0"/>
          </a:p>
        </p:txBody>
      </p:sp>
      <p:sp>
        <p:nvSpPr>
          <p:cNvPr id="26" name="text-205"/>
          <p:cNvSpPr txBox="1"/>
          <p:nvPr/>
        </p:nvSpPr>
        <p:spPr>
          <a:xfrm>
            <a:off x="548640" y="8705088"/>
            <a:ext cx="457200" cy="329184"/>
          </a:xfrm>
          <a:prstGeom prst="rect">
            <a:avLst/>
          </a:prstGeom>
          <a:noFill/>
          <a:ln/>
        </p:spPr>
        <p:txBody>
          <a:bodyPr wrap="square" lIns="0" tIns="0" rIns="0" bIns="0" rtlCol="0" anchor="t"/>
          <a:lstStyle/>
          <a:p>
            <a:pPr indent="0" marL="0">
              <a:buNone/>
            </a:pPr>
            <a:r>
              <a:rPr lang="en-US" sz="1600" b="1" dirty="0">
                <a:solidFill>
                  <a:schemeClr val="accent6"/>
                </a:solidFill>
                <a:latin typeface="+mj-lt" pitchFamily="34" charset="0"/>
                <a:ea typeface="+mj-lt" pitchFamily="34" charset="-122"/>
                <a:cs typeface="+mj-lt" pitchFamily="34" charset="-120"/>
              </a:rPr>
              <a:t>03</a:t>
            </a:r>
            <a:endParaRPr lang="en-US" sz="1600" dirty="0"/>
          </a:p>
        </p:txBody>
      </p:sp>
      <p:sp>
        <p:nvSpPr>
          <p:cNvPr id="27" name="text-206"/>
          <p:cNvSpPr txBox="1"/>
          <p:nvPr/>
        </p:nvSpPr>
        <p:spPr>
          <a:xfrm>
            <a:off x="1051560" y="8750808"/>
            <a:ext cx="5961888" cy="402336"/>
          </a:xfrm>
          <a:prstGeom prst="rect">
            <a:avLst/>
          </a:prstGeom>
          <a:noFill/>
          <a:ln/>
        </p:spPr>
        <p:txBody>
          <a:bodyPr wrap="square" lIns="0" tIns="0" rIns="0" bIns="0" rtlCol="0" anchor="t"/>
          <a:lstStyle/>
          <a:p>
            <a:pPr indent="0" marL="0">
              <a:lnSpc>
                <a:spcPct val="104000"/>
              </a:lnSpc>
              <a:buNone/>
            </a:pPr>
            <a:r>
              <a:rPr lang="en-US" sz="1000" b="1" dirty="0">
                <a:solidFill>
                  <a:schemeClr val="tx1"/>
                </a:solidFill>
              </a:rPr>
              <a:t>Closed loops: </a:t>
            </a:r>
            <a:pPr indent="0" marL="0">
              <a:lnSpc>
                <a:spcPct val="104000"/>
              </a:lnSpc>
              <a:buNone/>
            </a:pPr>
            <a:r>
              <a:rPr lang="en-US" sz="1000" dirty="0">
                <a:solidFill>
                  <a:schemeClr val="tx2"/>
                </a:solidFill>
              </a:rPr>
              <a:t>about 95% of water is recycled and rubbish is reused instead of thrown away.</a:t>
            </a:r>
            <a:endParaRPr lang="en-US" sz="1000" dirty="0"/>
          </a:p>
        </p:txBody>
      </p:sp>
      <p:sp>
        <p:nvSpPr>
          <p:cNvPr id="28" name="text-207"/>
          <p:cNvSpPr txBox="1"/>
          <p:nvPr/>
        </p:nvSpPr>
        <p:spPr>
          <a:xfrm>
            <a:off x="548640" y="9134856"/>
            <a:ext cx="457200" cy="329184"/>
          </a:xfrm>
          <a:prstGeom prst="rect">
            <a:avLst/>
          </a:prstGeom>
          <a:noFill/>
          <a:ln/>
        </p:spPr>
        <p:txBody>
          <a:bodyPr wrap="square" lIns="0" tIns="0" rIns="0" bIns="0" rtlCol="0" anchor="t"/>
          <a:lstStyle/>
          <a:p>
            <a:pPr indent="0" marL="0">
              <a:buNone/>
            </a:pPr>
            <a:r>
              <a:rPr lang="en-US" sz="1600" b="1" dirty="0">
                <a:solidFill>
                  <a:schemeClr val="accent6"/>
                </a:solidFill>
                <a:latin typeface="+mj-lt" pitchFamily="34" charset="0"/>
                <a:ea typeface="+mj-lt" pitchFamily="34" charset="-122"/>
                <a:cs typeface="+mj-lt" pitchFamily="34" charset="-120"/>
              </a:rPr>
              <a:t>04</a:t>
            </a:r>
            <a:endParaRPr lang="en-US" sz="1600" dirty="0"/>
          </a:p>
        </p:txBody>
      </p:sp>
      <p:sp>
        <p:nvSpPr>
          <p:cNvPr id="29" name="text-208"/>
          <p:cNvSpPr txBox="1"/>
          <p:nvPr/>
        </p:nvSpPr>
        <p:spPr>
          <a:xfrm>
            <a:off x="1051560" y="9180576"/>
            <a:ext cx="5961888" cy="402336"/>
          </a:xfrm>
          <a:prstGeom prst="rect">
            <a:avLst/>
          </a:prstGeom>
          <a:noFill/>
          <a:ln/>
        </p:spPr>
        <p:txBody>
          <a:bodyPr wrap="square" lIns="0" tIns="0" rIns="0" bIns="0" rtlCol="0" anchor="t"/>
          <a:lstStyle/>
          <a:p>
            <a:pPr indent="0" marL="0">
              <a:lnSpc>
                <a:spcPct val="104000"/>
              </a:lnSpc>
              <a:buNone/>
            </a:pPr>
            <a:r>
              <a:rPr lang="en-US" sz="1000" b="1" dirty="0">
                <a:solidFill>
                  <a:schemeClr val="tx1"/>
                </a:solidFill>
              </a:rPr>
              <a:t>Compact and car-light: </a:t>
            </a:r>
            <a:pPr indent="0" marL="0">
              <a:lnSpc>
                <a:spcPct val="104000"/>
              </a:lnSpc>
              <a:buNone/>
            </a:pPr>
            <a:r>
              <a:rPr lang="en-US" sz="1000" dirty="0">
                <a:solidFill>
                  <a:schemeClr val="tx2"/>
                </a:solidFill>
              </a:rPr>
              <a:t>daily needs within a 10-minute walk; the few cars are electric.</a:t>
            </a:r>
            <a:endParaRPr lang="en-US" sz="1000" dirty="0"/>
          </a:p>
        </p:txBody>
      </p:sp>
      <p:sp>
        <p:nvSpPr>
          <p:cNvPr id="30" name="text-209"/>
          <p:cNvSpPr txBox="1"/>
          <p:nvPr/>
        </p:nvSpPr>
        <p:spPr>
          <a:xfrm>
            <a:off x="548640" y="9564624"/>
            <a:ext cx="457200" cy="329184"/>
          </a:xfrm>
          <a:prstGeom prst="rect">
            <a:avLst/>
          </a:prstGeom>
          <a:noFill/>
          <a:ln/>
        </p:spPr>
        <p:txBody>
          <a:bodyPr wrap="square" lIns="0" tIns="0" rIns="0" bIns="0" rtlCol="0" anchor="t"/>
          <a:lstStyle/>
          <a:p>
            <a:pPr indent="0" marL="0">
              <a:buNone/>
            </a:pPr>
            <a:r>
              <a:rPr lang="en-US" sz="1600" b="1" dirty="0">
                <a:solidFill>
                  <a:schemeClr val="accent6"/>
                </a:solidFill>
                <a:latin typeface="+mj-lt" pitchFamily="34" charset="0"/>
                <a:ea typeface="+mj-lt" pitchFamily="34" charset="-122"/>
                <a:cs typeface="+mj-lt" pitchFamily="34" charset="-120"/>
              </a:rPr>
              <a:t>05</a:t>
            </a:r>
            <a:endParaRPr lang="en-US" sz="1600" dirty="0"/>
          </a:p>
        </p:txBody>
      </p:sp>
      <p:sp>
        <p:nvSpPr>
          <p:cNvPr id="31" name="text-210"/>
          <p:cNvSpPr txBox="1"/>
          <p:nvPr/>
        </p:nvSpPr>
        <p:spPr>
          <a:xfrm>
            <a:off x="1051560" y="9610344"/>
            <a:ext cx="5961888" cy="402336"/>
          </a:xfrm>
          <a:prstGeom prst="rect">
            <a:avLst/>
          </a:prstGeom>
          <a:noFill/>
          <a:ln/>
        </p:spPr>
        <p:txBody>
          <a:bodyPr wrap="square" lIns="0" tIns="0" rIns="0" bIns="0" rtlCol="0" anchor="t"/>
          <a:lstStyle/>
          <a:p>
            <a:pPr indent="0" marL="0">
              <a:lnSpc>
                <a:spcPct val="104000"/>
              </a:lnSpc>
              <a:buNone/>
            </a:pPr>
            <a:r>
              <a:rPr lang="en-US" sz="1000" b="1" dirty="0">
                <a:solidFill>
                  <a:schemeClr val="tx1"/>
                </a:solidFill>
              </a:rPr>
              <a:t>Resilient and healthy: </a:t>
            </a:r>
            <a:pPr indent="0" marL="0">
              <a:lnSpc>
                <a:spcPct val="104000"/>
              </a:lnSpc>
              <a:buNone/>
            </a:pPr>
            <a:r>
              <a:rPr lang="en-US" sz="1000" dirty="0">
                <a:solidFill>
                  <a:schemeClr val="tx2"/>
                </a:solidFill>
              </a:rPr>
              <a:t>shelters for 30 days, and light, parks, culture and a spa for the polar night.</a:t>
            </a:r>
            <a:endParaRPr lang="en-US" sz="1000" dirty="0"/>
          </a:p>
        </p:txBody>
      </p:sp>
      <p:sp>
        <p:nvSpPr>
          <p:cNvPr id="32" name="page-number"/>
          <p:cNvSpPr txBox="1"/>
          <p:nvPr/>
        </p:nvSpPr>
        <p:spPr>
          <a:xfrm>
            <a:off x="6601968" y="10177272"/>
            <a:ext cx="411480" cy="219456"/>
          </a:xfrm>
          <a:prstGeom prst="rect">
            <a:avLst/>
          </a:prstGeom>
          <a:noFill/>
          <a:ln/>
        </p:spPr>
        <p:txBody>
          <a:bodyPr wrap="square" lIns="0" tIns="0" rIns="0" bIns="0" rtlCol="0" anchor="ctr"/>
          <a:lstStyle/>
          <a:p>
            <a:pPr algn="r" indent="0" marL="0">
              <a:buNone/>
            </a:pPr>
            <a:r>
              <a:rPr lang="en-US" sz="900" b="1" dirty="0">
                <a:solidFill>
                  <a:schemeClr val="tx1"/>
                </a:solidFill>
              </a:rPr>
              <a:t>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picture-211" descr="/home/user/chatbox-bi-n-o/magazine/assets/renders/liberty_dusk_L.jpg">    </p:cNvPr>
          <p:cNvPicPr>
            <a:picLocks noChangeAspect="1"/>
          </p:cNvPicPr>
          <p:nvPr/>
        </p:nvPicPr>
        <p:blipFill>
          <a:blip r:embed="rId1"/>
          <a:srcRect l="0" r="0" t="0" b="0"/>
          <a:stretch/>
        </p:blipFill>
        <p:spPr>
          <a:xfrm>
            <a:off x="0" y="0"/>
            <a:ext cx="7562088" cy="10689336"/>
          </a:xfrm>
          <a:prstGeom prst="rect">
            <a:avLst/>
          </a:prstGeom>
        </p:spPr>
      </p:pic>
      <p:pic>
        <p:nvPicPr>
          <p:cNvPr id="3" name="shade-bottom-212" descr="/home/user/chatbox-bi-n-o/magazine/assets/ui/shade_bottom.png">    </p:cNvPr>
          <p:cNvPicPr>
            <a:picLocks noChangeAspect="1"/>
          </p:cNvPicPr>
          <p:nvPr/>
        </p:nvPicPr>
        <p:blipFill>
          <a:blip r:embed="rId2"/>
          <a:stretch>
            <a:fillRect/>
          </a:stretch>
        </p:blipFill>
        <p:spPr>
          <a:xfrm>
            <a:off x="0" y="5120640"/>
            <a:ext cx="7562088" cy="5568696"/>
          </a:xfrm>
          <a:prstGeom prst="rect">
            <a:avLst/>
          </a:prstGeom>
        </p:spPr>
      </p:pic>
      <p:sp>
        <p:nvSpPr>
          <p:cNvPr id="4" name="kicker-dot-213"/>
          <p:cNvSpPr/>
          <p:nvPr/>
        </p:nvSpPr>
        <p:spPr>
          <a:xfrm>
            <a:off x="548640" y="6944868"/>
            <a:ext cx="100584" cy="100584"/>
          </a:xfrm>
          <a:prstGeom prst="ellipse">
            <a:avLst/>
          </a:prstGeom>
          <a:solidFill>
            <a:schemeClr val="accent1"/>
          </a:solidFill>
          <a:ln w="12700">
            <a:solidFill>
              <a:schemeClr val="accent1"/>
            </a:solidFill>
            <a:prstDash val="solid"/>
          </a:ln>
        </p:spPr>
      </p:sp>
      <p:sp>
        <p:nvSpPr>
          <p:cNvPr id="5" name="text-214"/>
          <p:cNvSpPr txBox="1"/>
          <p:nvPr/>
        </p:nvSpPr>
        <p:spPr>
          <a:xfrm>
            <a:off x="731520" y="6903720"/>
            <a:ext cx="5486400" cy="201168"/>
          </a:xfrm>
          <a:prstGeom prst="rect">
            <a:avLst/>
          </a:prstGeom>
          <a:noFill/>
          <a:ln/>
        </p:spPr>
        <p:txBody>
          <a:bodyPr wrap="square" lIns="0" tIns="0" rIns="0" bIns="0" rtlCol="0" anchor="t"/>
          <a:lstStyle/>
          <a:p>
            <a:pPr indent="0" marL="0">
              <a:buNone/>
            </a:pPr>
            <a:r>
              <a:rPr lang="en-US" sz="900" b="1" spc="300" kern="0" dirty="0">
                <a:solidFill>
                  <a:schemeClr val="bg1"/>
                </a:solidFill>
              </a:rPr>
              <a:t>DOWNTOWN</a:t>
            </a:r>
            <a:endParaRPr lang="en-US" sz="900" dirty="0"/>
          </a:p>
        </p:txBody>
      </p:sp>
      <p:sp>
        <p:nvSpPr>
          <p:cNvPr id="6" name="title-215"/>
          <p:cNvSpPr txBox="1"/>
          <p:nvPr/>
        </p:nvSpPr>
        <p:spPr>
          <a:xfrm>
            <a:off x="548640" y="7159752"/>
            <a:ext cx="6464808" cy="1371600"/>
          </a:xfrm>
          <a:prstGeom prst="rect">
            <a:avLst/>
          </a:prstGeom>
          <a:noFill/>
          <a:ln/>
        </p:spPr>
        <p:txBody>
          <a:bodyPr wrap="square" lIns="0" tIns="0" rIns="0" bIns="0" rtlCol="0" anchor="t"/>
          <a:lstStyle/>
          <a:p>
            <a:pPr indent="0" marL="0">
              <a:lnSpc>
                <a:spcPct val="92000"/>
              </a:lnSpc>
              <a:buNone/>
            </a:pPr>
            <a:r>
              <a:rPr lang="en-US" sz="4400" b="1" dirty="0">
                <a:solidFill>
                  <a:schemeClr val="bg1"/>
                </a:solidFill>
                <a:latin typeface="+mj-lt" pitchFamily="34" charset="0"/>
                <a:ea typeface="+mj-lt" pitchFamily="34" charset="-122"/>
                <a:cs typeface="+mj-lt" pitchFamily="34" charset="-120"/>
              </a:rPr>
              <a:t>Nine Blocks,</a:t>
            </a:r>
            <a:endParaRPr lang="en-US" sz="4400" dirty="0"/>
          </a:p>
          <a:p>
            <a:pPr indent="0" marL="0">
              <a:lnSpc>
                <a:spcPct val="92000"/>
              </a:lnSpc>
              <a:buNone/>
            </a:pPr>
            <a:r>
              <a:rPr lang="en-US" sz="4400" b="1" dirty="0">
                <a:solidFill>
                  <a:schemeClr val="bg1"/>
                </a:solidFill>
                <a:latin typeface="+mj-lt" pitchFamily="34" charset="0"/>
                <a:ea typeface="+mj-lt" pitchFamily="34" charset="-122"/>
                <a:cs typeface="+mj-lt" pitchFamily="34" charset="-120"/>
              </a:rPr>
              <a:t>One Short Walk</a:t>
            </a:r>
            <a:endParaRPr lang="en-US" sz="4400" dirty="0"/>
          </a:p>
        </p:txBody>
      </p:sp>
      <p:sp>
        <p:nvSpPr>
          <p:cNvPr id="7" name="text-217"/>
          <p:cNvSpPr txBox="1"/>
          <p:nvPr/>
        </p:nvSpPr>
        <p:spPr>
          <a:xfrm>
            <a:off x="548640" y="8503920"/>
            <a:ext cx="6464808" cy="594360"/>
          </a:xfrm>
          <a:prstGeom prst="rect">
            <a:avLst/>
          </a:prstGeom>
          <a:noFill/>
          <a:ln/>
        </p:spPr>
        <p:txBody>
          <a:bodyPr wrap="square" lIns="0" tIns="0" rIns="0" bIns="0" rtlCol="0" anchor="t"/>
          <a:lstStyle/>
          <a:p>
            <a:pPr indent="0" marL="0">
              <a:lnSpc>
                <a:spcPct val="110000"/>
              </a:lnSpc>
              <a:buNone/>
            </a:pPr>
            <a:r>
              <a:rPr lang="en-US" sz="1400" i="1" dirty="0">
                <a:solidFill>
                  <a:schemeClr val="bg2"/>
                </a:solidFill>
                <a:latin typeface="+mj-lt" pitchFamily="34" charset="0"/>
                <a:ea typeface="+mj-lt" pitchFamily="34" charset="-122"/>
                <a:cs typeface="+mj-lt" pitchFamily="34" charset="-120"/>
              </a:rPr>
              <a:t>Shops, schools, healthcare and homes within a short walk of each other, around the Aurora Roundabout.</a:t>
            </a:r>
            <a:endParaRPr lang="en-US" sz="1400" dirty="0"/>
          </a:p>
        </p:txBody>
      </p:sp>
      <p:sp>
        <p:nvSpPr>
          <p:cNvPr id="8" name="text-218"/>
          <p:cNvSpPr txBox="1"/>
          <p:nvPr/>
        </p:nvSpPr>
        <p:spPr>
          <a:xfrm>
            <a:off x="548640" y="9189720"/>
            <a:ext cx="6464808" cy="868680"/>
          </a:xfrm>
          <a:prstGeom prst="rect">
            <a:avLst/>
          </a:prstGeom>
          <a:noFill/>
          <a:ln/>
        </p:spPr>
        <p:txBody>
          <a:bodyPr wrap="square" lIns="0" tIns="0" rIns="0" bIns="0" rtlCol="0" anchor="t"/>
          <a:lstStyle/>
          <a:p>
            <a:pPr indent="0" marL="0">
              <a:lnSpc>
                <a:spcPct val="110000"/>
              </a:lnSpc>
              <a:buNone/>
            </a:pPr>
            <a:r>
              <a:rPr lang="en-US" sz="1000" dirty="0">
                <a:solidFill>
                  <a:schemeClr val="bg1"/>
                </a:solidFill>
              </a:rPr>
              <a:t>Downtown is laid out in nine blocks around the Aurora Roundabout and the Founding Mayor Monument. The metro interchange lies under Liberty Mall, the tree-lined promenade through the four central blocks, which hosts festivals, markets and parades.</a:t>
            </a:r>
            <a:endParaRPr lang="en-US" sz="1000" dirty="0"/>
          </a:p>
        </p:txBody>
      </p:sp>
      <p:sp>
        <p:nvSpPr>
          <p:cNvPr id="9" name="page-number"/>
          <p:cNvSpPr txBox="1"/>
          <p:nvPr/>
        </p:nvSpPr>
        <p:spPr>
          <a:xfrm>
            <a:off x="548640" y="10177272"/>
            <a:ext cx="411480" cy="219456"/>
          </a:xfrm>
          <a:prstGeom prst="rect">
            <a:avLst/>
          </a:prstGeom>
          <a:noFill/>
          <a:ln/>
        </p:spPr>
        <p:txBody>
          <a:bodyPr wrap="square" lIns="0" tIns="0" rIns="0" bIns="0" rtlCol="0" anchor="ctr"/>
          <a:lstStyle/>
          <a:p>
            <a:pPr algn="l" indent="0" marL="0">
              <a:buNone/>
            </a:pPr>
            <a:r>
              <a:rPr lang="en-US" sz="900" b="1" dirty="0">
                <a:solidFill>
                  <a:schemeClr val="bg1"/>
                </a:solidFill>
              </a:rPr>
              <a:t>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picture-219" descr="/home/user/chatbox-bi-n-o/magazine/assets/renders/liberty_dusk_R.jpg">    </p:cNvPr>
          <p:cNvPicPr>
            <a:picLocks noChangeAspect="1"/>
          </p:cNvPicPr>
          <p:nvPr/>
        </p:nvPicPr>
        <p:blipFill>
          <a:blip r:embed="rId1"/>
          <a:srcRect l="0" r="0" t="0" b="0"/>
          <a:stretch/>
        </p:blipFill>
        <p:spPr>
          <a:xfrm>
            <a:off x="0" y="0"/>
            <a:ext cx="7562088" cy="10689336"/>
          </a:xfrm>
          <a:prstGeom prst="rect">
            <a:avLst/>
          </a:prstGeom>
        </p:spPr>
      </p:pic>
      <p:pic>
        <p:nvPicPr>
          <p:cNvPr id="3" name="shade-bottom-220" descr="/home/user/chatbox-bi-n-o/magazine/assets/ui/shade_bottom.png">    </p:cNvPr>
          <p:cNvPicPr>
            <a:picLocks noChangeAspect="1"/>
          </p:cNvPicPr>
          <p:nvPr/>
        </p:nvPicPr>
        <p:blipFill>
          <a:blip r:embed="rId2"/>
          <a:stretch>
            <a:fillRect/>
          </a:stretch>
        </p:blipFill>
        <p:spPr>
          <a:xfrm>
            <a:off x="0" y="8229600"/>
            <a:ext cx="7562088" cy="2459736"/>
          </a:xfrm>
          <a:prstGeom prst="rect">
            <a:avLst/>
          </a:prstGeom>
        </p:spPr>
      </p:pic>
      <p:sp>
        <p:nvSpPr>
          <p:cNvPr id="4" name="text-221"/>
          <p:cNvSpPr txBox="1"/>
          <p:nvPr/>
        </p:nvSpPr>
        <p:spPr>
          <a:xfrm>
            <a:off x="2990088" y="9372600"/>
            <a:ext cx="4023360" cy="548640"/>
          </a:xfrm>
          <a:prstGeom prst="rect">
            <a:avLst/>
          </a:prstGeom>
          <a:noFill/>
          <a:ln/>
        </p:spPr>
        <p:txBody>
          <a:bodyPr wrap="square" lIns="0" tIns="0" rIns="0" bIns="0" rtlCol="0" anchor="t"/>
          <a:lstStyle/>
          <a:p>
            <a:pPr algn="r" indent="0" marL="0">
              <a:buNone/>
            </a:pPr>
            <a:r>
              <a:rPr lang="en-US" sz="850" i="1" dirty="0">
                <a:solidFill>
                  <a:schemeClr val="bg1"/>
                </a:solidFill>
              </a:rPr>
              <a:t>Liberty Mall at dusk, looking north to the Founding Mayor Monument. Its granite plaza is warmed from below by the heating loop and never ices, and twin lanterns line the way.</a:t>
            </a:r>
            <a:endParaRPr lang="en-US" sz="850" dirty="0"/>
          </a:p>
        </p:txBody>
      </p:sp>
      <p:sp>
        <p:nvSpPr>
          <p:cNvPr id="5" name="page-number"/>
          <p:cNvSpPr txBox="1"/>
          <p:nvPr/>
        </p:nvSpPr>
        <p:spPr>
          <a:xfrm>
            <a:off x="6601968" y="10177272"/>
            <a:ext cx="411480" cy="219456"/>
          </a:xfrm>
          <a:prstGeom prst="rect">
            <a:avLst/>
          </a:prstGeom>
          <a:noFill/>
          <a:ln/>
        </p:spPr>
        <p:txBody>
          <a:bodyPr wrap="square" lIns="0" tIns="0" rIns="0" bIns="0" rtlCol="0" anchor="ctr"/>
          <a:lstStyle/>
          <a:p>
            <a:pPr algn="r" indent="0" marL="0">
              <a:buNone/>
            </a:pPr>
            <a:r>
              <a:rPr lang="en-US" sz="900" b="1" dirty="0">
                <a:solidFill>
                  <a:schemeClr val="bg1"/>
                </a:solidFill>
              </a:rPr>
              <a:t>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dot-222"/>
          <p:cNvSpPr/>
          <p:nvPr/>
        </p:nvSpPr>
        <p:spPr>
          <a:xfrm>
            <a:off x="548640" y="544068"/>
            <a:ext cx="100584" cy="100584"/>
          </a:xfrm>
          <a:prstGeom prst="ellipse">
            <a:avLst/>
          </a:prstGeom>
          <a:solidFill>
            <a:schemeClr val="accent6"/>
          </a:solidFill>
          <a:ln w="12700">
            <a:solidFill>
              <a:schemeClr val="accent6"/>
            </a:solidFill>
            <a:prstDash val="solid"/>
          </a:ln>
        </p:spPr>
      </p:sp>
      <p:sp>
        <p:nvSpPr>
          <p:cNvPr id="3" name="text-223"/>
          <p:cNvSpPr txBox="1"/>
          <p:nvPr/>
        </p:nvSpPr>
        <p:spPr>
          <a:xfrm>
            <a:off x="731520" y="502920"/>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THE MAP</a:t>
            </a:r>
            <a:endParaRPr lang="en-US" sz="900" dirty="0"/>
          </a:p>
        </p:txBody>
      </p:sp>
      <p:sp>
        <p:nvSpPr>
          <p:cNvPr id="4" name="title-224"/>
          <p:cNvSpPr txBox="1"/>
          <p:nvPr/>
        </p:nvSpPr>
        <p:spPr>
          <a:xfrm>
            <a:off x="548640" y="758952"/>
            <a:ext cx="6464808" cy="685800"/>
          </a:xfrm>
          <a:prstGeom prst="rect">
            <a:avLst/>
          </a:prstGeom>
          <a:noFill/>
          <a:ln/>
        </p:spPr>
        <p:txBody>
          <a:bodyPr wrap="square" lIns="0" tIns="0" rIns="0" bIns="0" rtlCol="0" anchor="t"/>
          <a:lstStyle/>
          <a:p>
            <a:pPr indent="0" marL="0">
              <a:lnSpc>
                <a:spcPct val="92000"/>
              </a:lnSpc>
              <a:buNone/>
            </a:pPr>
            <a:r>
              <a:rPr lang="en-US" sz="3600" b="1" dirty="0">
                <a:solidFill>
                  <a:schemeClr val="tx1"/>
                </a:solidFill>
                <a:latin typeface="+mj-lt" pitchFamily="34" charset="0"/>
                <a:ea typeface="+mj-lt" pitchFamily="34" charset="-122"/>
                <a:cs typeface="+mj-lt" pitchFamily="34" charset="-120"/>
              </a:rPr>
              <a:t>The Whole City Plan</a:t>
            </a:r>
            <a:endParaRPr lang="en-US" sz="3600" dirty="0"/>
          </a:p>
        </p:txBody>
      </p:sp>
      <p:pic>
        <p:nvPicPr>
          <p:cNvPr id="5" name="master-plan" descr="/home/user/chatbox-bi-n-o/magazine/assets/plans/01_city_master_plan.png">    </p:cNvPr>
          <p:cNvPicPr>
            <a:picLocks noChangeAspect="1"/>
          </p:cNvPicPr>
          <p:nvPr/>
        </p:nvPicPr>
        <p:blipFill>
          <a:blip r:embed="rId1"/>
          <a:stretch>
            <a:fillRect/>
          </a:stretch>
        </p:blipFill>
        <p:spPr>
          <a:xfrm>
            <a:off x="0" y="1600200"/>
            <a:ext cx="7562088" cy="4915357"/>
          </a:xfrm>
          <a:prstGeom prst="rect">
            <a:avLst/>
          </a:prstGeom>
        </p:spPr>
      </p:pic>
      <p:sp>
        <p:nvSpPr>
          <p:cNvPr id="6" name="text-226"/>
          <p:cNvSpPr txBox="1"/>
          <p:nvPr/>
        </p:nvSpPr>
        <p:spPr>
          <a:xfrm>
            <a:off x="548640" y="6561277"/>
            <a:ext cx="6464808" cy="228600"/>
          </a:xfrm>
          <a:prstGeom prst="rect">
            <a:avLst/>
          </a:prstGeom>
          <a:noFill/>
          <a:ln/>
        </p:spPr>
        <p:txBody>
          <a:bodyPr wrap="square" lIns="0" tIns="0" rIns="0" bIns="0" rtlCol="0" anchor="t"/>
          <a:lstStyle/>
          <a:p>
            <a:pPr indent="0" marL="0">
              <a:buNone/>
            </a:pPr>
            <a:r>
              <a:rPr lang="en-US" sz="850" i="1" dirty="0">
                <a:solidFill>
                  <a:schemeClr val="tx2"/>
                </a:solidFill>
              </a:rPr>
              <a:t>Aurora Haven – City Master Plan. North is up; one unit is one metre. Drawn from the 3D model; the numbers are the 35 places listed on page 34.</a:t>
            </a:r>
            <a:endParaRPr lang="en-US" sz="850" dirty="0"/>
          </a:p>
        </p:txBody>
      </p:sp>
      <p:sp>
        <p:nvSpPr>
          <p:cNvPr id="7" name="kicker-dot-227"/>
          <p:cNvSpPr/>
          <p:nvPr/>
        </p:nvSpPr>
        <p:spPr>
          <a:xfrm>
            <a:off x="548640" y="7105345"/>
            <a:ext cx="100584" cy="100584"/>
          </a:xfrm>
          <a:prstGeom prst="ellipse">
            <a:avLst/>
          </a:prstGeom>
          <a:solidFill>
            <a:schemeClr val="tx1"/>
          </a:solidFill>
          <a:ln w="12700">
            <a:solidFill>
              <a:schemeClr val="tx1"/>
            </a:solidFill>
            <a:prstDash val="solid"/>
          </a:ln>
        </p:spPr>
      </p:sp>
      <p:sp>
        <p:nvSpPr>
          <p:cNvPr id="8" name="text-228"/>
          <p:cNvSpPr txBox="1"/>
          <p:nvPr/>
        </p:nvSpPr>
        <p:spPr>
          <a:xfrm>
            <a:off x="731520" y="7064197"/>
            <a:ext cx="2912364" cy="201168"/>
          </a:xfrm>
          <a:prstGeom prst="rect">
            <a:avLst/>
          </a:prstGeom>
          <a:noFill/>
          <a:ln/>
        </p:spPr>
        <p:txBody>
          <a:bodyPr wrap="square" lIns="0" tIns="0" rIns="0" bIns="0" rtlCol="0" anchor="t"/>
          <a:lstStyle/>
          <a:p>
            <a:pPr indent="0" marL="0">
              <a:buNone/>
            </a:pPr>
            <a:r>
              <a:rPr lang="en-US" sz="900" b="1" spc="300" kern="0" dirty="0">
                <a:solidFill>
                  <a:schemeClr val="tx1"/>
                </a:solidFill>
              </a:rPr>
              <a:t>DOWNTOWN</a:t>
            </a:r>
            <a:endParaRPr lang="en-US" sz="900" dirty="0"/>
          </a:p>
        </p:txBody>
      </p:sp>
      <p:sp>
        <p:nvSpPr>
          <p:cNvPr id="9" name="text-229"/>
          <p:cNvSpPr txBox="1"/>
          <p:nvPr/>
        </p:nvSpPr>
        <p:spPr>
          <a:xfrm>
            <a:off x="548640" y="7320229"/>
            <a:ext cx="3095244" cy="566928"/>
          </a:xfrm>
          <a:prstGeom prst="rect">
            <a:avLst/>
          </a:prstGeom>
          <a:noFill/>
          <a:ln/>
        </p:spPr>
        <p:txBody>
          <a:bodyPr wrap="square" lIns="0" tIns="0" rIns="0" bIns="0" rtlCol="0" anchor="t"/>
          <a:lstStyle/>
          <a:p>
            <a:pPr indent="0" marL="0">
              <a:lnSpc>
                <a:spcPct val="105000"/>
              </a:lnSpc>
              <a:buNone/>
            </a:pPr>
            <a:r>
              <a:rPr lang="en-US" sz="950" dirty="0">
                <a:solidFill>
                  <a:schemeClr val="tx1"/>
                </a:solidFill>
              </a:rPr>
              <a:t>Nine blocks around the Aurora Roundabout and the Founding Mayor Monument, with the hospital, schools, shops and the metro interchange.</a:t>
            </a:r>
            <a:endParaRPr lang="en-US" sz="950" dirty="0"/>
          </a:p>
        </p:txBody>
      </p:sp>
      <p:sp>
        <p:nvSpPr>
          <p:cNvPr id="10" name="kicker-dot-230"/>
          <p:cNvSpPr/>
          <p:nvPr/>
        </p:nvSpPr>
        <p:spPr>
          <a:xfrm>
            <a:off x="3918204" y="7105345"/>
            <a:ext cx="100584" cy="100584"/>
          </a:xfrm>
          <a:prstGeom prst="ellipse">
            <a:avLst/>
          </a:prstGeom>
          <a:solidFill>
            <a:schemeClr val="accent6"/>
          </a:solidFill>
          <a:ln w="12700">
            <a:solidFill>
              <a:schemeClr val="accent6"/>
            </a:solidFill>
            <a:prstDash val="solid"/>
          </a:ln>
        </p:spPr>
      </p:sp>
      <p:sp>
        <p:nvSpPr>
          <p:cNvPr id="11" name="text-231"/>
          <p:cNvSpPr txBox="1"/>
          <p:nvPr/>
        </p:nvSpPr>
        <p:spPr>
          <a:xfrm>
            <a:off x="4101084" y="7064197"/>
            <a:ext cx="2912364" cy="201168"/>
          </a:xfrm>
          <a:prstGeom prst="rect">
            <a:avLst/>
          </a:prstGeom>
          <a:noFill/>
          <a:ln/>
        </p:spPr>
        <p:txBody>
          <a:bodyPr wrap="square" lIns="0" tIns="0" rIns="0" bIns="0" rtlCol="0" anchor="t"/>
          <a:lstStyle/>
          <a:p>
            <a:pPr indent="0" marL="0">
              <a:buNone/>
            </a:pPr>
            <a:r>
              <a:rPr lang="en-US" sz="900" b="1" spc="300" kern="0" dirty="0">
                <a:solidFill>
                  <a:schemeClr val="accent6"/>
                </a:solidFill>
              </a:rPr>
              <a:t>NORTH</a:t>
            </a:r>
            <a:endParaRPr lang="en-US" sz="900" dirty="0"/>
          </a:p>
        </p:txBody>
      </p:sp>
      <p:sp>
        <p:nvSpPr>
          <p:cNvPr id="12" name="text-232"/>
          <p:cNvSpPr txBox="1"/>
          <p:nvPr/>
        </p:nvSpPr>
        <p:spPr>
          <a:xfrm>
            <a:off x="3918204" y="7320229"/>
            <a:ext cx="3095244" cy="566928"/>
          </a:xfrm>
          <a:prstGeom prst="rect">
            <a:avLst/>
          </a:prstGeom>
          <a:noFill/>
          <a:ln/>
        </p:spPr>
        <p:txBody>
          <a:bodyPr wrap="square" lIns="0" tIns="0" rIns="0" bIns="0" rtlCol="0" anchor="t"/>
          <a:lstStyle/>
          <a:p>
            <a:pPr indent="0" marL="0">
              <a:lnSpc>
                <a:spcPct val="105000"/>
              </a:lnSpc>
              <a:buNone/>
            </a:pPr>
            <a:r>
              <a:rPr lang="en-US" sz="950" dirty="0">
                <a:solidFill>
                  <a:schemeClr val="tx1"/>
                </a:solidFill>
              </a:rPr>
              <a:t>The windy north holds the Northern Renewable Park, the energy hub, the Polar Rescue and Resilience Station and the airport.</a:t>
            </a:r>
            <a:endParaRPr lang="en-US" sz="950" dirty="0"/>
          </a:p>
        </p:txBody>
      </p:sp>
      <p:sp>
        <p:nvSpPr>
          <p:cNvPr id="13" name="kicker-dot-233"/>
          <p:cNvSpPr/>
          <p:nvPr/>
        </p:nvSpPr>
        <p:spPr>
          <a:xfrm>
            <a:off x="548640" y="7974025"/>
            <a:ext cx="100584" cy="100584"/>
          </a:xfrm>
          <a:prstGeom prst="ellipse">
            <a:avLst/>
          </a:prstGeom>
          <a:solidFill>
            <a:schemeClr val="tx2"/>
          </a:solidFill>
          <a:ln w="12700">
            <a:solidFill>
              <a:schemeClr val="tx2"/>
            </a:solidFill>
            <a:prstDash val="solid"/>
          </a:ln>
        </p:spPr>
      </p:sp>
      <p:sp>
        <p:nvSpPr>
          <p:cNvPr id="14" name="text-234"/>
          <p:cNvSpPr txBox="1"/>
          <p:nvPr/>
        </p:nvSpPr>
        <p:spPr>
          <a:xfrm>
            <a:off x="731520" y="7932877"/>
            <a:ext cx="2912364" cy="201168"/>
          </a:xfrm>
          <a:prstGeom prst="rect">
            <a:avLst/>
          </a:prstGeom>
          <a:noFill/>
          <a:ln/>
        </p:spPr>
        <p:txBody>
          <a:bodyPr wrap="square" lIns="0" tIns="0" rIns="0" bIns="0" rtlCol="0" anchor="t"/>
          <a:lstStyle/>
          <a:p>
            <a:pPr indent="0" marL="0">
              <a:buNone/>
            </a:pPr>
            <a:r>
              <a:rPr lang="en-US" sz="900" b="1" spc="300" kern="0" dirty="0">
                <a:solidFill>
                  <a:schemeClr val="tx2"/>
                </a:solidFill>
              </a:rPr>
              <a:t>WEST</a:t>
            </a:r>
            <a:endParaRPr lang="en-US" sz="900" dirty="0"/>
          </a:p>
        </p:txBody>
      </p:sp>
      <p:sp>
        <p:nvSpPr>
          <p:cNvPr id="15" name="text-235"/>
          <p:cNvSpPr txBox="1"/>
          <p:nvPr/>
        </p:nvSpPr>
        <p:spPr>
          <a:xfrm>
            <a:off x="548640" y="8188909"/>
            <a:ext cx="3095244" cy="566928"/>
          </a:xfrm>
          <a:prstGeom prst="rect">
            <a:avLst/>
          </a:prstGeom>
          <a:noFill/>
          <a:ln/>
        </p:spPr>
        <p:txBody>
          <a:bodyPr wrap="square" lIns="0" tIns="0" rIns="0" bIns="0" rtlCol="0" anchor="t"/>
          <a:lstStyle/>
          <a:p>
            <a:pPr indent="0" marL="0">
              <a:lnSpc>
                <a:spcPct val="105000"/>
              </a:lnSpc>
              <a:buNone/>
            </a:pPr>
            <a:r>
              <a:rPr lang="en-US" sz="950" dirty="0">
                <a:solidFill>
                  <a:schemeClr val="tx1"/>
                </a:solidFill>
              </a:rPr>
              <a:t>The air base and garrison, behind a belt of trees that screens the eco-homes.</a:t>
            </a:r>
            <a:endParaRPr lang="en-US" sz="950" dirty="0"/>
          </a:p>
        </p:txBody>
      </p:sp>
      <p:sp>
        <p:nvSpPr>
          <p:cNvPr id="16" name="kicker-dot-236"/>
          <p:cNvSpPr/>
          <p:nvPr/>
        </p:nvSpPr>
        <p:spPr>
          <a:xfrm>
            <a:off x="3918204" y="7974025"/>
            <a:ext cx="100584" cy="100584"/>
          </a:xfrm>
          <a:prstGeom prst="ellipse">
            <a:avLst/>
          </a:prstGeom>
          <a:solidFill>
            <a:schemeClr val="accent4"/>
          </a:solidFill>
          <a:ln w="12700">
            <a:solidFill>
              <a:schemeClr val="accent4"/>
            </a:solidFill>
            <a:prstDash val="solid"/>
          </a:ln>
        </p:spPr>
      </p:sp>
      <p:sp>
        <p:nvSpPr>
          <p:cNvPr id="17" name="text-237"/>
          <p:cNvSpPr txBox="1"/>
          <p:nvPr/>
        </p:nvSpPr>
        <p:spPr>
          <a:xfrm>
            <a:off x="4101084" y="7932877"/>
            <a:ext cx="2912364" cy="201168"/>
          </a:xfrm>
          <a:prstGeom prst="rect">
            <a:avLst/>
          </a:prstGeom>
          <a:noFill/>
          <a:ln/>
        </p:spPr>
        <p:txBody>
          <a:bodyPr wrap="square" lIns="0" tIns="0" rIns="0" bIns="0" rtlCol="0" anchor="t"/>
          <a:lstStyle/>
          <a:p>
            <a:pPr indent="0" marL="0">
              <a:buNone/>
            </a:pPr>
            <a:r>
              <a:rPr lang="en-US" sz="900" b="1" spc="300" kern="0" dirty="0">
                <a:solidFill>
                  <a:schemeClr val="accent4"/>
                </a:solidFill>
              </a:rPr>
              <a:t>EAST</a:t>
            </a:r>
            <a:endParaRPr lang="en-US" sz="900" dirty="0"/>
          </a:p>
        </p:txBody>
      </p:sp>
      <p:sp>
        <p:nvSpPr>
          <p:cNvPr id="18" name="text-238"/>
          <p:cNvSpPr txBox="1"/>
          <p:nvPr/>
        </p:nvSpPr>
        <p:spPr>
          <a:xfrm>
            <a:off x="3918204" y="8188909"/>
            <a:ext cx="3095244" cy="566928"/>
          </a:xfrm>
          <a:prstGeom prst="rect">
            <a:avLst/>
          </a:prstGeom>
          <a:noFill/>
          <a:ln/>
        </p:spPr>
        <p:txBody>
          <a:bodyPr wrap="square" lIns="0" tIns="0" rIns="0" bIns="0" rtlCol="0" anchor="t"/>
          <a:lstStyle/>
          <a:p>
            <a:pPr indent="0" marL="0">
              <a:lnSpc>
                <a:spcPct val="105000"/>
              </a:lnSpc>
              <a:buNone/>
            </a:pPr>
            <a:r>
              <a:rPr lang="en-US" sz="950" dirty="0">
                <a:solidFill>
                  <a:schemeClr val="tx1"/>
                </a:solidFill>
              </a:rPr>
              <a:t>Greenhouses, the snow stadium, the fusion station and the Snow-to-Food plant, linked by pipe bridges and heat mains.</a:t>
            </a:r>
            <a:endParaRPr lang="en-US" sz="950" dirty="0"/>
          </a:p>
        </p:txBody>
      </p:sp>
      <p:sp>
        <p:nvSpPr>
          <p:cNvPr id="19" name="kicker-dot-239"/>
          <p:cNvSpPr/>
          <p:nvPr/>
        </p:nvSpPr>
        <p:spPr>
          <a:xfrm>
            <a:off x="548640" y="8842705"/>
            <a:ext cx="100584" cy="100584"/>
          </a:xfrm>
          <a:prstGeom prst="ellipse">
            <a:avLst/>
          </a:prstGeom>
          <a:solidFill>
            <a:schemeClr val="accent5"/>
          </a:solidFill>
          <a:ln w="12700">
            <a:solidFill>
              <a:schemeClr val="accent5"/>
            </a:solidFill>
            <a:prstDash val="solid"/>
          </a:ln>
        </p:spPr>
      </p:sp>
      <p:sp>
        <p:nvSpPr>
          <p:cNvPr id="20" name="text-240"/>
          <p:cNvSpPr txBox="1"/>
          <p:nvPr/>
        </p:nvSpPr>
        <p:spPr>
          <a:xfrm>
            <a:off x="731520" y="8801557"/>
            <a:ext cx="2912364" cy="201168"/>
          </a:xfrm>
          <a:prstGeom prst="rect">
            <a:avLst/>
          </a:prstGeom>
          <a:noFill/>
          <a:ln/>
        </p:spPr>
        <p:txBody>
          <a:bodyPr wrap="square" lIns="0" tIns="0" rIns="0" bIns="0" rtlCol="0" anchor="t"/>
          <a:lstStyle/>
          <a:p>
            <a:pPr indent="0" marL="0">
              <a:buNone/>
            </a:pPr>
            <a:r>
              <a:rPr lang="en-US" sz="900" b="1" spc="300" kern="0" dirty="0">
                <a:solidFill>
                  <a:schemeClr val="accent5"/>
                </a:solidFill>
              </a:rPr>
              <a:t>SOUTH</a:t>
            </a:r>
            <a:endParaRPr lang="en-US" sz="900" dirty="0"/>
          </a:p>
        </p:txBody>
      </p:sp>
      <p:sp>
        <p:nvSpPr>
          <p:cNvPr id="21" name="text-241"/>
          <p:cNvSpPr txBox="1"/>
          <p:nvPr/>
        </p:nvSpPr>
        <p:spPr>
          <a:xfrm>
            <a:off x="548640" y="9057589"/>
            <a:ext cx="3095244" cy="566928"/>
          </a:xfrm>
          <a:prstGeom prst="rect">
            <a:avLst/>
          </a:prstGeom>
          <a:noFill/>
          <a:ln/>
        </p:spPr>
        <p:txBody>
          <a:bodyPr wrap="square" lIns="0" tIns="0" rIns="0" bIns="0" rtlCol="0" anchor="t"/>
          <a:lstStyle/>
          <a:p>
            <a:pPr indent="0" marL="0">
              <a:lnSpc>
                <a:spcPct val="105000"/>
              </a:lnSpc>
              <a:buNone/>
            </a:pPr>
            <a:r>
              <a:rPr lang="en-US" sz="950" dirty="0">
                <a:solidFill>
                  <a:schemeClr val="tx1"/>
                </a:solidFill>
              </a:rPr>
              <a:t>Framed by Liberty Mall, Mount Aurora rises with its geothermal spa resort inside.</a:t>
            </a:r>
            <a:endParaRPr lang="en-US" sz="950" dirty="0"/>
          </a:p>
        </p:txBody>
      </p:sp>
      <p:sp>
        <p:nvSpPr>
          <p:cNvPr id="22" name="page-number"/>
          <p:cNvSpPr txBox="1"/>
          <p:nvPr/>
        </p:nvSpPr>
        <p:spPr>
          <a:xfrm>
            <a:off x="548640" y="10177272"/>
            <a:ext cx="411480" cy="219456"/>
          </a:xfrm>
          <a:prstGeom prst="rect">
            <a:avLst/>
          </a:prstGeom>
          <a:noFill/>
          <a:ln/>
        </p:spPr>
        <p:txBody>
          <a:bodyPr wrap="square" lIns="0" tIns="0" rIns="0" bIns="0" rtlCol="0" anchor="ctr"/>
          <a:lstStyle/>
          <a:p>
            <a:pPr algn="l" indent="0" marL="0">
              <a:buNone/>
            </a:pPr>
            <a:r>
              <a:rPr lang="en-US" sz="900" b="1" dirty="0">
                <a:solidFill>
                  <a:schemeClr val="tx1"/>
                </a:solidFill>
              </a:rPr>
              <a:t>10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dot-242"/>
          <p:cNvSpPr/>
          <p:nvPr/>
        </p:nvSpPr>
        <p:spPr>
          <a:xfrm>
            <a:off x="548640" y="544068"/>
            <a:ext cx="100584" cy="100584"/>
          </a:xfrm>
          <a:prstGeom prst="ellipse">
            <a:avLst/>
          </a:prstGeom>
          <a:solidFill>
            <a:schemeClr val="accent6"/>
          </a:solidFill>
          <a:ln w="12700">
            <a:solidFill>
              <a:schemeClr val="accent6"/>
            </a:solidFill>
            <a:prstDash val="solid"/>
          </a:ln>
        </p:spPr>
      </p:sp>
      <p:sp>
        <p:nvSpPr>
          <p:cNvPr id="3" name="text-243"/>
          <p:cNvSpPr txBox="1"/>
          <p:nvPr/>
        </p:nvSpPr>
        <p:spPr>
          <a:xfrm>
            <a:off x="731520" y="502920"/>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DOWNTOWN</a:t>
            </a:r>
            <a:endParaRPr lang="en-US" sz="900" dirty="0"/>
          </a:p>
        </p:txBody>
      </p:sp>
      <p:sp>
        <p:nvSpPr>
          <p:cNvPr id="4" name="title-244"/>
          <p:cNvSpPr txBox="1"/>
          <p:nvPr/>
        </p:nvSpPr>
        <p:spPr>
          <a:xfrm>
            <a:off x="548640" y="758952"/>
            <a:ext cx="6464808" cy="685800"/>
          </a:xfrm>
          <a:prstGeom prst="rect">
            <a:avLst/>
          </a:prstGeom>
          <a:noFill/>
          <a:ln/>
        </p:spPr>
        <p:txBody>
          <a:bodyPr wrap="square" lIns="0" tIns="0" rIns="0" bIns="0" rtlCol="0" anchor="t"/>
          <a:lstStyle/>
          <a:p>
            <a:pPr indent="0" marL="0">
              <a:lnSpc>
                <a:spcPct val="92000"/>
              </a:lnSpc>
              <a:buNone/>
            </a:pPr>
            <a:r>
              <a:rPr lang="en-US" sz="3400" b="1" dirty="0">
                <a:solidFill>
                  <a:schemeClr val="tx1"/>
                </a:solidFill>
                <a:latin typeface="+mj-lt" pitchFamily="34" charset="0"/>
                <a:ea typeface="+mj-lt" pitchFamily="34" charset="-122"/>
                <a:cs typeface="+mj-lt" pitchFamily="34" charset="-120"/>
              </a:rPr>
              <a:t>The Nine Blocks</a:t>
            </a:r>
            <a:endParaRPr lang="en-US" sz="3400" dirty="0"/>
          </a:p>
        </p:txBody>
      </p:sp>
      <p:pic>
        <p:nvPicPr>
          <p:cNvPr id="5" name="picture-246" descr="/home/user/chatbox-bi-n-o/magazine/assets/renders/downtown_aerial.jpg">    </p:cNvPr>
          <p:cNvPicPr>
            <a:picLocks noChangeAspect="1"/>
          </p:cNvPicPr>
          <p:nvPr/>
        </p:nvPicPr>
        <p:blipFill>
          <a:blip r:embed="rId1"/>
          <a:srcRect l="0" r="0" t="0" b="0"/>
          <a:stretch/>
        </p:blipFill>
        <p:spPr>
          <a:xfrm>
            <a:off x="0" y="1508760"/>
            <a:ext cx="7562088" cy="4206240"/>
          </a:xfrm>
          <a:prstGeom prst="rect">
            <a:avLst/>
          </a:prstGeom>
        </p:spPr>
      </p:pic>
      <p:sp>
        <p:nvSpPr>
          <p:cNvPr id="6" name="text-247"/>
          <p:cNvSpPr txBox="1"/>
          <p:nvPr/>
        </p:nvSpPr>
        <p:spPr>
          <a:xfrm>
            <a:off x="548640" y="5779008"/>
            <a:ext cx="6464808" cy="228600"/>
          </a:xfrm>
          <a:prstGeom prst="rect">
            <a:avLst/>
          </a:prstGeom>
          <a:noFill/>
          <a:ln/>
        </p:spPr>
        <p:txBody>
          <a:bodyPr wrap="square" lIns="0" tIns="0" rIns="0" bIns="0" rtlCol="0" anchor="t"/>
          <a:lstStyle/>
          <a:p>
            <a:pPr indent="0" marL="0">
              <a:buNone/>
            </a:pPr>
            <a:r>
              <a:rPr lang="en-US" sz="850" i="1" dirty="0">
                <a:solidFill>
                  <a:schemeClr val="tx2"/>
                </a:solidFill>
              </a:rPr>
              <a:t>Downtown from the south-east. The map below follows the city plan, with north at the top.</a:t>
            </a:r>
            <a:endParaRPr lang="en-US" sz="850" dirty="0"/>
          </a:p>
        </p:txBody>
      </p:sp>
      <p:sp>
        <p:nvSpPr>
          <p:cNvPr id="7" name="card-248"/>
          <p:cNvSpPr/>
          <p:nvPr/>
        </p:nvSpPr>
        <p:spPr>
          <a:xfrm>
            <a:off x="548640" y="6172200"/>
            <a:ext cx="2093976" cy="1216152"/>
          </a:xfrm>
          <a:prstGeom prst="roundRect">
            <a:avLst>
              <a:gd name="adj" fmla="val 6015"/>
            </a:avLst>
          </a:prstGeom>
          <a:solidFill>
            <a:schemeClr val="bg2"/>
          </a:solidFill>
          <a:ln w="12700">
            <a:solidFill>
              <a:schemeClr val="bg2"/>
            </a:solidFill>
            <a:prstDash val="solid"/>
          </a:ln>
        </p:spPr>
      </p:sp>
      <p:sp>
        <p:nvSpPr>
          <p:cNvPr id="8" name="text-249"/>
          <p:cNvSpPr txBox="1"/>
          <p:nvPr/>
        </p:nvSpPr>
        <p:spPr>
          <a:xfrm>
            <a:off x="667512" y="6281928"/>
            <a:ext cx="1856232" cy="219456"/>
          </a:xfrm>
          <a:prstGeom prst="rect">
            <a:avLst/>
          </a:prstGeom>
          <a:noFill/>
          <a:ln/>
        </p:spPr>
        <p:txBody>
          <a:bodyPr wrap="square" lIns="0" tIns="0" rIns="0" bIns="0" rtlCol="0" anchor="t"/>
          <a:lstStyle/>
          <a:p>
            <a:pPr indent="0" marL="0">
              <a:buNone/>
            </a:pPr>
            <a:r>
              <a:rPr lang="en-US" sz="1050" b="1" dirty="0">
                <a:solidFill>
                  <a:schemeClr val="accent6"/>
                </a:solidFill>
              </a:rPr>
              <a:t>Polaris Quarter</a:t>
            </a:r>
            <a:endParaRPr lang="en-US" sz="1050" dirty="0"/>
          </a:p>
        </p:txBody>
      </p:sp>
      <p:sp>
        <p:nvSpPr>
          <p:cNvPr id="9" name="text-250"/>
          <p:cNvSpPr txBox="1"/>
          <p:nvPr/>
        </p:nvSpPr>
        <p:spPr>
          <a:xfrm>
            <a:off x="667512" y="6556248"/>
            <a:ext cx="1856232" cy="758952"/>
          </a:xfrm>
          <a:prstGeom prst="rect">
            <a:avLst/>
          </a:prstGeom>
          <a:noFill/>
          <a:ln/>
        </p:spPr>
        <p:txBody>
          <a:bodyPr wrap="square" lIns="0" tIns="0" rIns="0" bIns="0" rtlCol="0" anchor="t"/>
          <a:lstStyle/>
          <a:p>
            <a:pPr indent="0" marL="0">
              <a:lnSpc>
                <a:spcPct val="105000"/>
              </a:lnSpc>
              <a:buNone/>
            </a:pPr>
            <a:r>
              <a:rPr lang="en-US" sz="1000" dirty="0">
                <a:solidFill>
                  <a:schemeClr val="tx1"/>
                </a:solidFill>
              </a:rPr>
              <a:t>Aurora Core – AI Control Tower · Aurora Haven Police Headquarters · Polaris Green Office Tower</a:t>
            </a:r>
            <a:endParaRPr lang="en-US" sz="1000" dirty="0"/>
          </a:p>
        </p:txBody>
      </p:sp>
      <p:sp>
        <p:nvSpPr>
          <p:cNvPr id="10" name="card-251"/>
          <p:cNvSpPr/>
          <p:nvPr/>
        </p:nvSpPr>
        <p:spPr>
          <a:xfrm>
            <a:off x="2734056" y="6172200"/>
            <a:ext cx="2093976" cy="1216152"/>
          </a:xfrm>
          <a:prstGeom prst="roundRect">
            <a:avLst>
              <a:gd name="adj" fmla="val 6015"/>
            </a:avLst>
          </a:prstGeom>
          <a:solidFill>
            <a:schemeClr val="bg2"/>
          </a:solidFill>
          <a:ln w="12700">
            <a:solidFill>
              <a:schemeClr val="bg2"/>
            </a:solidFill>
            <a:prstDash val="solid"/>
          </a:ln>
        </p:spPr>
      </p:sp>
      <p:sp>
        <p:nvSpPr>
          <p:cNvPr id="11" name="text-252"/>
          <p:cNvSpPr txBox="1"/>
          <p:nvPr/>
        </p:nvSpPr>
        <p:spPr>
          <a:xfrm>
            <a:off x="2852928" y="6281928"/>
            <a:ext cx="1856232" cy="219456"/>
          </a:xfrm>
          <a:prstGeom prst="rect">
            <a:avLst/>
          </a:prstGeom>
          <a:noFill/>
          <a:ln/>
        </p:spPr>
        <p:txBody>
          <a:bodyPr wrap="square" lIns="0" tIns="0" rIns="0" bIns="0" rtlCol="0" anchor="t"/>
          <a:lstStyle/>
          <a:p>
            <a:pPr indent="0" marL="0">
              <a:buNone/>
            </a:pPr>
            <a:r>
              <a:rPr lang="en-US" sz="1050" b="1" dirty="0">
                <a:solidFill>
                  <a:schemeClr val="accent6"/>
                </a:solidFill>
              </a:rPr>
              <a:t>Knowledge Quarter</a:t>
            </a:r>
            <a:endParaRPr lang="en-US" sz="1050" dirty="0"/>
          </a:p>
        </p:txBody>
      </p:sp>
      <p:sp>
        <p:nvSpPr>
          <p:cNvPr id="12" name="text-253"/>
          <p:cNvSpPr txBox="1"/>
          <p:nvPr/>
        </p:nvSpPr>
        <p:spPr>
          <a:xfrm>
            <a:off x="2852928" y="6556248"/>
            <a:ext cx="1856232" cy="758952"/>
          </a:xfrm>
          <a:prstGeom prst="rect">
            <a:avLst/>
          </a:prstGeom>
          <a:noFill/>
          <a:ln/>
        </p:spPr>
        <p:txBody>
          <a:bodyPr wrap="square" lIns="0" tIns="0" rIns="0" bIns="0" rtlCol="0" anchor="t"/>
          <a:lstStyle/>
          <a:p>
            <a:pPr indent="0" marL="0">
              <a:lnSpc>
                <a:spcPct val="105000"/>
              </a:lnSpc>
              <a:buNone/>
            </a:pPr>
            <a:r>
              <a:rPr lang="en-US" sz="1000" dirty="0">
                <a:solidFill>
                  <a:schemeClr val="tx1"/>
                </a:solidFill>
              </a:rPr>
              <a:t>Arctic University – Main Hall · Aurora Public Library</a:t>
            </a:r>
            <a:endParaRPr lang="en-US" sz="1000" dirty="0"/>
          </a:p>
        </p:txBody>
      </p:sp>
      <p:sp>
        <p:nvSpPr>
          <p:cNvPr id="13" name="card-254"/>
          <p:cNvSpPr/>
          <p:nvPr/>
        </p:nvSpPr>
        <p:spPr>
          <a:xfrm>
            <a:off x="4919472" y="6172200"/>
            <a:ext cx="2093976" cy="1216152"/>
          </a:xfrm>
          <a:prstGeom prst="roundRect">
            <a:avLst>
              <a:gd name="adj" fmla="val 6015"/>
            </a:avLst>
          </a:prstGeom>
          <a:solidFill>
            <a:schemeClr val="bg2"/>
          </a:solidFill>
          <a:ln w="12700">
            <a:solidFill>
              <a:schemeClr val="bg2"/>
            </a:solidFill>
            <a:prstDash val="solid"/>
          </a:ln>
        </p:spPr>
      </p:sp>
      <p:sp>
        <p:nvSpPr>
          <p:cNvPr id="14" name="text-255"/>
          <p:cNvSpPr txBox="1"/>
          <p:nvPr/>
        </p:nvSpPr>
        <p:spPr>
          <a:xfrm>
            <a:off x="5038344" y="6281928"/>
            <a:ext cx="1856232" cy="219456"/>
          </a:xfrm>
          <a:prstGeom prst="rect">
            <a:avLst/>
          </a:prstGeom>
          <a:noFill/>
          <a:ln/>
        </p:spPr>
        <p:txBody>
          <a:bodyPr wrap="square" lIns="0" tIns="0" rIns="0" bIns="0" rtlCol="0" anchor="t"/>
          <a:lstStyle/>
          <a:p>
            <a:pPr indent="0" marL="0">
              <a:buNone/>
            </a:pPr>
            <a:r>
              <a:rPr lang="en-US" sz="1050" b="1" dirty="0">
                <a:solidFill>
                  <a:schemeClr val="accent6"/>
                </a:solidFill>
              </a:rPr>
              <a:t>Financial District</a:t>
            </a:r>
            <a:endParaRPr lang="en-US" sz="1050" dirty="0"/>
          </a:p>
        </p:txBody>
      </p:sp>
      <p:sp>
        <p:nvSpPr>
          <p:cNvPr id="15" name="text-256"/>
          <p:cNvSpPr txBox="1"/>
          <p:nvPr/>
        </p:nvSpPr>
        <p:spPr>
          <a:xfrm>
            <a:off x="5038344" y="6556248"/>
            <a:ext cx="1856232" cy="758952"/>
          </a:xfrm>
          <a:prstGeom prst="rect">
            <a:avLst/>
          </a:prstGeom>
          <a:noFill/>
          <a:ln/>
        </p:spPr>
        <p:txBody>
          <a:bodyPr wrap="square" lIns="0" tIns="0" rIns="0" bIns="0" rtlCol="0" anchor="t"/>
          <a:lstStyle/>
          <a:p>
            <a:pPr indent="0" marL="0">
              <a:lnSpc>
                <a:spcPct val="105000"/>
              </a:lnSpc>
              <a:buNone/>
            </a:pPr>
            <a:r>
              <a:rPr lang="en-US" sz="1000" dirty="0">
                <a:solidFill>
                  <a:schemeClr val="tx1"/>
                </a:solidFill>
              </a:rPr>
              <a:t>Arctic Stock Exchange · Aurora Green Finance Hall · Snowline Courthouse · Aurora Business Hotel</a:t>
            </a:r>
            <a:endParaRPr lang="en-US" sz="1000" dirty="0"/>
          </a:p>
        </p:txBody>
      </p:sp>
      <p:sp>
        <p:nvSpPr>
          <p:cNvPr id="16" name="card-257"/>
          <p:cNvSpPr/>
          <p:nvPr/>
        </p:nvSpPr>
        <p:spPr>
          <a:xfrm>
            <a:off x="548640" y="7479792"/>
            <a:ext cx="2093976" cy="1216152"/>
          </a:xfrm>
          <a:prstGeom prst="roundRect">
            <a:avLst>
              <a:gd name="adj" fmla="val 6015"/>
            </a:avLst>
          </a:prstGeom>
          <a:solidFill>
            <a:schemeClr val="bg2"/>
          </a:solidFill>
          <a:ln w="12700">
            <a:solidFill>
              <a:schemeClr val="bg2"/>
            </a:solidFill>
            <a:prstDash val="solid"/>
          </a:ln>
        </p:spPr>
      </p:sp>
      <p:sp>
        <p:nvSpPr>
          <p:cNvPr id="17" name="text-258"/>
          <p:cNvSpPr txBox="1"/>
          <p:nvPr/>
        </p:nvSpPr>
        <p:spPr>
          <a:xfrm>
            <a:off x="667512" y="7589520"/>
            <a:ext cx="1856232" cy="219456"/>
          </a:xfrm>
          <a:prstGeom prst="rect">
            <a:avLst/>
          </a:prstGeom>
          <a:noFill/>
          <a:ln/>
        </p:spPr>
        <p:txBody>
          <a:bodyPr wrap="square" lIns="0" tIns="0" rIns="0" bIns="0" rtlCol="0" anchor="t"/>
          <a:lstStyle/>
          <a:p>
            <a:pPr indent="0" marL="0">
              <a:buNone/>
            </a:pPr>
            <a:r>
              <a:rPr lang="en-US" sz="1050" b="1" dirty="0">
                <a:solidFill>
                  <a:schemeClr val="accent6"/>
                </a:solidFill>
              </a:rPr>
              <a:t>West Market Street</a:t>
            </a:r>
            <a:endParaRPr lang="en-US" sz="1050" dirty="0"/>
          </a:p>
        </p:txBody>
      </p:sp>
      <p:sp>
        <p:nvSpPr>
          <p:cNvPr id="18" name="text-259"/>
          <p:cNvSpPr txBox="1"/>
          <p:nvPr/>
        </p:nvSpPr>
        <p:spPr>
          <a:xfrm>
            <a:off x="667512" y="7863840"/>
            <a:ext cx="1856232" cy="758952"/>
          </a:xfrm>
          <a:prstGeom prst="rect">
            <a:avLst/>
          </a:prstGeom>
          <a:noFill/>
          <a:ln/>
        </p:spPr>
        <p:txBody>
          <a:bodyPr wrap="square" lIns="0" tIns="0" rIns="0" bIns="0" rtlCol="0" anchor="t"/>
          <a:lstStyle/>
          <a:p>
            <a:pPr indent="0" marL="0">
              <a:lnSpc>
                <a:spcPct val="105000"/>
              </a:lnSpc>
              <a:buNone/>
            </a:pPr>
            <a:r>
              <a:rPr lang="en-US" sz="1000" dirty="0">
                <a:solidFill>
                  <a:schemeClr val="tx1"/>
                </a:solidFill>
              </a:rPr>
              <a:t>West Market Fire &amp; Ambulance Station · Aurora Night Market Hall · Polar Pharmacy</a:t>
            </a:r>
            <a:endParaRPr lang="en-US" sz="1000" dirty="0"/>
          </a:p>
        </p:txBody>
      </p:sp>
      <p:sp>
        <p:nvSpPr>
          <p:cNvPr id="19" name="card-260"/>
          <p:cNvSpPr/>
          <p:nvPr/>
        </p:nvSpPr>
        <p:spPr>
          <a:xfrm>
            <a:off x="2734056" y="7479792"/>
            <a:ext cx="2093976" cy="1216152"/>
          </a:xfrm>
          <a:prstGeom prst="roundRect">
            <a:avLst>
              <a:gd name="adj" fmla="val 6015"/>
            </a:avLst>
          </a:prstGeom>
          <a:solidFill>
            <a:schemeClr val="tx1"/>
          </a:solidFill>
          <a:ln w="12700">
            <a:solidFill>
              <a:schemeClr val="tx1"/>
            </a:solidFill>
            <a:prstDash val="solid"/>
          </a:ln>
        </p:spPr>
      </p:sp>
      <p:sp>
        <p:nvSpPr>
          <p:cNvPr id="20" name="text-261"/>
          <p:cNvSpPr txBox="1"/>
          <p:nvPr/>
        </p:nvSpPr>
        <p:spPr>
          <a:xfrm>
            <a:off x="2852928" y="7589520"/>
            <a:ext cx="1856232" cy="219456"/>
          </a:xfrm>
          <a:prstGeom prst="rect">
            <a:avLst/>
          </a:prstGeom>
          <a:noFill/>
          <a:ln/>
        </p:spPr>
        <p:txBody>
          <a:bodyPr wrap="square" lIns="0" tIns="0" rIns="0" bIns="0" rtlCol="0" anchor="t"/>
          <a:lstStyle/>
          <a:p>
            <a:pPr indent="0" marL="0">
              <a:buNone/>
            </a:pPr>
            <a:r>
              <a:rPr lang="en-US" sz="1050" b="1" dirty="0">
                <a:solidFill>
                  <a:schemeClr val="accent1"/>
                </a:solidFill>
              </a:rPr>
              <a:t>Civic Core &amp; Liberty Mall</a:t>
            </a:r>
            <a:endParaRPr lang="en-US" sz="1050" dirty="0"/>
          </a:p>
        </p:txBody>
      </p:sp>
      <p:sp>
        <p:nvSpPr>
          <p:cNvPr id="21" name="text-262"/>
          <p:cNvSpPr txBox="1"/>
          <p:nvPr/>
        </p:nvSpPr>
        <p:spPr>
          <a:xfrm>
            <a:off x="2852928" y="7863840"/>
            <a:ext cx="1856232" cy="758952"/>
          </a:xfrm>
          <a:prstGeom prst="rect">
            <a:avLst/>
          </a:prstGeom>
          <a:noFill/>
          <a:ln/>
        </p:spPr>
        <p:txBody>
          <a:bodyPr wrap="square" lIns="0" tIns="0" rIns="0" bIns="0" rtlCol="0" anchor="t"/>
          <a:lstStyle/>
          <a:p>
            <a:pPr indent="0" marL="0">
              <a:lnSpc>
                <a:spcPct val="105000"/>
              </a:lnSpc>
              <a:buNone/>
            </a:pPr>
            <a:r>
              <a:rPr lang="en-US" sz="1000" dirty="0">
                <a:solidFill>
                  <a:schemeClr val="bg1"/>
                </a:solidFill>
              </a:rPr>
              <a:t>Founding Mayor Monument · Civic Center · Snowflake General Hospital · Northern Lights School · Igloo Fresh · Aurora Cinema · Metro</a:t>
            </a:r>
            <a:endParaRPr lang="en-US" sz="1000" dirty="0"/>
          </a:p>
        </p:txBody>
      </p:sp>
      <p:sp>
        <p:nvSpPr>
          <p:cNvPr id="22" name="card-263"/>
          <p:cNvSpPr/>
          <p:nvPr/>
        </p:nvSpPr>
        <p:spPr>
          <a:xfrm>
            <a:off x="4919472" y="7479792"/>
            <a:ext cx="2093976" cy="1216152"/>
          </a:xfrm>
          <a:prstGeom prst="roundRect">
            <a:avLst>
              <a:gd name="adj" fmla="val 6015"/>
            </a:avLst>
          </a:prstGeom>
          <a:solidFill>
            <a:schemeClr val="bg2"/>
          </a:solidFill>
          <a:ln w="12700">
            <a:solidFill>
              <a:schemeClr val="bg2"/>
            </a:solidFill>
            <a:prstDash val="solid"/>
          </a:ln>
        </p:spPr>
      </p:sp>
      <p:sp>
        <p:nvSpPr>
          <p:cNvPr id="23" name="text-264"/>
          <p:cNvSpPr txBox="1"/>
          <p:nvPr/>
        </p:nvSpPr>
        <p:spPr>
          <a:xfrm>
            <a:off x="5038344" y="7589520"/>
            <a:ext cx="1856232" cy="219456"/>
          </a:xfrm>
          <a:prstGeom prst="rect">
            <a:avLst/>
          </a:prstGeom>
          <a:noFill/>
          <a:ln/>
        </p:spPr>
        <p:txBody>
          <a:bodyPr wrap="square" lIns="0" tIns="0" rIns="0" bIns="0" rtlCol="0" anchor="t"/>
          <a:lstStyle/>
          <a:p>
            <a:pPr indent="0" marL="0">
              <a:buNone/>
            </a:pPr>
            <a:r>
              <a:rPr lang="en-US" sz="1050" b="1" dirty="0">
                <a:solidFill>
                  <a:schemeClr val="accent6"/>
                </a:solidFill>
              </a:rPr>
              <a:t>East Gallery Avenue</a:t>
            </a:r>
            <a:endParaRPr lang="en-US" sz="1050" dirty="0"/>
          </a:p>
        </p:txBody>
      </p:sp>
      <p:sp>
        <p:nvSpPr>
          <p:cNvPr id="24" name="text-265"/>
          <p:cNvSpPr txBox="1"/>
          <p:nvPr/>
        </p:nvSpPr>
        <p:spPr>
          <a:xfrm>
            <a:off x="5038344" y="7863840"/>
            <a:ext cx="1856232" cy="758952"/>
          </a:xfrm>
          <a:prstGeom prst="rect">
            <a:avLst/>
          </a:prstGeom>
          <a:noFill/>
          <a:ln/>
        </p:spPr>
        <p:txBody>
          <a:bodyPr wrap="square" lIns="0" tIns="0" rIns="0" bIns="0" rtlCol="0" anchor="t"/>
          <a:lstStyle/>
          <a:p>
            <a:pPr indent="0" marL="0">
              <a:lnSpc>
                <a:spcPct val="105000"/>
              </a:lnSpc>
              <a:buNone/>
            </a:pPr>
            <a:r>
              <a:rPr lang="en-US" sz="1000" dirty="0">
                <a:solidFill>
                  <a:schemeClr val="tx1"/>
                </a:solidFill>
              </a:rPr>
              <a:t>Aurora Glacier Mall &amp; Crystal Atrium · Snow Lantern Primary School · Northern Lights Music Hall</a:t>
            </a:r>
            <a:endParaRPr lang="en-US" sz="1000" dirty="0"/>
          </a:p>
        </p:txBody>
      </p:sp>
      <p:sp>
        <p:nvSpPr>
          <p:cNvPr id="25" name="card-266"/>
          <p:cNvSpPr/>
          <p:nvPr/>
        </p:nvSpPr>
        <p:spPr>
          <a:xfrm>
            <a:off x="548640" y="8787384"/>
            <a:ext cx="2093976" cy="1216152"/>
          </a:xfrm>
          <a:prstGeom prst="roundRect">
            <a:avLst>
              <a:gd name="adj" fmla="val 6015"/>
            </a:avLst>
          </a:prstGeom>
          <a:solidFill>
            <a:schemeClr val="bg2"/>
          </a:solidFill>
          <a:ln w="12700">
            <a:solidFill>
              <a:schemeClr val="bg2"/>
            </a:solidFill>
            <a:prstDash val="solid"/>
          </a:ln>
        </p:spPr>
      </p:sp>
      <p:sp>
        <p:nvSpPr>
          <p:cNvPr id="26" name="text-267"/>
          <p:cNvSpPr txBox="1"/>
          <p:nvPr/>
        </p:nvSpPr>
        <p:spPr>
          <a:xfrm>
            <a:off x="667512" y="8897112"/>
            <a:ext cx="1856232" cy="219456"/>
          </a:xfrm>
          <a:prstGeom prst="rect">
            <a:avLst/>
          </a:prstGeom>
          <a:noFill/>
          <a:ln/>
        </p:spPr>
        <p:txBody>
          <a:bodyPr wrap="square" lIns="0" tIns="0" rIns="0" bIns="0" rtlCol="0" anchor="t"/>
          <a:lstStyle/>
          <a:p>
            <a:pPr indent="0" marL="0">
              <a:buNone/>
            </a:pPr>
            <a:r>
              <a:rPr lang="en-US" sz="1050" b="1" dirty="0">
                <a:solidFill>
                  <a:schemeClr val="accent6"/>
                </a:solidFill>
              </a:rPr>
              <a:t>Snowpine Residences</a:t>
            </a:r>
            <a:endParaRPr lang="en-US" sz="1050" dirty="0"/>
          </a:p>
        </p:txBody>
      </p:sp>
      <p:sp>
        <p:nvSpPr>
          <p:cNvPr id="27" name="text-268"/>
          <p:cNvSpPr txBox="1"/>
          <p:nvPr/>
        </p:nvSpPr>
        <p:spPr>
          <a:xfrm>
            <a:off x="667512" y="9171432"/>
            <a:ext cx="1856232" cy="758952"/>
          </a:xfrm>
          <a:prstGeom prst="rect">
            <a:avLst/>
          </a:prstGeom>
          <a:noFill/>
          <a:ln/>
        </p:spPr>
        <p:txBody>
          <a:bodyPr wrap="square" lIns="0" tIns="0" rIns="0" bIns="0" rtlCol="0" anchor="t"/>
          <a:lstStyle/>
          <a:p>
            <a:pPr indent="0" marL="0">
              <a:lnSpc>
                <a:spcPct val="105000"/>
              </a:lnSpc>
              <a:buNone/>
            </a:pPr>
            <a:r>
              <a:rPr lang="en-US" sz="1000" dirty="0">
                <a:solidFill>
                  <a:schemeClr val="tx1"/>
                </a:solidFill>
              </a:rPr>
              <a:t>Family homes · Pinecone Kindergarten · Snowpine Senior Care Home</a:t>
            </a:r>
            <a:endParaRPr lang="en-US" sz="1000" dirty="0"/>
          </a:p>
        </p:txBody>
      </p:sp>
      <p:sp>
        <p:nvSpPr>
          <p:cNvPr id="28" name="card-269"/>
          <p:cNvSpPr/>
          <p:nvPr/>
        </p:nvSpPr>
        <p:spPr>
          <a:xfrm>
            <a:off x="2734056" y="8787384"/>
            <a:ext cx="2093976" cy="1216152"/>
          </a:xfrm>
          <a:prstGeom prst="roundRect">
            <a:avLst>
              <a:gd name="adj" fmla="val 6015"/>
            </a:avLst>
          </a:prstGeom>
          <a:solidFill>
            <a:schemeClr val="bg2"/>
          </a:solidFill>
          <a:ln w="12700">
            <a:solidFill>
              <a:schemeClr val="bg2"/>
            </a:solidFill>
            <a:prstDash val="solid"/>
          </a:ln>
        </p:spPr>
      </p:sp>
      <p:sp>
        <p:nvSpPr>
          <p:cNvPr id="29" name="text-270"/>
          <p:cNvSpPr txBox="1"/>
          <p:nvPr/>
        </p:nvSpPr>
        <p:spPr>
          <a:xfrm>
            <a:off x="2852928" y="8897112"/>
            <a:ext cx="1856232" cy="219456"/>
          </a:xfrm>
          <a:prstGeom prst="rect">
            <a:avLst/>
          </a:prstGeom>
          <a:noFill/>
          <a:ln/>
        </p:spPr>
        <p:txBody>
          <a:bodyPr wrap="square" lIns="0" tIns="0" rIns="0" bIns="0" rtlCol="0" anchor="t"/>
          <a:lstStyle/>
          <a:p>
            <a:pPr indent="0" marL="0">
              <a:buNone/>
            </a:pPr>
            <a:r>
              <a:rPr lang="en-US" sz="1050" b="1" dirty="0">
                <a:solidFill>
                  <a:schemeClr val="accent6"/>
                </a:solidFill>
              </a:rPr>
              <a:t>Mount Aurora Approach</a:t>
            </a:r>
            <a:endParaRPr lang="en-US" sz="1050" dirty="0"/>
          </a:p>
        </p:txBody>
      </p:sp>
      <p:sp>
        <p:nvSpPr>
          <p:cNvPr id="30" name="text-271"/>
          <p:cNvSpPr txBox="1"/>
          <p:nvPr/>
        </p:nvSpPr>
        <p:spPr>
          <a:xfrm>
            <a:off x="2852928" y="9171432"/>
            <a:ext cx="1856232" cy="758952"/>
          </a:xfrm>
          <a:prstGeom prst="rect">
            <a:avLst/>
          </a:prstGeom>
          <a:noFill/>
          <a:ln/>
        </p:spPr>
        <p:txBody>
          <a:bodyPr wrap="square" lIns="0" tIns="0" rIns="0" bIns="0" rtlCol="0" anchor="t"/>
          <a:lstStyle/>
          <a:p>
            <a:pPr indent="0" marL="0">
              <a:lnSpc>
                <a:spcPct val="105000"/>
              </a:lnSpc>
              <a:buNone/>
            </a:pPr>
            <a:r>
              <a:rPr lang="en-US" sz="1000" dirty="0">
                <a:solidFill>
                  <a:schemeClr val="tx1"/>
                </a:solidFill>
              </a:rPr>
              <a:t>Mount Aurora Guesthouse · Southside Police &amp; Mountain Rescue Post · spa shuttle street</a:t>
            </a:r>
            <a:endParaRPr lang="en-US" sz="1000" dirty="0"/>
          </a:p>
        </p:txBody>
      </p:sp>
      <p:sp>
        <p:nvSpPr>
          <p:cNvPr id="31" name="card-272"/>
          <p:cNvSpPr/>
          <p:nvPr/>
        </p:nvSpPr>
        <p:spPr>
          <a:xfrm>
            <a:off x="4919472" y="8787384"/>
            <a:ext cx="2093976" cy="1216152"/>
          </a:xfrm>
          <a:prstGeom prst="roundRect">
            <a:avLst>
              <a:gd name="adj" fmla="val 6015"/>
            </a:avLst>
          </a:prstGeom>
          <a:solidFill>
            <a:schemeClr val="bg2"/>
          </a:solidFill>
          <a:ln w="12700">
            <a:solidFill>
              <a:schemeClr val="bg2"/>
            </a:solidFill>
            <a:prstDash val="solid"/>
          </a:ln>
        </p:spPr>
      </p:sp>
      <p:sp>
        <p:nvSpPr>
          <p:cNvPr id="32" name="text-273"/>
          <p:cNvSpPr txBox="1"/>
          <p:nvPr/>
        </p:nvSpPr>
        <p:spPr>
          <a:xfrm>
            <a:off x="5038344" y="8897112"/>
            <a:ext cx="1856232" cy="219456"/>
          </a:xfrm>
          <a:prstGeom prst="rect">
            <a:avLst/>
          </a:prstGeom>
          <a:noFill/>
          <a:ln/>
        </p:spPr>
        <p:txBody>
          <a:bodyPr wrap="square" lIns="0" tIns="0" rIns="0" bIns="0" rtlCol="0" anchor="t"/>
          <a:lstStyle/>
          <a:p>
            <a:pPr indent="0" marL="0">
              <a:buNone/>
            </a:pPr>
            <a:r>
              <a:rPr lang="en-US" sz="1050" b="1" dirty="0">
                <a:solidFill>
                  <a:schemeClr val="accent6"/>
                </a:solidFill>
              </a:rPr>
              <a:t>Aurora 81 District</a:t>
            </a:r>
            <a:endParaRPr lang="en-US" sz="1050" dirty="0"/>
          </a:p>
        </p:txBody>
      </p:sp>
      <p:sp>
        <p:nvSpPr>
          <p:cNvPr id="33" name="text-274"/>
          <p:cNvSpPr txBox="1"/>
          <p:nvPr/>
        </p:nvSpPr>
        <p:spPr>
          <a:xfrm>
            <a:off x="5038344" y="9171432"/>
            <a:ext cx="1856232" cy="758952"/>
          </a:xfrm>
          <a:prstGeom prst="rect">
            <a:avLst/>
          </a:prstGeom>
          <a:noFill/>
          <a:ln/>
        </p:spPr>
        <p:txBody>
          <a:bodyPr wrap="square" lIns="0" tIns="0" rIns="0" bIns="0" rtlCol="0" anchor="t"/>
          <a:lstStyle/>
          <a:p>
            <a:pPr indent="0" marL="0">
              <a:lnSpc>
                <a:spcPct val="105000"/>
              </a:lnSpc>
              <a:buNone/>
            </a:pPr>
            <a:r>
              <a:rPr lang="en-US" sz="1000" dirty="0">
                <a:solidFill>
                  <a:schemeClr val="tx1"/>
                </a:solidFill>
              </a:rPr>
              <a:t>Aurora 81 – Polar Landmark Tower · Aurora 81 Residences (Twin Towers)</a:t>
            </a:r>
            <a:endParaRPr lang="en-US" sz="1000" dirty="0"/>
          </a:p>
        </p:txBody>
      </p:sp>
      <p:sp>
        <p:nvSpPr>
          <p:cNvPr id="34" name="page-number"/>
          <p:cNvSpPr txBox="1"/>
          <p:nvPr/>
        </p:nvSpPr>
        <p:spPr>
          <a:xfrm>
            <a:off x="6601968" y="10177272"/>
            <a:ext cx="411480" cy="219456"/>
          </a:xfrm>
          <a:prstGeom prst="rect">
            <a:avLst/>
          </a:prstGeom>
          <a:noFill/>
          <a:ln/>
        </p:spPr>
        <p:txBody>
          <a:bodyPr wrap="square" lIns="0" tIns="0" rIns="0" bIns="0" rtlCol="0" anchor="ctr"/>
          <a:lstStyle/>
          <a:p>
            <a:pPr algn="r" indent="0" marL="0">
              <a:buNone/>
            </a:pPr>
            <a:r>
              <a:rPr lang="en-US" sz="900" b="1" dirty="0">
                <a:solidFill>
                  <a:schemeClr val="tx1"/>
                </a:solidFill>
              </a:rPr>
              <a:t>11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picture-275" descr="/home/user/chatbox-bi-n-o/magazine/assets/renders/fusion_spread_L.jpg">    </p:cNvPr>
          <p:cNvPicPr>
            <a:picLocks noChangeAspect="1"/>
          </p:cNvPicPr>
          <p:nvPr/>
        </p:nvPicPr>
        <p:blipFill>
          <a:blip r:embed="rId1"/>
          <a:srcRect l="0" r="0" t="0" b="0"/>
          <a:stretch/>
        </p:blipFill>
        <p:spPr>
          <a:xfrm>
            <a:off x="0" y="0"/>
            <a:ext cx="7562088" cy="10689336"/>
          </a:xfrm>
          <a:prstGeom prst="rect">
            <a:avLst/>
          </a:prstGeom>
        </p:spPr>
      </p:pic>
      <p:pic>
        <p:nvPicPr>
          <p:cNvPr id="3" name="shade-top-276" descr="/home/user/chatbox-bi-n-o/magazine/assets/ui/shade_top.png">    </p:cNvPr>
          <p:cNvPicPr>
            <a:picLocks noChangeAspect="1"/>
          </p:cNvPicPr>
          <p:nvPr/>
        </p:nvPicPr>
        <p:blipFill>
          <a:blip r:embed="rId2"/>
          <a:stretch>
            <a:fillRect/>
          </a:stretch>
        </p:blipFill>
        <p:spPr>
          <a:xfrm>
            <a:off x="0" y="0"/>
            <a:ext cx="7562088" cy="4206240"/>
          </a:xfrm>
          <a:prstGeom prst="rect">
            <a:avLst/>
          </a:prstGeom>
        </p:spPr>
      </p:pic>
      <p:sp>
        <p:nvSpPr>
          <p:cNvPr id="4" name="marker-277"/>
          <p:cNvSpPr/>
          <p:nvPr/>
        </p:nvSpPr>
        <p:spPr>
          <a:xfrm>
            <a:off x="548640" y="548640"/>
            <a:ext cx="731520" cy="731520"/>
          </a:xfrm>
          <a:prstGeom prst="ellipse">
            <a:avLst/>
          </a:prstGeom>
          <a:solidFill>
            <a:schemeClr val="accent3"/>
          </a:solidFill>
          <a:ln w="19050">
            <a:solidFill>
              <a:schemeClr val="bg1"/>
            </a:solidFill>
            <a:prstDash val="solid"/>
          </a:ln>
        </p:spPr>
      </p:sp>
      <p:sp>
        <p:nvSpPr>
          <p:cNvPr id="5" name="text-278"/>
          <p:cNvSpPr txBox="1"/>
          <p:nvPr/>
        </p:nvSpPr>
        <p:spPr>
          <a:xfrm>
            <a:off x="548640" y="54864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latin typeface="+mj-lt" pitchFamily="34" charset="0"/>
                <a:ea typeface="+mj-lt" pitchFamily="34" charset="-122"/>
                <a:cs typeface="+mj-lt" pitchFamily="34" charset="-120"/>
              </a:rPr>
              <a:t>1</a:t>
            </a:r>
            <a:endParaRPr lang="en-US" sz="2800" dirty="0"/>
          </a:p>
        </p:txBody>
      </p:sp>
      <p:sp>
        <p:nvSpPr>
          <p:cNvPr id="6" name="kicker-dot-279"/>
          <p:cNvSpPr/>
          <p:nvPr/>
        </p:nvSpPr>
        <p:spPr>
          <a:xfrm>
            <a:off x="548640" y="1549908"/>
            <a:ext cx="100584" cy="100584"/>
          </a:xfrm>
          <a:prstGeom prst="ellipse">
            <a:avLst/>
          </a:prstGeom>
          <a:solidFill>
            <a:schemeClr val="accent3"/>
          </a:solidFill>
          <a:ln w="12700">
            <a:solidFill>
              <a:schemeClr val="accent3"/>
            </a:solidFill>
            <a:prstDash val="solid"/>
          </a:ln>
        </p:spPr>
      </p:sp>
      <p:sp>
        <p:nvSpPr>
          <p:cNvPr id="7" name="text-280"/>
          <p:cNvSpPr txBox="1"/>
          <p:nvPr/>
        </p:nvSpPr>
        <p:spPr>
          <a:xfrm>
            <a:off x="731520" y="1508760"/>
            <a:ext cx="5486400" cy="201168"/>
          </a:xfrm>
          <a:prstGeom prst="rect">
            <a:avLst/>
          </a:prstGeom>
          <a:noFill/>
          <a:ln/>
        </p:spPr>
        <p:txBody>
          <a:bodyPr wrap="square" lIns="0" tIns="0" rIns="0" bIns="0" rtlCol="0" anchor="t"/>
          <a:lstStyle/>
          <a:p>
            <a:pPr indent="0" marL="0">
              <a:buNone/>
            </a:pPr>
            <a:r>
              <a:rPr lang="en-US" sz="900" b="1" spc="300" kern="0" dirty="0">
                <a:solidFill>
                  <a:schemeClr val="bg1"/>
                </a:solidFill>
              </a:rPr>
              <a:t>SIGNATURE DISTRICT 1 · FUSION POWER STATION</a:t>
            </a:r>
            <a:endParaRPr lang="en-US" sz="900" dirty="0"/>
          </a:p>
        </p:txBody>
      </p:sp>
      <p:sp>
        <p:nvSpPr>
          <p:cNvPr id="8" name="title-281"/>
          <p:cNvSpPr txBox="1"/>
          <p:nvPr/>
        </p:nvSpPr>
        <p:spPr>
          <a:xfrm>
            <a:off x="548640" y="1764792"/>
            <a:ext cx="6464808" cy="868680"/>
          </a:xfrm>
          <a:prstGeom prst="rect">
            <a:avLst/>
          </a:prstGeom>
          <a:noFill/>
          <a:ln/>
        </p:spPr>
        <p:txBody>
          <a:bodyPr wrap="square" lIns="0" tIns="0" rIns="0" bIns="0" rtlCol="0" anchor="t"/>
          <a:lstStyle/>
          <a:p>
            <a:pPr indent="0" marL="0">
              <a:lnSpc>
                <a:spcPct val="92000"/>
              </a:lnSpc>
              <a:buNone/>
            </a:pPr>
            <a:r>
              <a:rPr lang="en-US" sz="5000" b="1" dirty="0">
                <a:solidFill>
                  <a:schemeClr val="bg1"/>
                </a:solidFill>
                <a:latin typeface="+mj-lt" pitchFamily="34" charset="0"/>
                <a:ea typeface="+mj-lt" pitchFamily="34" charset="-122"/>
                <a:cs typeface="+mj-lt" pitchFamily="34" charset="-120"/>
              </a:rPr>
              <a:t>The City's Own Sun</a:t>
            </a:r>
            <a:endParaRPr lang="en-US" sz="5000" dirty="0"/>
          </a:p>
        </p:txBody>
      </p:sp>
      <p:sp>
        <p:nvSpPr>
          <p:cNvPr id="9" name="text-283"/>
          <p:cNvSpPr txBox="1"/>
          <p:nvPr/>
        </p:nvSpPr>
        <p:spPr>
          <a:xfrm>
            <a:off x="548640" y="2697480"/>
            <a:ext cx="5120640" cy="914400"/>
          </a:xfrm>
          <a:prstGeom prst="rect">
            <a:avLst/>
          </a:prstGeom>
          <a:noFill/>
          <a:ln/>
        </p:spPr>
        <p:txBody>
          <a:bodyPr wrap="square" lIns="0" tIns="0" rIns="0" bIns="0" rtlCol="0" anchor="t"/>
          <a:lstStyle/>
          <a:p>
            <a:pPr indent="0" marL="0">
              <a:lnSpc>
                <a:spcPct val="110000"/>
              </a:lnSpc>
              <a:buNone/>
            </a:pPr>
            <a:r>
              <a:rPr lang="en-US" sz="1500" i="1" dirty="0">
                <a:solidFill>
                  <a:schemeClr val="bg1"/>
                </a:solidFill>
                <a:latin typeface="+mj-lt" pitchFamily="34" charset="0"/>
                <a:ea typeface="+mj-lt" pitchFamily="34" charset="-122"/>
                <a:cs typeface="+mj-lt" pitchFamily="34" charset="-120"/>
              </a:rPr>
              <a:t>Our big idea: put a fusion reactor inside the city itself, so one machine lights every home, heats every street and melts the snow we drink.</a:t>
            </a:r>
            <a:endParaRPr lang="en-US" sz="1500" dirty="0"/>
          </a:p>
        </p:txBody>
      </p:sp>
      <p:sp>
        <p:nvSpPr>
          <p:cNvPr id="10" name="panel-284"/>
          <p:cNvSpPr/>
          <p:nvPr/>
        </p:nvSpPr>
        <p:spPr>
          <a:xfrm>
            <a:off x="320040" y="6903720"/>
            <a:ext cx="3474720" cy="2651760"/>
          </a:xfrm>
          <a:prstGeom prst="rect">
            <a:avLst/>
          </a:prstGeom>
          <a:solidFill>
            <a:schemeClr val="tx1">
              <a:alpha val="78000"/>
            </a:schemeClr>
          </a:solidFill>
          <a:ln w="12700">
            <a:solidFill>
              <a:schemeClr val="tx1">
                <a:alpha val="0"/>
              </a:schemeClr>
            </a:solidFill>
            <a:prstDash val="solid"/>
          </a:ln>
        </p:spPr>
      </p:sp>
      <p:sp>
        <p:nvSpPr>
          <p:cNvPr id="11" name="text-285"/>
          <p:cNvSpPr txBox="1"/>
          <p:nvPr/>
        </p:nvSpPr>
        <p:spPr>
          <a:xfrm>
            <a:off x="548640" y="7132320"/>
            <a:ext cx="3017520" cy="2697480"/>
          </a:xfrm>
          <a:prstGeom prst="rect">
            <a:avLst/>
          </a:prstGeom>
          <a:noFill/>
          <a:ln/>
        </p:spPr>
        <p:txBody>
          <a:bodyPr wrap="square" lIns="0" tIns="0" rIns="0" bIns="0" rtlCol="0" anchor="t"/>
          <a:lstStyle/>
          <a:p>
            <a:pPr indent="0" marL="0">
              <a:lnSpc>
                <a:spcPct val="112000"/>
              </a:lnSpc>
              <a:spcAft>
                <a:spcPts val="700"/>
              </a:spcAft>
              <a:buNone/>
            </a:pPr>
            <a:r>
              <a:rPr lang="en-US" sz="1000" dirty="0">
                <a:solidFill>
                  <a:schemeClr val="bg1"/>
                </a:solidFill>
              </a:rPr>
              <a:t>Our first signature district is the city’s own sun. Stage 1 takes deuterium from snowmelt water, so the fuel literally falls from the sky as snow. Stage 2 breeds tritium in a lithium blanket, so none is imported.</a:t>
            </a:r>
            <a:endParaRPr lang="en-US" sz="1000" dirty="0"/>
          </a:p>
          <a:p>
            <a:pPr indent="0" marL="0">
              <a:lnSpc>
                <a:spcPct val="112000"/>
              </a:lnSpc>
              <a:spcAft>
                <a:spcPts val="700"/>
              </a:spcAft>
              <a:buNone/>
            </a:pPr>
            <a:r>
              <a:rPr lang="en-US" sz="1000" dirty="0">
                <a:solidFill>
                  <a:schemeClr val="bg1"/>
                </a:solidFill>
              </a:rPr>
              <a:t>Stage 3 is the tokamak, where superconducting magnets hold a 150-million-degree plasma that makes about 800 megawatts of heat. Stage 4 turns that heat into about 300 megawatts of electricity and sends 450 megawatts into the district-heating loop.</a:t>
            </a:r>
            <a:endParaRPr lang="en-US" sz="1000" dirty="0"/>
          </a:p>
          <a:p>
            <a:pPr indent="0" marL="0">
              <a:lnSpc>
                <a:spcPct val="112000"/>
              </a:lnSpc>
              <a:spcAft>
                <a:spcPts val="700"/>
              </a:spcAft>
              <a:buNone/>
            </a:pPr>
            <a:r>
              <a:rPr lang="en-US" sz="1000" dirty="0">
                <a:solidFill>
                  <a:schemeClr val="bg1"/>
                </a:solidFill>
              </a:rPr>
              <a:t>The reactor runs on about 170 grams of fuel a day. If anything fails, the plasma simply goes out in a split second, so it cannot melt down or run away.</a:t>
            </a:r>
            <a:endParaRPr lang="en-US" sz="1000" dirty="0"/>
          </a:p>
        </p:txBody>
      </p:sp>
      <p:sp>
        <p:nvSpPr>
          <p:cNvPr id="12" name="page-number"/>
          <p:cNvSpPr txBox="1"/>
          <p:nvPr/>
        </p:nvSpPr>
        <p:spPr>
          <a:xfrm>
            <a:off x="548640" y="10177272"/>
            <a:ext cx="411480" cy="219456"/>
          </a:xfrm>
          <a:prstGeom prst="rect">
            <a:avLst/>
          </a:prstGeom>
          <a:noFill/>
          <a:ln/>
        </p:spPr>
        <p:txBody>
          <a:bodyPr wrap="square" lIns="0" tIns="0" rIns="0" bIns="0" rtlCol="0" anchor="ctr"/>
          <a:lstStyle/>
          <a:p>
            <a:pPr algn="l" indent="0" marL="0">
              <a:buNone/>
            </a:pPr>
            <a:r>
              <a:rPr lang="en-US" sz="900" b="1" dirty="0">
                <a:solidFill>
                  <a:schemeClr val="bg1"/>
                </a:solidFill>
              </a:rPr>
              <a:t>12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picture-286" descr="/home/user/chatbox-bi-n-o/magazine/assets/renders/fusion_spread_R.jpg">    </p:cNvPr>
          <p:cNvPicPr>
            <a:picLocks noChangeAspect="1"/>
          </p:cNvPicPr>
          <p:nvPr/>
        </p:nvPicPr>
        <p:blipFill>
          <a:blip r:embed="rId1"/>
          <a:srcRect l="0" r="0" t="0" b="0"/>
          <a:stretch/>
        </p:blipFill>
        <p:spPr>
          <a:xfrm>
            <a:off x="0" y="0"/>
            <a:ext cx="7562088" cy="10689336"/>
          </a:xfrm>
          <a:prstGeom prst="rect">
            <a:avLst/>
          </a:prstGeom>
        </p:spPr>
      </p:pic>
      <p:sp>
        <p:nvSpPr>
          <p:cNvPr id="3" name="panel-287"/>
          <p:cNvSpPr/>
          <p:nvPr/>
        </p:nvSpPr>
        <p:spPr>
          <a:xfrm>
            <a:off x="548640" y="548640"/>
            <a:ext cx="3140964" cy="1655699"/>
          </a:xfrm>
          <a:prstGeom prst="rect">
            <a:avLst/>
          </a:prstGeom>
          <a:solidFill>
            <a:schemeClr val="tx1">
              <a:alpha val="85000"/>
            </a:schemeClr>
          </a:solidFill>
          <a:ln w="12700">
            <a:solidFill>
              <a:schemeClr val="tx1">
                <a:alpha val="0"/>
              </a:schemeClr>
            </a:solidFill>
            <a:prstDash val="solid"/>
          </a:ln>
        </p:spPr>
      </p:sp>
      <p:sp>
        <p:nvSpPr>
          <p:cNvPr id="4" name="kicker-dot-288"/>
          <p:cNvSpPr/>
          <p:nvPr/>
        </p:nvSpPr>
        <p:spPr>
          <a:xfrm>
            <a:off x="694944" y="736092"/>
            <a:ext cx="100584" cy="100584"/>
          </a:xfrm>
          <a:prstGeom prst="ellipse">
            <a:avLst/>
          </a:prstGeom>
          <a:solidFill>
            <a:schemeClr val="accent3"/>
          </a:solidFill>
          <a:ln w="12700">
            <a:solidFill>
              <a:schemeClr val="accent3"/>
            </a:solidFill>
            <a:prstDash val="solid"/>
          </a:ln>
        </p:spPr>
      </p:sp>
      <p:sp>
        <p:nvSpPr>
          <p:cNvPr id="5" name="text-289"/>
          <p:cNvSpPr txBox="1"/>
          <p:nvPr/>
        </p:nvSpPr>
        <p:spPr>
          <a:xfrm>
            <a:off x="877824" y="694944"/>
            <a:ext cx="2811780" cy="384048"/>
          </a:xfrm>
          <a:prstGeom prst="rect">
            <a:avLst/>
          </a:prstGeom>
          <a:noFill/>
          <a:ln/>
        </p:spPr>
        <p:txBody>
          <a:bodyPr wrap="square" lIns="0" tIns="0" rIns="0" bIns="0" rtlCol="0" anchor="t"/>
          <a:lstStyle/>
          <a:p>
            <a:pPr indent="0" marL="0">
              <a:buNone/>
            </a:pPr>
            <a:r>
              <a:rPr lang="en-US" sz="900" b="1" spc="300" kern="0" dirty="0">
                <a:solidFill>
                  <a:schemeClr val="accent3"/>
                </a:solidFill>
              </a:rPr>
              <a:t>WHERE THE WORLD IS TODAY</a:t>
            </a:r>
            <a:endParaRPr lang="en-US" sz="900" dirty="0"/>
          </a:p>
        </p:txBody>
      </p:sp>
      <p:sp>
        <p:nvSpPr>
          <p:cNvPr id="6" name="text-290"/>
          <p:cNvSpPr txBox="1"/>
          <p:nvPr/>
        </p:nvSpPr>
        <p:spPr>
          <a:xfrm>
            <a:off x="694944" y="969264"/>
            <a:ext cx="2848356" cy="1143635"/>
          </a:xfrm>
          <a:prstGeom prst="rect">
            <a:avLst/>
          </a:prstGeom>
          <a:noFill/>
          <a:ln/>
        </p:spPr>
        <p:txBody>
          <a:bodyPr wrap="square" lIns="0" tIns="0" rIns="0" bIns="0" rtlCol="0" anchor="t"/>
          <a:lstStyle/>
          <a:p>
            <a:pPr indent="0" marL="0">
              <a:lnSpc>
                <a:spcPct val="106000"/>
              </a:lnSpc>
              <a:buNone/>
            </a:pPr>
            <a:r>
              <a:rPr lang="en-US" sz="950" dirty="0">
                <a:solidFill>
                  <a:schemeClr val="bg1"/>
                </a:solidFill>
              </a:rPr>
              <a:t>Fusion is still being tested. The compact SPARC tokamak aims for its first plasma around 2027 [5], and ITER in France plans to burn deuterium–tritium fuel in 2039 [4]. No fusion plant sells power yet: Aurora Haven is designed for the day one does.</a:t>
            </a:r>
            <a:endParaRPr lang="en-US" sz="950" dirty="0"/>
          </a:p>
        </p:txBody>
      </p:sp>
      <p:sp>
        <p:nvSpPr>
          <p:cNvPr id="7" name="panel-291"/>
          <p:cNvSpPr/>
          <p:nvPr/>
        </p:nvSpPr>
        <p:spPr>
          <a:xfrm>
            <a:off x="3872484" y="548640"/>
            <a:ext cx="3140964" cy="2001774"/>
          </a:xfrm>
          <a:prstGeom prst="rect">
            <a:avLst/>
          </a:prstGeom>
          <a:solidFill>
            <a:schemeClr val="tx1">
              <a:alpha val="85000"/>
            </a:schemeClr>
          </a:solidFill>
          <a:ln w="12700">
            <a:solidFill>
              <a:schemeClr val="tx1">
                <a:alpha val="0"/>
              </a:schemeClr>
            </a:solidFill>
            <a:prstDash val="solid"/>
          </a:ln>
        </p:spPr>
      </p:sp>
      <p:sp>
        <p:nvSpPr>
          <p:cNvPr id="8" name="kicker-dot-292"/>
          <p:cNvSpPr/>
          <p:nvPr/>
        </p:nvSpPr>
        <p:spPr>
          <a:xfrm>
            <a:off x="4018788" y="736092"/>
            <a:ext cx="100584" cy="100584"/>
          </a:xfrm>
          <a:prstGeom prst="ellipse">
            <a:avLst/>
          </a:prstGeom>
          <a:solidFill>
            <a:schemeClr val="accent3"/>
          </a:solidFill>
          <a:ln w="12700">
            <a:solidFill>
              <a:schemeClr val="accent3"/>
            </a:solidFill>
            <a:prstDash val="solid"/>
          </a:ln>
        </p:spPr>
      </p:sp>
      <p:sp>
        <p:nvSpPr>
          <p:cNvPr id="9" name="text-293"/>
          <p:cNvSpPr txBox="1"/>
          <p:nvPr/>
        </p:nvSpPr>
        <p:spPr>
          <a:xfrm>
            <a:off x="4201668" y="694944"/>
            <a:ext cx="2811780" cy="384048"/>
          </a:xfrm>
          <a:prstGeom prst="rect">
            <a:avLst/>
          </a:prstGeom>
          <a:noFill/>
          <a:ln/>
        </p:spPr>
        <p:txBody>
          <a:bodyPr wrap="square" lIns="0" tIns="0" rIns="0" bIns="0" rtlCol="0" anchor="t"/>
          <a:lstStyle/>
          <a:p>
            <a:pPr indent="0" marL="0">
              <a:buNone/>
            </a:pPr>
            <a:r>
              <a:rPr lang="en-US" sz="900" b="1" spc="300" kern="0" dirty="0">
                <a:solidFill>
                  <a:schemeClr val="accent3"/>
                </a:solidFill>
              </a:rPr>
              <a:t>REALITY CHECK</a:t>
            </a:r>
            <a:endParaRPr lang="en-US" sz="900" dirty="0"/>
          </a:p>
        </p:txBody>
      </p:sp>
      <p:sp>
        <p:nvSpPr>
          <p:cNvPr id="10" name="text-294"/>
          <p:cNvSpPr txBox="1"/>
          <p:nvPr/>
        </p:nvSpPr>
        <p:spPr>
          <a:xfrm>
            <a:off x="4018788" y="969264"/>
            <a:ext cx="2848356" cy="457200"/>
          </a:xfrm>
          <a:prstGeom prst="rect">
            <a:avLst/>
          </a:prstGeom>
          <a:noFill/>
          <a:ln/>
        </p:spPr>
        <p:txBody>
          <a:bodyPr wrap="square" lIns="0" tIns="0" rIns="0" bIns="0" rtlCol="0" anchor="t"/>
          <a:lstStyle/>
          <a:p>
            <a:pPr indent="0" marL="0">
              <a:buNone/>
            </a:pPr>
            <a:r>
              <a:rPr lang="en-US" sz="2400" b="1" dirty="0">
                <a:solidFill>
                  <a:schemeClr val="bg1"/>
                </a:solidFill>
                <a:latin typeface="+mj-lt" pitchFamily="34" charset="0"/>
                <a:ea typeface="+mj-lt" pitchFamily="34" charset="-122"/>
                <a:cs typeface="+mj-lt" pitchFamily="34" charset="-120"/>
              </a:rPr>
              <a:t>≈ 0.2 kg a day</a:t>
            </a:r>
            <a:endParaRPr lang="en-US" sz="2400" dirty="0"/>
          </a:p>
        </p:txBody>
      </p:sp>
      <p:sp>
        <p:nvSpPr>
          <p:cNvPr id="11" name="text-295"/>
          <p:cNvSpPr txBox="1"/>
          <p:nvPr/>
        </p:nvSpPr>
        <p:spPr>
          <a:xfrm>
            <a:off x="4018788" y="1472184"/>
            <a:ext cx="2848356" cy="986790"/>
          </a:xfrm>
          <a:prstGeom prst="rect">
            <a:avLst/>
          </a:prstGeom>
          <a:noFill/>
          <a:ln/>
        </p:spPr>
        <p:txBody>
          <a:bodyPr wrap="square" lIns="0" tIns="0" rIns="0" bIns="0" rtlCol="0" anchor="t"/>
          <a:lstStyle/>
          <a:p>
            <a:pPr indent="0" marL="0">
              <a:lnSpc>
                <a:spcPct val="106000"/>
              </a:lnSpc>
              <a:buNone/>
            </a:pPr>
            <a:r>
              <a:rPr lang="en-US" sz="950" dirty="0">
                <a:solidFill>
                  <a:schemeClr val="bg1"/>
                </a:solidFill>
              </a:rPr>
              <a:t>A day at 800 MW needs about 0.2 kg of fuel, close to our 170 g design. Breeding tritium at scale is unproven [11] and ITER costs €18–22 billion [12], so the city starts on wind, sun and geothermal power (page 25).</a:t>
            </a:r>
            <a:endParaRPr lang="en-US" sz="950" dirty="0"/>
          </a:p>
        </p:txBody>
      </p:sp>
      <p:pic>
        <p:nvPicPr>
          <p:cNvPr id="12" name="shade-bottom-296" descr="/home/user/chatbox-bi-n-o/magazine/assets/ui/shade_bottom.png">    </p:cNvPr>
          <p:cNvPicPr>
            <a:picLocks noChangeAspect="1"/>
          </p:cNvPicPr>
          <p:nvPr/>
        </p:nvPicPr>
        <p:blipFill>
          <a:blip r:embed="rId2"/>
          <a:stretch>
            <a:fillRect/>
          </a:stretch>
        </p:blipFill>
        <p:spPr>
          <a:xfrm>
            <a:off x="0" y="8595360"/>
            <a:ext cx="7562088" cy="2093976"/>
          </a:xfrm>
          <a:prstGeom prst="rect">
            <a:avLst/>
          </a:prstGeom>
        </p:spPr>
      </p:pic>
      <p:sp>
        <p:nvSpPr>
          <p:cNvPr id="13" name="text-297"/>
          <p:cNvSpPr txBox="1"/>
          <p:nvPr/>
        </p:nvSpPr>
        <p:spPr>
          <a:xfrm>
            <a:off x="3355848" y="9555480"/>
            <a:ext cx="3657600" cy="365760"/>
          </a:xfrm>
          <a:prstGeom prst="rect">
            <a:avLst/>
          </a:prstGeom>
          <a:noFill/>
          <a:ln/>
        </p:spPr>
        <p:txBody>
          <a:bodyPr wrap="square" lIns="0" tIns="0" rIns="0" bIns="0" rtlCol="0" anchor="t"/>
          <a:lstStyle/>
          <a:p>
            <a:pPr algn="r" indent="0" marL="0">
              <a:buNone/>
            </a:pPr>
            <a:r>
              <a:rPr lang="en-US" sz="850" i="1" dirty="0">
                <a:solidFill>
                  <a:schemeClr val="bg1"/>
                </a:solidFill>
              </a:rPr>
              <a:t>The Fusion Core, a compact D-T tokamak, glowing violet under the northern lights.</a:t>
            </a:r>
            <a:endParaRPr lang="en-US" sz="850" dirty="0"/>
          </a:p>
        </p:txBody>
      </p:sp>
      <p:sp>
        <p:nvSpPr>
          <p:cNvPr id="14" name="page-number"/>
          <p:cNvSpPr txBox="1"/>
          <p:nvPr/>
        </p:nvSpPr>
        <p:spPr>
          <a:xfrm>
            <a:off x="6601968" y="10177272"/>
            <a:ext cx="411480" cy="219456"/>
          </a:xfrm>
          <a:prstGeom prst="rect">
            <a:avLst/>
          </a:prstGeom>
          <a:noFill/>
          <a:ln/>
        </p:spPr>
        <p:txBody>
          <a:bodyPr wrap="square" lIns="0" tIns="0" rIns="0" bIns="0" rtlCol="0" anchor="ctr"/>
          <a:lstStyle/>
          <a:p>
            <a:pPr algn="r" indent="0" marL="0">
              <a:buNone/>
            </a:pPr>
            <a:r>
              <a:rPr lang="en-US" sz="900" b="1" dirty="0">
                <a:solidFill>
                  <a:schemeClr val="bg1"/>
                </a:solidFill>
              </a:rPr>
              <a:t>13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dot-298"/>
          <p:cNvSpPr/>
          <p:nvPr/>
        </p:nvSpPr>
        <p:spPr>
          <a:xfrm>
            <a:off x="548640" y="544068"/>
            <a:ext cx="100584" cy="100584"/>
          </a:xfrm>
          <a:prstGeom prst="ellipse">
            <a:avLst/>
          </a:prstGeom>
          <a:solidFill>
            <a:schemeClr val="accent3"/>
          </a:solidFill>
          <a:ln w="12700">
            <a:solidFill>
              <a:schemeClr val="accent3"/>
            </a:solidFill>
            <a:prstDash val="solid"/>
          </a:ln>
        </p:spPr>
      </p:sp>
      <p:sp>
        <p:nvSpPr>
          <p:cNvPr id="3" name="text-299"/>
          <p:cNvSpPr txBox="1"/>
          <p:nvPr/>
        </p:nvSpPr>
        <p:spPr>
          <a:xfrm>
            <a:off x="731520" y="502920"/>
            <a:ext cx="5486400" cy="201168"/>
          </a:xfrm>
          <a:prstGeom prst="rect">
            <a:avLst/>
          </a:prstGeom>
          <a:noFill/>
          <a:ln/>
        </p:spPr>
        <p:txBody>
          <a:bodyPr wrap="square" lIns="0" tIns="0" rIns="0" bIns="0" rtlCol="0" anchor="t"/>
          <a:lstStyle/>
          <a:p>
            <a:pPr indent="0" marL="0">
              <a:buNone/>
            </a:pPr>
            <a:r>
              <a:rPr lang="en-US" sz="900" b="1" spc="300" kern="0" dirty="0">
                <a:solidFill>
                  <a:schemeClr val="accent3"/>
                </a:solidFill>
              </a:rPr>
              <a:t>FUSION POWER STATION · HOW IT WORKS</a:t>
            </a:r>
            <a:endParaRPr lang="en-US" sz="900" dirty="0"/>
          </a:p>
        </p:txBody>
      </p:sp>
      <p:sp>
        <p:nvSpPr>
          <p:cNvPr id="4" name="title-300"/>
          <p:cNvSpPr txBox="1"/>
          <p:nvPr/>
        </p:nvSpPr>
        <p:spPr>
          <a:xfrm>
            <a:off x="548640" y="758952"/>
            <a:ext cx="6464808" cy="685800"/>
          </a:xfrm>
          <a:prstGeom prst="rect">
            <a:avLst/>
          </a:prstGeom>
          <a:noFill/>
          <a:ln/>
        </p:spPr>
        <p:txBody>
          <a:bodyPr wrap="square" lIns="0" tIns="0" rIns="0" bIns="0" rtlCol="0" anchor="t"/>
          <a:lstStyle/>
          <a:p>
            <a:pPr indent="0" marL="0">
              <a:lnSpc>
                <a:spcPct val="92000"/>
              </a:lnSpc>
              <a:buNone/>
            </a:pPr>
            <a:r>
              <a:rPr lang="en-US" sz="3400" b="1" dirty="0">
                <a:solidFill>
                  <a:schemeClr val="tx1"/>
                </a:solidFill>
                <a:latin typeface="+mj-lt" pitchFamily="34" charset="0"/>
                <a:ea typeface="+mj-lt" pitchFamily="34" charset="-122"/>
                <a:cs typeface="+mj-lt" pitchFamily="34" charset="-120"/>
              </a:rPr>
              <a:t>Five Stages, One Sun</a:t>
            </a:r>
            <a:endParaRPr lang="en-US" sz="3400" dirty="0"/>
          </a:p>
        </p:txBody>
      </p:sp>
      <p:pic>
        <p:nvPicPr>
          <p:cNvPr id="5" name="fusion-plan" descr="/home/user/chatbox-bi-n-o/magazine/assets/plans/02_fusion_power_station_plan.png">    </p:cNvPr>
          <p:cNvPicPr>
            <a:picLocks noChangeAspect="1"/>
          </p:cNvPicPr>
          <p:nvPr/>
        </p:nvPicPr>
        <p:blipFill>
          <a:blip r:embed="rId1"/>
          <a:stretch>
            <a:fillRect/>
          </a:stretch>
        </p:blipFill>
        <p:spPr>
          <a:xfrm>
            <a:off x="548640" y="1554480"/>
            <a:ext cx="6464808" cy="3448975"/>
          </a:xfrm>
          <a:prstGeom prst="rect">
            <a:avLst/>
          </a:prstGeom>
        </p:spPr>
      </p:pic>
      <p:sp>
        <p:nvSpPr>
          <p:cNvPr id="6" name="text-302"/>
          <p:cNvSpPr txBox="1"/>
          <p:nvPr/>
        </p:nvSpPr>
        <p:spPr>
          <a:xfrm>
            <a:off x="548640" y="5049175"/>
            <a:ext cx="6464808" cy="228600"/>
          </a:xfrm>
          <a:prstGeom prst="rect">
            <a:avLst/>
          </a:prstGeom>
          <a:noFill/>
          <a:ln/>
        </p:spPr>
        <p:txBody>
          <a:bodyPr wrap="square" lIns="0" tIns="0" rIns="0" bIns="0" rtlCol="0" anchor="t"/>
          <a:lstStyle/>
          <a:p>
            <a:pPr indent="0" marL="0">
              <a:buNone/>
            </a:pPr>
            <a:r>
              <a:rPr lang="en-US" sz="850" i="1" dirty="0">
                <a:solidFill>
                  <a:schemeClr val="tx2"/>
                </a:solidFill>
              </a:rPr>
              <a:t>Fusion Power Station – District Plan. Signature district 1: a compact D-T tokamak.</a:t>
            </a:r>
            <a:endParaRPr lang="en-US" sz="850" dirty="0"/>
          </a:p>
        </p:txBody>
      </p:sp>
      <p:sp>
        <p:nvSpPr>
          <p:cNvPr id="7" name="marker-303"/>
          <p:cNvSpPr/>
          <p:nvPr/>
        </p:nvSpPr>
        <p:spPr>
          <a:xfrm>
            <a:off x="548640" y="5414935"/>
            <a:ext cx="329184" cy="329184"/>
          </a:xfrm>
          <a:prstGeom prst="ellipse">
            <a:avLst/>
          </a:prstGeom>
          <a:solidFill>
            <a:schemeClr val="accent3"/>
          </a:solidFill>
          <a:ln w="12700">
            <a:solidFill>
              <a:schemeClr val="accent3"/>
            </a:solidFill>
            <a:prstDash val="solid"/>
          </a:ln>
        </p:spPr>
      </p:sp>
      <p:sp>
        <p:nvSpPr>
          <p:cNvPr id="8" name="text-304"/>
          <p:cNvSpPr txBox="1"/>
          <p:nvPr/>
        </p:nvSpPr>
        <p:spPr>
          <a:xfrm>
            <a:off x="548640" y="5414935"/>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1</a:t>
            </a:r>
            <a:endParaRPr lang="en-US" sz="1200" dirty="0"/>
          </a:p>
        </p:txBody>
      </p:sp>
      <p:sp>
        <p:nvSpPr>
          <p:cNvPr id="9" name="text-305"/>
          <p:cNvSpPr txBox="1"/>
          <p:nvPr/>
        </p:nvSpPr>
        <p:spPr>
          <a:xfrm>
            <a:off x="1005840" y="5405791"/>
            <a:ext cx="3703320" cy="201168"/>
          </a:xfrm>
          <a:prstGeom prst="rect">
            <a:avLst/>
          </a:prstGeom>
          <a:noFill/>
          <a:ln/>
        </p:spPr>
        <p:txBody>
          <a:bodyPr wrap="square" lIns="0" tIns="0" rIns="0" bIns="0" rtlCol="0" anchor="t"/>
          <a:lstStyle/>
          <a:p>
            <a:pPr indent="0" marL="0">
              <a:buNone/>
            </a:pPr>
            <a:r>
              <a:rPr lang="en-US" sz="1050" b="1" dirty="0">
                <a:solidFill>
                  <a:schemeClr val="tx1"/>
                </a:solidFill>
              </a:rPr>
              <a:t>Heavy-water separation</a:t>
            </a:r>
            <a:endParaRPr lang="en-US" sz="1050" dirty="0"/>
          </a:p>
        </p:txBody>
      </p:sp>
      <p:sp>
        <p:nvSpPr>
          <p:cNvPr id="10" name="text-306"/>
          <p:cNvSpPr txBox="1"/>
          <p:nvPr/>
        </p:nvSpPr>
        <p:spPr>
          <a:xfrm>
            <a:off x="1005840" y="5616103"/>
            <a:ext cx="3703320" cy="510259"/>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Takes deuterium from the deuterium-rich water left by the food plant’s electrolysers and purifies it to 99.8% heavy water.</a:t>
            </a:r>
            <a:endParaRPr lang="en-US" sz="950" dirty="0"/>
          </a:p>
        </p:txBody>
      </p:sp>
      <p:sp>
        <p:nvSpPr>
          <p:cNvPr id="11" name="marker-307"/>
          <p:cNvSpPr/>
          <p:nvPr/>
        </p:nvSpPr>
        <p:spPr>
          <a:xfrm>
            <a:off x="548640" y="6181226"/>
            <a:ext cx="329184" cy="329184"/>
          </a:xfrm>
          <a:prstGeom prst="ellipse">
            <a:avLst/>
          </a:prstGeom>
          <a:solidFill>
            <a:schemeClr val="accent3"/>
          </a:solidFill>
          <a:ln w="12700">
            <a:solidFill>
              <a:schemeClr val="accent3"/>
            </a:solidFill>
            <a:prstDash val="solid"/>
          </a:ln>
        </p:spPr>
      </p:sp>
      <p:sp>
        <p:nvSpPr>
          <p:cNvPr id="12" name="text-308"/>
          <p:cNvSpPr txBox="1"/>
          <p:nvPr/>
        </p:nvSpPr>
        <p:spPr>
          <a:xfrm>
            <a:off x="548640" y="618122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2</a:t>
            </a:r>
            <a:endParaRPr lang="en-US" sz="1200" dirty="0"/>
          </a:p>
        </p:txBody>
      </p:sp>
      <p:sp>
        <p:nvSpPr>
          <p:cNvPr id="13" name="text-309"/>
          <p:cNvSpPr txBox="1"/>
          <p:nvPr/>
        </p:nvSpPr>
        <p:spPr>
          <a:xfrm>
            <a:off x="1005840" y="6172082"/>
            <a:ext cx="3703320" cy="201168"/>
          </a:xfrm>
          <a:prstGeom prst="rect">
            <a:avLst/>
          </a:prstGeom>
          <a:noFill/>
          <a:ln/>
        </p:spPr>
        <p:txBody>
          <a:bodyPr wrap="square" lIns="0" tIns="0" rIns="0" bIns="0" rtlCol="0" anchor="t"/>
          <a:lstStyle/>
          <a:p>
            <a:pPr indent="0" marL="0">
              <a:buNone/>
            </a:pPr>
            <a:r>
              <a:rPr lang="en-US" sz="1050" b="1" dirty="0">
                <a:solidFill>
                  <a:schemeClr val="tx1"/>
                </a:solidFill>
              </a:rPr>
              <a:t>Lithium blanket &amp; tritium fuel cycle</a:t>
            </a:r>
            <a:endParaRPr lang="en-US" sz="1050" dirty="0"/>
          </a:p>
        </p:txBody>
      </p:sp>
      <p:sp>
        <p:nvSpPr>
          <p:cNvPr id="14" name="text-310"/>
          <p:cNvSpPr txBox="1"/>
          <p:nvPr/>
        </p:nvSpPr>
        <p:spPr>
          <a:xfrm>
            <a:off x="1005840" y="6382394"/>
            <a:ext cx="3703320" cy="510259"/>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Breeds the tritium the reactor burns inside sealed, leak-monitored loops, so none is imported. Recovered helium cools MRI scanners.</a:t>
            </a:r>
            <a:endParaRPr lang="en-US" sz="950" dirty="0"/>
          </a:p>
        </p:txBody>
      </p:sp>
      <p:sp>
        <p:nvSpPr>
          <p:cNvPr id="15" name="marker-311"/>
          <p:cNvSpPr/>
          <p:nvPr/>
        </p:nvSpPr>
        <p:spPr>
          <a:xfrm>
            <a:off x="548640" y="6947517"/>
            <a:ext cx="329184" cy="329184"/>
          </a:xfrm>
          <a:prstGeom prst="ellipse">
            <a:avLst/>
          </a:prstGeom>
          <a:solidFill>
            <a:schemeClr val="accent3"/>
          </a:solidFill>
          <a:ln w="12700">
            <a:solidFill>
              <a:schemeClr val="accent3"/>
            </a:solidFill>
            <a:prstDash val="solid"/>
          </a:ln>
        </p:spPr>
      </p:sp>
      <p:sp>
        <p:nvSpPr>
          <p:cNvPr id="16" name="text-312"/>
          <p:cNvSpPr txBox="1"/>
          <p:nvPr/>
        </p:nvSpPr>
        <p:spPr>
          <a:xfrm>
            <a:off x="548640" y="6947517"/>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3</a:t>
            </a:r>
            <a:endParaRPr lang="en-US" sz="1200" dirty="0"/>
          </a:p>
        </p:txBody>
      </p:sp>
      <p:sp>
        <p:nvSpPr>
          <p:cNvPr id="17" name="text-313"/>
          <p:cNvSpPr txBox="1"/>
          <p:nvPr/>
        </p:nvSpPr>
        <p:spPr>
          <a:xfrm>
            <a:off x="1005840" y="6938373"/>
            <a:ext cx="3703320" cy="201168"/>
          </a:xfrm>
          <a:prstGeom prst="rect">
            <a:avLst/>
          </a:prstGeom>
          <a:noFill/>
          <a:ln/>
        </p:spPr>
        <p:txBody>
          <a:bodyPr wrap="square" lIns="0" tIns="0" rIns="0" bIns="0" rtlCol="0" anchor="t"/>
          <a:lstStyle/>
          <a:p>
            <a:pPr indent="0" marL="0">
              <a:buNone/>
            </a:pPr>
            <a:r>
              <a:rPr lang="en-US" sz="1050" b="1" dirty="0">
                <a:solidFill>
                  <a:schemeClr val="tx1"/>
                </a:solidFill>
              </a:rPr>
              <a:t>Fusion core: compact D-T tokamak</a:t>
            </a:r>
            <a:endParaRPr lang="en-US" sz="1050" dirty="0"/>
          </a:p>
        </p:txBody>
      </p:sp>
      <p:sp>
        <p:nvSpPr>
          <p:cNvPr id="18" name="text-314"/>
          <p:cNvSpPr txBox="1"/>
          <p:nvPr/>
        </p:nvSpPr>
        <p:spPr>
          <a:xfrm>
            <a:off x="1005840" y="7148685"/>
            <a:ext cx="3703320" cy="510259"/>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Superconducting magnets hold a 150-million-degree plasma. If anything fails, the plasma simply goes out: it cannot melt down.</a:t>
            </a:r>
            <a:endParaRPr lang="en-US" sz="950" dirty="0"/>
          </a:p>
        </p:txBody>
      </p:sp>
      <p:sp>
        <p:nvSpPr>
          <p:cNvPr id="19" name="marker-315"/>
          <p:cNvSpPr/>
          <p:nvPr/>
        </p:nvSpPr>
        <p:spPr>
          <a:xfrm>
            <a:off x="548640" y="7713808"/>
            <a:ext cx="329184" cy="329184"/>
          </a:xfrm>
          <a:prstGeom prst="ellipse">
            <a:avLst/>
          </a:prstGeom>
          <a:solidFill>
            <a:schemeClr val="accent3"/>
          </a:solidFill>
          <a:ln w="12700">
            <a:solidFill>
              <a:schemeClr val="accent3"/>
            </a:solidFill>
            <a:prstDash val="solid"/>
          </a:ln>
        </p:spPr>
      </p:sp>
      <p:sp>
        <p:nvSpPr>
          <p:cNvPr id="20" name="text-316"/>
          <p:cNvSpPr txBox="1"/>
          <p:nvPr/>
        </p:nvSpPr>
        <p:spPr>
          <a:xfrm>
            <a:off x="548640" y="771380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4</a:t>
            </a:r>
            <a:endParaRPr lang="en-US" sz="1200" dirty="0"/>
          </a:p>
        </p:txBody>
      </p:sp>
      <p:sp>
        <p:nvSpPr>
          <p:cNvPr id="21" name="text-317"/>
          <p:cNvSpPr txBox="1"/>
          <p:nvPr/>
        </p:nvSpPr>
        <p:spPr>
          <a:xfrm>
            <a:off x="1005840" y="7704664"/>
            <a:ext cx="3703320" cy="201168"/>
          </a:xfrm>
          <a:prstGeom prst="rect">
            <a:avLst/>
          </a:prstGeom>
          <a:noFill/>
          <a:ln/>
        </p:spPr>
        <p:txBody>
          <a:bodyPr wrap="square" lIns="0" tIns="0" rIns="0" bIns="0" rtlCol="0" anchor="t"/>
          <a:lstStyle/>
          <a:p>
            <a:pPr indent="0" marL="0">
              <a:buNone/>
            </a:pPr>
            <a:r>
              <a:rPr lang="en-US" sz="1050" b="1" dirty="0">
                <a:solidFill>
                  <a:schemeClr val="tx1"/>
                </a:solidFill>
              </a:rPr>
              <a:t>Power conversion &amp; heat export</a:t>
            </a:r>
            <a:endParaRPr lang="en-US" sz="1050" dirty="0"/>
          </a:p>
        </p:txBody>
      </p:sp>
      <p:sp>
        <p:nvSpPr>
          <p:cNvPr id="22" name="text-318"/>
          <p:cNvSpPr txBox="1"/>
          <p:nvPr/>
        </p:nvSpPr>
        <p:spPr>
          <a:xfrm>
            <a:off x="1005840" y="7914976"/>
            <a:ext cx="3703320" cy="510259"/>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Turbines driven by CO₂ sealed in a closed loop make about 300 MW of electricity and send about 450 MW of heat to the city.</a:t>
            </a:r>
            <a:endParaRPr lang="en-US" sz="950" dirty="0"/>
          </a:p>
        </p:txBody>
      </p:sp>
      <p:sp>
        <p:nvSpPr>
          <p:cNvPr id="23" name="marker-319"/>
          <p:cNvSpPr/>
          <p:nvPr/>
        </p:nvSpPr>
        <p:spPr>
          <a:xfrm>
            <a:off x="548640" y="8480098"/>
            <a:ext cx="329184" cy="329184"/>
          </a:xfrm>
          <a:prstGeom prst="ellipse">
            <a:avLst/>
          </a:prstGeom>
          <a:solidFill>
            <a:schemeClr val="accent3"/>
          </a:solidFill>
          <a:ln w="12700">
            <a:solidFill>
              <a:schemeClr val="accent3"/>
            </a:solidFill>
            <a:prstDash val="solid"/>
          </a:ln>
        </p:spPr>
      </p:sp>
      <p:sp>
        <p:nvSpPr>
          <p:cNvPr id="24" name="text-320"/>
          <p:cNvSpPr txBox="1"/>
          <p:nvPr/>
        </p:nvSpPr>
        <p:spPr>
          <a:xfrm>
            <a:off x="548640" y="848009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5</a:t>
            </a:r>
            <a:endParaRPr lang="en-US" sz="1200" dirty="0"/>
          </a:p>
        </p:txBody>
      </p:sp>
      <p:sp>
        <p:nvSpPr>
          <p:cNvPr id="25" name="text-321"/>
          <p:cNvSpPr txBox="1"/>
          <p:nvPr/>
        </p:nvSpPr>
        <p:spPr>
          <a:xfrm>
            <a:off x="1005840" y="8470954"/>
            <a:ext cx="3703320" cy="201168"/>
          </a:xfrm>
          <a:prstGeom prst="rect">
            <a:avLst/>
          </a:prstGeom>
          <a:noFill/>
          <a:ln/>
        </p:spPr>
        <p:txBody>
          <a:bodyPr wrap="square" lIns="0" tIns="0" rIns="0" bIns="0" rtlCol="0" anchor="t"/>
          <a:lstStyle/>
          <a:p>
            <a:pPr indent="0" marL="0">
              <a:buNone/>
            </a:pPr>
            <a:r>
              <a:rPr lang="en-US" sz="1050" b="1" dirty="0">
                <a:solidFill>
                  <a:schemeClr val="tx1"/>
                </a:solidFill>
              </a:rPr>
              <a:t>Plasma waste converter</a:t>
            </a:r>
            <a:endParaRPr lang="en-US" sz="1050" dirty="0"/>
          </a:p>
        </p:txBody>
      </p:sp>
      <p:sp>
        <p:nvSpPr>
          <p:cNvPr id="26" name="text-322"/>
          <p:cNvSpPr txBox="1"/>
          <p:nvPr/>
        </p:nvSpPr>
        <p:spPr>
          <a:xfrm>
            <a:off x="1005840" y="8681266"/>
            <a:ext cx="3703320" cy="510259"/>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Torches hotter than 5,000 °C turn about 20 tonnes of rubbish a day into hydrogen and CO₂ for the food plant, metals and paving blocks.</a:t>
            </a:r>
            <a:endParaRPr lang="en-US" sz="950" dirty="0"/>
          </a:p>
        </p:txBody>
      </p:sp>
      <p:sp>
        <p:nvSpPr>
          <p:cNvPr id="27" name="marker-323"/>
          <p:cNvSpPr/>
          <p:nvPr/>
        </p:nvSpPr>
        <p:spPr>
          <a:xfrm>
            <a:off x="548640" y="9246389"/>
            <a:ext cx="329184" cy="329184"/>
          </a:xfrm>
          <a:prstGeom prst="ellipse">
            <a:avLst/>
          </a:prstGeom>
          <a:solidFill>
            <a:schemeClr val="tx1"/>
          </a:solidFill>
          <a:ln w="12700">
            <a:solidFill>
              <a:schemeClr val="tx1"/>
            </a:solidFill>
            <a:prstDash val="solid"/>
          </a:ln>
        </p:spPr>
      </p:sp>
      <p:sp>
        <p:nvSpPr>
          <p:cNvPr id="28" name="text-324"/>
          <p:cNvSpPr txBox="1"/>
          <p:nvPr/>
        </p:nvSpPr>
        <p:spPr>
          <a:xfrm>
            <a:off x="548640" y="9246389"/>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C</a:t>
            </a:r>
            <a:endParaRPr lang="en-US" sz="1200" dirty="0"/>
          </a:p>
        </p:txBody>
      </p:sp>
      <p:sp>
        <p:nvSpPr>
          <p:cNvPr id="29" name="text-325"/>
          <p:cNvSpPr txBox="1"/>
          <p:nvPr/>
        </p:nvSpPr>
        <p:spPr>
          <a:xfrm>
            <a:off x="1005840" y="9237245"/>
            <a:ext cx="3703320" cy="201168"/>
          </a:xfrm>
          <a:prstGeom prst="rect">
            <a:avLst/>
          </a:prstGeom>
          <a:noFill/>
          <a:ln/>
        </p:spPr>
        <p:txBody>
          <a:bodyPr wrap="square" lIns="0" tIns="0" rIns="0" bIns="0" rtlCol="0" anchor="t"/>
          <a:lstStyle/>
          <a:p>
            <a:pPr indent="0" marL="0">
              <a:buNone/>
            </a:pPr>
            <a:r>
              <a:rPr lang="en-US" sz="1050" b="1" dirty="0">
                <a:solidFill>
                  <a:schemeClr val="tx1"/>
                </a:solidFill>
              </a:rPr>
              <a:t>Control &amp; visitor centre</a:t>
            </a:r>
            <a:endParaRPr lang="en-US" sz="1050" dirty="0"/>
          </a:p>
        </p:txBody>
      </p:sp>
      <p:sp>
        <p:nvSpPr>
          <p:cNvPr id="30" name="text-326"/>
          <p:cNvSpPr txBox="1"/>
          <p:nvPr/>
        </p:nvSpPr>
        <p:spPr>
          <a:xfrm>
            <a:off x="1005840" y="9447557"/>
            <a:ext cx="3703320" cy="510259"/>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Operators and an AI digital twin can stop the plasma in milliseconds; a public gallery faces the reactor.</a:t>
            </a:r>
            <a:endParaRPr lang="en-US" sz="950" dirty="0"/>
          </a:p>
        </p:txBody>
      </p:sp>
      <p:sp>
        <p:nvSpPr>
          <p:cNvPr id="31" name="card-327"/>
          <p:cNvSpPr/>
          <p:nvPr/>
        </p:nvSpPr>
        <p:spPr>
          <a:xfrm>
            <a:off x="5074920" y="5369215"/>
            <a:ext cx="1938528" cy="4552025"/>
          </a:xfrm>
          <a:prstGeom prst="roundRect">
            <a:avLst>
              <a:gd name="adj" fmla="val 3774"/>
            </a:avLst>
          </a:prstGeom>
          <a:solidFill>
            <a:schemeClr val="bg2"/>
          </a:solidFill>
          <a:ln w="12700">
            <a:solidFill>
              <a:schemeClr val="bg2"/>
            </a:solidFill>
            <a:prstDash val="solid"/>
          </a:ln>
        </p:spPr>
      </p:sp>
      <p:sp>
        <p:nvSpPr>
          <p:cNvPr id="32" name="kicker-dot-328"/>
          <p:cNvSpPr/>
          <p:nvPr/>
        </p:nvSpPr>
        <p:spPr>
          <a:xfrm>
            <a:off x="5221224" y="5556667"/>
            <a:ext cx="100584" cy="100584"/>
          </a:xfrm>
          <a:prstGeom prst="ellipse">
            <a:avLst/>
          </a:prstGeom>
          <a:solidFill>
            <a:schemeClr val="accent3"/>
          </a:solidFill>
          <a:ln w="12700">
            <a:solidFill>
              <a:schemeClr val="accent3"/>
            </a:solidFill>
            <a:prstDash val="solid"/>
          </a:ln>
        </p:spPr>
      </p:sp>
      <p:sp>
        <p:nvSpPr>
          <p:cNvPr id="33" name="text-329"/>
          <p:cNvSpPr txBox="1"/>
          <p:nvPr/>
        </p:nvSpPr>
        <p:spPr>
          <a:xfrm>
            <a:off x="5404104" y="5515519"/>
            <a:ext cx="1609344" cy="384048"/>
          </a:xfrm>
          <a:prstGeom prst="rect">
            <a:avLst/>
          </a:prstGeom>
          <a:noFill/>
          <a:ln/>
        </p:spPr>
        <p:txBody>
          <a:bodyPr wrap="square" lIns="0" tIns="0" rIns="0" bIns="0" rtlCol="0" anchor="t"/>
          <a:lstStyle/>
          <a:p>
            <a:pPr indent="0" marL="0">
              <a:buNone/>
            </a:pPr>
            <a:r>
              <a:rPr lang="en-US" sz="900" b="1" spc="300" kern="0" dirty="0">
                <a:solidFill>
                  <a:schemeClr val="accent3"/>
                </a:solidFill>
              </a:rPr>
              <a:t>WHY IT’S GREEN</a:t>
            </a:r>
            <a:endParaRPr lang="en-US" sz="900" dirty="0"/>
          </a:p>
        </p:txBody>
      </p:sp>
      <p:sp>
        <p:nvSpPr>
          <p:cNvPr id="34" name="text-330"/>
          <p:cNvSpPr txBox="1"/>
          <p:nvPr/>
        </p:nvSpPr>
        <p:spPr>
          <a:xfrm>
            <a:off x="5221224" y="5789839"/>
            <a:ext cx="1645920" cy="4039961"/>
          </a:xfrm>
          <a:prstGeom prst="rect">
            <a:avLst/>
          </a:prstGeom>
          <a:noFill/>
          <a:ln/>
        </p:spPr>
        <p:txBody>
          <a:bodyPr wrap="square" lIns="0" tIns="0" rIns="0" bIns="0" rtlCol="0" anchor="t"/>
          <a:lstStyle/>
          <a:p>
            <a:pPr indent="0" marL="0">
              <a:lnSpc>
                <a:spcPct val="106000"/>
              </a:lnSpc>
              <a:buNone/>
            </a:pPr>
            <a:r>
              <a:rPr lang="en-US" sz="850" b="1" dirty="0">
                <a:solidFill>
                  <a:schemeClr val="accent3"/>
                </a:solidFill>
              </a:rPr>
              <a:t>94% used. </a:t>
            </a:r>
            <a:pPr indent="0" marL="0">
              <a:lnSpc>
                <a:spcPct val="106000"/>
              </a:lnSpc>
              <a:spcAft>
                <a:spcPts val="400"/>
              </a:spcAft>
              <a:buNone/>
            </a:pPr>
            <a:r>
              <a:rPr lang="en-US" sz="850" dirty="0">
                <a:solidFill>
                  <a:schemeClr val="tx1"/>
                </a:solidFill>
              </a:rPr>
              <a:t>Of 800 MW of heat, 300 MW becomes power and 450 MW warms the city.</a:t>
            </a:r>
            <a:endParaRPr lang="en-US" sz="850" dirty="0"/>
          </a:p>
          <a:p>
            <a:pPr indent="0" marL="0">
              <a:lnSpc>
                <a:spcPct val="106000"/>
              </a:lnSpc>
              <a:buNone/>
            </a:pPr>
            <a:r>
              <a:rPr lang="en-US" sz="850" b="1" dirty="0">
                <a:solidFill>
                  <a:schemeClr val="accent3"/>
                </a:solidFill>
              </a:rPr>
              <a:t>No CO₂. </a:t>
            </a:r>
            <a:pPr indent="0" marL="0">
              <a:lnSpc>
                <a:spcPct val="106000"/>
              </a:lnSpc>
              <a:spcAft>
                <a:spcPts val="400"/>
              </a:spcAft>
              <a:buNone/>
            </a:pPr>
            <a:r>
              <a:rPr lang="en-US" sz="850" dirty="0">
                <a:solidFill>
                  <a:schemeClr val="tx1"/>
                </a:solidFill>
              </a:rPr>
              <a:t>Nothing burns, and the turbines’ CO₂ never leaves its loop.</a:t>
            </a:r>
            <a:endParaRPr lang="en-US" sz="850" dirty="0"/>
          </a:p>
          <a:p>
            <a:pPr indent="0" marL="0">
              <a:lnSpc>
                <a:spcPct val="106000"/>
              </a:lnSpc>
              <a:buNone/>
            </a:pPr>
            <a:r>
              <a:rPr lang="en-US" sz="850" b="1" dirty="0">
                <a:solidFill>
                  <a:schemeClr val="accent3"/>
                </a:solidFill>
              </a:rPr>
              <a:t>Fuel from snow. </a:t>
            </a:r>
            <a:pPr indent="0" marL="0">
              <a:lnSpc>
                <a:spcPct val="106000"/>
              </a:lnSpc>
              <a:spcAft>
                <a:spcPts val="400"/>
              </a:spcAft>
              <a:buNone/>
            </a:pPr>
            <a:r>
              <a:rPr lang="en-US" sz="850" dirty="0">
                <a:solidFill>
                  <a:schemeClr val="tx1"/>
                </a:solidFill>
              </a:rPr>
              <a:t>Deuterium comes from meltwater: no mines, no tankers.</a:t>
            </a:r>
            <a:endParaRPr lang="en-US" sz="850" dirty="0"/>
          </a:p>
          <a:p>
            <a:pPr indent="0" marL="0">
              <a:lnSpc>
                <a:spcPct val="106000"/>
              </a:lnSpc>
              <a:buNone/>
            </a:pPr>
            <a:r>
              <a:rPr lang="en-US" sz="850" b="1" dirty="0">
                <a:solidFill>
                  <a:schemeClr val="accent3"/>
                </a:solidFill>
              </a:rPr>
              <a:t>Rubbish reused. </a:t>
            </a:r>
            <a:pPr indent="0" marL="0">
              <a:lnSpc>
                <a:spcPct val="106000"/>
              </a:lnSpc>
              <a:spcAft>
                <a:spcPts val="400"/>
              </a:spcAft>
              <a:buNone/>
            </a:pPr>
            <a:r>
              <a:rPr lang="en-US" sz="850" dirty="0">
                <a:solidFill>
                  <a:schemeClr val="tx1"/>
                </a:solidFill>
              </a:rPr>
              <a:t>The converter’s hydrogen and CO₂ feed the food plant.</a:t>
            </a:r>
            <a:endParaRPr lang="en-US" sz="850" dirty="0"/>
          </a:p>
          <a:p>
            <a:pPr indent="0" marL="0">
              <a:lnSpc>
                <a:spcPct val="106000"/>
              </a:lnSpc>
              <a:buNone/>
            </a:pPr>
            <a:r>
              <a:rPr lang="en-US" sz="850" b="1" dirty="0">
                <a:solidFill>
                  <a:schemeClr val="accent3"/>
                </a:solidFill>
              </a:rPr>
              <a:t>Little waste. </a:t>
            </a:r>
            <a:pPr indent="0" marL="0">
              <a:lnSpc>
                <a:spcPct val="106000"/>
              </a:lnSpc>
              <a:spcAft>
                <a:spcPts val="400"/>
              </a:spcAft>
              <a:buNone/>
            </a:pPr>
            <a:r>
              <a:rPr lang="en-US" sz="850" dirty="0">
                <a:solidFill>
                  <a:schemeClr val="tx1"/>
                </a:solidFill>
              </a:rPr>
              <a:t>Its radioactive waste is mostly short-lived, under 100 years, unlike spent fission fuel [20].</a:t>
            </a:r>
            <a:endParaRPr lang="en-US" sz="850" dirty="0"/>
          </a:p>
        </p:txBody>
      </p:sp>
      <p:sp>
        <p:nvSpPr>
          <p:cNvPr id="35" name="page-number"/>
          <p:cNvSpPr txBox="1"/>
          <p:nvPr/>
        </p:nvSpPr>
        <p:spPr>
          <a:xfrm>
            <a:off x="548640" y="10177272"/>
            <a:ext cx="411480" cy="219456"/>
          </a:xfrm>
          <a:prstGeom prst="rect">
            <a:avLst/>
          </a:prstGeom>
          <a:noFill/>
          <a:ln/>
        </p:spPr>
        <p:txBody>
          <a:bodyPr wrap="square" lIns="0" tIns="0" rIns="0" bIns="0" rtlCol="0" anchor="ctr"/>
          <a:lstStyle/>
          <a:p>
            <a:pPr algn="l" indent="0" marL="0">
              <a:buNone/>
            </a:pPr>
            <a:r>
              <a:rPr lang="en-US" sz="900" b="1" dirty="0">
                <a:solidFill>
                  <a:schemeClr val="tx1"/>
                </a:solidFill>
              </a:rPr>
              <a:t>14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picture-331" descr="/home/user/chatbox-bi-n-o/magazine/assets/renders/food.jpg">    </p:cNvPr>
          <p:cNvPicPr>
            <a:picLocks noChangeAspect="1"/>
          </p:cNvPicPr>
          <p:nvPr/>
        </p:nvPicPr>
        <p:blipFill>
          <a:blip r:embed="rId1"/>
          <a:srcRect l="0" r="0" t="0" b="0"/>
          <a:stretch/>
        </p:blipFill>
        <p:spPr>
          <a:xfrm>
            <a:off x="0" y="0"/>
            <a:ext cx="7562088" cy="10689336"/>
          </a:xfrm>
          <a:prstGeom prst="rect">
            <a:avLst/>
          </a:prstGeom>
        </p:spPr>
      </p:pic>
      <p:pic>
        <p:nvPicPr>
          <p:cNvPr id="3" name="shade-topStrong-332" descr="/home/user/chatbox-bi-n-o/magazine/assets/ui/shade_top_strong.png">    </p:cNvPr>
          <p:cNvPicPr>
            <a:picLocks noChangeAspect="1"/>
          </p:cNvPicPr>
          <p:nvPr/>
        </p:nvPicPr>
        <p:blipFill>
          <a:blip r:embed="rId2"/>
          <a:stretch>
            <a:fillRect/>
          </a:stretch>
        </p:blipFill>
        <p:spPr>
          <a:xfrm>
            <a:off x="0" y="0"/>
            <a:ext cx="7562088" cy="5120640"/>
          </a:xfrm>
          <a:prstGeom prst="rect">
            <a:avLst/>
          </a:prstGeom>
        </p:spPr>
      </p:pic>
      <p:pic>
        <p:nvPicPr>
          <p:cNvPr id="4" name="shade-bottom-333" descr="/home/user/chatbox-bi-n-o/magazine/assets/ui/shade_bottom.png">    </p:cNvPr>
          <p:cNvPicPr>
            <a:picLocks noChangeAspect="1"/>
          </p:cNvPicPr>
          <p:nvPr/>
        </p:nvPicPr>
        <p:blipFill>
          <a:blip r:embed="rId3"/>
          <a:stretch>
            <a:fillRect/>
          </a:stretch>
        </p:blipFill>
        <p:spPr>
          <a:xfrm>
            <a:off x="0" y="6766560"/>
            <a:ext cx="7562088" cy="3922776"/>
          </a:xfrm>
          <a:prstGeom prst="rect">
            <a:avLst/>
          </a:prstGeom>
        </p:spPr>
      </p:pic>
      <p:sp>
        <p:nvSpPr>
          <p:cNvPr id="5" name="marker-334"/>
          <p:cNvSpPr/>
          <p:nvPr/>
        </p:nvSpPr>
        <p:spPr>
          <a:xfrm>
            <a:off x="548640" y="548640"/>
            <a:ext cx="731520" cy="731520"/>
          </a:xfrm>
          <a:prstGeom prst="ellipse">
            <a:avLst/>
          </a:prstGeom>
          <a:solidFill>
            <a:schemeClr val="accent4"/>
          </a:solidFill>
          <a:ln w="19050">
            <a:solidFill>
              <a:schemeClr val="bg1"/>
            </a:solidFill>
            <a:prstDash val="solid"/>
          </a:ln>
        </p:spPr>
      </p:sp>
      <p:sp>
        <p:nvSpPr>
          <p:cNvPr id="6" name="text-335"/>
          <p:cNvSpPr txBox="1"/>
          <p:nvPr/>
        </p:nvSpPr>
        <p:spPr>
          <a:xfrm>
            <a:off x="548640" y="54864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latin typeface="+mj-lt" pitchFamily="34" charset="0"/>
                <a:ea typeface="+mj-lt" pitchFamily="34" charset="-122"/>
                <a:cs typeface="+mj-lt" pitchFamily="34" charset="-120"/>
              </a:rPr>
              <a:t>2</a:t>
            </a:r>
            <a:endParaRPr lang="en-US" sz="2800" dirty="0"/>
          </a:p>
        </p:txBody>
      </p:sp>
      <p:sp>
        <p:nvSpPr>
          <p:cNvPr id="7" name="kicker-dot-336"/>
          <p:cNvSpPr/>
          <p:nvPr/>
        </p:nvSpPr>
        <p:spPr>
          <a:xfrm>
            <a:off x="548640" y="1549908"/>
            <a:ext cx="100584" cy="100584"/>
          </a:xfrm>
          <a:prstGeom prst="ellipse">
            <a:avLst/>
          </a:prstGeom>
          <a:solidFill>
            <a:schemeClr val="accent1"/>
          </a:solidFill>
          <a:ln w="12700">
            <a:solidFill>
              <a:schemeClr val="accent1"/>
            </a:solidFill>
            <a:prstDash val="solid"/>
          </a:ln>
        </p:spPr>
      </p:sp>
      <p:sp>
        <p:nvSpPr>
          <p:cNvPr id="8" name="text-337"/>
          <p:cNvSpPr txBox="1"/>
          <p:nvPr/>
        </p:nvSpPr>
        <p:spPr>
          <a:xfrm>
            <a:off x="731520" y="1508760"/>
            <a:ext cx="5486400" cy="201168"/>
          </a:xfrm>
          <a:prstGeom prst="rect">
            <a:avLst/>
          </a:prstGeom>
          <a:noFill/>
          <a:ln/>
        </p:spPr>
        <p:txBody>
          <a:bodyPr wrap="square" lIns="0" tIns="0" rIns="0" bIns="0" rtlCol="0" anchor="t"/>
          <a:lstStyle/>
          <a:p>
            <a:pPr indent="0" marL="0">
              <a:buNone/>
            </a:pPr>
            <a:r>
              <a:rPr lang="en-US" sz="900" b="1" spc="300" kern="0" dirty="0">
                <a:solidFill>
                  <a:schemeClr val="bg1"/>
                </a:solidFill>
              </a:rPr>
              <a:t>SIGNATURE DISTRICT 2 · SNOW-TO-FOOD &amp; WATER PLANT</a:t>
            </a:r>
            <a:endParaRPr lang="en-US" sz="900" dirty="0"/>
          </a:p>
        </p:txBody>
      </p:sp>
      <p:sp>
        <p:nvSpPr>
          <p:cNvPr id="9" name="title-338"/>
          <p:cNvSpPr txBox="1"/>
          <p:nvPr/>
        </p:nvSpPr>
        <p:spPr>
          <a:xfrm>
            <a:off x="548640" y="1764792"/>
            <a:ext cx="6464808" cy="1463040"/>
          </a:xfrm>
          <a:prstGeom prst="rect">
            <a:avLst/>
          </a:prstGeom>
          <a:noFill/>
          <a:ln/>
        </p:spPr>
        <p:txBody>
          <a:bodyPr wrap="square" lIns="0" tIns="0" rIns="0" bIns="0" rtlCol="0" anchor="t"/>
          <a:lstStyle/>
          <a:p>
            <a:pPr indent="0" marL="0">
              <a:lnSpc>
                <a:spcPct val="92000"/>
              </a:lnSpc>
              <a:buNone/>
            </a:pPr>
            <a:r>
              <a:rPr lang="en-US" sz="4400" b="1" dirty="0">
                <a:solidFill>
                  <a:schemeClr val="bg1"/>
                </a:solidFill>
                <a:latin typeface="+mj-lt" pitchFamily="34" charset="0"/>
                <a:ea typeface="+mj-lt" pitchFamily="34" charset="-122"/>
                <a:cs typeface="+mj-lt" pitchFamily="34" charset="-120"/>
              </a:rPr>
              <a:t>Bread and Water from Snow and Air</a:t>
            </a:r>
            <a:endParaRPr lang="en-US" sz="4400" dirty="0"/>
          </a:p>
        </p:txBody>
      </p:sp>
      <p:sp>
        <p:nvSpPr>
          <p:cNvPr id="10" name="text-340"/>
          <p:cNvSpPr txBox="1"/>
          <p:nvPr/>
        </p:nvSpPr>
        <p:spPr>
          <a:xfrm>
            <a:off x="548640" y="3246120"/>
            <a:ext cx="5669280" cy="731520"/>
          </a:xfrm>
          <a:prstGeom prst="rect">
            <a:avLst/>
          </a:prstGeom>
          <a:noFill/>
          <a:ln/>
        </p:spPr>
        <p:txBody>
          <a:bodyPr wrap="square" lIns="0" tIns="0" rIns="0" bIns="0" rtlCol="0" anchor="t"/>
          <a:lstStyle/>
          <a:p>
            <a:pPr indent="0" marL="0">
              <a:lnSpc>
                <a:spcPct val="110000"/>
              </a:lnSpc>
              <a:buNone/>
            </a:pPr>
            <a:r>
              <a:rPr lang="en-US" sz="1450" i="1" dirty="0">
                <a:solidFill>
                  <a:schemeClr val="bg1"/>
                </a:solidFill>
                <a:latin typeface="+mj-lt" pitchFamily="34" charset="0"/>
                <a:ea typeface="+mj-lt" pitchFamily="34" charset="-122"/>
                <a:cs typeface="+mj-lt" pitchFamily="34" charset="-120"/>
              </a:rPr>
              <a:t>Our big idea: a factory that bakes bread and pours drinking water out of snow and air, so a city with no farmland can feed itself.</a:t>
            </a:r>
            <a:endParaRPr lang="en-US" sz="1450" dirty="0"/>
          </a:p>
        </p:txBody>
      </p:sp>
      <p:sp>
        <p:nvSpPr>
          <p:cNvPr id="11" name="text-341"/>
          <p:cNvSpPr txBox="1"/>
          <p:nvPr/>
        </p:nvSpPr>
        <p:spPr>
          <a:xfrm>
            <a:off x="548640" y="8412480"/>
            <a:ext cx="3095244" cy="1645920"/>
          </a:xfrm>
          <a:prstGeom prst="rect">
            <a:avLst/>
          </a:prstGeom>
          <a:noFill/>
          <a:ln/>
        </p:spPr>
        <p:txBody>
          <a:bodyPr wrap="square" lIns="0" tIns="0" rIns="0" bIns="0" rtlCol="0" anchor="t"/>
          <a:lstStyle/>
          <a:p>
            <a:pPr indent="0" marL="0">
              <a:lnSpc>
                <a:spcPct val="112000"/>
              </a:lnSpc>
              <a:spcAft>
                <a:spcPts val="700"/>
              </a:spcAft>
              <a:buNone/>
            </a:pPr>
            <a:r>
              <a:rPr lang="en-US" sz="1000" dirty="0">
                <a:solidFill>
                  <a:schemeClr val="bg1"/>
                </a:solidFill>
              </a:rPr>
              <a:t>What do you eat where nothing grows? Stage 1 melts about 3,000 tonnes of clean tundra snow a day with spare heat from the fusion station, so the snow does the job of a cooling tower. Stage 2 turns the meltwater into all the city’s drinking water.</a:t>
            </a:r>
            <a:endParaRPr lang="en-US" sz="1000" dirty="0"/>
          </a:p>
        </p:txBody>
      </p:sp>
      <p:sp>
        <p:nvSpPr>
          <p:cNvPr id="12" name="text-342"/>
          <p:cNvSpPr txBox="1"/>
          <p:nvPr/>
        </p:nvSpPr>
        <p:spPr>
          <a:xfrm>
            <a:off x="3918204" y="8412480"/>
            <a:ext cx="3095244" cy="1645920"/>
          </a:xfrm>
          <a:prstGeom prst="rect">
            <a:avLst/>
          </a:prstGeom>
          <a:noFill/>
          <a:ln/>
        </p:spPr>
        <p:txBody>
          <a:bodyPr wrap="square" lIns="0" tIns="0" rIns="0" bIns="0" rtlCol="0" anchor="t"/>
          <a:lstStyle/>
          <a:p>
            <a:pPr indent="0" marL="0">
              <a:lnSpc>
                <a:spcPct val="112000"/>
              </a:lnSpc>
              <a:spcAft>
                <a:spcPts val="700"/>
              </a:spcAft>
              <a:buNone/>
            </a:pPr>
            <a:r>
              <a:rPr lang="en-US" sz="1000" dirty="0">
                <a:solidFill>
                  <a:schemeClr val="bg1"/>
                </a:solidFill>
              </a:rPr>
              <a:t>Stage 3 splits water into hydrogen and oxygen and captures CO₂ from the air; Stage 4 turns them into starch and fats. In Stage 5, microbes in six silos make about 2.5 tonnes of protein flour a day. Stage 6 cooks bread, noodles and drinks for the city.</a:t>
            </a:r>
            <a:endParaRPr lang="en-US" sz="1000" dirty="0"/>
          </a:p>
        </p:txBody>
      </p:sp>
      <p:sp>
        <p:nvSpPr>
          <p:cNvPr id="13" name="text-343"/>
          <p:cNvSpPr txBox="1"/>
          <p:nvPr/>
        </p:nvSpPr>
        <p:spPr>
          <a:xfrm>
            <a:off x="548640" y="8092440"/>
            <a:ext cx="6464808" cy="228600"/>
          </a:xfrm>
          <a:prstGeom prst="rect">
            <a:avLst/>
          </a:prstGeom>
          <a:noFill/>
          <a:ln/>
        </p:spPr>
        <p:txBody>
          <a:bodyPr wrap="square" lIns="0" tIns="0" rIns="0" bIns="0" rtlCol="0" anchor="t"/>
          <a:lstStyle/>
          <a:p>
            <a:pPr indent="0" marL="0">
              <a:buNone/>
            </a:pPr>
            <a:r>
              <a:rPr lang="en-US" sz="850" i="1" dirty="0">
                <a:solidFill>
                  <a:schemeClr val="bg2"/>
                </a:solidFill>
              </a:rPr>
              <a:t>The six Bioreactor Silos in the low sun.</a:t>
            </a:r>
            <a:endParaRPr lang="en-US" sz="850" dirty="0"/>
          </a:p>
        </p:txBody>
      </p:sp>
      <p:sp>
        <p:nvSpPr>
          <p:cNvPr id="14" name="page-number"/>
          <p:cNvSpPr txBox="1"/>
          <p:nvPr/>
        </p:nvSpPr>
        <p:spPr>
          <a:xfrm>
            <a:off x="6601968" y="10177272"/>
            <a:ext cx="411480" cy="219456"/>
          </a:xfrm>
          <a:prstGeom prst="rect">
            <a:avLst/>
          </a:prstGeom>
          <a:noFill/>
          <a:ln/>
        </p:spPr>
        <p:txBody>
          <a:bodyPr wrap="square" lIns="0" tIns="0" rIns="0" bIns="0" rtlCol="0" anchor="ctr"/>
          <a:lstStyle/>
          <a:p>
            <a:pPr algn="r" indent="0" marL="0">
              <a:buNone/>
            </a:pPr>
            <a:r>
              <a:rPr lang="en-US" sz="900" b="1" dirty="0">
                <a:solidFill>
                  <a:schemeClr val="bg1"/>
                </a:solidFill>
              </a:rPr>
              <a:t>15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dot-344"/>
          <p:cNvSpPr/>
          <p:nvPr/>
        </p:nvSpPr>
        <p:spPr>
          <a:xfrm>
            <a:off x="548640" y="544068"/>
            <a:ext cx="100584" cy="100584"/>
          </a:xfrm>
          <a:prstGeom prst="ellipse">
            <a:avLst/>
          </a:prstGeom>
          <a:solidFill>
            <a:schemeClr val="accent4"/>
          </a:solidFill>
          <a:ln w="12700">
            <a:solidFill>
              <a:schemeClr val="accent4"/>
            </a:solidFill>
            <a:prstDash val="solid"/>
          </a:ln>
        </p:spPr>
      </p:sp>
      <p:sp>
        <p:nvSpPr>
          <p:cNvPr id="3" name="text-345"/>
          <p:cNvSpPr txBox="1"/>
          <p:nvPr/>
        </p:nvSpPr>
        <p:spPr>
          <a:xfrm>
            <a:off x="731520" y="502920"/>
            <a:ext cx="5486400" cy="201168"/>
          </a:xfrm>
          <a:prstGeom prst="rect">
            <a:avLst/>
          </a:prstGeom>
          <a:noFill/>
          <a:ln/>
        </p:spPr>
        <p:txBody>
          <a:bodyPr wrap="square" lIns="0" tIns="0" rIns="0" bIns="0" rtlCol="0" anchor="t"/>
          <a:lstStyle/>
          <a:p>
            <a:pPr indent="0" marL="0">
              <a:buNone/>
            </a:pPr>
            <a:r>
              <a:rPr lang="en-US" sz="900" b="1" spc="300" kern="0" dirty="0">
                <a:solidFill>
                  <a:schemeClr val="accent4"/>
                </a:solidFill>
              </a:rPr>
              <a:t>SNOW-TO-FOOD &amp; WATER PLANT · HOW IT WORKS</a:t>
            </a:r>
            <a:endParaRPr lang="en-US" sz="900" dirty="0"/>
          </a:p>
        </p:txBody>
      </p:sp>
      <p:sp>
        <p:nvSpPr>
          <p:cNvPr id="4" name="title-346"/>
          <p:cNvSpPr txBox="1"/>
          <p:nvPr/>
        </p:nvSpPr>
        <p:spPr>
          <a:xfrm>
            <a:off x="548640" y="758952"/>
            <a:ext cx="6464808" cy="685800"/>
          </a:xfrm>
          <a:prstGeom prst="rect">
            <a:avLst/>
          </a:prstGeom>
          <a:noFill/>
          <a:ln/>
        </p:spPr>
        <p:txBody>
          <a:bodyPr wrap="square" lIns="0" tIns="0" rIns="0" bIns="0" rtlCol="0" anchor="t"/>
          <a:lstStyle/>
          <a:p>
            <a:pPr indent="0" marL="0">
              <a:lnSpc>
                <a:spcPct val="92000"/>
              </a:lnSpc>
              <a:buNone/>
            </a:pPr>
            <a:r>
              <a:rPr lang="en-US" sz="3400" b="1" dirty="0">
                <a:solidFill>
                  <a:schemeClr val="tx1"/>
                </a:solidFill>
                <a:latin typeface="+mj-lt" pitchFamily="34" charset="0"/>
                <a:ea typeface="+mj-lt" pitchFamily="34" charset="-122"/>
                <a:cs typeface="+mj-lt" pitchFamily="34" charset="-120"/>
              </a:rPr>
              <a:t>Six Stages from Snow to Supper</a:t>
            </a:r>
            <a:endParaRPr lang="en-US" sz="3400" dirty="0"/>
          </a:p>
        </p:txBody>
      </p:sp>
      <p:pic>
        <p:nvPicPr>
          <p:cNvPr id="5" name="food-plan" descr="/home/user/chatbox-bi-n-o/magazine/assets/plans/03_snow_to_food_water_plant_plan.png">    </p:cNvPr>
          <p:cNvPicPr>
            <a:picLocks noChangeAspect="1"/>
          </p:cNvPicPr>
          <p:nvPr/>
        </p:nvPicPr>
        <p:blipFill>
          <a:blip r:embed="rId1"/>
          <a:stretch>
            <a:fillRect/>
          </a:stretch>
        </p:blipFill>
        <p:spPr>
          <a:xfrm>
            <a:off x="548640" y="1554480"/>
            <a:ext cx="6464808" cy="3128967"/>
          </a:xfrm>
          <a:prstGeom prst="rect">
            <a:avLst/>
          </a:prstGeom>
        </p:spPr>
      </p:pic>
      <p:sp>
        <p:nvSpPr>
          <p:cNvPr id="6" name="text-348"/>
          <p:cNvSpPr txBox="1"/>
          <p:nvPr/>
        </p:nvSpPr>
        <p:spPr>
          <a:xfrm>
            <a:off x="548640" y="4729167"/>
            <a:ext cx="6464808" cy="228600"/>
          </a:xfrm>
          <a:prstGeom prst="rect">
            <a:avLst/>
          </a:prstGeom>
          <a:noFill/>
          <a:ln/>
        </p:spPr>
        <p:txBody>
          <a:bodyPr wrap="square" lIns="0" tIns="0" rIns="0" bIns="0" rtlCol="0" anchor="t"/>
          <a:lstStyle/>
          <a:p>
            <a:pPr indent="0" marL="0">
              <a:buNone/>
            </a:pPr>
            <a:r>
              <a:rPr lang="en-US" sz="850" i="1" dirty="0">
                <a:solidFill>
                  <a:schemeClr val="tx2"/>
                </a:solidFill>
              </a:rPr>
              <a:t>Snow-to-Food &amp; Water Plant – District Plan. All drinking water and about half of the city’s protein, from snow and air.</a:t>
            </a:r>
            <a:endParaRPr lang="en-US" sz="850" dirty="0"/>
          </a:p>
        </p:txBody>
      </p:sp>
      <p:sp>
        <p:nvSpPr>
          <p:cNvPr id="7" name="marker-349"/>
          <p:cNvSpPr/>
          <p:nvPr/>
        </p:nvSpPr>
        <p:spPr>
          <a:xfrm>
            <a:off x="548640" y="5303520"/>
            <a:ext cx="329184" cy="329184"/>
          </a:xfrm>
          <a:prstGeom prst="ellipse">
            <a:avLst/>
          </a:prstGeom>
          <a:solidFill>
            <a:schemeClr val="accent4"/>
          </a:solidFill>
          <a:ln w="12700">
            <a:solidFill>
              <a:schemeClr val="accent4"/>
            </a:solidFill>
            <a:prstDash val="solid"/>
          </a:ln>
        </p:spPr>
      </p:sp>
      <p:sp>
        <p:nvSpPr>
          <p:cNvPr id="8" name="text-350"/>
          <p:cNvSpPr txBox="1"/>
          <p:nvPr/>
        </p:nvSpPr>
        <p:spPr>
          <a:xfrm>
            <a:off x="548640" y="530352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1</a:t>
            </a:r>
            <a:endParaRPr lang="en-US" sz="1200" dirty="0"/>
          </a:p>
        </p:txBody>
      </p:sp>
      <p:sp>
        <p:nvSpPr>
          <p:cNvPr id="9" name="text-351"/>
          <p:cNvSpPr txBox="1"/>
          <p:nvPr/>
        </p:nvSpPr>
        <p:spPr>
          <a:xfrm>
            <a:off x="1005840" y="5294376"/>
            <a:ext cx="3703320" cy="201168"/>
          </a:xfrm>
          <a:prstGeom prst="rect">
            <a:avLst/>
          </a:prstGeom>
          <a:noFill/>
          <a:ln/>
        </p:spPr>
        <p:txBody>
          <a:bodyPr wrap="square" lIns="0" tIns="0" rIns="0" bIns="0" rtlCol="0" anchor="t"/>
          <a:lstStyle/>
          <a:p>
            <a:pPr indent="0" marL="0">
              <a:buNone/>
            </a:pPr>
            <a:r>
              <a:rPr lang="en-US" sz="1050" b="1" dirty="0">
                <a:solidFill>
                  <a:schemeClr val="tx1"/>
                </a:solidFill>
              </a:rPr>
              <a:t>Snow harvest &amp; melt hall</a:t>
            </a:r>
            <a:endParaRPr lang="en-US" sz="1050" dirty="0"/>
          </a:p>
        </p:txBody>
      </p:sp>
      <p:sp>
        <p:nvSpPr>
          <p:cNvPr id="10" name="text-352"/>
          <p:cNvSpPr txBox="1"/>
          <p:nvPr/>
        </p:nvSpPr>
        <p:spPr>
          <a:xfrm>
            <a:off x="1005840" y="5504688"/>
            <a:ext cx="3703320" cy="528828"/>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Electric harvesters gather wind-packed snow upwind of the city; about 14 MW of spare fusion heat melts it.</a:t>
            </a:r>
            <a:endParaRPr lang="en-US" sz="950" dirty="0"/>
          </a:p>
        </p:txBody>
      </p:sp>
      <p:sp>
        <p:nvSpPr>
          <p:cNvPr id="11" name="marker-353"/>
          <p:cNvSpPr/>
          <p:nvPr/>
        </p:nvSpPr>
        <p:spPr>
          <a:xfrm>
            <a:off x="548640" y="6088380"/>
            <a:ext cx="329184" cy="329184"/>
          </a:xfrm>
          <a:prstGeom prst="ellipse">
            <a:avLst/>
          </a:prstGeom>
          <a:solidFill>
            <a:schemeClr val="accent4"/>
          </a:solidFill>
          <a:ln w="12700">
            <a:solidFill>
              <a:schemeClr val="accent4"/>
            </a:solidFill>
            <a:prstDash val="solid"/>
          </a:ln>
        </p:spPr>
      </p:sp>
      <p:sp>
        <p:nvSpPr>
          <p:cNvPr id="12" name="text-354"/>
          <p:cNvSpPr txBox="1"/>
          <p:nvPr/>
        </p:nvSpPr>
        <p:spPr>
          <a:xfrm>
            <a:off x="548640" y="608838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2</a:t>
            </a:r>
            <a:endParaRPr lang="en-US" sz="1200" dirty="0"/>
          </a:p>
        </p:txBody>
      </p:sp>
      <p:sp>
        <p:nvSpPr>
          <p:cNvPr id="13" name="text-355"/>
          <p:cNvSpPr txBox="1"/>
          <p:nvPr/>
        </p:nvSpPr>
        <p:spPr>
          <a:xfrm>
            <a:off x="1005840" y="6079236"/>
            <a:ext cx="3703320" cy="201168"/>
          </a:xfrm>
          <a:prstGeom prst="rect">
            <a:avLst/>
          </a:prstGeom>
          <a:noFill/>
          <a:ln/>
        </p:spPr>
        <p:txBody>
          <a:bodyPr wrap="square" lIns="0" tIns="0" rIns="0" bIns="0" rtlCol="0" anchor="t"/>
          <a:lstStyle/>
          <a:p>
            <a:pPr indent="0" marL="0">
              <a:buNone/>
            </a:pPr>
            <a:r>
              <a:rPr lang="en-US" sz="1050" b="1" dirty="0">
                <a:solidFill>
                  <a:schemeClr val="tx1"/>
                </a:solidFill>
              </a:rPr>
              <a:t>Drinking-water &amp; mineral works</a:t>
            </a:r>
            <a:endParaRPr lang="en-US" sz="1050" dirty="0"/>
          </a:p>
        </p:txBody>
      </p:sp>
      <p:sp>
        <p:nvSpPr>
          <p:cNvPr id="14" name="text-356"/>
          <p:cNvSpPr txBox="1"/>
          <p:nvPr/>
        </p:nvSpPr>
        <p:spPr>
          <a:xfrm>
            <a:off x="1005840" y="6289548"/>
            <a:ext cx="3703320" cy="528828"/>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Membranes and UV light remove every germ, calcite adds calcium and magnesium, and sensors test the water every five minutes.</a:t>
            </a:r>
            <a:endParaRPr lang="en-US" sz="950" dirty="0"/>
          </a:p>
        </p:txBody>
      </p:sp>
      <p:sp>
        <p:nvSpPr>
          <p:cNvPr id="15" name="marker-357"/>
          <p:cNvSpPr/>
          <p:nvPr/>
        </p:nvSpPr>
        <p:spPr>
          <a:xfrm>
            <a:off x="548640" y="6873240"/>
            <a:ext cx="329184" cy="329184"/>
          </a:xfrm>
          <a:prstGeom prst="ellipse">
            <a:avLst/>
          </a:prstGeom>
          <a:solidFill>
            <a:schemeClr val="accent4"/>
          </a:solidFill>
          <a:ln w="12700">
            <a:solidFill>
              <a:schemeClr val="accent4"/>
            </a:solidFill>
            <a:prstDash val="solid"/>
          </a:ln>
        </p:spPr>
      </p:sp>
      <p:sp>
        <p:nvSpPr>
          <p:cNvPr id="16" name="text-358"/>
          <p:cNvSpPr txBox="1"/>
          <p:nvPr/>
        </p:nvSpPr>
        <p:spPr>
          <a:xfrm>
            <a:off x="548640" y="687324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3</a:t>
            </a:r>
            <a:endParaRPr lang="en-US" sz="1200" dirty="0"/>
          </a:p>
        </p:txBody>
      </p:sp>
      <p:sp>
        <p:nvSpPr>
          <p:cNvPr id="17" name="text-359"/>
          <p:cNvSpPr txBox="1"/>
          <p:nvPr/>
        </p:nvSpPr>
        <p:spPr>
          <a:xfrm>
            <a:off x="1005840" y="6864096"/>
            <a:ext cx="3703320" cy="201168"/>
          </a:xfrm>
          <a:prstGeom prst="rect">
            <a:avLst/>
          </a:prstGeom>
          <a:noFill/>
          <a:ln/>
        </p:spPr>
        <p:txBody>
          <a:bodyPr wrap="square" lIns="0" tIns="0" rIns="0" bIns="0" rtlCol="0" anchor="t"/>
          <a:lstStyle/>
          <a:p>
            <a:pPr indent="0" marL="0">
              <a:buNone/>
            </a:pPr>
            <a:r>
              <a:rPr lang="en-US" sz="1050" b="1" dirty="0">
                <a:solidFill>
                  <a:schemeClr val="tx1"/>
                </a:solidFill>
              </a:rPr>
              <a:t>Electrolysis, air capture &amp; green ammonia</a:t>
            </a:r>
            <a:endParaRPr lang="en-US" sz="1050" dirty="0"/>
          </a:p>
        </p:txBody>
      </p:sp>
      <p:sp>
        <p:nvSpPr>
          <p:cNvPr id="18" name="text-360"/>
          <p:cNvSpPr txBox="1"/>
          <p:nvPr/>
        </p:nvSpPr>
        <p:spPr>
          <a:xfrm>
            <a:off x="1005840" y="7074408"/>
            <a:ext cx="3703320" cy="528828"/>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About 5 tonnes of hydrogen a day; the oxygen goes to the hospital and the waste converter.</a:t>
            </a:r>
            <a:endParaRPr lang="en-US" sz="950" dirty="0"/>
          </a:p>
        </p:txBody>
      </p:sp>
      <p:sp>
        <p:nvSpPr>
          <p:cNvPr id="19" name="marker-361"/>
          <p:cNvSpPr/>
          <p:nvPr/>
        </p:nvSpPr>
        <p:spPr>
          <a:xfrm>
            <a:off x="548640" y="7658100"/>
            <a:ext cx="329184" cy="329184"/>
          </a:xfrm>
          <a:prstGeom prst="ellipse">
            <a:avLst/>
          </a:prstGeom>
          <a:solidFill>
            <a:schemeClr val="accent4"/>
          </a:solidFill>
          <a:ln w="12700">
            <a:solidFill>
              <a:schemeClr val="accent4"/>
            </a:solidFill>
            <a:prstDash val="solid"/>
          </a:ln>
        </p:spPr>
      </p:sp>
      <p:sp>
        <p:nvSpPr>
          <p:cNvPr id="20" name="text-362"/>
          <p:cNvSpPr txBox="1"/>
          <p:nvPr/>
        </p:nvSpPr>
        <p:spPr>
          <a:xfrm>
            <a:off x="548640" y="765810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4</a:t>
            </a:r>
            <a:endParaRPr lang="en-US" sz="1200" dirty="0"/>
          </a:p>
        </p:txBody>
      </p:sp>
      <p:sp>
        <p:nvSpPr>
          <p:cNvPr id="21" name="text-363"/>
          <p:cNvSpPr txBox="1"/>
          <p:nvPr/>
        </p:nvSpPr>
        <p:spPr>
          <a:xfrm>
            <a:off x="1005840" y="7648956"/>
            <a:ext cx="3703320" cy="201168"/>
          </a:xfrm>
          <a:prstGeom prst="rect">
            <a:avLst/>
          </a:prstGeom>
          <a:noFill/>
          <a:ln/>
        </p:spPr>
        <p:txBody>
          <a:bodyPr wrap="square" lIns="0" tIns="0" rIns="0" bIns="0" rtlCol="0" anchor="t"/>
          <a:lstStyle/>
          <a:p>
            <a:pPr indent="0" marL="0">
              <a:buNone/>
            </a:pPr>
            <a:r>
              <a:rPr lang="en-US" sz="1050" b="1" dirty="0">
                <a:solidFill>
                  <a:schemeClr val="tx1"/>
                </a:solidFill>
              </a:rPr>
              <a:t>Carbon-fixation chemistry</a:t>
            </a:r>
            <a:endParaRPr lang="en-US" sz="1050" dirty="0"/>
          </a:p>
        </p:txBody>
      </p:sp>
      <p:sp>
        <p:nvSpPr>
          <p:cNvPr id="22" name="text-364"/>
          <p:cNvSpPr txBox="1"/>
          <p:nvPr/>
        </p:nvSpPr>
        <p:spPr>
          <a:xfrm>
            <a:off x="1005840" y="7859268"/>
            <a:ext cx="3703320" cy="528828"/>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A copper catalyst makes methanol, and enzymes build it into starch about eight times faster than a maize field.</a:t>
            </a:r>
            <a:endParaRPr lang="en-US" sz="950" dirty="0"/>
          </a:p>
        </p:txBody>
      </p:sp>
      <p:sp>
        <p:nvSpPr>
          <p:cNvPr id="23" name="marker-365"/>
          <p:cNvSpPr/>
          <p:nvPr/>
        </p:nvSpPr>
        <p:spPr>
          <a:xfrm>
            <a:off x="548640" y="8442960"/>
            <a:ext cx="329184" cy="329184"/>
          </a:xfrm>
          <a:prstGeom prst="ellipse">
            <a:avLst/>
          </a:prstGeom>
          <a:solidFill>
            <a:schemeClr val="accent4"/>
          </a:solidFill>
          <a:ln w="12700">
            <a:solidFill>
              <a:schemeClr val="accent4"/>
            </a:solidFill>
            <a:prstDash val="solid"/>
          </a:ln>
        </p:spPr>
      </p:sp>
      <p:sp>
        <p:nvSpPr>
          <p:cNvPr id="24" name="text-366"/>
          <p:cNvSpPr txBox="1"/>
          <p:nvPr/>
        </p:nvSpPr>
        <p:spPr>
          <a:xfrm>
            <a:off x="548640" y="844296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5</a:t>
            </a:r>
            <a:endParaRPr lang="en-US" sz="1200" dirty="0"/>
          </a:p>
        </p:txBody>
      </p:sp>
      <p:sp>
        <p:nvSpPr>
          <p:cNvPr id="25" name="text-367"/>
          <p:cNvSpPr txBox="1"/>
          <p:nvPr/>
        </p:nvSpPr>
        <p:spPr>
          <a:xfrm>
            <a:off x="1005840" y="8433816"/>
            <a:ext cx="3703320" cy="201168"/>
          </a:xfrm>
          <a:prstGeom prst="rect">
            <a:avLst/>
          </a:prstGeom>
          <a:noFill/>
          <a:ln/>
        </p:spPr>
        <p:txBody>
          <a:bodyPr wrap="square" lIns="0" tIns="0" rIns="0" bIns="0" rtlCol="0" anchor="t"/>
          <a:lstStyle/>
          <a:p>
            <a:pPr indent="0" marL="0">
              <a:buNone/>
            </a:pPr>
            <a:r>
              <a:rPr lang="en-US" sz="1050" b="1" dirty="0">
                <a:solidFill>
                  <a:schemeClr val="tx1"/>
                </a:solidFill>
              </a:rPr>
              <a:t>Bioreactor silos</a:t>
            </a:r>
            <a:endParaRPr lang="en-US" sz="1050" dirty="0"/>
          </a:p>
        </p:txBody>
      </p:sp>
      <p:sp>
        <p:nvSpPr>
          <p:cNvPr id="26" name="text-368"/>
          <p:cNvSpPr txBox="1"/>
          <p:nvPr/>
        </p:nvSpPr>
        <p:spPr>
          <a:xfrm>
            <a:off x="1005840" y="8644128"/>
            <a:ext cx="3703320" cy="528828"/>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Hydrogen-eating bacteria make protein flour; yeasts and algae make oils and vitamins, 24 hours a day.</a:t>
            </a:r>
            <a:endParaRPr lang="en-US" sz="950" dirty="0"/>
          </a:p>
        </p:txBody>
      </p:sp>
      <p:sp>
        <p:nvSpPr>
          <p:cNvPr id="27" name="marker-369"/>
          <p:cNvSpPr/>
          <p:nvPr/>
        </p:nvSpPr>
        <p:spPr>
          <a:xfrm>
            <a:off x="548640" y="9227820"/>
            <a:ext cx="329184" cy="329184"/>
          </a:xfrm>
          <a:prstGeom prst="ellipse">
            <a:avLst/>
          </a:prstGeom>
          <a:solidFill>
            <a:schemeClr val="accent4"/>
          </a:solidFill>
          <a:ln w="12700">
            <a:solidFill>
              <a:schemeClr val="accent4"/>
            </a:solidFill>
            <a:prstDash val="solid"/>
          </a:ln>
        </p:spPr>
      </p:sp>
      <p:sp>
        <p:nvSpPr>
          <p:cNvPr id="28" name="text-370"/>
          <p:cNvSpPr txBox="1"/>
          <p:nvPr/>
        </p:nvSpPr>
        <p:spPr>
          <a:xfrm>
            <a:off x="548640" y="922782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6</a:t>
            </a:r>
            <a:endParaRPr lang="en-US" sz="1200" dirty="0"/>
          </a:p>
        </p:txBody>
      </p:sp>
      <p:sp>
        <p:nvSpPr>
          <p:cNvPr id="29" name="text-371"/>
          <p:cNvSpPr txBox="1"/>
          <p:nvPr/>
        </p:nvSpPr>
        <p:spPr>
          <a:xfrm>
            <a:off x="1005840" y="9218676"/>
            <a:ext cx="3703320" cy="201168"/>
          </a:xfrm>
          <a:prstGeom prst="rect">
            <a:avLst/>
          </a:prstGeom>
          <a:noFill/>
          <a:ln/>
        </p:spPr>
        <p:txBody>
          <a:bodyPr wrap="square" lIns="0" tIns="0" rIns="0" bIns="0" rtlCol="0" anchor="t"/>
          <a:lstStyle/>
          <a:p>
            <a:pPr indent="0" marL="0">
              <a:buNone/>
            </a:pPr>
            <a:r>
              <a:rPr lang="en-US" sz="1050" b="1" dirty="0">
                <a:solidFill>
                  <a:schemeClr val="tx1"/>
                </a:solidFill>
              </a:rPr>
              <a:t>Food kitchen, bottling &amp; distribution</a:t>
            </a:r>
            <a:endParaRPr lang="en-US" sz="1050" dirty="0"/>
          </a:p>
        </p:txBody>
      </p:sp>
      <p:sp>
        <p:nvSpPr>
          <p:cNvPr id="30" name="text-372"/>
          <p:cNvSpPr txBox="1"/>
          <p:nvPr/>
        </p:nvSpPr>
        <p:spPr>
          <a:xfrm>
            <a:off x="1005840" y="9428988"/>
            <a:ext cx="3703320" cy="528828"/>
          </a:xfrm>
          <a:prstGeom prst="rect">
            <a:avLst/>
          </a:prstGeom>
          <a:noFill/>
          <a:ln/>
        </p:spPr>
        <p:txBody>
          <a:bodyPr wrap="square" lIns="0" tIns="0" rIns="0" bIns="0" rtlCol="0" anchor="t"/>
          <a:lstStyle/>
          <a:p>
            <a:pPr indent="0" marL="0">
              <a:lnSpc>
                <a:spcPct val="108000"/>
              </a:lnSpc>
              <a:buNone/>
            </a:pPr>
            <a:r>
              <a:rPr lang="en-US" sz="950" dirty="0">
                <a:solidFill>
                  <a:schemeClr val="tx2"/>
                </a:solidFill>
              </a:rPr>
              <a:t>Bread, noodles, protein mince and dairy-style drinks, delivered overnight in heated electric vans.</a:t>
            </a:r>
            <a:endParaRPr lang="en-US" sz="950" dirty="0"/>
          </a:p>
        </p:txBody>
      </p:sp>
      <p:sp>
        <p:nvSpPr>
          <p:cNvPr id="31" name="card-373"/>
          <p:cNvSpPr/>
          <p:nvPr/>
        </p:nvSpPr>
        <p:spPr>
          <a:xfrm>
            <a:off x="5074920" y="5257800"/>
            <a:ext cx="1938528" cy="2263140"/>
          </a:xfrm>
          <a:prstGeom prst="roundRect">
            <a:avLst>
              <a:gd name="adj" fmla="val 3774"/>
            </a:avLst>
          </a:prstGeom>
          <a:solidFill>
            <a:schemeClr val="bg2"/>
          </a:solidFill>
          <a:ln w="12700">
            <a:solidFill>
              <a:schemeClr val="bg2"/>
            </a:solidFill>
            <a:prstDash val="solid"/>
          </a:ln>
        </p:spPr>
      </p:sp>
      <p:sp>
        <p:nvSpPr>
          <p:cNvPr id="32" name="kicker-dot-374"/>
          <p:cNvSpPr/>
          <p:nvPr/>
        </p:nvSpPr>
        <p:spPr>
          <a:xfrm>
            <a:off x="5221224" y="5445252"/>
            <a:ext cx="100584" cy="100584"/>
          </a:xfrm>
          <a:prstGeom prst="ellipse">
            <a:avLst/>
          </a:prstGeom>
          <a:solidFill>
            <a:schemeClr val="accent4"/>
          </a:solidFill>
          <a:ln w="12700">
            <a:solidFill>
              <a:schemeClr val="accent4"/>
            </a:solidFill>
            <a:prstDash val="solid"/>
          </a:ln>
        </p:spPr>
      </p:sp>
      <p:sp>
        <p:nvSpPr>
          <p:cNvPr id="33" name="text-375"/>
          <p:cNvSpPr txBox="1"/>
          <p:nvPr/>
        </p:nvSpPr>
        <p:spPr>
          <a:xfrm>
            <a:off x="5404104" y="5404104"/>
            <a:ext cx="1609344" cy="384048"/>
          </a:xfrm>
          <a:prstGeom prst="rect">
            <a:avLst/>
          </a:prstGeom>
          <a:noFill/>
          <a:ln/>
        </p:spPr>
        <p:txBody>
          <a:bodyPr wrap="square" lIns="0" tIns="0" rIns="0" bIns="0" rtlCol="0" anchor="t"/>
          <a:lstStyle/>
          <a:p>
            <a:pPr indent="0" marL="0">
              <a:buNone/>
            </a:pPr>
            <a:r>
              <a:rPr lang="en-US" sz="900" b="1" spc="300" kern="0" dirty="0">
                <a:solidFill>
                  <a:schemeClr val="accent4"/>
                </a:solidFill>
              </a:rPr>
              <a:t>WHERE THE WORLD IS TODAY</a:t>
            </a:r>
            <a:endParaRPr lang="en-US" sz="900" dirty="0"/>
          </a:p>
        </p:txBody>
      </p:sp>
      <p:sp>
        <p:nvSpPr>
          <p:cNvPr id="34" name="text-376"/>
          <p:cNvSpPr txBox="1"/>
          <p:nvPr/>
        </p:nvSpPr>
        <p:spPr>
          <a:xfrm>
            <a:off x="5221224" y="5861304"/>
            <a:ext cx="1645920" cy="1568196"/>
          </a:xfrm>
          <a:prstGeom prst="rect">
            <a:avLst/>
          </a:prstGeom>
          <a:noFill/>
          <a:ln/>
        </p:spPr>
        <p:txBody>
          <a:bodyPr wrap="square" lIns="0" tIns="0" rIns="0" bIns="0" rtlCol="0" anchor="t"/>
          <a:lstStyle/>
          <a:p>
            <a:pPr indent="0" marL="0">
              <a:lnSpc>
                <a:spcPct val="106000"/>
              </a:lnSpc>
              <a:buNone/>
            </a:pPr>
            <a:r>
              <a:rPr lang="en-US" sz="950" dirty="0">
                <a:solidFill>
                  <a:schemeClr val="tx1"/>
                </a:solidFill>
              </a:rPr>
              <a:t>Each step exists, but apart: Solein protein from Finland [6], starch made from CO₂ in a lab [7] and air capture in Iceland [8]. We link them in one plant.</a:t>
            </a:r>
            <a:endParaRPr lang="en-US" sz="950" dirty="0"/>
          </a:p>
        </p:txBody>
      </p:sp>
      <p:sp>
        <p:nvSpPr>
          <p:cNvPr id="35" name="card-377"/>
          <p:cNvSpPr/>
          <p:nvPr/>
        </p:nvSpPr>
        <p:spPr>
          <a:xfrm>
            <a:off x="5074920" y="7658100"/>
            <a:ext cx="1938528" cy="2263140"/>
          </a:xfrm>
          <a:prstGeom prst="roundRect">
            <a:avLst>
              <a:gd name="adj" fmla="val 3774"/>
            </a:avLst>
          </a:prstGeom>
          <a:solidFill>
            <a:schemeClr val="bg2"/>
          </a:solidFill>
          <a:ln w="12700">
            <a:solidFill>
              <a:schemeClr val="bg2"/>
            </a:solidFill>
            <a:prstDash val="solid"/>
          </a:ln>
        </p:spPr>
      </p:sp>
      <p:sp>
        <p:nvSpPr>
          <p:cNvPr id="36" name="kicker-dot-378"/>
          <p:cNvSpPr/>
          <p:nvPr/>
        </p:nvSpPr>
        <p:spPr>
          <a:xfrm>
            <a:off x="5221224" y="7845552"/>
            <a:ext cx="100584" cy="100584"/>
          </a:xfrm>
          <a:prstGeom prst="ellipse">
            <a:avLst/>
          </a:prstGeom>
          <a:solidFill>
            <a:schemeClr val="accent4"/>
          </a:solidFill>
          <a:ln w="12700">
            <a:solidFill>
              <a:schemeClr val="accent4"/>
            </a:solidFill>
            <a:prstDash val="solid"/>
          </a:ln>
        </p:spPr>
      </p:sp>
      <p:sp>
        <p:nvSpPr>
          <p:cNvPr id="37" name="text-379"/>
          <p:cNvSpPr txBox="1"/>
          <p:nvPr/>
        </p:nvSpPr>
        <p:spPr>
          <a:xfrm>
            <a:off x="5404104" y="7804404"/>
            <a:ext cx="1609344" cy="384048"/>
          </a:xfrm>
          <a:prstGeom prst="rect">
            <a:avLst/>
          </a:prstGeom>
          <a:noFill/>
          <a:ln/>
        </p:spPr>
        <p:txBody>
          <a:bodyPr wrap="square" lIns="0" tIns="0" rIns="0" bIns="0" rtlCol="0" anchor="t"/>
          <a:lstStyle/>
          <a:p>
            <a:pPr indent="0" marL="0">
              <a:buNone/>
            </a:pPr>
            <a:r>
              <a:rPr lang="en-US" sz="900" b="1" spc="300" kern="0" dirty="0">
                <a:solidFill>
                  <a:schemeClr val="accent4"/>
                </a:solidFill>
              </a:rPr>
              <a:t>REALITY CHECK</a:t>
            </a:r>
            <a:endParaRPr lang="en-US" sz="900" dirty="0"/>
          </a:p>
        </p:txBody>
      </p:sp>
      <p:sp>
        <p:nvSpPr>
          <p:cNvPr id="38" name="text-380"/>
          <p:cNvSpPr txBox="1"/>
          <p:nvPr/>
        </p:nvSpPr>
        <p:spPr>
          <a:xfrm>
            <a:off x="5221224" y="8078724"/>
            <a:ext cx="1645920" cy="457200"/>
          </a:xfrm>
          <a:prstGeom prst="rect">
            <a:avLst/>
          </a:prstGeom>
          <a:noFill/>
          <a:ln/>
        </p:spPr>
        <p:txBody>
          <a:bodyPr wrap="square" lIns="0" tIns="0" rIns="0" bIns="0" rtlCol="0" anchor="t"/>
          <a:lstStyle/>
          <a:p>
            <a:pPr indent="0" marL="0">
              <a:buNone/>
            </a:pPr>
            <a:r>
              <a:rPr lang="en-US" sz="2000" b="1" dirty="0">
                <a:solidFill>
                  <a:schemeClr val="accent4"/>
                </a:solidFill>
                <a:latin typeface="+mj-lt" pitchFamily="34" charset="0"/>
                <a:ea typeface="+mj-lt" pitchFamily="34" charset="-122"/>
                <a:cs typeface="+mj-lt" pitchFamily="34" charset="-120"/>
              </a:rPr>
              <a:t>≈ 13 MW</a:t>
            </a:r>
            <a:endParaRPr lang="en-US" sz="2000" dirty="0"/>
          </a:p>
        </p:txBody>
      </p:sp>
      <p:sp>
        <p:nvSpPr>
          <p:cNvPr id="39" name="text-381"/>
          <p:cNvSpPr txBox="1"/>
          <p:nvPr/>
        </p:nvSpPr>
        <p:spPr>
          <a:xfrm>
            <a:off x="5221224" y="8581644"/>
            <a:ext cx="1645920" cy="1248156"/>
          </a:xfrm>
          <a:prstGeom prst="rect">
            <a:avLst/>
          </a:prstGeom>
          <a:noFill/>
          <a:ln/>
        </p:spPr>
        <p:txBody>
          <a:bodyPr wrap="square" lIns="0" tIns="0" rIns="0" bIns="0" rtlCol="0" anchor="t"/>
          <a:lstStyle/>
          <a:p>
            <a:pPr indent="0" marL="0">
              <a:lnSpc>
                <a:spcPct val="106000"/>
              </a:lnSpc>
              <a:buNone/>
            </a:pPr>
            <a:r>
              <a:rPr lang="en-US" sz="950" dirty="0">
                <a:solidFill>
                  <a:schemeClr val="tx1"/>
                </a:solidFill>
              </a:rPr>
              <a:t>Melting 3,000 tonnes of snow a day takes about 13 MW, inside the 14 MW of spare fusion heat. Starch from CO₂ is still lab-scale [7].</a:t>
            </a:r>
            <a:endParaRPr lang="en-US" sz="950" dirty="0"/>
          </a:p>
        </p:txBody>
      </p:sp>
      <p:sp>
        <p:nvSpPr>
          <p:cNvPr id="40" name="page-number"/>
          <p:cNvSpPr txBox="1"/>
          <p:nvPr/>
        </p:nvSpPr>
        <p:spPr>
          <a:xfrm>
            <a:off x="548640" y="10177272"/>
            <a:ext cx="411480" cy="219456"/>
          </a:xfrm>
          <a:prstGeom prst="rect">
            <a:avLst/>
          </a:prstGeom>
          <a:noFill/>
          <a:ln/>
        </p:spPr>
        <p:txBody>
          <a:bodyPr wrap="square" lIns="0" tIns="0" rIns="0" bIns="0" rtlCol="0" anchor="ctr"/>
          <a:lstStyle/>
          <a:p>
            <a:pPr algn="l" indent="0" marL="0">
              <a:buNone/>
            </a:pPr>
            <a:r>
              <a:rPr lang="en-US" sz="900" b="1" dirty="0">
                <a:solidFill>
                  <a:schemeClr val="tx1"/>
                </a:solidFill>
              </a:rPr>
              <a:t>16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picture-382" descr="/home/user/chatbox-bi-n-o/magazine/assets/renders/spa.jpg">    </p:cNvPr>
          <p:cNvPicPr>
            <a:picLocks noChangeAspect="1"/>
          </p:cNvPicPr>
          <p:nvPr/>
        </p:nvPicPr>
        <p:blipFill>
          <a:blip r:embed="rId1"/>
          <a:srcRect l="0" r="0" t="0" b="0"/>
          <a:stretch/>
        </p:blipFill>
        <p:spPr>
          <a:xfrm>
            <a:off x="0" y="0"/>
            <a:ext cx="7562088" cy="10689336"/>
          </a:xfrm>
          <a:prstGeom prst="rect">
            <a:avLst/>
          </a:prstGeom>
        </p:spPr>
      </p:pic>
      <p:pic>
        <p:nvPicPr>
          <p:cNvPr id="3" name="shade-top-383" descr="/home/user/chatbox-bi-n-o/magazine/assets/ui/shade_top.png">    </p:cNvPr>
          <p:cNvPicPr>
            <a:picLocks noChangeAspect="1"/>
          </p:cNvPicPr>
          <p:nvPr/>
        </p:nvPicPr>
        <p:blipFill>
          <a:blip r:embed="rId2"/>
          <a:stretch>
            <a:fillRect/>
          </a:stretch>
        </p:blipFill>
        <p:spPr>
          <a:xfrm>
            <a:off x="0" y="0"/>
            <a:ext cx="7562088" cy="4389120"/>
          </a:xfrm>
          <a:prstGeom prst="rect">
            <a:avLst/>
          </a:prstGeom>
        </p:spPr>
      </p:pic>
      <p:pic>
        <p:nvPicPr>
          <p:cNvPr id="4" name="shade-bottom-384" descr="/home/user/chatbox-bi-n-o/magazine/assets/ui/shade_bottom.png">    </p:cNvPr>
          <p:cNvPicPr>
            <a:picLocks noChangeAspect="1"/>
          </p:cNvPicPr>
          <p:nvPr/>
        </p:nvPicPr>
        <p:blipFill>
          <a:blip r:embed="rId3"/>
          <a:stretch>
            <a:fillRect/>
          </a:stretch>
        </p:blipFill>
        <p:spPr>
          <a:xfrm>
            <a:off x="0" y="6949440"/>
            <a:ext cx="7562088" cy="3739896"/>
          </a:xfrm>
          <a:prstGeom prst="rect">
            <a:avLst/>
          </a:prstGeom>
        </p:spPr>
      </p:pic>
      <p:sp>
        <p:nvSpPr>
          <p:cNvPr id="5" name="marker-385"/>
          <p:cNvSpPr/>
          <p:nvPr/>
        </p:nvSpPr>
        <p:spPr>
          <a:xfrm>
            <a:off x="548640" y="548640"/>
            <a:ext cx="731520" cy="731520"/>
          </a:xfrm>
          <a:prstGeom prst="ellipse">
            <a:avLst/>
          </a:prstGeom>
          <a:solidFill>
            <a:schemeClr val="accent5"/>
          </a:solidFill>
          <a:ln w="19050">
            <a:solidFill>
              <a:schemeClr val="bg1"/>
            </a:solidFill>
            <a:prstDash val="solid"/>
          </a:ln>
        </p:spPr>
      </p:sp>
      <p:sp>
        <p:nvSpPr>
          <p:cNvPr id="6" name="text-386"/>
          <p:cNvSpPr txBox="1"/>
          <p:nvPr/>
        </p:nvSpPr>
        <p:spPr>
          <a:xfrm>
            <a:off x="548640" y="54864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latin typeface="+mj-lt" pitchFamily="34" charset="0"/>
                <a:ea typeface="+mj-lt" pitchFamily="34" charset="-122"/>
                <a:cs typeface="+mj-lt" pitchFamily="34" charset="-120"/>
              </a:rPr>
              <a:t>3</a:t>
            </a:r>
            <a:endParaRPr lang="en-US" sz="2800" dirty="0"/>
          </a:p>
        </p:txBody>
      </p:sp>
      <p:sp>
        <p:nvSpPr>
          <p:cNvPr id="7" name="kicker-dot-387"/>
          <p:cNvSpPr/>
          <p:nvPr/>
        </p:nvSpPr>
        <p:spPr>
          <a:xfrm>
            <a:off x="548640" y="1549908"/>
            <a:ext cx="100584" cy="100584"/>
          </a:xfrm>
          <a:prstGeom prst="ellipse">
            <a:avLst/>
          </a:prstGeom>
          <a:solidFill>
            <a:schemeClr val="accent5"/>
          </a:solidFill>
          <a:ln w="12700">
            <a:solidFill>
              <a:schemeClr val="accent5"/>
            </a:solidFill>
            <a:prstDash val="solid"/>
          </a:ln>
        </p:spPr>
      </p:sp>
      <p:sp>
        <p:nvSpPr>
          <p:cNvPr id="8" name="text-388"/>
          <p:cNvSpPr txBox="1"/>
          <p:nvPr/>
        </p:nvSpPr>
        <p:spPr>
          <a:xfrm>
            <a:off x="731520" y="1508760"/>
            <a:ext cx="5486400" cy="201168"/>
          </a:xfrm>
          <a:prstGeom prst="rect">
            <a:avLst/>
          </a:prstGeom>
          <a:noFill/>
          <a:ln/>
        </p:spPr>
        <p:txBody>
          <a:bodyPr wrap="square" lIns="0" tIns="0" rIns="0" bIns="0" rtlCol="0" anchor="t"/>
          <a:lstStyle/>
          <a:p>
            <a:pPr indent="0" marL="0">
              <a:buNone/>
            </a:pPr>
            <a:r>
              <a:rPr lang="en-US" sz="900" b="1" spc="300" kern="0" dirty="0">
                <a:solidFill>
                  <a:schemeClr val="bg1"/>
                </a:solidFill>
              </a:rPr>
              <a:t>SIGNATURE DISTRICT 3 · MOUNT AURORA</a:t>
            </a:r>
            <a:endParaRPr lang="en-US" sz="900" dirty="0"/>
          </a:p>
        </p:txBody>
      </p:sp>
      <p:sp>
        <p:nvSpPr>
          <p:cNvPr id="9" name="title-389"/>
          <p:cNvSpPr txBox="1"/>
          <p:nvPr/>
        </p:nvSpPr>
        <p:spPr>
          <a:xfrm>
            <a:off x="548640" y="1764792"/>
            <a:ext cx="6464808" cy="1325880"/>
          </a:xfrm>
          <a:prstGeom prst="rect">
            <a:avLst/>
          </a:prstGeom>
          <a:noFill/>
          <a:ln/>
        </p:spPr>
        <p:txBody>
          <a:bodyPr wrap="square" lIns="0" tIns="0" rIns="0" bIns="0" rtlCol="0" anchor="t"/>
          <a:lstStyle/>
          <a:p>
            <a:pPr indent="0" marL="0">
              <a:lnSpc>
                <a:spcPct val="92000"/>
              </a:lnSpc>
              <a:buNone/>
            </a:pPr>
            <a:r>
              <a:rPr lang="en-US" sz="3800" b="1" dirty="0">
                <a:solidFill>
                  <a:schemeClr val="bg1"/>
                </a:solidFill>
                <a:latin typeface="+mj-lt" pitchFamily="34" charset="0"/>
                <a:ea typeface="+mj-lt" pitchFamily="34" charset="-122"/>
                <a:cs typeface="+mj-lt" pitchFamily="34" charset="-120"/>
              </a:rPr>
              <a:t>A Snow Mountain</a:t>
            </a:r>
            <a:endParaRPr lang="en-US" sz="3800" dirty="0"/>
          </a:p>
          <a:p>
            <a:pPr indent="0" marL="0">
              <a:lnSpc>
                <a:spcPct val="92000"/>
              </a:lnSpc>
              <a:buNone/>
            </a:pPr>
            <a:r>
              <a:rPr lang="en-US" sz="3800" b="1" dirty="0">
                <a:solidFill>
                  <a:schemeClr val="bg1"/>
                </a:solidFill>
                <a:latin typeface="+mj-lt" pitchFamily="34" charset="0"/>
                <a:ea typeface="+mj-lt" pitchFamily="34" charset="-122"/>
                <a:cs typeface="+mj-lt" pitchFamily="34" charset="-120"/>
              </a:rPr>
              <a:t>You Can Walk Inside</a:t>
            </a:r>
            <a:endParaRPr lang="en-US" sz="3800" dirty="0"/>
          </a:p>
        </p:txBody>
      </p:sp>
      <p:sp>
        <p:nvSpPr>
          <p:cNvPr id="10" name="text-391"/>
          <p:cNvSpPr txBox="1"/>
          <p:nvPr/>
        </p:nvSpPr>
        <p:spPr>
          <a:xfrm>
            <a:off x="548640" y="3200400"/>
            <a:ext cx="5852160" cy="731520"/>
          </a:xfrm>
          <a:prstGeom prst="rect">
            <a:avLst/>
          </a:prstGeom>
          <a:noFill/>
          <a:ln/>
        </p:spPr>
        <p:txBody>
          <a:bodyPr wrap="square" lIns="0" tIns="0" rIns="0" bIns="0" rtlCol="0" anchor="t"/>
          <a:lstStyle/>
          <a:p>
            <a:pPr indent="0" marL="0">
              <a:lnSpc>
                <a:spcPct val="110000"/>
              </a:lnSpc>
              <a:buNone/>
            </a:pPr>
            <a:r>
              <a:rPr lang="en-US" sz="1400" i="1" dirty="0">
                <a:solidFill>
                  <a:schemeClr val="bg1"/>
                </a:solidFill>
                <a:latin typeface="+mj-lt" pitchFamily="34" charset="0"/>
                <a:ea typeface="+mj-lt" pitchFamily="34" charset="-122"/>
                <a:cs typeface="+mj-lt" pitchFamily="34" charset="-120"/>
              </a:rPr>
              <a:t>Our big idea: the mountain is the building. Inside a 35-metre snow peak shaped like Nepal’s Ama Dablam, a whole leisure world stays at 28 °C all winter.</a:t>
            </a:r>
            <a:endParaRPr lang="en-US" sz="1400" dirty="0"/>
          </a:p>
        </p:txBody>
      </p:sp>
      <p:sp>
        <p:nvSpPr>
          <p:cNvPr id="11" name="text-392"/>
          <p:cNvSpPr txBox="1"/>
          <p:nvPr/>
        </p:nvSpPr>
        <p:spPr>
          <a:xfrm>
            <a:off x="548640" y="8458200"/>
            <a:ext cx="3095244" cy="1600200"/>
          </a:xfrm>
          <a:prstGeom prst="rect">
            <a:avLst/>
          </a:prstGeom>
          <a:noFill/>
          <a:ln/>
        </p:spPr>
        <p:txBody>
          <a:bodyPr wrap="square" lIns="0" tIns="0" rIns="0" bIns="0" rtlCol="0" anchor="t"/>
          <a:lstStyle/>
          <a:p>
            <a:pPr indent="0" marL="0">
              <a:lnSpc>
                <a:spcPct val="112000"/>
              </a:lnSpc>
              <a:spcAft>
                <a:spcPts val="700"/>
              </a:spcAft>
              <a:buNone/>
            </a:pPr>
            <a:r>
              <a:rPr lang="en-US" sz="1000" dirty="0">
                <a:solidFill>
                  <a:schemeClr val="bg1"/>
                </a:solidFill>
              </a:rPr>
              <a:t>Guests enter through the North Portal, where a thermal revolving door and an air curtain keep the −45 °C air out. The peak’s deep snow works as a blanket that holds in the geothermal heat, and sensors release the snow load safely before an avalanche can build.</a:t>
            </a:r>
            <a:endParaRPr lang="en-US" sz="1000" dirty="0"/>
          </a:p>
        </p:txBody>
      </p:sp>
      <p:sp>
        <p:nvSpPr>
          <p:cNvPr id="12" name="text-393"/>
          <p:cNvSpPr txBox="1"/>
          <p:nvPr/>
        </p:nvSpPr>
        <p:spPr>
          <a:xfrm>
            <a:off x="3918204" y="8458200"/>
            <a:ext cx="3095244" cy="1600200"/>
          </a:xfrm>
          <a:prstGeom prst="rect">
            <a:avLst/>
          </a:prstGeom>
          <a:noFill/>
          <a:ln/>
        </p:spPr>
        <p:txBody>
          <a:bodyPr wrap="square" lIns="0" tIns="0" rIns="0" bIns="0" rtlCol="0" anchor="t"/>
          <a:lstStyle/>
          <a:p>
            <a:pPr indent="0" marL="0">
              <a:lnSpc>
                <a:spcPct val="112000"/>
              </a:lnSpc>
              <a:spcAft>
                <a:spcPts val="700"/>
              </a:spcAft>
              <a:buNone/>
            </a:pPr>
            <a:r>
              <a:rPr lang="en-US" sz="1000" dirty="0">
                <a:solidFill>
                  <a:schemeClr val="bg1"/>
                </a:solidFill>
              </a:rPr>
              <a:t>Outside is the Aurora Lagoon, a 38-degree mineral pool for bathing under the northern lights. The spa fights the winter blues, brings tourists and income, and in an emergency can shelter up to 1,000 people.</a:t>
            </a:r>
            <a:endParaRPr lang="en-US" sz="1000" dirty="0"/>
          </a:p>
        </p:txBody>
      </p:sp>
      <p:sp>
        <p:nvSpPr>
          <p:cNvPr id="13" name="text-394"/>
          <p:cNvSpPr txBox="1"/>
          <p:nvPr/>
        </p:nvSpPr>
        <p:spPr>
          <a:xfrm>
            <a:off x="548640" y="7863840"/>
            <a:ext cx="6464808" cy="411480"/>
          </a:xfrm>
          <a:prstGeom prst="rect">
            <a:avLst/>
          </a:prstGeom>
          <a:noFill/>
          <a:ln/>
        </p:spPr>
        <p:txBody>
          <a:bodyPr wrap="square" lIns="0" tIns="0" rIns="0" bIns="0" rtlCol="0" anchor="t"/>
          <a:lstStyle/>
          <a:p>
            <a:pPr indent="0" marL="0">
              <a:buNone/>
            </a:pPr>
            <a:r>
              <a:rPr lang="en-US" sz="850" i="1" dirty="0">
                <a:solidFill>
                  <a:schemeClr val="bg2"/>
                </a:solidFill>
              </a:rPr>
              <a:t>The four spa levels step out of the north face; the forecourt is warmed by the spa’s used hot water, so guests walk ice-free from the shuttle to the door.</a:t>
            </a:r>
            <a:endParaRPr lang="en-US" sz="850" dirty="0"/>
          </a:p>
        </p:txBody>
      </p:sp>
      <p:sp>
        <p:nvSpPr>
          <p:cNvPr id="14" name="page-number"/>
          <p:cNvSpPr txBox="1"/>
          <p:nvPr/>
        </p:nvSpPr>
        <p:spPr>
          <a:xfrm>
            <a:off x="6601968" y="10177272"/>
            <a:ext cx="411480" cy="219456"/>
          </a:xfrm>
          <a:prstGeom prst="rect">
            <a:avLst/>
          </a:prstGeom>
          <a:noFill/>
          <a:ln/>
        </p:spPr>
        <p:txBody>
          <a:bodyPr wrap="square" lIns="0" tIns="0" rIns="0" bIns="0" rtlCol="0" anchor="ctr"/>
          <a:lstStyle/>
          <a:p>
            <a:pPr algn="r" indent="0" marL="0">
              <a:buNone/>
            </a:pPr>
            <a:r>
              <a:rPr lang="en-US" sz="900" b="1" dirty="0">
                <a:solidFill>
                  <a:schemeClr val="bg1"/>
                </a:solidFill>
              </a:rPr>
              <a:t>17</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picture-395" descr="/home/user/chatbox-bi-n-o/magazine/assets/renders/grotto_L.jpg">    </p:cNvPr>
          <p:cNvPicPr>
            <a:picLocks noChangeAspect="1"/>
          </p:cNvPicPr>
          <p:nvPr/>
        </p:nvPicPr>
        <p:blipFill>
          <a:blip r:embed="rId1"/>
          <a:srcRect l="0" r="0" t="0" b="0"/>
          <a:stretch/>
        </p:blipFill>
        <p:spPr>
          <a:xfrm>
            <a:off x="0" y="0"/>
            <a:ext cx="7562088" cy="10689336"/>
          </a:xfrm>
          <a:prstGeom prst="rect">
            <a:avLst/>
          </a:prstGeom>
        </p:spPr>
      </p:pic>
      <p:pic>
        <p:nvPicPr>
          <p:cNvPr id="3" name="shade-top-396" descr="/home/user/chatbox-bi-n-o/magazine/assets/ui/shade_top.png">    </p:cNvPr>
          <p:cNvPicPr>
            <a:picLocks noChangeAspect="1"/>
          </p:cNvPicPr>
          <p:nvPr/>
        </p:nvPicPr>
        <p:blipFill>
          <a:blip r:embed="rId2"/>
          <a:stretch>
            <a:fillRect/>
          </a:stretch>
        </p:blipFill>
        <p:spPr>
          <a:xfrm>
            <a:off x="0" y="0"/>
            <a:ext cx="7562088" cy="4023360"/>
          </a:xfrm>
          <a:prstGeom prst="rect">
            <a:avLst/>
          </a:prstGeom>
        </p:spPr>
      </p:pic>
      <p:sp>
        <p:nvSpPr>
          <p:cNvPr id="4" name="kicker-dot-397"/>
          <p:cNvSpPr/>
          <p:nvPr/>
        </p:nvSpPr>
        <p:spPr>
          <a:xfrm>
            <a:off x="548640" y="589788"/>
            <a:ext cx="100584" cy="100584"/>
          </a:xfrm>
          <a:prstGeom prst="ellipse">
            <a:avLst/>
          </a:prstGeom>
          <a:solidFill>
            <a:schemeClr val="accent5"/>
          </a:solidFill>
          <a:ln w="12700">
            <a:solidFill>
              <a:schemeClr val="accent5"/>
            </a:solidFill>
            <a:prstDash val="solid"/>
          </a:ln>
        </p:spPr>
      </p:sp>
      <p:sp>
        <p:nvSpPr>
          <p:cNvPr id="5" name="text-398"/>
          <p:cNvSpPr txBox="1"/>
          <p:nvPr/>
        </p:nvSpPr>
        <p:spPr>
          <a:xfrm>
            <a:off x="731520" y="548640"/>
            <a:ext cx="5486400" cy="201168"/>
          </a:xfrm>
          <a:prstGeom prst="rect">
            <a:avLst/>
          </a:prstGeom>
          <a:noFill/>
          <a:ln/>
        </p:spPr>
        <p:txBody>
          <a:bodyPr wrap="square" lIns="0" tIns="0" rIns="0" bIns="0" rtlCol="0" anchor="t"/>
          <a:lstStyle/>
          <a:p>
            <a:pPr indent="0" marL="0">
              <a:buNone/>
            </a:pPr>
            <a:r>
              <a:rPr lang="en-US" sz="900" b="1" spc="300" kern="0" dirty="0">
                <a:solidFill>
                  <a:schemeClr val="bg1"/>
                </a:solidFill>
              </a:rPr>
              <a:t>MOUNT AURORA · LEVEL 1</a:t>
            </a:r>
            <a:endParaRPr lang="en-US" sz="900" dirty="0"/>
          </a:p>
        </p:txBody>
      </p:sp>
      <p:sp>
        <p:nvSpPr>
          <p:cNvPr id="6" name="title-399"/>
          <p:cNvSpPr txBox="1"/>
          <p:nvPr/>
        </p:nvSpPr>
        <p:spPr>
          <a:xfrm>
            <a:off x="548640" y="804672"/>
            <a:ext cx="6464808" cy="822960"/>
          </a:xfrm>
          <a:prstGeom prst="rect">
            <a:avLst/>
          </a:prstGeom>
          <a:noFill/>
          <a:ln/>
        </p:spPr>
        <p:txBody>
          <a:bodyPr wrap="square" lIns="0" tIns="0" rIns="0" bIns="0" rtlCol="0" anchor="t"/>
          <a:lstStyle/>
          <a:p>
            <a:pPr indent="0" marL="0">
              <a:lnSpc>
                <a:spcPct val="92000"/>
              </a:lnSpc>
              <a:buNone/>
            </a:pPr>
            <a:r>
              <a:rPr lang="en-US" sz="4600" b="1" dirty="0">
                <a:solidFill>
                  <a:schemeClr val="bg1"/>
                </a:solidFill>
                <a:latin typeface="+mj-lt" pitchFamily="34" charset="0"/>
                <a:ea typeface="+mj-lt" pitchFamily="34" charset="-122"/>
                <a:cs typeface="+mj-lt" pitchFamily="34" charset="-120"/>
              </a:rPr>
              <a:t>Inside the Mountain</a:t>
            </a:r>
            <a:endParaRPr lang="en-US" sz="4600" dirty="0"/>
          </a:p>
        </p:txBody>
      </p:sp>
      <p:sp>
        <p:nvSpPr>
          <p:cNvPr id="7" name="text-401"/>
          <p:cNvSpPr txBox="1"/>
          <p:nvPr/>
        </p:nvSpPr>
        <p:spPr>
          <a:xfrm>
            <a:off x="548640" y="1783080"/>
            <a:ext cx="4206240" cy="1097280"/>
          </a:xfrm>
          <a:prstGeom prst="rect">
            <a:avLst/>
          </a:prstGeom>
          <a:noFill/>
          <a:ln/>
        </p:spPr>
        <p:txBody>
          <a:bodyPr wrap="square" lIns="0" tIns="0" rIns="0" bIns="0" rtlCol="0" anchor="t"/>
          <a:lstStyle/>
          <a:p>
            <a:pPr indent="0" marL="0">
              <a:lnSpc>
                <a:spcPct val="108000"/>
              </a:lnSpc>
              <a:buNone/>
            </a:pPr>
            <a:r>
              <a:rPr lang="en-US" sz="1400" i="1" dirty="0">
                <a:solidFill>
                  <a:schemeClr val="bg1"/>
                </a:solidFill>
                <a:latin typeface="+mj-lt" pitchFamily="34" charset="0"/>
                <a:ea typeface="+mj-lt" pitchFamily="34" charset="-122"/>
                <a:cs typeface="+mj-lt" pitchFamily="34" charset="-120"/>
              </a:rPr>
              <a:t>The ground level and arrival floor of the spa: a welcome hall, two changing suites, a 7 × 13 m geothermal Mineral Lake grotto and an onsen garden with hot, warm and glacier-cold pools.</a:t>
            </a:r>
            <a:endParaRPr lang="en-US" sz="1400" dirty="0"/>
          </a:p>
        </p:txBody>
      </p:sp>
      <p:sp>
        <p:nvSpPr>
          <p:cNvPr id="8" name="text-402"/>
          <p:cNvSpPr txBox="1"/>
          <p:nvPr/>
        </p:nvSpPr>
        <p:spPr>
          <a:xfrm>
            <a:off x="548640" y="2926080"/>
            <a:ext cx="4206240" cy="731520"/>
          </a:xfrm>
          <a:prstGeom prst="rect">
            <a:avLst/>
          </a:prstGeom>
          <a:noFill/>
          <a:ln/>
        </p:spPr>
        <p:txBody>
          <a:bodyPr wrap="square" lIns="0" tIns="0" rIns="0" bIns="0" rtlCol="0" anchor="t"/>
          <a:lstStyle/>
          <a:p>
            <a:pPr indent="0" marL="0">
              <a:lnSpc>
                <a:spcPct val="108000"/>
              </a:lnSpc>
              <a:buNone/>
            </a:pPr>
            <a:r>
              <a:rPr lang="en-US" sz="1000" dirty="0">
                <a:solidFill>
                  <a:schemeClr val="bg2"/>
                </a:solidFill>
              </a:rPr>
              <a:t>A 40 °C silica- and bicarbonate-rich spring rises from the geothermal field into the lake, spills over a basalt wall and flows on to the outdoor Aurora Lagoon.</a:t>
            </a:r>
            <a:endParaRPr lang="en-US" sz="1000" dirty="0"/>
          </a:p>
        </p:txBody>
      </p:sp>
      <p:sp>
        <p:nvSpPr>
          <p:cNvPr id="9" name="page-number"/>
          <p:cNvSpPr txBox="1"/>
          <p:nvPr/>
        </p:nvSpPr>
        <p:spPr>
          <a:xfrm>
            <a:off x="548640" y="10177272"/>
            <a:ext cx="411480" cy="219456"/>
          </a:xfrm>
          <a:prstGeom prst="rect">
            <a:avLst/>
          </a:prstGeom>
          <a:noFill/>
          <a:ln/>
        </p:spPr>
        <p:txBody>
          <a:bodyPr wrap="square" lIns="0" tIns="0" rIns="0" bIns="0" rtlCol="0" anchor="ctr"/>
          <a:lstStyle/>
          <a:p>
            <a:pPr algn="l" indent="0" marL="0">
              <a:buNone/>
            </a:pPr>
            <a:r>
              <a:rPr lang="en-US" sz="900" b="1" dirty="0">
                <a:solidFill>
                  <a:schemeClr val="bg1"/>
                </a:solidFill>
              </a:rPr>
              <a:t>18</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picture-403" descr="/home/user/chatbox-bi-n-o/magazine/assets/renders/grotto_R.jpg">    </p:cNvPr>
          <p:cNvPicPr>
            <a:picLocks noChangeAspect="1"/>
          </p:cNvPicPr>
          <p:nvPr/>
        </p:nvPicPr>
        <p:blipFill>
          <a:blip r:embed="rId1"/>
          <a:srcRect l="0" r="0" t="0" b="0"/>
          <a:stretch/>
        </p:blipFill>
        <p:spPr>
          <a:xfrm>
            <a:off x="0" y="0"/>
            <a:ext cx="7562088" cy="10689336"/>
          </a:xfrm>
          <a:prstGeom prst="rect">
            <a:avLst/>
          </a:prstGeom>
        </p:spPr>
      </p:pic>
      <p:sp>
        <p:nvSpPr>
          <p:cNvPr id="3" name="panel-404"/>
          <p:cNvSpPr/>
          <p:nvPr/>
        </p:nvSpPr>
        <p:spPr>
          <a:xfrm>
            <a:off x="548640" y="548640"/>
            <a:ext cx="3140964" cy="1498854"/>
          </a:xfrm>
          <a:prstGeom prst="rect">
            <a:avLst/>
          </a:prstGeom>
          <a:solidFill>
            <a:schemeClr val="tx1">
              <a:alpha val="85000"/>
            </a:schemeClr>
          </a:solidFill>
          <a:ln w="12700">
            <a:solidFill>
              <a:schemeClr val="tx1">
                <a:alpha val="0"/>
              </a:schemeClr>
            </a:solidFill>
            <a:prstDash val="solid"/>
          </a:ln>
        </p:spPr>
      </p:sp>
      <p:sp>
        <p:nvSpPr>
          <p:cNvPr id="4" name="kicker-dot-405"/>
          <p:cNvSpPr/>
          <p:nvPr/>
        </p:nvSpPr>
        <p:spPr>
          <a:xfrm>
            <a:off x="694944" y="736092"/>
            <a:ext cx="100584" cy="100584"/>
          </a:xfrm>
          <a:prstGeom prst="ellipse">
            <a:avLst/>
          </a:prstGeom>
          <a:solidFill>
            <a:schemeClr val="accent5"/>
          </a:solidFill>
          <a:ln w="12700">
            <a:solidFill>
              <a:schemeClr val="accent5"/>
            </a:solidFill>
            <a:prstDash val="solid"/>
          </a:ln>
        </p:spPr>
      </p:sp>
      <p:sp>
        <p:nvSpPr>
          <p:cNvPr id="5" name="text-406"/>
          <p:cNvSpPr txBox="1"/>
          <p:nvPr/>
        </p:nvSpPr>
        <p:spPr>
          <a:xfrm>
            <a:off x="877824" y="694944"/>
            <a:ext cx="2811780" cy="384048"/>
          </a:xfrm>
          <a:prstGeom prst="rect">
            <a:avLst/>
          </a:prstGeom>
          <a:noFill/>
          <a:ln/>
        </p:spPr>
        <p:txBody>
          <a:bodyPr wrap="square" lIns="0" tIns="0" rIns="0" bIns="0" rtlCol="0" anchor="t"/>
          <a:lstStyle/>
          <a:p>
            <a:pPr indent="0" marL="0">
              <a:buNone/>
            </a:pPr>
            <a:r>
              <a:rPr lang="en-US" sz="900" b="1" spc="300" kern="0" dirty="0">
                <a:solidFill>
                  <a:schemeClr val="accent5"/>
                </a:solidFill>
              </a:rPr>
              <a:t>WHERE THE WORLD IS TODAY</a:t>
            </a:r>
            <a:endParaRPr lang="en-US" sz="900" dirty="0"/>
          </a:p>
        </p:txBody>
      </p:sp>
      <p:sp>
        <p:nvSpPr>
          <p:cNvPr id="6" name="text-407"/>
          <p:cNvSpPr txBox="1"/>
          <p:nvPr/>
        </p:nvSpPr>
        <p:spPr>
          <a:xfrm>
            <a:off x="694944" y="969264"/>
            <a:ext cx="2848356" cy="986790"/>
          </a:xfrm>
          <a:prstGeom prst="rect">
            <a:avLst/>
          </a:prstGeom>
          <a:noFill/>
          <a:ln/>
        </p:spPr>
        <p:txBody>
          <a:bodyPr wrap="square" lIns="0" tIns="0" rIns="0" bIns="0" rtlCol="0" anchor="t"/>
          <a:lstStyle/>
          <a:p>
            <a:pPr indent="0" marL="0">
              <a:lnSpc>
                <a:spcPct val="106000"/>
              </a:lnSpc>
              <a:buNone/>
            </a:pPr>
            <a:r>
              <a:rPr lang="en-US" sz="950" dirty="0">
                <a:solidFill>
                  <a:schemeClr val="bg1"/>
                </a:solidFill>
              </a:rPr>
              <a:t>Iceland’s Blue Lagoon bathes visitors in 37–39 °C water from a geothermal power plant [9], and Switzerland’s Therme Vals is cut into a hillside [10]. Mount Aurora goes further: the whole snow peak becomes the building.</a:t>
            </a:r>
            <a:endParaRPr lang="en-US" sz="950" dirty="0"/>
          </a:p>
        </p:txBody>
      </p:sp>
      <p:sp>
        <p:nvSpPr>
          <p:cNvPr id="7" name="panel-408"/>
          <p:cNvSpPr/>
          <p:nvPr/>
        </p:nvSpPr>
        <p:spPr>
          <a:xfrm>
            <a:off x="3872484" y="548640"/>
            <a:ext cx="3140964" cy="2001774"/>
          </a:xfrm>
          <a:prstGeom prst="rect">
            <a:avLst/>
          </a:prstGeom>
          <a:solidFill>
            <a:schemeClr val="tx1">
              <a:alpha val="85000"/>
            </a:schemeClr>
          </a:solidFill>
          <a:ln w="12700">
            <a:solidFill>
              <a:schemeClr val="tx1">
                <a:alpha val="0"/>
              </a:schemeClr>
            </a:solidFill>
            <a:prstDash val="solid"/>
          </a:ln>
        </p:spPr>
      </p:sp>
      <p:sp>
        <p:nvSpPr>
          <p:cNvPr id="8" name="kicker-dot-409"/>
          <p:cNvSpPr/>
          <p:nvPr/>
        </p:nvSpPr>
        <p:spPr>
          <a:xfrm>
            <a:off x="4018788" y="736092"/>
            <a:ext cx="100584" cy="100584"/>
          </a:xfrm>
          <a:prstGeom prst="ellipse">
            <a:avLst/>
          </a:prstGeom>
          <a:solidFill>
            <a:schemeClr val="accent5"/>
          </a:solidFill>
          <a:ln w="12700">
            <a:solidFill>
              <a:schemeClr val="accent5"/>
            </a:solidFill>
            <a:prstDash val="solid"/>
          </a:ln>
        </p:spPr>
      </p:sp>
      <p:sp>
        <p:nvSpPr>
          <p:cNvPr id="9" name="text-410"/>
          <p:cNvSpPr txBox="1"/>
          <p:nvPr/>
        </p:nvSpPr>
        <p:spPr>
          <a:xfrm>
            <a:off x="4201668" y="694944"/>
            <a:ext cx="2811780" cy="384048"/>
          </a:xfrm>
          <a:prstGeom prst="rect">
            <a:avLst/>
          </a:prstGeom>
          <a:noFill/>
          <a:ln/>
        </p:spPr>
        <p:txBody>
          <a:bodyPr wrap="square" lIns="0" tIns="0" rIns="0" bIns="0" rtlCol="0" anchor="t"/>
          <a:lstStyle/>
          <a:p>
            <a:pPr indent="0" marL="0">
              <a:buNone/>
            </a:pPr>
            <a:r>
              <a:rPr lang="en-US" sz="900" b="1" spc="300" kern="0" dirty="0">
                <a:solidFill>
                  <a:schemeClr val="accent5"/>
                </a:solidFill>
              </a:rPr>
              <a:t>REALITY CHECK</a:t>
            </a:r>
            <a:endParaRPr lang="en-US" sz="900" dirty="0"/>
          </a:p>
        </p:txBody>
      </p:sp>
      <p:sp>
        <p:nvSpPr>
          <p:cNvPr id="10" name="text-411"/>
          <p:cNvSpPr txBox="1"/>
          <p:nvPr/>
        </p:nvSpPr>
        <p:spPr>
          <a:xfrm>
            <a:off x="4018788" y="969264"/>
            <a:ext cx="2848356" cy="457200"/>
          </a:xfrm>
          <a:prstGeom prst="rect">
            <a:avLst/>
          </a:prstGeom>
          <a:noFill/>
          <a:ln/>
        </p:spPr>
        <p:txBody>
          <a:bodyPr wrap="square" lIns="0" tIns="0" rIns="0" bIns="0" rtlCol="0" anchor="t"/>
          <a:lstStyle/>
          <a:p>
            <a:pPr indent="0" marL="0">
              <a:buNone/>
            </a:pPr>
            <a:r>
              <a:rPr lang="en-US" sz="2400" b="1" dirty="0">
                <a:solidFill>
                  <a:schemeClr val="bg1"/>
                </a:solidFill>
                <a:latin typeface="+mj-lt" pitchFamily="34" charset="0"/>
                <a:ea typeface="+mj-lt" pitchFamily="34" charset="-122"/>
                <a:cs typeface="+mj-lt" pitchFamily="34" charset="-120"/>
              </a:rPr>
              <a:t>73 °C apart</a:t>
            </a:r>
            <a:endParaRPr lang="en-US" sz="2400" dirty="0"/>
          </a:p>
        </p:txBody>
      </p:sp>
      <p:sp>
        <p:nvSpPr>
          <p:cNvPr id="11" name="text-412"/>
          <p:cNvSpPr txBox="1"/>
          <p:nvPr/>
        </p:nvSpPr>
        <p:spPr>
          <a:xfrm>
            <a:off x="4018788" y="1472184"/>
            <a:ext cx="2848356" cy="986790"/>
          </a:xfrm>
          <a:prstGeom prst="rect">
            <a:avLst/>
          </a:prstGeom>
          <a:noFill/>
          <a:ln/>
        </p:spPr>
        <p:txBody>
          <a:bodyPr wrap="square" lIns="0" tIns="0" rIns="0" bIns="0" rtlCol="0" anchor="t"/>
          <a:lstStyle/>
          <a:p>
            <a:pPr indent="0" marL="0">
              <a:lnSpc>
                <a:spcPct val="106000"/>
              </a:lnSpc>
              <a:buNone/>
            </a:pPr>
            <a:r>
              <a:rPr lang="en-US" sz="950" dirty="0">
                <a:solidFill>
                  <a:schemeClr val="bg1"/>
                </a:solidFill>
              </a:rPr>
              <a:t>An insulated rock shell holds 28 °C inside at −45 °C outside. It needs a hot spring below, to be confirmed by drilling, and thermosyphons like the Trans-Alaska Pipeline’s [14] keep the ground frozen.</a:t>
            </a:r>
            <a:endParaRPr lang="en-US" sz="950" dirty="0"/>
          </a:p>
        </p:txBody>
      </p:sp>
      <p:pic>
        <p:nvPicPr>
          <p:cNvPr id="12" name="shade-bottom-413" descr="/home/user/chatbox-bi-n-o/magazine/assets/ui/shade_bottom.png">    </p:cNvPr>
          <p:cNvPicPr>
            <a:picLocks noChangeAspect="1"/>
          </p:cNvPicPr>
          <p:nvPr/>
        </p:nvPicPr>
        <p:blipFill>
          <a:blip r:embed="rId2"/>
          <a:stretch>
            <a:fillRect/>
          </a:stretch>
        </p:blipFill>
        <p:spPr>
          <a:xfrm>
            <a:off x="0" y="8778240"/>
            <a:ext cx="7562088" cy="1911096"/>
          </a:xfrm>
          <a:prstGeom prst="rect">
            <a:avLst/>
          </a:prstGeom>
        </p:spPr>
      </p:pic>
      <p:sp>
        <p:nvSpPr>
          <p:cNvPr id="13" name="text-414"/>
          <p:cNvSpPr txBox="1"/>
          <p:nvPr/>
        </p:nvSpPr>
        <p:spPr>
          <a:xfrm>
            <a:off x="2990088" y="9418320"/>
            <a:ext cx="4023360" cy="548640"/>
          </a:xfrm>
          <a:prstGeom prst="rect">
            <a:avLst/>
          </a:prstGeom>
          <a:noFill/>
          <a:ln/>
        </p:spPr>
        <p:txBody>
          <a:bodyPr wrap="square" lIns="0" tIns="0" rIns="0" bIns="0" rtlCol="0" anchor="t"/>
          <a:lstStyle/>
          <a:p>
            <a:pPr algn="r" indent="0" marL="0">
              <a:buNone/>
            </a:pPr>
            <a:r>
              <a:rPr lang="en-US" sz="850" i="1" dirty="0">
                <a:solidFill>
                  <a:schemeClr val="bg1"/>
                </a:solidFill>
              </a:rPr>
              <a:t>The Mineral Lake Grotto: a larch footbridge crosses the 7 × 13 m lake, and stone lanterns light the shore below the basalt wall.</a:t>
            </a:r>
            <a:endParaRPr lang="en-US" sz="850" dirty="0"/>
          </a:p>
        </p:txBody>
      </p:sp>
      <p:sp>
        <p:nvSpPr>
          <p:cNvPr id="14" name="page-number"/>
          <p:cNvSpPr txBox="1"/>
          <p:nvPr/>
        </p:nvSpPr>
        <p:spPr>
          <a:xfrm>
            <a:off x="6601968" y="10177272"/>
            <a:ext cx="411480" cy="219456"/>
          </a:xfrm>
          <a:prstGeom prst="rect">
            <a:avLst/>
          </a:prstGeom>
          <a:noFill/>
          <a:ln/>
        </p:spPr>
        <p:txBody>
          <a:bodyPr wrap="square" lIns="0" tIns="0" rIns="0" bIns="0" rtlCol="0" anchor="ctr"/>
          <a:lstStyle/>
          <a:p>
            <a:pPr algn="r" indent="0" marL="0">
              <a:buNone/>
            </a:pPr>
            <a:r>
              <a:rPr lang="en-US" sz="900" b="1" dirty="0">
                <a:solidFill>
                  <a:schemeClr val="bg1"/>
                </a:solidFill>
              </a:rPr>
              <a:t>19</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dot-415"/>
          <p:cNvSpPr/>
          <p:nvPr/>
        </p:nvSpPr>
        <p:spPr>
          <a:xfrm>
            <a:off x="548640" y="544068"/>
            <a:ext cx="100584" cy="100584"/>
          </a:xfrm>
          <a:prstGeom prst="ellipse">
            <a:avLst/>
          </a:prstGeom>
          <a:solidFill>
            <a:schemeClr val="accent5"/>
          </a:solidFill>
          <a:ln w="12700">
            <a:solidFill>
              <a:schemeClr val="accent5"/>
            </a:solidFill>
            <a:prstDash val="solid"/>
          </a:ln>
        </p:spPr>
      </p:sp>
      <p:sp>
        <p:nvSpPr>
          <p:cNvPr id="3" name="text-416"/>
          <p:cNvSpPr txBox="1"/>
          <p:nvPr/>
        </p:nvSpPr>
        <p:spPr>
          <a:xfrm>
            <a:off x="731520" y="502920"/>
            <a:ext cx="5486400" cy="201168"/>
          </a:xfrm>
          <a:prstGeom prst="rect">
            <a:avLst/>
          </a:prstGeom>
          <a:noFill/>
          <a:ln/>
        </p:spPr>
        <p:txBody>
          <a:bodyPr wrap="square" lIns="0" tIns="0" rIns="0" bIns="0" rtlCol="0" anchor="t"/>
          <a:lstStyle/>
          <a:p>
            <a:pPr indent="0" marL="0">
              <a:buNone/>
            </a:pPr>
            <a:r>
              <a:rPr lang="en-US" sz="900" b="1" spc="300" kern="0" dirty="0">
                <a:solidFill>
                  <a:schemeClr val="accent5"/>
                </a:solidFill>
              </a:rPr>
              <a:t>MOUNT AURORA · LEVEL BY LEVEL</a:t>
            </a:r>
            <a:endParaRPr lang="en-US" sz="900" dirty="0"/>
          </a:p>
        </p:txBody>
      </p:sp>
      <p:sp>
        <p:nvSpPr>
          <p:cNvPr id="4" name="title-417"/>
          <p:cNvSpPr txBox="1"/>
          <p:nvPr/>
        </p:nvSpPr>
        <p:spPr>
          <a:xfrm>
            <a:off x="548640" y="758952"/>
            <a:ext cx="6464808" cy="685800"/>
          </a:xfrm>
          <a:prstGeom prst="rect">
            <a:avLst/>
          </a:prstGeom>
          <a:noFill/>
          <a:ln/>
        </p:spPr>
        <p:txBody>
          <a:bodyPr wrap="square" lIns="0" tIns="0" rIns="0" bIns="0" rtlCol="0" anchor="t"/>
          <a:lstStyle/>
          <a:p>
            <a:pPr indent="0" marL="0">
              <a:lnSpc>
                <a:spcPct val="92000"/>
              </a:lnSpc>
              <a:buNone/>
            </a:pPr>
            <a:r>
              <a:rPr lang="en-US" sz="3400" b="1" dirty="0">
                <a:solidFill>
                  <a:schemeClr val="tx1"/>
                </a:solidFill>
                <a:latin typeface="+mj-lt" pitchFamily="34" charset="0"/>
                <a:ea typeface="+mj-lt" pitchFamily="34" charset="-122"/>
                <a:cs typeface="+mj-lt" pitchFamily="34" charset="-120"/>
              </a:rPr>
              <a:t>Four Floors of Warmth</a:t>
            </a:r>
            <a:endParaRPr lang="en-US" sz="3400" dirty="0"/>
          </a:p>
        </p:txBody>
      </p:sp>
      <p:pic>
        <p:nvPicPr>
          <p:cNvPr id="5" name="spa-plan" descr="/home/user/chatbox-bi-n-o/magazine/assets/plans/04_mount_aurora_spa_resort_plan.png">    </p:cNvPr>
          <p:cNvPicPr>
            <a:picLocks noChangeAspect="1"/>
          </p:cNvPicPr>
          <p:nvPr/>
        </p:nvPicPr>
        <p:blipFill>
          <a:blip r:embed="rId1"/>
          <a:stretch>
            <a:fillRect/>
          </a:stretch>
        </p:blipFill>
        <p:spPr>
          <a:xfrm>
            <a:off x="548640" y="1554480"/>
            <a:ext cx="6464808" cy="3652617"/>
          </a:xfrm>
          <a:prstGeom prst="rect">
            <a:avLst/>
          </a:prstGeom>
        </p:spPr>
      </p:pic>
      <p:sp>
        <p:nvSpPr>
          <p:cNvPr id="6" name="text-419"/>
          <p:cNvSpPr txBox="1"/>
          <p:nvPr/>
        </p:nvSpPr>
        <p:spPr>
          <a:xfrm>
            <a:off x="548640" y="5252817"/>
            <a:ext cx="6464808" cy="228600"/>
          </a:xfrm>
          <a:prstGeom prst="rect">
            <a:avLst/>
          </a:prstGeom>
          <a:noFill/>
          <a:ln/>
        </p:spPr>
        <p:txBody>
          <a:bodyPr wrap="square" lIns="0" tIns="0" rIns="0" bIns="0" rtlCol="0" anchor="t"/>
          <a:lstStyle/>
          <a:p>
            <a:pPr indent="0" marL="0">
              <a:buNone/>
            </a:pPr>
            <a:r>
              <a:rPr lang="en-US" sz="850" i="1" dirty="0">
                <a:solidFill>
                  <a:schemeClr val="tx2"/>
                </a:solidFill>
              </a:rPr>
              <a:t>Mount Aurora Geothermal Spa Resort – Level Plans. The glass lift links all four levels.</a:t>
            </a:r>
            <a:endParaRPr lang="en-US" sz="850" dirty="0"/>
          </a:p>
        </p:txBody>
      </p:sp>
      <p:sp>
        <p:nvSpPr>
          <p:cNvPr id="7" name="card-420"/>
          <p:cNvSpPr/>
          <p:nvPr/>
        </p:nvSpPr>
        <p:spPr>
          <a:xfrm>
            <a:off x="548640" y="5572857"/>
            <a:ext cx="3140964" cy="1371600"/>
          </a:xfrm>
          <a:prstGeom prst="roundRect">
            <a:avLst>
              <a:gd name="adj" fmla="val 5333"/>
            </a:avLst>
          </a:prstGeom>
          <a:solidFill>
            <a:schemeClr val="bg2"/>
          </a:solidFill>
          <a:ln w="12700">
            <a:solidFill>
              <a:schemeClr val="bg2"/>
            </a:solidFill>
            <a:prstDash val="solid"/>
          </a:ln>
        </p:spPr>
      </p:sp>
      <p:sp>
        <p:nvSpPr>
          <p:cNvPr id="8" name="text-421"/>
          <p:cNvSpPr txBox="1"/>
          <p:nvPr/>
        </p:nvSpPr>
        <p:spPr>
          <a:xfrm>
            <a:off x="685800" y="5682585"/>
            <a:ext cx="2866644" cy="182880"/>
          </a:xfrm>
          <a:prstGeom prst="rect">
            <a:avLst/>
          </a:prstGeom>
          <a:noFill/>
          <a:ln/>
        </p:spPr>
        <p:txBody>
          <a:bodyPr wrap="square" lIns="0" tIns="0" rIns="0" bIns="0" rtlCol="0" anchor="t"/>
          <a:lstStyle/>
          <a:p>
            <a:pPr indent="0" marL="0">
              <a:buNone/>
            </a:pPr>
            <a:r>
              <a:rPr lang="en-US" sz="850" b="1" spc="200" kern="0" dirty="0">
                <a:solidFill>
                  <a:schemeClr val="accent5"/>
                </a:solidFill>
              </a:rPr>
              <a:t>LEVEL 1 · 0 M</a:t>
            </a:r>
            <a:endParaRPr lang="en-US" sz="850" dirty="0"/>
          </a:p>
        </p:txBody>
      </p:sp>
      <p:sp>
        <p:nvSpPr>
          <p:cNvPr id="9" name="text-422"/>
          <p:cNvSpPr txBox="1"/>
          <p:nvPr/>
        </p:nvSpPr>
        <p:spPr>
          <a:xfrm>
            <a:off x="685800" y="5902041"/>
            <a:ext cx="2866644" cy="987552"/>
          </a:xfrm>
          <a:prstGeom prst="rect">
            <a:avLst/>
          </a:prstGeom>
          <a:noFill/>
          <a:ln/>
        </p:spPr>
        <p:txBody>
          <a:bodyPr wrap="square" lIns="0" tIns="0" rIns="0" bIns="0" rtlCol="0" anchor="t"/>
          <a:lstStyle/>
          <a:p>
            <a:pPr indent="0" marL="0">
              <a:lnSpc>
                <a:spcPct val="105000"/>
              </a:lnSpc>
              <a:spcAft>
                <a:spcPts val="400"/>
              </a:spcAft>
              <a:buNone/>
            </a:pPr>
            <a:r>
              <a:rPr lang="en-US" sz="1200" b="1" dirty="0">
                <a:solidFill>
                  <a:schemeClr val="tx1"/>
                </a:solidFill>
                <a:latin typeface="+mj-lt" pitchFamily="34" charset="0"/>
                <a:ea typeface="+mj-lt" pitchFamily="34" charset="-122"/>
                <a:cs typeface="+mj-lt" pitchFamily="34" charset="-120"/>
              </a:rPr>
              <a:t>Welcome Hall, Mineral Lake Grotto &amp; Onsen Garden</a:t>
            </a:r>
            <a:endParaRPr lang="en-US" sz="1050" dirty="0"/>
          </a:p>
          <a:p>
            <a:pPr indent="0" marL="0">
              <a:lnSpc>
                <a:spcPct val="105000"/>
              </a:lnSpc>
              <a:buNone/>
            </a:pPr>
            <a:r>
              <a:rPr lang="en-US" sz="950" dirty="0">
                <a:solidFill>
                  <a:schemeClr val="tx2"/>
                </a:solidFill>
              </a:rPr>
              <a:t>A 40 °C silica-rich spring rises into a 7 × 13 m Mineral Lake; hot, warm and glacier-cold pools boost circulation.</a:t>
            </a:r>
            <a:endParaRPr lang="en-US" sz="1050" dirty="0"/>
          </a:p>
        </p:txBody>
      </p:sp>
      <p:sp>
        <p:nvSpPr>
          <p:cNvPr id="10" name="card-423"/>
          <p:cNvSpPr/>
          <p:nvPr/>
        </p:nvSpPr>
        <p:spPr>
          <a:xfrm>
            <a:off x="3872484" y="5572857"/>
            <a:ext cx="3140964" cy="1371600"/>
          </a:xfrm>
          <a:prstGeom prst="roundRect">
            <a:avLst>
              <a:gd name="adj" fmla="val 5333"/>
            </a:avLst>
          </a:prstGeom>
          <a:solidFill>
            <a:schemeClr val="bg2"/>
          </a:solidFill>
          <a:ln w="12700">
            <a:solidFill>
              <a:schemeClr val="bg2"/>
            </a:solidFill>
            <a:prstDash val="solid"/>
          </a:ln>
        </p:spPr>
      </p:sp>
      <p:sp>
        <p:nvSpPr>
          <p:cNvPr id="11" name="text-424"/>
          <p:cNvSpPr txBox="1"/>
          <p:nvPr/>
        </p:nvSpPr>
        <p:spPr>
          <a:xfrm>
            <a:off x="4009644" y="5682585"/>
            <a:ext cx="2866644" cy="182880"/>
          </a:xfrm>
          <a:prstGeom prst="rect">
            <a:avLst/>
          </a:prstGeom>
          <a:noFill/>
          <a:ln/>
        </p:spPr>
        <p:txBody>
          <a:bodyPr wrap="square" lIns="0" tIns="0" rIns="0" bIns="0" rtlCol="0" anchor="t"/>
          <a:lstStyle/>
          <a:p>
            <a:pPr indent="0" marL="0">
              <a:buNone/>
            </a:pPr>
            <a:r>
              <a:rPr lang="en-US" sz="850" b="1" spc="200" kern="0" dirty="0">
                <a:solidFill>
                  <a:schemeClr val="accent5"/>
                </a:solidFill>
              </a:rPr>
              <a:t>LEVEL 2 · 4.5 M</a:t>
            </a:r>
            <a:endParaRPr lang="en-US" sz="850" dirty="0"/>
          </a:p>
        </p:txBody>
      </p:sp>
      <p:sp>
        <p:nvSpPr>
          <p:cNvPr id="12" name="text-425"/>
          <p:cNvSpPr txBox="1"/>
          <p:nvPr/>
        </p:nvSpPr>
        <p:spPr>
          <a:xfrm>
            <a:off x="4009644" y="5902041"/>
            <a:ext cx="2866644" cy="987552"/>
          </a:xfrm>
          <a:prstGeom prst="rect">
            <a:avLst/>
          </a:prstGeom>
          <a:noFill/>
          <a:ln/>
        </p:spPr>
        <p:txBody>
          <a:bodyPr wrap="square" lIns="0" tIns="0" rIns="0" bIns="0" rtlCol="0" anchor="t"/>
          <a:lstStyle/>
          <a:p>
            <a:pPr indent="0" marL="0">
              <a:lnSpc>
                <a:spcPct val="105000"/>
              </a:lnSpc>
              <a:spcAft>
                <a:spcPts val="400"/>
              </a:spcAft>
              <a:buNone/>
            </a:pPr>
            <a:r>
              <a:rPr lang="en-US" sz="1200" b="1" dirty="0">
                <a:solidFill>
                  <a:schemeClr val="tx1"/>
                </a:solidFill>
                <a:latin typeface="+mj-lt" pitchFamily="34" charset="0"/>
                <a:ea typeface="+mj-lt" pitchFamily="34" charset="-122"/>
                <a:cs typeface="+mj-lt" pitchFamily="34" charset="-120"/>
              </a:rPr>
              <a:t>Volcanic Mud Terraces</a:t>
            </a:r>
            <a:endParaRPr lang="en-US" sz="1050" dirty="0"/>
          </a:p>
          <a:p>
            <a:pPr indent="0" marL="0">
              <a:lnSpc>
                <a:spcPct val="105000"/>
              </a:lnSpc>
              <a:buNone/>
            </a:pPr>
            <a:r>
              <a:rPr lang="en-US" sz="950" dirty="0">
                <a:solidFill>
                  <a:schemeClr val="tx2"/>
                </a:solidFill>
              </a:rPr>
              <a:t>An 8 × 10 m mud field held at 39 °C. The mud is filtered and UV-sterilised every night and reused for months.</a:t>
            </a:r>
            <a:endParaRPr lang="en-US" sz="1050" dirty="0"/>
          </a:p>
        </p:txBody>
      </p:sp>
      <p:sp>
        <p:nvSpPr>
          <p:cNvPr id="13" name="card-426"/>
          <p:cNvSpPr/>
          <p:nvPr/>
        </p:nvSpPr>
        <p:spPr>
          <a:xfrm>
            <a:off x="548640" y="7054185"/>
            <a:ext cx="3140964" cy="1371600"/>
          </a:xfrm>
          <a:prstGeom prst="roundRect">
            <a:avLst>
              <a:gd name="adj" fmla="val 5333"/>
            </a:avLst>
          </a:prstGeom>
          <a:solidFill>
            <a:schemeClr val="bg2"/>
          </a:solidFill>
          <a:ln w="12700">
            <a:solidFill>
              <a:schemeClr val="bg2"/>
            </a:solidFill>
            <a:prstDash val="solid"/>
          </a:ln>
        </p:spPr>
      </p:sp>
      <p:sp>
        <p:nvSpPr>
          <p:cNvPr id="14" name="text-427"/>
          <p:cNvSpPr txBox="1"/>
          <p:nvPr/>
        </p:nvSpPr>
        <p:spPr>
          <a:xfrm>
            <a:off x="685800" y="7163913"/>
            <a:ext cx="2866644" cy="182880"/>
          </a:xfrm>
          <a:prstGeom prst="rect">
            <a:avLst/>
          </a:prstGeom>
          <a:noFill/>
          <a:ln/>
        </p:spPr>
        <p:txBody>
          <a:bodyPr wrap="square" lIns="0" tIns="0" rIns="0" bIns="0" rtlCol="0" anchor="t"/>
          <a:lstStyle/>
          <a:p>
            <a:pPr indent="0" marL="0">
              <a:buNone/>
            </a:pPr>
            <a:r>
              <a:rPr lang="en-US" sz="850" b="1" spc="200" kern="0" dirty="0">
                <a:solidFill>
                  <a:schemeClr val="accent5"/>
                </a:solidFill>
              </a:rPr>
              <a:t>LEVEL 3 · 9 M</a:t>
            </a:r>
            <a:endParaRPr lang="en-US" sz="850" dirty="0"/>
          </a:p>
        </p:txBody>
      </p:sp>
      <p:sp>
        <p:nvSpPr>
          <p:cNvPr id="15" name="text-428"/>
          <p:cNvSpPr txBox="1"/>
          <p:nvPr/>
        </p:nvSpPr>
        <p:spPr>
          <a:xfrm>
            <a:off x="685800" y="7383369"/>
            <a:ext cx="2866644" cy="987552"/>
          </a:xfrm>
          <a:prstGeom prst="rect">
            <a:avLst/>
          </a:prstGeom>
          <a:noFill/>
          <a:ln/>
        </p:spPr>
        <p:txBody>
          <a:bodyPr wrap="square" lIns="0" tIns="0" rIns="0" bIns="0" rtlCol="0" anchor="t"/>
          <a:lstStyle/>
          <a:p>
            <a:pPr indent="0" marL="0">
              <a:lnSpc>
                <a:spcPct val="105000"/>
              </a:lnSpc>
              <a:spcAft>
                <a:spcPts val="400"/>
              </a:spcAft>
              <a:buNone/>
            </a:pPr>
            <a:r>
              <a:rPr lang="en-US" sz="1200" b="1" dirty="0">
                <a:solidFill>
                  <a:schemeClr val="tx1"/>
                </a:solidFill>
                <a:latin typeface="+mj-lt" pitchFamily="34" charset="0"/>
                <a:ea typeface="+mj-lt" pitchFamily="34" charset="-122"/>
                <a:cs typeface="+mj-lt" pitchFamily="34" charset="-120"/>
              </a:rPr>
              <a:t>Treatment Suites &amp; Himalayan Salt Sauna</a:t>
            </a:r>
            <a:endParaRPr lang="en-US" sz="1050" dirty="0"/>
          </a:p>
          <a:p>
            <a:pPr indent="0" marL="0">
              <a:lnSpc>
                <a:spcPct val="105000"/>
              </a:lnSpc>
              <a:buNone/>
            </a:pPr>
            <a:r>
              <a:rPr lang="en-US" sz="950" dirty="0">
                <a:solidFill>
                  <a:schemeClr val="tx2"/>
                </a:solidFill>
              </a:rPr>
              <a:t>Hot-stone massage, arctic kelp wraps and a 75 °C pink salt sauna heated by the geothermal loop.</a:t>
            </a:r>
            <a:endParaRPr lang="en-US" sz="1050" dirty="0"/>
          </a:p>
        </p:txBody>
      </p:sp>
      <p:sp>
        <p:nvSpPr>
          <p:cNvPr id="16" name="card-429"/>
          <p:cNvSpPr/>
          <p:nvPr/>
        </p:nvSpPr>
        <p:spPr>
          <a:xfrm>
            <a:off x="3872484" y="7054185"/>
            <a:ext cx="3140964" cy="1371600"/>
          </a:xfrm>
          <a:prstGeom prst="roundRect">
            <a:avLst>
              <a:gd name="adj" fmla="val 5333"/>
            </a:avLst>
          </a:prstGeom>
          <a:solidFill>
            <a:schemeClr val="bg2"/>
          </a:solidFill>
          <a:ln w="12700">
            <a:solidFill>
              <a:schemeClr val="bg2"/>
            </a:solidFill>
            <a:prstDash val="solid"/>
          </a:ln>
        </p:spPr>
      </p:sp>
      <p:sp>
        <p:nvSpPr>
          <p:cNvPr id="17" name="text-430"/>
          <p:cNvSpPr txBox="1"/>
          <p:nvPr/>
        </p:nvSpPr>
        <p:spPr>
          <a:xfrm>
            <a:off x="4009644" y="7163913"/>
            <a:ext cx="2866644" cy="182880"/>
          </a:xfrm>
          <a:prstGeom prst="rect">
            <a:avLst/>
          </a:prstGeom>
          <a:noFill/>
          <a:ln/>
        </p:spPr>
        <p:txBody>
          <a:bodyPr wrap="square" lIns="0" tIns="0" rIns="0" bIns="0" rtlCol="0" anchor="t"/>
          <a:lstStyle/>
          <a:p>
            <a:pPr indent="0" marL="0">
              <a:buNone/>
            </a:pPr>
            <a:r>
              <a:rPr lang="en-US" sz="850" b="1" spc="200" kern="0" dirty="0">
                <a:solidFill>
                  <a:schemeClr val="accent5"/>
                </a:solidFill>
              </a:rPr>
              <a:t>LEVEL 4 · 13.5 M</a:t>
            </a:r>
            <a:endParaRPr lang="en-US" sz="850" dirty="0"/>
          </a:p>
        </p:txBody>
      </p:sp>
      <p:sp>
        <p:nvSpPr>
          <p:cNvPr id="18" name="text-431"/>
          <p:cNvSpPr txBox="1"/>
          <p:nvPr/>
        </p:nvSpPr>
        <p:spPr>
          <a:xfrm>
            <a:off x="4009644" y="7383369"/>
            <a:ext cx="2866644" cy="987552"/>
          </a:xfrm>
          <a:prstGeom prst="rect">
            <a:avLst/>
          </a:prstGeom>
          <a:noFill/>
          <a:ln/>
        </p:spPr>
        <p:txBody>
          <a:bodyPr wrap="square" lIns="0" tIns="0" rIns="0" bIns="0" rtlCol="0" anchor="t"/>
          <a:lstStyle/>
          <a:p>
            <a:pPr indent="0" marL="0">
              <a:lnSpc>
                <a:spcPct val="105000"/>
              </a:lnSpc>
              <a:spcAft>
                <a:spcPts val="400"/>
              </a:spcAft>
              <a:buNone/>
            </a:pPr>
            <a:r>
              <a:rPr lang="en-US" sz="1200" b="1" dirty="0">
                <a:solidFill>
                  <a:schemeClr val="tx1"/>
                </a:solidFill>
                <a:latin typeface="+mj-lt" pitchFamily="34" charset="0"/>
                <a:ea typeface="+mj-lt" pitchFamily="34" charset="-122"/>
                <a:cs typeface="+mj-lt" pitchFamily="34" charset="-120"/>
              </a:rPr>
              <a:t>Summit Sanctuary &amp; Aurora Eye</a:t>
            </a:r>
            <a:endParaRPr lang="en-US" sz="1050" dirty="0"/>
          </a:p>
          <a:p>
            <a:pPr indent="0" marL="0">
              <a:lnSpc>
                <a:spcPct val="105000"/>
              </a:lnSpc>
              <a:buNone/>
            </a:pPr>
            <a:r>
              <a:rPr lang="en-US" sz="950" dirty="0">
                <a:solidFill>
                  <a:schemeClr val="tx2"/>
                </a:solidFill>
              </a:rPr>
              <a:t>A 35 °C float pool, a meditation circle and a heated glass bubble for watching the northern lights.</a:t>
            </a:r>
            <a:endParaRPr lang="en-US" sz="1050" dirty="0"/>
          </a:p>
        </p:txBody>
      </p:sp>
      <p:sp>
        <p:nvSpPr>
          <p:cNvPr id="19" name="card-432"/>
          <p:cNvSpPr/>
          <p:nvPr/>
        </p:nvSpPr>
        <p:spPr>
          <a:xfrm>
            <a:off x="548640" y="8590377"/>
            <a:ext cx="6464808" cy="777240"/>
          </a:xfrm>
          <a:prstGeom prst="roundRect">
            <a:avLst>
              <a:gd name="adj" fmla="val 9412"/>
            </a:avLst>
          </a:prstGeom>
          <a:solidFill>
            <a:schemeClr val="tx1"/>
          </a:solidFill>
          <a:ln w="12700">
            <a:solidFill>
              <a:schemeClr val="tx1"/>
            </a:solidFill>
            <a:prstDash val="solid"/>
          </a:ln>
        </p:spPr>
      </p:sp>
      <p:sp>
        <p:nvSpPr>
          <p:cNvPr id="20" name="text-433"/>
          <p:cNvSpPr txBox="1"/>
          <p:nvPr/>
        </p:nvSpPr>
        <p:spPr>
          <a:xfrm>
            <a:off x="685800" y="8636097"/>
            <a:ext cx="6190488" cy="685800"/>
          </a:xfrm>
          <a:prstGeom prst="rect">
            <a:avLst/>
          </a:prstGeom>
          <a:noFill/>
          <a:ln/>
        </p:spPr>
        <p:txBody>
          <a:bodyPr wrap="square" lIns="0" tIns="0" rIns="0" bIns="0" rtlCol="0" anchor="ctr"/>
          <a:lstStyle/>
          <a:p>
            <a:pPr indent="0" marL="0">
              <a:buNone/>
            </a:pPr>
            <a:r>
              <a:rPr lang="en-US" sz="950" b="1" spc="200" kern="0" dirty="0">
                <a:solidFill>
                  <a:schemeClr val="accent5"/>
                </a:solidFill>
              </a:rPr>
              <a:t>ALSO A SHELTER  </a:t>
            </a:r>
            <a:pPr indent="0" marL="0">
              <a:buNone/>
            </a:pPr>
            <a:r>
              <a:rPr lang="en-US" sz="950" dirty="0">
                <a:solidFill>
                  <a:schemeClr val="bg1"/>
                </a:solidFill>
              </a:rPr>
              <a:t>In a disaster, the mountain becomes a warm refuge for up to 1,000 people: geothermal heat, mineral water and the food reserve keep it running even if the city’s power fails.</a:t>
            </a:r>
            <a:endParaRPr lang="en-US" sz="950" dirty="0"/>
          </a:p>
        </p:txBody>
      </p:sp>
      <p:sp>
        <p:nvSpPr>
          <p:cNvPr id="21" name="text-434"/>
          <p:cNvSpPr txBox="1"/>
          <p:nvPr/>
        </p:nvSpPr>
        <p:spPr>
          <a:xfrm>
            <a:off x="548640" y="9550497"/>
            <a:ext cx="6464808" cy="502920"/>
          </a:xfrm>
          <a:prstGeom prst="rect">
            <a:avLst/>
          </a:prstGeom>
          <a:noFill/>
          <a:ln/>
        </p:spPr>
        <p:txBody>
          <a:bodyPr wrap="square" lIns="0" tIns="0" rIns="0" bIns="0" rtlCol="0" anchor="t"/>
          <a:lstStyle/>
          <a:p>
            <a:pPr indent="0" marL="0">
              <a:buNone/>
            </a:pPr>
            <a:r>
              <a:rPr lang="en-US" sz="900" i="1" dirty="0">
                <a:solidFill>
                  <a:schemeClr val="tx2"/>
                </a:solidFill>
              </a:rPr>
              <a:t>Route through the spa: North Portal → grotto → Welcome Hall → changing suites → Mineral Lake &amp; Onsen Garden → glass lift → mud terraces → treatments &amp; salt sauna → Summit Sanctuary and the Aurora Eye.</a:t>
            </a:r>
            <a:endParaRPr lang="en-US" sz="900" dirty="0"/>
          </a:p>
        </p:txBody>
      </p:sp>
      <p:sp>
        <p:nvSpPr>
          <p:cNvPr id="22" name="page-number"/>
          <p:cNvSpPr txBox="1"/>
          <p:nvPr/>
        </p:nvSpPr>
        <p:spPr>
          <a:xfrm>
            <a:off x="548640" y="10177272"/>
            <a:ext cx="411480" cy="219456"/>
          </a:xfrm>
          <a:prstGeom prst="rect">
            <a:avLst/>
          </a:prstGeom>
          <a:noFill/>
          <a:ln/>
        </p:spPr>
        <p:txBody>
          <a:bodyPr wrap="square" lIns="0" tIns="0" rIns="0" bIns="0" rtlCol="0" anchor="ctr"/>
          <a:lstStyle/>
          <a:p>
            <a:pPr algn="l" indent="0" marL="0">
              <a:buNone/>
            </a:pPr>
            <a:r>
              <a:rPr lang="en-US" sz="900" b="1" dirty="0">
                <a:solidFill>
                  <a:schemeClr val="tx1"/>
                </a:solidFill>
              </a:rPr>
              <a:t>20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dot-435"/>
          <p:cNvSpPr/>
          <p:nvPr/>
        </p:nvSpPr>
        <p:spPr>
          <a:xfrm>
            <a:off x="548640" y="544068"/>
            <a:ext cx="100584" cy="100584"/>
          </a:xfrm>
          <a:prstGeom prst="ellipse">
            <a:avLst/>
          </a:prstGeom>
          <a:solidFill>
            <a:schemeClr val="accent6"/>
          </a:solidFill>
          <a:ln w="12700">
            <a:solidFill>
              <a:schemeClr val="accent6"/>
            </a:solidFill>
            <a:prstDash val="solid"/>
          </a:ln>
        </p:spPr>
      </p:sp>
      <p:sp>
        <p:nvSpPr>
          <p:cNvPr id="3" name="text-436"/>
          <p:cNvSpPr txBox="1"/>
          <p:nvPr/>
        </p:nvSpPr>
        <p:spPr>
          <a:xfrm>
            <a:off x="731520" y="502920"/>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OUR ECO-POLIS MODEL</a:t>
            </a:r>
            <a:endParaRPr lang="en-US" sz="900" dirty="0"/>
          </a:p>
        </p:txBody>
      </p:sp>
      <p:sp>
        <p:nvSpPr>
          <p:cNvPr id="4" name="title-437"/>
          <p:cNvSpPr txBox="1"/>
          <p:nvPr/>
        </p:nvSpPr>
        <p:spPr>
          <a:xfrm>
            <a:off x="548640" y="758952"/>
            <a:ext cx="6464808" cy="685800"/>
          </a:xfrm>
          <a:prstGeom prst="rect">
            <a:avLst/>
          </a:prstGeom>
          <a:noFill/>
          <a:ln/>
        </p:spPr>
        <p:txBody>
          <a:bodyPr wrap="square" lIns="0" tIns="0" rIns="0" bIns="0" rtlCol="0" anchor="t"/>
          <a:lstStyle/>
          <a:p>
            <a:pPr indent="0" marL="0">
              <a:lnSpc>
                <a:spcPct val="92000"/>
              </a:lnSpc>
              <a:buNone/>
            </a:pPr>
            <a:r>
              <a:rPr lang="en-US" sz="3400" b="1" dirty="0">
                <a:solidFill>
                  <a:schemeClr val="tx1"/>
                </a:solidFill>
                <a:latin typeface="+mj-lt" pitchFamily="34" charset="0"/>
                <a:ea typeface="+mj-lt" pitchFamily="34" charset="-122"/>
                <a:cs typeface="+mj-lt" pitchFamily="34" charset="-120"/>
              </a:rPr>
              <a:t>Built by Us</a:t>
            </a:r>
            <a:endParaRPr lang="en-US" sz="3400" dirty="0"/>
          </a:p>
        </p:txBody>
      </p:sp>
      <p:sp>
        <p:nvSpPr>
          <p:cNvPr id="5" name="text-439"/>
          <p:cNvSpPr txBox="1"/>
          <p:nvPr/>
        </p:nvSpPr>
        <p:spPr>
          <a:xfrm>
            <a:off x="548640" y="1463040"/>
            <a:ext cx="6464808" cy="548640"/>
          </a:xfrm>
          <a:prstGeom prst="rect">
            <a:avLst/>
          </a:prstGeom>
          <a:noFill/>
          <a:ln/>
        </p:spPr>
        <p:txBody>
          <a:bodyPr wrap="square" lIns="0" tIns="0" rIns="0" bIns="0" rtlCol="0" anchor="t"/>
          <a:lstStyle/>
          <a:p>
            <a:pPr indent="0" marL="0">
              <a:lnSpc>
                <a:spcPct val="110000"/>
              </a:lnSpc>
              <a:buNone/>
            </a:pPr>
            <a:r>
              <a:rPr lang="en-US" sz="1250" i="1" dirty="0">
                <a:solidFill>
                  <a:schemeClr val="tx2"/>
                </a:solidFill>
                <a:latin typeface="+mj-lt" pitchFamily="34" charset="0"/>
                <a:ea typeface="+mj-lt" pitchFamily="34" charset="-122"/>
                <a:cs typeface="+mj-lt" pitchFamily="34" charset="-120"/>
              </a:rPr>
              <a:t>Before any picture in this magazine, we built Aurora Haven ourselves in the Eco-Polis Builder: 241 named places, each with its own purpose and special features.</a:t>
            </a:r>
            <a:endParaRPr lang="en-US" sz="1250" dirty="0"/>
          </a:p>
        </p:txBody>
      </p:sp>
      <p:pic>
        <p:nvPicPr>
          <p:cNvPr id="6" name="picture-440" descr="/home/user/chatbox-bi-n-o/magazine/assets/ecopolis/overview.jpg">    </p:cNvPr>
          <p:cNvPicPr>
            <a:picLocks noChangeAspect="1"/>
          </p:cNvPicPr>
          <p:nvPr/>
        </p:nvPicPr>
        <p:blipFill>
          <a:blip r:embed="rId1"/>
          <a:srcRect l="0" r="0" t="0" b="0"/>
          <a:stretch/>
        </p:blipFill>
        <p:spPr>
          <a:xfrm>
            <a:off x="548640" y="2103120"/>
            <a:ext cx="6464808" cy="3633761"/>
          </a:xfrm>
          <a:prstGeom prst="rect">
            <a:avLst/>
          </a:prstGeom>
        </p:spPr>
      </p:pic>
      <p:sp>
        <p:nvSpPr>
          <p:cNvPr id="7" name="text-441"/>
          <p:cNvSpPr txBox="1"/>
          <p:nvPr/>
        </p:nvSpPr>
        <p:spPr>
          <a:xfrm>
            <a:off x="548640" y="5764313"/>
            <a:ext cx="6464808" cy="201168"/>
          </a:xfrm>
          <a:prstGeom prst="rect">
            <a:avLst/>
          </a:prstGeom>
          <a:noFill/>
          <a:ln/>
        </p:spPr>
        <p:txBody>
          <a:bodyPr wrap="square" lIns="0" tIns="0" rIns="0" bIns="0" rtlCol="0" anchor="t"/>
          <a:lstStyle/>
          <a:p>
            <a:pPr indent="0" marL="0">
              <a:buNone/>
            </a:pPr>
            <a:r>
              <a:rPr lang="en-US" sz="850" i="1" dirty="0">
                <a:solidFill>
                  <a:schemeClr val="tx2"/>
                </a:solidFill>
              </a:rPr>
              <a:t>The whole city in our Eco-Polis model.</a:t>
            </a:r>
            <a:endParaRPr lang="en-US" sz="850" dirty="0"/>
          </a:p>
        </p:txBody>
      </p:sp>
      <p:pic>
        <p:nvPicPr>
          <p:cNvPr id="8" name="picture-442" descr="/home/user/chatbox-bi-n-o/magazine/assets/ecopolis/fusion.jpg">    </p:cNvPr>
          <p:cNvPicPr>
            <a:picLocks noChangeAspect="1"/>
          </p:cNvPicPr>
          <p:nvPr/>
        </p:nvPicPr>
        <p:blipFill>
          <a:blip r:embed="rId2"/>
          <a:srcRect l="0" r="0" t="0" b="0"/>
          <a:stretch/>
        </p:blipFill>
        <p:spPr>
          <a:xfrm>
            <a:off x="548640" y="6056921"/>
            <a:ext cx="1547622" cy="1036907"/>
          </a:xfrm>
          <a:prstGeom prst="rect">
            <a:avLst/>
          </a:prstGeom>
        </p:spPr>
      </p:pic>
      <p:sp>
        <p:nvSpPr>
          <p:cNvPr id="9" name="text-443"/>
          <p:cNvSpPr txBox="1"/>
          <p:nvPr/>
        </p:nvSpPr>
        <p:spPr>
          <a:xfrm>
            <a:off x="548640" y="7121260"/>
            <a:ext cx="1547622" cy="201168"/>
          </a:xfrm>
          <a:prstGeom prst="rect">
            <a:avLst/>
          </a:prstGeom>
          <a:noFill/>
          <a:ln/>
        </p:spPr>
        <p:txBody>
          <a:bodyPr wrap="square" lIns="0" tIns="0" rIns="0" bIns="0" rtlCol="0" anchor="t"/>
          <a:lstStyle/>
          <a:p>
            <a:pPr indent="0" marL="0">
              <a:buNone/>
            </a:pPr>
            <a:r>
              <a:rPr lang="en-US" sz="850" i="1" dirty="0">
                <a:solidFill>
                  <a:schemeClr val="tx2"/>
                </a:solidFill>
              </a:rPr>
              <a:t>Fusion Power Station</a:t>
            </a:r>
            <a:endParaRPr lang="en-US" sz="850" dirty="0"/>
          </a:p>
        </p:txBody>
      </p:sp>
      <p:pic>
        <p:nvPicPr>
          <p:cNvPr id="10" name="picture-444" descr="/home/user/chatbox-bi-n-o/magazine/assets/ecopolis/food.jpg">    </p:cNvPr>
          <p:cNvPicPr>
            <a:picLocks noChangeAspect="1"/>
          </p:cNvPicPr>
          <p:nvPr/>
        </p:nvPicPr>
        <p:blipFill>
          <a:blip r:embed="rId3"/>
          <a:srcRect l="0" r="0" t="0" b="0"/>
          <a:stretch/>
        </p:blipFill>
        <p:spPr>
          <a:xfrm>
            <a:off x="2187702" y="6056921"/>
            <a:ext cx="1547622" cy="1036907"/>
          </a:xfrm>
          <a:prstGeom prst="rect">
            <a:avLst/>
          </a:prstGeom>
        </p:spPr>
      </p:pic>
      <p:sp>
        <p:nvSpPr>
          <p:cNvPr id="11" name="text-445"/>
          <p:cNvSpPr txBox="1"/>
          <p:nvPr/>
        </p:nvSpPr>
        <p:spPr>
          <a:xfrm>
            <a:off x="2187702" y="7121260"/>
            <a:ext cx="1547622" cy="201168"/>
          </a:xfrm>
          <a:prstGeom prst="rect">
            <a:avLst/>
          </a:prstGeom>
          <a:noFill/>
          <a:ln/>
        </p:spPr>
        <p:txBody>
          <a:bodyPr wrap="square" lIns="0" tIns="0" rIns="0" bIns="0" rtlCol="0" anchor="t"/>
          <a:lstStyle/>
          <a:p>
            <a:pPr indent="0" marL="0">
              <a:buNone/>
            </a:pPr>
            <a:r>
              <a:rPr lang="en-US" sz="850" i="1" dirty="0">
                <a:solidFill>
                  <a:schemeClr val="tx2"/>
                </a:solidFill>
              </a:rPr>
              <a:t>Snow-to-Food &amp; Water Plant</a:t>
            </a:r>
            <a:endParaRPr lang="en-US" sz="850" dirty="0"/>
          </a:p>
        </p:txBody>
      </p:sp>
      <p:pic>
        <p:nvPicPr>
          <p:cNvPr id="12" name="picture-446" descr="/home/user/chatbox-bi-n-o/magazine/assets/ecopolis/mount.jpg">    </p:cNvPr>
          <p:cNvPicPr>
            <a:picLocks noChangeAspect="1"/>
          </p:cNvPicPr>
          <p:nvPr/>
        </p:nvPicPr>
        <p:blipFill>
          <a:blip r:embed="rId4"/>
          <a:srcRect l="0" r="0" t="0" b="0"/>
          <a:stretch/>
        </p:blipFill>
        <p:spPr>
          <a:xfrm>
            <a:off x="3826764" y="6056921"/>
            <a:ext cx="1547622" cy="1036907"/>
          </a:xfrm>
          <a:prstGeom prst="rect">
            <a:avLst/>
          </a:prstGeom>
        </p:spPr>
      </p:pic>
      <p:sp>
        <p:nvSpPr>
          <p:cNvPr id="13" name="text-447"/>
          <p:cNvSpPr txBox="1"/>
          <p:nvPr/>
        </p:nvSpPr>
        <p:spPr>
          <a:xfrm>
            <a:off x="3826764" y="7121260"/>
            <a:ext cx="1547622" cy="201168"/>
          </a:xfrm>
          <a:prstGeom prst="rect">
            <a:avLst/>
          </a:prstGeom>
          <a:noFill/>
          <a:ln/>
        </p:spPr>
        <p:txBody>
          <a:bodyPr wrap="square" lIns="0" tIns="0" rIns="0" bIns="0" rtlCol="0" anchor="t"/>
          <a:lstStyle/>
          <a:p>
            <a:pPr indent="0" marL="0">
              <a:buNone/>
            </a:pPr>
            <a:r>
              <a:rPr lang="en-US" sz="850" i="1" dirty="0">
                <a:solidFill>
                  <a:schemeClr val="tx2"/>
                </a:solidFill>
              </a:rPr>
              <a:t>Mount Aurora</a:t>
            </a:r>
            <a:endParaRPr lang="en-US" sz="850" dirty="0"/>
          </a:p>
        </p:txBody>
      </p:sp>
      <p:pic>
        <p:nvPicPr>
          <p:cNvPr id="14" name="picture-448" descr="/home/user/chatbox-bi-n-o/magazine/assets/ecopolis/downtown.jpg">    </p:cNvPr>
          <p:cNvPicPr>
            <a:picLocks noChangeAspect="1"/>
          </p:cNvPicPr>
          <p:nvPr/>
        </p:nvPicPr>
        <p:blipFill>
          <a:blip r:embed="rId5"/>
          <a:srcRect l="0" r="0" t="0" b="0"/>
          <a:stretch/>
        </p:blipFill>
        <p:spPr>
          <a:xfrm>
            <a:off x="5465826" y="6056921"/>
            <a:ext cx="1547622" cy="1036907"/>
          </a:xfrm>
          <a:prstGeom prst="rect">
            <a:avLst/>
          </a:prstGeom>
        </p:spPr>
      </p:pic>
      <p:sp>
        <p:nvSpPr>
          <p:cNvPr id="15" name="text-449"/>
          <p:cNvSpPr txBox="1"/>
          <p:nvPr/>
        </p:nvSpPr>
        <p:spPr>
          <a:xfrm>
            <a:off x="5465826" y="7121260"/>
            <a:ext cx="1547622" cy="201168"/>
          </a:xfrm>
          <a:prstGeom prst="rect">
            <a:avLst/>
          </a:prstGeom>
          <a:noFill/>
          <a:ln/>
        </p:spPr>
        <p:txBody>
          <a:bodyPr wrap="square" lIns="0" tIns="0" rIns="0" bIns="0" rtlCol="0" anchor="t"/>
          <a:lstStyle/>
          <a:p>
            <a:pPr indent="0" marL="0">
              <a:buNone/>
            </a:pPr>
            <a:r>
              <a:rPr lang="en-US" sz="850" i="1" dirty="0">
                <a:solidFill>
                  <a:schemeClr val="tx2"/>
                </a:solidFill>
              </a:rPr>
              <a:t>Downtown</a:t>
            </a:r>
            <a:endParaRPr lang="en-US" sz="850" dirty="0"/>
          </a:p>
        </p:txBody>
      </p:sp>
      <p:pic>
        <p:nvPicPr>
          <p:cNvPr id="16" name="qr-450" descr="/home/user/chatbox-bi-n-o/magazine/assets/ui/qr_map_file.png">    </p:cNvPr>
          <p:cNvPicPr>
            <a:picLocks noChangeAspect="1"/>
          </p:cNvPicPr>
          <p:nvPr/>
        </p:nvPicPr>
        <p:blipFill>
          <a:blip r:embed="rId6"/>
          <a:stretch>
            <a:fillRect/>
          </a:stretch>
        </p:blipFill>
        <p:spPr>
          <a:xfrm>
            <a:off x="548640" y="7505308"/>
            <a:ext cx="1143000" cy="1143000"/>
          </a:xfrm>
          <a:prstGeom prst="rect">
            <a:avLst/>
          </a:prstGeom>
        </p:spPr>
      </p:pic>
      <p:sp>
        <p:nvSpPr>
          <p:cNvPr id="17" name="text-451"/>
          <p:cNvSpPr txBox="1"/>
          <p:nvPr/>
        </p:nvSpPr>
        <p:spPr>
          <a:xfrm>
            <a:off x="457200" y="8694028"/>
            <a:ext cx="1325880" cy="201168"/>
          </a:xfrm>
          <a:prstGeom prst="rect">
            <a:avLst/>
          </a:prstGeom>
          <a:noFill/>
          <a:ln/>
        </p:spPr>
        <p:txBody>
          <a:bodyPr wrap="square" lIns="0" tIns="0" rIns="0" bIns="0" rtlCol="0" anchor="t"/>
          <a:lstStyle/>
          <a:p>
            <a:pPr algn="ctr" indent="0" marL="0">
              <a:buNone/>
            </a:pPr>
            <a:r>
              <a:rPr lang="en-US" sz="900" b="1" dirty="0">
                <a:solidFill>
                  <a:schemeClr val="tx1"/>
                </a:solidFill>
              </a:rPr>
              <a:t>1 · Download our map</a:t>
            </a:r>
            <a:endParaRPr lang="en-US" sz="900" dirty="0"/>
          </a:p>
        </p:txBody>
      </p:sp>
      <p:sp>
        <p:nvSpPr>
          <p:cNvPr id="18" name="text-452"/>
          <p:cNvSpPr txBox="1"/>
          <p:nvPr/>
        </p:nvSpPr>
        <p:spPr>
          <a:xfrm>
            <a:off x="411480" y="8895196"/>
            <a:ext cx="1417320" cy="182880"/>
          </a:xfrm>
          <a:prstGeom prst="rect">
            <a:avLst/>
          </a:prstGeom>
          <a:noFill/>
          <a:ln/>
        </p:spPr>
        <p:txBody>
          <a:bodyPr wrap="square" lIns="0" tIns="0" rIns="0" bIns="0" rtlCol="0" anchor="t"/>
          <a:lstStyle/>
          <a:p>
            <a:pPr algn="ctr" indent="0" marL="0">
              <a:buNone/>
            </a:pPr>
            <a:r>
              <a:rPr lang="en-US" sz="750" dirty="0">
                <a:solidFill>
                  <a:schemeClr val="tx2"/>
                </a:solidFill>
              </a:rPr>
              <a:t>Aurora_Haven.json</a:t>
            </a:r>
            <a:endParaRPr lang="en-US" sz="750" dirty="0"/>
          </a:p>
        </p:txBody>
      </p:sp>
      <p:pic>
        <p:nvPicPr>
          <p:cNvPr id="19" name="qr-453" descr="/home/user/chatbox-bi-n-o/magazine/assets/ui/qr_ecopolis.png">    </p:cNvPr>
          <p:cNvPicPr>
            <a:picLocks noChangeAspect="1"/>
          </p:cNvPicPr>
          <p:nvPr/>
        </p:nvPicPr>
        <p:blipFill>
          <a:blip r:embed="rId7"/>
          <a:stretch>
            <a:fillRect/>
          </a:stretch>
        </p:blipFill>
        <p:spPr>
          <a:xfrm>
            <a:off x="1965960" y="7505308"/>
            <a:ext cx="1143000" cy="1143000"/>
          </a:xfrm>
          <a:prstGeom prst="rect">
            <a:avLst/>
          </a:prstGeom>
        </p:spPr>
      </p:pic>
      <p:sp>
        <p:nvSpPr>
          <p:cNvPr id="20" name="text-454"/>
          <p:cNvSpPr txBox="1"/>
          <p:nvPr/>
        </p:nvSpPr>
        <p:spPr>
          <a:xfrm>
            <a:off x="1874520" y="8694028"/>
            <a:ext cx="1325880" cy="201168"/>
          </a:xfrm>
          <a:prstGeom prst="rect">
            <a:avLst/>
          </a:prstGeom>
          <a:noFill/>
          <a:ln/>
        </p:spPr>
        <p:txBody>
          <a:bodyPr wrap="square" lIns="0" tIns="0" rIns="0" bIns="0" rtlCol="0" anchor="t"/>
          <a:lstStyle/>
          <a:p>
            <a:pPr algn="ctr" indent="0" marL="0">
              <a:buNone/>
            </a:pPr>
            <a:r>
              <a:rPr lang="en-US" sz="900" b="1" dirty="0">
                <a:solidFill>
                  <a:schemeClr val="tx1"/>
                </a:solidFill>
              </a:rPr>
              <a:t>2 · Open Eco-Polis</a:t>
            </a:r>
            <a:endParaRPr lang="en-US" sz="900" dirty="0"/>
          </a:p>
        </p:txBody>
      </p:sp>
      <p:sp>
        <p:nvSpPr>
          <p:cNvPr id="21" name="text-455"/>
          <p:cNvSpPr txBox="1"/>
          <p:nvPr/>
        </p:nvSpPr>
        <p:spPr>
          <a:xfrm>
            <a:off x="1828800" y="8895196"/>
            <a:ext cx="1417320" cy="182880"/>
          </a:xfrm>
          <a:prstGeom prst="rect">
            <a:avLst/>
          </a:prstGeom>
          <a:noFill/>
          <a:ln/>
        </p:spPr>
        <p:txBody>
          <a:bodyPr wrap="square" lIns="0" tIns="0" rIns="0" bIns="0" rtlCol="0" anchor="t"/>
          <a:lstStyle/>
          <a:p>
            <a:pPr algn="ctr" indent="0" marL="0">
              <a:buNone/>
            </a:pPr>
            <a:r>
              <a:rPr lang="en-US" sz="750" dirty="0">
                <a:solidFill>
                  <a:schemeClr val="tx2"/>
                </a:solidFill>
              </a:rPr>
              <a:t>ecopolis3d.netlify.app</a:t>
            </a:r>
            <a:endParaRPr lang="en-US" sz="750" dirty="0"/>
          </a:p>
        </p:txBody>
      </p:sp>
      <p:sp>
        <p:nvSpPr>
          <p:cNvPr id="22" name="card-456"/>
          <p:cNvSpPr/>
          <p:nvPr/>
        </p:nvSpPr>
        <p:spPr>
          <a:xfrm>
            <a:off x="3474720" y="7459588"/>
            <a:ext cx="3538728" cy="2507372"/>
          </a:xfrm>
          <a:prstGeom prst="roundRect">
            <a:avLst>
              <a:gd name="adj" fmla="val 2917"/>
            </a:avLst>
          </a:prstGeom>
          <a:solidFill>
            <a:schemeClr val="bg2"/>
          </a:solidFill>
          <a:ln w="12700">
            <a:solidFill>
              <a:schemeClr val="bg2"/>
            </a:solidFill>
            <a:prstDash val="solid"/>
          </a:ln>
        </p:spPr>
      </p:sp>
      <p:sp>
        <p:nvSpPr>
          <p:cNvPr id="23" name="kicker-dot-457"/>
          <p:cNvSpPr/>
          <p:nvPr/>
        </p:nvSpPr>
        <p:spPr>
          <a:xfrm>
            <a:off x="3621024" y="7647040"/>
            <a:ext cx="100584" cy="100584"/>
          </a:xfrm>
          <a:prstGeom prst="ellipse">
            <a:avLst/>
          </a:prstGeom>
          <a:solidFill>
            <a:schemeClr val="accent6"/>
          </a:solidFill>
          <a:ln w="12700">
            <a:solidFill>
              <a:schemeClr val="accent6"/>
            </a:solidFill>
            <a:prstDash val="solid"/>
          </a:ln>
        </p:spPr>
      </p:sp>
      <p:sp>
        <p:nvSpPr>
          <p:cNvPr id="24" name="text-458"/>
          <p:cNvSpPr txBox="1"/>
          <p:nvPr/>
        </p:nvSpPr>
        <p:spPr>
          <a:xfrm>
            <a:off x="3803904" y="7605892"/>
            <a:ext cx="3209544" cy="384048"/>
          </a:xfrm>
          <a:prstGeom prst="rect">
            <a:avLst/>
          </a:prstGeom>
          <a:noFill/>
          <a:ln/>
        </p:spPr>
        <p:txBody>
          <a:bodyPr wrap="square" lIns="0" tIns="0" rIns="0" bIns="0" rtlCol="0" anchor="t"/>
          <a:lstStyle/>
          <a:p>
            <a:pPr indent="0" marL="0">
              <a:buNone/>
            </a:pPr>
            <a:r>
              <a:rPr lang="en-US" sz="900" b="1" spc="300" kern="0" dirty="0">
                <a:solidFill>
                  <a:schemeClr val="accent6"/>
                </a:solidFill>
              </a:rPr>
              <a:t>EXPLORE OUR 3D CITY</a:t>
            </a:r>
            <a:endParaRPr lang="en-US" sz="900" dirty="0"/>
          </a:p>
        </p:txBody>
      </p:sp>
      <p:sp>
        <p:nvSpPr>
          <p:cNvPr id="25" name="text-459"/>
          <p:cNvSpPr txBox="1"/>
          <p:nvPr/>
        </p:nvSpPr>
        <p:spPr>
          <a:xfrm>
            <a:off x="3621024" y="7880212"/>
            <a:ext cx="3246120" cy="1995308"/>
          </a:xfrm>
          <a:prstGeom prst="rect">
            <a:avLst/>
          </a:prstGeom>
          <a:noFill/>
          <a:ln/>
        </p:spPr>
        <p:txBody>
          <a:bodyPr wrap="square" lIns="0" tIns="0" rIns="0" bIns="0" rtlCol="0" anchor="t"/>
          <a:lstStyle/>
          <a:p>
            <a:pPr indent="0" marL="0">
              <a:lnSpc>
                <a:spcPct val="106000"/>
              </a:lnSpc>
              <a:buNone/>
            </a:pPr>
            <a:r>
              <a:rPr lang="en-US" sz="1000" b="1" dirty="0">
                <a:solidFill>
                  <a:schemeClr val="accent6"/>
                </a:solidFill>
              </a:rPr>
              <a:t>1. </a:t>
            </a:r>
            <a:pPr indent="0" marL="0">
              <a:lnSpc>
                <a:spcPct val="106000"/>
              </a:lnSpc>
              <a:spcAft>
                <a:spcPts val="500"/>
              </a:spcAft>
              <a:buNone/>
            </a:pPr>
            <a:r>
              <a:rPr lang="en-US" sz="1000" dirty="0">
                <a:solidFill>
                  <a:schemeClr val="tx1"/>
                </a:solidFill>
              </a:rPr>
              <a:t>Scan the first code to download our map file.</a:t>
            </a:r>
            <a:endParaRPr lang="en-US" sz="1000" dirty="0"/>
          </a:p>
          <a:p>
            <a:pPr indent="0" marL="0">
              <a:lnSpc>
                <a:spcPct val="106000"/>
              </a:lnSpc>
              <a:buNone/>
            </a:pPr>
            <a:r>
              <a:rPr lang="en-US" sz="1000" b="1" dirty="0">
                <a:solidFill>
                  <a:schemeClr val="accent6"/>
                </a:solidFill>
              </a:rPr>
              <a:t>2. </a:t>
            </a:r>
            <a:pPr indent="0" marL="0">
              <a:lnSpc>
                <a:spcPct val="106000"/>
              </a:lnSpc>
              <a:spcAft>
                <a:spcPts val="500"/>
              </a:spcAft>
              <a:buNone/>
            </a:pPr>
            <a:r>
              <a:rPr lang="en-US" sz="1000" dirty="0">
                <a:solidFill>
                  <a:schemeClr val="tx1"/>
                </a:solidFill>
              </a:rPr>
              <a:t>Scan the second code to open the Eco-Polis Builder.</a:t>
            </a:r>
            <a:endParaRPr lang="en-US" sz="1000" dirty="0"/>
          </a:p>
          <a:p>
            <a:pPr indent="0" marL="0">
              <a:lnSpc>
                <a:spcPct val="106000"/>
              </a:lnSpc>
              <a:buNone/>
            </a:pPr>
            <a:r>
              <a:rPr lang="en-US" sz="1000" b="1" dirty="0">
                <a:solidFill>
                  <a:schemeClr val="accent6"/>
                </a:solidFill>
              </a:rPr>
              <a:t>3. </a:t>
            </a:r>
            <a:pPr indent="0" marL="0">
              <a:lnSpc>
                <a:spcPct val="106000"/>
              </a:lnSpc>
              <a:spcAft>
                <a:spcPts val="500"/>
              </a:spcAft>
              <a:buNone/>
            </a:pPr>
            <a:r>
              <a:rPr lang="en-US" sz="1000" dirty="0">
                <a:solidFill>
                  <a:schemeClr val="tx1"/>
                </a:solidFill>
              </a:rPr>
              <a:t>Click the Load button (folder icon) and choose Aurora_Haven.json.</a:t>
            </a:r>
            <a:endParaRPr lang="en-US" sz="1000" dirty="0"/>
          </a:p>
          <a:p>
            <a:pPr indent="0" marL="0">
              <a:lnSpc>
                <a:spcPct val="106000"/>
              </a:lnSpc>
              <a:buNone/>
            </a:pPr>
            <a:r>
              <a:rPr lang="en-US" sz="1000" b="1" dirty="0">
                <a:solidFill>
                  <a:schemeClr val="accent6"/>
                </a:solidFill>
              </a:rPr>
              <a:t>4. </a:t>
            </a:r>
            <a:pPr indent="0" marL="0">
              <a:lnSpc>
                <a:spcPct val="106000"/>
              </a:lnSpc>
              <a:spcAft>
                <a:spcPts val="500"/>
              </a:spcAft>
              <a:buNone/>
            </a:pPr>
            <a:r>
              <a:rPr lang="en-US" sz="1000" dirty="0">
                <a:solidFill>
                  <a:schemeClr val="tx1"/>
                </a:solidFill>
              </a:rPr>
              <a:t>Click Lock (View), then Full Screen.</a:t>
            </a:r>
            <a:endParaRPr lang="en-US" sz="1000" dirty="0"/>
          </a:p>
          <a:p>
            <a:pPr indent="0" marL="0">
              <a:lnSpc>
                <a:spcPct val="106000"/>
              </a:lnSpc>
              <a:buNone/>
            </a:pPr>
            <a:r>
              <a:rPr lang="en-US" sz="1000" b="1" dirty="0">
                <a:solidFill>
                  <a:schemeClr val="accent6"/>
                </a:solidFill>
              </a:rPr>
              <a:t>5. </a:t>
            </a:r>
            <a:pPr indent="0" marL="0">
              <a:lnSpc>
                <a:spcPct val="106000"/>
              </a:lnSpc>
              <a:spcAft>
                <a:spcPts val="500"/>
              </a:spcAft>
              <a:buNone/>
            </a:pPr>
            <a:r>
              <a:rPr lang="en-US" sz="1000" dirty="0">
                <a:solidFill>
                  <a:schemeClr val="tx1"/>
                </a:solidFill>
              </a:rPr>
              <a:t>Drag to turn, scroll to zoom, and click a building to read about it.</a:t>
            </a:r>
            <a:endParaRPr lang="en-US" sz="1000" dirty="0"/>
          </a:p>
        </p:txBody>
      </p:sp>
      <p:sp>
        <p:nvSpPr>
          <p:cNvPr id="26" name="page-number"/>
          <p:cNvSpPr txBox="1"/>
          <p:nvPr/>
        </p:nvSpPr>
        <p:spPr>
          <a:xfrm>
            <a:off x="6601968" y="10177272"/>
            <a:ext cx="411480" cy="219456"/>
          </a:xfrm>
          <a:prstGeom prst="rect">
            <a:avLst/>
          </a:prstGeom>
          <a:noFill/>
          <a:ln/>
        </p:spPr>
        <p:txBody>
          <a:bodyPr wrap="square" lIns="0" tIns="0" rIns="0" bIns="0" rtlCol="0" anchor="ctr"/>
          <a:lstStyle/>
          <a:p>
            <a:pPr algn="r" indent="0" marL="0">
              <a:buNone/>
            </a:pPr>
            <a:r>
              <a:rPr lang="en-US" sz="900" b="1" dirty="0">
                <a:solidFill>
                  <a:schemeClr val="tx1"/>
                </a:solidFill>
              </a:rPr>
              <a:t>21</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dot-460"/>
          <p:cNvSpPr/>
          <p:nvPr/>
        </p:nvSpPr>
        <p:spPr>
          <a:xfrm>
            <a:off x="548640" y="544068"/>
            <a:ext cx="100584" cy="100584"/>
          </a:xfrm>
          <a:prstGeom prst="ellipse">
            <a:avLst/>
          </a:prstGeom>
          <a:solidFill>
            <a:schemeClr val="accent1"/>
          </a:solidFill>
          <a:ln w="12700">
            <a:solidFill>
              <a:schemeClr val="accent1"/>
            </a:solidFill>
            <a:prstDash val="solid"/>
          </a:ln>
        </p:spPr>
      </p:sp>
      <p:sp>
        <p:nvSpPr>
          <p:cNvPr id="3" name="text-461"/>
          <p:cNvSpPr txBox="1"/>
          <p:nvPr/>
        </p:nvSpPr>
        <p:spPr>
          <a:xfrm>
            <a:off x="731520" y="502920"/>
            <a:ext cx="5486400" cy="201168"/>
          </a:xfrm>
          <a:prstGeom prst="rect">
            <a:avLst/>
          </a:prstGeom>
          <a:noFill/>
          <a:ln/>
        </p:spPr>
        <p:txBody>
          <a:bodyPr wrap="square" lIns="0" tIns="0" rIns="0" bIns="0" rtlCol="0" anchor="t"/>
          <a:lstStyle/>
          <a:p>
            <a:pPr indent="0" marL="0">
              <a:buNone/>
            </a:pPr>
            <a:r>
              <a:rPr lang="en-US" sz="900" b="1" spc="300" kern="0" dirty="0">
                <a:solidFill>
                  <a:schemeClr val="accent1"/>
                </a:solidFill>
              </a:rPr>
              <a:t>THE BIG IDEA</a:t>
            </a:r>
            <a:endParaRPr lang="en-US" sz="900" dirty="0"/>
          </a:p>
        </p:txBody>
      </p:sp>
      <p:sp>
        <p:nvSpPr>
          <p:cNvPr id="4" name="title-462"/>
          <p:cNvSpPr txBox="1"/>
          <p:nvPr/>
        </p:nvSpPr>
        <p:spPr>
          <a:xfrm>
            <a:off x="548640" y="758952"/>
            <a:ext cx="6464808" cy="685800"/>
          </a:xfrm>
          <a:prstGeom prst="rect">
            <a:avLst/>
          </a:prstGeom>
          <a:noFill/>
          <a:ln/>
        </p:spPr>
        <p:txBody>
          <a:bodyPr wrap="square" lIns="0" tIns="0" rIns="0" bIns="0" rtlCol="0" anchor="t"/>
          <a:lstStyle/>
          <a:p>
            <a:pPr indent="0" marL="0">
              <a:lnSpc>
                <a:spcPct val="92000"/>
              </a:lnSpc>
              <a:buNone/>
            </a:pPr>
            <a:r>
              <a:rPr lang="en-US" sz="3400" b="1" dirty="0">
                <a:solidFill>
                  <a:schemeClr val="bg1"/>
                </a:solidFill>
                <a:latin typeface="+mj-lt" pitchFamily="34" charset="0"/>
                <a:ea typeface="+mj-lt" pitchFamily="34" charset="-122"/>
                <a:cs typeface="+mj-lt" pitchFamily="34" charset="-120"/>
              </a:rPr>
              <a:t>Three Districts, One Loop</a:t>
            </a:r>
            <a:endParaRPr lang="en-US" sz="3400" dirty="0"/>
          </a:p>
        </p:txBody>
      </p:sp>
      <p:sp>
        <p:nvSpPr>
          <p:cNvPr id="5" name="text-464"/>
          <p:cNvSpPr txBox="1"/>
          <p:nvPr/>
        </p:nvSpPr>
        <p:spPr>
          <a:xfrm>
            <a:off x="548640" y="1463040"/>
            <a:ext cx="6464808" cy="685800"/>
          </a:xfrm>
          <a:prstGeom prst="rect">
            <a:avLst/>
          </a:prstGeom>
          <a:noFill/>
          <a:ln/>
        </p:spPr>
        <p:txBody>
          <a:bodyPr wrap="square" lIns="0" tIns="0" rIns="0" bIns="0" rtlCol="0" anchor="t"/>
          <a:lstStyle/>
          <a:p>
            <a:pPr indent="0" marL="0">
              <a:lnSpc>
                <a:spcPct val="110000"/>
              </a:lnSpc>
              <a:buNone/>
            </a:pPr>
            <a:r>
              <a:rPr lang="en-US" sz="1400" i="1" dirty="0">
                <a:solidFill>
                  <a:schemeClr val="bg2"/>
                </a:solidFill>
                <a:latin typeface="+mj-lt" pitchFamily="34" charset="0"/>
                <a:ea typeface="+mj-lt" pitchFamily="34" charset="-122"/>
                <a:cs typeface="+mj-lt" pitchFamily="34" charset="-120"/>
              </a:rPr>
              <a:t>The three signature districts do not work alone. Heat, water, oxygen and waste go round from one to the next instead of being thrown away.</a:t>
            </a:r>
            <a:endParaRPr lang="en-US" sz="1400" dirty="0"/>
          </a:p>
        </p:txBody>
      </p:sp>
      <p:sp>
        <p:nvSpPr>
          <p:cNvPr id="6" name="loop-node-465"/>
          <p:cNvSpPr/>
          <p:nvPr/>
        </p:nvSpPr>
        <p:spPr>
          <a:xfrm>
            <a:off x="640080" y="2514600"/>
            <a:ext cx="1920240" cy="1920240"/>
          </a:xfrm>
          <a:prstGeom prst="ellipse">
            <a:avLst/>
          </a:prstGeom>
          <a:solidFill>
            <a:schemeClr val="accent3"/>
          </a:solidFill>
          <a:ln w="25400">
            <a:solidFill>
              <a:schemeClr val="bg1"/>
            </a:solidFill>
            <a:prstDash val="solid"/>
          </a:ln>
        </p:spPr>
      </p:sp>
      <p:sp>
        <p:nvSpPr>
          <p:cNvPr id="7" name="text-466"/>
          <p:cNvSpPr txBox="1"/>
          <p:nvPr/>
        </p:nvSpPr>
        <p:spPr>
          <a:xfrm>
            <a:off x="777240" y="3090672"/>
            <a:ext cx="1645920" cy="457200"/>
          </a:xfrm>
          <a:prstGeom prst="rect">
            <a:avLst/>
          </a:prstGeom>
          <a:noFill/>
          <a:ln/>
        </p:spPr>
        <p:txBody>
          <a:bodyPr wrap="square" lIns="0" tIns="0" rIns="0" bIns="0" rtlCol="0" anchor="b"/>
          <a:lstStyle/>
          <a:p>
            <a:pPr algn="ctr" indent="0" marL="0">
              <a:buNone/>
            </a:pPr>
            <a:r>
              <a:rPr lang="en-US" sz="1500" b="1" dirty="0">
                <a:solidFill>
                  <a:schemeClr val="bg1"/>
                </a:solidFill>
                <a:latin typeface="+mj-lt" pitchFamily="34" charset="0"/>
                <a:ea typeface="+mj-lt" pitchFamily="34" charset="-122"/>
                <a:cs typeface="+mj-lt" pitchFamily="34" charset="-120"/>
              </a:rPr>
              <a:t>Fusion Power Station</a:t>
            </a:r>
            <a:endParaRPr lang="en-US" sz="1500" dirty="0"/>
          </a:p>
        </p:txBody>
      </p:sp>
      <p:sp>
        <p:nvSpPr>
          <p:cNvPr id="8" name="text-467"/>
          <p:cNvSpPr txBox="1"/>
          <p:nvPr/>
        </p:nvSpPr>
        <p:spPr>
          <a:xfrm>
            <a:off x="777240" y="3566160"/>
            <a:ext cx="1645920" cy="411480"/>
          </a:xfrm>
          <a:prstGeom prst="rect">
            <a:avLst/>
          </a:prstGeom>
          <a:noFill/>
          <a:ln/>
        </p:spPr>
        <p:txBody>
          <a:bodyPr wrap="square" lIns="0" tIns="0" rIns="0" bIns="0" rtlCol="0" anchor="t"/>
          <a:lstStyle/>
          <a:p>
            <a:pPr algn="ctr" indent="0" marL="0">
              <a:buNone/>
            </a:pPr>
            <a:r>
              <a:rPr lang="en-US" sz="900" dirty="0">
                <a:solidFill>
                  <a:schemeClr val="bg1"/>
                </a:solidFill>
              </a:rPr>
              <a:t>heat · power · waste converter</a:t>
            </a:r>
            <a:endParaRPr lang="en-US" sz="900" dirty="0"/>
          </a:p>
        </p:txBody>
      </p:sp>
      <p:sp>
        <p:nvSpPr>
          <p:cNvPr id="9" name="loop-node-468"/>
          <p:cNvSpPr/>
          <p:nvPr/>
        </p:nvSpPr>
        <p:spPr>
          <a:xfrm>
            <a:off x="5001768" y="2514600"/>
            <a:ext cx="1920240" cy="1920240"/>
          </a:xfrm>
          <a:prstGeom prst="ellipse">
            <a:avLst/>
          </a:prstGeom>
          <a:solidFill>
            <a:schemeClr val="accent4"/>
          </a:solidFill>
          <a:ln w="25400">
            <a:solidFill>
              <a:schemeClr val="bg1"/>
            </a:solidFill>
            <a:prstDash val="solid"/>
          </a:ln>
        </p:spPr>
      </p:sp>
      <p:sp>
        <p:nvSpPr>
          <p:cNvPr id="10" name="text-469"/>
          <p:cNvSpPr txBox="1"/>
          <p:nvPr/>
        </p:nvSpPr>
        <p:spPr>
          <a:xfrm>
            <a:off x="5138928" y="3090672"/>
            <a:ext cx="1645920" cy="457200"/>
          </a:xfrm>
          <a:prstGeom prst="rect">
            <a:avLst/>
          </a:prstGeom>
          <a:noFill/>
          <a:ln/>
        </p:spPr>
        <p:txBody>
          <a:bodyPr wrap="square" lIns="0" tIns="0" rIns="0" bIns="0" rtlCol="0" anchor="b"/>
          <a:lstStyle/>
          <a:p>
            <a:pPr algn="ctr" indent="0" marL="0">
              <a:buNone/>
            </a:pPr>
            <a:r>
              <a:rPr lang="en-US" sz="1500" b="1" dirty="0">
                <a:solidFill>
                  <a:schemeClr val="bg1"/>
                </a:solidFill>
                <a:latin typeface="+mj-lt" pitchFamily="34" charset="0"/>
                <a:ea typeface="+mj-lt" pitchFamily="34" charset="-122"/>
                <a:cs typeface="+mj-lt" pitchFamily="34" charset="-120"/>
              </a:rPr>
              <a:t>Snow-to-Food Plant</a:t>
            </a:r>
            <a:endParaRPr lang="en-US" sz="1500" dirty="0"/>
          </a:p>
        </p:txBody>
      </p:sp>
      <p:sp>
        <p:nvSpPr>
          <p:cNvPr id="11" name="text-470"/>
          <p:cNvSpPr txBox="1"/>
          <p:nvPr/>
        </p:nvSpPr>
        <p:spPr>
          <a:xfrm>
            <a:off x="5138928" y="3566160"/>
            <a:ext cx="1645920" cy="411480"/>
          </a:xfrm>
          <a:prstGeom prst="rect">
            <a:avLst/>
          </a:prstGeom>
          <a:noFill/>
          <a:ln/>
        </p:spPr>
        <p:txBody>
          <a:bodyPr wrap="square" lIns="0" tIns="0" rIns="0" bIns="0" rtlCol="0" anchor="t"/>
          <a:lstStyle/>
          <a:p>
            <a:pPr algn="ctr" indent="0" marL="0">
              <a:buNone/>
            </a:pPr>
            <a:r>
              <a:rPr lang="en-US" sz="900" dirty="0">
                <a:solidFill>
                  <a:schemeClr val="bg1"/>
                </a:solidFill>
              </a:rPr>
              <a:t>water · food · oxygen</a:t>
            </a:r>
            <a:endParaRPr lang="en-US" sz="900" dirty="0"/>
          </a:p>
        </p:txBody>
      </p:sp>
      <p:sp>
        <p:nvSpPr>
          <p:cNvPr id="12" name="loop-node-471"/>
          <p:cNvSpPr/>
          <p:nvPr/>
        </p:nvSpPr>
        <p:spPr>
          <a:xfrm>
            <a:off x="5161788" y="5623560"/>
            <a:ext cx="1600200" cy="1600200"/>
          </a:xfrm>
          <a:prstGeom prst="ellipse">
            <a:avLst/>
          </a:prstGeom>
          <a:solidFill>
            <a:schemeClr val="accent5"/>
          </a:solidFill>
          <a:ln w="25400">
            <a:solidFill>
              <a:schemeClr val="bg1"/>
            </a:solidFill>
            <a:prstDash val="solid"/>
          </a:ln>
        </p:spPr>
      </p:sp>
      <p:sp>
        <p:nvSpPr>
          <p:cNvPr id="13" name="text-472"/>
          <p:cNvSpPr txBox="1"/>
          <p:nvPr/>
        </p:nvSpPr>
        <p:spPr>
          <a:xfrm>
            <a:off x="5298948" y="6039612"/>
            <a:ext cx="1325880" cy="457200"/>
          </a:xfrm>
          <a:prstGeom prst="rect">
            <a:avLst/>
          </a:prstGeom>
          <a:noFill/>
          <a:ln/>
        </p:spPr>
        <p:txBody>
          <a:bodyPr wrap="square" lIns="0" tIns="0" rIns="0" bIns="0" rtlCol="0" anchor="b"/>
          <a:lstStyle/>
          <a:p>
            <a:pPr algn="ctr" indent="0" marL="0">
              <a:buNone/>
            </a:pPr>
            <a:r>
              <a:rPr lang="en-US" sz="1500" b="1" dirty="0">
                <a:solidFill>
                  <a:schemeClr val="bg1"/>
                </a:solidFill>
                <a:latin typeface="+mj-lt" pitchFamily="34" charset="0"/>
                <a:ea typeface="+mj-lt" pitchFamily="34" charset="-122"/>
                <a:cs typeface="+mj-lt" pitchFamily="34" charset="-120"/>
              </a:rPr>
              <a:t>Mount Aurora Spa</a:t>
            </a:r>
            <a:endParaRPr lang="en-US" sz="1500" dirty="0"/>
          </a:p>
        </p:txBody>
      </p:sp>
      <p:sp>
        <p:nvSpPr>
          <p:cNvPr id="14" name="text-473"/>
          <p:cNvSpPr txBox="1"/>
          <p:nvPr/>
        </p:nvSpPr>
        <p:spPr>
          <a:xfrm>
            <a:off x="5298948" y="6515100"/>
            <a:ext cx="1325880" cy="411480"/>
          </a:xfrm>
          <a:prstGeom prst="rect">
            <a:avLst/>
          </a:prstGeom>
          <a:noFill/>
          <a:ln/>
        </p:spPr>
        <p:txBody>
          <a:bodyPr wrap="square" lIns="0" tIns="0" rIns="0" bIns="0" rtlCol="0" anchor="t"/>
          <a:lstStyle/>
          <a:p>
            <a:pPr algn="ctr" indent="0" marL="0">
              <a:buNone/>
            </a:pPr>
            <a:r>
              <a:rPr lang="en-US" sz="900" dirty="0">
                <a:solidFill>
                  <a:schemeClr val="bg1"/>
                </a:solidFill>
              </a:rPr>
              <a:t>geothermal wellbeing</a:t>
            </a:r>
            <a:endParaRPr lang="en-US" sz="900" dirty="0"/>
          </a:p>
        </p:txBody>
      </p:sp>
      <p:sp>
        <p:nvSpPr>
          <p:cNvPr id="15" name="loop-node-city"/>
          <p:cNvSpPr/>
          <p:nvPr/>
        </p:nvSpPr>
        <p:spPr>
          <a:xfrm>
            <a:off x="640080" y="5760720"/>
            <a:ext cx="1920240" cy="1325880"/>
          </a:xfrm>
          <a:prstGeom prst="roundRect">
            <a:avLst>
              <a:gd name="adj" fmla="val 6897"/>
            </a:avLst>
          </a:prstGeom>
          <a:solidFill>
            <a:schemeClr val="tx1"/>
          </a:solidFill>
          <a:ln w="25400">
            <a:solidFill>
              <a:schemeClr val="bg1"/>
            </a:solidFill>
            <a:prstDash val="solid"/>
          </a:ln>
        </p:spPr>
      </p:sp>
      <p:sp>
        <p:nvSpPr>
          <p:cNvPr id="16" name="text-474"/>
          <p:cNvSpPr txBox="1"/>
          <p:nvPr/>
        </p:nvSpPr>
        <p:spPr>
          <a:xfrm>
            <a:off x="731520" y="5961888"/>
            <a:ext cx="1737360" cy="365760"/>
          </a:xfrm>
          <a:prstGeom prst="rect">
            <a:avLst/>
          </a:prstGeom>
          <a:noFill/>
          <a:ln/>
        </p:spPr>
        <p:txBody>
          <a:bodyPr wrap="square" lIns="0" tIns="0" rIns="0" bIns="0" rtlCol="0" anchor="t"/>
          <a:lstStyle/>
          <a:p>
            <a:pPr algn="ctr" indent="0" marL="0">
              <a:buNone/>
            </a:pPr>
            <a:r>
              <a:rPr lang="en-US" sz="1500" b="1" dirty="0">
                <a:solidFill>
                  <a:schemeClr val="bg1"/>
                </a:solidFill>
                <a:latin typeface="+mj-lt" pitchFamily="34" charset="0"/>
                <a:ea typeface="+mj-lt" pitchFamily="34" charset="-122"/>
                <a:cs typeface="+mj-lt" pitchFamily="34" charset="-120"/>
              </a:rPr>
              <a:t>The City</a:t>
            </a:r>
            <a:endParaRPr lang="en-US" sz="1500" dirty="0"/>
          </a:p>
        </p:txBody>
      </p:sp>
      <p:sp>
        <p:nvSpPr>
          <p:cNvPr id="17" name="text-475"/>
          <p:cNvSpPr txBox="1"/>
          <p:nvPr/>
        </p:nvSpPr>
        <p:spPr>
          <a:xfrm>
            <a:off x="777240" y="6382512"/>
            <a:ext cx="1645920" cy="548640"/>
          </a:xfrm>
          <a:prstGeom prst="rect">
            <a:avLst/>
          </a:prstGeom>
          <a:noFill/>
          <a:ln/>
        </p:spPr>
        <p:txBody>
          <a:bodyPr wrap="square" lIns="0" tIns="0" rIns="0" bIns="0" rtlCol="0" anchor="t"/>
          <a:lstStyle/>
          <a:p>
            <a:pPr algn="ctr" indent="0" marL="0">
              <a:buNone/>
            </a:pPr>
            <a:r>
              <a:rPr lang="en-US" sz="900" dirty="0">
                <a:solidFill>
                  <a:schemeClr val="bg2"/>
                </a:solidFill>
              </a:rPr>
              <a:t>45,000 people, every building and the hospital</a:t>
            </a:r>
            <a:endParaRPr lang="en-US" sz="900" dirty="0"/>
          </a:p>
        </p:txBody>
      </p:sp>
      <p:sp>
        <p:nvSpPr>
          <p:cNvPr id="18" name="arrow-476"/>
          <p:cNvSpPr/>
          <p:nvPr/>
        </p:nvSpPr>
        <p:spPr>
          <a:xfrm>
            <a:off x="2633472" y="3063240"/>
            <a:ext cx="2295144" cy="914"/>
          </a:xfrm>
          <a:prstGeom prst="line">
            <a:avLst/>
          </a:prstGeom>
          <a:noFill/>
          <a:ln w="28575">
            <a:solidFill>
              <a:schemeClr val="accent2"/>
            </a:solidFill>
            <a:prstDash val="solid"/>
            <a:tailEnd type="triangle"/>
          </a:ln>
        </p:spPr>
      </p:sp>
      <p:sp>
        <p:nvSpPr>
          <p:cNvPr id="19" name="text-477"/>
          <p:cNvSpPr txBox="1"/>
          <p:nvPr/>
        </p:nvSpPr>
        <p:spPr>
          <a:xfrm>
            <a:off x="2633472" y="2834640"/>
            <a:ext cx="2295144" cy="182880"/>
          </a:xfrm>
          <a:prstGeom prst="rect">
            <a:avLst/>
          </a:prstGeom>
          <a:noFill/>
          <a:ln/>
        </p:spPr>
        <p:txBody>
          <a:bodyPr wrap="square" lIns="0" tIns="0" rIns="0" bIns="0" rtlCol="0" anchor="t"/>
          <a:lstStyle/>
          <a:p>
            <a:pPr algn="ctr" indent="0" marL="0">
              <a:buNone/>
            </a:pPr>
            <a:r>
              <a:rPr lang="en-US" sz="850" b="1" dirty="0">
                <a:solidFill>
                  <a:schemeClr val="accent2"/>
                </a:solidFill>
              </a:rPr>
              <a:t>Spare heat melts the snow</a:t>
            </a:r>
            <a:endParaRPr lang="en-US" sz="850" dirty="0"/>
          </a:p>
        </p:txBody>
      </p:sp>
      <p:sp>
        <p:nvSpPr>
          <p:cNvPr id="20" name="arrow-478"/>
          <p:cNvSpPr/>
          <p:nvPr/>
        </p:nvSpPr>
        <p:spPr>
          <a:xfrm>
            <a:off x="2633472" y="3410712"/>
            <a:ext cx="2295144" cy="914"/>
          </a:xfrm>
          <a:prstGeom prst="line">
            <a:avLst/>
          </a:prstGeom>
          <a:noFill/>
          <a:ln w="28575">
            <a:solidFill>
              <a:schemeClr val="bg2"/>
            </a:solidFill>
            <a:prstDash val="solid"/>
            <a:tailEnd type="triangle"/>
          </a:ln>
        </p:spPr>
      </p:sp>
      <p:sp>
        <p:nvSpPr>
          <p:cNvPr id="21" name="text-479"/>
          <p:cNvSpPr txBox="1"/>
          <p:nvPr/>
        </p:nvSpPr>
        <p:spPr>
          <a:xfrm>
            <a:off x="2633472" y="3182112"/>
            <a:ext cx="2295144" cy="182880"/>
          </a:xfrm>
          <a:prstGeom prst="rect">
            <a:avLst/>
          </a:prstGeom>
          <a:noFill/>
          <a:ln/>
        </p:spPr>
        <p:txBody>
          <a:bodyPr wrap="square" lIns="0" tIns="0" rIns="0" bIns="0" rtlCol="0" anchor="t"/>
          <a:lstStyle/>
          <a:p>
            <a:pPr algn="ctr" indent="0" marL="0">
              <a:buNone/>
            </a:pPr>
            <a:r>
              <a:rPr lang="en-US" sz="850" b="1" dirty="0">
                <a:solidFill>
                  <a:schemeClr val="bg2"/>
                </a:solidFill>
              </a:rPr>
              <a:t>Hydrogen &amp; CO₂ made from rubbish</a:t>
            </a:r>
            <a:endParaRPr lang="en-US" sz="850" dirty="0"/>
          </a:p>
        </p:txBody>
      </p:sp>
      <p:sp>
        <p:nvSpPr>
          <p:cNvPr id="22" name="arrow-480"/>
          <p:cNvSpPr/>
          <p:nvPr/>
        </p:nvSpPr>
        <p:spPr>
          <a:xfrm flipH="1">
            <a:off x="2633472" y="3758184"/>
            <a:ext cx="2295144" cy="914"/>
          </a:xfrm>
          <a:prstGeom prst="line">
            <a:avLst/>
          </a:prstGeom>
          <a:noFill/>
          <a:ln w="28575">
            <a:solidFill>
              <a:schemeClr val="accent6"/>
            </a:solidFill>
            <a:prstDash val="solid"/>
            <a:tailEnd type="triangle"/>
          </a:ln>
        </p:spPr>
      </p:sp>
      <p:sp>
        <p:nvSpPr>
          <p:cNvPr id="23" name="text-481"/>
          <p:cNvSpPr txBox="1"/>
          <p:nvPr/>
        </p:nvSpPr>
        <p:spPr>
          <a:xfrm>
            <a:off x="2633472" y="3529584"/>
            <a:ext cx="2295144" cy="182880"/>
          </a:xfrm>
          <a:prstGeom prst="rect">
            <a:avLst/>
          </a:prstGeom>
          <a:noFill/>
          <a:ln/>
        </p:spPr>
        <p:txBody>
          <a:bodyPr wrap="square" lIns="0" tIns="0" rIns="0" bIns="0" rtlCol="0" anchor="t"/>
          <a:lstStyle/>
          <a:p>
            <a:pPr algn="ctr" indent="0" marL="0">
              <a:buNone/>
            </a:pPr>
            <a:r>
              <a:rPr lang="en-US" sz="850" b="1" dirty="0">
                <a:solidFill>
                  <a:schemeClr val="accent6"/>
                </a:solidFill>
              </a:rPr>
              <a:t>Deuterium-rich water returns as fuel</a:t>
            </a:r>
            <a:endParaRPr lang="en-US" sz="850" dirty="0"/>
          </a:p>
        </p:txBody>
      </p:sp>
      <p:sp>
        <p:nvSpPr>
          <p:cNvPr id="24" name="arrow-482"/>
          <p:cNvSpPr/>
          <p:nvPr/>
        </p:nvSpPr>
        <p:spPr>
          <a:xfrm flipH="1">
            <a:off x="2633472" y="4105656"/>
            <a:ext cx="2295144" cy="914"/>
          </a:xfrm>
          <a:prstGeom prst="line">
            <a:avLst/>
          </a:prstGeom>
          <a:noFill/>
          <a:ln w="28575">
            <a:solidFill>
              <a:schemeClr val="accent1"/>
            </a:solidFill>
            <a:prstDash val="solid"/>
            <a:tailEnd type="triangle"/>
          </a:ln>
        </p:spPr>
      </p:sp>
      <p:sp>
        <p:nvSpPr>
          <p:cNvPr id="25" name="text-483"/>
          <p:cNvSpPr txBox="1"/>
          <p:nvPr/>
        </p:nvSpPr>
        <p:spPr>
          <a:xfrm>
            <a:off x="2633472" y="3877056"/>
            <a:ext cx="2295144" cy="182880"/>
          </a:xfrm>
          <a:prstGeom prst="rect">
            <a:avLst/>
          </a:prstGeom>
          <a:noFill/>
          <a:ln/>
        </p:spPr>
        <p:txBody>
          <a:bodyPr wrap="square" lIns="0" tIns="0" rIns="0" bIns="0" rtlCol="0" anchor="t"/>
          <a:lstStyle/>
          <a:p>
            <a:pPr algn="ctr" indent="0" marL="0">
              <a:buNone/>
            </a:pPr>
            <a:r>
              <a:rPr lang="en-US" sz="850" b="1" dirty="0">
                <a:solidFill>
                  <a:schemeClr val="accent1"/>
                </a:solidFill>
              </a:rPr>
              <a:t>Oxygen for the waste converter</a:t>
            </a:r>
            <a:endParaRPr lang="en-US" sz="850" dirty="0"/>
          </a:p>
        </p:txBody>
      </p:sp>
      <p:sp>
        <p:nvSpPr>
          <p:cNvPr id="26" name="arrow-484"/>
          <p:cNvSpPr/>
          <p:nvPr/>
        </p:nvSpPr>
        <p:spPr>
          <a:xfrm>
            <a:off x="1325880" y="4507992"/>
            <a:ext cx="914" cy="1179576"/>
          </a:xfrm>
          <a:prstGeom prst="line">
            <a:avLst/>
          </a:prstGeom>
          <a:noFill/>
          <a:ln w="28575">
            <a:solidFill>
              <a:schemeClr val="accent2"/>
            </a:solidFill>
            <a:prstDash val="solid"/>
            <a:tailEnd type="triangle"/>
          </a:ln>
        </p:spPr>
      </p:sp>
      <p:sp>
        <p:nvSpPr>
          <p:cNvPr id="27" name="arrow-485"/>
          <p:cNvSpPr/>
          <p:nvPr/>
        </p:nvSpPr>
        <p:spPr>
          <a:xfrm flipV="1">
            <a:off x="1874520" y="4507992"/>
            <a:ext cx="914" cy="1179576"/>
          </a:xfrm>
          <a:prstGeom prst="line">
            <a:avLst/>
          </a:prstGeom>
          <a:noFill/>
          <a:ln w="28575">
            <a:solidFill>
              <a:schemeClr val="bg2"/>
            </a:solidFill>
            <a:prstDash val="solid"/>
            <a:tailEnd type="triangle"/>
          </a:ln>
        </p:spPr>
      </p:sp>
      <p:sp>
        <p:nvSpPr>
          <p:cNvPr id="28" name="text-486"/>
          <p:cNvSpPr txBox="1"/>
          <p:nvPr/>
        </p:nvSpPr>
        <p:spPr>
          <a:xfrm>
            <a:off x="2011680" y="4709160"/>
            <a:ext cx="1234440" cy="868680"/>
          </a:xfrm>
          <a:prstGeom prst="rect">
            <a:avLst/>
          </a:prstGeom>
          <a:noFill/>
          <a:ln/>
        </p:spPr>
        <p:txBody>
          <a:bodyPr wrap="square" lIns="0" tIns="0" rIns="0" bIns="0" rtlCol="0" anchor="t"/>
          <a:lstStyle/>
          <a:p>
            <a:pPr indent="0" marL="0">
              <a:spcAft>
                <a:spcPts val="600"/>
              </a:spcAft>
              <a:buNone/>
            </a:pPr>
            <a:r>
              <a:rPr lang="en-US" sz="850" b="1" dirty="0">
                <a:solidFill>
                  <a:schemeClr val="accent2"/>
                </a:solidFill>
              </a:rPr>
              <a:t>↓ Heat, power and MRI helium</a:t>
            </a:r>
            <a:endParaRPr lang="en-US" sz="850" dirty="0"/>
          </a:p>
          <a:p>
            <a:pPr indent="0" marL="0">
              <a:buNone/>
            </a:pPr>
            <a:r>
              <a:rPr lang="en-US" sz="850" b="1" dirty="0">
                <a:solidFill>
                  <a:schemeClr val="bg2"/>
                </a:solidFill>
              </a:rPr>
              <a:t>↑ Rubbish for the waste converter</a:t>
            </a:r>
            <a:endParaRPr lang="en-US" sz="850" dirty="0"/>
          </a:p>
        </p:txBody>
      </p:sp>
      <p:sp>
        <p:nvSpPr>
          <p:cNvPr id="29" name="arrow-487"/>
          <p:cNvSpPr/>
          <p:nvPr/>
        </p:nvSpPr>
        <p:spPr>
          <a:xfrm flipH="1">
            <a:off x="2633472" y="4114800"/>
            <a:ext cx="2596896" cy="2057400"/>
          </a:xfrm>
          <a:prstGeom prst="line">
            <a:avLst/>
          </a:prstGeom>
          <a:noFill/>
          <a:ln w="28575">
            <a:solidFill>
              <a:schemeClr val="accent4"/>
            </a:solidFill>
            <a:prstDash val="solid"/>
            <a:tailEnd type="triangle"/>
          </a:ln>
        </p:spPr>
      </p:sp>
      <p:sp>
        <p:nvSpPr>
          <p:cNvPr id="30" name="text-488"/>
          <p:cNvSpPr txBox="1"/>
          <p:nvPr/>
        </p:nvSpPr>
        <p:spPr>
          <a:xfrm>
            <a:off x="3977640" y="5303520"/>
            <a:ext cx="1280160" cy="411480"/>
          </a:xfrm>
          <a:prstGeom prst="rect">
            <a:avLst/>
          </a:prstGeom>
          <a:noFill/>
          <a:ln/>
        </p:spPr>
        <p:txBody>
          <a:bodyPr wrap="square" lIns="0" tIns="0" rIns="0" bIns="0" rtlCol="0" anchor="t"/>
          <a:lstStyle/>
          <a:p>
            <a:pPr indent="0" marL="0">
              <a:buNone/>
            </a:pPr>
            <a:r>
              <a:rPr lang="en-US" sz="850" b="1" dirty="0">
                <a:solidFill>
                  <a:schemeClr val="bg2"/>
                </a:solidFill>
              </a:rPr>
              <a:t>Drinking water, food and medical oxygen</a:t>
            </a:r>
            <a:endParaRPr lang="en-US" sz="850" dirty="0"/>
          </a:p>
        </p:txBody>
      </p:sp>
      <p:sp>
        <p:nvSpPr>
          <p:cNvPr id="31" name="arrow-489"/>
          <p:cNvSpPr/>
          <p:nvPr/>
        </p:nvSpPr>
        <p:spPr>
          <a:xfrm>
            <a:off x="6464808" y="4489704"/>
            <a:ext cx="914" cy="1078992"/>
          </a:xfrm>
          <a:prstGeom prst="line">
            <a:avLst/>
          </a:prstGeom>
          <a:noFill/>
          <a:ln w="28575">
            <a:solidFill>
              <a:schemeClr val="accent4"/>
            </a:solidFill>
            <a:prstDash val="solid"/>
            <a:tailEnd type="triangle"/>
          </a:ln>
        </p:spPr>
      </p:sp>
      <p:sp>
        <p:nvSpPr>
          <p:cNvPr id="32" name="text-490"/>
          <p:cNvSpPr txBox="1"/>
          <p:nvPr/>
        </p:nvSpPr>
        <p:spPr>
          <a:xfrm>
            <a:off x="6583680" y="4754880"/>
            <a:ext cx="429768" cy="411480"/>
          </a:xfrm>
          <a:prstGeom prst="rect">
            <a:avLst/>
          </a:prstGeom>
          <a:noFill/>
          <a:ln/>
        </p:spPr>
        <p:txBody>
          <a:bodyPr wrap="square" lIns="0" tIns="0" rIns="0" bIns="0" rtlCol="0" anchor="t"/>
          <a:lstStyle/>
          <a:p>
            <a:pPr indent="0" marL="0">
              <a:buNone/>
            </a:pPr>
            <a:r>
              <a:rPr lang="en-US" sz="850" b="1" dirty="0">
                <a:solidFill>
                  <a:schemeClr val="bg2"/>
                </a:solidFill>
              </a:rPr>
              <a:t>Food for the spa cafés</a:t>
            </a:r>
            <a:endParaRPr lang="en-US" sz="850" dirty="0"/>
          </a:p>
        </p:txBody>
      </p:sp>
      <p:sp>
        <p:nvSpPr>
          <p:cNvPr id="33" name="arrow-491"/>
          <p:cNvSpPr/>
          <p:nvPr/>
        </p:nvSpPr>
        <p:spPr>
          <a:xfrm flipV="1">
            <a:off x="4293108" y="6606540"/>
            <a:ext cx="813816" cy="434340"/>
          </a:xfrm>
          <a:prstGeom prst="line">
            <a:avLst/>
          </a:prstGeom>
          <a:noFill/>
          <a:ln w="28575">
            <a:solidFill>
              <a:schemeClr val="accent2"/>
            </a:solidFill>
            <a:prstDash val="solid"/>
            <a:tailEnd type="triangle"/>
          </a:ln>
        </p:spPr>
      </p:sp>
      <p:sp>
        <p:nvSpPr>
          <p:cNvPr id="34" name="text-492"/>
          <p:cNvSpPr txBox="1"/>
          <p:nvPr/>
        </p:nvSpPr>
        <p:spPr>
          <a:xfrm>
            <a:off x="3561588" y="7114032"/>
            <a:ext cx="1188720" cy="365760"/>
          </a:xfrm>
          <a:prstGeom prst="rect">
            <a:avLst/>
          </a:prstGeom>
          <a:noFill/>
          <a:ln/>
        </p:spPr>
        <p:txBody>
          <a:bodyPr wrap="square" lIns="0" tIns="0" rIns="0" bIns="0" rtlCol="0" anchor="t"/>
          <a:lstStyle/>
          <a:p>
            <a:pPr algn="r" indent="0" marL="0">
              <a:buNone/>
            </a:pPr>
            <a:r>
              <a:rPr lang="en-US" sz="850" b="1" dirty="0">
                <a:solidFill>
                  <a:schemeClr val="accent2"/>
                </a:solidFill>
              </a:rPr>
              <a:t>Geothermal springs</a:t>
            </a:r>
            <a:endParaRPr lang="en-US" sz="850" dirty="0"/>
          </a:p>
        </p:txBody>
      </p:sp>
      <p:sp>
        <p:nvSpPr>
          <p:cNvPr id="35" name="flow-dot-493"/>
          <p:cNvSpPr/>
          <p:nvPr/>
        </p:nvSpPr>
        <p:spPr>
          <a:xfrm>
            <a:off x="548640" y="7863840"/>
            <a:ext cx="128016" cy="128016"/>
          </a:xfrm>
          <a:prstGeom prst="ellipse">
            <a:avLst/>
          </a:prstGeom>
          <a:solidFill>
            <a:schemeClr val="accent2"/>
          </a:solidFill>
          <a:ln w="12700">
            <a:solidFill>
              <a:schemeClr val="accent2"/>
            </a:solidFill>
            <a:prstDash val="solid"/>
          </a:ln>
        </p:spPr>
      </p:sp>
      <p:sp>
        <p:nvSpPr>
          <p:cNvPr id="36" name="text-494"/>
          <p:cNvSpPr txBox="1"/>
          <p:nvPr/>
        </p:nvSpPr>
        <p:spPr>
          <a:xfrm>
            <a:off x="777240" y="7818120"/>
            <a:ext cx="2866644" cy="201168"/>
          </a:xfrm>
          <a:prstGeom prst="rect">
            <a:avLst/>
          </a:prstGeom>
          <a:noFill/>
          <a:ln/>
        </p:spPr>
        <p:txBody>
          <a:bodyPr wrap="square" lIns="0" tIns="0" rIns="0" bIns="0" rtlCol="0" anchor="t"/>
          <a:lstStyle/>
          <a:p>
            <a:pPr indent="0" marL="0">
              <a:buNone/>
            </a:pPr>
            <a:r>
              <a:rPr lang="en-US" sz="1000" b="1" dirty="0">
                <a:solidFill>
                  <a:schemeClr val="bg1"/>
                </a:solidFill>
              </a:rPr>
              <a:t>Heat</a:t>
            </a:r>
            <a:endParaRPr lang="en-US" sz="1000" dirty="0"/>
          </a:p>
        </p:txBody>
      </p:sp>
      <p:sp>
        <p:nvSpPr>
          <p:cNvPr id="37" name="text-495"/>
          <p:cNvSpPr txBox="1"/>
          <p:nvPr/>
        </p:nvSpPr>
        <p:spPr>
          <a:xfrm>
            <a:off x="777240" y="8037576"/>
            <a:ext cx="2866644" cy="54864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Spare heat from the fusion station melts the snow at the food plant, so the snow does the job of a cooling tower.</a:t>
            </a:r>
            <a:endParaRPr lang="en-US" sz="900" dirty="0"/>
          </a:p>
        </p:txBody>
      </p:sp>
      <p:sp>
        <p:nvSpPr>
          <p:cNvPr id="38" name="flow-dot-496"/>
          <p:cNvSpPr/>
          <p:nvPr/>
        </p:nvSpPr>
        <p:spPr>
          <a:xfrm>
            <a:off x="3918204" y="7863840"/>
            <a:ext cx="128016" cy="128016"/>
          </a:xfrm>
          <a:prstGeom prst="ellipse">
            <a:avLst/>
          </a:prstGeom>
          <a:solidFill>
            <a:schemeClr val="accent6"/>
          </a:solidFill>
          <a:ln w="12700">
            <a:solidFill>
              <a:schemeClr val="accent6"/>
            </a:solidFill>
            <a:prstDash val="solid"/>
          </a:ln>
        </p:spPr>
      </p:sp>
      <p:sp>
        <p:nvSpPr>
          <p:cNvPr id="39" name="text-497"/>
          <p:cNvSpPr txBox="1"/>
          <p:nvPr/>
        </p:nvSpPr>
        <p:spPr>
          <a:xfrm>
            <a:off x="4146804" y="7818120"/>
            <a:ext cx="2866644" cy="201168"/>
          </a:xfrm>
          <a:prstGeom prst="rect">
            <a:avLst/>
          </a:prstGeom>
          <a:noFill/>
          <a:ln/>
        </p:spPr>
        <p:txBody>
          <a:bodyPr wrap="square" lIns="0" tIns="0" rIns="0" bIns="0" rtlCol="0" anchor="t"/>
          <a:lstStyle/>
          <a:p>
            <a:pPr indent="0" marL="0">
              <a:buNone/>
            </a:pPr>
            <a:r>
              <a:rPr lang="en-US" sz="1000" b="1" dirty="0">
                <a:solidFill>
                  <a:schemeClr val="bg1"/>
                </a:solidFill>
              </a:rPr>
              <a:t>Water</a:t>
            </a:r>
            <a:endParaRPr lang="en-US" sz="1000" dirty="0"/>
          </a:p>
        </p:txBody>
      </p:sp>
      <p:sp>
        <p:nvSpPr>
          <p:cNvPr id="40" name="text-498"/>
          <p:cNvSpPr txBox="1"/>
          <p:nvPr/>
        </p:nvSpPr>
        <p:spPr>
          <a:xfrm>
            <a:off x="4146804" y="8037576"/>
            <a:ext cx="2866644" cy="54864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The food plant’s electrolysers leave slightly deuterium-rich water, which goes back to the fusion station as fuel.</a:t>
            </a:r>
            <a:endParaRPr lang="en-US" sz="900" dirty="0"/>
          </a:p>
        </p:txBody>
      </p:sp>
      <p:sp>
        <p:nvSpPr>
          <p:cNvPr id="41" name="flow-dot-499"/>
          <p:cNvSpPr/>
          <p:nvPr/>
        </p:nvSpPr>
        <p:spPr>
          <a:xfrm>
            <a:off x="548640" y="8595360"/>
            <a:ext cx="128016" cy="128016"/>
          </a:xfrm>
          <a:prstGeom prst="ellipse">
            <a:avLst/>
          </a:prstGeom>
          <a:solidFill>
            <a:schemeClr val="accent1"/>
          </a:solidFill>
          <a:ln w="12700">
            <a:solidFill>
              <a:schemeClr val="accent1"/>
            </a:solidFill>
            <a:prstDash val="solid"/>
          </a:ln>
        </p:spPr>
      </p:sp>
      <p:sp>
        <p:nvSpPr>
          <p:cNvPr id="42" name="text-500"/>
          <p:cNvSpPr txBox="1"/>
          <p:nvPr/>
        </p:nvSpPr>
        <p:spPr>
          <a:xfrm>
            <a:off x="777240" y="8549640"/>
            <a:ext cx="2866644" cy="201168"/>
          </a:xfrm>
          <a:prstGeom prst="rect">
            <a:avLst/>
          </a:prstGeom>
          <a:noFill/>
          <a:ln/>
        </p:spPr>
        <p:txBody>
          <a:bodyPr wrap="square" lIns="0" tIns="0" rIns="0" bIns="0" rtlCol="0" anchor="t"/>
          <a:lstStyle/>
          <a:p>
            <a:pPr indent="0" marL="0">
              <a:buNone/>
            </a:pPr>
            <a:r>
              <a:rPr lang="en-US" sz="1000" b="1" dirty="0">
                <a:solidFill>
                  <a:schemeClr val="bg1"/>
                </a:solidFill>
              </a:rPr>
              <a:t>Oxygen</a:t>
            </a:r>
            <a:endParaRPr lang="en-US" sz="1000" dirty="0"/>
          </a:p>
        </p:txBody>
      </p:sp>
      <p:sp>
        <p:nvSpPr>
          <p:cNvPr id="43" name="text-501"/>
          <p:cNvSpPr txBox="1"/>
          <p:nvPr/>
        </p:nvSpPr>
        <p:spPr>
          <a:xfrm>
            <a:off x="777240" y="8769096"/>
            <a:ext cx="2866644" cy="54864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The same electrolysers supply oxygen to the plasma waste converter and the hospital.</a:t>
            </a:r>
            <a:endParaRPr lang="en-US" sz="900" dirty="0"/>
          </a:p>
        </p:txBody>
      </p:sp>
      <p:sp>
        <p:nvSpPr>
          <p:cNvPr id="44" name="flow-dot-502"/>
          <p:cNvSpPr/>
          <p:nvPr/>
        </p:nvSpPr>
        <p:spPr>
          <a:xfrm>
            <a:off x="3918204" y="8595360"/>
            <a:ext cx="128016" cy="128016"/>
          </a:xfrm>
          <a:prstGeom prst="ellipse">
            <a:avLst/>
          </a:prstGeom>
          <a:solidFill>
            <a:schemeClr val="bg2"/>
          </a:solidFill>
          <a:ln w="12700">
            <a:solidFill>
              <a:schemeClr val="bg2"/>
            </a:solidFill>
            <a:prstDash val="solid"/>
          </a:ln>
        </p:spPr>
      </p:sp>
      <p:sp>
        <p:nvSpPr>
          <p:cNvPr id="45" name="text-503"/>
          <p:cNvSpPr txBox="1"/>
          <p:nvPr/>
        </p:nvSpPr>
        <p:spPr>
          <a:xfrm>
            <a:off x="4146804" y="8549640"/>
            <a:ext cx="2866644" cy="201168"/>
          </a:xfrm>
          <a:prstGeom prst="rect">
            <a:avLst/>
          </a:prstGeom>
          <a:noFill/>
          <a:ln/>
        </p:spPr>
        <p:txBody>
          <a:bodyPr wrap="square" lIns="0" tIns="0" rIns="0" bIns="0" rtlCol="0" anchor="t"/>
          <a:lstStyle/>
          <a:p>
            <a:pPr indent="0" marL="0">
              <a:buNone/>
            </a:pPr>
            <a:r>
              <a:rPr lang="en-US" sz="1000" b="1" dirty="0">
                <a:solidFill>
                  <a:schemeClr val="bg1"/>
                </a:solidFill>
              </a:rPr>
              <a:t>Waste</a:t>
            </a:r>
            <a:endParaRPr lang="en-US" sz="1000" dirty="0"/>
          </a:p>
        </p:txBody>
      </p:sp>
      <p:sp>
        <p:nvSpPr>
          <p:cNvPr id="46" name="text-504"/>
          <p:cNvSpPr txBox="1"/>
          <p:nvPr/>
        </p:nvSpPr>
        <p:spPr>
          <a:xfrm>
            <a:off x="4146804" y="8769096"/>
            <a:ext cx="2866644" cy="54864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The converter turns rubbish into hydrogen and CO₂ for the food lines, and its slag becomes paving.</a:t>
            </a:r>
            <a:endParaRPr lang="en-US" sz="900" dirty="0"/>
          </a:p>
        </p:txBody>
      </p:sp>
      <p:sp>
        <p:nvSpPr>
          <p:cNvPr id="47" name="flow-dot-505"/>
          <p:cNvSpPr/>
          <p:nvPr/>
        </p:nvSpPr>
        <p:spPr>
          <a:xfrm>
            <a:off x="548640" y="9326880"/>
            <a:ext cx="128016" cy="128016"/>
          </a:xfrm>
          <a:prstGeom prst="ellipse">
            <a:avLst/>
          </a:prstGeom>
          <a:solidFill>
            <a:schemeClr val="accent5"/>
          </a:solidFill>
          <a:ln w="12700">
            <a:solidFill>
              <a:schemeClr val="accent5"/>
            </a:solidFill>
            <a:prstDash val="solid"/>
          </a:ln>
        </p:spPr>
      </p:sp>
      <p:sp>
        <p:nvSpPr>
          <p:cNvPr id="48" name="text-506"/>
          <p:cNvSpPr txBox="1"/>
          <p:nvPr/>
        </p:nvSpPr>
        <p:spPr>
          <a:xfrm>
            <a:off x="777240" y="9281160"/>
            <a:ext cx="2866644" cy="201168"/>
          </a:xfrm>
          <a:prstGeom prst="rect">
            <a:avLst/>
          </a:prstGeom>
          <a:noFill/>
          <a:ln/>
        </p:spPr>
        <p:txBody>
          <a:bodyPr wrap="square" lIns="0" tIns="0" rIns="0" bIns="0" rtlCol="0" anchor="t"/>
          <a:lstStyle/>
          <a:p>
            <a:pPr indent="0" marL="0">
              <a:buNone/>
            </a:pPr>
            <a:r>
              <a:rPr lang="en-US" sz="1000" b="1" dirty="0">
                <a:solidFill>
                  <a:schemeClr val="bg1"/>
                </a:solidFill>
              </a:rPr>
              <a:t>Wellbeing</a:t>
            </a:r>
            <a:endParaRPr lang="en-US" sz="1000" dirty="0"/>
          </a:p>
        </p:txBody>
      </p:sp>
      <p:sp>
        <p:nvSpPr>
          <p:cNvPr id="49" name="text-507"/>
          <p:cNvSpPr txBox="1"/>
          <p:nvPr/>
        </p:nvSpPr>
        <p:spPr>
          <a:xfrm>
            <a:off x="777240" y="9500616"/>
            <a:ext cx="2866644" cy="54864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The spa turns geothermal heat into rest and health, and its restaurants serve food from the plant.</a:t>
            </a:r>
            <a:endParaRPr lang="en-US" sz="900" dirty="0"/>
          </a:p>
        </p:txBody>
      </p:sp>
      <p:sp>
        <p:nvSpPr>
          <p:cNvPr id="50" name="page-number"/>
          <p:cNvSpPr txBox="1"/>
          <p:nvPr/>
        </p:nvSpPr>
        <p:spPr>
          <a:xfrm>
            <a:off x="548640" y="10177272"/>
            <a:ext cx="411480" cy="219456"/>
          </a:xfrm>
          <a:prstGeom prst="rect">
            <a:avLst/>
          </a:prstGeom>
          <a:noFill/>
          <a:ln/>
        </p:spPr>
        <p:txBody>
          <a:bodyPr wrap="square" lIns="0" tIns="0" rIns="0" bIns="0" rtlCol="0" anchor="ctr"/>
          <a:lstStyle/>
          <a:p>
            <a:pPr algn="l" indent="0" marL="0">
              <a:buNone/>
            </a:pPr>
            <a:r>
              <a:rPr lang="en-US" sz="900" b="1" dirty="0">
                <a:solidFill>
                  <a:schemeClr val="bg1"/>
                </a:solidFill>
              </a:rPr>
              <a:t>22</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dot-508"/>
          <p:cNvSpPr/>
          <p:nvPr/>
        </p:nvSpPr>
        <p:spPr>
          <a:xfrm>
            <a:off x="548640" y="544068"/>
            <a:ext cx="100584" cy="100584"/>
          </a:xfrm>
          <a:prstGeom prst="ellipse">
            <a:avLst/>
          </a:prstGeom>
          <a:solidFill>
            <a:schemeClr val="accent6"/>
          </a:solidFill>
          <a:ln w="12700">
            <a:solidFill>
              <a:schemeClr val="accent6"/>
            </a:solidFill>
            <a:prstDash val="solid"/>
          </a:ln>
        </p:spPr>
      </p:sp>
      <p:sp>
        <p:nvSpPr>
          <p:cNvPr id="3" name="text-509"/>
          <p:cNvSpPr txBox="1"/>
          <p:nvPr/>
        </p:nvSpPr>
        <p:spPr>
          <a:xfrm>
            <a:off x="731520" y="502920"/>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EVERYDAY LIFE</a:t>
            </a:r>
            <a:endParaRPr lang="en-US" sz="900" dirty="0"/>
          </a:p>
        </p:txBody>
      </p:sp>
      <p:sp>
        <p:nvSpPr>
          <p:cNvPr id="4" name="title-510"/>
          <p:cNvSpPr txBox="1"/>
          <p:nvPr/>
        </p:nvSpPr>
        <p:spPr>
          <a:xfrm>
            <a:off x="548640" y="758952"/>
            <a:ext cx="6464808" cy="685800"/>
          </a:xfrm>
          <a:prstGeom prst="rect">
            <a:avLst/>
          </a:prstGeom>
          <a:noFill/>
          <a:ln/>
        </p:spPr>
        <p:txBody>
          <a:bodyPr wrap="square" lIns="0" tIns="0" rIns="0" bIns="0" rtlCol="0" anchor="t"/>
          <a:lstStyle/>
          <a:p>
            <a:pPr indent="0" marL="0">
              <a:lnSpc>
                <a:spcPct val="92000"/>
              </a:lnSpc>
              <a:buNone/>
            </a:pPr>
            <a:r>
              <a:rPr lang="en-US" sz="3400" b="1" dirty="0">
                <a:solidFill>
                  <a:schemeClr val="tx1"/>
                </a:solidFill>
                <a:latin typeface="+mj-lt" pitchFamily="34" charset="0"/>
                <a:ea typeface="+mj-lt" pitchFamily="34" charset="-122"/>
                <a:cs typeface="+mj-lt" pitchFamily="34" charset="-120"/>
              </a:rPr>
              <a:t>A Livable City Every Day</a:t>
            </a:r>
            <a:endParaRPr lang="en-US" sz="3400" dirty="0"/>
          </a:p>
        </p:txBody>
      </p:sp>
      <p:pic>
        <p:nvPicPr>
          <p:cNvPr id="5" name="picture-512" descr="/home/user/chatbox-bi-n-o/magazine/assets/renders/houses_dusk.jpg">    </p:cNvPr>
          <p:cNvPicPr>
            <a:picLocks noChangeAspect="1"/>
          </p:cNvPicPr>
          <p:nvPr/>
        </p:nvPicPr>
        <p:blipFill>
          <a:blip r:embed="rId1"/>
          <a:srcRect l="0" r="0" t="0" b="0"/>
          <a:stretch/>
        </p:blipFill>
        <p:spPr>
          <a:xfrm>
            <a:off x="0" y="1508760"/>
            <a:ext cx="7562088" cy="3657600"/>
          </a:xfrm>
          <a:prstGeom prst="rect">
            <a:avLst/>
          </a:prstGeom>
        </p:spPr>
      </p:pic>
      <p:sp>
        <p:nvSpPr>
          <p:cNvPr id="6" name="text-513"/>
          <p:cNvSpPr txBox="1"/>
          <p:nvPr/>
        </p:nvSpPr>
        <p:spPr>
          <a:xfrm>
            <a:off x="548640" y="5230368"/>
            <a:ext cx="6464808" cy="365760"/>
          </a:xfrm>
          <a:prstGeom prst="rect">
            <a:avLst/>
          </a:prstGeom>
          <a:noFill/>
          <a:ln/>
        </p:spPr>
        <p:txBody>
          <a:bodyPr wrap="square" lIns="0" tIns="0" rIns="0" bIns="0" rtlCol="0" anchor="t"/>
          <a:lstStyle/>
          <a:p>
            <a:pPr indent="0" marL="0">
              <a:buNone/>
            </a:pPr>
            <a:r>
              <a:rPr lang="en-US" sz="850" i="1" dirty="0">
                <a:solidFill>
                  <a:schemeClr val="tx2"/>
                </a:solidFill>
              </a:rPr>
              <a:t>Snowpine Residences at dusk. Sidewalks warmed by district-heating return water stay snow-free, and spruces shelter the courtyards from the wind.</a:t>
            </a:r>
            <a:endParaRPr lang="en-US" sz="850" dirty="0"/>
          </a:p>
        </p:txBody>
      </p:sp>
      <p:sp>
        <p:nvSpPr>
          <p:cNvPr id="7" name="kicker-dot-514"/>
          <p:cNvSpPr/>
          <p:nvPr/>
        </p:nvSpPr>
        <p:spPr>
          <a:xfrm>
            <a:off x="548640" y="5801868"/>
            <a:ext cx="100584" cy="100584"/>
          </a:xfrm>
          <a:prstGeom prst="ellipse">
            <a:avLst/>
          </a:prstGeom>
          <a:solidFill>
            <a:schemeClr val="accent6"/>
          </a:solidFill>
          <a:ln w="12700">
            <a:solidFill>
              <a:schemeClr val="accent6"/>
            </a:solidFill>
            <a:prstDash val="solid"/>
          </a:ln>
        </p:spPr>
      </p:sp>
      <p:sp>
        <p:nvSpPr>
          <p:cNvPr id="8" name="text-515"/>
          <p:cNvSpPr txBox="1"/>
          <p:nvPr/>
        </p:nvSpPr>
        <p:spPr>
          <a:xfrm>
            <a:off x="731520" y="5760720"/>
            <a:ext cx="2912364" cy="201168"/>
          </a:xfrm>
          <a:prstGeom prst="rect">
            <a:avLst/>
          </a:prstGeom>
          <a:noFill/>
          <a:ln/>
        </p:spPr>
        <p:txBody>
          <a:bodyPr wrap="square" lIns="0" tIns="0" rIns="0" bIns="0" rtlCol="0" anchor="t"/>
          <a:lstStyle/>
          <a:p>
            <a:pPr indent="0" marL="0">
              <a:buNone/>
            </a:pPr>
            <a:r>
              <a:rPr lang="en-US" sz="900" b="1" spc="300" kern="0" dirty="0">
                <a:solidFill>
                  <a:schemeClr val="accent6"/>
                </a:solidFill>
              </a:rPr>
              <a:t>HOMES</a:t>
            </a:r>
            <a:endParaRPr lang="en-US" sz="900" dirty="0"/>
          </a:p>
        </p:txBody>
      </p:sp>
      <p:sp>
        <p:nvSpPr>
          <p:cNvPr id="9" name="text-516"/>
          <p:cNvSpPr txBox="1"/>
          <p:nvPr/>
        </p:nvSpPr>
        <p:spPr>
          <a:xfrm>
            <a:off x="548640" y="6007608"/>
            <a:ext cx="3232404" cy="594360"/>
          </a:xfrm>
          <a:prstGeom prst="rect">
            <a:avLst/>
          </a:prstGeom>
          <a:noFill/>
          <a:ln/>
        </p:spPr>
        <p:txBody>
          <a:bodyPr wrap="square" lIns="0" tIns="0" rIns="0" bIns="0" rtlCol="0" anchor="t"/>
          <a:lstStyle/>
          <a:p>
            <a:pPr indent="0" marL="0">
              <a:lnSpc>
                <a:spcPct val="105000"/>
              </a:lnSpc>
              <a:buNone/>
            </a:pPr>
            <a:r>
              <a:rPr lang="en-US" sz="950" dirty="0">
                <a:solidFill>
                  <a:schemeClr val="tx1"/>
                </a:solidFill>
              </a:rPr>
              <a:t>Family houses in Snowpine Residences, the western eco-homes, towers such as the Aurora 81 Residences and Ice Crystal Apartments, co-living, student and senior housing.</a:t>
            </a:r>
            <a:endParaRPr lang="en-US" sz="950" dirty="0"/>
          </a:p>
        </p:txBody>
      </p:sp>
      <p:sp>
        <p:nvSpPr>
          <p:cNvPr id="10" name="kicker-dot-517"/>
          <p:cNvSpPr/>
          <p:nvPr/>
        </p:nvSpPr>
        <p:spPr>
          <a:xfrm>
            <a:off x="548640" y="6652260"/>
            <a:ext cx="100584" cy="100584"/>
          </a:xfrm>
          <a:prstGeom prst="ellipse">
            <a:avLst/>
          </a:prstGeom>
          <a:solidFill>
            <a:schemeClr val="accent6"/>
          </a:solidFill>
          <a:ln w="12700">
            <a:solidFill>
              <a:schemeClr val="accent6"/>
            </a:solidFill>
            <a:prstDash val="solid"/>
          </a:ln>
        </p:spPr>
      </p:sp>
      <p:sp>
        <p:nvSpPr>
          <p:cNvPr id="11" name="text-518"/>
          <p:cNvSpPr txBox="1"/>
          <p:nvPr/>
        </p:nvSpPr>
        <p:spPr>
          <a:xfrm>
            <a:off x="731520" y="6611112"/>
            <a:ext cx="2912364" cy="201168"/>
          </a:xfrm>
          <a:prstGeom prst="rect">
            <a:avLst/>
          </a:prstGeom>
          <a:noFill/>
          <a:ln/>
        </p:spPr>
        <p:txBody>
          <a:bodyPr wrap="square" lIns="0" tIns="0" rIns="0" bIns="0" rtlCol="0" anchor="t"/>
          <a:lstStyle/>
          <a:p>
            <a:pPr indent="0" marL="0">
              <a:buNone/>
            </a:pPr>
            <a:r>
              <a:rPr lang="en-US" sz="900" b="1" spc="300" kern="0" dirty="0">
                <a:solidFill>
                  <a:schemeClr val="accent6"/>
                </a:solidFill>
              </a:rPr>
              <a:t>LEARNING</a:t>
            </a:r>
            <a:endParaRPr lang="en-US" sz="900" dirty="0"/>
          </a:p>
        </p:txBody>
      </p:sp>
      <p:sp>
        <p:nvSpPr>
          <p:cNvPr id="12" name="text-519"/>
          <p:cNvSpPr txBox="1"/>
          <p:nvPr/>
        </p:nvSpPr>
        <p:spPr>
          <a:xfrm>
            <a:off x="548640" y="6858000"/>
            <a:ext cx="3232404" cy="594360"/>
          </a:xfrm>
          <a:prstGeom prst="rect">
            <a:avLst/>
          </a:prstGeom>
          <a:noFill/>
          <a:ln/>
        </p:spPr>
        <p:txBody>
          <a:bodyPr wrap="square" lIns="0" tIns="0" rIns="0" bIns="0" rtlCol="0" anchor="t"/>
          <a:lstStyle/>
          <a:p>
            <a:pPr indent="0" marL="0">
              <a:lnSpc>
                <a:spcPct val="105000"/>
              </a:lnSpc>
              <a:buNone/>
            </a:pPr>
            <a:r>
              <a:rPr lang="en-US" sz="950" dirty="0">
                <a:solidFill>
                  <a:schemeClr val="tx1"/>
                </a:solidFill>
              </a:rPr>
              <a:t>Three kindergartens, Snow Lantern Primary School, the Northern Lights School for ages 6 to 18, and Arctic University.</a:t>
            </a:r>
            <a:endParaRPr lang="en-US" sz="950" dirty="0"/>
          </a:p>
        </p:txBody>
      </p:sp>
      <p:sp>
        <p:nvSpPr>
          <p:cNvPr id="13" name="kicker-dot-520"/>
          <p:cNvSpPr/>
          <p:nvPr/>
        </p:nvSpPr>
        <p:spPr>
          <a:xfrm>
            <a:off x="548640" y="7502652"/>
            <a:ext cx="100584" cy="100584"/>
          </a:xfrm>
          <a:prstGeom prst="ellipse">
            <a:avLst/>
          </a:prstGeom>
          <a:solidFill>
            <a:schemeClr val="accent6"/>
          </a:solidFill>
          <a:ln w="12700">
            <a:solidFill>
              <a:schemeClr val="accent6"/>
            </a:solidFill>
            <a:prstDash val="solid"/>
          </a:ln>
        </p:spPr>
      </p:sp>
      <p:sp>
        <p:nvSpPr>
          <p:cNvPr id="14" name="text-521"/>
          <p:cNvSpPr txBox="1"/>
          <p:nvPr/>
        </p:nvSpPr>
        <p:spPr>
          <a:xfrm>
            <a:off x="731520" y="7461504"/>
            <a:ext cx="2912364" cy="201168"/>
          </a:xfrm>
          <a:prstGeom prst="rect">
            <a:avLst/>
          </a:prstGeom>
          <a:noFill/>
          <a:ln/>
        </p:spPr>
        <p:txBody>
          <a:bodyPr wrap="square" lIns="0" tIns="0" rIns="0" bIns="0" rtlCol="0" anchor="t"/>
          <a:lstStyle/>
          <a:p>
            <a:pPr indent="0" marL="0">
              <a:buNone/>
            </a:pPr>
            <a:r>
              <a:rPr lang="en-US" sz="900" b="1" spc="300" kern="0" dirty="0">
                <a:solidFill>
                  <a:schemeClr val="accent6"/>
                </a:solidFill>
              </a:rPr>
              <a:t>HEALTH</a:t>
            </a:r>
            <a:endParaRPr lang="en-US" sz="900" dirty="0"/>
          </a:p>
        </p:txBody>
      </p:sp>
      <p:sp>
        <p:nvSpPr>
          <p:cNvPr id="15" name="text-522"/>
          <p:cNvSpPr txBox="1"/>
          <p:nvPr/>
        </p:nvSpPr>
        <p:spPr>
          <a:xfrm>
            <a:off x="548640" y="7708392"/>
            <a:ext cx="3232404" cy="594360"/>
          </a:xfrm>
          <a:prstGeom prst="rect">
            <a:avLst/>
          </a:prstGeom>
          <a:noFill/>
          <a:ln/>
        </p:spPr>
        <p:txBody>
          <a:bodyPr wrap="square" lIns="0" tIns="0" rIns="0" bIns="0" rtlCol="0" anchor="t"/>
          <a:lstStyle/>
          <a:p>
            <a:pPr indent="0" marL="0">
              <a:lnSpc>
                <a:spcPct val="105000"/>
              </a:lnSpc>
              <a:buNone/>
            </a:pPr>
            <a:r>
              <a:rPr lang="en-US" sz="950" dirty="0">
                <a:solidFill>
                  <a:schemeClr val="tx1"/>
                </a:solidFill>
              </a:rPr>
              <a:t>Snowflake General Hospital with about 250 beds and a 24-hour emergency department, a campus clinic and a 24-hour pharmacy.</a:t>
            </a:r>
            <a:endParaRPr lang="en-US" sz="950" dirty="0"/>
          </a:p>
        </p:txBody>
      </p:sp>
      <p:sp>
        <p:nvSpPr>
          <p:cNvPr id="16" name="kicker-dot-523"/>
          <p:cNvSpPr/>
          <p:nvPr/>
        </p:nvSpPr>
        <p:spPr>
          <a:xfrm>
            <a:off x="548640" y="8353044"/>
            <a:ext cx="100584" cy="100584"/>
          </a:xfrm>
          <a:prstGeom prst="ellipse">
            <a:avLst/>
          </a:prstGeom>
          <a:solidFill>
            <a:schemeClr val="accent6"/>
          </a:solidFill>
          <a:ln w="12700">
            <a:solidFill>
              <a:schemeClr val="accent6"/>
            </a:solidFill>
            <a:prstDash val="solid"/>
          </a:ln>
        </p:spPr>
      </p:sp>
      <p:sp>
        <p:nvSpPr>
          <p:cNvPr id="17" name="text-524"/>
          <p:cNvSpPr txBox="1"/>
          <p:nvPr/>
        </p:nvSpPr>
        <p:spPr>
          <a:xfrm>
            <a:off x="731520" y="8311896"/>
            <a:ext cx="2912364" cy="201168"/>
          </a:xfrm>
          <a:prstGeom prst="rect">
            <a:avLst/>
          </a:prstGeom>
          <a:noFill/>
          <a:ln/>
        </p:spPr>
        <p:txBody>
          <a:bodyPr wrap="square" lIns="0" tIns="0" rIns="0" bIns="0" rtlCol="0" anchor="t"/>
          <a:lstStyle/>
          <a:p>
            <a:pPr indent="0" marL="0">
              <a:buNone/>
            </a:pPr>
            <a:r>
              <a:rPr lang="en-US" sz="900" b="1" spc="300" kern="0" dirty="0">
                <a:solidFill>
                  <a:schemeClr val="accent6"/>
                </a:solidFill>
              </a:rPr>
              <a:t>SHOPPING</a:t>
            </a:r>
            <a:endParaRPr lang="en-US" sz="900" dirty="0"/>
          </a:p>
        </p:txBody>
      </p:sp>
      <p:sp>
        <p:nvSpPr>
          <p:cNvPr id="18" name="text-525"/>
          <p:cNvSpPr txBox="1"/>
          <p:nvPr/>
        </p:nvSpPr>
        <p:spPr>
          <a:xfrm>
            <a:off x="548640" y="8558784"/>
            <a:ext cx="3232404" cy="594360"/>
          </a:xfrm>
          <a:prstGeom prst="rect">
            <a:avLst/>
          </a:prstGeom>
          <a:noFill/>
          <a:ln/>
        </p:spPr>
        <p:txBody>
          <a:bodyPr wrap="square" lIns="0" tIns="0" rIns="0" bIns="0" rtlCol="0" anchor="t"/>
          <a:lstStyle/>
          <a:p>
            <a:pPr indent="0" marL="0">
              <a:lnSpc>
                <a:spcPct val="105000"/>
              </a:lnSpc>
              <a:buNone/>
            </a:pPr>
            <a:r>
              <a:rPr lang="en-US" sz="950" dirty="0">
                <a:solidFill>
                  <a:schemeClr val="tx1"/>
                </a:solidFill>
              </a:rPr>
              <a:t>Igloo Fresh Supermarket, Tundra Grocery, the night and fish markets and the Aurora Glacier Mall with its indoor atrium park.</a:t>
            </a:r>
            <a:endParaRPr lang="en-US" sz="950" dirty="0"/>
          </a:p>
        </p:txBody>
      </p:sp>
      <p:sp>
        <p:nvSpPr>
          <p:cNvPr id="19" name="kicker-dot-526"/>
          <p:cNvSpPr/>
          <p:nvPr/>
        </p:nvSpPr>
        <p:spPr>
          <a:xfrm>
            <a:off x="548640" y="9203436"/>
            <a:ext cx="100584" cy="100584"/>
          </a:xfrm>
          <a:prstGeom prst="ellipse">
            <a:avLst/>
          </a:prstGeom>
          <a:solidFill>
            <a:schemeClr val="accent6"/>
          </a:solidFill>
          <a:ln w="12700">
            <a:solidFill>
              <a:schemeClr val="accent6"/>
            </a:solidFill>
            <a:prstDash val="solid"/>
          </a:ln>
        </p:spPr>
      </p:sp>
      <p:sp>
        <p:nvSpPr>
          <p:cNvPr id="20" name="text-527"/>
          <p:cNvSpPr txBox="1"/>
          <p:nvPr/>
        </p:nvSpPr>
        <p:spPr>
          <a:xfrm>
            <a:off x="731520" y="9162288"/>
            <a:ext cx="2912364" cy="201168"/>
          </a:xfrm>
          <a:prstGeom prst="rect">
            <a:avLst/>
          </a:prstGeom>
          <a:noFill/>
          <a:ln/>
        </p:spPr>
        <p:txBody>
          <a:bodyPr wrap="square" lIns="0" tIns="0" rIns="0" bIns="0" rtlCol="0" anchor="t"/>
          <a:lstStyle/>
          <a:p>
            <a:pPr indent="0" marL="0">
              <a:buNone/>
            </a:pPr>
            <a:r>
              <a:rPr lang="en-US" sz="900" b="1" spc="300" kern="0" dirty="0">
                <a:solidFill>
                  <a:schemeClr val="accent6"/>
                </a:solidFill>
              </a:rPr>
              <a:t>CULTURE AND PARKS</a:t>
            </a:r>
            <a:endParaRPr lang="en-US" sz="900" dirty="0"/>
          </a:p>
        </p:txBody>
      </p:sp>
      <p:sp>
        <p:nvSpPr>
          <p:cNvPr id="21" name="text-528"/>
          <p:cNvSpPr txBox="1"/>
          <p:nvPr/>
        </p:nvSpPr>
        <p:spPr>
          <a:xfrm>
            <a:off x="548640" y="9409176"/>
            <a:ext cx="3232404" cy="594360"/>
          </a:xfrm>
          <a:prstGeom prst="rect">
            <a:avLst/>
          </a:prstGeom>
          <a:noFill/>
          <a:ln/>
        </p:spPr>
        <p:txBody>
          <a:bodyPr wrap="square" lIns="0" tIns="0" rIns="0" bIns="0" rtlCol="0" anchor="t"/>
          <a:lstStyle/>
          <a:p>
            <a:pPr indent="0" marL="0">
              <a:lnSpc>
                <a:spcPct val="105000"/>
              </a:lnSpc>
              <a:buNone/>
            </a:pPr>
            <a:r>
              <a:rPr lang="en-US" sz="950" dirty="0">
                <a:solidFill>
                  <a:schemeClr val="tx1"/>
                </a:solidFill>
              </a:rPr>
              <a:t>Aurora Cinema, a music hall, a library open 24 hours in the polar night, the Snow Stadium and parks with heated benches.</a:t>
            </a:r>
            <a:endParaRPr lang="en-US" sz="950" dirty="0"/>
          </a:p>
        </p:txBody>
      </p:sp>
      <p:pic>
        <p:nvPicPr>
          <p:cNvPr id="22" name="picture-529" descr="/home/user/chatbox-bi-n-o/magazine/assets/renders/approach_dusk.jpg">    </p:cNvPr>
          <p:cNvPicPr>
            <a:picLocks noChangeAspect="1"/>
          </p:cNvPicPr>
          <p:nvPr/>
        </p:nvPicPr>
        <p:blipFill>
          <a:blip r:embed="rId2"/>
          <a:srcRect l="0" r="0" t="0" b="0"/>
          <a:stretch/>
        </p:blipFill>
        <p:spPr>
          <a:xfrm>
            <a:off x="4055364" y="5760720"/>
            <a:ext cx="2958084" cy="2057400"/>
          </a:xfrm>
          <a:prstGeom prst="rect">
            <a:avLst/>
          </a:prstGeom>
        </p:spPr>
      </p:pic>
      <p:sp>
        <p:nvSpPr>
          <p:cNvPr id="23" name="text-530"/>
          <p:cNvSpPr txBox="1"/>
          <p:nvPr/>
        </p:nvSpPr>
        <p:spPr>
          <a:xfrm>
            <a:off x="4055364" y="7863840"/>
            <a:ext cx="2958084" cy="548640"/>
          </a:xfrm>
          <a:prstGeom prst="rect">
            <a:avLst/>
          </a:prstGeom>
          <a:noFill/>
          <a:ln/>
        </p:spPr>
        <p:txBody>
          <a:bodyPr wrap="square" lIns="0" tIns="0" rIns="0" bIns="0" rtlCol="0" anchor="t"/>
          <a:lstStyle/>
          <a:p>
            <a:pPr indent="0" marL="0">
              <a:buNone/>
            </a:pPr>
            <a:r>
              <a:rPr lang="en-US" sz="850" i="1" dirty="0">
                <a:solidFill>
                  <a:schemeClr val="tx2"/>
                </a:solidFill>
              </a:rPr>
              <a:t>The Mount Aurora Approach: low buildings keep the summit in view, and warm, low-glare lanterns do not hide the aurora.</a:t>
            </a:r>
            <a:endParaRPr lang="en-US" sz="850" dirty="0"/>
          </a:p>
        </p:txBody>
      </p:sp>
      <p:sp>
        <p:nvSpPr>
          <p:cNvPr id="24" name="text-531"/>
          <p:cNvSpPr txBox="1"/>
          <p:nvPr/>
        </p:nvSpPr>
        <p:spPr>
          <a:xfrm>
            <a:off x="4055364" y="8503920"/>
            <a:ext cx="1387602" cy="327152"/>
          </a:xfrm>
          <a:prstGeom prst="rect">
            <a:avLst/>
          </a:prstGeom>
          <a:noFill/>
          <a:ln/>
        </p:spPr>
        <p:txBody>
          <a:bodyPr wrap="square" lIns="0" tIns="0" rIns="0" bIns="0" rtlCol="0" anchor="b"/>
          <a:lstStyle/>
          <a:p>
            <a:pPr indent="0" marL="0">
              <a:buNone/>
            </a:pPr>
            <a:r>
              <a:rPr lang="en-US" sz="2000" b="1" dirty="0">
                <a:solidFill>
                  <a:schemeClr val="accent6"/>
                </a:solidFill>
                <a:latin typeface="+mj-lt" pitchFamily="34" charset="0"/>
                <a:ea typeface="+mj-lt" pitchFamily="34" charset="-122"/>
                <a:cs typeface="+mj-lt" pitchFamily="34" charset="-120"/>
              </a:rPr>
              <a:t>250</a:t>
            </a:r>
            <a:endParaRPr lang="en-US" sz="2000" dirty="0"/>
          </a:p>
        </p:txBody>
      </p:sp>
      <p:sp>
        <p:nvSpPr>
          <p:cNvPr id="25" name="text-532"/>
          <p:cNvSpPr txBox="1"/>
          <p:nvPr/>
        </p:nvSpPr>
        <p:spPr>
          <a:xfrm>
            <a:off x="4055364" y="8858504"/>
            <a:ext cx="1387602" cy="292608"/>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hospital beds</a:t>
            </a:r>
            <a:endParaRPr lang="en-US" sz="850" dirty="0"/>
          </a:p>
        </p:txBody>
      </p:sp>
      <p:sp>
        <p:nvSpPr>
          <p:cNvPr id="26" name="text-533"/>
          <p:cNvSpPr txBox="1"/>
          <p:nvPr/>
        </p:nvSpPr>
        <p:spPr>
          <a:xfrm>
            <a:off x="5534406" y="8503920"/>
            <a:ext cx="1387602" cy="327152"/>
          </a:xfrm>
          <a:prstGeom prst="rect">
            <a:avLst/>
          </a:prstGeom>
          <a:noFill/>
          <a:ln/>
        </p:spPr>
        <p:txBody>
          <a:bodyPr wrap="square" lIns="0" tIns="0" rIns="0" bIns="0" rtlCol="0" anchor="b"/>
          <a:lstStyle/>
          <a:p>
            <a:pPr indent="0" marL="0">
              <a:buNone/>
            </a:pPr>
            <a:r>
              <a:rPr lang="en-US" sz="2000" b="1" dirty="0">
                <a:solidFill>
                  <a:schemeClr val="accent6"/>
                </a:solidFill>
                <a:latin typeface="+mj-lt" pitchFamily="34" charset="0"/>
                <a:ea typeface="+mj-lt" pitchFamily="34" charset="-122"/>
                <a:cs typeface="+mj-lt" pitchFamily="34" charset="-120"/>
              </a:rPr>
              <a:t>5,000</a:t>
            </a:r>
            <a:endParaRPr lang="en-US" sz="2000" dirty="0"/>
          </a:p>
        </p:txBody>
      </p:sp>
      <p:sp>
        <p:nvSpPr>
          <p:cNvPr id="27" name="text-534"/>
          <p:cNvSpPr txBox="1"/>
          <p:nvPr/>
        </p:nvSpPr>
        <p:spPr>
          <a:xfrm>
            <a:off x="5534406" y="8858504"/>
            <a:ext cx="1387602" cy="292608"/>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students at Arctic University</a:t>
            </a:r>
            <a:endParaRPr lang="en-US" sz="850" dirty="0"/>
          </a:p>
        </p:txBody>
      </p:sp>
      <p:sp>
        <p:nvSpPr>
          <p:cNvPr id="28" name="page-number"/>
          <p:cNvSpPr txBox="1"/>
          <p:nvPr/>
        </p:nvSpPr>
        <p:spPr>
          <a:xfrm>
            <a:off x="6601968" y="10177272"/>
            <a:ext cx="411480" cy="219456"/>
          </a:xfrm>
          <a:prstGeom prst="rect">
            <a:avLst/>
          </a:prstGeom>
          <a:noFill/>
          <a:ln/>
        </p:spPr>
        <p:txBody>
          <a:bodyPr wrap="square" lIns="0" tIns="0" rIns="0" bIns="0" rtlCol="0" anchor="ctr"/>
          <a:lstStyle/>
          <a:p>
            <a:pPr algn="r" indent="0" marL="0">
              <a:buNone/>
            </a:pPr>
            <a:r>
              <a:rPr lang="en-US" sz="900" b="1" dirty="0">
                <a:solidFill>
                  <a:schemeClr val="tx1"/>
                </a:solidFill>
              </a:rPr>
              <a:t>23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picture-535" descr="/home/user/chatbox-bi-n-o/magazine/assets/renders/homes.jpg">    </p:cNvPr>
          <p:cNvPicPr>
            <a:picLocks noChangeAspect="1"/>
          </p:cNvPicPr>
          <p:nvPr/>
        </p:nvPicPr>
        <p:blipFill>
          <a:blip r:embed="rId1"/>
          <a:srcRect l="0" r="0" t="0" b="0"/>
          <a:stretch/>
        </p:blipFill>
        <p:spPr>
          <a:xfrm>
            <a:off x="0" y="0"/>
            <a:ext cx="7562088" cy="3749040"/>
          </a:xfrm>
          <a:prstGeom prst="rect">
            <a:avLst/>
          </a:prstGeom>
        </p:spPr>
      </p:pic>
      <p:sp>
        <p:nvSpPr>
          <p:cNvPr id="3" name="text-536"/>
          <p:cNvSpPr txBox="1"/>
          <p:nvPr/>
        </p:nvSpPr>
        <p:spPr>
          <a:xfrm>
            <a:off x="548640" y="3794760"/>
            <a:ext cx="6464808" cy="228600"/>
          </a:xfrm>
          <a:prstGeom prst="rect">
            <a:avLst/>
          </a:prstGeom>
          <a:noFill/>
          <a:ln/>
        </p:spPr>
        <p:txBody>
          <a:bodyPr wrap="square" lIns="0" tIns="0" rIns="0" bIns="0" rtlCol="0" anchor="t"/>
          <a:lstStyle/>
          <a:p>
            <a:pPr indent="0" marL="0">
              <a:buNone/>
            </a:pPr>
            <a:r>
              <a:rPr lang="en-US" sz="850" i="1" dirty="0">
                <a:solidFill>
                  <a:schemeClr val="tx2"/>
                </a:solidFill>
              </a:rPr>
              <a:t>The western eco-homes at dusk, with the Ice-Proof Wind Farm and the air base behind.</a:t>
            </a:r>
            <a:endParaRPr lang="en-US" sz="850" dirty="0"/>
          </a:p>
        </p:txBody>
      </p:sp>
      <p:sp>
        <p:nvSpPr>
          <p:cNvPr id="4" name="kicker-dot-537"/>
          <p:cNvSpPr/>
          <p:nvPr/>
        </p:nvSpPr>
        <p:spPr>
          <a:xfrm>
            <a:off x="548640" y="4201668"/>
            <a:ext cx="100584" cy="100584"/>
          </a:xfrm>
          <a:prstGeom prst="ellipse">
            <a:avLst/>
          </a:prstGeom>
          <a:solidFill>
            <a:schemeClr val="accent6"/>
          </a:solidFill>
          <a:ln w="12700">
            <a:solidFill>
              <a:schemeClr val="accent6"/>
            </a:solidFill>
            <a:prstDash val="solid"/>
          </a:ln>
        </p:spPr>
      </p:sp>
      <p:sp>
        <p:nvSpPr>
          <p:cNvPr id="5" name="text-538"/>
          <p:cNvSpPr txBox="1"/>
          <p:nvPr/>
        </p:nvSpPr>
        <p:spPr>
          <a:xfrm>
            <a:off x="731520" y="4160520"/>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HOUSING</a:t>
            </a:r>
            <a:endParaRPr lang="en-US" sz="900" dirty="0"/>
          </a:p>
        </p:txBody>
      </p:sp>
      <p:sp>
        <p:nvSpPr>
          <p:cNvPr id="6" name="title-539"/>
          <p:cNvSpPr txBox="1"/>
          <p:nvPr/>
        </p:nvSpPr>
        <p:spPr>
          <a:xfrm>
            <a:off x="548640" y="4407408"/>
            <a:ext cx="6464808" cy="640080"/>
          </a:xfrm>
          <a:prstGeom prst="rect">
            <a:avLst/>
          </a:prstGeom>
          <a:noFill/>
          <a:ln/>
        </p:spPr>
        <p:txBody>
          <a:bodyPr wrap="square" lIns="0" tIns="0" rIns="0" bIns="0" rtlCol="0" anchor="t"/>
          <a:lstStyle/>
          <a:p>
            <a:pPr indent="0" marL="0">
              <a:lnSpc>
                <a:spcPct val="92000"/>
              </a:lnSpc>
              <a:buNone/>
            </a:pPr>
            <a:r>
              <a:rPr lang="en-US" sz="3600" b="1" dirty="0">
                <a:solidFill>
                  <a:schemeClr val="tx1"/>
                </a:solidFill>
                <a:latin typeface="+mj-lt" pitchFamily="34" charset="0"/>
                <a:ea typeface="+mj-lt" pitchFamily="34" charset="-122"/>
                <a:cs typeface="+mj-lt" pitchFamily="34" charset="-120"/>
              </a:rPr>
              <a:t>Homes for the Polar Night</a:t>
            </a:r>
            <a:endParaRPr lang="en-US" sz="3600" dirty="0"/>
          </a:p>
        </p:txBody>
      </p:sp>
      <p:sp>
        <p:nvSpPr>
          <p:cNvPr id="7" name="text-541"/>
          <p:cNvSpPr txBox="1"/>
          <p:nvPr/>
        </p:nvSpPr>
        <p:spPr>
          <a:xfrm>
            <a:off x="548640" y="5074920"/>
            <a:ext cx="6464808" cy="548640"/>
          </a:xfrm>
          <a:prstGeom prst="rect">
            <a:avLst/>
          </a:prstGeom>
          <a:noFill/>
          <a:ln/>
        </p:spPr>
        <p:txBody>
          <a:bodyPr wrap="square" lIns="0" tIns="0" rIns="0" bIns="0" rtlCol="0" anchor="t"/>
          <a:lstStyle/>
          <a:p>
            <a:pPr indent="0" marL="0">
              <a:lnSpc>
                <a:spcPct val="110000"/>
              </a:lnSpc>
              <a:buNone/>
            </a:pPr>
            <a:r>
              <a:rPr lang="en-US" sz="1250" i="1" dirty="0">
                <a:solidFill>
                  <a:schemeClr val="tx2"/>
                </a:solidFill>
                <a:latin typeface="+mj-lt" pitchFamily="34" charset="0"/>
                <a:ea typeface="+mj-lt" pitchFamily="34" charset="-122"/>
                <a:cs typeface="+mj-lt" pitchFamily="34" charset="-120"/>
              </a:rPr>
              <a:t>From passive eco-homes to towers with sky gardens, every home is built to stay warm, bright and safe at −45 °C, without thawing the ground beneath it.</a:t>
            </a:r>
            <a:endParaRPr lang="en-US" sz="1250" dirty="0"/>
          </a:p>
        </p:txBody>
      </p:sp>
      <p:sp>
        <p:nvSpPr>
          <p:cNvPr id="8" name="text-542"/>
          <p:cNvSpPr txBox="1"/>
          <p:nvPr/>
        </p:nvSpPr>
        <p:spPr>
          <a:xfrm>
            <a:off x="548640" y="5760720"/>
            <a:ext cx="6464808" cy="201168"/>
          </a:xfrm>
          <a:prstGeom prst="rect">
            <a:avLst/>
          </a:prstGeom>
          <a:noFill/>
          <a:ln/>
        </p:spPr>
        <p:txBody>
          <a:bodyPr wrap="square" lIns="0" tIns="0" rIns="0" bIns="0" rtlCol="0" anchor="t"/>
          <a:lstStyle/>
          <a:p>
            <a:pPr indent="0" marL="0">
              <a:buNone/>
            </a:pPr>
            <a:r>
              <a:rPr lang="en-US" sz="900" b="1" spc="300" kern="0" dirty="0">
                <a:solidFill>
                  <a:schemeClr val="tx2"/>
                </a:solidFill>
              </a:rPr>
              <a:t>HOW A HOME BEATS THE COLD</a:t>
            </a:r>
            <a:endParaRPr lang="en-US" sz="900" dirty="0"/>
          </a:p>
        </p:txBody>
      </p:sp>
      <p:sp>
        <p:nvSpPr>
          <p:cNvPr id="9" name="card-543"/>
          <p:cNvSpPr/>
          <p:nvPr/>
        </p:nvSpPr>
        <p:spPr>
          <a:xfrm>
            <a:off x="548640" y="6035040"/>
            <a:ext cx="2063496" cy="1069848"/>
          </a:xfrm>
          <a:prstGeom prst="roundRect">
            <a:avLst>
              <a:gd name="adj" fmla="val 6838"/>
            </a:avLst>
          </a:prstGeom>
          <a:solidFill>
            <a:schemeClr val="bg2"/>
          </a:solidFill>
          <a:ln w="12700">
            <a:solidFill>
              <a:schemeClr val="bg2"/>
            </a:solidFill>
            <a:prstDash val="solid"/>
          </a:ln>
        </p:spPr>
      </p:sp>
      <p:sp>
        <p:nvSpPr>
          <p:cNvPr id="10" name="text-544"/>
          <p:cNvSpPr txBox="1"/>
          <p:nvPr/>
        </p:nvSpPr>
        <p:spPr>
          <a:xfrm>
            <a:off x="658368" y="6126480"/>
            <a:ext cx="1844040" cy="219456"/>
          </a:xfrm>
          <a:prstGeom prst="rect">
            <a:avLst/>
          </a:prstGeom>
          <a:noFill/>
          <a:ln/>
        </p:spPr>
        <p:txBody>
          <a:bodyPr wrap="square" lIns="0" tIns="0" rIns="0" bIns="0" rtlCol="0" anchor="t"/>
          <a:lstStyle/>
          <a:p>
            <a:pPr indent="0" marL="0">
              <a:buNone/>
            </a:pPr>
            <a:r>
              <a:rPr lang="en-US" sz="1000" b="1" dirty="0">
                <a:solidFill>
                  <a:schemeClr val="accent6"/>
                </a:solidFill>
              </a:rPr>
              <a:t>Insulated piles</a:t>
            </a:r>
            <a:endParaRPr lang="en-US" sz="1000" dirty="0"/>
          </a:p>
        </p:txBody>
      </p:sp>
      <p:sp>
        <p:nvSpPr>
          <p:cNvPr id="11" name="text-545"/>
          <p:cNvSpPr txBox="1"/>
          <p:nvPr/>
        </p:nvSpPr>
        <p:spPr>
          <a:xfrm>
            <a:off x="658368" y="6373368"/>
            <a:ext cx="1844040" cy="694944"/>
          </a:xfrm>
          <a:prstGeom prst="rect">
            <a:avLst/>
          </a:prstGeom>
          <a:noFill/>
          <a:ln/>
        </p:spPr>
        <p:txBody>
          <a:bodyPr wrap="square" lIns="0" tIns="0" rIns="0" bIns="0" rtlCol="0" anchor="t"/>
          <a:lstStyle/>
          <a:p>
            <a:pPr indent="0" marL="0">
              <a:lnSpc>
                <a:spcPct val="103000"/>
              </a:lnSpc>
              <a:buNone/>
            </a:pPr>
            <a:r>
              <a:rPr lang="en-US" sz="850" dirty="0">
                <a:solidFill>
                  <a:schemeClr val="tx1"/>
                </a:solidFill>
              </a:rPr>
              <a:t>Homes stand on insulated piles above a ventilated air gap, so their warmth never thaws the permafrost.</a:t>
            </a:r>
            <a:endParaRPr lang="en-US" sz="850" dirty="0"/>
          </a:p>
        </p:txBody>
      </p:sp>
      <p:sp>
        <p:nvSpPr>
          <p:cNvPr id="12" name="card-546"/>
          <p:cNvSpPr/>
          <p:nvPr/>
        </p:nvSpPr>
        <p:spPr>
          <a:xfrm>
            <a:off x="2749296" y="6035040"/>
            <a:ext cx="2063496" cy="1069848"/>
          </a:xfrm>
          <a:prstGeom prst="roundRect">
            <a:avLst>
              <a:gd name="adj" fmla="val 6838"/>
            </a:avLst>
          </a:prstGeom>
          <a:solidFill>
            <a:schemeClr val="bg2"/>
          </a:solidFill>
          <a:ln w="12700">
            <a:solidFill>
              <a:schemeClr val="bg2"/>
            </a:solidFill>
            <a:prstDash val="solid"/>
          </a:ln>
        </p:spPr>
      </p:sp>
      <p:sp>
        <p:nvSpPr>
          <p:cNvPr id="13" name="text-547"/>
          <p:cNvSpPr txBox="1"/>
          <p:nvPr/>
        </p:nvSpPr>
        <p:spPr>
          <a:xfrm>
            <a:off x="2859024" y="6126480"/>
            <a:ext cx="1844040" cy="219456"/>
          </a:xfrm>
          <a:prstGeom prst="rect">
            <a:avLst/>
          </a:prstGeom>
          <a:noFill/>
          <a:ln/>
        </p:spPr>
        <p:txBody>
          <a:bodyPr wrap="square" lIns="0" tIns="0" rIns="0" bIns="0" rtlCol="0" anchor="t"/>
          <a:lstStyle/>
          <a:p>
            <a:pPr indent="0" marL="0">
              <a:buNone/>
            </a:pPr>
            <a:r>
              <a:rPr lang="en-US" sz="1000" b="1" dirty="0">
                <a:solidFill>
                  <a:schemeClr val="accent6"/>
                </a:solidFill>
              </a:rPr>
              <a:t>Passive-house shell</a:t>
            </a:r>
            <a:endParaRPr lang="en-US" sz="1000" dirty="0"/>
          </a:p>
        </p:txBody>
      </p:sp>
      <p:sp>
        <p:nvSpPr>
          <p:cNvPr id="14" name="text-548"/>
          <p:cNvSpPr txBox="1"/>
          <p:nvPr/>
        </p:nvSpPr>
        <p:spPr>
          <a:xfrm>
            <a:off x="2859024" y="6373368"/>
            <a:ext cx="1844040" cy="694944"/>
          </a:xfrm>
          <a:prstGeom prst="rect">
            <a:avLst/>
          </a:prstGeom>
          <a:noFill/>
          <a:ln/>
        </p:spPr>
        <p:txBody>
          <a:bodyPr wrap="square" lIns="0" tIns="0" rIns="0" bIns="0" rtlCol="0" anchor="t"/>
          <a:lstStyle/>
          <a:p>
            <a:pPr indent="0" marL="0">
              <a:lnSpc>
                <a:spcPct val="103000"/>
              </a:lnSpc>
              <a:buNone/>
            </a:pPr>
            <a:r>
              <a:rPr lang="en-US" sz="850" dirty="0">
                <a:solidFill>
                  <a:schemeClr val="tx1"/>
                </a:solidFill>
              </a:rPr>
              <a:t>Thick walls, triple glazing and an airtight shell: an eco-home needs about 80% less heat than an ordinary house.</a:t>
            </a:r>
            <a:endParaRPr lang="en-US" sz="850" dirty="0"/>
          </a:p>
        </p:txBody>
      </p:sp>
      <p:sp>
        <p:nvSpPr>
          <p:cNvPr id="15" name="card-549"/>
          <p:cNvSpPr/>
          <p:nvPr/>
        </p:nvSpPr>
        <p:spPr>
          <a:xfrm>
            <a:off x="4949952" y="6035040"/>
            <a:ext cx="2063496" cy="1069848"/>
          </a:xfrm>
          <a:prstGeom prst="roundRect">
            <a:avLst>
              <a:gd name="adj" fmla="val 6838"/>
            </a:avLst>
          </a:prstGeom>
          <a:solidFill>
            <a:schemeClr val="bg2"/>
          </a:solidFill>
          <a:ln w="12700">
            <a:solidFill>
              <a:schemeClr val="bg2"/>
            </a:solidFill>
            <a:prstDash val="solid"/>
          </a:ln>
        </p:spPr>
      </p:sp>
      <p:sp>
        <p:nvSpPr>
          <p:cNvPr id="16" name="text-550"/>
          <p:cNvSpPr txBox="1"/>
          <p:nvPr/>
        </p:nvSpPr>
        <p:spPr>
          <a:xfrm>
            <a:off x="5059680" y="6126480"/>
            <a:ext cx="1844040" cy="219456"/>
          </a:xfrm>
          <a:prstGeom prst="rect">
            <a:avLst/>
          </a:prstGeom>
          <a:noFill/>
          <a:ln/>
        </p:spPr>
        <p:txBody>
          <a:bodyPr wrap="square" lIns="0" tIns="0" rIns="0" bIns="0" rtlCol="0" anchor="t"/>
          <a:lstStyle/>
          <a:p>
            <a:pPr indent="0" marL="0">
              <a:buNone/>
            </a:pPr>
            <a:r>
              <a:rPr lang="en-US" sz="1000" b="1" dirty="0">
                <a:solidFill>
                  <a:schemeClr val="accent6"/>
                </a:solidFill>
              </a:rPr>
              <a:t>Heat-recovery air</a:t>
            </a:r>
            <a:endParaRPr lang="en-US" sz="1000" dirty="0"/>
          </a:p>
        </p:txBody>
      </p:sp>
      <p:sp>
        <p:nvSpPr>
          <p:cNvPr id="17" name="text-551"/>
          <p:cNvSpPr txBox="1"/>
          <p:nvPr/>
        </p:nvSpPr>
        <p:spPr>
          <a:xfrm>
            <a:off x="5059680" y="6373368"/>
            <a:ext cx="1844040" cy="694944"/>
          </a:xfrm>
          <a:prstGeom prst="rect">
            <a:avLst/>
          </a:prstGeom>
          <a:noFill/>
          <a:ln/>
        </p:spPr>
        <p:txBody>
          <a:bodyPr wrap="square" lIns="0" tIns="0" rIns="0" bIns="0" rtlCol="0" anchor="t"/>
          <a:lstStyle/>
          <a:p>
            <a:pPr indent="0" marL="0">
              <a:lnSpc>
                <a:spcPct val="103000"/>
              </a:lnSpc>
              <a:buNone/>
            </a:pPr>
            <a:r>
              <a:rPr lang="en-US" sz="850" dirty="0">
                <a:solidFill>
                  <a:schemeClr val="tx1"/>
                </a:solidFill>
              </a:rPr>
              <a:t>Fresh air is warmed by the stale air going out, saving about 80% of the heat that would escape.</a:t>
            </a:r>
            <a:endParaRPr lang="en-US" sz="850" dirty="0"/>
          </a:p>
        </p:txBody>
      </p:sp>
      <p:sp>
        <p:nvSpPr>
          <p:cNvPr id="18" name="card-552"/>
          <p:cNvSpPr/>
          <p:nvPr/>
        </p:nvSpPr>
        <p:spPr>
          <a:xfrm>
            <a:off x="548640" y="7196328"/>
            <a:ext cx="2063496" cy="1069848"/>
          </a:xfrm>
          <a:prstGeom prst="roundRect">
            <a:avLst>
              <a:gd name="adj" fmla="val 6838"/>
            </a:avLst>
          </a:prstGeom>
          <a:solidFill>
            <a:schemeClr val="bg2"/>
          </a:solidFill>
          <a:ln w="12700">
            <a:solidFill>
              <a:schemeClr val="bg2"/>
            </a:solidFill>
            <a:prstDash val="solid"/>
          </a:ln>
        </p:spPr>
      </p:sp>
      <p:sp>
        <p:nvSpPr>
          <p:cNvPr id="19" name="text-553"/>
          <p:cNvSpPr txBox="1"/>
          <p:nvPr/>
        </p:nvSpPr>
        <p:spPr>
          <a:xfrm>
            <a:off x="658368" y="7287768"/>
            <a:ext cx="1844040" cy="219456"/>
          </a:xfrm>
          <a:prstGeom prst="rect">
            <a:avLst/>
          </a:prstGeom>
          <a:noFill/>
          <a:ln/>
        </p:spPr>
        <p:txBody>
          <a:bodyPr wrap="square" lIns="0" tIns="0" rIns="0" bIns="0" rtlCol="0" anchor="t"/>
          <a:lstStyle/>
          <a:p>
            <a:pPr indent="0" marL="0">
              <a:buNone/>
            </a:pPr>
            <a:r>
              <a:rPr lang="en-US" sz="1000" b="1" dirty="0">
                <a:solidFill>
                  <a:schemeClr val="accent6"/>
                </a:solidFill>
              </a:rPr>
              <a:t>Winter-garden balconies</a:t>
            </a:r>
            <a:endParaRPr lang="en-US" sz="1000" dirty="0"/>
          </a:p>
        </p:txBody>
      </p:sp>
      <p:sp>
        <p:nvSpPr>
          <p:cNvPr id="20" name="text-554"/>
          <p:cNvSpPr txBox="1"/>
          <p:nvPr/>
        </p:nvSpPr>
        <p:spPr>
          <a:xfrm>
            <a:off x="658368" y="7534656"/>
            <a:ext cx="1844040" cy="694944"/>
          </a:xfrm>
          <a:prstGeom prst="rect">
            <a:avLst/>
          </a:prstGeom>
          <a:noFill/>
          <a:ln/>
        </p:spPr>
        <p:txBody>
          <a:bodyPr wrap="square" lIns="0" tIns="0" rIns="0" bIns="0" rtlCol="0" anchor="t"/>
          <a:lstStyle/>
          <a:p>
            <a:pPr indent="0" marL="0">
              <a:lnSpc>
                <a:spcPct val="103000"/>
              </a:lnSpc>
              <a:buNone/>
            </a:pPr>
            <a:r>
              <a:rPr lang="en-US" sz="850" dirty="0">
                <a:solidFill>
                  <a:schemeClr val="tx1"/>
                </a:solidFill>
              </a:rPr>
              <a:t>Glass-enclosed balconies stay usable at −45 °C and act as a warm buffer for the wall behind.</a:t>
            </a:r>
            <a:endParaRPr lang="en-US" sz="850" dirty="0"/>
          </a:p>
        </p:txBody>
      </p:sp>
      <p:sp>
        <p:nvSpPr>
          <p:cNvPr id="21" name="card-555"/>
          <p:cNvSpPr/>
          <p:nvPr/>
        </p:nvSpPr>
        <p:spPr>
          <a:xfrm>
            <a:off x="2749296" y="7196328"/>
            <a:ext cx="2063496" cy="1069848"/>
          </a:xfrm>
          <a:prstGeom prst="roundRect">
            <a:avLst>
              <a:gd name="adj" fmla="val 6838"/>
            </a:avLst>
          </a:prstGeom>
          <a:solidFill>
            <a:schemeClr val="bg2"/>
          </a:solidFill>
          <a:ln w="12700">
            <a:solidFill>
              <a:schemeClr val="bg2"/>
            </a:solidFill>
            <a:prstDash val="solid"/>
          </a:ln>
        </p:spPr>
      </p:sp>
      <p:sp>
        <p:nvSpPr>
          <p:cNvPr id="22" name="text-556"/>
          <p:cNvSpPr txBox="1"/>
          <p:nvPr/>
        </p:nvSpPr>
        <p:spPr>
          <a:xfrm>
            <a:off x="2859024" y="7287768"/>
            <a:ext cx="1844040" cy="219456"/>
          </a:xfrm>
          <a:prstGeom prst="rect">
            <a:avLst/>
          </a:prstGeom>
          <a:noFill/>
          <a:ln/>
        </p:spPr>
        <p:txBody>
          <a:bodyPr wrap="square" lIns="0" tIns="0" rIns="0" bIns="0" rtlCol="0" anchor="t"/>
          <a:lstStyle/>
          <a:p>
            <a:pPr indent="0" marL="0">
              <a:buNone/>
            </a:pPr>
            <a:r>
              <a:rPr lang="en-US" sz="1000" b="1" dirty="0">
                <a:solidFill>
                  <a:schemeClr val="accent6"/>
                </a:solidFill>
              </a:rPr>
              <a:t>Snow-shedding roofs</a:t>
            </a:r>
            <a:endParaRPr lang="en-US" sz="1000" dirty="0"/>
          </a:p>
        </p:txBody>
      </p:sp>
      <p:sp>
        <p:nvSpPr>
          <p:cNvPr id="23" name="text-557"/>
          <p:cNvSpPr txBox="1"/>
          <p:nvPr/>
        </p:nvSpPr>
        <p:spPr>
          <a:xfrm>
            <a:off x="2859024" y="7534656"/>
            <a:ext cx="1844040" cy="694944"/>
          </a:xfrm>
          <a:prstGeom prst="rect">
            <a:avLst/>
          </a:prstGeom>
          <a:noFill/>
          <a:ln/>
        </p:spPr>
        <p:txBody>
          <a:bodyPr wrap="square" lIns="0" tIns="0" rIns="0" bIns="0" rtlCol="0" anchor="t"/>
          <a:lstStyle/>
          <a:p>
            <a:pPr indent="0" marL="0">
              <a:lnSpc>
                <a:spcPct val="103000"/>
              </a:lnSpc>
              <a:buNone/>
            </a:pPr>
            <a:r>
              <a:rPr lang="en-US" sz="850" dirty="0">
                <a:solidFill>
                  <a:schemeClr val="tx1"/>
                </a:solidFill>
              </a:rPr>
              <a:t>Steep, smooth roofs shed heavy snow by themselves, so they never overload or need shovelling.</a:t>
            </a:r>
            <a:endParaRPr lang="en-US" sz="850" dirty="0"/>
          </a:p>
        </p:txBody>
      </p:sp>
      <p:sp>
        <p:nvSpPr>
          <p:cNvPr id="24" name="card-558"/>
          <p:cNvSpPr/>
          <p:nvPr/>
        </p:nvSpPr>
        <p:spPr>
          <a:xfrm>
            <a:off x="4949952" y="7196328"/>
            <a:ext cx="2063496" cy="1069848"/>
          </a:xfrm>
          <a:prstGeom prst="roundRect">
            <a:avLst>
              <a:gd name="adj" fmla="val 6838"/>
            </a:avLst>
          </a:prstGeom>
          <a:solidFill>
            <a:schemeClr val="bg2"/>
          </a:solidFill>
          <a:ln w="12700">
            <a:solidFill>
              <a:schemeClr val="bg2"/>
            </a:solidFill>
            <a:prstDash val="solid"/>
          </a:ln>
        </p:spPr>
      </p:sp>
      <p:sp>
        <p:nvSpPr>
          <p:cNvPr id="25" name="text-559"/>
          <p:cNvSpPr txBox="1"/>
          <p:nvPr/>
        </p:nvSpPr>
        <p:spPr>
          <a:xfrm>
            <a:off x="5059680" y="7287768"/>
            <a:ext cx="1844040" cy="219456"/>
          </a:xfrm>
          <a:prstGeom prst="rect">
            <a:avLst/>
          </a:prstGeom>
          <a:noFill/>
          <a:ln/>
        </p:spPr>
        <p:txBody>
          <a:bodyPr wrap="square" lIns="0" tIns="0" rIns="0" bIns="0" rtlCol="0" anchor="t"/>
          <a:lstStyle/>
          <a:p>
            <a:pPr indent="0" marL="0">
              <a:buNone/>
            </a:pPr>
            <a:r>
              <a:rPr lang="en-US" sz="1000" b="1" dirty="0">
                <a:solidFill>
                  <a:schemeClr val="accent6"/>
                </a:solidFill>
              </a:rPr>
              <a:t>Light in the dark</a:t>
            </a:r>
            <a:endParaRPr lang="en-US" sz="1000" dirty="0"/>
          </a:p>
        </p:txBody>
      </p:sp>
      <p:sp>
        <p:nvSpPr>
          <p:cNvPr id="26" name="text-560"/>
          <p:cNvSpPr txBox="1"/>
          <p:nvPr/>
        </p:nvSpPr>
        <p:spPr>
          <a:xfrm>
            <a:off x="5059680" y="7534656"/>
            <a:ext cx="1844040" cy="694944"/>
          </a:xfrm>
          <a:prstGeom prst="rect">
            <a:avLst/>
          </a:prstGeom>
          <a:noFill/>
          <a:ln/>
        </p:spPr>
        <p:txBody>
          <a:bodyPr wrap="square" lIns="0" tIns="0" rIns="0" bIns="0" rtlCol="0" anchor="t"/>
          <a:lstStyle/>
          <a:p>
            <a:pPr indent="0" marL="0">
              <a:lnSpc>
                <a:spcPct val="103000"/>
              </a:lnSpc>
              <a:buNone/>
            </a:pPr>
            <a:r>
              <a:rPr lang="en-US" sz="850" dirty="0">
                <a:solidFill>
                  <a:schemeClr val="tx1"/>
                </a:solidFill>
              </a:rPr>
              <a:t>Light tubes bring daylight deep inside, and dawn-simulating lamps wake families in the polar night.</a:t>
            </a:r>
            <a:endParaRPr lang="en-US" sz="850" dirty="0"/>
          </a:p>
        </p:txBody>
      </p:sp>
      <p:sp>
        <p:nvSpPr>
          <p:cNvPr id="27" name="text-561"/>
          <p:cNvSpPr txBox="1"/>
          <p:nvPr/>
        </p:nvSpPr>
        <p:spPr>
          <a:xfrm>
            <a:off x="548640" y="8412480"/>
            <a:ext cx="6464808" cy="201168"/>
          </a:xfrm>
          <a:prstGeom prst="rect">
            <a:avLst/>
          </a:prstGeom>
          <a:noFill/>
          <a:ln/>
        </p:spPr>
        <p:txBody>
          <a:bodyPr wrap="square" lIns="0" tIns="0" rIns="0" bIns="0" rtlCol="0" anchor="t"/>
          <a:lstStyle/>
          <a:p>
            <a:pPr indent="0" marL="0">
              <a:buNone/>
            </a:pPr>
            <a:r>
              <a:rPr lang="en-US" sz="900" b="1" spc="300" kern="0" dirty="0">
                <a:solidFill>
                  <a:schemeClr val="tx2"/>
                </a:solidFill>
              </a:rPr>
              <a:t>A HOME FOR EVERYONE</a:t>
            </a:r>
            <a:endParaRPr lang="en-US" sz="900" dirty="0"/>
          </a:p>
        </p:txBody>
      </p:sp>
      <p:sp>
        <p:nvSpPr>
          <p:cNvPr id="28" name="text-562"/>
          <p:cNvSpPr txBox="1"/>
          <p:nvPr/>
        </p:nvSpPr>
        <p:spPr>
          <a:xfrm>
            <a:off x="548640" y="8641080"/>
            <a:ext cx="1183234" cy="327152"/>
          </a:xfrm>
          <a:prstGeom prst="rect">
            <a:avLst/>
          </a:prstGeom>
          <a:noFill/>
          <a:ln/>
        </p:spPr>
        <p:txBody>
          <a:bodyPr wrap="square" lIns="0" tIns="0" rIns="0" bIns="0" rtlCol="0" anchor="b"/>
          <a:lstStyle/>
          <a:p>
            <a:pPr indent="0" marL="0">
              <a:buNone/>
            </a:pPr>
            <a:r>
              <a:rPr lang="en-US" sz="2000" b="1" dirty="0">
                <a:solidFill>
                  <a:schemeClr val="accent6"/>
                </a:solidFill>
                <a:latin typeface="+mj-lt" pitchFamily="34" charset="0"/>
                <a:ea typeface="+mj-lt" pitchFamily="34" charset="-122"/>
                <a:cs typeface="+mj-lt" pitchFamily="34" charset="-120"/>
              </a:rPr>
              <a:t>600</a:t>
            </a:r>
            <a:endParaRPr lang="en-US" sz="2000" dirty="0"/>
          </a:p>
        </p:txBody>
      </p:sp>
      <p:sp>
        <p:nvSpPr>
          <p:cNvPr id="29" name="text-563"/>
          <p:cNvSpPr txBox="1"/>
          <p:nvPr/>
        </p:nvSpPr>
        <p:spPr>
          <a:xfrm>
            <a:off x="548640" y="8995664"/>
            <a:ext cx="1183234" cy="502920"/>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apartments in the Aurora 81 Residences</a:t>
            </a:r>
            <a:endParaRPr lang="en-US" sz="850" dirty="0"/>
          </a:p>
        </p:txBody>
      </p:sp>
      <p:sp>
        <p:nvSpPr>
          <p:cNvPr id="30" name="text-564"/>
          <p:cNvSpPr txBox="1"/>
          <p:nvPr/>
        </p:nvSpPr>
        <p:spPr>
          <a:xfrm>
            <a:off x="1841602" y="8641080"/>
            <a:ext cx="1183234" cy="327152"/>
          </a:xfrm>
          <a:prstGeom prst="rect">
            <a:avLst/>
          </a:prstGeom>
          <a:noFill/>
          <a:ln/>
        </p:spPr>
        <p:txBody>
          <a:bodyPr wrap="square" lIns="0" tIns="0" rIns="0" bIns="0" rtlCol="0" anchor="b"/>
          <a:lstStyle/>
          <a:p>
            <a:pPr indent="0" marL="0">
              <a:buNone/>
            </a:pPr>
            <a:r>
              <a:rPr lang="en-US" sz="2000" b="1" dirty="0">
                <a:solidFill>
                  <a:schemeClr val="accent6"/>
                </a:solidFill>
                <a:latin typeface="+mj-lt" pitchFamily="34" charset="0"/>
                <a:ea typeface="+mj-lt" pitchFamily="34" charset="-122"/>
                <a:cs typeface="+mj-lt" pitchFamily="34" charset="-120"/>
              </a:rPr>
              <a:t>350</a:t>
            </a:r>
            <a:endParaRPr lang="en-US" sz="2000" dirty="0"/>
          </a:p>
        </p:txBody>
      </p:sp>
      <p:sp>
        <p:nvSpPr>
          <p:cNvPr id="31" name="text-565"/>
          <p:cNvSpPr txBox="1"/>
          <p:nvPr/>
        </p:nvSpPr>
        <p:spPr>
          <a:xfrm>
            <a:off x="1841602" y="8995664"/>
            <a:ext cx="1183234" cy="502920"/>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apartments in Ice Crystal Apartments</a:t>
            </a:r>
            <a:endParaRPr lang="en-US" sz="850" dirty="0"/>
          </a:p>
        </p:txBody>
      </p:sp>
      <p:sp>
        <p:nvSpPr>
          <p:cNvPr id="32" name="text-566"/>
          <p:cNvSpPr txBox="1"/>
          <p:nvPr/>
        </p:nvSpPr>
        <p:spPr>
          <a:xfrm>
            <a:off x="3134563" y="8641080"/>
            <a:ext cx="1183234" cy="327152"/>
          </a:xfrm>
          <a:prstGeom prst="rect">
            <a:avLst/>
          </a:prstGeom>
          <a:noFill/>
          <a:ln/>
        </p:spPr>
        <p:txBody>
          <a:bodyPr wrap="square" lIns="0" tIns="0" rIns="0" bIns="0" rtlCol="0" anchor="b"/>
          <a:lstStyle/>
          <a:p>
            <a:pPr indent="0" marL="0">
              <a:buNone/>
            </a:pPr>
            <a:r>
              <a:rPr lang="en-US" sz="2000" b="1" dirty="0">
                <a:solidFill>
                  <a:schemeClr val="accent6"/>
                </a:solidFill>
                <a:latin typeface="+mj-lt" pitchFamily="34" charset="0"/>
                <a:ea typeface="+mj-lt" pitchFamily="34" charset="-122"/>
                <a:cs typeface="+mj-lt" pitchFamily="34" charset="-120"/>
              </a:rPr>
              <a:t>150</a:t>
            </a:r>
            <a:endParaRPr lang="en-US" sz="2000" dirty="0"/>
          </a:p>
        </p:txBody>
      </p:sp>
      <p:sp>
        <p:nvSpPr>
          <p:cNvPr id="33" name="text-567"/>
          <p:cNvSpPr txBox="1"/>
          <p:nvPr/>
        </p:nvSpPr>
        <p:spPr>
          <a:xfrm>
            <a:off x="3134563" y="8995664"/>
            <a:ext cx="1183234" cy="502920"/>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older residents in Golden Aurora Senior Residences</a:t>
            </a:r>
            <a:endParaRPr lang="en-US" sz="850" dirty="0"/>
          </a:p>
        </p:txBody>
      </p:sp>
      <p:sp>
        <p:nvSpPr>
          <p:cNvPr id="34" name="text-568"/>
          <p:cNvSpPr txBox="1"/>
          <p:nvPr/>
        </p:nvSpPr>
        <p:spPr>
          <a:xfrm>
            <a:off x="4427525" y="8641080"/>
            <a:ext cx="1183234" cy="327152"/>
          </a:xfrm>
          <a:prstGeom prst="rect">
            <a:avLst/>
          </a:prstGeom>
          <a:noFill/>
          <a:ln/>
        </p:spPr>
        <p:txBody>
          <a:bodyPr wrap="square" lIns="0" tIns="0" rIns="0" bIns="0" rtlCol="0" anchor="b"/>
          <a:lstStyle/>
          <a:p>
            <a:pPr indent="0" marL="0">
              <a:buNone/>
            </a:pPr>
            <a:r>
              <a:rPr lang="en-US" sz="2000" b="1" dirty="0">
                <a:solidFill>
                  <a:schemeClr val="accent6"/>
                </a:solidFill>
                <a:latin typeface="+mj-lt" pitchFamily="34" charset="0"/>
                <a:ea typeface="+mj-lt" pitchFamily="34" charset="-122"/>
                <a:cs typeface="+mj-lt" pitchFamily="34" charset="-120"/>
              </a:rPr>
              <a:t>120</a:t>
            </a:r>
            <a:endParaRPr lang="en-US" sz="2000" dirty="0"/>
          </a:p>
        </p:txBody>
      </p:sp>
      <p:sp>
        <p:nvSpPr>
          <p:cNvPr id="35" name="text-569"/>
          <p:cNvSpPr txBox="1"/>
          <p:nvPr/>
        </p:nvSpPr>
        <p:spPr>
          <a:xfrm>
            <a:off x="4427525" y="8995664"/>
            <a:ext cx="1183234" cy="502920"/>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rooms in the Student Residence Hall</a:t>
            </a:r>
            <a:endParaRPr lang="en-US" sz="850" dirty="0"/>
          </a:p>
        </p:txBody>
      </p:sp>
      <p:sp>
        <p:nvSpPr>
          <p:cNvPr id="36" name="text-570"/>
          <p:cNvSpPr txBox="1"/>
          <p:nvPr/>
        </p:nvSpPr>
        <p:spPr>
          <a:xfrm>
            <a:off x="5720486" y="8641080"/>
            <a:ext cx="1183234" cy="327152"/>
          </a:xfrm>
          <a:prstGeom prst="rect">
            <a:avLst/>
          </a:prstGeom>
          <a:noFill/>
          <a:ln/>
        </p:spPr>
        <p:txBody>
          <a:bodyPr wrap="square" lIns="0" tIns="0" rIns="0" bIns="0" rtlCol="0" anchor="b"/>
          <a:lstStyle/>
          <a:p>
            <a:pPr indent="0" marL="0">
              <a:buNone/>
            </a:pPr>
            <a:r>
              <a:rPr lang="en-US" sz="2000" b="1" dirty="0">
                <a:solidFill>
                  <a:schemeClr val="accent6"/>
                </a:solidFill>
                <a:latin typeface="+mj-lt" pitchFamily="34" charset="0"/>
                <a:ea typeface="+mj-lt" pitchFamily="34" charset="-122"/>
                <a:cs typeface="+mj-lt" pitchFamily="34" charset="-120"/>
              </a:rPr>
              <a:t>12</a:t>
            </a:r>
            <a:endParaRPr lang="en-US" sz="2000" dirty="0"/>
          </a:p>
        </p:txBody>
      </p:sp>
      <p:sp>
        <p:nvSpPr>
          <p:cNvPr id="37" name="text-571"/>
          <p:cNvSpPr txBox="1"/>
          <p:nvPr/>
        </p:nvSpPr>
        <p:spPr>
          <a:xfrm>
            <a:off x="5720486" y="8995664"/>
            <a:ext cx="1183234" cy="502920"/>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residents in the Snowpine Senior Care Home</a:t>
            </a:r>
            <a:endParaRPr lang="en-US" sz="850" dirty="0"/>
          </a:p>
        </p:txBody>
      </p:sp>
      <p:sp>
        <p:nvSpPr>
          <p:cNvPr id="38" name="text-572"/>
          <p:cNvSpPr txBox="1"/>
          <p:nvPr/>
        </p:nvSpPr>
        <p:spPr>
          <a:xfrm>
            <a:off x="548640" y="9692640"/>
            <a:ext cx="6464808" cy="274320"/>
          </a:xfrm>
          <a:prstGeom prst="rect">
            <a:avLst/>
          </a:prstGeom>
          <a:noFill/>
          <a:ln/>
        </p:spPr>
        <p:txBody>
          <a:bodyPr wrap="square" lIns="0" tIns="0" rIns="0" bIns="0" rtlCol="0" anchor="t"/>
          <a:lstStyle/>
          <a:p>
            <a:pPr indent="0" marL="0">
              <a:buNone/>
            </a:pPr>
            <a:r>
              <a:rPr lang="en-US" sz="850" i="1" dirty="0">
                <a:solidFill>
                  <a:schemeClr val="tx2"/>
                </a:solidFill>
              </a:rPr>
              <a:t>Plus family houses in Snowpine Residences and the Frostline Co-Living Tower for newcomers, young workers and visiting researchers.</a:t>
            </a:r>
            <a:endParaRPr lang="en-US" sz="850" dirty="0"/>
          </a:p>
        </p:txBody>
      </p:sp>
      <p:sp>
        <p:nvSpPr>
          <p:cNvPr id="39" name="page-number"/>
          <p:cNvSpPr txBox="1"/>
          <p:nvPr/>
        </p:nvSpPr>
        <p:spPr>
          <a:xfrm>
            <a:off x="548640" y="10177272"/>
            <a:ext cx="411480" cy="219456"/>
          </a:xfrm>
          <a:prstGeom prst="rect">
            <a:avLst/>
          </a:prstGeom>
          <a:noFill/>
          <a:ln/>
        </p:spPr>
        <p:txBody>
          <a:bodyPr wrap="square" lIns="0" tIns="0" rIns="0" bIns="0" rtlCol="0" anchor="ctr"/>
          <a:lstStyle/>
          <a:p>
            <a:pPr algn="l" indent="0" marL="0">
              <a:buNone/>
            </a:pPr>
            <a:r>
              <a:rPr lang="en-US" sz="900" b="1" dirty="0">
                <a:solidFill>
                  <a:schemeClr val="tx1"/>
                </a:solidFill>
              </a:rPr>
              <a:t>24</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icker-dot-573"/>
          <p:cNvSpPr/>
          <p:nvPr/>
        </p:nvSpPr>
        <p:spPr>
          <a:xfrm>
            <a:off x="548640" y="544068"/>
            <a:ext cx="100584" cy="100584"/>
          </a:xfrm>
          <a:prstGeom prst="ellipse">
            <a:avLst/>
          </a:prstGeom>
          <a:solidFill>
            <a:schemeClr val="accent6"/>
          </a:solidFill>
          <a:ln w="12700">
            <a:solidFill>
              <a:schemeClr val="accent6"/>
            </a:solidFill>
            <a:prstDash val="solid"/>
          </a:ln>
        </p:spPr>
      </p:sp>
      <p:sp>
        <p:nvSpPr>
          <p:cNvPr id="3" name="text-574"/>
          <p:cNvSpPr txBox="1"/>
          <p:nvPr/>
        </p:nvSpPr>
        <p:spPr>
          <a:xfrm>
            <a:off x="731520" y="502920"/>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CLEAN ENERGY, DAY AND POLAR NIGHT</a:t>
            </a:r>
            <a:endParaRPr lang="en-US" sz="900" dirty="0"/>
          </a:p>
        </p:txBody>
      </p:sp>
      <p:sp>
        <p:nvSpPr>
          <p:cNvPr id="4" name="title-575"/>
          <p:cNvSpPr txBox="1"/>
          <p:nvPr/>
        </p:nvSpPr>
        <p:spPr>
          <a:xfrm>
            <a:off x="548640" y="758952"/>
            <a:ext cx="6464808" cy="685800"/>
          </a:xfrm>
          <a:prstGeom prst="rect">
            <a:avLst/>
          </a:prstGeom>
          <a:noFill/>
          <a:ln/>
        </p:spPr>
        <p:txBody>
          <a:bodyPr wrap="square" lIns="0" tIns="0" rIns="0" bIns="0" rtlCol="0" anchor="t"/>
          <a:lstStyle/>
          <a:p>
            <a:pPr indent="0" marL="0">
              <a:lnSpc>
                <a:spcPct val="92000"/>
              </a:lnSpc>
              <a:buNone/>
            </a:pPr>
            <a:r>
              <a:rPr lang="en-US" sz="3400" b="1" dirty="0">
                <a:solidFill>
                  <a:schemeClr val="tx1"/>
                </a:solidFill>
                <a:latin typeface="+mj-lt" pitchFamily="34" charset="0"/>
                <a:ea typeface="+mj-lt" pitchFamily="34" charset="-122"/>
                <a:cs typeface="+mj-lt" pitchFamily="34" charset="-120"/>
              </a:rPr>
              <a:t>Energy for the Polar Night</a:t>
            </a:r>
            <a:endParaRPr lang="en-US" sz="3400" dirty="0"/>
          </a:p>
        </p:txBody>
      </p:sp>
      <p:pic>
        <p:nvPicPr>
          <p:cNvPr id="5" name="picture-577" descr="/home/user/chatbox-bi-n-o/magazine/assets/renders/renewable.jpg">    </p:cNvPr>
          <p:cNvPicPr>
            <a:picLocks noChangeAspect="1"/>
          </p:cNvPicPr>
          <p:nvPr/>
        </p:nvPicPr>
        <p:blipFill>
          <a:blip r:embed="rId1"/>
          <a:srcRect l="0" r="0" t="0" b="0"/>
          <a:stretch/>
        </p:blipFill>
        <p:spPr>
          <a:xfrm>
            <a:off x="0" y="1508760"/>
            <a:ext cx="7562088" cy="4206240"/>
          </a:xfrm>
          <a:prstGeom prst="rect">
            <a:avLst/>
          </a:prstGeom>
        </p:spPr>
      </p:pic>
      <p:sp>
        <p:nvSpPr>
          <p:cNvPr id="6" name="text-578"/>
          <p:cNvSpPr txBox="1"/>
          <p:nvPr/>
        </p:nvSpPr>
        <p:spPr>
          <a:xfrm>
            <a:off x="548640" y="5760720"/>
            <a:ext cx="6464808" cy="228600"/>
          </a:xfrm>
          <a:prstGeom prst="rect">
            <a:avLst/>
          </a:prstGeom>
          <a:noFill/>
          <a:ln/>
        </p:spPr>
        <p:txBody>
          <a:bodyPr wrap="square" lIns="0" tIns="0" rIns="0" bIns="0" rtlCol="0" anchor="t"/>
          <a:lstStyle/>
          <a:p>
            <a:pPr indent="0" marL="0">
              <a:buNone/>
            </a:pPr>
            <a:r>
              <a:rPr lang="en-US" sz="850" i="1" dirty="0">
                <a:solidFill>
                  <a:schemeClr val="tx2"/>
                </a:solidFill>
              </a:rPr>
              <a:t>Northern Renewable Park in the low sun: the Ice-Proof Wind Farm behind the Bifacial Solar Farm.</a:t>
            </a:r>
            <a:endParaRPr lang="en-US" sz="850" dirty="0"/>
          </a:p>
        </p:txBody>
      </p:sp>
      <p:sp>
        <p:nvSpPr>
          <p:cNvPr id="7" name="text-579"/>
          <p:cNvSpPr txBox="1"/>
          <p:nvPr/>
        </p:nvSpPr>
        <p:spPr>
          <a:xfrm>
            <a:off x="548640" y="6053328"/>
            <a:ext cx="6464808" cy="411480"/>
          </a:xfrm>
          <a:prstGeom prst="rect">
            <a:avLst/>
          </a:prstGeom>
          <a:noFill/>
          <a:ln/>
        </p:spPr>
        <p:txBody>
          <a:bodyPr wrap="square" lIns="0" tIns="0" rIns="0" bIns="0" rtlCol="0" anchor="t"/>
          <a:lstStyle/>
          <a:p>
            <a:pPr indent="0" marL="0">
              <a:lnSpc>
                <a:spcPct val="110000"/>
              </a:lnSpc>
              <a:buNone/>
            </a:pPr>
            <a:r>
              <a:rPr lang="en-US" sz="1350" i="1" dirty="0">
                <a:solidFill>
                  <a:schemeClr val="tx2"/>
                </a:solidFill>
                <a:latin typeface="+mj-lt" pitchFamily="34" charset="0"/>
                <a:ea typeface="+mj-lt" pitchFamily="34" charset="-122"/>
                <a:cs typeface="+mj-lt" pitchFamily="34" charset="-120"/>
              </a:rPr>
              <a:t>Wind and sun start the city’s own sun. Once fusion is running, they step back and stand guard.</a:t>
            </a:r>
            <a:endParaRPr lang="en-US" sz="1350" dirty="0"/>
          </a:p>
        </p:txBody>
      </p:sp>
      <p:sp>
        <p:nvSpPr>
          <p:cNvPr id="8" name="card-580"/>
          <p:cNvSpPr/>
          <p:nvPr/>
        </p:nvSpPr>
        <p:spPr>
          <a:xfrm>
            <a:off x="548640" y="6629400"/>
            <a:ext cx="1972056" cy="3291840"/>
          </a:xfrm>
          <a:prstGeom prst="roundRect">
            <a:avLst>
              <a:gd name="adj" fmla="val 3709"/>
            </a:avLst>
          </a:prstGeom>
          <a:solidFill>
            <a:schemeClr val="bg2"/>
          </a:solidFill>
          <a:ln w="12700">
            <a:solidFill>
              <a:schemeClr val="bg2"/>
            </a:solidFill>
            <a:prstDash val="solid"/>
          </a:ln>
        </p:spPr>
      </p:sp>
      <p:sp>
        <p:nvSpPr>
          <p:cNvPr id="9" name="step-head-581"/>
          <p:cNvSpPr/>
          <p:nvPr/>
        </p:nvSpPr>
        <p:spPr>
          <a:xfrm>
            <a:off x="548640" y="6629400"/>
            <a:ext cx="1972056" cy="347472"/>
          </a:xfrm>
          <a:prstGeom prst="rect">
            <a:avLst/>
          </a:prstGeom>
          <a:solidFill>
            <a:schemeClr val="accent6"/>
          </a:solidFill>
          <a:ln w="12700">
            <a:solidFill>
              <a:schemeClr val="accent6"/>
            </a:solidFill>
            <a:prstDash val="solid"/>
          </a:ln>
        </p:spPr>
      </p:sp>
      <p:sp>
        <p:nvSpPr>
          <p:cNvPr id="10" name="text-582"/>
          <p:cNvSpPr txBox="1"/>
          <p:nvPr/>
        </p:nvSpPr>
        <p:spPr>
          <a:xfrm>
            <a:off x="676656" y="6629400"/>
            <a:ext cx="1716024" cy="347472"/>
          </a:xfrm>
          <a:prstGeom prst="rect">
            <a:avLst/>
          </a:prstGeom>
          <a:noFill/>
          <a:ln/>
        </p:spPr>
        <p:txBody>
          <a:bodyPr wrap="square" lIns="0" tIns="0" rIns="0" bIns="0" rtlCol="0" anchor="ctr"/>
          <a:lstStyle/>
          <a:p>
            <a:pPr indent="0" marL="0">
              <a:buNone/>
            </a:pPr>
            <a:r>
              <a:rPr lang="en-US" sz="950" b="1" spc="200" kern="0" dirty="0">
                <a:solidFill>
                  <a:schemeClr val="bg1"/>
                </a:solidFill>
              </a:rPr>
              <a:t>1 · START-UP</a:t>
            </a:r>
            <a:endParaRPr lang="en-US" sz="950" dirty="0"/>
          </a:p>
        </p:txBody>
      </p:sp>
      <p:sp>
        <p:nvSpPr>
          <p:cNvPr id="11" name="text-583"/>
          <p:cNvSpPr txBox="1"/>
          <p:nvPr/>
        </p:nvSpPr>
        <p:spPr>
          <a:xfrm>
            <a:off x="676656" y="7086600"/>
            <a:ext cx="1716024" cy="457200"/>
          </a:xfrm>
          <a:prstGeom prst="rect">
            <a:avLst/>
          </a:prstGeom>
          <a:noFill/>
          <a:ln/>
        </p:spPr>
        <p:txBody>
          <a:bodyPr wrap="square" lIns="0" tIns="0" rIns="0" bIns="0" rtlCol="0" anchor="t"/>
          <a:lstStyle/>
          <a:p>
            <a:pPr indent="0" marL="0">
              <a:buNone/>
            </a:pPr>
            <a:r>
              <a:rPr lang="en-US" sz="1900" b="1" dirty="0">
                <a:solidFill>
                  <a:schemeClr val="accent6"/>
                </a:solidFill>
                <a:latin typeface="+mj-lt" pitchFamily="34" charset="0"/>
                <a:ea typeface="+mj-lt" pitchFamily="34" charset="-122"/>
                <a:cs typeface="+mj-lt" pitchFamily="34" charset="-120"/>
              </a:rPr>
              <a:t>200 MWh</a:t>
            </a:r>
            <a:endParaRPr lang="en-US" sz="1900" dirty="0"/>
          </a:p>
        </p:txBody>
      </p:sp>
      <p:sp>
        <p:nvSpPr>
          <p:cNvPr id="12" name="text-584"/>
          <p:cNvSpPr txBox="1"/>
          <p:nvPr/>
        </p:nvSpPr>
        <p:spPr>
          <a:xfrm>
            <a:off x="676656" y="7635240"/>
            <a:ext cx="1716024" cy="2194560"/>
          </a:xfrm>
          <a:prstGeom prst="rect">
            <a:avLst/>
          </a:prstGeom>
          <a:noFill/>
          <a:ln/>
        </p:spPr>
        <p:txBody>
          <a:bodyPr wrap="square" lIns="0" tIns="0" rIns="0" bIns="0" rtlCol="0" anchor="t"/>
          <a:lstStyle/>
          <a:p>
            <a:pPr indent="0" marL="0">
              <a:lnSpc>
                <a:spcPct val="108000"/>
              </a:lnSpc>
              <a:buNone/>
            </a:pPr>
            <a:r>
              <a:rPr lang="en-US" sz="1050" dirty="0">
                <a:solidFill>
                  <a:schemeClr val="tx1"/>
                </a:solidFill>
              </a:rPr>
              <a:t>The Ice-Proof Wind Farm (60 MW) and the Bifacial Solar Farm fill the battery bank, which gives the big burst of power that starts the reactor’s magnets and heaters. The panels also catch light off the snow: tests in snowy Canada found about +19% [17].</a:t>
            </a:r>
            <a:endParaRPr lang="en-US" sz="1050" dirty="0"/>
          </a:p>
        </p:txBody>
      </p:sp>
      <p:sp>
        <p:nvSpPr>
          <p:cNvPr id="13" name="arrow-585"/>
          <p:cNvSpPr/>
          <p:nvPr/>
        </p:nvSpPr>
        <p:spPr>
          <a:xfrm>
            <a:off x="2548128" y="8275320"/>
            <a:ext cx="219456" cy="914"/>
          </a:xfrm>
          <a:prstGeom prst="line">
            <a:avLst/>
          </a:prstGeom>
          <a:noFill/>
          <a:ln w="31750">
            <a:solidFill>
              <a:schemeClr val="tx2"/>
            </a:solidFill>
            <a:prstDash val="solid"/>
            <a:tailEnd type="triangle"/>
          </a:ln>
        </p:spPr>
      </p:sp>
      <p:sp>
        <p:nvSpPr>
          <p:cNvPr id="14" name="card-586"/>
          <p:cNvSpPr/>
          <p:nvPr/>
        </p:nvSpPr>
        <p:spPr>
          <a:xfrm>
            <a:off x="2795016" y="6629400"/>
            <a:ext cx="1972056" cy="3291840"/>
          </a:xfrm>
          <a:prstGeom prst="roundRect">
            <a:avLst>
              <a:gd name="adj" fmla="val 3709"/>
            </a:avLst>
          </a:prstGeom>
          <a:solidFill>
            <a:schemeClr val="bg2"/>
          </a:solidFill>
          <a:ln w="12700">
            <a:solidFill>
              <a:schemeClr val="bg2"/>
            </a:solidFill>
            <a:prstDash val="solid"/>
          </a:ln>
        </p:spPr>
      </p:sp>
      <p:sp>
        <p:nvSpPr>
          <p:cNvPr id="15" name="step-head-587"/>
          <p:cNvSpPr/>
          <p:nvPr/>
        </p:nvSpPr>
        <p:spPr>
          <a:xfrm>
            <a:off x="2795016" y="6629400"/>
            <a:ext cx="1972056" cy="347472"/>
          </a:xfrm>
          <a:prstGeom prst="rect">
            <a:avLst/>
          </a:prstGeom>
          <a:solidFill>
            <a:schemeClr val="accent3"/>
          </a:solidFill>
          <a:ln w="12700">
            <a:solidFill>
              <a:schemeClr val="accent3"/>
            </a:solidFill>
            <a:prstDash val="solid"/>
          </a:ln>
        </p:spPr>
      </p:sp>
      <p:sp>
        <p:nvSpPr>
          <p:cNvPr id="16" name="text-588"/>
          <p:cNvSpPr txBox="1"/>
          <p:nvPr/>
        </p:nvSpPr>
        <p:spPr>
          <a:xfrm>
            <a:off x="2923032" y="6629400"/>
            <a:ext cx="1716024" cy="347472"/>
          </a:xfrm>
          <a:prstGeom prst="rect">
            <a:avLst/>
          </a:prstGeom>
          <a:noFill/>
          <a:ln/>
        </p:spPr>
        <p:txBody>
          <a:bodyPr wrap="square" lIns="0" tIns="0" rIns="0" bIns="0" rtlCol="0" anchor="ctr"/>
          <a:lstStyle/>
          <a:p>
            <a:pPr indent="0" marL="0">
              <a:buNone/>
            </a:pPr>
            <a:r>
              <a:rPr lang="en-US" sz="950" b="1" spc="200" kern="0" dirty="0">
                <a:solidFill>
                  <a:schemeClr val="bg1"/>
                </a:solidFill>
              </a:rPr>
              <a:t>2 · RUNNING</a:t>
            </a:r>
            <a:endParaRPr lang="en-US" sz="950" dirty="0"/>
          </a:p>
        </p:txBody>
      </p:sp>
      <p:sp>
        <p:nvSpPr>
          <p:cNvPr id="17" name="text-589"/>
          <p:cNvSpPr txBox="1"/>
          <p:nvPr/>
        </p:nvSpPr>
        <p:spPr>
          <a:xfrm>
            <a:off x="2923032" y="7086600"/>
            <a:ext cx="1716024" cy="457200"/>
          </a:xfrm>
          <a:prstGeom prst="rect">
            <a:avLst/>
          </a:prstGeom>
          <a:noFill/>
          <a:ln/>
        </p:spPr>
        <p:txBody>
          <a:bodyPr wrap="square" lIns="0" tIns="0" rIns="0" bIns="0" rtlCol="0" anchor="t"/>
          <a:lstStyle/>
          <a:p>
            <a:pPr indent="0" marL="0">
              <a:buNone/>
            </a:pPr>
            <a:r>
              <a:rPr lang="en-US" sz="1900" b="1" dirty="0">
                <a:solidFill>
                  <a:schemeClr val="accent3"/>
                </a:solidFill>
                <a:latin typeface="+mj-lt" pitchFamily="34" charset="0"/>
                <a:ea typeface="+mj-lt" pitchFamily="34" charset="-122"/>
                <a:cs typeface="+mj-lt" pitchFamily="34" charset="-120"/>
              </a:rPr>
              <a:t>300 + 450 MW</a:t>
            </a:r>
            <a:endParaRPr lang="en-US" sz="1900" dirty="0"/>
          </a:p>
        </p:txBody>
      </p:sp>
      <p:sp>
        <p:nvSpPr>
          <p:cNvPr id="18" name="text-590"/>
          <p:cNvSpPr txBox="1"/>
          <p:nvPr/>
        </p:nvSpPr>
        <p:spPr>
          <a:xfrm>
            <a:off x="2923032" y="7635240"/>
            <a:ext cx="1716024" cy="2194560"/>
          </a:xfrm>
          <a:prstGeom prst="rect">
            <a:avLst/>
          </a:prstGeom>
          <a:noFill/>
          <a:ln/>
        </p:spPr>
        <p:txBody>
          <a:bodyPr wrap="square" lIns="0" tIns="0" rIns="0" bIns="0" rtlCol="0" anchor="t"/>
          <a:lstStyle/>
          <a:p>
            <a:pPr indent="0" marL="0">
              <a:lnSpc>
                <a:spcPct val="108000"/>
              </a:lnSpc>
              <a:buNone/>
            </a:pPr>
            <a:r>
              <a:rPr lang="en-US" sz="1050" dirty="0">
                <a:solidFill>
                  <a:schemeClr val="tx1"/>
                </a:solidFill>
              </a:rPr>
              <a:t>Once the plasma burns, the fusion station keeps itself going and gives the whole city electricity and heat, day and polar night.</a:t>
            </a:r>
            <a:endParaRPr lang="en-US" sz="1050" dirty="0"/>
          </a:p>
        </p:txBody>
      </p:sp>
      <p:sp>
        <p:nvSpPr>
          <p:cNvPr id="19" name="arrow-591"/>
          <p:cNvSpPr/>
          <p:nvPr/>
        </p:nvSpPr>
        <p:spPr>
          <a:xfrm>
            <a:off x="4794504" y="8275320"/>
            <a:ext cx="219456" cy="914"/>
          </a:xfrm>
          <a:prstGeom prst="line">
            <a:avLst/>
          </a:prstGeom>
          <a:noFill/>
          <a:ln w="31750">
            <a:solidFill>
              <a:schemeClr val="tx2"/>
            </a:solidFill>
            <a:prstDash val="solid"/>
            <a:tailEnd type="triangle"/>
          </a:ln>
        </p:spPr>
      </p:sp>
      <p:sp>
        <p:nvSpPr>
          <p:cNvPr id="20" name="card-592"/>
          <p:cNvSpPr/>
          <p:nvPr/>
        </p:nvSpPr>
        <p:spPr>
          <a:xfrm>
            <a:off x="5041392" y="6629400"/>
            <a:ext cx="1972056" cy="3291840"/>
          </a:xfrm>
          <a:prstGeom prst="roundRect">
            <a:avLst>
              <a:gd name="adj" fmla="val 3709"/>
            </a:avLst>
          </a:prstGeom>
          <a:solidFill>
            <a:schemeClr val="bg2"/>
          </a:solidFill>
          <a:ln w="12700">
            <a:solidFill>
              <a:schemeClr val="bg2"/>
            </a:solidFill>
            <a:prstDash val="solid"/>
          </a:ln>
        </p:spPr>
      </p:sp>
      <p:sp>
        <p:nvSpPr>
          <p:cNvPr id="21" name="step-head-593"/>
          <p:cNvSpPr/>
          <p:nvPr/>
        </p:nvSpPr>
        <p:spPr>
          <a:xfrm>
            <a:off x="5041392" y="6629400"/>
            <a:ext cx="1972056" cy="347472"/>
          </a:xfrm>
          <a:prstGeom prst="rect">
            <a:avLst/>
          </a:prstGeom>
          <a:solidFill>
            <a:schemeClr val="accent1"/>
          </a:solidFill>
          <a:ln w="12700">
            <a:solidFill>
              <a:schemeClr val="accent1"/>
            </a:solidFill>
            <a:prstDash val="solid"/>
          </a:ln>
        </p:spPr>
      </p:sp>
      <p:sp>
        <p:nvSpPr>
          <p:cNvPr id="22" name="text-594"/>
          <p:cNvSpPr txBox="1"/>
          <p:nvPr/>
        </p:nvSpPr>
        <p:spPr>
          <a:xfrm>
            <a:off x="5169408" y="6629400"/>
            <a:ext cx="1716024" cy="347472"/>
          </a:xfrm>
          <a:prstGeom prst="rect">
            <a:avLst/>
          </a:prstGeom>
          <a:noFill/>
          <a:ln/>
        </p:spPr>
        <p:txBody>
          <a:bodyPr wrap="square" lIns="0" tIns="0" rIns="0" bIns="0" rtlCol="0" anchor="ctr"/>
          <a:lstStyle/>
          <a:p>
            <a:pPr indent="0" marL="0">
              <a:buNone/>
            </a:pPr>
            <a:r>
              <a:rPr lang="en-US" sz="950" b="1" spc="200" kern="0" dirty="0">
                <a:solidFill>
                  <a:schemeClr val="bg1"/>
                </a:solidFill>
              </a:rPr>
              <a:t>3 · BACKUP</a:t>
            </a:r>
            <a:endParaRPr lang="en-US" sz="950" dirty="0"/>
          </a:p>
        </p:txBody>
      </p:sp>
      <p:sp>
        <p:nvSpPr>
          <p:cNvPr id="23" name="text-595"/>
          <p:cNvSpPr txBox="1"/>
          <p:nvPr/>
        </p:nvSpPr>
        <p:spPr>
          <a:xfrm>
            <a:off x="5169408" y="7086600"/>
            <a:ext cx="1716024" cy="457200"/>
          </a:xfrm>
          <a:prstGeom prst="rect">
            <a:avLst/>
          </a:prstGeom>
          <a:noFill/>
          <a:ln/>
        </p:spPr>
        <p:txBody>
          <a:bodyPr wrap="square" lIns="0" tIns="0" rIns="0" bIns="0" rtlCol="0" anchor="t"/>
          <a:lstStyle/>
          <a:p>
            <a:pPr indent="0" marL="0">
              <a:buNone/>
            </a:pPr>
            <a:r>
              <a:rPr lang="en-US" sz="1900" b="1" dirty="0">
                <a:solidFill>
                  <a:schemeClr val="accent1"/>
                </a:solidFill>
                <a:latin typeface="+mj-lt" pitchFamily="34" charset="0"/>
                <a:ea typeface="+mj-lt" pitchFamily="34" charset="-122"/>
                <a:cs typeface="+mj-lt" pitchFamily="34" charset="-120"/>
              </a:rPr>
              <a:t>12 h</a:t>
            </a:r>
            <a:endParaRPr lang="en-US" sz="1900" dirty="0"/>
          </a:p>
        </p:txBody>
      </p:sp>
      <p:sp>
        <p:nvSpPr>
          <p:cNvPr id="24" name="text-596"/>
          <p:cNvSpPr txBox="1"/>
          <p:nvPr/>
        </p:nvSpPr>
        <p:spPr>
          <a:xfrm>
            <a:off x="5169408" y="7635240"/>
            <a:ext cx="1716024" cy="2194560"/>
          </a:xfrm>
          <a:prstGeom prst="rect">
            <a:avLst/>
          </a:prstGeom>
          <a:noFill/>
          <a:ln/>
        </p:spPr>
        <p:txBody>
          <a:bodyPr wrap="square" lIns="0" tIns="0" rIns="0" bIns="0" rtlCol="0" anchor="t"/>
          <a:lstStyle/>
          <a:p>
            <a:pPr indent="0" marL="0">
              <a:lnSpc>
                <a:spcPct val="108000"/>
              </a:lnSpc>
              <a:buNone/>
            </a:pPr>
            <a:r>
              <a:rPr lang="en-US" sz="1050" dirty="0">
                <a:solidFill>
                  <a:schemeClr val="tx1"/>
                </a:solidFill>
              </a:rPr>
              <a:t>If the reactor stops for repair, wind, sun, the batteries, the 24-hour geothermal plant and the 12-hour heat tank take over, so no home goes cold.</a:t>
            </a:r>
            <a:endParaRPr lang="en-US" sz="1050" dirty="0"/>
          </a:p>
        </p:txBody>
      </p:sp>
      <p:sp>
        <p:nvSpPr>
          <p:cNvPr id="25" name="page-number"/>
          <p:cNvSpPr txBox="1"/>
          <p:nvPr/>
        </p:nvSpPr>
        <p:spPr>
          <a:xfrm>
            <a:off x="6601968" y="10177272"/>
            <a:ext cx="411480" cy="219456"/>
          </a:xfrm>
          <a:prstGeom prst="rect">
            <a:avLst/>
          </a:prstGeom>
          <a:noFill/>
          <a:ln/>
        </p:spPr>
        <p:txBody>
          <a:bodyPr wrap="square" lIns="0" tIns="0" rIns="0" bIns="0" rtlCol="0" anchor="ctr"/>
          <a:lstStyle/>
          <a:p>
            <a:pPr algn="r" indent="0" marL="0">
              <a:buNone/>
            </a:pPr>
            <a:r>
              <a:rPr lang="en-US" sz="900" b="1" dirty="0">
                <a:solidFill>
                  <a:schemeClr val="tx1"/>
                </a:solidFill>
              </a:rPr>
              <a:t>25</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icker-dot-597"/>
          <p:cNvSpPr/>
          <p:nvPr/>
        </p:nvSpPr>
        <p:spPr>
          <a:xfrm>
            <a:off x="548640" y="544068"/>
            <a:ext cx="100584" cy="100584"/>
          </a:xfrm>
          <a:prstGeom prst="ellipse">
            <a:avLst/>
          </a:prstGeom>
          <a:solidFill>
            <a:schemeClr val="accent4"/>
          </a:solidFill>
          <a:ln w="12700">
            <a:solidFill>
              <a:schemeClr val="accent4"/>
            </a:solidFill>
            <a:prstDash val="solid"/>
          </a:ln>
        </p:spPr>
      </p:sp>
      <p:sp>
        <p:nvSpPr>
          <p:cNvPr id="3" name="text-598"/>
          <p:cNvSpPr txBox="1"/>
          <p:nvPr/>
        </p:nvSpPr>
        <p:spPr>
          <a:xfrm>
            <a:off x="731520" y="502920"/>
            <a:ext cx="5486400" cy="201168"/>
          </a:xfrm>
          <a:prstGeom prst="rect">
            <a:avLst/>
          </a:prstGeom>
          <a:noFill/>
          <a:ln/>
        </p:spPr>
        <p:txBody>
          <a:bodyPr wrap="square" lIns="0" tIns="0" rIns="0" bIns="0" rtlCol="0" anchor="t"/>
          <a:lstStyle/>
          <a:p>
            <a:pPr indent="0" marL="0">
              <a:buNone/>
            </a:pPr>
            <a:r>
              <a:rPr lang="en-US" sz="900" b="1" spc="300" kern="0" dirty="0">
                <a:solidFill>
                  <a:schemeClr val="accent4"/>
                </a:solidFill>
              </a:rPr>
              <a:t>WATER AND WASTE</a:t>
            </a:r>
            <a:endParaRPr lang="en-US" sz="900" dirty="0"/>
          </a:p>
        </p:txBody>
      </p:sp>
      <p:sp>
        <p:nvSpPr>
          <p:cNvPr id="4" name="title-599"/>
          <p:cNvSpPr txBox="1"/>
          <p:nvPr/>
        </p:nvSpPr>
        <p:spPr>
          <a:xfrm>
            <a:off x="548640" y="758952"/>
            <a:ext cx="6464808" cy="685800"/>
          </a:xfrm>
          <a:prstGeom prst="rect">
            <a:avLst/>
          </a:prstGeom>
          <a:noFill/>
          <a:ln/>
        </p:spPr>
        <p:txBody>
          <a:bodyPr wrap="square" lIns="0" tIns="0" rIns="0" bIns="0" rtlCol="0" anchor="t"/>
          <a:lstStyle/>
          <a:p>
            <a:pPr indent="0" marL="0">
              <a:lnSpc>
                <a:spcPct val="92000"/>
              </a:lnSpc>
              <a:buNone/>
            </a:pPr>
            <a:r>
              <a:rPr lang="en-US" sz="3400" b="1" dirty="0">
                <a:solidFill>
                  <a:schemeClr val="tx1"/>
                </a:solidFill>
                <a:latin typeface="+mj-lt" pitchFamily="34" charset="0"/>
                <a:ea typeface="+mj-lt" pitchFamily="34" charset="-122"/>
                <a:cs typeface="+mj-lt" pitchFamily="34" charset="-120"/>
              </a:rPr>
              <a:t>Nothing Is Wasted</a:t>
            </a:r>
            <a:endParaRPr lang="en-US" sz="3400" dirty="0"/>
          </a:p>
        </p:txBody>
      </p:sp>
      <p:pic>
        <p:nvPicPr>
          <p:cNvPr id="5" name="picture-601" descr="/home/user/chatbox-bi-n-o/magazine/assets/renders/water.jpg">    </p:cNvPr>
          <p:cNvPicPr>
            <a:picLocks noChangeAspect="1"/>
          </p:cNvPicPr>
          <p:nvPr/>
        </p:nvPicPr>
        <p:blipFill>
          <a:blip r:embed="rId1"/>
          <a:srcRect l="0" r="0" t="0" b="0"/>
          <a:stretch/>
        </p:blipFill>
        <p:spPr>
          <a:xfrm>
            <a:off x="0" y="1508760"/>
            <a:ext cx="7562088" cy="3657600"/>
          </a:xfrm>
          <a:prstGeom prst="rect">
            <a:avLst/>
          </a:prstGeom>
        </p:spPr>
      </p:pic>
      <p:sp>
        <p:nvSpPr>
          <p:cNvPr id="6" name="text-602"/>
          <p:cNvSpPr txBox="1"/>
          <p:nvPr/>
        </p:nvSpPr>
        <p:spPr>
          <a:xfrm>
            <a:off x="548640" y="5212080"/>
            <a:ext cx="6464808" cy="228600"/>
          </a:xfrm>
          <a:prstGeom prst="rect">
            <a:avLst/>
          </a:prstGeom>
          <a:noFill/>
          <a:ln/>
        </p:spPr>
        <p:txBody>
          <a:bodyPr wrap="square" lIns="0" tIns="0" rIns="0" bIns="0" rtlCol="0" anchor="t"/>
          <a:lstStyle/>
          <a:p>
            <a:pPr indent="0" marL="0">
              <a:buNone/>
            </a:pPr>
            <a:r>
              <a:rPr lang="en-US" sz="850" i="1" dirty="0">
                <a:solidFill>
                  <a:schemeClr val="tx2"/>
                </a:solidFill>
              </a:rPr>
              <a:t>The six-stage Water Recycling Line in the Northern Renewable Park, with the wind farm behind.</a:t>
            </a:r>
            <a:endParaRPr lang="en-US" sz="850" dirty="0"/>
          </a:p>
        </p:txBody>
      </p:sp>
      <p:sp>
        <p:nvSpPr>
          <p:cNvPr id="7" name="text-603"/>
          <p:cNvSpPr txBox="1"/>
          <p:nvPr/>
        </p:nvSpPr>
        <p:spPr>
          <a:xfrm>
            <a:off x="548640" y="5623560"/>
            <a:ext cx="6464808" cy="201168"/>
          </a:xfrm>
          <a:prstGeom prst="rect">
            <a:avLst/>
          </a:prstGeom>
          <a:noFill/>
          <a:ln/>
        </p:spPr>
        <p:txBody>
          <a:bodyPr wrap="square" lIns="0" tIns="0" rIns="0" bIns="0" rtlCol="0" anchor="t"/>
          <a:lstStyle/>
          <a:p>
            <a:pPr indent="0" marL="0">
              <a:buNone/>
            </a:pPr>
            <a:r>
              <a:rPr lang="en-US" sz="900" b="1" spc="300" kern="0" dirty="0">
                <a:solidFill>
                  <a:schemeClr val="accent4"/>
                </a:solidFill>
              </a:rPr>
              <a:t>THE SIX-STAGE WATER RECYCLING LINE</a:t>
            </a:r>
            <a:endParaRPr lang="en-US" sz="900" dirty="0"/>
          </a:p>
        </p:txBody>
      </p:sp>
      <p:sp>
        <p:nvSpPr>
          <p:cNvPr id="8" name="arrow-604"/>
          <p:cNvSpPr/>
          <p:nvPr/>
        </p:nvSpPr>
        <p:spPr>
          <a:xfrm>
            <a:off x="1315974" y="6153912"/>
            <a:ext cx="620268" cy="914"/>
          </a:xfrm>
          <a:prstGeom prst="line">
            <a:avLst/>
          </a:prstGeom>
          <a:noFill/>
          <a:ln w="22225">
            <a:solidFill>
              <a:schemeClr val="accent4"/>
            </a:solidFill>
            <a:prstDash val="solid"/>
            <a:tailEnd type="triangle"/>
          </a:ln>
        </p:spPr>
      </p:sp>
      <p:sp>
        <p:nvSpPr>
          <p:cNvPr id="9" name="marker-605"/>
          <p:cNvSpPr/>
          <p:nvPr/>
        </p:nvSpPr>
        <p:spPr>
          <a:xfrm>
            <a:off x="886206" y="5952744"/>
            <a:ext cx="402336" cy="402336"/>
          </a:xfrm>
          <a:prstGeom prst="ellipse">
            <a:avLst/>
          </a:prstGeom>
          <a:solidFill>
            <a:schemeClr val="accent4"/>
          </a:solidFill>
          <a:ln w="12700">
            <a:solidFill>
              <a:schemeClr val="accent4"/>
            </a:solidFill>
            <a:prstDash val="solid"/>
          </a:ln>
        </p:spPr>
      </p:sp>
      <p:sp>
        <p:nvSpPr>
          <p:cNvPr id="10" name="text-606"/>
          <p:cNvSpPr txBox="1"/>
          <p:nvPr/>
        </p:nvSpPr>
        <p:spPr>
          <a:xfrm>
            <a:off x="886206" y="595274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1" name="text-607"/>
          <p:cNvSpPr txBox="1"/>
          <p:nvPr/>
        </p:nvSpPr>
        <p:spPr>
          <a:xfrm>
            <a:off x="576072" y="6446520"/>
            <a:ext cx="1022604" cy="411480"/>
          </a:xfrm>
          <a:prstGeom prst="rect">
            <a:avLst/>
          </a:prstGeom>
          <a:noFill/>
          <a:ln/>
        </p:spPr>
        <p:txBody>
          <a:bodyPr wrap="square" lIns="0" tIns="0" rIns="0" bIns="0" rtlCol="0" anchor="t"/>
          <a:lstStyle/>
          <a:p>
            <a:pPr algn="ctr" indent="0" marL="0">
              <a:lnSpc>
                <a:spcPct val="100000"/>
              </a:lnSpc>
              <a:buNone/>
            </a:pPr>
            <a:r>
              <a:rPr lang="en-US" sz="850" b="1" dirty="0">
                <a:solidFill>
                  <a:schemeClr val="tx1"/>
                </a:solidFill>
              </a:rPr>
              <a:t>Snowmelt &amp; greywater intake</a:t>
            </a:r>
            <a:endParaRPr lang="en-US" sz="850" dirty="0"/>
          </a:p>
        </p:txBody>
      </p:sp>
      <p:sp>
        <p:nvSpPr>
          <p:cNvPr id="12" name="arrow-608"/>
          <p:cNvSpPr/>
          <p:nvPr/>
        </p:nvSpPr>
        <p:spPr>
          <a:xfrm>
            <a:off x="2393442" y="6153912"/>
            <a:ext cx="620268" cy="914"/>
          </a:xfrm>
          <a:prstGeom prst="line">
            <a:avLst/>
          </a:prstGeom>
          <a:noFill/>
          <a:ln w="22225">
            <a:solidFill>
              <a:schemeClr val="accent4"/>
            </a:solidFill>
            <a:prstDash val="solid"/>
            <a:tailEnd type="triangle"/>
          </a:ln>
        </p:spPr>
      </p:sp>
      <p:sp>
        <p:nvSpPr>
          <p:cNvPr id="13" name="marker-609"/>
          <p:cNvSpPr/>
          <p:nvPr/>
        </p:nvSpPr>
        <p:spPr>
          <a:xfrm>
            <a:off x="1963674" y="5952744"/>
            <a:ext cx="402336" cy="402336"/>
          </a:xfrm>
          <a:prstGeom prst="ellipse">
            <a:avLst/>
          </a:prstGeom>
          <a:solidFill>
            <a:schemeClr val="accent4"/>
          </a:solidFill>
          <a:ln w="12700">
            <a:solidFill>
              <a:schemeClr val="accent4"/>
            </a:solidFill>
            <a:prstDash val="solid"/>
          </a:ln>
        </p:spPr>
      </p:sp>
      <p:sp>
        <p:nvSpPr>
          <p:cNvPr id="14" name="text-610"/>
          <p:cNvSpPr txBox="1"/>
          <p:nvPr/>
        </p:nvSpPr>
        <p:spPr>
          <a:xfrm>
            <a:off x="1963674" y="595274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5" name="text-611"/>
          <p:cNvSpPr txBox="1"/>
          <p:nvPr/>
        </p:nvSpPr>
        <p:spPr>
          <a:xfrm>
            <a:off x="1653540" y="6446520"/>
            <a:ext cx="1022604" cy="411480"/>
          </a:xfrm>
          <a:prstGeom prst="rect">
            <a:avLst/>
          </a:prstGeom>
          <a:noFill/>
          <a:ln/>
        </p:spPr>
        <p:txBody>
          <a:bodyPr wrap="square" lIns="0" tIns="0" rIns="0" bIns="0" rtlCol="0" anchor="t"/>
          <a:lstStyle/>
          <a:p>
            <a:pPr algn="ctr" indent="0" marL="0">
              <a:lnSpc>
                <a:spcPct val="100000"/>
              </a:lnSpc>
              <a:buNone/>
            </a:pPr>
            <a:r>
              <a:rPr lang="en-US" sz="850" b="1" dirty="0">
                <a:solidFill>
                  <a:schemeClr val="tx1"/>
                </a:solidFill>
              </a:rPr>
              <a:t>Intake pumps &amp; bar screen</a:t>
            </a:r>
            <a:endParaRPr lang="en-US" sz="850" dirty="0"/>
          </a:p>
        </p:txBody>
      </p:sp>
      <p:sp>
        <p:nvSpPr>
          <p:cNvPr id="16" name="arrow-612"/>
          <p:cNvSpPr/>
          <p:nvPr/>
        </p:nvSpPr>
        <p:spPr>
          <a:xfrm>
            <a:off x="3470910" y="6153912"/>
            <a:ext cx="620268" cy="914"/>
          </a:xfrm>
          <a:prstGeom prst="line">
            <a:avLst/>
          </a:prstGeom>
          <a:noFill/>
          <a:ln w="22225">
            <a:solidFill>
              <a:schemeClr val="accent4"/>
            </a:solidFill>
            <a:prstDash val="solid"/>
            <a:tailEnd type="triangle"/>
          </a:ln>
        </p:spPr>
      </p:sp>
      <p:sp>
        <p:nvSpPr>
          <p:cNvPr id="17" name="marker-613"/>
          <p:cNvSpPr/>
          <p:nvPr/>
        </p:nvSpPr>
        <p:spPr>
          <a:xfrm>
            <a:off x="3041142" y="5952744"/>
            <a:ext cx="402336" cy="402336"/>
          </a:xfrm>
          <a:prstGeom prst="ellipse">
            <a:avLst/>
          </a:prstGeom>
          <a:solidFill>
            <a:schemeClr val="accent4"/>
          </a:solidFill>
          <a:ln w="12700">
            <a:solidFill>
              <a:schemeClr val="accent4"/>
            </a:solidFill>
            <a:prstDash val="solid"/>
          </a:ln>
        </p:spPr>
      </p:sp>
      <p:sp>
        <p:nvSpPr>
          <p:cNvPr id="18" name="text-614"/>
          <p:cNvSpPr txBox="1"/>
          <p:nvPr/>
        </p:nvSpPr>
        <p:spPr>
          <a:xfrm>
            <a:off x="3041142" y="595274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19" name="text-615"/>
          <p:cNvSpPr txBox="1"/>
          <p:nvPr/>
        </p:nvSpPr>
        <p:spPr>
          <a:xfrm>
            <a:off x="2731008" y="6446520"/>
            <a:ext cx="1022604" cy="411480"/>
          </a:xfrm>
          <a:prstGeom prst="rect">
            <a:avLst/>
          </a:prstGeom>
          <a:noFill/>
          <a:ln/>
        </p:spPr>
        <p:txBody>
          <a:bodyPr wrap="square" lIns="0" tIns="0" rIns="0" bIns="0" rtlCol="0" anchor="t"/>
          <a:lstStyle/>
          <a:p>
            <a:pPr algn="ctr" indent="0" marL="0">
              <a:lnSpc>
                <a:spcPct val="100000"/>
              </a:lnSpc>
              <a:buNone/>
            </a:pPr>
            <a:r>
              <a:rPr lang="en-US" sz="850" b="1" dirty="0">
                <a:solidFill>
                  <a:schemeClr val="tx1"/>
                </a:solidFill>
              </a:rPr>
              <a:t>Settling basins</a:t>
            </a:r>
            <a:endParaRPr lang="en-US" sz="850" dirty="0"/>
          </a:p>
        </p:txBody>
      </p:sp>
      <p:sp>
        <p:nvSpPr>
          <p:cNvPr id="20" name="arrow-616"/>
          <p:cNvSpPr/>
          <p:nvPr/>
        </p:nvSpPr>
        <p:spPr>
          <a:xfrm>
            <a:off x="4548378" y="6153912"/>
            <a:ext cx="620268" cy="914"/>
          </a:xfrm>
          <a:prstGeom prst="line">
            <a:avLst/>
          </a:prstGeom>
          <a:noFill/>
          <a:ln w="22225">
            <a:solidFill>
              <a:schemeClr val="accent4"/>
            </a:solidFill>
            <a:prstDash val="solid"/>
            <a:tailEnd type="triangle"/>
          </a:ln>
        </p:spPr>
      </p:sp>
      <p:sp>
        <p:nvSpPr>
          <p:cNvPr id="21" name="marker-617"/>
          <p:cNvSpPr/>
          <p:nvPr/>
        </p:nvSpPr>
        <p:spPr>
          <a:xfrm>
            <a:off x="4118610" y="5952744"/>
            <a:ext cx="402336" cy="402336"/>
          </a:xfrm>
          <a:prstGeom prst="ellipse">
            <a:avLst/>
          </a:prstGeom>
          <a:solidFill>
            <a:schemeClr val="accent4"/>
          </a:solidFill>
          <a:ln w="12700">
            <a:solidFill>
              <a:schemeClr val="accent4"/>
            </a:solidFill>
            <a:prstDash val="solid"/>
          </a:ln>
        </p:spPr>
      </p:sp>
      <p:sp>
        <p:nvSpPr>
          <p:cNvPr id="22" name="text-618"/>
          <p:cNvSpPr txBox="1"/>
          <p:nvPr/>
        </p:nvSpPr>
        <p:spPr>
          <a:xfrm>
            <a:off x="4118610" y="595274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3" name="text-619"/>
          <p:cNvSpPr txBox="1"/>
          <p:nvPr/>
        </p:nvSpPr>
        <p:spPr>
          <a:xfrm>
            <a:off x="3808476" y="6446520"/>
            <a:ext cx="1022604" cy="411480"/>
          </a:xfrm>
          <a:prstGeom prst="rect">
            <a:avLst/>
          </a:prstGeom>
          <a:noFill/>
          <a:ln/>
        </p:spPr>
        <p:txBody>
          <a:bodyPr wrap="square" lIns="0" tIns="0" rIns="0" bIns="0" rtlCol="0" anchor="t"/>
          <a:lstStyle/>
          <a:p>
            <a:pPr algn="ctr" indent="0" marL="0">
              <a:lnSpc>
                <a:spcPct val="100000"/>
              </a:lnSpc>
              <a:buNone/>
            </a:pPr>
            <a:r>
              <a:rPr lang="en-US" sz="850" b="1" dirty="0">
                <a:solidFill>
                  <a:schemeClr val="tx1"/>
                </a:solidFill>
              </a:rPr>
              <a:t>Sand &amp; membrane filters</a:t>
            </a:r>
            <a:endParaRPr lang="en-US" sz="850" dirty="0"/>
          </a:p>
        </p:txBody>
      </p:sp>
      <p:sp>
        <p:nvSpPr>
          <p:cNvPr id="24" name="arrow-620"/>
          <p:cNvSpPr/>
          <p:nvPr/>
        </p:nvSpPr>
        <p:spPr>
          <a:xfrm>
            <a:off x="5625846" y="6153912"/>
            <a:ext cx="620268" cy="914"/>
          </a:xfrm>
          <a:prstGeom prst="line">
            <a:avLst/>
          </a:prstGeom>
          <a:noFill/>
          <a:ln w="22225">
            <a:solidFill>
              <a:schemeClr val="accent4"/>
            </a:solidFill>
            <a:prstDash val="solid"/>
            <a:tailEnd type="triangle"/>
          </a:ln>
        </p:spPr>
      </p:sp>
      <p:sp>
        <p:nvSpPr>
          <p:cNvPr id="25" name="marker-621"/>
          <p:cNvSpPr/>
          <p:nvPr/>
        </p:nvSpPr>
        <p:spPr>
          <a:xfrm>
            <a:off x="5196078" y="5952744"/>
            <a:ext cx="402336" cy="402336"/>
          </a:xfrm>
          <a:prstGeom prst="ellipse">
            <a:avLst/>
          </a:prstGeom>
          <a:solidFill>
            <a:schemeClr val="accent4"/>
          </a:solidFill>
          <a:ln w="12700">
            <a:solidFill>
              <a:schemeClr val="accent4"/>
            </a:solidFill>
            <a:prstDash val="solid"/>
          </a:ln>
        </p:spPr>
      </p:sp>
      <p:sp>
        <p:nvSpPr>
          <p:cNvPr id="26" name="text-622"/>
          <p:cNvSpPr txBox="1"/>
          <p:nvPr/>
        </p:nvSpPr>
        <p:spPr>
          <a:xfrm>
            <a:off x="5196078" y="595274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27" name="text-623"/>
          <p:cNvSpPr txBox="1"/>
          <p:nvPr/>
        </p:nvSpPr>
        <p:spPr>
          <a:xfrm>
            <a:off x="4885944" y="6446520"/>
            <a:ext cx="1022604" cy="411480"/>
          </a:xfrm>
          <a:prstGeom prst="rect">
            <a:avLst/>
          </a:prstGeom>
          <a:noFill/>
          <a:ln/>
        </p:spPr>
        <p:txBody>
          <a:bodyPr wrap="square" lIns="0" tIns="0" rIns="0" bIns="0" rtlCol="0" anchor="t"/>
          <a:lstStyle/>
          <a:p>
            <a:pPr algn="ctr" indent="0" marL="0">
              <a:lnSpc>
                <a:spcPct val="100000"/>
              </a:lnSpc>
              <a:buNone/>
            </a:pPr>
            <a:r>
              <a:rPr lang="en-US" sz="850" b="1" dirty="0">
                <a:solidFill>
                  <a:schemeClr val="tx1"/>
                </a:solidFill>
              </a:rPr>
              <a:t>UV disinfection</a:t>
            </a:r>
            <a:endParaRPr lang="en-US" sz="850" dirty="0"/>
          </a:p>
        </p:txBody>
      </p:sp>
      <p:sp>
        <p:nvSpPr>
          <p:cNvPr id="28" name="marker-624"/>
          <p:cNvSpPr/>
          <p:nvPr/>
        </p:nvSpPr>
        <p:spPr>
          <a:xfrm>
            <a:off x="6273546" y="5952744"/>
            <a:ext cx="402336" cy="402336"/>
          </a:xfrm>
          <a:prstGeom prst="ellipse">
            <a:avLst/>
          </a:prstGeom>
          <a:solidFill>
            <a:schemeClr val="accent4"/>
          </a:solidFill>
          <a:ln w="12700">
            <a:solidFill>
              <a:schemeClr val="accent4"/>
            </a:solidFill>
            <a:prstDash val="solid"/>
          </a:ln>
        </p:spPr>
      </p:sp>
      <p:sp>
        <p:nvSpPr>
          <p:cNvPr id="29" name="text-625"/>
          <p:cNvSpPr txBox="1"/>
          <p:nvPr/>
        </p:nvSpPr>
        <p:spPr>
          <a:xfrm>
            <a:off x="6273546" y="595274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6</a:t>
            </a:r>
            <a:endParaRPr lang="en-US" sz="1400" dirty="0"/>
          </a:p>
        </p:txBody>
      </p:sp>
      <p:sp>
        <p:nvSpPr>
          <p:cNvPr id="30" name="text-626"/>
          <p:cNvSpPr txBox="1"/>
          <p:nvPr/>
        </p:nvSpPr>
        <p:spPr>
          <a:xfrm>
            <a:off x="5963412" y="6446520"/>
            <a:ext cx="1022604" cy="411480"/>
          </a:xfrm>
          <a:prstGeom prst="rect">
            <a:avLst/>
          </a:prstGeom>
          <a:noFill/>
          <a:ln/>
        </p:spPr>
        <p:txBody>
          <a:bodyPr wrap="square" lIns="0" tIns="0" rIns="0" bIns="0" rtlCol="0" anchor="t"/>
          <a:lstStyle/>
          <a:p>
            <a:pPr algn="ctr" indent="0" marL="0">
              <a:lnSpc>
                <a:spcPct val="100000"/>
              </a:lnSpc>
              <a:buNone/>
            </a:pPr>
            <a:r>
              <a:rPr lang="en-US" sz="850" b="1" dirty="0">
                <a:solidFill>
                  <a:schemeClr val="tx1"/>
                </a:solidFill>
              </a:rPr>
              <a:t>Recycled water tower</a:t>
            </a:r>
            <a:endParaRPr lang="en-US" sz="850" dirty="0"/>
          </a:p>
        </p:txBody>
      </p:sp>
      <p:sp>
        <p:nvSpPr>
          <p:cNvPr id="31" name="text-627"/>
          <p:cNvSpPr txBox="1"/>
          <p:nvPr/>
        </p:nvSpPr>
        <p:spPr>
          <a:xfrm>
            <a:off x="548640" y="7086600"/>
            <a:ext cx="3095244" cy="1828800"/>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In Aurora Haven, water goes round and round. Clean snow becomes drinking water at the Snow-to-Food plant. Used greywater from homes flows to the Water Recycling Line: screens, settling basins, sand and membrane filters, UV light, and finally a tower that feeds toilets, laundries, greenhouses and fire hydrants.</a:t>
            </a:r>
            <a:endParaRPr lang="en-US" sz="1050" dirty="0"/>
          </a:p>
          <a:p>
            <a:pPr indent="0" marL="0">
              <a:lnSpc>
                <a:spcPct val="112000"/>
              </a:lnSpc>
              <a:spcAft>
                <a:spcPts val="700"/>
              </a:spcAft>
              <a:buNone/>
            </a:pPr>
            <a:r>
              <a:rPr lang="en-US" sz="1050" dirty="0">
                <a:solidFill>
                  <a:schemeClr val="tx1"/>
                </a:solidFill>
              </a:rPr>
              <a:t>Dirty street snow is melted separately and never reaches the taps.</a:t>
            </a:r>
            <a:endParaRPr lang="en-US" sz="1050" dirty="0"/>
          </a:p>
        </p:txBody>
      </p:sp>
      <p:sp>
        <p:nvSpPr>
          <p:cNvPr id="32" name="text-628"/>
          <p:cNvSpPr txBox="1"/>
          <p:nvPr/>
        </p:nvSpPr>
        <p:spPr>
          <a:xfrm>
            <a:off x="3918204" y="7086600"/>
            <a:ext cx="3095244" cy="1828800"/>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The Circular Recycling Center sorts about 30 tonnes of materials a day with AI optical sorters and robot arms. Food scraps become biogas, and the Plasma Waste Converter handles what is left, turning it into clean gas and building blocks.</a:t>
            </a:r>
            <a:endParaRPr lang="en-US" sz="1050" dirty="0"/>
          </a:p>
          <a:p>
            <a:pPr indent="0" marL="0">
              <a:lnSpc>
                <a:spcPct val="112000"/>
              </a:lnSpc>
              <a:spcAft>
                <a:spcPts val="700"/>
              </a:spcAft>
              <a:buNone/>
            </a:pPr>
            <a:r>
              <a:rPr lang="en-US" sz="1050" dirty="0">
                <a:solidFill>
                  <a:schemeClr val="tx1"/>
                </a:solidFill>
              </a:rPr>
              <a:t>Nothing goes to landfill in the permafrost.</a:t>
            </a:r>
            <a:endParaRPr lang="en-US" sz="1050" dirty="0"/>
          </a:p>
        </p:txBody>
      </p:sp>
      <p:sp>
        <p:nvSpPr>
          <p:cNvPr id="33" name="text-629"/>
          <p:cNvSpPr txBox="1"/>
          <p:nvPr/>
        </p:nvSpPr>
        <p:spPr>
          <a:xfrm>
            <a:off x="548640" y="8915400"/>
            <a:ext cx="2017776" cy="403352"/>
          </a:xfrm>
          <a:prstGeom prst="rect">
            <a:avLst/>
          </a:prstGeom>
          <a:noFill/>
          <a:ln/>
        </p:spPr>
        <p:txBody>
          <a:bodyPr wrap="square" lIns="0" tIns="0" rIns="0" bIns="0" rtlCol="0" anchor="b"/>
          <a:lstStyle/>
          <a:p>
            <a:pPr indent="0" marL="0">
              <a:buNone/>
            </a:pPr>
            <a:r>
              <a:rPr lang="en-US" sz="2600" b="1" dirty="0">
                <a:solidFill>
                  <a:schemeClr val="accent4"/>
                </a:solidFill>
                <a:latin typeface="+mj-lt" pitchFamily="34" charset="0"/>
                <a:ea typeface="+mj-lt" pitchFamily="34" charset="-122"/>
                <a:cs typeface="+mj-lt" pitchFamily="34" charset="-120"/>
              </a:rPr>
              <a:t>95%</a:t>
            </a:r>
            <a:endParaRPr lang="en-US" sz="2600" dirty="0"/>
          </a:p>
        </p:txBody>
      </p:sp>
      <p:sp>
        <p:nvSpPr>
          <p:cNvPr id="34" name="text-630"/>
          <p:cNvSpPr txBox="1"/>
          <p:nvPr/>
        </p:nvSpPr>
        <p:spPr>
          <a:xfrm>
            <a:off x="548640" y="9346184"/>
            <a:ext cx="2017776" cy="36576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of water is used again</a:t>
            </a:r>
            <a:endParaRPr lang="en-US" sz="900" dirty="0"/>
          </a:p>
        </p:txBody>
      </p:sp>
      <p:sp>
        <p:nvSpPr>
          <p:cNvPr id="35" name="text-631"/>
          <p:cNvSpPr txBox="1"/>
          <p:nvPr/>
        </p:nvSpPr>
        <p:spPr>
          <a:xfrm>
            <a:off x="2703576" y="8915400"/>
            <a:ext cx="2017776" cy="403352"/>
          </a:xfrm>
          <a:prstGeom prst="rect">
            <a:avLst/>
          </a:prstGeom>
          <a:noFill/>
          <a:ln/>
        </p:spPr>
        <p:txBody>
          <a:bodyPr wrap="square" lIns="0" tIns="0" rIns="0" bIns="0" rtlCol="0" anchor="b"/>
          <a:lstStyle/>
          <a:p>
            <a:pPr indent="0" marL="0">
              <a:buNone/>
            </a:pPr>
            <a:r>
              <a:rPr lang="en-US" sz="2600" b="1" dirty="0">
                <a:solidFill>
                  <a:schemeClr val="accent4"/>
                </a:solidFill>
                <a:latin typeface="+mj-lt" pitchFamily="34" charset="0"/>
                <a:ea typeface="+mj-lt" pitchFamily="34" charset="-122"/>
                <a:cs typeface="+mj-lt" pitchFamily="34" charset="-120"/>
              </a:rPr>
              <a:t>30 tonnes</a:t>
            </a:r>
            <a:endParaRPr lang="en-US" sz="2600" dirty="0"/>
          </a:p>
        </p:txBody>
      </p:sp>
      <p:sp>
        <p:nvSpPr>
          <p:cNvPr id="36" name="text-632"/>
          <p:cNvSpPr txBox="1"/>
          <p:nvPr/>
        </p:nvSpPr>
        <p:spPr>
          <a:xfrm>
            <a:off x="2703576" y="9346184"/>
            <a:ext cx="2017776" cy="36576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of materials sorted every day</a:t>
            </a:r>
            <a:endParaRPr lang="en-US" sz="900" dirty="0"/>
          </a:p>
        </p:txBody>
      </p:sp>
      <p:sp>
        <p:nvSpPr>
          <p:cNvPr id="37" name="text-633"/>
          <p:cNvSpPr txBox="1"/>
          <p:nvPr/>
        </p:nvSpPr>
        <p:spPr>
          <a:xfrm>
            <a:off x="4858512" y="8915400"/>
            <a:ext cx="2017776" cy="403352"/>
          </a:xfrm>
          <a:prstGeom prst="rect">
            <a:avLst/>
          </a:prstGeom>
          <a:noFill/>
          <a:ln/>
        </p:spPr>
        <p:txBody>
          <a:bodyPr wrap="square" lIns="0" tIns="0" rIns="0" bIns="0" rtlCol="0" anchor="b"/>
          <a:lstStyle/>
          <a:p>
            <a:pPr indent="0" marL="0">
              <a:buNone/>
            </a:pPr>
            <a:r>
              <a:rPr lang="en-US" sz="2600" b="1" dirty="0">
                <a:solidFill>
                  <a:schemeClr val="accent4"/>
                </a:solidFill>
                <a:latin typeface="+mj-lt" pitchFamily="34" charset="0"/>
                <a:ea typeface="+mj-lt" pitchFamily="34" charset="-122"/>
                <a:cs typeface="+mj-lt" pitchFamily="34" charset="-120"/>
              </a:rPr>
              <a:t>0</a:t>
            </a:r>
            <a:endParaRPr lang="en-US" sz="2600" dirty="0"/>
          </a:p>
        </p:txBody>
      </p:sp>
      <p:sp>
        <p:nvSpPr>
          <p:cNvPr id="38" name="text-634"/>
          <p:cNvSpPr txBox="1"/>
          <p:nvPr/>
        </p:nvSpPr>
        <p:spPr>
          <a:xfrm>
            <a:off x="4858512" y="9346184"/>
            <a:ext cx="2017776" cy="36576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rubbish sent to landfill</a:t>
            </a:r>
            <a:endParaRPr lang="en-US" sz="900" dirty="0"/>
          </a:p>
        </p:txBody>
      </p:sp>
      <p:sp>
        <p:nvSpPr>
          <p:cNvPr id="39" name="page-number"/>
          <p:cNvSpPr txBox="1"/>
          <p:nvPr/>
        </p:nvSpPr>
        <p:spPr>
          <a:xfrm>
            <a:off x="548640" y="10177272"/>
            <a:ext cx="411480" cy="219456"/>
          </a:xfrm>
          <a:prstGeom prst="rect">
            <a:avLst/>
          </a:prstGeom>
          <a:noFill/>
          <a:ln/>
        </p:spPr>
        <p:txBody>
          <a:bodyPr wrap="square" lIns="0" tIns="0" rIns="0" bIns="0" rtlCol="0" anchor="ctr"/>
          <a:lstStyle/>
          <a:p>
            <a:pPr algn="l" indent="0" marL="0">
              <a:buNone/>
            </a:pPr>
            <a:r>
              <a:rPr lang="en-US" sz="900" b="1" dirty="0">
                <a:solidFill>
                  <a:schemeClr val="tx1"/>
                </a:solidFill>
              </a:rPr>
              <a:t>26</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picture-635" descr="/home/user/chatbox-bi-n-o/magazine/assets/renders/ecosystem.jpg">    </p:cNvPr>
          <p:cNvPicPr>
            <a:picLocks noChangeAspect="1"/>
          </p:cNvPicPr>
          <p:nvPr/>
        </p:nvPicPr>
        <p:blipFill>
          <a:blip r:embed="rId1"/>
          <a:srcRect l="0" r="0" t="0" b="0"/>
          <a:stretch/>
        </p:blipFill>
        <p:spPr>
          <a:xfrm>
            <a:off x="0" y="0"/>
            <a:ext cx="7562088" cy="3931920"/>
          </a:xfrm>
          <a:prstGeom prst="rect">
            <a:avLst/>
          </a:prstGeom>
        </p:spPr>
      </p:pic>
      <p:sp>
        <p:nvSpPr>
          <p:cNvPr id="3" name="text-636"/>
          <p:cNvSpPr txBox="1"/>
          <p:nvPr/>
        </p:nvSpPr>
        <p:spPr>
          <a:xfrm>
            <a:off x="548640" y="3977640"/>
            <a:ext cx="6464808" cy="228600"/>
          </a:xfrm>
          <a:prstGeom prst="rect">
            <a:avLst/>
          </a:prstGeom>
          <a:noFill/>
          <a:ln/>
        </p:spPr>
        <p:txBody>
          <a:bodyPr wrap="square" lIns="0" tIns="0" rIns="0" bIns="0" rtlCol="0" anchor="t"/>
          <a:lstStyle/>
          <a:p>
            <a:pPr indent="0" marL="0">
              <a:buNone/>
            </a:pPr>
            <a:r>
              <a:rPr lang="en-US" sz="850" i="1" dirty="0">
                <a:solidFill>
                  <a:schemeClr val="tx2"/>
                </a:solidFill>
              </a:rPr>
              <a:t>The eco-tour reindeer herd grazing on the tundra by the Snow Garden Park, with the foothill pines and Mount Aurora behind.</a:t>
            </a:r>
            <a:endParaRPr lang="en-US" sz="850" dirty="0"/>
          </a:p>
        </p:txBody>
      </p:sp>
      <p:sp>
        <p:nvSpPr>
          <p:cNvPr id="4" name="kicker-dot-637"/>
          <p:cNvSpPr/>
          <p:nvPr/>
        </p:nvSpPr>
        <p:spPr>
          <a:xfrm>
            <a:off x="548640" y="4384548"/>
            <a:ext cx="100584" cy="100584"/>
          </a:xfrm>
          <a:prstGeom prst="ellipse">
            <a:avLst/>
          </a:prstGeom>
          <a:solidFill>
            <a:schemeClr val="accent1"/>
          </a:solidFill>
          <a:ln w="12700">
            <a:solidFill>
              <a:schemeClr val="accent1"/>
            </a:solidFill>
            <a:prstDash val="solid"/>
          </a:ln>
        </p:spPr>
      </p:sp>
      <p:sp>
        <p:nvSpPr>
          <p:cNvPr id="5" name="text-638"/>
          <p:cNvSpPr txBox="1"/>
          <p:nvPr/>
        </p:nvSpPr>
        <p:spPr>
          <a:xfrm>
            <a:off x="731520" y="4343400"/>
            <a:ext cx="5486400" cy="201168"/>
          </a:xfrm>
          <a:prstGeom prst="rect">
            <a:avLst/>
          </a:prstGeom>
          <a:noFill/>
          <a:ln/>
        </p:spPr>
        <p:txBody>
          <a:bodyPr wrap="square" lIns="0" tIns="0" rIns="0" bIns="0" rtlCol="0" anchor="t"/>
          <a:lstStyle/>
          <a:p>
            <a:pPr indent="0" marL="0">
              <a:buNone/>
            </a:pPr>
            <a:r>
              <a:rPr lang="en-US" sz="900" b="1" spc="300" kern="0" dirty="0">
                <a:solidFill>
                  <a:schemeClr val="accent4"/>
                </a:solidFill>
              </a:rPr>
              <a:t>URBAN ECO-SYSTEM</a:t>
            </a:r>
            <a:endParaRPr lang="en-US" sz="900" dirty="0"/>
          </a:p>
        </p:txBody>
      </p:sp>
      <p:sp>
        <p:nvSpPr>
          <p:cNvPr id="6" name="title-639"/>
          <p:cNvSpPr txBox="1"/>
          <p:nvPr/>
        </p:nvSpPr>
        <p:spPr>
          <a:xfrm>
            <a:off x="548640" y="4590288"/>
            <a:ext cx="6464808" cy="640080"/>
          </a:xfrm>
          <a:prstGeom prst="rect">
            <a:avLst/>
          </a:prstGeom>
          <a:noFill/>
          <a:ln/>
        </p:spPr>
        <p:txBody>
          <a:bodyPr wrap="square" lIns="0" tIns="0" rIns="0" bIns="0" rtlCol="0" anchor="t"/>
          <a:lstStyle/>
          <a:p>
            <a:pPr indent="0" marL="0">
              <a:lnSpc>
                <a:spcPct val="92000"/>
              </a:lnSpc>
              <a:buNone/>
            </a:pPr>
            <a:r>
              <a:rPr lang="en-US" sz="3600" b="1" dirty="0">
                <a:solidFill>
                  <a:schemeClr val="tx1"/>
                </a:solidFill>
                <a:latin typeface="+mj-lt" pitchFamily="34" charset="0"/>
                <a:ea typeface="+mj-lt" pitchFamily="34" charset="-122"/>
                <a:cs typeface="+mj-lt" pitchFamily="34" charset="-120"/>
              </a:rPr>
              <a:t>Wild Neighbours</a:t>
            </a:r>
            <a:endParaRPr lang="en-US" sz="3600" dirty="0"/>
          </a:p>
        </p:txBody>
      </p:sp>
      <p:sp>
        <p:nvSpPr>
          <p:cNvPr id="7" name="text-641"/>
          <p:cNvSpPr txBox="1"/>
          <p:nvPr/>
        </p:nvSpPr>
        <p:spPr>
          <a:xfrm>
            <a:off x="548640" y="5257800"/>
            <a:ext cx="6464808" cy="548640"/>
          </a:xfrm>
          <a:prstGeom prst="rect">
            <a:avLst/>
          </a:prstGeom>
          <a:noFill/>
          <a:ln/>
        </p:spPr>
        <p:txBody>
          <a:bodyPr wrap="square" lIns="0" tIns="0" rIns="0" bIns="0" rtlCol="0" anchor="t"/>
          <a:lstStyle/>
          <a:p>
            <a:pPr indent="0" marL="0">
              <a:lnSpc>
                <a:spcPct val="110000"/>
              </a:lnSpc>
              <a:buNone/>
            </a:pPr>
            <a:r>
              <a:rPr lang="en-US" sz="1250" i="1" dirty="0">
                <a:solidFill>
                  <a:schemeClr val="tx2"/>
                </a:solidFill>
                <a:latin typeface="+mj-lt" pitchFamily="34" charset="0"/>
                <a:ea typeface="+mj-lt" pitchFamily="34" charset="-122"/>
                <a:cs typeface="+mj-lt" pitchFamily="34" charset="-120"/>
              </a:rPr>
              <a:t>Aurora Haven is built to share the tundra: animals can move through the city, plants work as snow fences, and farmed life closes the food loop.</a:t>
            </a:r>
            <a:endParaRPr lang="en-US" sz="1250" dirty="0"/>
          </a:p>
        </p:txBody>
      </p:sp>
      <p:sp>
        <p:nvSpPr>
          <p:cNvPr id="8" name="text-642"/>
          <p:cNvSpPr txBox="1"/>
          <p:nvPr/>
        </p:nvSpPr>
        <p:spPr>
          <a:xfrm>
            <a:off x="548640" y="5925312"/>
            <a:ext cx="3095244" cy="201168"/>
          </a:xfrm>
          <a:prstGeom prst="rect">
            <a:avLst/>
          </a:prstGeom>
          <a:noFill/>
          <a:ln/>
        </p:spPr>
        <p:txBody>
          <a:bodyPr wrap="square" lIns="0" tIns="0" rIns="0" bIns="0" rtlCol="0" anchor="t"/>
          <a:lstStyle/>
          <a:p>
            <a:pPr indent="0" marL="0">
              <a:buNone/>
            </a:pPr>
            <a:r>
              <a:rPr lang="en-US" sz="900" b="1" spc="300" kern="0" dirty="0">
                <a:solidFill>
                  <a:schemeClr val="accent4"/>
                </a:solidFill>
              </a:rPr>
              <a:t>ANIMALS</a:t>
            </a:r>
            <a:endParaRPr lang="en-US" sz="900" dirty="0"/>
          </a:p>
        </p:txBody>
      </p:sp>
      <p:sp>
        <p:nvSpPr>
          <p:cNvPr id="9" name="text-643"/>
          <p:cNvSpPr txBox="1"/>
          <p:nvPr/>
        </p:nvSpPr>
        <p:spPr>
          <a:xfrm>
            <a:off x="548640" y="6199632"/>
            <a:ext cx="3095244" cy="2788920"/>
          </a:xfrm>
          <a:prstGeom prst="rect">
            <a:avLst/>
          </a:prstGeom>
          <a:noFill/>
          <a:ln/>
        </p:spPr>
        <p:txBody>
          <a:bodyPr wrap="square" lIns="0" tIns="0" rIns="0" bIns="0" rtlCol="0" anchor="t"/>
          <a:lstStyle/>
          <a:p>
            <a:pPr indent="0" marL="0">
              <a:lnSpc>
                <a:spcPct val="106000"/>
              </a:lnSpc>
              <a:buNone/>
            </a:pPr>
            <a:r>
              <a:rPr lang="en-US" sz="1000" b="1" dirty="0">
                <a:solidFill>
                  <a:schemeClr val="tx1"/>
                </a:solidFill>
              </a:rPr>
              <a:t>Wildlife corridors. </a:t>
            </a:r>
            <a:pPr indent="0" marL="0">
              <a:lnSpc>
                <a:spcPct val="106000"/>
              </a:lnSpc>
              <a:spcAft>
                <a:spcPts val="500"/>
              </a:spcAft>
              <a:buNone/>
            </a:pPr>
            <a:r>
              <a:rPr lang="en-US" sz="1000" dirty="0">
                <a:solidFill>
                  <a:schemeClr val="tx1"/>
                </a:solidFill>
              </a:rPr>
              <a:t>Snow-laden trees on the eastern and western edges give snow buntings, ptarmigans, arctic foxes and hares cover between the open tundra and the parks. Roads beside them have dimmed lights and wildlife underpasses.</a:t>
            </a:r>
            <a:endParaRPr lang="en-US" sz="1000" dirty="0"/>
          </a:p>
          <a:p>
            <a:pPr indent="0" marL="0">
              <a:lnSpc>
                <a:spcPct val="106000"/>
              </a:lnSpc>
              <a:buNone/>
            </a:pPr>
            <a:r>
              <a:rPr lang="en-US" sz="1000" b="1" dirty="0">
                <a:solidFill>
                  <a:schemeClr val="tx1"/>
                </a:solidFill>
              </a:rPr>
              <a:t>Fences with gaps. </a:t>
            </a:r>
            <a:pPr indent="0" marL="0">
              <a:lnSpc>
                <a:spcPct val="106000"/>
              </a:lnSpc>
              <a:spcAft>
                <a:spcPts val="500"/>
              </a:spcAft>
              <a:buNone/>
            </a:pPr>
            <a:r>
              <a:rPr lang="en-US" sz="1000" dirty="0">
                <a:solidFill>
                  <a:schemeClr val="tx1"/>
                </a:solidFill>
              </a:rPr>
              <a:t>Park fences have open rails, so drifting snow blows through, and gaps at ground level, so foxes and hares pass freely.</a:t>
            </a:r>
            <a:endParaRPr lang="en-US" sz="1000" dirty="0"/>
          </a:p>
          <a:p>
            <a:pPr indent="0" marL="0">
              <a:lnSpc>
                <a:spcPct val="106000"/>
              </a:lnSpc>
              <a:buNone/>
            </a:pPr>
            <a:r>
              <a:rPr lang="en-US" sz="1000" b="1" dirty="0">
                <a:solidFill>
                  <a:schemeClr val="tx1"/>
                </a:solidFill>
              </a:rPr>
              <a:t>Reindeer. </a:t>
            </a:r>
            <a:pPr indent="0" marL="0">
              <a:lnSpc>
                <a:spcPct val="106000"/>
              </a:lnSpc>
              <a:spcAft>
                <a:spcPts val="500"/>
              </a:spcAft>
              <a:buNone/>
            </a:pPr>
            <a:r>
              <a:rPr lang="en-US" sz="1000" dirty="0">
                <a:solidFill>
                  <a:schemeClr val="tx1"/>
                </a:solidFill>
              </a:rPr>
              <a:t>The eco-tour herd is cared for by herders who follow Sámi traditions. Rides last only a few hours a day, and GPS collars help find animals grazing on the tundra.</a:t>
            </a:r>
            <a:endParaRPr lang="en-US" sz="1000" dirty="0"/>
          </a:p>
          <a:p>
            <a:pPr indent="0" marL="0">
              <a:lnSpc>
                <a:spcPct val="106000"/>
              </a:lnSpc>
              <a:buNone/>
            </a:pPr>
            <a:r>
              <a:rPr lang="en-US" sz="1000" b="1" dirty="0">
                <a:solidFill>
                  <a:schemeClr val="tx1"/>
                </a:solidFill>
              </a:rPr>
              <a:t>Polar bears. </a:t>
            </a:r>
            <a:pPr indent="0" marL="0">
              <a:lnSpc>
                <a:spcPct val="106000"/>
              </a:lnSpc>
              <a:spcAft>
                <a:spcPts val="500"/>
              </a:spcAft>
              <a:buNone/>
            </a:pPr>
            <a:r>
              <a:rPr lang="en-US" sz="1000" dirty="0">
                <a:solidFill>
                  <a:schemeClr val="tx1"/>
                </a:solidFill>
              </a:rPr>
              <a:t>Fibre-optic sensors in the air base fence alert a wildlife team when a bear comes close, so people and bears stay apart safely.</a:t>
            </a:r>
            <a:endParaRPr lang="en-US" sz="1000" dirty="0"/>
          </a:p>
        </p:txBody>
      </p:sp>
      <p:sp>
        <p:nvSpPr>
          <p:cNvPr id="10" name="text-644"/>
          <p:cNvSpPr txBox="1"/>
          <p:nvPr/>
        </p:nvSpPr>
        <p:spPr>
          <a:xfrm>
            <a:off x="3918204" y="5925312"/>
            <a:ext cx="3095244" cy="201168"/>
          </a:xfrm>
          <a:prstGeom prst="rect">
            <a:avLst/>
          </a:prstGeom>
          <a:noFill/>
          <a:ln/>
        </p:spPr>
        <p:txBody>
          <a:bodyPr wrap="square" lIns="0" tIns="0" rIns="0" bIns="0" rtlCol="0" anchor="t"/>
          <a:lstStyle/>
          <a:p>
            <a:pPr indent="0" marL="0">
              <a:buNone/>
            </a:pPr>
            <a:r>
              <a:rPr lang="en-US" sz="900" b="1" spc="300" kern="0" dirty="0">
                <a:solidFill>
                  <a:schemeClr val="accent1"/>
                </a:solidFill>
              </a:rPr>
              <a:t>PLANTS AND FARMED LIFE</a:t>
            </a:r>
            <a:endParaRPr lang="en-US" sz="900" dirty="0"/>
          </a:p>
        </p:txBody>
      </p:sp>
      <p:sp>
        <p:nvSpPr>
          <p:cNvPr id="11" name="text-645"/>
          <p:cNvSpPr txBox="1"/>
          <p:nvPr/>
        </p:nvSpPr>
        <p:spPr>
          <a:xfrm>
            <a:off x="3918204" y="6199632"/>
            <a:ext cx="3095244" cy="2788920"/>
          </a:xfrm>
          <a:prstGeom prst="rect">
            <a:avLst/>
          </a:prstGeom>
          <a:noFill/>
          <a:ln/>
        </p:spPr>
        <p:txBody>
          <a:bodyPr wrap="square" lIns="0" tIns="0" rIns="0" bIns="0" rtlCol="0" anchor="t"/>
          <a:lstStyle/>
          <a:p>
            <a:pPr indent="0" marL="0">
              <a:lnSpc>
                <a:spcPct val="106000"/>
              </a:lnSpc>
              <a:buNone/>
            </a:pPr>
            <a:r>
              <a:rPr lang="en-US" sz="1000" b="1" dirty="0">
                <a:solidFill>
                  <a:schemeClr val="tx1"/>
                </a:solidFill>
              </a:rPr>
              <a:t>Living snow fences. </a:t>
            </a:r>
            <a:pPr indent="0" marL="0">
              <a:lnSpc>
                <a:spcPct val="106000"/>
              </a:lnSpc>
              <a:spcAft>
                <a:spcPts val="500"/>
              </a:spcAft>
              <a:buNone/>
            </a:pPr>
            <a:r>
              <a:rPr lang="en-US" sz="1000" dirty="0">
                <a:solidFill>
                  <a:schemeClr val="tx1"/>
                </a:solidFill>
              </a:rPr>
              <a:t>Belts of snow spruces and arctic pines trap drifting snow before it reaches the streets; the clean snow is collected for the food plant.</a:t>
            </a:r>
            <a:endParaRPr lang="en-US" sz="1000" dirty="0"/>
          </a:p>
          <a:p>
            <a:pPr indent="0" marL="0">
              <a:lnSpc>
                <a:spcPct val="106000"/>
              </a:lnSpc>
              <a:buNone/>
            </a:pPr>
            <a:r>
              <a:rPr lang="en-US" sz="1000" b="1" dirty="0">
                <a:solidFill>
                  <a:schemeClr val="tx1"/>
                </a:solidFill>
              </a:rPr>
              <a:t>Green stepping stones. </a:t>
            </a:r>
            <a:pPr indent="0" marL="0">
              <a:lnSpc>
                <a:spcPct val="106000"/>
              </a:lnSpc>
              <a:spcAft>
                <a:spcPts val="500"/>
              </a:spcAft>
              <a:buNone/>
            </a:pPr>
            <a:r>
              <a:rPr lang="en-US" sz="1000" dirty="0">
                <a:solidFill>
                  <a:schemeClr val="tx1"/>
                </a:solidFill>
              </a:rPr>
              <a:t>Snow lindens line Liberty Mall, and dwarf pines in heated planters on the Aurora 81 Sky Garden give birds a stepping stone across the city.</a:t>
            </a:r>
            <a:endParaRPr lang="en-US" sz="1000" dirty="0"/>
          </a:p>
          <a:p>
            <a:pPr indent="0" marL="0">
              <a:lnSpc>
                <a:spcPct val="106000"/>
              </a:lnSpc>
              <a:buNone/>
            </a:pPr>
            <a:r>
              <a:rPr lang="en-US" sz="1000" b="1" dirty="0">
                <a:solidFill>
                  <a:schemeClr val="tx1"/>
                </a:solidFill>
              </a:rPr>
              <a:t>Aquaponics. </a:t>
            </a:r>
            <a:pPr indent="0" marL="0">
              <a:lnSpc>
                <a:spcPct val="106000"/>
              </a:lnSpc>
              <a:spcAft>
                <a:spcPts val="500"/>
              </a:spcAft>
              <a:buNone/>
            </a:pPr>
            <a:r>
              <a:rPr lang="en-US" sz="1000" dirty="0">
                <a:solidFill>
                  <a:schemeClr val="tx1"/>
                </a:solidFill>
              </a:rPr>
              <a:t>In the Evergreen Aquaponics Dome, Arctic char and rainbow trout feed beds of lettuce, herbs and strawberries; the loop loses under 2% of its water a day.</a:t>
            </a:r>
            <a:endParaRPr lang="en-US" sz="1000" dirty="0"/>
          </a:p>
          <a:p>
            <a:pPr indent="0" marL="0">
              <a:lnSpc>
                <a:spcPct val="106000"/>
              </a:lnSpc>
              <a:buNone/>
            </a:pPr>
            <a:r>
              <a:rPr lang="en-US" sz="1000" b="1" dirty="0">
                <a:solidFill>
                  <a:schemeClr val="tx1"/>
                </a:solidFill>
              </a:rPr>
              <a:t>Shelter and science. </a:t>
            </a:r>
            <a:pPr indent="0" marL="0">
              <a:lnSpc>
                <a:spcPct val="106000"/>
              </a:lnSpc>
              <a:spcAft>
                <a:spcPts val="500"/>
              </a:spcAft>
              <a:buNone/>
            </a:pPr>
            <a:r>
              <a:rPr lang="en-US" sz="1000" dirty="0">
                <a:solidFill>
                  <a:schemeClr val="tx1"/>
                </a:solidFill>
              </a:rPr>
              <a:t>Rock gardens and boulders shelter ptarmigans and hares; nest boxes and a camera let schoolchildren count visitors with the Polar Climate &amp; Ice Research Institute.</a:t>
            </a:r>
            <a:endParaRPr lang="en-US" sz="1000" dirty="0"/>
          </a:p>
        </p:txBody>
      </p:sp>
      <p:sp>
        <p:nvSpPr>
          <p:cNvPr id="12" name="card-646"/>
          <p:cNvSpPr/>
          <p:nvPr/>
        </p:nvSpPr>
        <p:spPr>
          <a:xfrm>
            <a:off x="548640" y="9098280"/>
            <a:ext cx="6464808" cy="868680"/>
          </a:xfrm>
          <a:prstGeom prst="roundRect">
            <a:avLst>
              <a:gd name="adj" fmla="val 8421"/>
            </a:avLst>
          </a:prstGeom>
          <a:solidFill>
            <a:schemeClr val="bg2"/>
          </a:solidFill>
          <a:ln w="12700">
            <a:solidFill>
              <a:schemeClr val="bg2"/>
            </a:solidFill>
            <a:prstDash val="solid"/>
          </a:ln>
        </p:spPr>
      </p:sp>
      <p:sp>
        <p:nvSpPr>
          <p:cNvPr id="13" name="text-647"/>
          <p:cNvSpPr txBox="1"/>
          <p:nvPr/>
        </p:nvSpPr>
        <p:spPr>
          <a:xfrm>
            <a:off x="685800" y="9171432"/>
            <a:ext cx="6190488" cy="731520"/>
          </a:xfrm>
          <a:prstGeom prst="rect">
            <a:avLst/>
          </a:prstGeom>
          <a:noFill/>
          <a:ln/>
        </p:spPr>
        <p:txBody>
          <a:bodyPr wrap="square" lIns="0" tIns="0" rIns="0" bIns="0" rtlCol="0" anchor="ctr"/>
          <a:lstStyle/>
          <a:p>
            <a:pPr indent="0" marL="0">
              <a:lnSpc>
                <a:spcPct val="104000"/>
              </a:lnSpc>
              <a:buNone/>
            </a:pPr>
            <a:r>
              <a:rPr lang="en-US" sz="950" b="1" spc="200" kern="0" dirty="0">
                <a:solidFill>
                  <a:schemeClr val="accent4"/>
                </a:solidFill>
              </a:rPr>
              <a:t>HOW THEY SURVIVE  </a:t>
            </a:r>
            <a:pPr indent="0" marL="0">
              <a:lnSpc>
                <a:spcPct val="104000"/>
              </a:lnSpc>
              <a:buNone/>
            </a:pPr>
            <a:r>
              <a:rPr lang="en-US" sz="950" dirty="0">
                <a:solidFill>
                  <a:schemeClr val="tx1"/>
                </a:solidFill>
              </a:rPr>
              <a:t>Arctic foxes grow a deep, pale winter coat that blends into the snow and keeps them warm down to about −50 °C [15]. The city helps them with cover, safe crossings and dark nights: outdoor lights switch on only when something moves.</a:t>
            </a:r>
            <a:endParaRPr lang="en-US" sz="950" dirty="0"/>
          </a:p>
        </p:txBody>
      </p:sp>
      <p:sp>
        <p:nvSpPr>
          <p:cNvPr id="14" name="page-number"/>
          <p:cNvSpPr txBox="1"/>
          <p:nvPr/>
        </p:nvSpPr>
        <p:spPr>
          <a:xfrm>
            <a:off x="6601968" y="10177272"/>
            <a:ext cx="411480" cy="219456"/>
          </a:xfrm>
          <a:prstGeom prst="rect">
            <a:avLst/>
          </a:prstGeom>
          <a:noFill/>
          <a:ln/>
        </p:spPr>
        <p:txBody>
          <a:bodyPr wrap="square" lIns="0" tIns="0" rIns="0" bIns="0" rtlCol="0" anchor="ctr"/>
          <a:lstStyle/>
          <a:p>
            <a:pPr algn="r" indent="0" marL="0">
              <a:buNone/>
            </a:pPr>
            <a:r>
              <a:rPr lang="en-US" sz="900" b="1" dirty="0">
                <a:solidFill>
                  <a:schemeClr val="tx1"/>
                </a:solidFill>
              </a:rPr>
              <a:t>27</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dot-648"/>
          <p:cNvSpPr/>
          <p:nvPr/>
        </p:nvSpPr>
        <p:spPr>
          <a:xfrm>
            <a:off x="548640" y="544068"/>
            <a:ext cx="100584" cy="100584"/>
          </a:xfrm>
          <a:prstGeom prst="ellipse">
            <a:avLst/>
          </a:prstGeom>
          <a:solidFill>
            <a:schemeClr val="accent6"/>
          </a:solidFill>
          <a:ln w="12700">
            <a:solidFill>
              <a:schemeClr val="accent6"/>
            </a:solidFill>
            <a:prstDash val="solid"/>
          </a:ln>
        </p:spPr>
      </p:sp>
      <p:sp>
        <p:nvSpPr>
          <p:cNvPr id="3" name="text-649"/>
          <p:cNvSpPr txBox="1"/>
          <p:nvPr/>
        </p:nvSpPr>
        <p:spPr>
          <a:xfrm>
            <a:off x="731520" y="502920"/>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TRANSPORT</a:t>
            </a:r>
            <a:endParaRPr lang="en-US" sz="900" dirty="0"/>
          </a:p>
        </p:txBody>
      </p:sp>
      <p:sp>
        <p:nvSpPr>
          <p:cNvPr id="4" name="title-650"/>
          <p:cNvSpPr txBox="1"/>
          <p:nvPr/>
        </p:nvSpPr>
        <p:spPr>
          <a:xfrm>
            <a:off x="548640" y="758952"/>
            <a:ext cx="6464808" cy="685800"/>
          </a:xfrm>
          <a:prstGeom prst="rect">
            <a:avLst/>
          </a:prstGeom>
          <a:noFill/>
          <a:ln/>
        </p:spPr>
        <p:txBody>
          <a:bodyPr wrap="square" lIns="0" tIns="0" rIns="0" bIns="0" rtlCol="0" anchor="t"/>
          <a:lstStyle/>
          <a:p>
            <a:pPr indent="0" marL="0">
              <a:lnSpc>
                <a:spcPct val="92000"/>
              </a:lnSpc>
              <a:buNone/>
            </a:pPr>
            <a:r>
              <a:rPr lang="en-US" sz="3400" b="1" dirty="0">
                <a:solidFill>
                  <a:schemeClr val="tx1"/>
                </a:solidFill>
                <a:latin typeface="+mj-lt" pitchFamily="34" charset="0"/>
                <a:ea typeface="+mj-lt" pitchFamily="34" charset="-122"/>
                <a:cs typeface="+mj-lt" pitchFamily="34" charset="-120"/>
              </a:rPr>
              <a:t>Getting Around Fossil-Free</a:t>
            </a:r>
            <a:endParaRPr lang="en-US" sz="3400" dirty="0"/>
          </a:p>
        </p:txBody>
      </p:sp>
      <p:pic>
        <p:nvPicPr>
          <p:cNvPr id="5" name="picture-652" descr="/home/user/chatbox-bi-n-o/magazine/assets/renders/airport.jpg">    </p:cNvPr>
          <p:cNvPicPr>
            <a:picLocks noChangeAspect="1"/>
          </p:cNvPicPr>
          <p:nvPr/>
        </p:nvPicPr>
        <p:blipFill>
          <a:blip r:embed="rId1"/>
          <a:srcRect l="0" r="0" t="0" b="0"/>
          <a:stretch/>
        </p:blipFill>
        <p:spPr>
          <a:xfrm>
            <a:off x="0" y="1508760"/>
            <a:ext cx="7562088" cy="2743200"/>
          </a:xfrm>
          <a:prstGeom prst="rect">
            <a:avLst/>
          </a:prstGeom>
        </p:spPr>
      </p:pic>
      <p:sp>
        <p:nvSpPr>
          <p:cNvPr id="6" name="text-653"/>
          <p:cNvSpPr txBox="1"/>
          <p:nvPr/>
        </p:nvSpPr>
        <p:spPr>
          <a:xfrm>
            <a:off x="548640" y="4297680"/>
            <a:ext cx="6464808" cy="228600"/>
          </a:xfrm>
          <a:prstGeom prst="rect">
            <a:avLst/>
          </a:prstGeom>
          <a:noFill/>
          <a:ln/>
        </p:spPr>
        <p:txBody>
          <a:bodyPr wrap="square" lIns="0" tIns="0" rIns="0" bIns="0" rtlCol="0" anchor="t"/>
          <a:lstStyle/>
          <a:p>
            <a:pPr indent="0" marL="0">
              <a:buNone/>
            </a:pPr>
            <a:r>
              <a:rPr lang="en-US" sz="850" i="1" dirty="0">
                <a:solidFill>
                  <a:schemeClr val="tx2"/>
                </a:solidFill>
              </a:rPr>
              <a:t>Compact Polar Airport at dusk: the glass terminal, the control tower and Flight VN-81 climbing out.</a:t>
            </a:r>
            <a:endParaRPr lang="en-US" sz="850" dirty="0"/>
          </a:p>
        </p:txBody>
      </p:sp>
      <p:sp>
        <p:nvSpPr>
          <p:cNvPr id="7" name="text-654"/>
          <p:cNvSpPr txBox="1"/>
          <p:nvPr/>
        </p:nvSpPr>
        <p:spPr>
          <a:xfrm>
            <a:off x="548640" y="4663440"/>
            <a:ext cx="3611880" cy="2743200"/>
          </a:xfrm>
          <a:prstGeom prst="rect">
            <a:avLst/>
          </a:prstGeom>
          <a:noFill/>
          <a:ln/>
        </p:spPr>
        <p:txBody>
          <a:bodyPr wrap="square" lIns="0" tIns="0" rIns="0" bIns="0" rtlCol="0" anchor="t"/>
          <a:lstStyle/>
          <a:p>
            <a:pPr indent="0" marL="0">
              <a:lnSpc>
                <a:spcPct val="112000"/>
              </a:lnSpc>
              <a:spcAft>
                <a:spcPts val="700"/>
              </a:spcAft>
              <a:buNone/>
            </a:pPr>
            <a:r>
              <a:rPr lang="en-US" sz="1000" dirty="0">
                <a:solidFill>
                  <a:schemeClr val="tx1"/>
                </a:solidFill>
              </a:rPr>
              <a:t>Transport in Aurora Haven is electric and built for the cold. The heart of it is the metro: the north–south Aurora Line and the deep east–west Glacier Line meet at the Central Interchange Station under Liberty Mall. The driverless four-car trains run underground, so blizzards never stop them.</a:t>
            </a:r>
            <a:endParaRPr lang="en-US" sz="1000" dirty="0"/>
          </a:p>
          <a:p>
            <a:pPr indent="0" marL="0">
              <a:lnSpc>
                <a:spcPct val="112000"/>
              </a:lnSpc>
              <a:spcAft>
                <a:spcPts val="700"/>
              </a:spcAft>
              <a:buNone/>
            </a:pPr>
            <a:r>
              <a:rPr lang="en-US" sz="1000" dirty="0">
                <a:solidFill>
                  <a:schemeClr val="tx1"/>
                </a:solidFill>
              </a:rPr>
              <a:t>On the streets there are electric trams, buses and shared robotaxis, and people wait in heated bus shelters. The roads are warmed from below, so no salt is needed, as in Reykjavík, where water returning from home heating melts the snow under streets [18].</a:t>
            </a:r>
            <a:endParaRPr lang="en-US" sz="1000" dirty="0"/>
          </a:p>
          <a:p>
            <a:pPr indent="0" marL="0">
              <a:lnSpc>
                <a:spcPct val="112000"/>
              </a:lnSpc>
              <a:spcAft>
                <a:spcPts val="700"/>
              </a:spcAft>
              <a:buNone/>
            </a:pPr>
            <a:r>
              <a:rPr lang="en-US" sz="1000" dirty="0">
                <a:solidFill>
                  <a:schemeClr val="tx1"/>
                </a:solidFill>
              </a:rPr>
              <a:t>The airport, with its heated runway and e-fuel planes, keeps the city supplied through deep winter.</a:t>
            </a:r>
            <a:endParaRPr lang="en-US" sz="1000" dirty="0"/>
          </a:p>
        </p:txBody>
      </p:sp>
      <p:sp>
        <p:nvSpPr>
          <p:cNvPr id="8" name="metro-aurora-line"/>
          <p:cNvSpPr/>
          <p:nvPr/>
        </p:nvSpPr>
        <p:spPr>
          <a:xfrm>
            <a:off x="5769864" y="4709160"/>
            <a:ext cx="0" cy="2514600"/>
          </a:xfrm>
          <a:prstGeom prst="line">
            <a:avLst/>
          </a:prstGeom>
          <a:noFill/>
          <a:ln w="88900">
            <a:solidFill>
              <a:schemeClr val="accent6"/>
            </a:solidFill>
            <a:prstDash val="solid"/>
          </a:ln>
        </p:spPr>
      </p:sp>
      <p:sp>
        <p:nvSpPr>
          <p:cNvPr id="9" name="metro-glacier-line"/>
          <p:cNvSpPr/>
          <p:nvPr/>
        </p:nvSpPr>
        <p:spPr>
          <a:xfrm>
            <a:off x="4526280" y="6035040"/>
            <a:ext cx="2487168" cy="0"/>
          </a:xfrm>
          <a:prstGeom prst="line">
            <a:avLst/>
          </a:prstGeom>
          <a:noFill/>
          <a:ln w="88900">
            <a:solidFill>
              <a:schemeClr val="accent4"/>
            </a:solidFill>
            <a:prstDash val="solid"/>
          </a:ln>
        </p:spPr>
      </p:sp>
      <p:sp>
        <p:nvSpPr>
          <p:cNvPr id="10" name="metro-interchange"/>
          <p:cNvSpPr/>
          <p:nvPr/>
        </p:nvSpPr>
        <p:spPr>
          <a:xfrm>
            <a:off x="5568696" y="5833872"/>
            <a:ext cx="402336" cy="402336"/>
          </a:xfrm>
          <a:prstGeom prst="ellipse">
            <a:avLst/>
          </a:prstGeom>
          <a:solidFill>
            <a:schemeClr val="bg1"/>
          </a:solidFill>
          <a:ln w="38100">
            <a:solidFill>
              <a:schemeClr val="tx1"/>
            </a:solidFill>
            <a:prstDash val="solid"/>
          </a:ln>
        </p:spPr>
      </p:sp>
      <p:sp>
        <p:nvSpPr>
          <p:cNvPr id="11" name="text-655"/>
          <p:cNvSpPr txBox="1"/>
          <p:nvPr/>
        </p:nvSpPr>
        <p:spPr>
          <a:xfrm>
            <a:off x="5897880" y="4709160"/>
            <a:ext cx="1188720" cy="365760"/>
          </a:xfrm>
          <a:prstGeom prst="rect">
            <a:avLst/>
          </a:prstGeom>
          <a:noFill/>
          <a:ln/>
        </p:spPr>
        <p:txBody>
          <a:bodyPr wrap="square" lIns="0" tIns="0" rIns="0" bIns="0" rtlCol="0" anchor="t"/>
          <a:lstStyle/>
          <a:p>
            <a:pPr indent="0" marL="0">
              <a:buNone/>
            </a:pPr>
            <a:r>
              <a:rPr lang="en-US" sz="900" b="1" dirty="0">
                <a:solidFill>
                  <a:schemeClr val="accent6"/>
                </a:solidFill>
              </a:rPr>
              <a:t>Aurora Line</a:t>
            </a:r>
            <a:endParaRPr lang="en-US" sz="900" dirty="0"/>
          </a:p>
          <a:p>
            <a:pPr indent="0" marL="0">
              <a:buNone/>
            </a:pPr>
            <a:r>
              <a:rPr lang="en-US" sz="900" b="1" dirty="0">
                <a:solidFill>
                  <a:schemeClr val="accent6"/>
                </a:solidFill>
              </a:rPr>
              <a:t>north–south</a:t>
            </a:r>
            <a:endParaRPr lang="en-US" sz="900" dirty="0"/>
          </a:p>
        </p:txBody>
      </p:sp>
      <p:sp>
        <p:nvSpPr>
          <p:cNvPr id="12" name="text-656"/>
          <p:cNvSpPr txBox="1"/>
          <p:nvPr/>
        </p:nvSpPr>
        <p:spPr>
          <a:xfrm>
            <a:off x="4526280" y="6181344"/>
            <a:ext cx="1005840" cy="365760"/>
          </a:xfrm>
          <a:prstGeom prst="rect">
            <a:avLst/>
          </a:prstGeom>
          <a:noFill/>
          <a:ln/>
        </p:spPr>
        <p:txBody>
          <a:bodyPr wrap="square" lIns="0" tIns="0" rIns="0" bIns="0" rtlCol="0" anchor="t"/>
          <a:lstStyle/>
          <a:p>
            <a:pPr indent="0" marL="0">
              <a:buNone/>
            </a:pPr>
            <a:r>
              <a:rPr lang="en-US" sz="900" b="1" dirty="0">
                <a:solidFill>
                  <a:schemeClr val="accent4"/>
                </a:solidFill>
              </a:rPr>
              <a:t>Glacier Line</a:t>
            </a:r>
            <a:endParaRPr lang="en-US" sz="900" dirty="0"/>
          </a:p>
          <a:p>
            <a:pPr indent="0" marL="0">
              <a:buNone/>
            </a:pPr>
            <a:r>
              <a:rPr lang="en-US" sz="900" b="1" dirty="0">
                <a:solidFill>
                  <a:schemeClr val="accent4"/>
                </a:solidFill>
              </a:rPr>
              <a:t>east–west</a:t>
            </a:r>
            <a:endParaRPr lang="en-US" sz="900" dirty="0"/>
          </a:p>
        </p:txBody>
      </p:sp>
      <p:sp>
        <p:nvSpPr>
          <p:cNvPr id="13" name="text-657"/>
          <p:cNvSpPr txBox="1"/>
          <p:nvPr/>
        </p:nvSpPr>
        <p:spPr>
          <a:xfrm>
            <a:off x="6044184" y="5468112"/>
            <a:ext cx="1051560" cy="502920"/>
          </a:xfrm>
          <a:prstGeom prst="rect">
            <a:avLst/>
          </a:prstGeom>
          <a:noFill/>
          <a:ln/>
        </p:spPr>
        <p:txBody>
          <a:bodyPr wrap="square" lIns="0" tIns="0" rIns="0" bIns="0" rtlCol="0" anchor="b"/>
          <a:lstStyle/>
          <a:p>
            <a:pPr indent="0" marL="0">
              <a:buNone/>
            </a:pPr>
            <a:r>
              <a:rPr lang="en-US" sz="850" b="1" dirty="0">
                <a:solidFill>
                  <a:schemeClr val="tx1"/>
                </a:solidFill>
              </a:rPr>
              <a:t>Central Interchange Station, under Liberty Mall</a:t>
            </a:r>
            <a:endParaRPr lang="en-US" sz="850" dirty="0"/>
          </a:p>
        </p:txBody>
      </p:sp>
      <p:sp>
        <p:nvSpPr>
          <p:cNvPr id="14" name="card-658"/>
          <p:cNvSpPr/>
          <p:nvPr/>
        </p:nvSpPr>
        <p:spPr>
          <a:xfrm>
            <a:off x="548640" y="7452360"/>
            <a:ext cx="1533906" cy="1536192"/>
          </a:xfrm>
          <a:prstGeom prst="roundRect">
            <a:avLst>
              <a:gd name="adj" fmla="val 4769"/>
            </a:avLst>
          </a:prstGeom>
          <a:solidFill>
            <a:schemeClr val="bg2"/>
          </a:solidFill>
          <a:ln w="12700">
            <a:solidFill>
              <a:schemeClr val="bg2"/>
            </a:solidFill>
            <a:prstDash val="solid"/>
          </a:ln>
        </p:spPr>
      </p:sp>
      <p:sp>
        <p:nvSpPr>
          <p:cNvPr id="15" name="text-659"/>
          <p:cNvSpPr txBox="1"/>
          <p:nvPr/>
        </p:nvSpPr>
        <p:spPr>
          <a:xfrm>
            <a:off x="640080" y="7534656"/>
            <a:ext cx="1351026" cy="219456"/>
          </a:xfrm>
          <a:prstGeom prst="rect">
            <a:avLst/>
          </a:prstGeom>
          <a:noFill/>
          <a:ln/>
        </p:spPr>
        <p:txBody>
          <a:bodyPr wrap="square" lIns="0" tIns="0" rIns="0" bIns="0" rtlCol="0" anchor="t"/>
          <a:lstStyle/>
          <a:p>
            <a:pPr indent="0" marL="0">
              <a:buNone/>
            </a:pPr>
            <a:r>
              <a:rPr lang="en-US" sz="950" b="1" dirty="0">
                <a:solidFill>
                  <a:schemeClr val="accent6"/>
                </a:solidFill>
              </a:rPr>
              <a:t>Who rides</a:t>
            </a:r>
            <a:endParaRPr lang="en-US" sz="950" dirty="0"/>
          </a:p>
        </p:txBody>
      </p:sp>
      <p:sp>
        <p:nvSpPr>
          <p:cNvPr id="16" name="text-660"/>
          <p:cNvSpPr txBox="1"/>
          <p:nvPr/>
        </p:nvSpPr>
        <p:spPr>
          <a:xfrm>
            <a:off x="640080" y="7772400"/>
            <a:ext cx="1351026" cy="1188720"/>
          </a:xfrm>
          <a:prstGeom prst="rect">
            <a:avLst/>
          </a:prstGeom>
          <a:noFill/>
          <a:ln/>
        </p:spPr>
        <p:txBody>
          <a:bodyPr wrap="square" lIns="0" tIns="0" rIns="0" bIns="0" rtlCol="0" anchor="t"/>
          <a:lstStyle/>
          <a:p>
            <a:pPr indent="0" marL="0">
              <a:lnSpc>
                <a:spcPct val="102000"/>
              </a:lnSpc>
              <a:buNone/>
            </a:pPr>
            <a:r>
              <a:rPr lang="en-US" sz="850" dirty="0">
                <a:solidFill>
                  <a:schemeClr val="tx1"/>
                </a:solidFill>
              </a:rPr>
              <a:t>Commuters, students, shoppers and stadium fans. Heated cars have space for wheelchairs, prams and skis.</a:t>
            </a:r>
            <a:endParaRPr lang="en-US" sz="850" dirty="0"/>
          </a:p>
        </p:txBody>
      </p:sp>
      <p:sp>
        <p:nvSpPr>
          <p:cNvPr id="17" name="card-661"/>
          <p:cNvSpPr/>
          <p:nvPr/>
        </p:nvSpPr>
        <p:spPr>
          <a:xfrm>
            <a:off x="2192274" y="7452360"/>
            <a:ext cx="1533906" cy="1536192"/>
          </a:xfrm>
          <a:prstGeom prst="roundRect">
            <a:avLst>
              <a:gd name="adj" fmla="val 4769"/>
            </a:avLst>
          </a:prstGeom>
          <a:solidFill>
            <a:schemeClr val="bg2"/>
          </a:solidFill>
          <a:ln w="12700">
            <a:solidFill>
              <a:schemeClr val="bg2"/>
            </a:solidFill>
            <a:prstDash val="solid"/>
          </a:ln>
        </p:spPr>
      </p:sp>
      <p:sp>
        <p:nvSpPr>
          <p:cNvPr id="18" name="text-662"/>
          <p:cNvSpPr txBox="1"/>
          <p:nvPr/>
        </p:nvSpPr>
        <p:spPr>
          <a:xfrm>
            <a:off x="2283714" y="7534656"/>
            <a:ext cx="1351026" cy="219456"/>
          </a:xfrm>
          <a:prstGeom prst="rect">
            <a:avLst/>
          </a:prstGeom>
          <a:noFill/>
          <a:ln/>
        </p:spPr>
        <p:txBody>
          <a:bodyPr wrap="square" lIns="0" tIns="0" rIns="0" bIns="0" rtlCol="0" anchor="t"/>
          <a:lstStyle/>
          <a:p>
            <a:pPr indent="0" marL="0">
              <a:buNone/>
            </a:pPr>
            <a:r>
              <a:rPr lang="en-US" sz="950" b="1" dirty="0">
                <a:solidFill>
                  <a:schemeClr val="accent6"/>
                </a:solidFill>
              </a:rPr>
              <a:t>How many</a:t>
            </a:r>
            <a:endParaRPr lang="en-US" sz="950" dirty="0"/>
          </a:p>
        </p:txBody>
      </p:sp>
      <p:sp>
        <p:nvSpPr>
          <p:cNvPr id="19" name="text-663"/>
          <p:cNvSpPr txBox="1"/>
          <p:nvPr/>
        </p:nvSpPr>
        <p:spPr>
          <a:xfrm>
            <a:off x="2283714" y="7772400"/>
            <a:ext cx="1351026" cy="1188720"/>
          </a:xfrm>
          <a:prstGeom prst="rect">
            <a:avLst/>
          </a:prstGeom>
          <a:noFill/>
          <a:ln/>
        </p:spPr>
        <p:txBody>
          <a:bodyPr wrap="square" lIns="0" tIns="0" rIns="0" bIns="0" rtlCol="0" anchor="t"/>
          <a:lstStyle/>
          <a:p>
            <a:pPr indent="0" marL="0">
              <a:lnSpc>
                <a:spcPct val="102000"/>
              </a:lnSpc>
              <a:buNone/>
            </a:pPr>
            <a:r>
              <a:rPr lang="en-US" sz="850" dirty="0">
                <a:solidFill>
                  <a:schemeClr val="tx1"/>
                </a:solidFill>
              </a:rPr>
              <a:t>Our estimate: if a four-car train carries about 400 people, a train every 3 min moves about 8,000 people an hour each way. After stadium events, trains every 90 s could clear the 8,000 seats in about 30 minutes.</a:t>
            </a:r>
            <a:endParaRPr lang="en-US" sz="850" dirty="0"/>
          </a:p>
        </p:txBody>
      </p:sp>
      <p:sp>
        <p:nvSpPr>
          <p:cNvPr id="20" name="card-664"/>
          <p:cNvSpPr/>
          <p:nvPr/>
        </p:nvSpPr>
        <p:spPr>
          <a:xfrm>
            <a:off x="3835908" y="7452360"/>
            <a:ext cx="1533906" cy="1536192"/>
          </a:xfrm>
          <a:prstGeom prst="roundRect">
            <a:avLst>
              <a:gd name="adj" fmla="val 4769"/>
            </a:avLst>
          </a:prstGeom>
          <a:solidFill>
            <a:schemeClr val="bg2"/>
          </a:solidFill>
          <a:ln w="12700">
            <a:solidFill>
              <a:schemeClr val="bg2"/>
            </a:solidFill>
            <a:prstDash val="solid"/>
          </a:ln>
        </p:spPr>
      </p:sp>
      <p:sp>
        <p:nvSpPr>
          <p:cNvPr id="21" name="text-665"/>
          <p:cNvSpPr txBox="1"/>
          <p:nvPr/>
        </p:nvSpPr>
        <p:spPr>
          <a:xfrm>
            <a:off x="3927348" y="7534656"/>
            <a:ext cx="1351026" cy="219456"/>
          </a:xfrm>
          <a:prstGeom prst="rect">
            <a:avLst/>
          </a:prstGeom>
          <a:noFill/>
          <a:ln/>
        </p:spPr>
        <p:txBody>
          <a:bodyPr wrap="square" lIns="0" tIns="0" rIns="0" bIns="0" rtlCol="0" anchor="t"/>
          <a:lstStyle/>
          <a:p>
            <a:pPr indent="0" marL="0">
              <a:buNone/>
            </a:pPr>
            <a:r>
              <a:rPr lang="en-US" sz="950" b="1" dirty="0">
                <a:solidFill>
                  <a:schemeClr val="accent6"/>
                </a:solidFill>
              </a:rPr>
              <a:t>Safe in a storm</a:t>
            </a:r>
            <a:endParaRPr lang="en-US" sz="950" dirty="0"/>
          </a:p>
        </p:txBody>
      </p:sp>
      <p:sp>
        <p:nvSpPr>
          <p:cNvPr id="22" name="text-666"/>
          <p:cNvSpPr txBox="1"/>
          <p:nvPr/>
        </p:nvSpPr>
        <p:spPr>
          <a:xfrm>
            <a:off x="3927348" y="7772400"/>
            <a:ext cx="1351026" cy="1188720"/>
          </a:xfrm>
          <a:prstGeom prst="rect">
            <a:avLst/>
          </a:prstGeom>
          <a:noFill/>
          <a:ln/>
        </p:spPr>
        <p:txBody>
          <a:bodyPr wrap="square" lIns="0" tIns="0" rIns="0" bIns="0" rtlCol="0" anchor="t"/>
          <a:lstStyle/>
          <a:p>
            <a:pPr indent="0" marL="0">
              <a:lnSpc>
                <a:spcPct val="102000"/>
              </a:lnSpc>
              <a:buNone/>
            </a:pPr>
            <a:r>
              <a:rPr lang="en-US" sz="850" dirty="0">
                <a:solidFill>
                  <a:schemeClr val="tx1"/>
                </a:solidFill>
              </a:rPr>
              <a:t>Deep, insulated tunnels kept at about +5 °C, emergency walkways with glow strips, and doors straight into the four shelters.</a:t>
            </a:r>
            <a:endParaRPr lang="en-US" sz="850" dirty="0"/>
          </a:p>
        </p:txBody>
      </p:sp>
      <p:sp>
        <p:nvSpPr>
          <p:cNvPr id="23" name="card-667"/>
          <p:cNvSpPr/>
          <p:nvPr/>
        </p:nvSpPr>
        <p:spPr>
          <a:xfrm>
            <a:off x="5479542" y="7452360"/>
            <a:ext cx="1533906" cy="1536192"/>
          </a:xfrm>
          <a:prstGeom prst="roundRect">
            <a:avLst>
              <a:gd name="adj" fmla="val 4769"/>
            </a:avLst>
          </a:prstGeom>
          <a:solidFill>
            <a:schemeClr val="bg2"/>
          </a:solidFill>
          <a:ln w="12700">
            <a:solidFill>
              <a:schemeClr val="bg2"/>
            </a:solidFill>
            <a:prstDash val="solid"/>
          </a:ln>
        </p:spPr>
      </p:sp>
      <p:sp>
        <p:nvSpPr>
          <p:cNvPr id="24" name="text-668"/>
          <p:cNvSpPr txBox="1"/>
          <p:nvPr/>
        </p:nvSpPr>
        <p:spPr>
          <a:xfrm>
            <a:off x="5570982" y="7534656"/>
            <a:ext cx="1351026" cy="219456"/>
          </a:xfrm>
          <a:prstGeom prst="rect">
            <a:avLst/>
          </a:prstGeom>
          <a:noFill/>
          <a:ln/>
        </p:spPr>
        <p:txBody>
          <a:bodyPr wrap="square" lIns="0" tIns="0" rIns="0" bIns="0" rtlCol="0" anchor="t"/>
          <a:lstStyle/>
          <a:p>
            <a:pPr indent="0" marL="0">
              <a:buNone/>
            </a:pPr>
            <a:r>
              <a:rPr lang="en-US" sz="950" b="1" dirty="0">
                <a:solidFill>
                  <a:schemeClr val="accent6"/>
                </a:solidFill>
              </a:rPr>
              <a:t>Powered by</a:t>
            </a:r>
            <a:endParaRPr lang="en-US" sz="950" dirty="0"/>
          </a:p>
        </p:txBody>
      </p:sp>
      <p:sp>
        <p:nvSpPr>
          <p:cNvPr id="25" name="text-669"/>
          <p:cNvSpPr txBox="1"/>
          <p:nvPr/>
        </p:nvSpPr>
        <p:spPr>
          <a:xfrm>
            <a:off x="5570982" y="7772400"/>
            <a:ext cx="1351026" cy="1188720"/>
          </a:xfrm>
          <a:prstGeom prst="rect">
            <a:avLst/>
          </a:prstGeom>
          <a:noFill/>
          <a:ln/>
        </p:spPr>
        <p:txBody>
          <a:bodyPr wrap="square" lIns="0" tIns="0" rIns="0" bIns="0" rtlCol="0" anchor="t"/>
          <a:lstStyle/>
          <a:p>
            <a:pPr indent="0" marL="0">
              <a:lnSpc>
                <a:spcPct val="102000"/>
              </a:lnSpc>
              <a:buNone/>
            </a:pPr>
            <a:r>
              <a:rPr lang="en-US" sz="850" dirty="0">
                <a:solidFill>
                  <a:schemeClr val="tx1"/>
                </a:solidFill>
              </a:rPr>
              <a:t>All-electric and driverless. Braking returns about 30% of the energy, and insulation, not heaters, keeps the tunnels above freezing.</a:t>
            </a:r>
            <a:endParaRPr lang="en-US" sz="850" dirty="0"/>
          </a:p>
        </p:txBody>
      </p:sp>
      <p:sp>
        <p:nvSpPr>
          <p:cNvPr id="26" name="text-670"/>
          <p:cNvSpPr txBox="1"/>
          <p:nvPr/>
        </p:nvSpPr>
        <p:spPr>
          <a:xfrm>
            <a:off x="548640" y="9116568"/>
            <a:ext cx="2045208" cy="327152"/>
          </a:xfrm>
          <a:prstGeom prst="rect">
            <a:avLst/>
          </a:prstGeom>
          <a:noFill/>
          <a:ln/>
        </p:spPr>
        <p:txBody>
          <a:bodyPr wrap="square" lIns="0" tIns="0" rIns="0" bIns="0" rtlCol="0" anchor="b"/>
          <a:lstStyle/>
          <a:p>
            <a:pPr indent="0" marL="0">
              <a:buNone/>
            </a:pPr>
            <a:r>
              <a:rPr lang="en-US" sz="2000" b="1" dirty="0">
                <a:solidFill>
                  <a:schemeClr val="accent6"/>
                </a:solidFill>
                <a:latin typeface="+mj-lt" pitchFamily="34" charset="0"/>
                <a:ea typeface="+mj-lt" pitchFamily="34" charset="-122"/>
                <a:cs typeface="+mj-lt" pitchFamily="34" charset="-120"/>
              </a:rPr>
              <a:t>3 min</a:t>
            </a:r>
            <a:endParaRPr lang="en-US" sz="2000" dirty="0"/>
          </a:p>
        </p:txBody>
      </p:sp>
      <p:sp>
        <p:nvSpPr>
          <p:cNvPr id="27" name="text-671"/>
          <p:cNvSpPr txBox="1"/>
          <p:nvPr/>
        </p:nvSpPr>
        <p:spPr>
          <a:xfrm>
            <a:off x="548640" y="9471152"/>
            <a:ext cx="2045208" cy="365760"/>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between trains at rush hour</a:t>
            </a:r>
            <a:endParaRPr lang="en-US" sz="850" dirty="0"/>
          </a:p>
        </p:txBody>
      </p:sp>
      <p:sp>
        <p:nvSpPr>
          <p:cNvPr id="28" name="text-672"/>
          <p:cNvSpPr txBox="1"/>
          <p:nvPr/>
        </p:nvSpPr>
        <p:spPr>
          <a:xfrm>
            <a:off x="2703576" y="9116568"/>
            <a:ext cx="2045208" cy="327152"/>
          </a:xfrm>
          <a:prstGeom prst="rect">
            <a:avLst/>
          </a:prstGeom>
          <a:noFill/>
          <a:ln/>
        </p:spPr>
        <p:txBody>
          <a:bodyPr wrap="square" lIns="0" tIns="0" rIns="0" bIns="0" rtlCol="0" anchor="b"/>
          <a:lstStyle/>
          <a:p>
            <a:pPr indent="0" marL="0">
              <a:buNone/>
            </a:pPr>
            <a:r>
              <a:rPr lang="en-US" sz="2000" b="1" dirty="0">
                <a:solidFill>
                  <a:schemeClr val="accent6"/>
                </a:solidFill>
                <a:latin typeface="+mj-lt" pitchFamily="34" charset="0"/>
                <a:ea typeface="+mj-lt" pitchFamily="34" charset="-122"/>
                <a:cs typeface="+mj-lt" pitchFamily="34" charset="-120"/>
              </a:rPr>
              <a:t>30%</a:t>
            </a:r>
            <a:endParaRPr lang="en-US" sz="2000" dirty="0"/>
          </a:p>
        </p:txBody>
      </p:sp>
      <p:sp>
        <p:nvSpPr>
          <p:cNvPr id="29" name="text-673"/>
          <p:cNvSpPr txBox="1"/>
          <p:nvPr/>
        </p:nvSpPr>
        <p:spPr>
          <a:xfrm>
            <a:off x="2703576" y="9471152"/>
            <a:ext cx="2045208" cy="365760"/>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of train energy returned by braking</a:t>
            </a:r>
            <a:endParaRPr lang="en-US" sz="850" dirty="0"/>
          </a:p>
        </p:txBody>
      </p:sp>
      <p:sp>
        <p:nvSpPr>
          <p:cNvPr id="30" name="text-674"/>
          <p:cNvSpPr txBox="1"/>
          <p:nvPr/>
        </p:nvSpPr>
        <p:spPr>
          <a:xfrm>
            <a:off x="4858512" y="9116568"/>
            <a:ext cx="2045208" cy="327152"/>
          </a:xfrm>
          <a:prstGeom prst="rect">
            <a:avLst/>
          </a:prstGeom>
          <a:noFill/>
          <a:ln/>
        </p:spPr>
        <p:txBody>
          <a:bodyPr wrap="square" lIns="0" tIns="0" rIns="0" bIns="0" rtlCol="0" anchor="b"/>
          <a:lstStyle/>
          <a:p>
            <a:pPr indent="0" marL="0">
              <a:buNone/>
            </a:pPr>
            <a:r>
              <a:rPr lang="en-US" sz="2000" b="1" dirty="0">
                <a:solidFill>
                  <a:schemeClr val="accent6"/>
                </a:solidFill>
                <a:latin typeface="+mj-lt" pitchFamily="34" charset="0"/>
                <a:ea typeface="+mj-lt" pitchFamily="34" charset="-122"/>
                <a:cs typeface="+mj-lt" pitchFamily="34" charset="-120"/>
              </a:rPr>
              <a:t>2,800 m</a:t>
            </a:r>
            <a:endParaRPr lang="en-US" sz="2000" dirty="0"/>
          </a:p>
        </p:txBody>
      </p:sp>
      <p:sp>
        <p:nvSpPr>
          <p:cNvPr id="31" name="text-675"/>
          <p:cNvSpPr txBox="1"/>
          <p:nvPr/>
        </p:nvSpPr>
        <p:spPr>
          <a:xfrm>
            <a:off x="4858512" y="9471152"/>
            <a:ext cx="2045208" cy="365760"/>
          </a:xfrm>
          <a:prstGeom prst="rect">
            <a:avLst/>
          </a:prstGeom>
          <a:noFill/>
          <a:ln/>
        </p:spPr>
        <p:txBody>
          <a:bodyPr wrap="square" lIns="0" tIns="0" rIns="0" bIns="0" rtlCol="0" anchor="t"/>
          <a:lstStyle/>
          <a:p>
            <a:pPr indent="0" marL="0">
              <a:lnSpc>
                <a:spcPct val="105000"/>
              </a:lnSpc>
              <a:buNone/>
            </a:pPr>
            <a:r>
              <a:rPr lang="en-US" sz="850" dirty="0">
                <a:solidFill>
                  <a:schemeClr val="tx2"/>
                </a:solidFill>
              </a:rPr>
              <a:t>heated airport runway</a:t>
            </a:r>
            <a:endParaRPr lang="en-US" sz="850" dirty="0"/>
          </a:p>
        </p:txBody>
      </p:sp>
      <p:sp>
        <p:nvSpPr>
          <p:cNvPr id="32" name="page-number"/>
          <p:cNvSpPr txBox="1"/>
          <p:nvPr/>
        </p:nvSpPr>
        <p:spPr>
          <a:xfrm>
            <a:off x="548640" y="10177272"/>
            <a:ext cx="411480" cy="219456"/>
          </a:xfrm>
          <a:prstGeom prst="rect">
            <a:avLst/>
          </a:prstGeom>
          <a:noFill/>
          <a:ln/>
        </p:spPr>
        <p:txBody>
          <a:bodyPr wrap="square" lIns="0" tIns="0" rIns="0" bIns="0" rtlCol="0" anchor="ctr"/>
          <a:lstStyle/>
          <a:p>
            <a:pPr algn="l" indent="0" marL="0">
              <a:buNone/>
            </a:pPr>
            <a:r>
              <a:rPr lang="en-US" sz="900" b="1" dirty="0">
                <a:solidFill>
                  <a:schemeClr val="tx1"/>
                </a:solidFill>
              </a:rPr>
              <a:t>28</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picture-676" descr="/home/user/chatbox-bi-n-o/magazine/assets/renders/greenhouse.jpg">    </p:cNvPr>
          <p:cNvPicPr>
            <a:picLocks noChangeAspect="1"/>
          </p:cNvPicPr>
          <p:nvPr/>
        </p:nvPicPr>
        <p:blipFill>
          <a:blip r:embed="rId1"/>
          <a:srcRect l="0" r="0" t="0" b="0"/>
          <a:stretch/>
        </p:blipFill>
        <p:spPr>
          <a:xfrm>
            <a:off x="0" y="0"/>
            <a:ext cx="7562088" cy="10689336"/>
          </a:xfrm>
          <a:prstGeom prst="rect">
            <a:avLst/>
          </a:prstGeom>
        </p:spPr>
      </p:pic>
      <p:pic>
        <p:nvPicPr>
          <p:cNvPr id="3" name="shade-top-677" descr="/home/user/chatbox-bi-n-o/magazine/assets/ui/shade_top.png">    </p:cNvPr>
          <p:cNvPicPr>
            <a:picLocks noChangeAspect="1"/>
          </p:cNvPicPr>
          <p:nvPr/>
        </p:nvPicPr>
        <p:blipFill>
          <a:blip r:embed="rId2"/>
          <a:stretch>
            <a:fillRect/>
          </a:stretch>
        </p:blipFill>
        <p:spPr>
          <a:xfrm>
            <a:off x="0" y="0"/>
            <a:ext cx="7562088" cy="3566160"/>
          </a:xfrm>
          <a:prstGeom prst="rect">
            <a:avLst/>
          </a:prstGeom>
        </p:spPr>
      </p:pic>
      <p:pic>
        <p:nvPicPr>
          <p:cNvPr id="4" name="shade-bottom-678" descr="/home/user/chatbox-bi-n-o/magazine/assets/ui/shade_bottom.png">    </p:cNvPr>
          <p:cNvPicPr>
            <a:picLocks noChangeAspect="1"/>
          </p:cNvPicPr>
          <p:nvPr/>
        </p:nvPicPr>
        <p:blipFill>
          <a:blip r:embed="rId3"/>
          <a:stretch>
            <a:fillRect/>
          </a:stretch>
        </p:blipFill>
        <p:spPr>
          <a:xfrm>
            <a:off x="0" y="5852160"/>
            <a:ext cx="7562088" cy="4837176"/>
          </a:xfrm>
          <a:prstGeom prst="rect">
            <a:avLst/>
          </a:prstGeom>
        </p:spPr>
      </p:pic>
      <p:sp>
        <p:nvSpPr>
          <p:cNvPr id="5" name="kicker-dot-679"/>
          <p:cNvSpPr/>
          <p:nvPr/>
        </p:nvSpPr>
        <p:spPr>
          <a:xfrm>
            <a:off x="548640" y="589788"/>
            <a:ext cx="100584" cy="100584"/>
          </a:xfrm>
          <a:prstGeom prst="ellipse">
            <a:avLst/>
          </a:prstGeom>
          <a:solidFill>
            <a:schemeClr val="accent1"/>
          </a:solidFill>
          <a:ln w="12700">
            <a:solidFill>
              <a:schemeClr val="accent1"/>
            </a:solidFill>
            <a:prstDash val="solid"/>
          </a:ln>
        </p:spPr>
      </p:sp>
      <p:sp>
        <p:nvSpPr>
          <p:cNvPr id="6" name="text-680"/>
          <p:cNvSpPr txBox="1"/>
          <p:nvPr/>
        </p:nvSpPr>
        <p:spPr>
          <a:xfrm>
            <a:off x="731520" y="548640"/>
            <a:ext cx="5486400" cy="201168"/>
          </a:xfrm>
          <a:prstGeom prst="rect">
            <a:avLst/>
          </a:prstGeom>
          <a:noFill/>
          <a:ln/>
        </p:spPr>
        <p:txBody>
          <a:bodyPr wrap="square" lIns="0" tIns="0" rIns="0" bIns="0" rtlCol="0" anchor="t"/>
          <a:lstStyle/>
          <a:p>
            <a:pPr indent="0" marL="0">
              <a:buNone/>
            </a:pPr>
            <a:r>
              <a:rPr lang="en-US" sz="900" b="1" spc="300" kern="0" dirty="0">
                <a:solidFill>
                  <a:schemeClr val="bg1"/>
                </a:solidFill>
              </a:rPr>
              <a:t>EVERGREEN GREENHOUSE DOME</a:t>
            </a:r>
            <a:endParaRPr lang="en-US" sz="900" dirty="0"/>
          </a:p>
        </p:txBody>
      </p:sp>
      <p:sp>
        <p:nvSpPr>
          <p:cNvPr id="7" name="title-681"/>
          <p:cNvSpPr txBox="1"/>
          <p:nvPr/>
        </p:nvSpPr>
        <p:spPr>
          <a:xfrm>
            <a:off x="548640" y="804672"/>
            <a:ext cx="6464808" cy="1463040"/>
          </a:xfrm>
          <a:prstGeom prst="rect">
            <a:avLst/>
          </a:prstGeom>
          <a:noFill/>
          <a:ln/>
        </p:spPr>
        <p:txBody>
          <a:bodyPr wrap="square" lIns="0" tIns="0" rIns="0" bIns="0" rtlCol="0" anchor="t"/>
          <a:lstStyle/>
          <a:p>
            <a:pPr indent="0" marL="0">
              <a:lnSpc>
                <a:spcPct val="92000"/>
              </a:lnSpc>
              <a:buNone/>
            </a:pPr>
            <a:r>
              <a:rPr lang="en-US" sz="4400" b="1" dirty="0">
                <a:solidFill>
                  <a:schemeClr val="bg1"/>
                </a:solidFill>
                <a:latin typeface="+mj-lt" pitchFamily="34" charset="0"/>
                <a:ea typeface="+mj-lt" pitchFamily="34" charset="-122"/>
                <a:cs typeface="+mj-lt" pitchFamily="34" charset="-120"/>
              </a:rPr>
              <a:t>Salad Under the Northern Lights</a:t>
            </a:r>
            <a:endParaRPr lang="en-US" sz="4400" dirty="0"/>
          </a:p>
        </p:txBody>
      </p:sp>
      <p:sp>
        <p:nvSpPr>
          <p:cNvPr id="8" name="text-683"/>
          <p:cNvSpPr txBox="1"/>
          <p:nvPr/>
        </p:nvSpPr>
        <p:spPr>
          <a:xfrm>
            <a:off x="548640" y="2286000"/>
            <a:ext cx="5669280" cy="731520"/>
          </a:xfrm>
          <a:prstGeom prst="rect">
            <a:avLst/>
          </a:prstGeom>
          <a:noFill/>
          <a:ln/>
        </p:spPr>
        <p:txBody>
          <a:bodyPr wrap="square" lIns="0" tIns="0" rIns="0" bIns="0" rtlCol="0" anchor="t"/>
          <a:lstStyle/>
          <a:p>
            <a:pPr indent="0" marL="0">
              <a:lnSpc>
                <a:spcPct val="110000"/>
              </a:lnSpc>
              <a:buNone/>
            </a:pPr>
            <a:r>
              <a:rPr lang="en-US" sz="1400" i="1" dirty="0">
                <a:solidFill>
                  <a:schemeClr val="bg1"/>
                </a:solidFill>
                <a:latin typeface="+mj-lt" pitchFamily="34" charset="0"/>
                <a:ea typeface="+mj-lt" pitchFamily="34" charset="-122"/>
                <a:cs typeface="+mj-lt" pitchFamily="34" charset="-120"/>
              </a:rPr>
              <a:t>Fresh salad, tomatoes, peppers, herbs and berries all year, even in the polar night and in winters when supplies can only arrive by air.</a:t>
            </a:r>
            <a:endParaRPr lang="en-US" sz="1400" dirty="0"/>
          </a:p>
        </p:txBody>
      </p:sp>
      <p:sp>
        <p:nvSpPr>
          <p:cNvPr id="9" name="text-684"/>
          <p:cNvSpPr txBox="1"/>
          <p:nvPr/>
        </p:nvSpPr>
        <p:spPr>
          <a:xfrm>
            <a:off x="548640" y="8503920"/>
            <a:ext cx="4023360" cy="1463040"/>
          </a:xfrm>
          <a:prstGeom prst="rect">
            <a:avLst/>
          </a:prstGeom>
          <a:noFill/>
          <a:ln/>
        </p:spPr>
        <p:txBody>
          <a:bodyPr wrap="square" lIns="0" tIns="0" rIns="0" bIns="0" rtlCol="0" anchor="t"/>
          <a:lstStyle/>
          <a:p>
            <a:pPr indent="0" marL="0">
              <a:lnSpc>
                <a:spcPct val="112000"/>
              </a:lnSpc>
              <a:spcAft>
                <a:spcPts val="700"/>
              </a:spcAft>
              <a:buNone/>
            </a:pPr>
            <a:r>
              <a:rPr lang="en-US" sz="1000" dirty="0">
                <a:solidFill>
                  <a:schemeClr val="bg1"/>
                </a:solidFill>
              </a:rPr>
              <a:t>The dome is heated by the district-heating loop and wrapped in thermal curtains at night. LED grow lights give the plants 18-hour “days” on stacked hydroponic racks, and CO₂ from the biogas plant and the waste converter boosts growth.</a:t>
            </a:r>
            <a:endParaRPr lang="en-US" sz="1000" dirty="0"/>
          </a:p>
        </p:txBody>
      </p:sp>
      <p:sp>
        <p:nvSpPr>
          <p:cNvPr id="10" name="text-685"/>
          <p:cNvSpPr txBox="1"/>
          <p:nvPr/>
        </p:nvSpPr>
        <p:spPr>
          <a:xfrm>
            <a:off x="4937760" y="8275320"/>
            <a:ext cx="2075688" cy="403352"/>
          </a:xfrm>
          <a:prstGeom prst="rect">
            <a:avLst/>
          </a:prstGeom>
          <a:noFill/>
          <a:ln/>
        </p:spPr>
        <p:txBody>
          <a:bodyPr wrap="square" lIns="0" tIns="0" rIns="0" bIns="0" rtlCol="0" anchor="b"/>
          <a:lstStyle/>
          <a:p>
            <a:pPr indent="0" marL="0">
              <a:buNone/>
            </a:pPr>
            <a:r>
              <a:rPr lang="en-US" sz="2600" b="1" dirty="0">
                <a:solidFill>
                  <a:schemeClr val="accent1"/>
                </a:solidFill>
                <a:latin typeface="+mj-lt" pitchFamily="34" charset="0"/>
                <a:ea typeface="+mj-lt" pitchFamily="34" charset="-122"/>
                <a:cs typeface="+mj-lt" pitchFamily="34" charset="-120"/>
              </a:rPr>
              <a:t>18 h</a:t>
            </a:r>
            <a:endParaRPr lang="en-US" sz="2600" dirty="0"/>
          </a:p>
        </p:txBody>
      </p:sp>
      <p:sp>
        <p:nvSpPr>
          <p:cNvPr id="11" name="text-686"/>
          <p:cNvSpPr txBox="1"/>
          <p:nvPr/>
        </p:nvSpPr>
        <p:spPr>
          <a:xfrm>
            <a:off x="4937760" y="8706104"/>
            <a:ext cx="2075688" cy="22860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LED “days” for the plants</a:t>
            </a:r>
            <a:endParaRPr lang="en-US" sz="900" dirty="0"/>
          </a:p>
        </p:txBody>
      </p:sp>
      <p:sp>
        <p:nvSpPr>
          <p:cNvPr id="12" name="text-687"/>
          <p:cNvSpPr txBox="1"/>
          <p:nvPr/>
        </p:nvSpPr>
        <p:spPr>
          <a:xfrm>
            <a:off x="4937760" y="9052560"/>
            <a:ext cx="2075688" cy="403352"/>
          </a:xfrm>
          <a:prstGeom prst="rect">
            <a:avLst/>
          </a:prstGeom>
          <a:noFill/>
          <a:ln/>
        </p:spPr>
        <p:txBody>
          <a:bodyPr wrap="square" lIns="0" tIns="0" rIns="0" bIns="0" rtlCol="0" anchor="b"/>
          <a:lstStyle/>
          <a:p>
            <a:pPr indent="0" marL="0">
              <a:buNone/>
            </a:pPr>
            <a:r>
              <a:rPr lang="en-US" sz="2600" b="1" dirty="0">
                <a:solidFill>
                  <a:schemeClr val="accent1"/>
                </a:solidFill>
                <a:latin typeface="+mj-lt" pitchFamily="34" charset="0"/>
                <a:ea typeface="+mj-lt" pitchFamily="34" charset="-122"/>
                <a:cs typeface="+mj-lt" pitchFamily="34" charset="-120"/>
              </a:rPr>
              <a:t>90%</a:t>
            </a:r>
            <a:endParaRPr lang="en-US" sz="2600" dirty="0"/>
          </a:p>
        </p:txBody>
      </p:sp>
      <p:sp>
        <p:nvSpPr>
          <p:cNvPr id="13" name="text-688"/>
          <p:cNvSpPr txBox="1"/>
          <p:nvPr/>
        </p:nvSpPr>
        <p:spPr>
          <a:xfrm>
            <a:off x="4937760" y="9483344"/>
            <a:ext cx="2075688" cy="228600"/>
          </a:xfrm>
          <a:prstGeom prst="rect">
            <a:avLst/>
          </a:prstGeom>
          <a:noFill/>
          <a:ln/>
        </p:spPr>
        <p:txBody>
          <a:bodyPr wrap="square" lIns="0" tIns="0" rIns="0" bIns="0" rtlCol="0" anchor="t"/>
          <a:lstStyle/>
          <a:p>
            <a:pPr indent="0" marL="0">
              <a:lnSpc>
                <a:spcPct val="105000"/>
              </a:lnSpc>
              <a:buNone/>
            </a:pPr>
            <a:r>
              <a:rPr lang="en-US" sz="900" dirty="0">
                <a:solidFill>
                  <a:schemeClr val="bg2"/>
                </a:solidFill>
              </a:rPr>
              <a:t>less water than fields [16]</a:t>
            </a:r>
            <a:endParaRPr lang="en-US" sz="900" dirty="0"/>
          </a:p>
        </p:txBody>
      </p:sp>
      <p:sp>
        <p:nvSpPr>
          <p:cNvPr id="14" name="text-689"/>
          <p:cNvSpPr txBox="1"/>
          <p:nvPr/>
        </p:nvSpPr>
        <p:spPr>
          <a:xfrm>
            <a:off x="548640" y="7909560"/>
            <a:ext cx="6464808" cy="411480"/>
          </a:xfrm>
          <a:prstGeom prst="rect">
            <a:avLst/>
          </a:prstGeom>
          <a:noFill/>
          <a:ln/>
        </p:spPr>
        <p:txBody>
          <a:bodyPr wrap="square" lIns="0" tIns="0" rIns="0" bIns="0" rtlCol="0" anchor="t"/>
          <a:lstStyle/>
          <a:p>
            <a:pPr indent="0" marL="0">
              <a:buNone/>
            </a:pPr>
            <a:r>
              <a:rPr lang="en-US" sz="850" i="1" dirty="0">
                <a:solidFill>
                  <a:schemeClr val="bg2"/>
                </a:solidFill>
              </a:rPr>
              <a:t>Inside the Evergreen Greenhouse Dome, where the flowers for the monument’s red and yellow beds are raised too.</a:t>
            </a:r>
            <a:endParaRPr lang="en-US" sz="850" dirty="0"/>
          </a:p>
        </p:txBody>
      </p:sp>
      <p:sp>
        <p:nvSpPr>
          <p:cNvPr id="15" name="page-number"/>
          <p:cNvSpPr txBox="1"/>
          <p:nvPr/>
        </p:nvSpPr>
        <p:spPr>
          <a:xfrm>
            <a:off x="6601968" y="10177272"/>
            <a:ext cx="411480" cy="219456"/>
          </a:xfrm>
          <a:prstGeom prst="rect">
            <a:avLst/>
          </a:prstGeom>
          <a:noFill/>
          <a:ln/>
        </p:spPr>
        <p:txBody>
          <a:bodyPr wrap="square" lIns="0" tIns="0" rIns="0" bIns="0" rtlCol="0" anchor="ctr"/>
          <a:lstStyle/>
          <a:p>
            <a:pPr algn="r" indent="0" marL="0">
              <a:buNone/>
            </a:pPr>
            <a:r>
              <a:rPr lang="en-US" sz="900" b="1" dirty="0">
                <a:solidFill>
                  <a:schemeClr val="bg1"/>
                </a:solidFill>
              </a:rPr>
              <a:t>29</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icker-dot-690"/>
          <p:cNvSpPr/>
          <p:nvPr/>
        </p:nvSpPr>
        <p:spPr>
          <a:xfrm>
            <a:off x="548640" y="544068"/>
            <a:ext cx="100584" cy="100584"/>
          </a:xfrm>
          <a:prstGeom prst="ellipse">
            <a:avLst/>
          </a:prstGeom>
          <a:solidFill>
            <a:schemeClr val="accent2"/>
          </a:solidFill>
          <a:ln w="12700">
            <a:solidFill>
              <a:schemeClr val="accent2"/>
            </a:solidFill>
            <a:prstDash val="solid"/>
          </a:ln>
        </p:spPr>
      </p:sp>
      <p:sp>
        <p:nvSpPr>
          <p:cNvPr id="3" name="text-691"/>
          <p:cNvSpPr txBox="1"/>
          <p:nvPr/>
        </p:nvSpPr>
        <p:spPr>
          <a:xfrm>
            <a:off x="731520" y="502920"/>
            <a:ext cx="5486400" cy="201168"/>
          </a:xfrm>
          <a:prstGeom prst="rect">
            <a:avLst/>
          </a:prstGeom>
          <a:noFill/>
          <a:ln/>
        </p:spPr>
        <p:txBody>
          <a:bodyPr wrap="square" lIns="0" tIns="0" rIns="0" bIns="0" rtlCol="0" anchor="t"/>
          <a:lstStyle/>
          <a:p>
            <a:pPr indent="0" marL="0">
              <a:buNone/>
            </a:pPr>
            <a:r>
              <a:rPr lang="en-US" sz="900" b="1" spc="300" kern="0" dirty="0">
                <a:solidFill>
                  <a:schemeClr val="accent2"/>
                </a:solidFill>
              </a:rPr>
              <a:t>SAFETY</a:t>
            </a:r>
            <a:endParaRPr lang="en-US" sz="900" dirty="0"/>
          </a:p>
        </p:txBody>
      </p:sp>
      <p:sp>
        <p:nvSpPr>
          <p:cNvPr id="4" name="title-692"/>
          <p:cNvSpPr txBox="1"/>
          <p:nvPr/>
        </p:nvSpPr>
        <p:spPr>
          <a:xfrm>
            <a:off x="548640" y="758952"/>
            <a:ext cx="6464808" cy="685800"/>
          </a:xfrm>
          <a:prstGeom prst="rect">
            <a:avLst/>
          </a:prstGeom>
          <a:noFill/>
          <a:ln/>
        </p:spPr>
        <p:txBody>
          <a:bodyPr wrap="square" lIns="0" tIns="0" rIns="0" bIns="0" rtlCol="0" anchor="t"/>
          <a:lstStyle/>
          <a:p>
            <a:pPr indent="0" marL="0">
              <a:lnSpc>
                <a:spcPct val="92000"/>
              </a:lnSpc>
              <a:buNone/>
            </a:pPr>
            <a:r>
              <a:rPr lang="en-US" sz="3400" b="1" dirty="0">
                <a:solidFill>
                  <a:schemeClr val="tx1"/>
                </a:solidFill>
                <a:latin typeface="+mj-lt" pitchFamily="34" charset="0"/>
                <a:ea typeface="+mj-lt" pitchFamily="34" charset="-122"/>
                <a:cs typeface="+mj-lt" pitchFamily="34" charset="-120"/>
              </a:rPr>
              <a:t>Safe and Ready for Any Storm</a:t>
            </a:r>
            <a:endParaRPr lang="en-US" sz="3400" dirty="0"/>
          </a:p>
        </p:txBody>
      </p:sp>
      <p:pic>
        <p:nvPicPr>
          <p:cNvPr id="5" name="picture-694" descr="/home/user/chatbox-bi-n-o/magazine/assets/renders/rescue.jpg">    </p:cNvPr>
          <p:cNvPicPr>
            <a:picLocks noChangeAspect="1"/>
          </p:cNvPicPr>
          <p:nvPr/>
        </p:nvPicPr>
        <p:blipFill>
          <a:blip r:embed="rId1"/>
          <a:srcRect l="0" r="0" t="0" b="0"/>
          <a:stretch/>
        </p:blipFill>
        <p:spPr>
          <a:xfrm>
            <a:off x="0" y="1508760"/>
            <a:ext cx="7562088" cy="4480560"/>
          </a:xfrm>
          <a:prstGeom prst="rect">
            <a:avLst/>
          </a:prstGeom>
        </p:spPr>
      </p:pic>
      <p:sp>
        <p:nvSpPr>
          <p:cNvPr id="6" name="text-695"/>
          <p:cNvSpPr txBox="1"/>
          <p:nvPr/>
        </p:nvSpPr>
        <p:spPr>
          <a:xfrm>
            <a:off x="548640" y="6035040"/>
            <a:ext cx="6464808" cy="228600"/>
          </a:xfrm>
          <a:prstGeom prst="rect">
            <a:avLst/>
          </a:prstGeom>
          <a:noFill/>
          <a:ln/>
        </p:spPr>
        <p:txBody>
          <a:bodyPr wrap="square" lIns="0" tIns="0" rIns="0" bIns="0" rtlCol="0" anchor="t"/>
          <a:lstStyle/>
          <a:p>
            <a:pPr indent="0" marL="0">
              <a:buNone/>
            </a:pPr>
            <a:r>
              <a:rPr lang="en-US" sz="850" i="1" dirty="0">
                <a:solidFill>
                  <a:schemeClr val="tx2"/>
                </a:solidFill>
              </a:rPr>
              <a:t>The Polar Rescue and Resilience Station in the Energy Hub, north of downtown, with its helipad.</a:t>
            </a:r>
            <a:endParaRPr lang="en-US" sz="850" dirty="0"/>
          </a:p>
        </p:txBody>
      </p:sp>
      <p:sp>
        <p:nvSpPr>
          <p:cNvPr id="7" name="text-696"/>
          <p:cNvSpPr txBox="1"/>
          <p:nvPr/>
        </p:nvSpPr>
        <p:spPr>
          <a:xfrm>
            <a:off x="548640" y="6446520"/>
            <a:ext cx="3095244" cy="2011680"/>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In the polar night, safety comes first. The Polar Rescue and Resilience Station is home to the fire brigade, ambulances, ice rescue and the 112 emergency centre, and its vehicles leave within 60 seconds.</a:t>
            </a:r>
            <a:endParaRPr lang="en-US" sz="1050" dirty="0"/>
          </a:p>
          <a:p>
            <a:pPr indent="0" marL="0">
              <a:lnSpc>
                <a:spcPct val="112000"/>
              </a:lnSpc>
              <a:spcAft>
                <a:spcPts val="700"/>
              </a:spcAft>
              <a:buNone/>
            </a:pPr>
            <a:r>
              <a:rPr lang="en-US" sz="1050" dirty="0">
                <a:solidFill>
                  <a:schemeClr val="tx1"/>
                </a:solidFill>
              </a:rPr>
              <a:t>The West Market Fire &amp; Ambulance Station reaches any downtown address in about four minutes, and a rescue helicopter is ready day and night.</a:t>
            </a:r>
            <a:endParaRPr lang="en-US" sz="1050" dirty="0"/>
          </a:p>
        </p:txBody>
      </p:sp>
      <p:sp>
        <p:nvSpPr>
          <p:cNvPr id="8" name="text-697"/>
          <p:cNvSpPr txBox="1"/>
          <p:nvPr/>
        </p:nvSpPr>
        <p:spPr>
          <a:xfrm>
            <a:off x="3918204" y="6446520"/>
            <a:ext cx="3095244" cy="2011680"/>
          </a:xfrm>
          <a:prstGeom prst="rect">
            <a:avLst/>
          </a:prstGeom>
          <a:noFill/>
          <a:ln/>
        </p:spPr>
        <p:txBody>
          <a:bodyPr wrap="square" lIns="0" tIns="0" rIns="0" bIns="0" rtlCol="0" anchor="t"/>
          <a:lstStyle/>
          <a:p>
            <a:pPr indent="0" marL="0">
              <a:lnSpc>
                <a:spcPct val="112000"/>
              </a:lnSpc>
              <a:spcAft>
                <a:spcPts val="700"/>
              </a:spcAft>
              <a:buNone/>
            </a:pPr>
            <a:r>
              <a:rPr lang="en-US" sz="1050" dirty="0">
                <a:solidFill>
                  <a:schemeClr val="tx1"/>
                </a:solidFill>
              </a:rPr>
              <a:t>Under Liberty Mall, four underground shelters can keep every resident safe for 30 days. Aurora Core, the AI control tower, forecasts blizzards up to 48 hours ahead and alerts every phone.</a:t>
            </a:r>
            <a:endParaRPr lang="en-US" sz="1050" dirty="0"/>
          </a:p>
          <a:p>
            <a:pPr indent="0" marL="0">
              <a:lnSpc>
                <a:spcPct val="112000"/>
              </a:lnSpc>
              <a:spcAft>
                <a:spcPts val="700"/>
              </a:spcAft>
              <a:buNone/>
            </a:pPr>
            <a:r>
              <a:rPr lang="en-US" sz="1050" dirty="0">
                <a:solidFill>
                  <a:schemeClr val="tx1"/>
                </a:solidFill>
              </a:rPr>
              <a:t>Cafés and lobbies act as warm points, and the air base runway is a backup for supply flights.</a:t>
            </a:r>
            <a:endParaRPr lang="en-US" sz="1050" dirty="0"/>
          </a:p>
        </p:txBody>
      </p:sp>
      <p:sp>
        <p:nvSpPr>
          <p:cNvPr id="9" name="text-698"/>
          <p:cNvSpPr txBox="1"/>
          <p:nvPr/>
        </p:nvSpPr>
        <p:spPr>
          <a:xfrm>
            <a:off x="548640" y="8641080"/>
            <a:ext cx="2017776" cy="428752"/>
          </a:xfrm>
          <a:prstGeom prst="rect">
            <a:avLst/>
          </a:prstGeom>
          <a:noFill/>
          <a:ln/>
        </p:spPr>
        <p:txBody>
          <a:bodyPr wrap="square" lIns="0" tIns="0" rIns="0" bIns="0" rtlCol="0" anchor="b"/>
          <a:lstStyle/>
          <a:p>
            <a:pPr indent="0" marL="0">
              <a:buNone/>
            </a:pPr>
            <a:r>
              <a:rPr lang="en-US" sz="2800" b="1" dirty="0">
                <a:solidFill>
                  <a:schemeClr val="accent2"/>
                </a:solidFill>
                <a:latin typeface="+mj-lt" pitchFamily="34" charset="0"/>
                <a:ea typeface="+mj-lt" pitchFamily="34" charset="-122"/>
                <a:cs typeface="+mj-lt" pitchFamily="34" charset="-120"/>
              </a:rPr>
              <a:t>60 s</a:t>
            </a:r>
            <a:endParaRPr lang="en-US" sz="2800" dirty="0"/>
          </a:p>
        </p:txBody>
      </p:sp>
      <p:sp>
        <p:nvSpPr>
          <p:cNvPr id="10" name="text-699"/>
          <p:cNvSpPr txBox="1"/>
          <p:nvPr/>
        </p:nvSpPr>
        <p:spPr>
          <a:xfrm>
            <a:off x="548640" y="9097264"/>
            <a:ext cx="2017776" cy="41148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for rescue vehicles to leave</a:t>
            </a:r>
            <a:endParaRPr lang="en-US" sz="900" dirty="0"/>
          </a:p>
        </p:txBody>
      </p:sp>
      <p:sp>
        <p:nvSpPr>
          <p:cNvPr id="11" name="text-700"/>
          <p:cNvSpPr txBox="1"/>
          <p:nvPr/>
        </p:nvSpPr>
        <p:spPr>
          <a:xfrm>
            <a:off x="2703576" y="8641080"/>
            <a:ext cx="2017776" cy="428752"/>
          </a:xfrm>
          <a:prstGeom prst="rect">
            <a:avLst/>
          </a:prstGeom>
          <a:noFill/>
          <a:ln/>
        </p:spPr>
        <p:txBody>
          <a:bodyPr wrap="square" lIns="0" tIns="0" rIns="0" bIns="0" rtlCol="0" anchor="b"/>
          <a:lstStyle/>
          <a:p>
            <a:pPr indent="0" marL="0">
              <a:buNone/>
            </a:pPr>
            <a:r>
              <a:rPr lang="en-US" sz="2800" b="1" dirty="0">
                <a:solidFill>
                  <a:schemeClr val="accent2"/>
                </a:solidFill>
                <a:latin typeface="+mj-lt" pitchFamily="34" charset="0"/>
                <a:ea typeface="+mj-lt" pitchFamily="34" charset="-122"/>
                <a:cs typeface="+mj-lt" pitchFamily="34" charset="-120"/>
              </a:rPr>
              <a:t>30 days</a:t>
            </a:r>
            <a:endParaRPr lang="en-US" sz="2800" dirty="0"/>
          </a:p>
        </p:txBody>
      </p:sp>
      <p:sp>
        <p:nvSpPr>
          <p:cNvPr id="12" name="text-701"/>
          <p:cNvSpPr txBox="1"/>
          <p:nvPr/>
        </p:nvSpPr>
        <p:spPr>
          <a:xfrm>
            <a:off x="2703576" y="9097264"/>
            <a:ext cx="2017776" cy="41148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of supplies for every resident</a:t>
            </a:r>
            <a:endParaRPr lang="en-US" sz="900" dirty="0"/>
          </a:p>
        </p:txBody>
      </p:sp>
      <p:sp>
        <p:nvSpPr>
          <p:cNvPr id="13" name="text-702"/>
          <p:cNvSpPr txBox="1"/>
          <p:nvPr/>
        </p:nvSpPr>
        <p:spPr>
          <a:xfrm>
            <a:off x="4858512" y="8641080"/>
            <a:ext cx="2017776" cy="428752"/>
          </a:xfrm>
          <a:prstGeom prst="rect">
            <a:avLst/>
          </a:prstGeom>
          <a:noFill/>
          <a:ln/>
        </p:spPr>
        <p:txBody>
          <a:bodyPr wrap="square" lIns="0" tIns="0" rIns="0" bIns="0" rtlCol="0" anchor="b"/>
          <a:lstStyle/>
          <a:p>
            <a:pPr indent="0" marL="0">
              <a:buNone/>
            </a:pPr>
            <a:r>
              <a:rPr lang="en-US" sz="2800" b="1" dirty="0">
                <a:solidFill>
                  <a:schemeClr val="accent2"/>
                </a:solidFill>
                <a:latin typeface="+mj-lt" pitchFamily="34" charset="0"/>
                <a:ea typeface="+mj-lt" pitchFamily="34" charset="-122"/>
                <a:cs typeface="+mj-lt" pitchFamily="34" charset="-120"/>
              </a:rPr>
              <a:t>48 h</a:t>
            </a:r>
            <a:endParaRPr lang="en-US" sz="2800" dirty="0"/>
          </a:p>
        </p:txBody>
      </p:sp>
      <p:sp>
        <p:nvSpPr>
          <p:cNvPr id="14" name="text-703"/>
          <p:cNvSpPr txBox="1"/>
          <p:nvPr/>
        </p:nvSpPr>
        <p:spPr>
          <a:xfrm>
            <a:off x="4858512" y="9097264"/>
            <a:ext cx="2017776" cy="41148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blizzard forecasts</a:t>
            </a:r>
            <a:endParaRPr lang="en-US" sz="900" dirty="0"/>
          </a:p>
        </p:txBody>
      </p:sp>
      <p:sp>
        <p:nvSpPr>
          <p:cNvPr id="15" name="page-number"/>
          <p:cNvSpPr txBox="1"/>
          <p:nvPr/>
        </p:nvSpPr>
        <p:spPr>
          <a:xfrm>
            <a:off x="548640" y="10177272"/>
            <a:ext cx="411480" cy="219456"/>
          </a:xfrm>
          <a:prstGeom prst="rect">
            <a:avLst/>
          </a:prstGeom>
          <a:noFill/>
          <a:ln/>
        </p:spPr>
        <p:txBody>
          <a:bodyPr wrap="square" lIns="0" tIns="0" rIns="0" bIns="0" rtlCol="0" anchor="ctr"/>
          <a:lstStyle/>
          <a:p>
            <a:pPr algn="l" indent="0" marL="0">
              <a:buNone/>
            </a:pPr>
            <a:r>
              <a:rPr lang="en-US" sz="900" b="1" dirty="0">
                <a:solidFill>
                  <a:schemeClr val="tx1"/>
                </a:solidFill>
              </a:rPr>
              <a:t>30</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kicker-dot-704"/>
          <p:cNvSpPr/>
          <p:nvPr/>
        </p:nvSpPr>
        <p:spPr>
          <a:xfrm>
            <a:off x="548640" y="544068"/>
            <a:ext cx="100584" cy="100584"/>
          </a:xfrm>
          <a:prstGeom prst="ellipse">
            <a:avLst/>
          </a:prstGeom>
          <a:solidFill>
            <a:schemeClr val="accent2"/>
          </a:solidFill>
          <a:ln w="12700">
            <a:solidFill>
              <a:schemeClr val="accent2"/>
            </a:solidFill>
            <a:prstDash val="solid"/>
          </a:ln>
        </p:spPr>
      </p:sp>
      <p:sp>
        <p:nvSpPr>
          <p:cNvPr id="3" name="text-705"/>
          <p:cNvSpPr txBox="1"/>
          <p:nvPr/>
        </p:nvSpPr>
        <p:spPr>
          <a:xfrm>
            <a:off x="731520" y="502920"/>
            <a:ext cx="5486400" cy="201168"/>
          </a:xfrm>
          <a:prstGeom prst="rect">
            <a:avLst/>
          </a:prstGeom>
          <a:noFill/>
          <a:ln/>
        </p:spPr>
        <p:txBody>
          <a:bodyPr wrap="square" lIns="0" tIns="0" rIns="0" bIns="0" rtlCol="0" anchor="t"/>
          <a:lstStyle/>
          <a:p>
            <a:pPr indent="0" marL="0">
              <a:buNone/>
            </a:pPr>
            <a:r>
              <a:rPr lang="en-US" sz="900" b="1" spc="300" kern="0" dirty="0">
                <a:solidFill>
                  <a:schemeClr val="accent2"/>
                </a:solidFill>
              </a:rPr>
              <a:t>WEIGHING IT UP · AN HONEST BALANCE SHEET</a:t>
            </a:r>
            <a:endParaRPr lang="en-US" sz="900" dirty="0"/>
          </a:p>
        </p:txBody>
      </p:sp>
      <p:sp>
        <p:nvSpPr>
          <p:cNvPr id="4" name="title-706"/>
          <p:cNvSpPr txBox="1"/>
          <p:nvPr/>
        </p:nvSpPr>
        <p:spPr>
          <a:xfrm>
            <a:off x="548640" y="758952"/>
            <a:ext cx="6464808" cy="685800"/>
          </a:xfrm>
          <a:prstGeom prst="rect">
            <a:avLst/>
          </a:prstGeom>
          <a:noFill/>
          <a:ln/>
        </p:spPr>
        <p:txBody>
          <a:bodyPr wrap="square" lIns="0" tIns="0" rIns="0" bIns="0" rtlCol="0" anchor="t"/>
          <a:lstStyle/>
          <a:p>
            <a:pPr indent="0" marL="0">
              <a:lnSpc>
                <a:spcPct val="92000"/>
              </a:lnSpc>
              <a:buNone/>
            </a:pPr>
            <a:r>
              <a:rPr lang="en-US" sz="3400" b="1" dirty="0">
                <a:solidFill>
                  <a:schemeClr val="tx1"/>
                </a:solidFill>
                <a:latin typeface="+mj-lt" pitchFamily="34" charset="0"/>
                <a:ea typeface="+mj-lt" pitchFamily="34" charset="-122"/>
                <a:cs typeface="+mj-lt" pitchFamily="34" charset="-120"/>
              </a:rPr>
              <a:t>Pros &amp; Cons</a:t>
            </a:r>
            <a:endParaRPr lang="en-US" sz="3400" dirty="0"/>
          </a:p>
        </p:txBody>
      </p:sp>
      <p:sp>
        <p:nvSpPr>
          <p:cNvPr id="5" name="text-708"/>
          <p:cNvSpPr txBox="1"/>
          <p:nvPr/>
        </p:nvSpPr>
        <p:spPr>
          <a:xfrm>
            <a:off x="548640" y="1371600"/>
            <a:ext cx="6464808" cy="548640"/>
          </a:xfrm>
          <a:prstGeom prst="rect">
            <a:avLst/>
          </a:prstGeom>
          <a:noFill/>
          <a:ln/>
        </p:spPr>
        <p:txBody>
          <a:bodyPr wrap="square" lIns="0" tIns="0" rIns="0" bIns="0" rtlCol="0" anchor="t"/>
          <a:lstStyle/>
          <a:p>
            <a:pPr indent="0" marL="0">
              <a:lnSpc>
                <a:spcPct val="110000"/>
              </a:lnSpc>
              <a:buNone/>
            </a:pPr>
            <a:r>
              <a:rPr lang="en-US" sz="1250" i="1" dirty="0">
                <a:solidFill>
                  <a:schemeClr val="tx2"/>
                </a:solidFill>
                <a:latin typeface="+mj-lt" pitchFamily="34" charset="0"/>
                <a:ea typeface="+mj-lt" pitchFamily="34" charset="-122"/>
                <a:cs typeface="+mj-lt" pitchFamily="34" charset="-120"/>
              </a:rPr>
              <a:t>No city is perfect. Here is what Aurora Haven does well, where it could fail, what it costs and what we gave up to make it work.</a:t>
            </a:r>
            <a:endParaRPr lang="en-US" sz="1250" dirty="0"/>
          </a:p>
        </p:txBody>
      </p:sp>
      <p:sp>
        <p:nvSpPr>
          <p:cNvPr id="6" name="list-head-709"/>
          <p:cNvSpPr/>
          <p:nvPr/>
        </p:nvSpPr>
        <p:spPr>
          <a:xfrm>
            <a:off x="548640" y="2057400"/>
            <a:ext cx="3095244" cy="310896"/>
          </a:xfrm>
          <a:prstGeom prst="rect">
            <a:avLst/>
          </a:prstGeom>
          <a:solidFill>
            <a:schemeClr val="accent1"/>
          </a:solidFill>
          <a:ln w="12700">
            <a:solidFill>
              <a:schemeClr val="accent1"/>
            </a:solidFill>
            <a:prstDash val="solid"/>
          </a:ln>
        </p:spPr>
      </p:sp>
      <p:sp>
        <p:nvSpPr>
          <p:cNvPr id="7" name="text-710"/>
          <p:cNvSpPr txBox="1"/>
          <p:nvPr/>
        </p:nvSpPr>
        <p:spPr>
          <a:xfrm>
            <a:off x="658368" y="2057400"/>
            <a:ext cx="2875788" cy="310896"/>
          </a:xfrm>
          <a:prstGeom prst="rect">
            <a:avLst/>
          </a:prstGeom>
          <a:noFill/>
          <a:ln/>
        </p:spPr>
        <p:txBody>
          <a:bodyPr wrap="square" lIns="0" tIns="0" rIns="0" bIns="0" rtlCol="0" anchor="ctr"/>
          <a:lstStyle/>
          <a:p>
            <a:pPr indent="0" marL="0">
              <a:buNone/>
            </a:pPr>
            <a:r>
              <a:rPr lang="en-US" sz="950" b="1" spc="200" kern="0" dirty="0">
                <a:solidFill>
                  <a:schemeClr val="bg1"/>
                </a:solidFill>
              </a:rPr>
              <a:t>ADVANTAGES</a:t>
            </a:r>
            <a:endParaRPr lang="en-US" sz="950" dirty="0"/>
          </a:p>
        </p:txBody>
      </p:sp>
      <p:sp>
        <p:nvSpPr>
          <p:cNvPr id="8" name="text-711"/>
          <p:cNvSpPr txBox="1"/>
          <p:nvPr/>
        </p:nvSpPr>
        <p:spPr>
          <a:xfrm>
            <a:off x="594360" y="2478024"/>
            <a:ext cx="3003804" cy="2697480"/>
          </a:xfrm>
          <a:prstGeom prst="rect">
            <a:avLst/>
          </a:prstGeom>
          <a:noFill/>
          <a:ln/>
        </p:spPr>
        <p:txBody>
          <a:bodyPr wrap="square" lIns="0" tIns="0" rIns="0" bIns="0" rtlCol="0" anchor="t"/>
          <a:lstStyle/>
          <a:p>
            <a:pPr indent="0" marL="0">
              <a:lnSpc>
                <a:spcPct val="105000"/>
              </a:lnSpc>
              <a:buNone/>
            </a:pPr>
            <a:r>
              <a:rPr lang="en-US" sz="1000" b="1" dirty="0">
                <a:solidFill>
                  <a:schemeClr val="tx1"/>
                </a:solidFill>
              </a:rPr>
              <a:t>Zero carbon. </a:t>
            </a:r>
            <a:pPr indent="0" marL="0">
              <a:lnSpc>
                <a:spcPct val="105000"/>
              </a:lnSpc>
              <a:spcAft>
                <a:spcPts val="600"/>
              </a:spcAft>
              <a:buNone/>
            </a:pPr>
            <a:r>
              <a:rPr lang="en-US" sz="1000" dirty="0">
                <a:solidFill>
                  <a:schemeClr val="tx1"/>
                </a:solidFill>
              </a:rPr>
              <a:t>No fossil fuel burns anywhere; four clean energy sources cover for each other.</a:t>
            </a:r>
            <a:endParaRPr lang="en-US" sz="1000" dirty="0"/>
          </a:p>
          <a:p>
            <a:pPr indent="0" marL="0">
              <a:lnSpc>
                <a:spcPct val="105000"/>
              </a:lnSpc>
              <a:buNone/>
            </a:pPr>
            <a:r>
              <a:rPr lang="en-US" sz="1000" b="1" dirty="0">
                <a:solidFill>
                  <a:schemeClr val="tx1"/>
                </a:solidFill>
              </a:rPr>
              <a:t>Water and waste. </a:t>
            </a:r>
            <a:pPr indent="0" marL="0">
              <a:lnSpc>
                <a:spcPct val="105000"/>
              </a:lnSpc>
              <a:spcAft>
                <a:spcPts val="600"/>
              </a:spcAft>
              <a:buNone/>
            </a:pPr>
            <a:r>
              <a:rPr lang="en-US" sz="1000" dirty="0">
                <a:solidFill>
                  <a:schemeClr val="tx1"/>
                </a:solidFill>
              </a:rPr>
              <a:t>About 95% of water is recycled, and nothing goes to landfill in the permafrost.</a:t>
            </a:r>
            <a:endParaRPr lang="en-US" sz="1000" dirty="0"/>
          </a:p>
          <a:p>
            <a:pPr indent="0" marL="0">
              <a:lnSpc>
                <a:spcPct val="105000"/>
              </a:lnSpc>
              <a:buNone/>
            </a:pPr>
            <a:r>
              <a:rPr lang="en-US" sz="1000" b="1" dirty="0">
                <a:solidFill>
                  <a:schemeClr val="tx1"/>
                </a:solidFill>
              </a:rPr>
              <a:t>Food security. </a:t>
            </a:r>
            <a:pPr indent="0" marL="0">
              <a:lnSpc>
                <a:spcPct val="105000"/>
              </a:lnSpc>
              <a:spcAft>
                <a:spcPts val="600"/>
              </a:spcAft>
              <a:buNone/>
            </a:pPr>
            <a:r>
              <a:rPr lang="en-US" sz="1000" dirty="0">
                <a:solidFill>
                  <a:schemeClr val="tx1"/>
                </a:solidFill>
              </a:rPr>
              <a:t>All tap water and about half of the protein are made in the city.</a:t>
            </a:r>
            <a:endParaRPr lang="en-US" sz="1000" dirty="0"/>
          </a:p>
          <a:p>
            <a:pPr indent="0" marL="0">
              <a:lnSpc>
                <a:spcPct val="105000"/>
              </a:lnSpc>
              <a:buNone/>
            </a:pPr>
            <a:r>
              <a:rPr lang="en-US" sz="1000" b="1" dirty="0">
                <a:solidFill>
                  <a:schemeClr val="tx1"/>
                </a:solidFill>
              </a:rPr>
              <a:t>Safety. </a:t>
            </a:r>
            <a:pPr indent="0" marL="0">
              <a:lnSpc>
                <a:spcPct val="105000"/>
              </a:lnSpc>
              <a:spcAft>
                <a:spcPts val="600"/>
              </a:spcAft>
              <a:buNone/>
            </a:pPr>
            <a:r>
              <a:rPr lang="en-US" sz="1000" dirty="0">
                <a:solidFill>
                  <a:schemeClr val="tx1"/>
                </a:solidFill>
              </a:rPr>
              <a:t>Shelters for every resident for 30 days, 48-hour blizzard warnings and a metro that storms cannot stop.</a:t>
            </a:r>
            <a:endParaRPr lang="en-US" sz="1000" dirty="0"/>
          </a:p>
          <a:p>
            <a:pPr indent="0" marL="0">
              <a:lnSpc>
                <a:spcPct val="105000"/>
              </a:lnSpc>
              <a:buNone/>
            </a:pPr>
            <a:r>
              <a:rPr lang="en-US" sz="1000" b="1" dirty="0">
                <a:solidFill>
                  <a:schemeClr val="tx1"/>
                </a:solidFill>
              </a:rPr>
              <a:t>Wellbeing. </a:t>
            </a:r>
            <a:pPr indent="0" marL="0">
              <a:lnSpc>
                <a:spcPct val="105000"/>
              </a:lnSpc>
              <a:spcAft>
                <a:spcPts val="600"/>
              </a:spcAft>
              <a:buNone/>
            </a:pPr>
            <a:r>
              <a:rPr lang="en-US" sz="1000" dirty="0">
                <a:solidFill>
                  <a:schemeClr val="tx1"/>
                </a:solidFill>
              </a:rPr>
              <a:t>Daily needs within a 10-minute walk, plus a spa, a 24-hour library and parks for the polar night.</a:t>
            </a:r>
            <a:endParaRPr lang="en-US" sz="1000" dirty="0"/>
          </a:p>
        </p:txBody>
      </p:sp>
      <p:sp>
        <p:nvSpPr>
          <p:cNvPr id="9" name="list-head-712"/>
          <p:cNvSpPr/>
          <p:nvPr/>
        </p:nvSpPr>
        <p:spPr>
          <a:xfrm>
            <a:off x="3918204" y="2057400"/>
            <a:ext cx="3095244" cy="310896"/>
          </a:xfrm>
          <a:prstGeom prst="rect">
            <a:avLst/>
          </a:prstGeom>
          <a:solidFill>
            <a:schemeClr val="accent2"/>
          </a:solidFill>
          <a:ln w="12700">
            <a:solidFill>
              <a:schemeClr val="accent2"/>
            </a:solidFill>
            <a:prstDash val="solid"/>
          </a:ln>
        </p:spPr>
      </p:sp>
      <p:sp>
        <p:nvSpPr>
          <p:cNvPr id="10" name="text-713"/>
          <p:cNvSpPr txBox="1"/>
          <p:nvPr/>
        </p:nvSpPr>
        <p:spPr>
          <a:xfrm>
            <a:off x="4027932" y="2057400"/>
            <a:ext cx="2875788" cy="310896"/>
          </a:xfrm>
          <a:prstGeom prst="rect">
            <a:avLst/>
          </a:prstGeom>
          <a:noFill/>
          <a:ln/>
        </p:spPr>
        <p:txBody>
          <a:bodyPr wrap="square" lIns="0" tIns="0" rIns="0" bIns="0" rtlCol="0" anchor="ctr"/>
          <a:lstStyle/>
          <a:p>
            <a:pPr indent="0" marL="0">
              <a:buNone/>
            </a:pPr>
            <a:r>
              <a:rPr lang="en-US" sz="950" b="1" spc="200" kern="0" dirty="0">
                <a:solidFill>
                  <a:schemeClr val="bg1"/>
                </a:solidFill>
              </a:rPr>
              <a:t>LIMITATIONS AND RISKS</a:t>
            </a:r>
            <a:endParaRPr lang="en-US" sz="950" dirty="0"/>
          </a:p>
        </p:txBody>
      </p:sp>
      <p:sp>
        <p:nvSpPr>
          <p:cNvPr id="11" name="text-714"/>
          <p:cNvSpPr txBox="1"/>
          <p:nvPr/>
        </p:nvSpPr>
        <p:spPr>
          <a:xfrm>
            <a:off x="3963924" y="2478024"/>
            <a:ext cx="3003804" cy="2697480"/>
          </a:xfrm>
          <a:prstGeom prst="rect">
            <a:avLst/>
          </a:prstGeom>
          <a:noFill/>
          <a:ln/>
        </p:spPr>
        <p:txBody>
          <a:bodyPr wrap="square" lIns="0" tIns="0" rIns="0" bIns="0" rtlCol="0" anchor="t"/>
          <a:lstStyle/>
          <a:p>
            <a:pPr indent="0" marL="0">
              <a:lnSpc>
                <a:spcPct val="105000"/>
              </a:lnSpc>
              <a:buNone/>
            </a:pPr>
            <a:r>
              <a:rPr lang="en-US" sz="1000" b="1" dirty="0">
                <a:solidFill>
                  <a:schemeClr val="tx1"/>
                </a:solidFill>
              </a:rPr>
              <a:t>Fusion is not ready. </a:t>
            </a:r>
            <a:pPr indent="0" marL="0">
              <a:lnSpc>
                <a:spcPct val="105000"/>
              </a:lnSpc>
              <a:spcAft>
                <a:spcPts val="600"/>
              </a:spcAft>
              <a:buNone/>
            </a:pPr>
            <a:r>
              <a:rPr lang="en-US" sz="1000" dirty="0">
                <a:solidFill>
                  <a:schemeClr val="tx1"/>
                </a:solidFill>
              </a:rPr>
              <a:t>ITER plans deuterium-tritium operation only in 2039 [4]; until fusion works, the city depends on geothermal, wind, sun and storage.</a:t>
            </a:r>
            <a:endParaRPr lang="en-US" sz="1000" dirty="0"/>
          </a:p>
          <a:p>
            <a:pPr indent="0" marL="0">
              <a:lnSpc>
                <a:spcPct val="105000"/>
              </a:lnSpc>
              <a:buNone/>
            </a:pPr>
            <a:r>
              <a:rPr lang="en-US" sz="1000" b="1" dirty="0">
                <a:solidFill>
                  <a:schemeClr val="tx1"/>
                </a:solidFill>
              </a:rPr>
              <a:t>One heating loop. </a:t>
            </a:r>
            <a:pPr indent="0" marL="0">
              <a:lnSpc>
                <a:spcPct val="105000"/>
              </a:lnSpc>
              <a:spcAft>
                <a:spcPts val="600"/>
              </a:spcAft>
              <a:buNone/>
            </a:pPr>
            <a:r>
              <a:rPr lang="en-US" sz="1000" dirty="0">
                <a:solidFill>
                  <a:schemeClr val="tx1"/>
                </a:solidFill>
              </a:rPr>
              <a:t>If it fails at −45 °C, homes cool fast; the 12-hour heat tank and the geothermal plant are the safety net.</a:t>
            </a:r>
            <a:endParaRPr lang="en-US" sz="1000" dirty="0"/>
          </a:p>
          <a:p>
            <a:pPr indent="0" marL="0">
              <a:lnSpc>
                <a:spcPct val="105000"/>
              </a:lnSpc>
              <a:buNone/>
            </a:pPr>
            <a:r>
              <a:rPr lang="en-US" sz="1000" b="1" dirty="0">
                <a:solidFill>
                  <a:schemeClr val="tx1"/>
                </a:solidFill>
              </a:rPr>
              <a:t>Thawing ground. </a:t>
            </a:r>
            <a:pPr indent="0" marL="0">
              <a:lnSpc>
                <a:spcPct val="105000"/>
              </a:lnSpc>
              <a:spcAft>
                <a:spcPts val="600"/>
              </a:spcAft>
              <a:buNone/>
            </a:pPr>
            <a:r>
              <a:rPr lang="en-US" sz="1000" dirty="0">
                <a:solidFill>
                  <a:schemeClr val="tx1"/>
                </a:solidFill>
              </a:rPr>
              <a:t>Any heat leak could crack foundations, as thaw already threatens Arctic infrastructure [2]; sensors must watch it constantly.</a:t>
            </a:r>
            <a:endParaRPr lang="en-US" sz="1000" dirty="0"/>
          </a:p>
          <a:p>
            <a:pPr indent="0" marL="0">
              <a:lnSpc>
                <a:spcPct val="105000"/>
              </a:lnSpc>
              <a:buNone/>
            </a:pPr>
            <a:r>
              <a:rPr lang="en-US" sz="1000" b="1" dirty="0">
                <a:solidFill>
                  <a:schemeClr val="tx1"/>
                </a:solidFill>
              </a:rPr>
              <a:t>Cut off by storms. </a:t>
            </a:r>
            <a:pPr indent="0" marL="0">
              <a:lnSpc>
                <a:spcPct val="105000"/>
              </a:lnSpc>
              <a:spcAft>
                <a:spcPts val="600"/>
              </a:spcAft>
              <a:buNone/>
            </a:pPr>
            <a:r>
              <a:rPr lang="en-US" sz="1000" dirty="0">
                <a:solidFill>
                  <a:schemeClr val="tx1"/>
                </a:solidFill>
              </a:rPr>
              <a:t>In deep winter all supplies come by air.</a:t>
            </a:r>
            <a:endParaRPr lang="en-US" sz="1000" dirty="0"/>
          </a:p>
          <a:p>
            <a:pPr indent="0" marL="0">
              <a:lnSpc>
                <a:spcPct val="105000"/>
              </a:lnSpc>
              <a:buNone/>
            </a:pPr>
            <a:r>
              <a:rPr lang="en-US" sz="1000" b="1" dirty="0">
                <a:solidFill>
                  <a:schemeClr val="tx1"/>
                </a:solidFill>
              </a:rPr>
              <a:t>High-tech risks. </a:t>
            </a:r>
            <a:pPr indent="0" marL="0">
              <a:lnSpc>
                <a:spcPct val="105000"/>
              </a:lnSpc>
              <a:spcAft>
                <a:spcPts val="600"/>
              </a:spcAft>
              <a:buNone/>
            </a:pPr>
            <a:r>
              <a:rPr lang="en-US" sz="1000" dirty="0">
                <a:solidFill>
                  <a:schemeClr val="tx1"/>
                </a:solidFill>
              </a:rPr>
              <a:t>AI control systems need cyber-security and skilled staff, and new foods need people’s trust.</a:t>
            </a:r>
            <a:endParaRPr lang="en-US" sz="1000" dirty="0"/>
          </a:p>
        </p:txBody>
      </p:sp>
      <p:sp>
        <p:nvSpPr>
          <p:cNvPr id="12" name="text-715"/>
          <p:cNvSpPr txBox="1"/>
          <p:nvPr/>
        </p:nvSpPr>
        <p:spPr>
          <a:xfrm>
            <a:off x="548640" y="5230368"/>
            <a:ext cx="6464808" cy="201168"/>
          </a:xfrm>
          <a:prstGeom prst="rect">
            <a:avLst/>
          </a:prstGeom>
          <a:noFill/>
          <a:ln/>
        </p:spPr>
        <p:txBody>
          <a:bodyPr wrap="square" lIns="0" tIns="0" rIns="0" bIns="0" rtlCol="0" anchor="t"/>
          <a:lstStyle/>
          <a:p>
            <a:pPr indent="0" marL="0">
              <a:buNone/>
            </a:pPr>
            <a:r>
              <a:rPr lang="en-US" sz="900" b="1" spc="300" kern="0" dirty="0">
                <a:solidFill>
                  <a:schemeClr val="tx2"/>
                </a:solidFill>
              </a:rPr>
              <a:t>COSTS</a:t>
            </a:r>
            <a:endParaRPr lang="en-US" sz="900" dirty="0"/>
          </a:p>
        </p:txBody>
      </p:sp>
      <p:sp>
        <p:nvSpPr>
          <p:cNvPr id="13" name="text-716"/>
          <p:cNvSpPr txBox="1"/>
          <p:nvPr/>
        </p:nvSpPr>
        <p:spPr>
          <a:xfrm>
            <a:off x="548640" y="5504688"/>
            <a:ext cx="3095244" cy="1417320"/>
          </a:xfrm>
          <a:prstGeom prst="rect">
            <a:avLst/>
          </a:prstGeom>
          <a:noFill/>
          <a:ln/>
        </p:spPr>
        <p:txBody>
          <a:bodyPr wrap="square" lIns="0" tIns="0" rIns="0" bIns="0" rtlCol="0" anchor="t"/>
          <a:lstStyle/>
          <a:p>
            <a:pPr indent="0" marL="0">
              <a:lnSpc>
                <a:spcPct val="112000"/>
              </a:lnSpc>
              <a:spcAft>
                <a:spcPts val="700"/>
              </a:spcAft>
              <a:buNone/>
            </a:pPr>
            <a:r>
              <a:rPr lang="en-US" sz="1000" dirty="0">
                <a:solidFill>
                  <a:schemeClr val="tx1"/>
                </a:solidFill>
              </a:rPr>
              <a:t>Building: a fusion plant is one of the most expensive machines ever made: ITER alone is estimated at €18–22 billion to first plasma [12]. Solar Foods’ first protein factory cost about €42 million for up to 160 tonnes a year [6]. Heated streets, insulated tunnels and triple glazing all cost more than ordinary ones.</a:t>
            </a:r>
            <a:endParaRPr lang="en-US" sz="1000" dirty="0"/>
          </a:p>
        </p:txBody>
      </p:sp>
      <p:sp>
        <p:nvSpPr>
          <p:cNvPr id="14" name="text-717"/>
          <p:cNvSpPr txBox="1"/>
          <p:nvPr/>
        </p:nvSpPr>
        <p:spPr>
          <a:xfrm>
            <a:off x="3918204" y="5504688"/>
            <a:ext cx="3095244" cy="1417320"/>
          </a:xfrm>
          <a:prstGeom prst="rect">
            <a:avLst/>
          </a:prstGeom>
          <a:noFill/>
          <a:ln/>
        </p:spPr>
        <p:txBody>
          <a:bodyPr wrap="square" lIns="0" tIns="0" rIns="0" bIns="0" rtlCol="0" anchor="t"/>
          <a:lstStyle/>
          <a:p>
            <a:pPr indent="0" marL="0">
              <a:lnSpc>
                <a:spcPct val="112000"/>
              </a:lnSpc>
              <a:spcAft>
                <a:spcPts val="700"/>
              </a:spcAft>
              <a:buNone/>
            </a:pPr>
            <a:r>
              <a:rPr lang="en-US" sz="1000" dirty="0">
                <a:solidFill>
                  <a:schemeClr val="tx1"/>
                </a:solidFill>
              </a:rPr>
              <a:t>Running: direct air capture uses a lot of energy and still costs hundreds of dollars per tonne of CO₂ [13]. Hydroponic lettuce needs about 82 times more energy than field lettuce, but about 92% less water and 11 times less land [16].</a:t>
            </a:r>
            <a:endParaRPr lang="en-US" sz="1000" dirty="0"/>
          </a:p>
        </p:txBody>
      </p:sp>
      <p:sp>
        <p:nvSpPr>
          <p:cNvPr id="15" name="text-718"/>
          <p:cNvSpPr txBox="1"/>
          <p:nvPr/>
        </p:nvSpPr>
        <p:spPr>
          <a:xfrm>
            <a:off x="548640" y="7059168"/>
            <a:ext cx="6464808" cy="201168"/>
          </a:xfrm>
          <a:prstGeom prst="rect">
            <a:avLst/>
          </a:prstGeom>
          <a:noFill/>
          <a:ln/>
        </p:spPr>
        <p:txBody>
          <a:bodyPr wrap="square" lIns="0" tIns="0" rIns="0" bIns="0" rtlCol="0" anchor="t"/>
          <a:lstStyle/>
          <a:p>
            <a:pPr indent="0" marL="0">
              <a:buNone/>
            </a:pPr>
            <a:r>
              <a:rPr lang="en-US" sz="900" b="1" spc="300" kern="0" dirty="0">
                <a:solidFill>
                  <a:schemeClr val="tx2"/>
                </a:solidFill>
              </a:rPr>
              <a:t>TRADE-OFFS: WHAT WE CHOSE, AND WHAT WE GAVE UP</a:t>
            </a:r>
            <a:endParaRPr lang="en-US" sz="900" dirty="0"/>
          </a:p>
        </p:txBody>
      </p:sp>
      <p:sp>
        <p:nvSpPr>
          <p:cNvPr id="16" name="row-band-719"/>
          <p:cNvSpPr/>
          <p:nvPr/>
        </p:nvSpPr>
        <p:spPr>
          <a:xfrm>
            <a:off x="548640" y="7333488"/>
            <a:ext cx="6464808" cy="365760"/>
          </a:xfrm>
          <a:prstGeom prst="rect">
            <a:avLst/>
          </a:prstGeom>
          <a:solidFill>
            <a:schemeClr val="bg2"/>
          </a:solidFill>
          <a:ln w="12700">
            <a:solidFill>
              <a:schemeClr val="bg2"/>
            </a:solidFill>
            <a:prstDash val="solid"/>
          </a:ln>
        </p:spPr>
      </p:sp>
      <p:sp>
        <p:nvSpPr>
          <p:cNvPr id="17" name="text-720"/>
          <p:cNvSpPr txBox="1"/>
          <p:nvPr/>
        </p:nvSpPr>
        <p:spPr>
          <a:xfrm>
            <a:off x="640080" y="7333488"/>
            <a:ext cx="3017520" cy="365760"/>
          </a:xfrm>
          <a:prstGeom prst="rect">
            <a:avLst/>
          </a:prstGeom>
          <a:noFill/>
          <a:ln/>
        </p:spPr>
        <p:txBody>
          <a:bodyPr wrap="square" lIns="0" tIns="0" rIns="0" bIns="0" rtlCol="0" anchor="ctr"/>
          <a:lstStyle/>
          <a:p>
            <a:pPr indent="0" marL="0">
              <a:buNone/>
            </a:pPr>
            <a:r>
              <a:rPr lang="en-US" sz="1000" b="1" dirty="0">
                <a:solidFill>
                  <a:schemeClr val="tx1"/>
                </a:solidFill>
              </a:rPr>
              <a:t>Compact blocks that save heat</a:t>
            </a:r>
            <a:endParaRPr lang="en-US" sz="1000" dirty="0"/>
          </a:p>
        </p:txBody>
      </p:sp>
      <p:sp>
        <p:nvSpPr>
          <p:cNvPr id="18" name="text-721"/>
          <p:cNvSpPr txBox="1"/>
          <p:nvPr/>
        </p:nvSpPr>
        <p:spPr>
          <a:xfrm>
            <a:off x="3703320" y="7333488"/>
            <a:ext cx="274320" cy="365760"/>
          </a:xfrm>
          <a:prstGeom prst="rect">
            <a:avLst/>
          </a:prstGeom>
          <a:noFill/>
          <a:ln/>
        </p:spPr>
        <p:txBody>
          <a:bodyPr wrap="square" lIns="0" tIns="0" rIns="0" bIns="0" rtlCol="0" anchor="ctr"/>
          <a:lstStyle/>
          <a:p>
            <a:pPr indent="0" marL="0">
              <a:buNone/>
            </a:pPr>
            <a:r>
              <a:rPr lang="en-US" sz="1100" b="1" dirty="0">
                <a:solidFill>
                  <a:schemeClr val="accent2"/>
                </a:solidFill>
              </a:rPr>
              <a:t>→</a:t>
            </a:r>
            <a:endParaRPr lang="en-US" sz="1100" dirty="0"/>
          </a:p>
        </p:txBody>
      </p:sp>
      <p:sp>
        <p:nvSpPr>
          <p:cNvPr id="19" name="text-722"/>
          <p:cNvSpPr txBox="1"/>
          <p:nvPr/>
        </p:nvSpPr>
        <p:spPr>
          <a:xfrm>
            <a:off x="4023360" y="7333488"/>
            <a:ext cx="2898648" cy="365760"/>
          </a:xfrm>
          <a:prstGeom prst="rect">
            <a:avLst/>
          </a:prstGeom>
          <a:noFill/>
          <a:ln/>
        </p:spPr>
        <p:txBody>
          <a:bodyPr wrap="square" lIns="0" tIns="0" rIns="0" bIns="0" rtlCol="0" anchor="ctr"/>
          <a:lstStyle/>
          <a:p>
            <a:pPr indent="0" marL="0">
              <a:buNone/>
            </a:pPr>
            <a:r>
              <a:rPr lang="en-US" sz="1000" dirty="0">
                <a:solidFill>
                  <a:schemeClr val="tx2"/>
                </a:solidFill>
              </a:rPr>
              <a:t>smaller homes and less private space</a:t>
            </a:r>
            <a:endParaRPr lang="en-US" sz="1000" dirty="0"/>
          </a:p>
        </p:txBody>
      </p:sp>
      <p:sp>
        <p:nvSpPr>
          <p:cNvPr id="20" name="text-723"/>
          <p:cNvSpPr txBox="1"/>
          <p:nvPr/>
        </p:nvSpPr>
        <p:spPr>
          <a:xfrm>
            <a:off x="640080" y="7699248"/>
            <a:ext cx="3017520" cy="365760"/>
          </a:xfrm>
          <a:prstGeom prst="rect">
            <a:avLst/>
          </a:prstGeom>
          <a:noFill/>
          <a:ln/>
        </p:spPr>
        <p:txBody>
          <a:bodyPr wrap="square" lIns="0" tIns="0" rIns="0" bIns="0" rtlCol="0" anchor="ctr"/>
          <a:lstStyle/>
          <a:p>
            <a:pPr indent="0" marL="0">
              <a:buNone/>
            </a:pPr>
            <a:r>
              <a:rPr lang="en-US" sz="1000" b="1" dirty="0">
                <a:solidFill>
                  <a:schemeClr val="tx1"/>
                </a:solidFill>
              </a:rPr>
              <a:t>Metro, trams and shared robotaxis</a:t>
            </a:r>
            <a:endParaRPr lang="en-US" sz="1000" dirty="0"/>
          </a:p>
        </p:txBody>
      </p:sp>
      <p:sp>
        <p:nvSpPr>
          <p:cNvPr id="21" name="text-724"/>
          <p:cNvSpPr txBox="1"/>
          <p:nvPr/>
        </p:nvSpPr>
        <p:spPr>
          <a:xfrm>
            <a:off x="3703320" y="7699248"/>
            <a:ext cx="274320" cy="365760"/>
          </a:xfrm>
          <a:prstGeom prst="rect">
            <a:avLst/>
          </a:prstGeom>
          <a:noFill/>
          <a:ln/>
        </p:spPr>
        <p:txBody>
          <a:bodyPr wrap="square" lIns="0" tIns="0" rIns="0" bIns="0" rtlCol="0" anchor="ctr"/>
          <a:lstStyle/>
          <a:p>
            <a:pPr indent="0" marL="0">
              <a:buNone/>
            </a:pPr>
            <a:r>
              <a:rPr lang="en-US" sz="1100" b="1" dirty="0">
                <a:solidFill>
                  <a:schemeClr val="accent2"/>
                </a:solidFill>
              </a:rPr>
              <a:t>→</a:t>
            </a:r>
            <a:endParaRPr lang="en-US" sz="1100" dirty="0"/>
          </a:p>
        </p:txBody>
      </p:sp>
      <p:sp>
        <p:nvSpPr>
          <p:cNvPr id="22" name="text-725"/>
          <p:cNvSpPr txBox="1"/>
          <p:nvPr/>
        </p:nvSpPr>
        <p:spPr>
          <a:xfrm>
            <a:off x="4023360" y="7699248"/>
            <a:ext cx="2898648" cy="365760"/>
          </a:xfrm>
          <a:prstGeom prst="rect">
            <a:avLst/>
          </a:prstGeom>
          <a:noFill/>
          <a:ln/>
        </p:spPr>
        <p:txBody>
          <a:bodyPr wrap="square" lIns="0" tIns="0" rIns="0" bIns="0" rtlCol="0" anchor="ctr"/>
          <a:lstStyle/>
          <a:p>
            <a:pPr indent="0" marL="0">
              <a:buNone/>
            </a:pPr>
            <a:r>
              <a:rPr lang="en-US" sz="1000" dirty="0">
                <a:solidFill>
                  <a:schemeClr val="tx2"/>
                </a:solidFill>
              </a:rPr>
              <a:t>fewer private cars and less freedom to drive</a:t>
            </a:r>
            <a:endParaRPr lang="en-US" sz="1000" dirty="0"/>
          </a:p>
        </p:txBody>
      </p:sp>
      <p:sp>
        <p:nvSpPr>
          <p:cNvPr id="23" name="row-band-726"/>
          <p:cNvSpPr/>
          <p:nvPr/>
        </p:nvSpPr>
        <p:spPr>
          <a:xfrm>
            <a:off x="548640" y="8065008"/>
            <a:ext cx="6464808" cy="365760"/>
          </a:xfrm>
          <a:prstGeom prst="rect">
            <a:avLst/>
          </a:prstGeom>
          <a:solidFill>
            <a:schemeClr val="bg2"/>
          </a:solidFill>
          <a:ln w="12700">
            <a:solidFill>
              <a:schemeClr val="bg2"/>
            </a:solidFill>
            <a:prstDash val="solid"/>
          </a:ln>
        </p:spPr>
      </p:sp>
      <p:sp>
        <p:nvSpPr>
          <p:cNvPr id="24" name="text-727"/>
          <p:cNvSpPr txBox="1"/>
          <p:nvPr/>
        </p:nvSpPr>
        <p:spPr>
          <a:xfrm>
            <a:off x="640080" y="8065008"/>
            <a:ext cx="3017520" cy="365760"/>
          </a:xfrm>
          <a:prstGeom prst="rect">
            <a:avLst/>
          </a:prstGeom>
          <a:noFill/>
          <a:ln/>
        </p:spPr>
        <p:txBody>
          <a:bodyPr wrap="square" lIns="0" tIns="0" rIns="0" bIns="0" rtlCol="0" anchor="ctr"/>
          <a:lstStyle/>
          <a:p>
            <a:pPr indent="0" marL="0">
              <a:buNone/>
            </a:pPr>
            <a:r>
              <a:rPr lang="en-US" sz="1000" b="1" dirty="0">
                <a:solidFill>
                  <a:schemeClr val="tx1"/>
                </a:solidFill>
              </a:rPr>
              <a:t>Lights that switch on only when needed</a:t>
            </a:r>
            <a:endParaRPr lang="en-US" sz="1000" dirty="0"/>
          </a:p>
        </p:txBody>
      </p:sp>
      <p:sp>
        <p:nvSpPr>
          <p:cNvPr id="25" name="text-728"/>
          <p:cNvSpPr txBox="1"/>
          <p:nvPr/>
        </p:nvSpPr>
        <p:spPr>
          <a:xfrm>
            <a:off x="3703320" y="8065008"/>
            <a:ext cx="274320" cy="365760"/>
          </a:xfrm>
          <a:prstGeom prst="rect">
            <a:avLst/>
          </a:prstGeom>
          <a:noFill/>
          <a:ln/>
        </p:spPr>
        <p:txBody>
          <a:bodyPr wrap="square" lIns="0" tIns="0" rIns="0" bIns="0" rtlCol="0" anchor="ctr"/>
          <a:lstStyle/>
          <a:p>
            <a:pPr indent="0" marL="0">
              <a:buNone/>
            </a:pPr>
            <a:r>
              <a:rPr lang="en-US" sz="1100" b="1" dirty="0">
                <a:solidFill>
                  <a:schemeClr val="accent2"/>
                </a:solidFill>
              </a:rPr>
              <a:t>→</a:t>
            </a:r>
            <a:endParaRPr lang="en-US" sz="1100" dirty="0"/>
          </a:p>
        </p:txBody>
      </p:sp>
      <p:sp>
        <p:nvSpPr>
          <p:cNvPr id="26" name="text-729"/>
          <p:cNvSpPr txBox="1"/>
          <p:nvPr/>
        </p:nvSpPr>
        <p:spPr>
          <a:xfrm>
            <a:off x="4023360" y="8065008"/>
            <a:ext cx="2898648" cy="365760"/>
          </a:xfrm>
          <a:prstGeom prst="rect">
            <a:avLst/>
          </a:prstGeom>
          <a:noFill/>
          <a:ln/>
        </p:spPr>
        <p:txBody>
          <a:bodyPr wrap="square" lIns="0" tIns="0" rIns="0" bIns="0" rtlCol="0" anchor="ctr"/>
          <a:lstStyle/>
          <a:p>
            <a:pPr indent="0" marL="0">
              <a:buNone/>
            </a:pPr>
            <a:r>
              <a:rPr lang="en-US" sz="1000" dirty="0">
                <a:solidFill>
                  <a:schemeClr val="tx2"/>
                </a:solidFill>
              </a:rPr>
              <a:t>darker streets, for the aurora and the wildlife</a:t>
            </a:r>
            <a:endParaRPr lang="en-US" sz="1000" dirty="0"/>
          </a:p>
        </p:txBody>
      </p:sp>
      <p:sp>
        <p:nvSpPr>
          <p:cNvPr id="27" name="text-730"/>
          <p:cNvSpPr txBox="1"/>
          <p:nvPr/>
        </p:nvSpPr>
        <p:spPr>
          <a:xfrm>
            <a:off x="640080" y="8430768"/>
            <a:ext cx="3017520" cy="365760"/>
          </a:xfrm>
          <a:prstGeom prst="rect">
            <a:avLst/>
          </a:prstGeom>
          <a:noFill/>
          <a:ln/>
        </p:spPr>
        <p:txBody>
          <a:bodyPr wrap="square" lIns="0" tIns="0" rIns="0" bIns="0" rtlCol="0" anchor="ctr"/>
          <a:lstStyle/>
          <a:p>
            <a:pPr indent="0" marL="0">
              <a:buNone/>
            </a:pPr>
            <a:r>
              <a:rPr lang="en-US" sz="1000" b="1" dirty="0">
                <a:solidFill>
                  <a:schemeClr val="tx1"/>
                </a:solidFill>
              </a:rPr>
              <a:t>Limited reindeer rides, protected corridors</a:t>
            </a:r>
            <a:endParaRPr lang="en-US" sz="1000" dirty="0"/>
          </a:p>
        </p:txBody>
      </p:sp>
      <p:sp>
        <p:nvSpPr>
          <p:cNvPr id="28" name="text-731"/>
          <p:cNvSpPr txBox="1"/>
          <p:nvPr/>
        </p:nvSpPr>
        <p:spPr>
          <a:xfrm>
            <a:off x="3703320" y="8430768"/>
            <a:ext cx="274320" cy="365760"/>
          </a:xfrm>
          <a:prstGeom prst="rect">
            <a:avLst/>
          </a:prstGeom>
          <a:noFill/>
          <a:ln/>
        </p:spPr>
        <p:txBody>
          <a:bodyPr wrap="square" lIns="0" tIns="0" rIns="0" bIns="0" rtlCol="0" anchor="ctr"/>
          <a:lstStyle/>
          <a:p>
            <a:pPr indent="0" marL="0">
              <a:buNone/>
            </a:pPr>
            <a:r>
              <a:rPr lang="en-US" sz="1100" b="1" dirty="0">
                <a:solidFill>
                  <a:schemeClr val="accent2"/>
                </a:solidFill>
              </a:rPr>
              <a:t>→</a:t>
            </a:r>
            <a:endParaRPr lang="en-US" sz="1100" dirty="0"/>
          </a:p>
        </p:txBody>
      </p:sp>
      <p:sp>
        <p:nvSpPr>
          <p:cNvPr id="29" name="text-732"/>
          <p:cNvSpPr txBox="1"/>
          <p:nvPr/>
        </p:nvSpPr>
        <p:spPr>
          <a:xfrm>
            <a:off x="4023360" y="8430768"/>
            <a:ext cx="2898648" cy="365760"/>
          </a:xfrm>
          <a:prstGeom prst="rect">
            <a:avLst/>
          </a:prstGeom>
          <a:noFill/>
          <a:ln/>
        </p:spPr>
        <p:txBody>
          <a:bodyPr wrap="square" lIns="0" tIns="0" rIns="0" bIns="0" rtlCol="0" anchor="ctr"/>
          <a:lstStyle/>
          <a:p>
            <a:pPr indent="0" marL="0">
              <a:buNone/>
            </a:pPr>
            <a:r>
              <a:rPr lang="en-US" sz="1000" dirty="0">
                <a:solidFill>
                  <a:schemeClr val="tx2"/>
                </a:solidFill>
              </a:rPr>
              <a:t>less tourist income, healthier animals</a:t>
            </a:r>
            <a:endParaRPr lang="en-US" sz="1000" dirty="0"/>
          </a:p>
        </p:txBody>
      </p:sp>
      <p:sp>
        <p:nvSpPr>
          <p:cNvPr id="30" name="row-band-733"/>
          <p:cNvSpPr/>
          <p:nvPr/>
        </p:nvSpPr>
        <p:spPr>
          <a:xfrm>
            <a:off x="548640" y="8796528"/>
            <a:ext cx="6464808" cy="365760"/>
          </a:xfrm>
          <a:prstGeom prst="rect">
            <a:avLst/>
          </a:prstGeom>
          <a:solidFill>
            <a:schemeClr val="bg2"/>
          </a:solidFill>
          <a:ln w="12700">
            <a:solidFill>
              <a:schemeClr val="bg2"/>
            </a:solidFill>
            <a:prstDash val="solid"/>
          </a:ln>
        </p:spPr>
      </p:sp>
      <p:sp>
        <p:nvSpPr>
          <p:cNvPr id="31" name="text-734"/>
          <p:cNvSpPr txBox="1"/>
          <p:nvPr/>
        </p:nvSpPr>
        <p:spPr>
          <a:xfrm>
            <a:off x="640080" y="8796528"/>
            <a:ext cx="3017520" cy="365760"/>
          </a:xfrm>
          <a:prstGeom prst="rect">
            <a:avLst/>
          </a:prstGeom>
          <a:noFill/>
          <a:ln/>
        </p:spPr>
        <p:txBody>
          <a:bodyPr wrap="square" lIns="0" tIns="0" rIns="0" bIns="0" rtlCol="0" anchor="ctr"/>
          <a:lstStyle/>
          <a:p>
            <a:pPr indent="0" marL="0">
              <a:buNone/>
            </a:pPr>
            <a:r>
              <a:rPr lang="en-US" sz="1000" b="1" dirty="0">
                <a:solidFill>
                  <a:schemeClr val="tx1"/>
                </a:solidFill>
              </a:rPr>
              <a:t>Factory-made food</a:t>
            </a:r>
            <a:endParaRPr lang="en-US" sz="1000" dirty="0"/>
          </a:p>
        </p:txBody>
      </p:sp>
      <p:sp>
        <p:nvSpPr>
          <p:cNvPr id="32" name="text-735"/>
          <p:cNvSpPr txBox="1"/>
          <p:nvPr/>
        </p:nvSpPr>
        <p:spPr>
          <a:xfrm>
            <a:off x="3703320" y="8796528"/>
            <a:ext cx="274320" cy="365760"/>
          </a:xfrm>
          <a:prstGeom prst="rect">
            <a:avLst/>
          </a:prstGeom>
          <a:noFill/>
          <a:ln/>
        </p:spPr>
        <p:txBody>
          <a:bodyPr wrap="square" lIns="0" tIns="0" rIns="0" bIns="0" rtlCol="0" anchor="ctr"/>
          <a:lstStyle/>
          <a:p>
            <a:pPr indent="0" marL="0">
              <a:buNone/>
            </a:pPr>
            <a:r>
              <a:rPr lang="en-US" sz="1100" b="1" dirty="0">
                <a:solidFill>
                  <a:schemeClr val="accent2"/>
                </a:solidFill>
              </a:rPr>
              <a:t>→</a:t>
            </a:r>
            <a:endParaRPr lang="en-US" sz="1100" dirty="0"/>
          </a:p>
        </p:txBody>
      </p:sp>
      <p:sp>
        <p:nvSpPr>
          <p:cNvPr id="33" name="text-736"/>
          <p:cNvSpPr txBox="1"/>
          <p:nvPr/>
        </p:nvSpPr>
        <p:spPr>
          <a:xfrm>
            <a:off x="4023360" y="8796528"/>
            <a:ext cx="2898648" cy="365760"/>
          </a:xfrm>
          <a:prstGeom prst="rect">
            <a:avLst/>
          </a:prstGeom>
          <a:noFill/>
          <a:ln/>
        </p:spPr>
        <p:txBody>
          <a:bodyPr wrap="square" lIns="0" tIns="0" rIns="0" bIns="0" rtlCol="0" anchor="ctr"/>
          <a:lstStyle/>
          <a:p>
            <a:pPr indent="0" marL="0">
              <a:buNone/>
            </a:pPr>
            <a:r>
              <a:rPr lang="en-US" sz="1000" dirty="0">
                <a:solidFill>
                  <a:schemeClr val="tx2"/>
                </a:solidFill>
              </a:rPr>
              <a:t>no farmland needed, but more electricity and new tastes</a:t>
            </a:r>
            <a:endParaRPr lang="en-US" sz="1000" dirty="0"/>
          </a:p>
        </p:txBody>
      </p:sp>
      <p:sp>
        <p:nvSpPr>
          <p:cNvPr id="34" name="card-737"/>
          <p:cNvSpPr/>
          <p:nvPr/>
        </p:nvSpPr>
        <p:spPr>
          <a:xfrm>
            <a:off x="548640" y="9281160"/>
            <a:ext cx="6464808" cy="685800"/>
          </a:xfrm>
          <a:prstGeom prst="roundRect">
            <a:avLst>
              <a:gd name="adj" fmla="val 10667"/>
            </a:avLst>
          </a:prstGeom>
          <a:solidFill>
            <a:schemeClr val="tx1"/>
          </a:solidFill>
          <a:ln w="12700">
            <a:solidFill>
              <a:schemeClr val="tx1"/>
            </a:solidFill>
            <a:prstDash val="solid"/>
          </a:ln>
        </p:spPr>
      </p:sp>
      <p:sp>
        <p:nvSpPr>
          <p:cNvPr id="35" name="text-738"/>
          <p:cNvSpPr txBox="1"/>
          <p:nvPr/>
        </p:nvSpPr>
        <p:spPr>
          <a:xfrm>
            <a:off x="685800" y="9326880"/>
            <a:ext cx="6190488" cy="594360"/>
          </a:xfrm>
          <a:prstGeom prst="rect">
            <a:avLst/>
          </a:prstGeom>
          <a:noFill/>
          <a:ln/>
        </p:spPr>
        <p:txBody>
          <a:bodyPr wrap="square" lIns="0" tIns="0" rIns="0" bIns="0" rtlCol="0" anchor="ctr"/>
          <a:lstStyle/>
          <a:p>
            <a:pPr indent="0" marL="0">
              <a:buNone/>
            </a:pPr>
            <a:r>
              <a:rPr lang="en-US" sz="1000" b="1" spc="200" kern="0" dirty="0">
                <a:solidFill>
                  <a:schemeClr val="accent1"/>
                </a:solidFill>
              </a:rPr>
              <a:t>OUR PLAN B  </a:t>
            </a:r>
            <a:pPr indent="0" marL="0">
              <a:buNone/>
            </a:pPr>
            <a:r>
              <a:rPr lang="en-US" sz="1000" dirty="0">
                <a:solidFill>
                  <a:schemeClr val="bg1"/>
                </a:solidFill>
              </a:rPr>
              <a:t>Build in stages: first the geothermal plant, the wind and solar farms, the battery bank and the heat tank; add the fusion station when the technology is proven. Until then, the city grows more slowly.</a:t>
            </a:r>
            <a:endParaRPr lang="en-US" sz="1000" dirty="0"/>
          </a:p>
        </p:txBody>
      </p:sp>
      <p:sp>
        <p:nvSpPr>
          <p:cNvPr id="36" name="page-number"/>
          <p:cNvSpPr txBox="1"/>
          <p:nvPr/>
        </p:nvSpPr>
        <p:spPr>
          <a:xfrm>
            <a:off x="6601968" y="10177272"/>
            <a:ext cx="411480" cy="219456"/>
          </a:xfrm>
          <a:prstGeom prst="rect">
            <a:avLst/>
          </a:prstGeom>
          <a:noFill/>
          <a:ln/>
        </p:spPr>
        <p:txBody>
          <a:bodyPr wrap="square" lIns="0" tIns="0" rIns="0" bIns="0" rtlCol="0" anchor="ctr"/>
          <a:lstStyle/>
          <a:p>
            <a:pPr algn="r" indent="0" marL="0">
              <a:buNone/>
            </a:pPr>
            <a:r>
              <a:rPr lang="en-US" sz="900" b="1" dirty="0">
                <a:solidFill>
                  <a:schemeClr val="tx1"/>
                </a:solidFill>
              </a:rPr>
              <a:t>31</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picture-739" descr="/home/user/chatbox-bi-n-o/magazine/assets/renders/approach_dusk.jpg">    </p:cNvPr>
          <p:cNvPicPr>
            <a:picLocks noChangeAspect="1"/>
          </p:cNvPicPr>
          <p:nvPr/>
        </p:nvPicPr>
        <p:blipFill>
          <a:blip r:embed="rId1"/>
          <a:srcRect l="0" r="0" t="0" b="0"/>
          <a:stretch/>
        </p:blipFill>
        <p:spPr>
          <a:xfrm>
            <a:off x="0" y="0"/>
            <a:ext cx="7562088" cy="3017520"/>
          </a:xfrm>
          <a:prstGeom prst="rect">
            <a:avLst/>
          </a:prstGeom>
        </p:spPr>
      </p:pic>
      <p:pic>
        <p:nvPicPr>
          <p:cNvPr id="3" name="shade-bottom-740" descr="/home/user/chatbox-bi-n-o/magazine/assets/ui/shade_bottom.png">    </p:cNvPr>
          <p:cNvPicPr>
            <a:picLocks noChangeAspect="1"/>
          </p:cNvPicPr>
          <p:nvPr/>
        </p:nvPicPr>
        <p:blipFill>
          <a:blip r:embed="rId2"/>
          <a:stretch>
            <a:fillRect/>
          </a:stretch>
        </p:blipFill>
        <p:spPr>
          <a:xfrm>
            <a:off x="0" y="1097280"/>
            <a:ext cx="7562088" cy="1920240"/>
          </a:xfrm>
          <a:prstGeom prst="rect">
            <a:avLst/>
          </a:prstGeom>
        </p:spPr>
      </p:pic>
      <p:sp>
        <p:nvSpPr>
          <p:cNvPr id="4" name="kicker-dot-741"/>
          <p:cNvSpPr/>
          <p:nvPr/>
        </p:nvSpPr>
        <p:spPr>
          <a:xfrm>
            <a:off x="548640" y="1979676"/>
            <a:ext cx="100584" cy="100584"/>
          </a:xfrm>
          <a:prstGeom prst="ellipse">
            <a:avLst/>
          </a:prstGeom>
          <a:solidFill>
            <a:schemeClr val="accent1"/>
          </a:solidFill>
          <a:ln w="12700">
            <a:solidFill>
              <a:schemeClr val="accent1"/>
            </a:solidFill>
            <a:prstDash val="solid"/>
          </a:ln>
        </p:spPr>
      </p:sp>
      <p:sp>
        <p:nvSpPr>
          <p:cNvPr id="5" name="text-742"/>
          <p:cNvSpPr txBox="1"/>
          <p:nvPr/>
        </p:nvSpPr>
        <p:spPr>
          <a:xfrm>
            <a:off x="731520" y="1938528"/>
            <a:ext cx="5486400" cy="201168"/>
          </a:xfrm>
          <a:prstGeom prst="rect">
            <a:avLst/>
          </a:prstGeom>
          <a:noFill/>
          <a:ln/>
        </p:spPr>
        <p:txBody>
          <a:bodyPr wrap="square" lIns="0" tIns="0" rIns="0" bIns="0" rtlCol="0" anchor="t"/>
          <a:lstStyle/>
          <a:p>
            <a:pPr indent="0" marL="0">
              <a:buNone/>
            </a:pPr>
            <a:r>
              <a:rPr lang="en-US" sz="900" b="1" spc="300" kern="0" dirty="0">
                <a:solidFill>
                  <a:schemeClr val="bg1"/>
                </a:solidFill>
              </a:rPr>
              <a:t>INVESTMENT OPPORTUNITY</a:t>
            </a:r>
            <a:endParaRPr lang="en-US" sz="900" dirty="0"/>
          </a:p>
        </p:txBody>
      </p:sp>
      <p:sp>
        <p:nvSpPr>
          <p:cNvPr id="6" name="title-743"/>
          <p:cNvSpPr txBox="1"/>
          <p:nvPr/>
        </p:nvSpPr>
        <p:spPr>
          <a:xfrm>
            <a:off x="548640" y="2194560"/>
            <a:ext cx="6464808" cy="731520"/>
          </a:xfrm>
          <a:prstGeom prst="rect">
            <a:avLst/>
          </a:prstGeom>
          <a:noFill/>
          <a:ln/>
        </p:spPr>
        <p:txBody>
          <a:bodyPr wrap="square" lIns="0" tIns="0" rIns="0" bIns="0" rtlCol="0" anchor="t"/>
          <a:lstStyle/>
          <a:p>
            <a:pPr indent="0" marL="0">
              <a:lnSpc>
                <a:spcPct val="92000"/>
              </a:lnSpc>
              <a:buNone/>
            </a:pPr>
            <a:r>
              <a:rPr lang="en-US" sz="3800" b="1" dirty="0">
                <a:solidFill>
                  <a:schemeClr val="bg1"/>
                </a:solidFill>
                <a:latin typeface="+mj-lt" pitchFamily="34" charset="0"/>
                <a:ea typeface="+mj-lt" pitchFamily="34" charset="-122"/>
                <a:cs typeface="+mj-lt" pitchFamily="34" charset="-120"/>
              </a:rPr>
              <a:t>Invest in Aurora Haven</a:t>
            </a:r>
            <a:endParaRPr lang="en-US" sz="3800" dirty="0"/>
          </a:p>
        </p:txBody>
      </p:sp>
      <p:sp>
        <p:nvSpPr>
          <p:cNvPr id="7" name="text-745"/>
          <p:cNvSpPr txBox="1"/>
          <p:nvPr/>
        </p:nvSpPr>
        <p:spPr>
          <a:xfrm>
            <a:off x="548640" y="3072384"/>
            <a:ext cx="6464808" cy="201168"/>
          </a:xfrm>
          <a:prstGeom prst="rect">
            <a:avLst/>
          </a:prstGeom>
          <a:noFill/>
          <a:ln/>
        </p:spPr>
        <p:txBody>
          <a:bodyPr wrap="square" lIns="0" tIns="0" rIns="0" bIns="0" rtlCol="0" anchor="t"/>
          <a:lstStyle/>
          <a:p>
            <a:pPr indent="0" marL="0">
              <a:buNone/>
            </a:pPr>
            <a:r>
              <a:rPr lang="en-US" sz="850" i="1" dirty="0">
                <a:solidFill>
                  <a:schemeClr val="tx2"/>
                </a:solidFill>
              </a:rPr>
              <a:t>The Mount Aurora Approach at dusk: the street from downtown to the spa.</a:t>
            </a:r>
            <a:endParaRPr lang="en-US" sz="850" dirty="0"/>
          </a:p>
        </p:txBody>
      </p:sp>
      <p:sp>
        <p:nvSpPr>
          <p:cNvPr id="8" name="text-746"/>
          <p:cNvSpPr txBox="1"/>
          <p:nvPr/>
        </p:nvSpPr>
        <p:spPr>
          <a:xfrm>
            <a:off x="548640" y="3364992"/>
            <a:ext cx="6464808" cy="640080"/>
          </a:xfrm>
          <a:prstGeom prst="rect">
            <a:avLst/>
          </a:prstGeom>
          <a:noFill/>
          <a:ln/>
        </p:spPr>
        <p:txBody>
          <a:bodyPr wrap="square" lIns="0" tIns="0" rIns="0" bIns="0" rtlCol="0" anchor="t"/>
          <a:lstStyle/>
          <a:p>
            <a:pPr indent="0" marL="0">
              <a:lnSpc>
                <a:spcPct val="110000"/>
              </a:lnSpc>
              <a:buNone/>
            </a:pPr>
            <a:r>
              <a:rPr lang="en-US" sz="1300" i="1" dirty="0">
                <a:solidFill>
                  <a:schemeClr val="tx2"/>
                </a:solidFill>
                <a:latin typeface="+mj-lt" pitchFamily="34" charset="0"/>
                <a:ea typeface="+mj-lt" pitchFamily="34" charset="-122"/>
                <a:cs typeface="+mj-lt" pitchFamily="34" charset="-120"/>
              </a:rPr>
              <a:t>Aurora Haven needs partners to build it. We are looking for investors who want a share in a zero-carbon city, built step by step, starting with technology that already works today.</a:t>
            </a:r>
            <a:endParaRPr lang="en-US" sz="1300" dirty="0"/>
          </a:p>
        </p:txBody>
      </p:sp>
      <p:sp>
        <p:nvSpPr>
          <p:cNvPr id="9" name="text-747"/>
          <p:cNvSpPr txBox="1"/>
          <p:nvPr/>
        </p:nvSpPr>
        <p:spPr>
          <a:xfrm>
            <a:off x="548640" y="4114800"/>
            <a:ext cx="6464808" cy="201168"/>
          </a:xfrm>
          <a:prstGeom prst="rect">
            <a:avLst/>
          </a:prstGeom>
          <a:noFill/>
          <a:ln/>
        </p:spPr>
        <p:txBody>
          <a:bodyPr wrap="square" lIns="0" tIns="0" rIns="0" bIns="0" rtlCol="0" anchor="t"/>
          <a:lstStyle/>
          <a:p>
            <a:pPr indent="0" marL="0">
              <a:buNone/>
            </a:pPr>
            <a:r>
              <a:rPr lang="en-US" sz="900" b="1" spc="300" kern="0" dirty="0">
                <a:solidFill>
                  <a:schemeClr val="tx2"/>
                </a:solidFill>
              </a:rPr>
              <a:t>THREE WAYS TO INVEST</a:t>
            </a:r>
            <a:endParaRPr lang="en-US" sz="900" dirty="0"/>
          </a:p>
        </p:txBody>
      </p:sp>
      <p:sp>
        <p:nvSpPr>
          <p:cNvPr id="10" name="card-748"/>
          <p:cNvSpPr/>
          <p:nvPr/>
        </p:nvSpPr>
        <p:spPr>
          <a:xfrm>
            <a:off x="548640" y="4370832"/>
            <a:ext cx="2063496" cy="1572768"/>
          </a:xfrm>
          <a:prstGeom prst="roundRect">
            <a:avLst>
              <a:gd name="adj" fmla="val 4651"/>
            </a:avLst>
          </a:prstGeom>
          <a:solidFill>
            <a:schemeClr val="bg2"/>
          </a:solidFill>
          <a:ln w="12700">
            <a:solidFill>
              <a:schemeClr val="bg2"/>
            </a:solidFill>
            <a:prstDash val="solid"/>
          </a:ln>
        </p:spPr>
      </p:sp>
      <p:sp>
        <p:nvSpPr>
          <p:cNvPr id="11" name="marker-749"/>
          <p:cNvSpPr/>
          <p:nvPr/>
        </p:nvSpPr>
        <p:spPr>
          <a:xfrm>
            <a:off x="658368" y="4480560"/>
            <a:ext cx="329184" cy="329184"/>
          </a:xfrm>
          <a:prstGeom prst="ellipse">
            <a:avLst/>
          </a:prstGeom>
          <a:solidFill>
            <a:schemeClr val="accent1"/>
          </a:solidFill>
          <a:ln w="12700">
            <a:solidFill>
              <a:schemeClr val="accent1"/>
            </a:solidFill>
            <a:prstDash val="solid"/>
          </a:ln>
        </p:spPr>
      </p:sp>
      <p:sp>
        <p:nvSpPr>
          <p:cNvPr id="12" name="text-750"/>
          <p:cNvSpPr txBox="1"/>
          <p:nvPr/>
        </p:nvSpPr>
        <p:spPr>
          <a:xfrm>
            <a:off x="658368" y="448056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1</a:t>
            </a:r>
            <a:endParaRPr lang="en-US" sz="1200" dirty="0"/>
          </a:p>
        </p:txBody>
      </p:sp>
      <p:sp>
        <p:nvSpPr>
          <p:cNvPr id="13" name="text-751"/>
          <p:cNvSpPr txBox="1"/>
          <p:nvPr/>
        </p:nvSpPr>
        <p:spPr>
          <a:xfrm>
            <a:off x="1078992" y="4526280"/>
            <a:ext cx="1441704" cy="237744"/>
          </a:xfrm>
          <a:prstGeom prst="rect">
            <a:avLst/>
          </a:prstGeom>
          <a:noFill/>
          <a:ln/>
        </p:spPr>
        <p:txBody>
          <a:bodyPr wrap="square" lIns="0" tIns="0" rIns="0" bIns="0" rtlCol="0" anchor="t"/>
          <a:lstStyle/>
          <a:p>
            <a:pPr indent="0" marL="0">
              <a:buNone/>
            </a:pPr>
            <a:r>
              <a:rPr lang="en-US" sz="1050" b="1" dirty="0">
                <a:solidFill>
                  <a:schemeClr val="tx1"/>
                </a:solidFill>
              </a:rPr>
              <a:t>Green city bonds</a:t>
            </a:r>
            <a:endParaRPr lang="en-US" sz="1050" dirty="0"/>
          </a:p>
        </p:txBody>
      </p:sp>
      <p:sp>
        <p:nvSpPr>
          <p:cNvPr id="14" name="text-752"/>
          <p:cNvSpPr txBox="1"/>
          <p:nvPr/>
        </p:nvSpPr>
        <p:spPr>
          <a:xfrm>
            <a:off x="658368" y="4901184"/>
            <a:ext cx="1844040" cy="987552"/>
          </a:xfrm>
          <a:prstGeom prst="rect">
            <a:avLst/>
          </a:prstGeom>
          <a:noFill/>
          <a:ln/>
        </p:spPr>
        <p:txBody>
          <a:bodyPr wrap="square" lIns="0" tIns="0" rIns="0" bIns="0" rtlCol="0" anchor="t"/>
          <a:lstStyle/>
          <a:p>
            <a:pPr indent="0" marL="0">
              <a:lnSpc>
                <a:spcPct val="104000"/>
              </a:lnSpc>
              <a:buNone/>
            </a:pPr>
            <a:r>
              <a:rPr lang="en-US" sz="900" dirty="0">
                <a:solidFill>
                  <a:schemeClr val="tx2"/>
                </a:solidFill>
              </a:rPr>
              <a:t>Fund Stage 1: the geothermal plant, the wind and solar farms, the battery bank and the heat tank, paid back from selling heat and power to the city.</a:t>
            </a:r>
            <a:endParaRPr lang="en-US" sz="900" dirty="0"/>
          </a:p>
        </p:txBody>
      </p:sp>
      <p:sp>
        <p:nvSpPr>
          <p:cNvPr id="15" name="card-753"/>
          <p:cNvSpPr/>
          <p:nvPr/>
        </p:nvSpPr>
        <p:spPr>
          <a:xfrm>
            <a:off x="2749296" y="4370832"/>
            <a:ext cx="2063496" cy="1572768"/>
          </a:xfrm>
          <a:prstGeom prst="roundRect">
            <a:avLst>
              <a:gd name="adj" fmla="val 4651"/>
            </a:avLst>
          </a:prstGeom>
          <a:solidFill>
            <a:schemeClr val="bg2"/>
          </a:solidFill>
          <a:ln w="12700">
            <a:solidFill>
              <a:schemeClr val="bg2"/>
            </a:solidFill>
            <a:prstDash val="solid"/>
          </a:ln>
        </p:spPr>
      </p:sp>
      <p:sp>
        <p:nvSpPr>
          <p:cNvPr id="16" name="marker-754"/>
          <p:cNvSpPr/>
          <p:nvPr/>
        </p:nvSpPr>
        <p:spPr>
          <a:xfrm>
            <a:off x="2859024" y="4480560"/>
            <a:ext cx="329184" cy="329184"/>
          </a:xfrm>
          <a:prstGeom prst="ellipse">
            <a:avLst/>
          </a:prstGeom>
          <a:solidFill>
            <a:schemeClr val="accent1"/>
          </a:solidFill>
          <a:ln w="12700">
            <a:solidFill>
              <a:schemeClr val="accent1"/>
            </a:solidFill>
            <a:prstDash val="solid"/>
          </a:ln>
        </p:spPr>
      </p:sp>
      <p:sp>
        <p:nvSpPr>
          <p:cNvPr id="17" name="text-755"/>
          <p:cNvSpPr txBox="1"/>
          <p:nvPr/>
        </p:nvSpPr>
        <p:spPr>
          <a:xfrm>
            <a:off x="2859024" y="448056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2</a:t>
            </a:r>
            <a:endParaRPr lang="en-US" sz="1200" dirty="0"/>
          </a:p>
        </p:txBody>
      </p:sp>
      <p:sp>
        <p:nvSpPr>
          <p:cNvPr id="18" name="text-756"/>
          <p:cNvSpPr txBox="1"/>
          <p:nvPr/>
        </p:nvSpPr>
        <p:spPr>
          <a:xfrm>
            <a:off x="3279648" y="4526280"/>
            <a:ext cx="1441704" cy="237744"/>
          </a:xfrm>
          <a:prstGeom prst="rect">
            <a:avLst/>
          </a:prstGeom>
          <a:noFill/>
          <a:ln/>
        </p:spPr>
        <p:txBody>
          <a:bodyPr wrap="square" lIns="0" tIns="0" rIns="0" bIns="0" rtlCol="0" anchor="t"/>
          <a:lstStyle/>
          <a:p>
            <a:pPr indent="0" marL="0">
              <a:buNone/>
            </a:pPr>
            <a:r>
              <a:rPr lang="en-US" sz="1050" b="1" dirty="0">
                <a:solidFill>
                  <a:schemeClr val="tx1"/>
                </a:solidFill>
              </a:rPr>
              <a:t>Community shares</a:t>
            </a:r>
            <a:endParaRPr lang="en-US" sz="1050" dirty="0"/>
          </a:p>
        </p:txBody>
      </p:sp>
      <p:sp>
        <p:nvSpPr>
          <p:cNvPr id="19" name="text-757"/>
          <p:cNvSpPr txBox="1"/>
          <p:nvPr/>
        </p:nvSpPr>
        <p:spPr>
          <a:xfrm>
            <a:off x="2859024" y="4901184"/>
            <a:ext cx="1844040" cy="987552"/>
          </a:xfrm>
          <a:prstGeom prst="rect">
            <a:avLst/>
          </a:prstGeom>
          <a:noFill/>
          <a:ln/>
        </p:spPr>
        <p:txBody>
          <a:bodyPr wrap="square" lIns="0" tIns="0" rIns="0" bIns="0" rtlCol="0" anchor="t"/>
          <a:lstStyle/>
          <a:p>
            <a:pPr indent="0" marL="0">
              <a:lnSpc>
                <a:spcPct val="104000"/>
              </a:lnSpc>
              <a:buNone/>
            </a:pPr>
            <a:r>
              <a:rPr lang="en-US" sz="900" dirty="0">
                <a:solidFill>
                  <a:schemeClr val="tx2"/>
                </a:solidFill>
              </a:rPr>
              <a:t>Residents and visitors buy shares in the wind and solar farms through the Aurora Green Finance Hall and share in the income they make.</a:t>
            </a:r>
            <a:endParaRPr lang="en-US" sz="900" dirty="0"/>
          </a:p>
        </p:txBody>
      </p:sp>
      <p:sp>
        <p:nvSpPr>
          <p:cNvPr id="20" name="card-758"/>
          <p:cNvSpPr/>
          <p:nvPr/>
        </p:nvSpPr>
        <p:spPr>
          <a:xfrm>
            <a:off x="4949952" y="4370832"/>
            <a:ext cx="2063496" cy="1572768"/>
          </a:xfrm>
          <a:prstGeom prst="roundRect">
            <a:avLst>
              <a:gd name="adj" fmla="val 4651"/>
            </a:avLst>
          </a:prstGeom>
          <a:solidFill>
            <a:schemeClr val="bg2"/>
          </a:solidFill>
          <a:ln w="12700">
            <a:solidFill>
              <a:schemeClr val="bg2"/>
            </a:solidFill>
            <a:prstDash val="solid"/>
          </a:ln>
        </p:spPr>
      </p:sp>
      <p:sp>
        <p:nvSpPr>
          <p:cNvPr id="21" name="marker-759"/>
          <p:cNvSpPr/>
          <p:nvPr/>
        </p:nvSpPr>
        <p:spPr>
          <a:xfrm>
            <a:off x="5059680" y="4480560"/>
            <a:ext cx="329184" cy="329184"/>
          </a:xfrm>
          <a:prstGeom prst="ellipse">
            <a:avLst/>
          </a:prstGeom>
          <a:solidFill>
            <a:schemeClr val="accent1"/>
          </a:solidFill>
          <a:ln w="12700">
            <a:solidFill>
              <a:schemeClr val="accent1"/>
            </a:solidFill>
            <a:prstDash val="solid"/>
          </a:ln>
        </p:spPr>
      </p:sp>
      <p:sp>
        <p:nvSpPr>
          <p:cNvPr id="22" name="text-760"/>
          <p:cNvSpPr txBox="1"/>
          <p:nvPr/>
        </p:nvSpPr>
        <p:spPr>
          <a:xfrm>
            <a:off x="5059680" y="448056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latin typeface="+mj-lt" pitchFamily="34" charset="0"/>
                <a:ea typeface="+mj-lt" pitchFamily="34" charset="-122"/>
                <a:cs typeface="+mj-lt" pitchFamily="34" charset="-120"/>
              </a:rPr>
              <a:t>3</a:t>
            </a:r>
            <a:endParaRPr lang="en-US" sz="1200" dirty="0"/>
          </a:p>
        </p:txBody>
      </p:sp>
      <p:sp>
        <p:nvSpPr>
          <p:cNvPr id="23" name="text-761"/>
          <p:cNvSpPr txBox="1"/>
          <p:nvPr/>
        </p:nvSpPr>
        <p:spPr>
          <a:xfrm>
            <a:off x="5480304" y="4526280"/>
            <a:ext cx="1441704" cy="237744"/>
          </a:xfrm>
          <a:prstGeom prst="rect">
            <a:avLst/>
          </a:prstGeom>
          <a:noFill/>
          <a:ln/>
        </p:spPr>
        <p:txBody>
          <a:bodyPr wrap="square" lIns="0" tIns="0" rIns="0" bIns="0" rtlCol="0" anchor="t"/>
          <a:lstStyle/>
          <a:p>
            <a:pPr indent="0" marL="0">
              <a:buNone/>
            </a:pPr>
            <a:r>
              <a:rPr lang="en-US" sz="1050" b="1" dirty="0">
                <a:solidFill>
                  <a:schemeClr val="tx1"/>
                </a:solidFill>
              </a:rPr>
              <a:t>Research partnerships</a:t>
            </a:r>
            <a:endParaRPr lang="en-US" sz="1050" dirty="0"/>
          </a:p>
        </p:txBody>
      </p:sp>
      <p:sp>
        <p:nvSpPr>
          <p:cNvPr id="24" name="text-762"/>
          <p:cNvSpPr txBox="1"/>
          <p:nvPr/>
        </p:nvSpPr>
        <p:spPr>
          <a:xfrm>
            <a:off x="5059680" y="4901184"/>
            <a:ext cx="1844040" cy="987552"/>
          </a:xfrm>
          <a:prstGeom prst="rect">
            <a:avLst/>
          </a:prstGeom>
          <a:noFill/>
          <a:ln/>
        </p:spPr>
        <p:txBody>
          <a:bodyPr wrap="square" lIns="0" tIns="0" rIns="0" bIns="0" rtlCol="0" anchor="t"/>
          <a:lstStyle/>
          <a:p>
            <a:pPr indent="0" marL="0">
              <a:lnSpc>
                <a:spcPct val="104000"/>
              </a:lnSpc>
              <a:buNone/>
            </a:pPr>
            <a:r>
              <a:rPr lang="en-US" sz="900" dirty="0">
                <a:solidFill>
                  <a:schemeClr val="tx2"/>
                </a:solidFill>
              </a:rPr>
              <a:t>Companies and universities test new food, energy and building ideas with Arctic University and the Polar Climate &amp; Ice Research Institute.</a:t>
            </a:r>
            <a:endParaRPr lang="en-US" sz="900" dirty="0"/>
          </a:p>
        </p:txBody>
      </p:sp>
      <p:sp>
        <p:nvSpPr>
          <p:cNvPr id="25" name="text-763"/>
          <p:cNvSpPr txBox="1"/>
          <p:nvPr/>
        </p:nvSpPr>
        <p:spPr>
          <a:xfrm>
            <a:off x="548640" y="6108192"/>
            <a:ext cx="6464808" cy="201168"/>
          </a:xfrm>
          <a:prstGeom prst="rect">
            <a:avLst/>
          </a:prstGeom>
          <a:noFill/>
          <a:ln/>
        </p:spPr>
        <p:txBody>
          <a:bodyPr wrap="square" lIns="0" tIns="0" rIns="0" bIns="0" rtlCol="0" anchor="t"/>
          <a:lstStyle/>
          <a:p>
            <a:pPr indent="0" marL="0">
              <a:buNone/>
            </a:pPr>
            <a:r>
              <a:rPr lang="en-US" sz="900" b="1" spc="300" kern="0" dirty="0">
                <a:solidFill>
                  <a:schemeClr val="tx2"/>
                </a:solidFill>
              </a:rPr>
              <a:t>WHAT YOUR MONEY BUILDS, STAGE BY STAGE</a:t>
            </a:r>
            <a:endParaRPr lang="en-US" sz="900" dirty="0"/>
          </a:p>
        </p:txBody>
      </p:sp>
      <p:sp>
        <p:nvSpPr>
          <p:cNvPr id="26" name="stage-line"/>
          <p:cNvSpPr/>
          <p:nvPr/>
        </p:nvSpPr>
        <p:spPr>
          <a:xfrm>
            <a:off x="731520" y="6510528"/>
            <a:ext cx="0" cy="1188720"/>
          </a:xfrm>
          <a:prstGeom prst="line">
            <a:avLst/>
          </a:prstGeom>
          <a:noFill/>
          <a:ln w="25400">
            <a:solidFill>
              <a:schemeClr val="accent1"/>
            </a:solidFill>
            <a:prstDash val="solid"/>
          </a:ln>
        </p:spPr>
      </p:sp>
      <p:sp>
        <p:nvSpPr>
          <p:cNvPr id="27" name="marker-764"/>
          <p:cNvSpPr/>
          <p:nvPr/>
        </p:nvSpPr>
        <p:spPr>
          <a:xfrm>
            <a:off x="548640" y="6382512"/>
            <a:ext cx="365760" cy="365760"/>
          </a:xfrm>
          <a:prstGeom prst="ellipse">
            <a:avLst/>
          </a:prstGeom>
          <a:solidFill>
            <a:schemeClr val="accent1"/>
          </a:solidFill>
          <a:ln w="12700">
            <a:solidFill>
              <a:schemeClr val="accent1"/>
            </a:solidFill>
            <a:prstDash val="solid"/>
          </a:ln>
        </p:spPr>
      </p:sp>
      <p:sp>
        <p:nvSpPr>
          <p:cNvPr id="28" name="text-765"/>
          <p:cNvSpPr txBox="1"/>
          <p:nvPr/>
        </p:nvSpPr>
        <p:spPr>
          <a:xfrm>
            <a:off x="548640" y="63825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mj-lt" pitchFamily="34" charset="0"/>
                <a:ea typeface="+mj-lt" pitchFamily="34" charset="-122"/>
                <a:cs typeface="+mj-lt" pitchFamily="34" charset="-120"/>
              </a:rPr>
              <a:t>1</a:t>
            </a:r>
            <a:endParaRPr lang="en-US" sz="1300" dirty="0"/>
          </a:p>
        </p:txBody>
      </p:sp>
      <p:sp>
        <p:nvSpPr>
          <p:cNvPr id="29" name="text-766"/>
          <p:cNvSpPr txBox="1"/>
          <p:nvPr/>
        </p:nvSpPr>
        <p:spPr>
          <a:xfrm>
            <a:off x="1051560" y="6391656"/>
            <a:ext cx="5961888" cy="512064"/>
          </a:xfrm>
          <a:prstGeom prst="rect">
            <a:avLst/>
          </a:prstGeom>
          <a:noFill/>
          <a:ln/>
        </p:spPr>
        <p:txBody>
          <a:bodyPr wrap="square" lIns="0" tIns="0" rIns="0" bIns="0" rtlCol="0" anchor="t"/>
          <a:lstStyle/>
          <a:p>
            <a:pPr indent="0" marL="0">
              <a:lnSpc>
                <a:spcPct val="104000"/>
              </a:lnSpc>
              <a:buNone/>
            </a:pPr>
            <a:r>
              <a:rPr lang="en-US" sz="950" b="1" dirty="0">
                <a:solidFill>
                  <a:schemeClr val="tx1"/>
                </a:solidFill>
              </a:rPr>
              <a:t>Stage 1 · A clean base. </a:t>
            </a:r>
            <a:pPr indent="0" marL="0">
              <a:lnSpc>
                <a:spcPct val="104000"/>
              </a:lnSpc>
              <a:buNone/>
            </a:pPr>
            <a:r>
              <a:rPr lang="en-US" sz="950" dirty="0">
                <a:solidFill>
                  <a:schemeClr val="tx1"/>
                </a:solidFill>
              </a:rPr>
              <a:t>Technology that works today: the geothermal plant, the wind and solar farms, the battery bank, the heat tank, heated streets and the metro.</a:t>
            </a:r>
            <a:endParaRPr lang="en-US" sz="950" dirty="0"/>
          </a:p>
        </p:txBody>
      </p:sp>
      <p:sp>
        <p:nvSpPr>
          <p:cNvPr id="30" name="marker-767"/>
          <p:cNvSpPr/>
          <p:nvPr/>
        </p:nvSpPr>
        <p:spPr>
          <a:xfrm>
            <a:off x="548640" y="6949440"/>
            <a:ext cx="365760" cy="365760"/>
          </a:xfrm>
          <a:prstGeom prst="ellipse">
            <a:avLst/>
          </a:prstGeom>
          <a:solidFill>
            <a:schemeClr val="accent1"/>
          </a:solidFill>
          <a:ln w="12700">
            <a:solidFill>
              <a:schemeClr val="accent1"/>
            </a:solidFill>
            <a:prstDash val="solid"/>
          </a:ln>
        </p:spPr>
      </p:sp>
      <p:sp>
        <p:nvSpPr>
          <p:cNvPr id="31" name="text-768"/>
          <p:cNvSpPr txBox="1"/>
          <p:nvPr/>
        </p:nvSpPr>
        <p:spPr>
          <a:xfrm>
            <a:off x="548640" y="69494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mj-lt" pitchFamily="34" charset="0"/>
                <a:ea typeface="+mj-lt" pitchFamily="34" charset="-122"/>
                <a:cs typeface="+mj-lt" pitchFamily="34" charset="-120"/>
              </a:rPr>
              <a:t>2</a:t>
            </a:r>
            <a:endParaRPr lang="en-US" sz="1300" dirty="0"/>
          </a:p>
        </p:txBody>
      </p:sp>
      <p:sp>
        <p:nvSpPr>
          <p:cNvPr id="32" name="text-769"/>
          <p:cNvSpPr txBox="1"/>
          <p:nvPr/>
        </p:nvSpPr>
        <p:spPr>
          <a:xfrm>
            <a:off x="1051560" y="6958584"/>
            <a:ext cx="5961888" cy="512064"/>
          </a:xfrm>
          <a:prstGeom prst="rect">
            <a:avLst/>
          </a:prstGeom>
          <a:noFill/>
          <a:ln/>
        </p:spPr>
        <p:txBody>
          <a:bodyPr wrap="square" lIns="0" tIns="0" rIns="0" bIns="0" rtlCol="0" anchor="t"/>
          <a:lstStyle/>
          <a:p>
            <a:pPr indent="0" marL="0">
              <a:lnSpc>
                <a:spcPct val="104000"/>
              </a:lnSpc>
              <a:buNone/>
            </a:pPr>
            <a:r>
              <a:rPr lang="en-US" sz="950" b="1" dirty="0">
                <a:solidFill>
                  <a:schemeClr val="tx1"/>
                </a:solidFill>
              </a:rPr>
              <a:t>Stage 2 · Food and water. </a:t>
            </a:r>
            <a:pPr indent="0" marL="0">
              <a:lnSpc>
                <a:spcPct val="104000"/>
              </a:lnSpc>
              <a:buNone/>
            </a:pPr>
            <a:r>
              <a:rPr lang="en-US" sz="950" dirty="0">
                <a:solidFill>
                  <a:schemeClr val="tx1"/>
                </a:solidFill>
              </a:rPr>
              <a:t>The Snow-to-Food &amp; Water Plant, starting small. For scale, Solar Foods’ first protein factory in Finland cost about €42 million for up to 160 tonnes a year [6].</a:t>
            </a:r>
            <a:endParaRPr lang="en-US" sz="950" dirty="0"/>
          </a:p>
        </p:txBody>
      </p:sp>
      <p:sp>
        <p:nvSpPr>
          <p:cNvPr id="33" name="marker-770"/>
          <p:cNvSpPr/>
          <p:nvPr/>
        </p:nvSpPr>
        <p:spPr>
          <a:xfrm>
            <a:off x="548640" y="7516368"/>
            <a:ext cx="365760" cy="365760"/>
          </a:xfrm>
          <a:prstGeom prst="ellipse">
            <a:avLst/>
          </a:prstGeom>
          <a:solidFill>
            <a:schemeClr val="accent1"/>
          </a:solidFill>
          <a:ln w="12700">
            <a:solidFill>
              <a:schemeClr val="accent1"/>
            </a:solidFill>
            <a:prstDash val="solid"/>
          </a:ln>
        </p:spPr>
      </p:sp>
      <p:sp>
        <p:nvSpPr>
          <p:cNvPr id="34" name="text-771"/>
          <p:cNvSpPr txBox="1"/>
          <p:nvPr/>
        </p:nvSpPr>
        <p:spPr>
          <a:xfrm>
            <a:off x="548640" y="7516368"/>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mj-lt" pitchFamily="34" charset="0"/>
                <a:ea typeface="+mj-lt" pitchFamily="34" charset="-122"/>
                <a:cs typeface="+mj-lt" pitchFamily="34" charset="-120"/>
              </a:rPr>
              <a:t>3</a:t>
            </a:r>
            <a:endParaRPr lang="en-US" sz="1300" dirty="0"/>
          </a:p>
        </p:txBody>
      </p:sp>
      <p:sp>
        <p:nvSpPr>
          <p:cNvPr id="35" name="text-772"/>
          <p:cNvSpPr txBox="1"/>
          <p:nvPr/>
        </p:nvSpPr>
        <p:spPr>
          <a:xfrm>
            <a:off x="1051560" y="7525512"/>
            <a:ext cx="5961888" cy="512064"/>
          </a:xfrm>
          <a:prstGeom prst="rect">
            <a:avLst/>
          </a:prstGeom>
          <a:noFill/>
          <a:ln/>
        </p:spPr>
        <p:txBody>
          <a:bodyPr wrap="square" lIns="0" tIns="0" rIns="0" bIns="0" rtlCol="0" anchor="t"/>
          <a:lstStyle/>
          <a:p>
            <a:pPr indent="0" marL="0">
              <a:lnSpc>
                <a:spcPct val="104000"/>
              </a:lnSpc>
              <a:buNone/>
            </a:pPr>
            <a:r>
              <a:rPr lang="en-US" sz="950" b="1" dirty="0">
                <a:solidFill>
                  <a:schemeClr val="tx1"/>
                </a:solidFill>
              </a:rPr>
              <a:t>Stage 3 · Fusion. </a:t>
            </a:r>
            <a:pPr indent="0" marL="0">
              <a:lnSpc>
                <a:spcPct val="104000"/>
              </a:lnSpc>
              <a:buNone/>
            </a:pPr>
            <a:r>
              <a:rPr lang="en-US" sz="950" dirty="0">
                <a:solidFill>
                  <a:schemeClr val="tx1"/>
                </a:solidFill>
              </a:rPr>
              <a:t>Built only when fusion power is proven. It is the most expensive part: ITER alone is estimated at €18–22 billion to first plasma [12], which is why it comes last.</a:t>
            </a:r>
            <a:endParaRPr lang="en-US" sz="950" dirty="0"/>
          </a:p>
        </p:txBody>
      </p:sp>
      <p:sp>
        <p:nvSpPr>
          <p:cNvPr id="36" name="text-773"/>
          <p:cNvSpPr txBox="1"/>
          <p:nvPr/>
        </p:nvSpPr>
        <p:spPr>
          <a:xfrm>
            <a:off x="548640" y="8183880"/>
            <a:ext cx="6464808" cy="201168"/>
          </a:xfrm>
          <a:prstGeom prst="rect">
            <a:avLst/>
          </a:prstGeom>
          <a:noFill/>
          <a:ln/>
        </p:spPr>
        <p:txBody>
          <a:bodyPr wrap="square" lIns="0" tIns="0" rIns="0" bIns="0" rtlCol="0" anchor="t"/>
          <a:lstStyle/>
          <a:p>
            <a:pPr indent="0" marL="0">
              <a:buNone/>
            </a:pPr>
            <a:r>
              <a:rPr lang="en-US" sz="900" b="1" spc="300" kern="0" dirty="0">
                <a:solidFill>
                  <a:schemeClr val="tx2"/>
                </a:solidFill>
              </a:rPr>
              <a:t>WHAT INVESTORS GET BACK</a:t>
            </a:r>
            <a:endParaRPr lang="en-US" sz="900" dirty="0"/>
          </a:p>
        </p:txBody>
      </p:sp>
      <p:sp>
        <p:nvSpPr>
          <p:cNvPr id="37" name="card-774"/>
          <p:cNvSpPr/>
          <p:nvPr/>
        </p:nvSpPr>
        <p:spPr>
          <a:xfrm>
            <a:off x="548640" y="8412480"/>
            <a:ext cx="1533906" cy="621792"/>
          </a:xfrm>
          <a:prstGeom prst="roundRect">
            <a:avLst>
              <a:gd name="adj" fmla="val 11765"/>
            </a:avLst>
          </a:prstGeom>
          <a:solidFill>
            <a:schemeClr val="bg2"/>
          </a:solidFill>
          <a:ln w="12700">
            <a:solidFill>
              <a:schemeClr val="bg2"/>
            </a:solidFill>
            <a:prstDash val="solid"/>
          </a:ln>
        </p:spPr>
      </p:sp>
      <p:sp>
        <p:nvSpPr>
          <p:cNvPr id="38" name="text-775"/>
          <p:cNvSpPr txBox="1"/>
          <p:nvPr/>
        </p:nvSpPr>
        <p:spPr>
          <a:xfrm>
            <a:off x="621792" y="8430768"/>
            <a:ext cx="1387602" cy="585216"/>
          </a:xfrm>
          <a:prstGeom prst="rect">
            <a:avLst/>
          </a:prstGeom>
          <a:noFill/>
          <a:ln/>
        </p:spPr>
        <p:txBody>
          <a:bodyPr wrap="square" lIns="0" tIns="0" rIns="0" bIns="0" rtlCol="0" anchor="ctr"/>
          <a:lstStyle/>
          <a:p>
            <a:pPr indent="0" marL="0">
              <a:lnSpc>
                <a:spcPct val="102000"/>
              </a:lnSpc>
              <a:buNone/>
            </a:pPr>
            <a:r>
              <a:rPr lang="en-US" sz="850" dirty="0">
                <a:solidFill>
                  <a:schemeClr val="tx1"/>
                </a:solidFill>
              </a:rPr>
              <a:t>Steady income from heat, power, water and food sold to 45,000 residents</a:t>
            </a:r>
            <a:endParaRPr lang="en-US" sz="850" dirty="0"/>
          </a:p>
        </p:txBody>
      </p:sp>
      <p:sp>
        <p:nvSpPr>
          <p:cNvPr id="39" name="card-776"/>
          <p:cNvSpPr/>
          <p:nvPr/>
        </p:nvSpPr>
        <p:spPr>
          <a:xfrm>
            <a:off x="2192274" y="8412480"/>
            <a:ext cx="1533906" cy="621792"/>
          </a:xfrm>
          <a:prstGeom prst="roundRect">
            <a:avLst>
              <a:gd name="adj" fmla="val 11765"/>
            </a:avLst>
          </a:prstGeom>
          <a:solidFill>
            <a:schemeClr val="bg2"/>
          </a:solidFill>
          <a:ln w="12700">
            <a:solidFill>
              <a:schemeClr val="bg2"/>
            </a:solidFill>
            <a:prstDash val="solid"/>
          </a:ln>
        </p:spPr>
      </p:sp>
      <p:sp>
        <p:nvSpPr>
          <p:cNvPr id="40" name="text-777"/>
          <p:cNvSpPr txBox="1"/>
          <p:nvPr/>
        </p:nvSpPr>
        <p:spPr>
          <a:xfrm>
            <a:off x="2265426" y="8430768"/>
            <a:ext cx="1387602" cy="585216"/>
          </a:xfrm>
          <a:prstGeom prst="rect">
            <a:avLst/>
          </a:prstGeom>
          <a:noFill/>
          <a:ln/>
        </p:spPr>
        <p:txBody>
          <a:bodyPr wrap="square" lIns="0" tIns="0" rIns="0" bIns="0" rtlCol="0" anchor="ctr"/>
          <a:lstStyle/>
          <a:p>
            <a:pPr indent="0" marL="0">
              <a:lnSpc>
                <a:spcPct val="102000"/>
              </a:lnSpc>
              <a:buNone/>
            </a:pPr>
            <a:r>
              <a:rPr lang="en-US" sz="850" dirty="0">
                <a:solidFill>
                  <a:schemeClr val="tx1"/>
                </a:solidFill>
              </a:rPr>
              <a:t>Visitors to the Mount Aurora spa and the Snow Stadium all year</a:t>
            </a:r>
            <a:endParaRPr lang="en-US" sz="850" dirty="0"/>
          </a:p>
        </p:txBody>
      </p:sp>
      <p:sp>
        <p:nvSpPr>
          <p:cNvPr id="41" name="card-778"/>
          <p:cNvSpPr/>
          <p:nvPr/>
        </p:nvSpPr>
        <p:spPr>
          <a:xfrm>
            <a:off x="3835908" y="8412480"/>
            <a:ext cx="1533906" cy="621792"/>
          </a:xfrm>
          <a:prstGeom prst="roundRect">
            <a:avLst>
              <a:gd name="adj" fmla="val 11765"/>
            </a:avLst>
          </a:prstGeom>
          <a:solidFill>
            <a:schemeClr val="bg2"/>
          </a:solidFill>
          <a:ln w="12700">
            <a:solidFill>
              <a:schemeClr val="bg2"/>
            </a:solidFill>
            <a:prstDash val="solid"/>
          </a:ln>
        </p:spPr>
      </p:sp>
      <p:sp>
        <p:nvSpPr>
          <p:cNvPr id="42" name="text-779"/>
          <p:cNvSpPr txBox="1"/>
          <p:nvPr/>
        </p:nvSpPr>
        <p:spPr>
          <a:xfrm>
            <a:off x="3909060" y="8430768"/>
            <a:ext cx="1387602" cy="585216"/>
          </a:xfrm>
          <a:prstGeom prst="rect">
            <a:avLst/>
          </a:prstGeom>
          <a:noFill/>
          <a:ln/>
        </p:spPr>
        <p:txBody>
          <a:bodyPr wrap="square" lIns="0" tIns="0" rIns="0" bIns="0" rtlCol="0" anchor="ctr"/>
          <a:lstStyle/>
          <a:p>
            <a:pPr indent="0" marL="0">
              <a:lnSpc>
                <a:spcPct val="102000"/>
              </a:lnSpc>
              <a:buNone/>
            </a:pPr>
            <a:r>
              <a:rPr lang="en-US" sz="850" dirty="0">
                <a:solidFill>
                  <a:schemeClr val="tx1"/>
                </a:solidFill>
              </a:rPr>
              <a:t>Know-how other Arctic towns can use: about 4 million people live in the Arctic [3]</a:t>
            </a:r>
            <a:endParaRPr lang="en-US" sz="850" dirty="0"/>
          </a:p>
        </p:txBody>
      </p:sp>
      <p:sp>
        <p:nvSpPr>
          <p:cNvPr id="43" name="card-780"/>
          <p:cNvSpPr/>
          <p:nvPr/>
        </p:nvSpPr>
        <p:spPr>
          <a:xfrm>
            <a:off x="5479542" y="8412480"/>
            <a:ext cx="1533906" cy="621792"/>
          </a:xfrm>
          <a:prstGeom prst="roundRect">
            <a:avLst>
              <a:gd name="adj" fmla="val 11765"/>
            </a:avLst>
          </a:prstGeom>
          <a:solidFill>
            <a:schemeClr val="bg2"/>
          </a:solidFill>
          <a:ln w="12700">
            <a:solidFill>
              <a:schemeClr val="bg2"/>
            </a:solidFill>
            <a:prstDash val="solid"/>
          </a:ln>
        </p:spPr>
      </p:sp>
      <p:sp>
        <p:nvSpPr>
          <p:cNvPr id="44" name="text-781"/>
          <p:cNvSpPr txBox="1"/>
          <p:nvPr/>
        </p:nvSpPr>
        <p:spPr>
          <a:xfrm>
            <a:off x="5552694" y="8430768"/>
            <a:ext cx="1387602" cy="585216"/>
          </a:xfrm>
          <a:prstGeom prst="rect">
            <a:avLst/>
          </a:prstGeom>
          <a:noFill/>
          <a:ln/>
        </p:spPr>
        <p:txBody>
          <a:bodyPr wrap="square" lIns="0" tIns="0" rIns="0" bIns="0" rtlCol="0" anchor="ctr"/>
          <a:lstStyle/>
          <a:p>
            <a:pPr indent="0" marL="0">
              <a:lnSpc>
                <a:spcPct val="102000"/>
              </a:lnSpc>
              <a:buNone/>
            </a:pPr>
            <a:r>
              <a:rPr lang="en-US" sz="850" dirty="0">
                <a:solidFill>
                  <a:schemeClr val="tx1"/>
                </a:solidFill>
              </a:rPr>
              <a:t>A city with no fuel to import and no carbon to pay for</a:t>
            </a:r>
            <a:endParaRPr lang="en-US" sz="850" dirty="0"/>
          </a:p>
        </p:txBody>
      </p:sp>
      <p:sp>
        <p:nvSpPr>
          <p:cNvPr id="45" name="text-782"/>
          <p:cNvSpPr txBox="1"/>
          <p:nvPr/>
        </p:nvSpPr>
        <p:spPr>
          <a:xfrm>
            <a:off x="548640" y="9070848"/>
            <a:ext cx="6464808" cy="329184"/>
          </a:xfrm>
          <a:prstGeom prst="rect">
            <a:avLst/>
          </a:prstGeom>
          <a:noFill/>
          <a:ln/>
        </p:spPr>
        <p:txBody>
          <a:bodyPr wrap="square" lIns="0" tIns="0" rIns="0" bIns="0" rtlCol="0" anchor="t"/>
          <a:lstStyle/>
          <a:p>
            <a:pPr indent="0" marL="0">
              <a:buNone/>
            </a:pPr>
            <a:r>
              <a:rPr lang="en-US" sz="850" i="1" dirty="0">
                <a:solidFill>
                  <a:schemeClr val="tx2"/>
                </a:solidFill>
              </a:rPr>
              <a:t>Please note: these are future concepts, not tested projects. Costs and returns still have to be worked out in a full business plan, and no return is guaranteed. The risks are on page 31.</a:t>
            </a:r>
            <a:endParaRPr lang="en-US" sz="850" dirty="0"/>
          </a:p>
        </p:txBody>
      </p:sp>
      <p:sp>
        <p:nvSpPr>
          <p:cNvPr id="46" name="card-783"/>
          <p:cNvSpPr/>
          <p:nvPr/>
        </p:nvSpPr>
        <p:spPr>
          <a:xfrm>
            <a:off x="548640" y="9445752"/>
            <a:ext cx="6464808" cy="521208"/>
          </a:xfrm>
          <a:prstGeom prst="roundRect">
            <a:avLst>
              <a:gd name="adj" fmla="val 14035"/>
            </a:avLst>
          </a:prstGeom>
          <a:solidFill>
            <a:schemeClr val="tx1"/>
          </a:solidFill>
          <a:ln w="12700">
            <a:solidFill>
              <a:schemeClr val="tx1"/>
            </a:solidFill>
            <a:prstDash val="solid"/>
          </a:ln>
        </p:spPr>
      </p:sp>
      <p:sp>
        <p:nvSpPr>
          <p:cNvPr id="47" name="text-784"/>
          <p:cNvSpPr txBox="1"/>
          <p:nvPr/>
        </p:nvSpPr>
        <p:spPr>
          <a:xfrm>
            <a:off x="685800" y="9473184"/>
            <a:ext cx="6190488" cy="466344"/>
          </a:xfrm>
          <a:prstGeom prst="rect">
            <a:avLst/>
          </a:prstGeom>
          <a:noFill/>
          <a:ln/>
        </p:spPr>
        <p:txBody>
          <a:bodyPr wrap="square" lIns="0" tIns="0" rIns="0" bIns="0" rtlCol="0" anchor="ctr"/>
          <a:lstStyle/>
          <a:p>
            <a:pPr indent="0" marL="0">
              <a:buNone/>
            </a:pPr>
            <a:r>
              <a:rPr lang="en-US" sz="950" b="1" spc="200" kern="0" dirty="0">
                <a:solidFill>
                  <a:schemeClr val="accent1"/>
                </a:solidFill>
              </a:rPr>
              <a:t>READY TO BUILD THE FUTURE?  </a:t>
            </a:r>
            <a:pPr indent="0" marL="0">
              <a:buNone/>
            </a:pPr>
            <a:r>
              <a:rPr lang="en-US" sz="950" dirty="0">
                <a:solidFill>
                  <a:schemeClr val="bg1"/>
                </a:solidFill>
              </a:rPr>
              <a:t>Visit the Aurora Green Finance Hall in the Financial District, or meet our team on page 3.</a:t>
            </a:r>
            <a:endParaRPr lang="en-US" sz="950" dirty="0"/>
          </a:p>
        </p:txBody>
      </p:sp>
      <p:sp>
        <p:nvSpPr>
          <p:cNvPr id="48" name="page-number"/>
          <p:cNvSpPr txBox="1"/>
          <p:nvPr/>
        </p:nvSpPr>
        <p:spPr>
          <a:xfrm>
            <a:off x="548640" y="10177272"/>
            <a:ext cx="411480" cy="219456"/>
          </a:xfrm>
          <a:prstGeom prst="rect">
            <a:avLst/>
          </a:prstGeom>
          <a:noFill/>
          <a:ln/>
        </p:spPr>
        <p:txBody>
          <a:bodyPr wrap="square" lIns="0" tIns="0" rIns="0" bIns="0" rtlCol="0" anchor="ctr"/>
          <a:lstStyle/>
          <a:p>
            <a:pPr algn="l" indent="0" marL="0">
              <a:buNone/>
            </a:pPr>
            <a:r>
              <a:rPr lang="en-US" sz="900" b="1" dirty="0">
                <a:solidFill>
                  <a:schemeClr val="tx1"/>
                </a:solidFill>
              </a:rPr>
              <a:t>32</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kicker-dot-785"/>
          <p:cNvSpPr/>
          <p:nvPr/>
        </p:nvSpPr>
        <p:spPr>
          <a:xfrm>
            <a:off x="548640" y="544068"/>
            <a:ext cx="100584" cy="100584"/>
          </a:xfrm>
          <a:prstGeom prst="ellipse">
            <a:avLst/>
          </a:prstGeom>
          <a:solidFill>
            <a:schemeClr val="accent6"/>
          </a:solidFill>
          <a:ln w="12700">
            <a:solidFill>
              <a:schemeClr val="accent6"/>
            </a:solidFill>
            <a:prstDash val="solid"/>
          </a:ln>
        </p:spPr>
      </p:sp>
      <p:sp>
        <p:nvSpPr>
          <p:cNvPr id="3" name="text-786"/>
          <p:cNvSpPr txBox="1"/>
          <p:nvPr/>
        </p:nvSpPr>
        <p:spPr>
          <a:xfrm>
            <a:off x="731520" y="502920"/>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EXPLORE</a:t>
            </a:r>
            <a:endParaRPr lang="en-US" sz="900" dirty="0"/>
          </a:p>
        </p:txBody>
      </p:sp>
      <p:sp>
        <p:nvSpPr>
          <p:cNvPr id="4" name="title-787"/>
          <p:cNvSpPr txBox="1"/>
          <p:nvPr/>
        </p:nvSpPr>
        <p:spPr>
          <a:xfrm>
            <a:off x="548640" y="758952"/>
            <a:ext cx="6464808" cy="685800"/>
          </a:xfrm>
          <a:prstGeom prst="rect">
            <a:avLst/>
          </a:prstGeom>
          <a:noFill/>
          <a:ln/>
        </p:spPr>
        <p:txBody>
          <a:bodyPr wrap="square" lIns="0" tIns="0" rIns="0" bIns="0" rtlCol="0" anchor="t"/>
          <a:lstStyle/>
          <a:p>
            <a:pPr indent="0" marL="0">
              <a:lnSpc>
                <a:spcPct val="92000"/>
              </a:lnSpc>
              <a:buNone/>
            </a:pPr>
            <a:r>
              <a:rPr lang="en-US" sz="3400" b="1" dirty="0">
                <a:solidFill>
                  <a:schemeClr val="tx1"/>
                </a:solidFill>
                <a:latin typeface="+mj-lt" pitchFamily="34" charset="0"/>
                <a:ea typeface="+mj-lt" pitchFamily="34" charset="-122"/>
                <a:cs typeface="+mj-lt" pitchFamily="34" charset="-120"/>
              </a:rPr>
              <a:t>Take the Tour: Eight Stops</a:t>
            </a:r>
            <a:endParaRPr lang="en-US" sz="3400" dirty="0"/>
          </a:p>
        </p:txBody>
      </p:sp>
      <p:sp>
        <p:nvSpPr>
          <p:cNvPr id="5" name="text-789"/>
          <p:cNvSpPr txBox="1"/>
          <p:nvPr/>
        </p:nvSpPr>
        <p:spPr>
          <a:xfrm>
            <a:off x="548640" y="1463040"/>
            <a:ext cx="6464808" cy="685800"/>
          </a:xfrm>
          <a:prstGeom prst="rect">
            <a:avLst/>
          </a:prstGeom>
          <a:noFill/>
          <a:ln/>
        </p:spPr>
        <p:txBody>
          <a:bodyPr wrap="square" lIns="0" tIns="0" rIns="0" bIns="0" rtlCol="0" anchor="t"/>
          <a:lstStyle/>
          <a:p>
            <a:pPr indent="0" marL="0">
              <a:lnSpc>
                <a:spcPct val="110000"/>
              </a:lnSpc>
              <a:buNone/>
            </a:pPr>
            <a:r>
              <a:rPr lang="en-US" sz="1400" i="1" dirty="0">
                <a:solidFill>
                  <a:schemeClr val="tx2"/>
                </a:solidFill>
                <a:latin typeface="+mj-lt" pitchFamily="34" charset="0"/>
                <a:ea typeface="+mj-lt" pitchFamily="34" charset="-122"/>
                <a:cs typeface="+mj-lt" pitchFamily="34" charset="-120"/>
              </a:rPr>
              <a:t>A walk around Aurora Haven in eight stops, from the civic heart of downtown out to the plants, the snow peak and the windy northern edge.</a:t>
            </a:r>
            <a:endParaRPr lang="en-US" sz="1400" dirty="0"/>
          </a:p>
        </p:txBody>
      </p:sp>
      <p:sp>
        <p:nvSpPr>
          <p:cNvPr id="6" name="tour-route"/>
          <p:cNvSpPr/>
          <p:nvPr/>
        </p:nvSpPr>
        <p:spPr>
          <a:xfrm>
            <a:off x="749808" y="2606040"/>
            <a:ext cx="0" cy="5504688"/>
          </a:xfrm>
          <a:prstGeom prst="line">
            <a:avLst/>
          </a:prstGeom>
          <a:noFill/>
          <a:ln w="25400">
            <a:solidFill>
              <a:schemeClr val="accent6"/>
            </a:solidFill>
            <a:prstDash val="dash"/>
          </a:ln>
        </p:spPr>
      </p:sp>
      <p:sp>
        <p:nvSpPr>
          <p:cNvPr id="7" name="marker-790"/>
          <p:cNvSpPr/>
          <p:nvPr/>
        </p:nvSpPr>
        <p:spPr>
          <a:xfrm>
            <a:off x="548640" y="2423160"/>
            <a:ext cx="402336" cy="402336"/>
          </a:xfrm>
          <a:prstGeom prst="ellipse">
            <a:avLst/>
          </a:prstGeom>
          <a:solidFill>
            <a:schemeClr val="accent6"/>
          </a:solidFill>
          <a:ln w="12700">
            <a:solidFill>
              <a:schemeClr val="accent6"/>
            </a:solidFill>
            <a:prstDash val="solid"/>
          </a:ln>
        </p:spPr>
      </p:sp>
      <p:sp>
        <p:nvSpPr>
          <p:cNvPr id="8" name="text-791"/>
          <p:cNvSpPr txBox="1"/>
          <p:nvPr/>
        </p:nvSpPr>
        <p:spPr>
          <a:xfrm>
            <a:off x="548640" y="242316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9" name="text-792"/>
          <p:cNvSpPr txBox="1"/>
          <p:nvPr/>
        </p:nvSpPr>
        <p:spPr>
          <a:xfrm>
            <a:off x="1097280" y="2441448"/>
            <a:ext cx="3429000" cy="713232"/>
          </a:xfrm>
          <a:prstGeom prst="rect">
            <a:avLst/>
          </a:prstGeom>
          <a:noFill/>
          <a:ln/>
        </p:spPr>
        <p:txBody>
          <a:bodyPr wrap="square" lIns="0" tIns="0" rIns="0" bIns="0" rtlCol="0" anchor="t"/>
          <a:lstStyle/>
          <a:p>
            <a:pPr indent="0" marL="0">
              <a:lnSpc>
                <a:spcPct val="100000"/>
              </a:lnSpc>
              <a:spcAft>
                <a:spcPts val="200"/>
              </a:spcAft>
              <a:buNone/>
            </a:pPr>
            <a:r>
              <a:rPr lang="en-US" sz="1000" b="1" dirty="0">
                <a:solidFill>
                  <a:schemeClr val="tx1"/>
                </a:solidFill>
              </a:rPr>
              <a:t>Founding Mayor Monument</a:t>
            </a:r>
            <a:endParaRPr lang="en-US" sz="1050" dirty="0"/>
          </a:p>
          <a:p>
            <a:pPr indent="0" marL="0">
              <a:lnSpc>
                <a:spcPct val="100000"/>
              </a:lnSpc>
              <a:buNone/>
            </a:pPr>
            <a:r>
              <a:rPr lang="en-US" sz="900" dirty="0">
                <a:solidFill>
                  <a:schemeClr val="tx2"/>
                </a:solidFill>
              </a:rPr>
              <a:t>The civic heart of the city on the Aurora Roundabout.</a:t>
            </a:r>
            <a:endParaRPr lang="en-US" sz="1050" dirty="0"/>
          </a:p>
        </p:txBody>
      </p:sp>
      <p:sp>
        <p:nvSpPr>
          <p:cNvPr id="10" name="marker-793"/>
          <p:cNvSpPr/>
          <p:nvPr/>
        </p:nvSpPr>
        <p:spPr>
          <a:xfrm>
            <a:off x="548640" y="3209544"/>
            <a:ext cx="402336" cy="402336"/>
          </a:xfrm>
          <a:prstGeom prst="ellipse">
            <a:avLst/>
          </a:prstGeom>
          <a:solidFill>
            <a:schemeClr val="accent6"/>
          </a:solidFill>
          <a:ln w="12700">
            <a:solidFill>
              <a:schemeClr val="accent6"/>
            </a:solidFill>
            <a:prstDash val="solid"/>
          </a:ln>
        </p:spPr>
      </p:sp>
      <p:sp>
        <p:nvSpPr>
          <p:cNvPr id="11" name="text-794"/>
          <p:cNvSpPr txBox="1"/>
          <p:nvPr/>
        </p:nvSpPr>
        <p:spPr>
          <a:xfrm>
            <a:off x="548640" y="320954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2" name="text-795"/>
          <p:cNvSpPr txBox="1"/>
          <p:nvPr/>
        </p:nvSpPr>
        <p:spPr>
          <a:xfrm>
            <a:off x="1097280" y="3227832"/>
            <a:ext cx="3429000" cy="713232"/>
          </a:xfrm>
          <a:prstGeom prst="rect">
            <a:avLst/>
          </a:prstGeom>
          <a:noFill/>
          <a:ln/>
        </p:spPr>
        <p:txBody>
          <a:bodyPr wrap="square" lIns="0" tIns="0" rIns="0" bIns="0" rtlCol="0" anchor="t"/>
          <a:lstStyle/>
          <a:p>
            <a:pPr indent="0" marL="0">
              <a:lnSpc>
                <a:spcPct val="100000"/>
              </a:lnSpc>
              <a:spcAft>
                <a:spcPts val="200"/>
              </a:spcAft>
              <a:buNone/>
            </a:pPr>
            <a:r>
              <a:rPr lang="en-US" sz="1000" b="1" dirty="0">
                <a:solidFill>
                  <a:schemeClr val="tx1"/>
                </a:solidFill>
              </a:rPr>
              <a:t>Metro Entrance – Central Interchange Station</a:t>
            </a:r>
            <a:endParaRPr lang="en-US" sz="1050" dirty="0"/>
          </a:p>
          <a:p>
            <a:pPr indent="0" marL="0">
              <a:lnSpc>
                <a:spcPct val="100000"/>
              </a:lnSpc>
              <a:buNone/>
            </a:pPr>
            <a:r>
              <a:rPr lang="en-US" sz="900" dirty="0">
                <a:solidFill>
                  <a:schemeClr val="tx2"/>
                </a:solidFill>
              </a:rPr>
              <a:t>Escalators down to the metro and the shelters.</a:t>
            </a:r>
            <a:endParaRPr lang="en-US" sz="1050" dirty="0"/>
          </a:p>
        </p:txBody>
      </p:sp>
      <p:sp>
        <p:nvSpPr>
          <p:cNvPr id="13" name="marker-796"/>
          <p:cNvSpPr/>
          <p:nvPr/>
        </p:nvSpPr>
        <p:spPr>
          <a:xfrm>
            <a:off x="548640" y="3995928"/>
            <a:ext cx="402336" cy="402336"/>
          </a:xfrm>
          <a:prstGeom prst="ellipse">
            <a:avLst/>
          </a:prstGeom>
          <a:solidFill>
            <a:schemeClr val="accent6"/>
          </a:solidFill>
          <a:ln w="12700">
            <a:solidFill>
              <a:schemeClr val="accent6"/>
            </a:solidFill>
            <a:prstDash val="solid"/>
          </a:ln>
        </p:spPr>
      </p:sp>
      <p:sp>
        <p:nvSpPr>
          <p:cNvPr id="14" name="text-797"/>
          <p:cNvSpPr txBox="1"/>
          <p:nvPr/>
        </p:nvSpPr>
        <p:spPr>
          <a:xfrm>
            <a:off x="548640" y="3995928"/>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15" name="text-798"/>
          <p:cNvSpPr txBox="1"/>
          <p:nvPr/>
        </p:nvSpPr>
        <p:spPr>
          <a:xfrm>
            <a:off x="1097280" y="4014216"/>
            <a:ext cx="3429000" cy="713232"/>
          </a:xfrm>
          <a:prstGeom prst="rect">
            <a:avLst/>
          </a:prstGeom>
          <a:noFill/>
          <a:ln/>
        </p:spPr>
        <p:txBody>
          <a:bodyPr wrap="square" lIns="0" tIns="0" rIns="0" bIns="0" rtlCol="0" anchor="t"/>
          <a:lstStyle/>
          <a:p>
            <a:pPr indent="0" marL="0">
              <a:lnSpc>
                <a:spcPct val="100000"/>
              </a:lnSpc>
              <a:spcAft>
                <a:spcPts val="200"/>
              </a:spcAft>
              <a:buNone/>
            </a:pPr>
            <a:r>
              <a:rPr lang="en-US" sz="1000" b="1" dirty="0">
                <a:solidFill>
                  <a:schemeClr val="tx1"/>
                </a:solidFill>
              </a:rPr>
              <a:t>Snowflake General Hospital</a:t>
            </a:r>
            <a:endParaRPr lang="en-US" sz="1050" dirty="0"/>
          </a:p>
          <a:p>
            <a:pPr indent="0" marL="0">
              <a:lnSpc>
                <a:spcPct val="100000"/>
              </a:lnSpc>
              <a:buNone/>
            </a:pPr>
            <a:r>
              <a:rPr lang="en-US" sz="900" dirty="0">
                <a:solidFill>
                  <a:schemeClr val="tx2"/>
                </a:solidFill>
              </a:rPr>
              <a:t>About 250 beds and a 24-hour emergency department.</a:t>
            </a:r>
            <a:endParaRPr lang="en-US" sz="1050" dirty="0"/>
          </a:p>
        </p:txBody>
      </p:sp>
      <p:sp>
        <p:nvSpPr>
          <p:cNvPr id="16" name="marker-799"/>
          <p:cNvSpPr/>
          <p:nvPr/>
        </p:nvSpPr>
        <p:spPr>
          <a:xfrm>
            <a:off x="548640" y="4782312"/>
            <a:ext cx="402336" cy="402336"/>
          </a:xfrm>
          <a:prstGeom prst="ellipse">
            <a:avLst/>
          </a:prstGeom>
          <a:solidFill>
            <a:schemeClr val="accent6"/>
          </a:solidFill>
          <a:ln w="12700">
            <a:solidFill>
              <a:schemeClr val="accent6"/>
            </a:solidFill>
            <a:prstDash val="solid"/>
          </a:ln>
        </p:spPr>
      </p:sp>
      <p:sp>
        <p:nvSpPr>
          <p:cNvPr id="17" name="text-800"/>
          <p:cNvSpPr txBox="1"/>
          <p:nvPr/>
        </p:nvSpPr>
        <p:spPr>
          <a:xfrm>
            <a:off x="548640" y="4782312"/>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18" name="text-801"/>
          <p:cNvSpPr txBox="1"/>
          <p:nvPr/>
        </p:nvSpPr>
        <p:spPr>
          <a:xfrm>
            <a:off x="1097280" y="4800600"/>
            <a:ext cx="3429000" cy="713232"/>
          </a:xfrm>
          <a:prstGeom prst="rect">
            <a:avLst/>
          </a:prstGeom>
          <a:noFill/>
          <a:ln/>
        </p:spPr>
        <p:txBody>
          <a:bodyPr wrap="square" lIns="0" tIns="0" rIns="0" bIns="0" rtlCol="0" anchor="t"/>
          <a:lstStyle/>
          <a:p>
            <a:pPr indent="0" marL="0">
              <a:lnSpc>
                <a:spcPct val="100000"/>
              </a:lnSpc>
              <a:spcAft>
                <a:spcPts val="200"/>
              </a:spcAft>
              <a:buNone/>
            </a:pPr>
            <a:r>
              <a:rPr lang="en-US" sz="1000" b="1" dirty="0">
                <a:solidFill>
                  <a:schemeClr val="tx1"/>
                </a:solidFill>
              </a:rPr>
              <a:t>Fusion Core – Compact D-T Tokamak</a:t>
            </a:r>
            <a:endParaRPr lang="en-US" sz="1050" dirty="0"/>
          </a:p>
          <a:p>
            <a:pPr indent="0" marL="0">
              <a:lnSpc>
                <a:spcPct val="100000"/>
              </a:lnSpc>
              <a:buNone/>
            </a:pPr>
            <a:r>
              <a:rPr lang="en-US" sz="900" dirty="0">
                <a:solidFill>
                  <a:schemeClr val="tx2"/>
                </a:solidFill>
              </a:rPr>
              <a:t>The city’s own sun.</a:t>
            </a:r>
            <a:endParaRPr lang="en-US" sz="1050" dirty="0"/>
          </a:p>
        </p:txBody>
      </p:sp>
      <p:sp>
        <p:nvSpPr>
          <p:cNvPr id="19" name="marker-802"/>
          <p:cNvSpPr/>
          <p:nvPr/>
        </p:nvSpPr>
        <p:spPr>
          <a:xfrm>
            <a:off x="548640" y="5568696"/>
            <a:ext cx="402336" cy="402336"/>
          </a:xfrm>
          <a:prstGeom prst="ellipse">
            <a:avLst/>
          </a:prstGeom>
          <a:solidFill>
            <a:schemeClr val="accent6"/>
          </a:solidFill>
          <a:ln w="12700">
            <a:solidFill>
              <a:schemeClr val="accent6"/>
            </a:solidFill>
            <a:prstDash val="solid"/>
          </a:ln>
        </p:spPr>
      </p:sp>
      <p:sp>
        <p:nvSpPr>
          <p:cNvPr id="20" name="text-803"/>
          <p:cNvSpPr txBox="1"/>
          <p:nvPr/>
        </p:nvSpPr>
        <p:spPr>
          <a:xfrm>
            <a:off x="548640" y="5568696"/>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21" name="text-804"/>
          <p:cNvSpPr txBox="1"/>
          <p:nvPr/>
        </p:nvSpPr>
        <p:spPr>
          <a:xfrm>
            <a:off x="1097280" y="5586984"/>
            <a:ext cx="3429000" cy="713232"/>
          </a:xfrm>
          <a:prstGeom prst="rect">
            <a:avLst/>
          </a:prstGeom>
          <a:noFill/>
          <a:ln/>
        </p:spPr>
        <p:txBody>
          <a:bodyPr wrap="square" lIns="0" tIns="0" rIns="0" bIns="0" rtlCol="0" anchor="t"/>
          <a:lstStyle/>
          <a:p>
            <a:pPr indent="0" marL="0">
              <a:lnSpc>
                <a:spcPct val="100000"/>
              </a:lnSpc>
              <a:spcAft>
                <a:spcPts val="200"/>
              </a:spcAft>
              <a:buNone/>
            </a:pPr>
            <a:r>
              <a:rPr lang="en-US" sz="1000" b="1" dirty="0">
                <a:solidFill>
                  <a:schemeClr val="tx1"/>
                </a:solidFill>
              </a:rPr>
              <a:t>Snow Harvest &amp; Melt Hall</a:t>
            </a:r>
            <a:endParaRPr lang="en-US" sz="1050" dirty="0"/>
          </a:p>
          <a:p>
            <a:pPr indent="0" marL="0">
              <a:lnSpc>
                <a:spcPct val="100000"/>
              </a:lnSpc>
              <a:buNone/>
            </a:pPr>
            <a:r>
              <a:rPr lang="en-US" sz="900" dirty="0">
                <a:solidFill>
                  <a:schemeClr val="tx2"/>
                </a:solidFill>
              </a:rPr>
              <a:t>Melts about 3,000 tonnes of snow a day with spare fusion heat.</a:t>
            </a:r>
            <a:endParaRPr lang="en-US" sz="1050" dirty="0"/>
          </a:p>
        </p:txBody>
      </p:sp>
      <p:sp>
        <p:nvSpPr>
          <p:cNvPr id="22" name="marker-805"/>
          <p:cNvSpPr/>
          <p:nvPr/>
        </p:nvSpPr>
        <p:spPr>
          <a:xfrm>
            <a:off x="548640" y="6355080"/>
            <a:ext cx="402336" cy="402336"/>
          </a:xfrm>
          <a:prstGeom prst="ellipse">
            <a:avLst/>
          </a:prstGeom>
          <a:solidFill>
            <a:schemeClr val="accent6"/>
          </a:solidFill>
          <a:ln w="12700">
            <a:solidFill>
              <a:schemeClr val="accent6"/>
            </a:solidFill>
            <a:prstDash val="solid"/>
          </a:ln>
        </p:spPr>
      </p:sp>
      <p:sp>
        <p:nvSpPr>
          <p:cNvPr id="23" name="text-806"/>
          <p:cNvSpPr txBox="1"/>
          <p:nvPr/>
        </p:nvSpPr>
        <p:spPr>
          <a:xfrm>
            <a:off x="548640" y="6355080"/>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6</a:t>
            </a:r>
            <a:endParaRPr lang="en-US" sz="1400" dirty="0"/>
          </a:p>
        </p:txBody>
      </p:sp>
      <p:sp>
        <p:nvSpPr>
          <p:cNvPr id="24" name="text-807"/>
          <p:cNvSpPr txBox="1"/>
          <p:nvPr/>
        </p:nvSpPr>
        <p:spPr>
          <a:xfrm>
            <a:off x="1097280" y="6373368"/>
            <a:ext cx="3429000" cy="713232"/>
          </a:xfrm>
          <a:prstGeom prst="rect">
            <a:avLst/>
          </a:prstGeom>
          <a:noFill/>
          <a:ln/>
        </p:spPr>
        <p:txBody>
          <a:bodyPr wrap="square" lIns="0" tIns="0" rIns="0" bIns="0" rtlCol="0" anchor="t"/>
          <a:lstStyle/>
          <a:p>
            <a:pPr indent="0" marL="0">
              <a:lnSpc>
                <a:spcPct val="100000"/>
              </a:lnSpc>
              <a:spcAft>
                <a:spcPts val="200"/>
              </a:spcAft>
              <a:buNone/>
            </a:pPr>
            <a:r>
              <a:rPr lang="en-US" sz="1000" b="1" dirty="0">
                <a:solidFill>
                  <a:schemeClr val="tx1"/>
                </a:solidFill>
              </a:rPr>
              <a:t>Mount Aurora – Snow Peak &amp; Hanging Glacier</a:t>
            </a:r>
            <a:endParaRPr lang="en-US" sz="1050" dirty="0"/>
          </a:p>
          <a:p>
            <a:pPr indent="0" marL="0">
              <a:lnSpc>
                <a:spcPct val="100000"/>
              </a:lnSpc>
              <a:buNone/>
            </a:pPr>
            <a:r>
              <a:rPr lang="en-US" sz="900" dirty="0">
                <a:solidFill>
                  <a:schemeClr val="tx2"/>
                </a:solidFill>
              </a:rPr>
              <a:t>The 35 m peak with the spa inside.</a:t>
            </a:r>
            <a:endParaRPr lang="en-US" sz="1050" dirty="0"/>
          </a:p>
        </p:txBody>
      </p:sp>
      <p:sp>
        <p:nvSpPr>
          <p:cNvPr id="25" name="marker-808"/>
          <p:cNvSpPr/>
          <p:nvPr/>
        </p:nvSpPr>
        <p:spPr>
          <a:xfrm>
            <a:off x="548640" y="7141464"/>
            <a:ext cx="402336" cy="402336"/>
          </a:xfrm>
          <a:prstGeom prst="ellipse">
            <a:avLst/>
          </a:prstGeom>
          <a:solidFill>
            <a:schemeClr val="accent6"/>
          </a:solidFill>
          <a:ln w="12700">
            <a:solidFill>
              <a:schemeClr val="accent6"/>
            </a:solidFill>
            <a:prstDash val="solid"/>
          </a:ln>
        </p:spPr>
      </p:sp>
      <p:sp>
        <p:nvSpPr>
          <p:cNvPr id="26" name="text-809"/>
          <p:cNvSpPr txBox="1"/>
          <p:nvPr/>
        </p:nvSpPr>
        <p:spPr>
          <a:xfrm>
            <a:off x="548640" y="7141464"/>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7</a:t>
            </a:r>
            <a:endParaRPr lang="en-US" sz="1400" dirty="0"/>
          </a:p>
        </p:txBody>
      </p:sp>
      <p:sp>
        <p:nvSpPr>
          <p:cNvPr id="27" name="text-810"/>
          <p:cNvSpPr txBox="1"/>
          <p:nvPr/>
        </p:nvSpPr>
        <p:spPr>
          <a:xfrm>
            <a:off x="1097280" y="7159752"/>
            <a:ext cx="3429000" cy="713232"/>
          </a:xfrm>
          <a:prstGeom prst="rect">
            <a:avLst/>
          </a:prstGeom>
          <a:noFill/>
          <a:ln/>
        </p:spPr>
        <p:txBody>
          <a:bodyPr wrap="square" lIns="0" tIns="0" rIns="0" bIns="0" rtlCol="0" anchor="t"/>
          <a:lstStyle/>
          <a:p>
            <a:pPr indent="0" marL="0">
              <a:lnSpc>
                <a:spcPct val="100000"/>
              </a:lnSpc>
              <a:spcAft>
                <a:spcPts val="200"/>
              </a:spcAft>
              <a:buNone/>
            </a:pPr>
            <a:r>
              <a:rPr lang="en-US" sz="1000" b="1" dirty="0">
                <a:solidFill>
                  <a:schemeClr val="tx1"/>
                </a:solidFill>
              </a:rPr>
              <a:t>Ice-Proof Wind Farm</a:t>
            </a:r>
            <a:endParaRPr lang="en-US" sz="1050" dirty="0"/>
          </a:p>
          <a:p>
            <a:pPr indent="0" marL="0">
              <a:lnSpc>
                <a:spcPct val="100000"/>
              </a:lnSpc>
              <a:buNone/>
            </a:pPr>
            <a:r>
              <a:rPr lang="en-US" sz="900" dirty="0">
                <a:solidFill>
                  <a:schemeClr val="tx2"/>
                </a:solidFill>
              </a:rPr>
              <a:t>Two rows of turbines making about 60 MW.</a:t>
            </a:r>
            <a:endParaRPr lang="en-US" sz="1050" dirty="0"/>
          </a:p>
        </p:txBody>
      </p:sp>
      <p:sp>
        <p:nvSpPr>
          <p:cNvPr id="28" name="marker-811"/>
          <p:cNvSpPr/>
          <p:nvPr/>
        </p:nvSpPr>
        <p:spPr>
          <a:xfrm>
            <a:off x="548640" y="7927848"/>
            <a:ext cx="402336" cy="402336"/>
          </a:xfrm>
          <a:prstGeom prst="ellipse">
            <a:avLst/>
          </a:prstGeom>
          <a:solidFill>
            <a:schemeClr val="accent6"/>
          </a:solidFill>
          <a:ln w="12700">
            <a:solidFill>
              <a:schemeClr val="accent6"/>
            </a:solidFill>
            <a:prstDash val="solid"/>
          </a:ln>
        </p:spPr>
      </p:sp>
      <p:sp>
        <p:nvSpPr>
          <p:cNvPr id="29" name="text-812"/>
          <p:cNvSpPr txBox="1"/>
          <p:nvPr/>
        </p:nvSpPr>
        <p:spPr>
          <a:xfrm>
            <a:off x="548640" y="7927848"/>
            <a:ext cx="402336" cy="40233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8</a:t>
            </a:r>
            <a:endParaRPr lang="en-US" sz="1400" dirty="0"/>
          </a:p>
        </p:txBody>
      </p:sp>
      <p:sp>
        <p:nvSpPr>
          <p:cNvPr id="30" name="text-813"/>
          <p:cNvSpPr txBox="1"/>
          <p:nvPr/>
        </p:nvSpPr>
        <p:spPr>
          <a:xfrm>
            <a:off x="1097280" y="7946136"/>
            <a:ext cx="3429000" cy="713232"/>
          </a:xfrm>
          <a:prstGeom prst="rect">
            <a:avLst/>
          </a:prstGeom>
          <a:noFill/>
          <a:ln/>
        </p:spPr>
        <p:txBody>
          <a:bodyPr wrap="square" lIns="0" tIns="0" rIns="0" bIns="0" rtlCol="0" anchor="t"/>
          <a:lstStyle/>
          <a:p>
            <a:pPr indent="0" marL="0">
              <a:lnSpc>
                <a:spcPct val="100000"/>
              </a:lnSpc>
              <a:spcAft>
                <a:spcPts val="200"/>
              </a:spcAft>
              <a:buNone/>
            </a:pPr>
            <a:r>
              <a:rPr lang="en-US" sz="1000" b="1" dirty="0">
                <a:solidFill>
                  <a:schemeClr val="tx1"/>
                </a:solidFill>
              </a:rPr>
              <a:t>Polar Rescue and Resilience Station</a:t>
            </a:r>
            <a:endParaRPr lang="en-US" sz="1050" dirty="0"/>
          </a:p>
          <a:p>
            <a:pPr indent="0" marL="0">
              <a:lnSpc>
                <a:spcPct val="100000"/>
              </a:lnSpc>
              <a:buNone/>
            </a:pPr>
            <a:r>
              <a:rPr lang="en-US" sz="900" dirty="0">
                <a:solidFill>
                  <a:schemeClr val="tx2"/>
                </a:solidFill>
              </a:rPr>
              <a:t>Home of the 112 emergency centre.</a:t>
            </a:r>
            <a:endParaRPr lang="en-US" sz="1050" dirty="0"/>
          </a:p>
        </p:txBody>
      </p:sp>
      <p:sp>
        <p:nvSpPr>
          <p:cNvPr id="31" name="text-814"/>
          <p:cNvSpPr txBox="1"/>
          <p:nvPr/>
        </p:nvSpPr>
        <p:spPr>
          <a:xfrm>
            <a:off x="548640" y="8668512"/>
            <a:ext cx="3977640" cy="411480"/>
          </a:xfrm>
          <a:prstGeom prst="rect">
            <a:avLst/>
          </a:prstGeom>
          <a:noFill/>
          <a:ln/>
        </p:spPr>
        <p:txBody>
          <a:bodyPr wrap="square" lIns="0" tIns="0" rIns="0" bIns="0" rtlCol="0" anchor="t"/>
          <a:lstStyle/>
          <a:p>
            <a:pPr indent="0" marL="0">
              <a:buNone/>
            </a:pPr>
            <a:r>
              <a:rPr lang="en-US" sz="900" i="1" dirty="0">
                <a:solidFill>
                  <a:schemeClr val="tx2"/>
                </a:solidFill>
              </a:rPr>
              <a:t>If there is time: the Aurora Lagoon, the Bifacial Solar Farm and the Recycled Water Tower.</a:t>
            </a:r>
            <a:endParaRPr lang="en-US" sz="900" dirty="0"/>
          </a:p>
        </p:txBody>
      </p:sp>
      <p:sp>
        <p:nvSpPr>
          <p:cNvPr id="32" name="card-815"/>
          <p:cNvSpPr/>
          <p:nvPr/>
        </p:nvSpPr>
        <p:spPr>
          <a:xfrm>
            <a:off x="4800600" y="2423160"/>
            <a:ext cx="2212848" cy="7498080"/>
          </a:xfrm>
          <a:prstGeom prst="roundRect">
            <a:avLst>
              <a:gd name="adj" fmla="val 3306"/>
            </a:avLst>
          </a:prstGeom>
          <a:solidFill>
            <a:schemeClr val="bg1"/>
          </a:solidFill>
          <a:ln w="12700">
            <a:solidFill>
              <a:schemeClr val="bg1"/>
            </a:solidFill>
            <a:prstDash val="solid"/>
          </a:ln>
        </p:spPr>
      </p:sp>
      <p:pic>
        <p:nvPicPr>
          <p:cNvPr id="33" name="picture-816" descr="/home/user/chatbox-bi-n-o/magazine/assets/renders/stadium.jpg">    </p:cNvPr>
          <p:cNvPicPr>
            <a:picLocks noChangeAspect="1"/>
          </p:cNvPicPr>
          <p:nvPr/>
        </p:nvPicPr>
        <p:blipFill>
          <a:blip r:embed="rId1"/>
          <a:srcRect l="0" r="0" t="0" b="0"/>
          <a:stretch/>
        </p:blipFill>
        <p:spPr>
          <a:xfrm>
            <a:off x="4800600" y="2423160"/>
            <a:ext cx="2212848" cy="3657600"/>
          </a:xfrm>
          <a:prstGeom prst="rect">
            <a:avLst/>
          </a:prstGeom>
        </p:spPr>
      </p:pic>
      <p:sp>
        <p:nvSpPr>
          <p:cNvPr id="34" name="text-817"/>
          <p:cNvSpPr txBox="1"/>
          <p:nvPr/>
        </p:nvSpPr>
        <p:spPr>
          <a:xfrm>
            <a:off x="4965192" y="6144768"/>
            <a:ext cx="1883664" cy="201168"/>
          </a:xfrm>
          <a:prstGeom prst="rect">
            <a:avLst/>
          </a:prstGeom>
          <a:noFill/>
          <a:ln/>
        </p:spPr>
        <p:txBody>
          <a:bodyPr wrap="square" lIns="0" tIns="0" rIns="0" bIns="0" rtlCol="0" anchor="t"/>
          <a:lstStyle/>
          <a:p>
            <a:pPr indent="0" marL="0">
              <a:buNone/>
            </a:pPr>
            <a:r>
              <a:rPr lang="en-US" sz="850" i="1" dirty="0">
                <a:solidFill>
                  <a:schemeClr val="tx2"/>
                </a:solidFill>
              </a:rPr>
              <a:t>Aurora Snow Stadium at dusk.</a:t>
            </a:r>
            <a:endParaRPr lang="en-US" sz="850" dirty="0"/>
          </a:p>
        </p:txBody>
      </p:sp>
      <p:sp>
        <p:nvSpPr>
          <p:cNvPr id="35" name="kicker-dot-818"/>
          <p:cNvSpPr/>
          <p:nvPr/>
        </p:nvSpPr>
        <p:spPr>
          <a:xfrm>
            <a:off x="4965192" y="6579108"/>
            <a:ext cx="100584" cy="100584"/>
          </a:xfrm>
          <a:prstGeom prst="ellipse">
            <a:avLst/>
          </a:prstGeom>
          <a:solidFill>
            <a:schemeClr val="accent6"/>
          </a:solidFill>
          <a:ln w="12700">
            <a:solidFill>
              <a:schemeClr val="accent6"/>
            </a:solidFill>
            <a:prstDash val="solid"/>
          </a:ln>
        </p:spPr>
      </p:sp>
      <p:sp>
        <p:nvSpPr>
          <p:cNvPr id="36" name="text-819"/>
          <p:cNvSpPr txBox="1"/>
          <p:nvPr/>
        </p:nvSpPr>
        <p:spPr>
          <a:xfrm>
            <a:off x="5148072" y="6537960"/>
            <a:ext cx="1847088" cy="201168"/>
          </a:xfrm>
          <a:prstGeom prst="rect">
            <a:avLst/>
          </a:prstGeom>
          <a:noFill/>
          <a:ln/>
        </p:spPr>
        <p:txBody>
          <a:bodyPr wrap="square" lIns="0" tIns="0" rIns="0" bIns="0" rtlCol="0" anchor="t"/>
          <a:lstStyle/>
          <a:p>
            <a:pPr indent="0" marL="0">
              <a:buNone/>
            </a:pPr>
            <a:r>
              <a:rPr lang="en-US" sz="900" b="1" spc="300" kern="0" dirty="0">
                <a:solidFill>
                  <a:schemeClr val="accent6"/>
                </a:solidFill>
              </a:rPr>
              <a:t>BEHIND THE BUILD</a:t>
            </a:r>
            <a:endParaRPr lang="en-US" sz="900" dirty="0"/>
          </a:p>
        </p:txBody>
      </p:sp>
      <p:sp>
        <p:nvSpPr>
          <p:cNvPr id="37" name="text-820"/>
          <p:cNvSpPr txBox="1"/>
          <p:nvPr/>
        </p:nvSpPr>
        <p:spPr>
          <a:xfrm>
            <a:off x="4965192" y="6949440"/>
            <a:ext cx="1883664" cy="352552"/>
          </a:xfrm>
          <a:prstGeom prst="rect">
            <a:avLst/>
          </a:prstGeom>
          <a:noFill/>
          <a:ln/>
        </p:spPr>
        <p:txBody>
          <a:bodyPr wrap="square" lIns="0" tIns="0" rIns="0" bIns="0" rtlCol="0" anchor="b"/>
          <a:lstStyle/>
          <a:p>
            <a:pPr indent="0" marL="0">
              <a:buNone/>
            </a:pPr>
            <a:r>
              <a:rPr lang="en-US" sz="2200" b="1" dirty="0">
                <a:solidFill>
                  <a:schemeClr val="accent6"/>
                </a:solidFill>
                <a:latin typeface="+mj-lt" pitchFamily="34" charset="0"/>
                <a:ea typeface="+mj-lt" pitchFamily="34" charset="-122"/>
                <a:cs typeface="+mj-lt" pitchFamily="34" charset="-120"/>
              </a:rPr>
              <a:t>35</a:t>
            </a:r>
            <a:endParaRPr lang="en-US" sz="2200" dirty="0"/>
          </a:p>
        </p:txBody>
      </p:sp>
      <p:sp>
        <p:nvSpPr>
          <p:cNvPr id="38" name="text-821"/>
          <p:cNvSpPr txBox="1"/>
          <p:nvPr/>
        </p:nvSpPr>
        <p:spPr>
          <a:xfrm>
            <a:off x="4965192" y="7329424"/>
            <a:ext cx="1883664" cy="36576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key places, numbered on the master plan</a:t>
            </a:r>
            <a:endParaRPr lang="en-US" sz="900" dirty="0"/>
          </a:p>
        </p:txBody>
      </p:sp>
      <p:sp>
        <p:nvSpPr>
          <p:cNvPr id="39" name="text-822"/>
          <p:cNvSpPr txBox="1"/>
          <p:nvPr/>
        </p:nvSpPr>
        <p:spPr>
          <a:xfrm>
            <a:off x="4965192" y="8229600"/>
            <a:ext cx="1883664" cy="352552"/>
          </a:xfrm>
          <a:prstGeom prst="rect">
            <a:avLst/>
          </a:prstGeom>
          <a:noFill/>
          <a:ln/>
        </p:spPr>
        <p:txBody>
          <a:bodyPr wrap="square" lIns="0" tIns="0" rIns="0" bIns="0" rtlCol="0" anchor="b"/>
          <a:lstStyle/>
          <a:p>
            <a:pPr indent="0" marL="0">
              <a:buNone/>
            </a:pPr>
            <a:r>
              <a:rPr lang="en-US" sz="2200" b="1" dirty="0">
                <a:solidFill>
                  <a:schemeClr val="accent6"/>
                </a:solidFill>
                <a:latin typeface="+mj-lt" pitchFamily="34" charset="0"/>
                <a:ea typeface="+mj-lt" pitchFamily="34" charset="-122"/>
                <a:cs typeface="+mj-lt" pitchFamily="34" charset="-120"/>
              </a:rPr>
              <a:t>9</a:t>
            </a:r>
            <a:endParaRPr lang="en-US" sz="2200" dirty="0"/>
          </a:p>
        </p:txBody>
      </p:sp>
      <p:sp>
        <p:nvSpPr>
          <p:cNvPr id="40" name="text-823"/>
          <p:cNvSpPr txBox="1"/>
          <p:nvPr/>
        </p:nvSpPr>
        <p:spPr>
          <a:xfrm>
            <a:off x="4965192" y="8609584"/>
            <a:ext cx="1883664" cy="365760"/>
          </a:xfrm>
          <a:prstGeom prst="rect">
            <a:avLst/>
          </a:prstGeom>
          <a:noFill/>
          <a:ln/>
        </p:spPr>
        <p:txBody>
          <a:bodyPr wrap="square" lIns="0" tIns="0" rIns="0" bIns="0" rtlCol="0" anchor="t"/>
          <a:lstStyle/>
          <a:p>
            <a:pPr indent="0" marL="0">
              <a:lnSpc>
                <a:spcPct val="105000"/>
              </a:lnSpc>
              <a:buNone/>
            </a:pPr>
            <a:r>
              <a:rPr lang="en-US" sz="900" dirty="0">
                <a:solidFill>
                  <a:schemeClr val="tx2"/>
                </a:solidFill>
              </a:rPr>
              <a:t>downtown blocks around the Aurora Roundabout</a:t>
            </a:r>
            <a:endParaRPr lang="en-US" sz="900" dirty="0"/>
          </a:p>
        </p:txBody>
      </p:sp>
      <p:sp>
        <p:nvSpPr>
          <p:cNvPr id="41" name="page-number"/>
          <p:cNvSpPr txBox="1"/>
          <p:nvPr/>
        </p:nvSpPr>
        <p:spPr>
          <a:xfrm>
            <a:off x="6601968" y="10177272"/>
            <a:ext cx="411480" cy="219456"/>
          </a:xfrm>
          <a:prstGeom prst="rect">
            <a:avLst/>
          </a:prstGeom>
          <a:noFill/>
          <a:ln/>
        </p:spPr>
        <p:txBody>
          <a:bodyPr wrap="square" lIns="0" tIns="0" rIns="0" bIns="0" rtlCol="0" anchor="ctr"/>
          <a:lstStyle/>
          <a:p>
            <a:pPr algn="r" indent="0" marL="0">
              <a:buNone/>
            </a:pPr>
            <a:r>
              <a:rPr lang="en-US" sz="900" b="1" dirty="0">
                <a:solidFill>
                  <a:schemeClr val="tx1"/>
                </a:solidFill>
              </a:rPr>
              <a:t>33</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kicker-dot-824"/>
          <p:cNvSpPr/>
          <p:nvPr/>
        </p:nvSpPr>
        <p:spPr>
          <a:xfrm>
            <a:off x="548640" y="544068"/>
            <a:ext cx="100584" cy="100584"/>
          </a:xfrm>
          <a:prstGeom prst="ellipse">
            <a:avLst/>
          </a:prstGeom>
          <a:solidFill>
            <a:schemeClr val="accent6"/>
          </a:solidFill>
          <a:ln w="12700">
            <a:solidFill>
              <a:schemeClr val="accent6"/>
            </a:solidFill>
            <a:prstDash val="solid"/>
          </a:ln>
        </p:spPr>
      </p:sp>
      <p:sp>
        <p:nvSpPr>
          <p:cNvPr id="3" name="text-825"/>
          <p:cNvSpPr txBox="1"/>
          <p:nvPr/>
        </p:nvSpPr>
        <p:spPr>
          <a:xfrm>
            <a:off x="731520" y="502920"/>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GUIDE · 35 KEY PLACES</a:t>
            </a:r>
            <a:endParaRPr lang="en-US" sz="900" dirty="0"/>
          </a:p>
        </p:txBody>
      </p:sp>
      <p:sp>
        <p:nvSpPr>
          <p:cNvPr id="4" name="title-826"/>
          <p:cNvSpPr txBox="1"/>
          <p:nvPr/>
        </p:nvSpPr>
        <p:spPr>
          <a:xfrm>
            <a:off x="548640" y="758952"/>
            <a:ext cx="6464808" cy="685800"/>
          </a:xfrm>
          <a:prstGeom prst="rect">
            <a:avLst/>
          </a:prstGeom>
          <a:noFill/>
          <a:ln/>
        </p:spPr>
        <p:txBody>
          <a:bodyPr wrap="square" lIns="0" tIns="0" rIns="0" bIns="0" rtlCol="0" anchor="t"/>
          <a:lstStyle/>
          <a:p>
            <a:pPr indent="0" marL="0">
              <a:lnSpc>
                <a:spcPct val="92000"/>
              </a:lnSpc>
              <a:buNone/>
            </a:pPr>
            <a:r>
              <a:rPr lang="en-US" sz="3400" b="1" dirty="0">
                <a:solidFill>
                  <a:schemeClr val="tx1"/>
                </a:solidFill>
                <a:latin typeface="+mj-lt" pitchFamily="34" charset="0"/>
                <a:ea typeface="+mj-lt" pitchFamily="34" charset="-122"/>
                <a:cs typeface="+mj-lt" pitchFamily="34" charset="-120"/>
              </a:rPr>
              <a:t>Places to Visit</a:t>
            </a:r>
            <a:endParaRPr lang="en-US" sz="3400" dirty="0"/>
          </a:p>
        </p:txBody>
      </p:sp>
      <p:sp>
        <p:nvSpPr>
          <p:cNvPr id="5" name="text-828"/>
          <p:cNvSpPr txBox="1"/>
          <p:nvPr/>
        </p:nvSpPr>
        <p:spPr>
          <a:xfrm>
            <a:off x="548640" y="1444752"/>
            <a:ext cx="6464808" cy="228600"/>
          </a:xfrm>
          <a:prstGeom prst="rect">
            <a:avLst/>
          </a:prstGeom>
          <a:noFill/>
          <a:ln/>
        </p:spPr>
        <p:txBody>
          <a:bodyPr wrap="square" lIns="0" tIns="0" rIns="0" bIns="0" rtlCol="0" anchor="t"/>
          <a:lstStyle/>
          <a:p>
            <a:pPr indent="0" marL="0">
              <a:buNone/>
            </a:pPr>
            <a:r>
              <a:rPr lang="en-US" sz="950" i="1" dirty="0">
                <a:solidFill>
                  <a:schemeClr val="tx2"/>
                </a:solidFill>
              </a:rPr>
              <a:t>The numbers match the markers on the city master plan on page 10.</a:t>
            </a:r>
            <a:endParaRPr lang="en-US" sz="950" dirty="0"/>
          </a:p>
        </p:txBody>
      </p:sp>
      <p:sp>
        <p:nvSpPr>
          <p:cNvPr id="6" name="text-829"/>
          <p:cNvSpPr txBox="1"/>
          <p:nvPr/>
        </p:nvSpPr>
        <p:spPr>
          <a:xfrm>
            <a:off x="548640" y="17830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1</a:t>
            </a:r>
            <a:endParaRPr lang="en-US" sz="1100" dirty="0"/>
          </a:p>
        </p:txBody>
      </p:sp>
      <p:sp>
        <p:nvSpPr>
          <p:cNvPr id="7" name="text-830"/>
          <p:cNvSpPr txBox="1"/>
          <p:nvPr/>
        </p:nvSpPr>
        <p:spPr>
          <a:xfrm>
            <a:off x="896112" y="1783080"/>
            <a:ext cx="2747772" cy="182880"/>
          </a:xfrm>
          <a:prstGeom prst="rect">
            <a:avLst/>
          </a:prstGeom>
          <a:noFill/>
          <a:ln/>
        </p:spPr>
        <p:txBody>
          <a:bodyPr wrap="square" lIns="0" tIns="0" rIns="0" bIns="0" rtlCol="0" anchor="t"/>
          <a:lstStyle/>
          <a:p>
            <a:pPr indent="0" marL="0">
              <a:buNone/>
            </a:pPr>
            <a:r>
              <a:rPr lang="en-US" sz="900" b="1" dirty="0">
                <a:solidFill>
                  <a:schemeClr val="tx1"/>
                </a:solidFill>
              </a:rPr>
              <a:t>Founding Mayor Monument</a:t>
            </a:r>
            <a:endParaRPr lang="en-US" sz="900" dirty="0"/>
          </a:p>
        </p:txBody>
      </p:sp>
      <p:sp>
        <p:nvSpPr>
          <p:cNvPr id="8" name="text-831"/>
          <p:cNvSpPr txBox="1"/>
          <p:nvPr/>
        </p:nvSpPr>
        <p:spPr>
          <a:xfrm>
            <a:off x="896112" y="19568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The city’s civic heart on Aurora Roundabout: ceremonies, national holidays and walking tours.</a:t>
            </a:r>
            <a:endParaRPr lang="en-US" sz="800" dirty="0"/>
          </a:p>
        </p:txBody>
      </p:sp>
      <p:sp>
        <p:nvSpPr>
          <p:cNvPr id="9" name="text-832"/>
          <p:cNvSpPr txBox="1"/>
          <p:nvPr/>
        </p:nvSpPr>
        <p:spPr>
          <a:xfrm>
            <a:off x="548640" y="22402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2</a:t>
            </a:r>
            <a:endParaRPr lang="en-US" sz="1100" dirty="0"/>
          </a:p>
        </p:txBody>
      </p:sp>
      <p:sp>
        <p:nvSpPr>
          <p:cNvPr id="10" name="text-833"/>
          <p:cNvSpPr txBox="1"/>
          <p:nvPr/>
        </p:nvSpPr>
        <p:spPr>
          <a:xfrm>
            <a:off x="896112" y="2240280"/>
            <a:ext cx="2747772" cy="182880"/>
          </a:xfrm>
          <a:prstGeom prst="rect">
            <a:avLst/>
          </a:prstGeom>
          <a:noFill/>
          <a:ln/>
        </p:spPr>
        <p:txBody>
          <a:bodyPr wrap="square" lIns="0" tIns="0" rIns="0" bIns="0" rtlCol="0" anchor="t"/>
          <a:lstStyle/>
          <a:p>
            <a:pPr indent="0" marL="0">
              <a:buNone/>
            </a:pPr>
            <a:r>
              <a:rPr lang="en-US" sz="900" b="1" dirty="0">
                <a:solidFill>
                  <a:schemeClr val="tx1"/>
                </a:solidFill>
              </a:rPr>
              <a:t>Aurora Civic Center &amp; Municipal Hall</a:t>
            </a:r>
            <a:endParaRPr lang="en-US" sz="900" dirty="0"/>
          </a:p>
        </p:txBody>
      </p:sp>
      <p:sp>
        <p:nvSpPr>
          <p:cNvPr id="11" name="text-834"/>
          <p:cNvSpPr txBox="1"/>
          <p:nvPr/>
        </p:nvSpPr>
        <p:spPr>
          <a:xfrm>
            <a:off x="896112" y="24140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Town hall for the city council, ID cards, permits, housing and family services.</a:t>
            </a:r>
            <a:endParaRPr lang="en-US" sz="800" dirty="0"/>
          </a:p>
        </p:txBody>
      </p:sp>
      <p:sp>
        <p:nvSpPr>
          <p:cNvPr id="12" name="text-835"/>
          <p:cNvSpPr txBox="1"/>
          <p:nvPr/>
        </p:nvSpPr>
        <p:spPr>
          <a:xfrm>
            <a:off x="548640" y="26974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3</a:t>
            </a:r>
            <a:endParaRPr lang="en-US" sz="1100" dirty="0"/>
          </a:p>
        </p:txBody>
      </p:sp>
      <p:sp>
        <p:nvSpPr>
          <p:cNvPr id="13" name="text-836"/>
          <p:cNvSpPr txBox="1"/>
          <p:nvPr/>
        </p:nvSpPr>
        <p:spPr>
          <a:xfrm>
            <a:off x="896112" y="2697480"/>
            <a:ext cx="2747772" cy="182880"/>
          </a:xfrm>
          <a:prstGeom prst="rect">
            <a:avLst/>
          </a:prstGeom>
          <a:noFill/>
          <a:ln/>
        </p:spPr>
        <p:txBody>
          <a:bodyPr wrap="square" lIns="0" tIns="0" rIns="0" bIns="0" rtlCol="0" anchor="t"/>
          <a:lstStyle/>
          <a:p>
            <a:pPr indent="0" marL="0">
              <a:buNone/>
            </a:pPr>
            <a:r>
              <a:rPr lang="en-US" sz="900" b="1" dirty="0">
                <a:solidFill>
                  <a:schemeClr val="tx1"/>
                </a:solidFill>
              </a:rPr>
              <a:t>Snowflake General Hospital</a:t>
            </a:r>
            <a:endParaRPr lang="en-US" sz="900" dirty="0"/>
          </a:p>
        </p:txBody>
      </p:sp>
      <p:sp>
        <p:nvSpPr>
          <p:cNvPr id="14" name="text-837"/>
          <p:cNvSpPr txBox="1"/>
          <p:nvPr/>
        </p:nvSpPr>
        <p:spPr>
          <a:xfrm>
            <a:off x="896112" y="28712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Main hospital with about 250 beds and a 24-hour emergency department.</a:t>
            </a:r>
            <a:endParaRPr lang="en-US" sz="800" dirty="0"/>
          </a:p>
        </p:txBody>
      </p:sp>
      <p:sp>
        <p:nvSpPr>
          <p:cNvPr id="15" name="text-838"/>
          <p:cNvSpPr txBox="1"/>
          <p:nvPr/>
        </p:nvSpPr>
        <p:spPr>
          <a:xfrm>
            <a:off x="548640" y="31546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4</a:t>
            </a:r>
            <a:endParaRPr lang="en-US" sz="1100" dirty="0"/>
          </a:p>
        </p:txBody>
      </p:sp>
      <p:sp>
        <p:nvSpPr>
          <p:cNvPr id="16" name="text-839"/>
          <p:cNvSpPr txBox="1"/>
          <p:nvPr/>
        </p:nvSpPr>
        <p:spPr>
          <a:xfrm>
            <a:off x="896112" y="3154680"/>
            <a:ext cx="2747772" cy="182880"/>
          </a:xfrm>
          <a:prstGeom prst="rect">
            <a:avLst/>
          </a:prstGeom>
          <a:noFill/>
          <a:ln/>
        </p:spPr>
        <p:txBody>
          <a:bodyPr wrap="square" lIns="0" tIns="0" rIns="0" bIns="0" rtlCol="0" anchor="t"/>
          <a:lstStyle/>
          <a:p>
            <a:pPr indent="0" marL="0">
              <a:buNone/>
            </a:pPr>
            <a:r>
              <a:rPr lang="en-US" sz="900" b="1" dirty="0">
                <a:solidFill>
                  <a:schemeClr val="tx1"/>
                </a:solidFill>
              </a:rPr>
              <a:t>Northern Lights School &amp; Botanical Conservatory</a:t>
            </a:r>
            <a:endParaRPr lang="en-US" sz="900" dirty="0"/>
          </a:p>
        </p:txBody>
      </p:sp>
      <p:sp>
        <p:nvSpPr>
          <p:cNvPr id="17" name="text-840"/>
          <p:cNvSpPr txBox="1"/>
          <p:nvPr/>
        </p:nvSpPr>
        <p:spPr>
          <a:xfrm>
            <a:off x="896112" y="33284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Primary and secondary school for about 900 pupils aged 6–18.</a:t>
            </a:r>
            <a:endParaRPr lang="en-US" sz="800" dirty="0"/>
          </a:p>
        </p:txBody>
      </p:sp>
      <p:sp>
        <p:nvSpPr>
          <p:cNvPr id="18" name="text-841"/>
          <p:cNvSpPr txBox="1"/>
          <p:nvPr/>
        </p:nvSpPr>
        <p:spPr>
          <a:xfrm>
            <a:off x="548640" y="36118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5</a:t>
            </a:r>
            <a:endParaRPr lang="en-US" sz="1100" dirty="0"/>
          </a:p>
        </p:txBody>
      </p:sp>
      <p:sp>
        <p:nvSpPr>
          <p:cNvPr id="19" name="text-842"/>
          <p:cNvSpPr txBox="1"/>
          <p:nvPr/>
        </p:nvSpPr>
        <p:spPr>
          <a:xfrm>
            <a:off x="896112" y="3611880"/>
            <a:ext cx="2747772" cy="182880"/>
          </a:xfrm>
          <a:prstGeom prst="rect">
            <a:avLst/>
          </a:prstGeom>
          <a:noFill/>
          <a:ln/>
        </p:spPr>
        <p:txBody>
          <a:bodyPr wrap="square" lIns="0" tIns="0" rIns="0" bIns="0" rtlCol="0" anchor="t"/>
          <a:lstStyle/>
          <a:p>
            <a:pPr indent="0" marL="0">
              <a:buNone/>
            </a:pPr>
            <a:r>
              <a:rPr lang="en-US" sz="900" b="1" dirty="0">
                <a:solidFill>
                  <a:schemeClr val="tx1"/>
                </a:solidFill>
              </a:rPr>
              <a:t>Igloo Fresh Supermarket &amp; Food Hall</a:t>
            </a:r>
            <a:endParaRPr lang="en-US" sz="900" dirty="0"/>
          </a:p>
        </p:txBody>
      </p:sp>
      <p:sp>
        <p:nvSpPr>
          <p:cNvPr id="20" name="text-843"/>
          <p:cNvSpPr txBox="1"/>
          <p:nvPr/>
        </p:nvSpPr>
        <p:spPr>
          <a:xfrm>
            <a:off x="896112" y="37856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Downtown’s main supermarket and food court; about half its food is made in the city.</a:t>
            </a:r>
            <a:endParaRPr lang="en-US" sz="800" dirty="0"/>
          </a:p>
        </p:txBody>
      </p:sp>
      <p:sp>
        <p:nvSpPr>
          <p:cNvPr id="21" name="text-844"/>
          <p:cNvSpPr txBox="1"/>
          <p:nvPr/>
        </p:nvSpPr>
        <p:spPr>
          <a:xfrm>
            <a:off x="548640" y="40690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6</a:t>
            </a:r>
            <a:endParaRPr lang="en-US" sz="1100" dirty="0"/>
          </a:p>
        </p:txBody>
      </p:sp>
      <p:sp>
        <p:nvSpPr>
          <p:cNvPr id="22" name="text-845"/>
          <p:cNvSpPr txBox="1"/>
          <p:nvPr/>
        </p:nvSpPr>
        <p:spPr>
          <a:xfrm>
            <a:off x="896112" y="4069080"/>
            <a:ext cx="2747772" cy="182880"/>
          </a:xfrm>
          <a:prstGeom prst="rect">
            <a:avLst/>
          </a:prstGeom>
          <a:noFill/>
          <a:ln/>
        </p:spPr>
        <p:txBody>
          <a:bodyPr wrap="square" lIns="0" tIns="0" rIns="0" bIns="0" rtlCol="0" anchor="t"/>
          <a:lstStyle/>
          <a:p>
            <a:pPr indent="0" marL="0">
              <a:buNone/>
            </a:pPr>
            <a:r>
              <a:rPr lang="en-US" sz="900" b="1" dirty="0">
                <a:solidFill>
                  <a:schemeClr val="tx1"/>
                </a:solidFill>
              </a:rPr>
              <a:t>Aurora Cinema &amp; Performing Arts Center</a:t>
            </a:r>
            <a:endParaRPr lang="en-US" sz="900" dirty="0"/>
          </a:p>
        </p:txBody>
      </p:sp>
      <p:sp>
        <p:nvSpPr>
          <p:cNvPr id="23" name="text-846"/>
          <p:cNvSpPr txBox="1"/>
          <p:nvPr/>
        </p:nvSpPr>
        <p:spPr>
          <a:xfrm>
            <a:off x="896112" y="42428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Cinema and theatre for films, concerts, ballet and school shows.</a:t>
            </a:r>
            <a:endParaRPr lang="en-US" sz="800" dirty="0"/>
          </a:p>
        </p:txBody>
      </p:sp>
      <p:sp>
        <p:nvSpPr>
          <p:cNvPr id="24" name="text-847"/>
          <p:cNvSpPr txBox="1"/>
          <p:nvPr/>
        </p:nvSpPr>
        <p:spPr>
          <a:xfrm>
            <a:off x="548640" y="45262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7</a:t>
            </a:r>
            <a:endParaRPr lang="en-US" sz="1100" dirty="0"/>
          </a:p>
        </p:txBody>
      </p:sp>
      <p:sp>
        <p:nvSpPr>
          <p:cNvPr id="25" name="text-848"/>
          <p:cNvSpPr txBox="1"/>
          <p:nvPr/>
        </p:nvSpPr>
        <p:spPr>
          <a:xfrm>
            <a:off x="896112" y="4526280"/>
            <a:ext cx="2747772" cy="182880"/>
          </a:xfrm>
          <a:prstGeom prst="rect">
            <a:avLst/>
          </a:prstGeom>
          <a:noFill/>
          <a:ln/>
        </p:spPr>
        <p:txBody>
          <a:bodyPr wrap="square" lIns="0" tIns="0" rIns="0" bIns="0" rtlCol="0" anchor="t"/>
          <a:lstStyle/>
          <a:p>
            <a:pPr indent="0" marL="0">
              <a:buNone/>
            </a:pPr>
            <a:r>
              <a:rPr lang="en-US" sz="900" b="1" dirty="0">
                <a:solidFill>
                  <a:schemeClr val="tx1"/>
                </a:solidFill>
              </a:rPr>
              <a:t>Underground Metro &amp; Emergency Shelters</a:t>
            </a:r>
            <a:endParaRPr lang="en-US" sz="900" dirty="0"/>
          </a:p>
        </p:txBody>
      </p:sp>
      <p:sp>
        <p:nvSpPr>
          <p:cNvPr id="26" name="text-849"/>
          <p:cNvSpPr txBox="1"/>
          <p:nvPr/>
        </p:nvSpPr>
        <p:spPr>
          <a:xfrm>
            <a:off x="896112" y="47000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Metro interchange linked to four shelters that last 30 days.</a:t>
            </a:r>
            <a:endParaRPr lang="en-US" sz="800" dirty="0"/>
          </a:p>
        </p:txBody>
      </p:sp>
      <p:sp>
        <p:nvSpPr>
          <p:cNvPr id="27" name="text-850"/>
          <p:cNvSpPr txBox="1"/>
          <p:nvPr/>
        </p:nvSpPr>
        <p:spPr>
          <a:xfrm>
            <a:off x="548640" y="49834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8</a:t>
            </a:r>
            <a:endParaRPr lang="en-US" sz="1100" dirty="0"/>
          </a:p>
        </p:txBody>
      </p:sp>
      <p:sp>
        <p:nvSpPr>
          <p:cNvPr id="28" name="text-851"/>
          <p:cNvSpPr txBox="1"/>
          <p:nvPr/>
        </p:nvSpPr>
        <p:spPr>
          <a:xfrm>
            <a:off x="896112" y="4983480"/>
            <a:ext cx="2747772" cy="182880"/>
          </a:xfrm>
          <a:prstGeom prst="rect">
            <a:avLst/>
          </a:prstGeom>
          <a:noFill/>
          <a:ln/>
        </p:spPr>
        <p:txBody>
          <a:bodyPr wrap="square" lIns="0" tIns="0" rIns="0" bIns="0" rtlCol="0" anchor="t"/>
          <a:lstStyle/>
          <a:p>
            <a:pPr indent="0" marL="0">
              <a:buNone/>
            </a:pPr>
            <a:r>
              <a:rPr lang="en-US" sz="900" b="1" dirty="0">
                <a:solidFill>
                  <a:schemeClr val="tx1"/>
                </a:solidFill>
              </a:rPr>
              <a:t>Aurora Core – AI Control Tower</a:t>
            </a:r>
            <a:endParaRPr lang="en-US" sz="900" dirty="0"/>
          </a:p>
        </p:txBody>
      </p:sp>
      <p:sp>
        <p:nvSpPr>
          <p:cNvPr id="29" name="text-852"/>
          <p:cNvSpPr txBox="1"/>
          <p:nvPr/>
        </p:nvSpPr>
        <p:spPr>
          <a:xfrm>
            <a:off x="896112" y="51572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Operations centre where an AI digital twin runs traffic, heat, power and alerts.</a:t>
            </a:r>
            <a:endParaRPr lang="en-US" sz="800" dirty="0"/>
          </a:p>
        </p:txBody>
      </p:sp>
      <p:sp>
        <p:nvSpPr>
          <p:cNvPr id="30" name="text-853"/>
          <p:cNvSpPr txBox="1"/>
          <p:nvPr/>
        </p:nvSpPr>
        <p:spPr>
          <a:xfrm>
            <a:off x="548640" y="54406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9</a:t>
            </a:r>
            <a:endParaRPr lang="en-US" sz="1100" dirty="0"/>
          </a:p>
        </p:txBody>
      </p:sp>
      <p:sp>
        <p:nvSpPr>
          <p:cNvPr id="31" name="text-854"/>
          <p:cNvSpPr txBox="1"/>
          <p:nvPr/>
        </p:nvSpPr>
        <p:spPr>
          <a:xfrm>
            <a:off x="896112" y="5440680"/>
            <a:ext cx="2747772" cy="182880"/>
          </a:xfrm>
          <a:prstGeom prst="rect">
            <a:avLst/>
          </a:prstGeom>
          <a:noFill/>
          <a:ln/>
        </p:spPr>
        <p:txBody>
          <a:bodyPr wrap="square" lIns="0" tIns="0" rIns="0" bIns="0" rtlCol="0" anchor="t"/>
          <a:lstStyle/>
          <a:p>
            <a:pPr indent="0" marL="0">
              <a:buNone/>
            </a:pPr>
            <a:r>
              <a:rPr lang="en-US" sz="900" b="1" dirty="0">
                <a:solidFill>
                  <a:schemeClr val="tx1"/>
                </a:solidFill>
              </a:rPr>
              <a:t>Aurora Haven Police Headquarters</a:t>
            </a:r>
            <a:endParaRPr lang="en-US" sz="900" dirty="0"/>
          </a:p>
        </p:txBody>
      </p:sp>
      <p:sp>
        <p:nvSpPr>
          <p:cNvPr id="32" name="text-855"/>
          <p:cNvSpPr txBox="1"/>
          <p:nvPr/>
        </p:nvSpPr>
        <p:spPr>
          <a:xfrm>
            <a:off x="896112" y="56144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Central police station with a 24-hour police control room.</a:t>
            </a:r>
            <a:endParaRPr lang="en-US" sz="800" dirty="0"/>
          </a:p>
        </p:txBody>
      </p:sp>
      <p:sp>
        <p:nvSpPr>
          <p:cNvPr id="33" name="text-856"/>
          <p:cNvSpPr txBox="1"/>
          <p:nvPr/>
        </p:nvSpPr>
        <p:spPr>
          <a:xfrm>
            <a:off x="548640" y="58978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10</a:t>
            </a:r>
            <a:endParaRPr lang="en-US" sz="1100" dirty="0"/>
          </a:p>
        </p:txBody>
      </p:sp>
      <p:sp>
        <p:nvSpPr>
          <p:cNvPr id="34" name="text-857"/>
          <p:cNvSpPr txBox="1"/>
          <p:nvPr/>
        </p:nvSpPr>
        <p:spPr>
          <a:xfrm>
            <a:off x="896112" y="5897880"/>
            <a:ext cx="2747772" cy="182880"/>
          </a:xfrm>
          <a:prstGeom prst="rect">
            <a:avLst/>
          </a:prstGeom>
          <a:noFill/>
          <a:ln/>
        </p:spPr>
        <p:txBody>
          <a:bodyPr wrap="square" lIns="0" tIns="0" rIns="0" bIns="0" rtlCol="0" anchor="t"/>
          <a:lstStyle/>
          <a:p>
            <a:pPr indent="0" marL="0">
              <a:buNone/>
            </a:pPr>
            <a:r>
              <a:rPr lang="en-US" sz="900" b="1" dirty="0">
                <a:solidFill>
                  <a:schemeClr val="tx1"/>
                </a:solidFill>
              </a:rPr>
              <a:t>Arctic University – Main Hall</a:t>
            </a:r>
            <a:endParaRPr lang="en-US" sz="900" dirty="0"/>
          </a:p>
        </p:txBody>
      </p:sp>
      <p:sp>
        <p:nvSpPr>
          <p:cNvPr id="35" name="text-858"/>
          <p:cNvSpPr txBox="1"/>
          <p:nvPr/>
        </p:nvSpPr>
        <p:spPr>
          <a:xfrm>
            <a:off x="896112" y="60716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Lecture halls for about 5,000 students of polar engineering, fusion, food science, medicine and climate.</a:t>
            </a:r>
            <a:endParaRPr lang="en-US" sz="800" dirty="0"/>
          </a:p>
        </p:txBody>
      </p:sp>
      <p:sp>
        <p:nvSpPr>
          <p:cNvPr id="36" name="text-859"/>
          <p:cNvSpPr txBox="1"/>
          <p:nvPr/>
        </p:nvSpPr>
        <p:spPr>
          <a:xfrm>
            <a:off x="548640" y="63550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11</a:t>
            </a:r>
            <a:endParaRPr lang="en-US" sz="1100" dirty="0"/>
          </a:p>
        </p:txBody>
      </p:sp>
      <p:sp>
        <p:nvSpPr>
          <p:cNvPr id="37" name="text-860"/>
          <p:cNvSpPr txBox="1"/>
          <p:nvPr/>
        </p:nvSpPr>
        <p:spPr>
          <a:xfrm>
            <a:off x="896112" y="6355080"/>
            <a:ext cx="2747772" cy="182880"/>
          </a:xfrm>
          <a:prstGeom prst="rect">
            <a:avLst/>
          </a:prstGeom>
          <a:noFill/>
          <a:ln/>
        </p:spPr>
        <p:txBody>
          <a:bodyPr wrap="square" lIns="0" tIns="0" rIns="0" bIns="0" rtlCol="0" anchor="t"/>
          <a:lstStyle/>
          <a:p>
            <a:pPr indent="0" marL="0">
              <a:buNone/>
            </a:pPr>
            <a:r>
              <a:rPr lang="en-US" sz="900" b="1" dirty="0">
                <a:solidFill>
                  <a:schemeClr val="tx1"/>
                </a:solidFill>
              </a:rPr>
              <a:t>Aurora Public Library</a:t>
            </a:r>
            <a:endParaRPr lang="en-US" sz="900" dirty="0"/>
          </a:p>
        </p:txBody>
      </p:sp>
      <p:sp>
        <p:nvSpPr>
          <p:cNvPr id="38" name="text-861"/>
          <p:cNvSpPr txBox="1"/>
          <p:nvPr/>
        </p:nvSpPr>
        <p:spPr>
          <a:xfrm>
            <a:off x="896112" y="65288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Free library, open 24 hours in the polar night; lends skis, telescopes and light-therapy lamps.</a:t>
            </a:r>
            <a:endParaRPr lang="en-US" sz="800" dirty="0"/>
          </a:p>
        </p:txBody>
      </p:sp>
      <p:sp>
        <p:nvSpPr>
          <p:cNvPr id="39" name="text-862"/>
          <p:cNvSpPr txBox="1"/>
          <p:nvPr/>
        </p:nvSpPr>
        <p:spPr>
          <a:xfrm>
            <a:off x="548640" y="68122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12</a:t>
            </a:r>
            <a:endParaRPr lang="en-US" sz="1100" dirty="0"/>
          </a:p>
        </p:txBody>
      </p:sp>
      <p:sp>
        <p:nvSpPr>
          <p:cNvPr id="40" name="text-863"/>
          <p:cNvSpPr txBox="1"/>
          <p:nvPr/>
        </p:nvSpPr>
        <p:spPr>
          <a:xfrm>
            <a:off x="896112" y="6812280"/>
            <a:ext cx="2747772" cy="182880"/>
          </a:xfrm>
          <a:prstGeom prst="rect">
            <a:avLst/>
          </a:prstGeom>
          <a:noFill/>
          <a:ln/>
        </p:spPr>
        <p:txBody>
          <a:bodyPr wrap="square" lIns="0" tIns="0" rIns="0" bIns="0" rtlCol="0" anchor="t"/>
          <a:lstStyle/>
          <a:p>
            <a:pPr indent="0" marL="0">
              <a:buNone/>
            </a:pPr>
            <a:r>
              <a:rPr lang="en-US" sz="900" b="1" dirty="0">
                <a:solidFill>
                  <a:schemeClr val="tx1"/>
                </a:solidFill>
              </a:rPr>
              <a:t>West Market Fire &amp; Ambulance Station</a:t>
            </a:r>
            <a:endParaRPr lang="en-US" sz="900" dirty="0"/>
          </a:p>
        </p:txBody>
      </p:sp>
      <p:sp>
        <p:nvSpPr>
          <p:cNvPr id="41" name="text-864"/>
          <p:cNvSpPr txBox="1"/>
          <p:nvPr/>
        </p:nvSpPr>
        <p:spPr>
          <a:xfrm>
            <a:off x="896112" y="69860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Downtown fire and ambulance branch that reaches any downtown address in about 4 minutes.</a:t>
            </a:r>
            <a:endParaRPr lang="en-US" sz="800" dirty="0"/>
          </a:p>
        </p:txBody>
      </p:sp>
      <p:sp>
        <p:nvSpPr>
          <p:cNvPr id="42" name="text-865"/>
          <p:cNvSpPr txBox="1"/>
          <p:nvPr/>
        </p:nvSpPr>
        <p:spPr>
          <a:xfrm>
            <a:off x="548640" y="72694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13</a:t>
            </a:r>
            <a:endParaRPr lang="en-US" sz="1100" dirty="0"/>
          </a:p>
        </p:txBody>
      </p:sp>
      <p:sp>
        <p:nvSpPr>
          <p:cNvPr id="43" name="text-866"/>
          <p:cNvSpPr txBox="1"/>
          <p:nvPr/>
        </p:nvSpPr>
        <p:spPr>
          <a:xfrm>
            <a:off x="896112" y="7269480"/>
            <a:ext cx="2747772" cy="182880"/>
          </a:xfrm>
          <a:prstGeom prst="rect">
            <a:avLst/>
          </a:prstGeom>
          <a:noFill/>
          <a:ln/>
        </p:spPr>
        <p:txBody>
          <a:bodyPr wrap="square" lIns="0" tIns="0" rIns="0" bIns="0" rtlCol="0" anchor="t"/>
          <a:lstStyle/>
          <a:p>
            <a:pPr indent="0" marL="0">
              <a:buNone/>
            </a:pPr>
            <a:r>
              <a:rPr lang="en-US" sz="900" b="1" dirty="0">
                <a:solidFill>
                  <a:schemeClr val="tx1"/>
                </a:solidFill>
              </a:rPr>
              <a:t>Aurora Glacier Mall &amp; Crystal Atrium</a:t>
            </a:r>
            <a:endParaRPr lang="en-US" sz="900" dirty="0"/>
          </a:p>
        </p:txBody>
      </p:sp>
      <p:sp>
        <p:nvSpPr>
          <p:cNvPr id="44" name="text-867"/>
          <p:cNvSpPr txBox="1"/>
          <p:nvPr/>
        </p:nvSpPr>
        <p:spPr>
          <a:xfrm>
            <a:off x="896112" y="74432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Largest downtown mall, with an indoor atrium park of real trees.</a:t>
            </a:r>
            <a:endParaRPr lang="en-US" sz="800" dirty="0"/>
          </a:p>
        </p:txBody>
      </p:sp>
      <p:sp>
        <p:nvSpPr>
          <p:cNvPr id="45" name="text-868"/>
          <p:cNvSpPr txBox="1"/>
          <p:nvPr/>
        </p:nvSpPr>
        <p:spPr>
          <a:xfrm>
            <a:off x="548640" y="77266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14</a:t>
            </a:r>
            <a:endParaRPr lang="en-US" sz="1100" dirty="0"/>
          </a:p>
        </p:txBody>
      </p:sp>
      <p:sp>
        <p:nvSpPr>
          <p:cNvPr id="46" name="text-869"/>
          <p:cNvSpPr txBox="1"/>
          <p:nvPr/>
        </p:nvSpPr>
        <p:spPr>
          <a:xfrm>
            <a:off x="896112" y="7726680"/>
            <a:ext cx="2747772" cy="182880"/>
          </a:xfrm>
          <a:prstGeom prst="rect">
            <a:avLst/>
          </a:prstGeom>
          <a:noFill/>
          <a:ln/>
        </p:spPr>
        <p:txBody>
          <a:bodyPr wrap="square" lIns="0" tIns="0" rIns="0" bIns="0" rtlCol="0" anchor="t"/>
          <a:lstStyle/>
          <a:p>
            <a:pPr indent="0" marL="0">
              <a:buNone/>
            </a:pPr>
            <a:r>
              <a:rPr lang="en-US" sz="900" b="1" dirty="0">
                <a:solidFill>
                  <a:schemeClr val="tx1"/>
                </a:solidFill>
              </a:rPr>
              <a:t>Snow Lantern Primary School</a:t>
            </a:r>
            <a:endParaRPr lang="en-US" sz="900" dirty="0"/>
          </a:p>
        </p:txBody>
      </p:sp>
      <p:sp>
        <p:nvSpPr>
          <p:cNvPr id="47" name="text-870"/>
          <p:cNvSpPr txBox="1"/>
          <p:nvPr/>
        </p:nvSpPr>
        <p:spPr>
          <a:xfrm>
            <a:off x="896112" y="79004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Primary school for about 450 children aged 6–11 from the southern districts.</a:t>
            </a:r>
            <a:endParaRPr lang="en-US" sz="800" dirty="0"/>
          </a:p>
        </p:txBody>
      </p:sp>
      <p:sp>
        <p:nvSpPr>
          <p:cNvPr id="48" name="text-871"/>
          <p:cNvSpPr txBox="1"/>
          <p:nvPr/>
        </p:nvSpPr>
        <p:spPr>
          <a:xfrm>
            <a:off x="548640" y="81838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15</a:t>
            </a:r>
            <a:endParaRPr lang="en-US" sz="1100" dirty="0"/>
          </a:p>
        </p:txBody>
      </p:sp>
      <p:sp>
        <p:nvSpPr>
          <p:cNvPr id="49" name="text-872"/>
          <p:cNvSpPr txBox="1"/>
          <p:nvPr/>
        </p:nvSpPr>
        <p:spPr>
          <a:xfrm>
            <a:off x="896112" y="8183880"/>
            <a:ext cx="2747772" cy="182880"/>
          </a:xfrm>
          <a:prstGeom prst="rect">
            <a:avLst/>
          </a:prstGeom>
          <a:noFill/>
          <a:ln/>
        </p:spPr>
        <p:txBody>
          <a:bodyPr wrap="square" lIns="0" tIns="0" rIns="0" bIns="0" rtlCol="0" anchor="t"/>
          <a:lstStyle/>
          <a:p>
            <a:pPr indent="0" marL="0">
              <a:buNone/>
            </a:pPr>
            <a:r>
              <a:rPr lang="en-US" sz="900" b="1" dirty="0">
                <a:solidFill>
                  <a:schemeClr val="tx1"/>
                </a:solidFill>
              </a:rPr>
              <a:t>Pinecone Kindergarten</a:t>
            </a:r>
            <a:endParaRPr lang="en-US" sz="900" dirty="0"/>
          </a:p>
        </p:txBody>
      </p:sp>
      <p:sp>
        <p:nvSpPr>
          <p:cNvPr id="50" name="text-873"/>
          <p:cNvSpPr txBox="1"/>
          <p:nvPr/>
        </p:nvSpPr>
        <p:spPr>
          <a:xfrm>
            <a:off x="896112" y="83576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Kindergarten and day nursery for about 40 children aged 1–6.</a:t>
            </a:r>
            <a:endParaRPr lang="en-US" sz="800" dirty="0"/>
          </a:p>
        </p:txBody>
      </p:sp>
      <p:sp>
        <p:nvSpPr>
          <p:cNvPr id="51" name="text-874"/>
          <p:cNvSpPr txBox="1"/>
          <p:nvPr/>
        </p:nvSpPr>
        <p:spPr>
          <a:xfrm>
            <a:off x="548640" y="86410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16</a:t>
            </a:r>
            <a:endParaRPr lang="en-US" sz="1100" dirty="0"/>
          </a:p>
        </p:txBody>
      </p:sp>
      <p:sp>
        <p:nvSpPr>
          <p:cNvPr id="52" name="text-875"/>
          <p:cNvSpPr txBox="1"/>
          <p:nvPr/>
        </p:nvSpPr>
        <p:spPr>
          <a:xfrm>
            <a:off x="896112" y="8641080"/>
            <a:ext cx="2747772" cy="182880"/>
          </a:xfrm>
          <a:prstGeom prst="rect">
            <a:avLst/>
          </a:prstGeom>
          <a:noFill/>
          <a:ln/>
        </p:spPr>
        <p:txBody>
          <a:bodyPr wrap="square" lIns="0" tIns="0" rIns="0" bIns="0" rtlCol="0" anchor="t"/>
          <a:lstStyle/>
          <a:p>
            <a:pPr indent="0" marL="0">
              <a:buNone/>
            </a:pPr>
            <a:r>
              <a:rPr lang="en-US" sz="900" b="1" dirty="0">
                <a:solidFill>
                  <a:schemeClr val="tx1"/>
                </a:solidFill>
              </a:rPr>
              <a:t>Aurora 81 – Polar Landmark Tower</a:t>
            </a:r>
            <a:endParaRPr lang="en-US" sz="900" dirty="0"/>
          </a:p>
        </p:txBody>
      </p:sp>
      <p:sp>
        <p:nvSpPr>
          <p:cNvPr id="53" name="text-876"/>
          <p:cNvSpPr txBox="1"/>
          <p:nvPr/>
        </p:nvSpPr>
        <p:spPr>
          <a:xfrm>
            <a:off x="896112" y="88148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Tallest tower and skyline symbol: offices, hotel and sky apartments, net-zero energy.</a:t>
            </a:r>
            <a:endParaRPr lang="en-US" sz="800" dirty="0"/>
          </a:p>
        </p:txBody>
      </p:sp>
      <p:sp>
        <p:nvSpPr>
          <p:cNvPr id="54" name="text-877"/>
          <p:cNvSpPr txBox="1"/>
          <p:nvPr/>
        </p:nvSpPr>
        <p:spPr>
          <a:xfrm>
            <a:off x="548640" y="90982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17</a:t>
            </a:r>
            <a:endParaRPr lang="en-US" sz="1100" dirty="0"/>
          </a:p>
        </p:txBody>
      </p:sp>
      <p:sp>
        <p:nvSpPr>
          <p:cNvPr id="55" name="text-878"/>
          <p:cNvSpPr txBox="1"/>
          <p:nvPr/>
        </p:nvSpPr>
        <p:spPr>
          <a:xfrm>
            <a:off x="896112" y="9098280"/>
            <a:ext cx="2747772" cy="182880"/>
          </a:xfrm>
          <a:prstGeom prst="rect">
            <a:avLst/>
          </a:prstGeom>
          <a:noFill/>
          <a:ln/>
        </p:spPr>
        <p:txBody>
          <a:bodyPr wrap="square" lIns="0" tIns="0" rIns="0" bIns="0" rtlCol="0" anchor="t"/>
          <a:lstStyle/>
          <a:p>
            <a:pPr indent="0" marL="0">
              <a:buNone/>
            </a:pPr>
            <a:r>
              <a:rPr lang="en-US" sz="900" b="1" dirty="0">
                <a:solidFill>
                  <a:schemeClr val="tx1"/>
                </a:solidFill>
              </a:rPr>
              <a:t>Aurora Snow Garden Park</a:t>
            </a:r>
            <a:endParaRPr lang="en-US" sz="900" dirty="0"/>
          </a:p>
        </p:txBody>
      </p:sp>
      <p:sp>
        <p:nvSpPr>
          <p:cNvPr id="56" name="text-879"/>
          <p:cNvSpPr txBox="1"/>
          <p:nvPr/>
        </p:nvSpPr>
        <p:spPr>
          <a:xfrm>
            <a:off x="896112" y="92720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Public park with heated benches, a sledging slope and a snow-sculpture trail.</a:t>
            </a:r>
            <a:endParaRPr lang="en-US" sz="800" dirty="0"/>
          </a:p>
        </p:txBody>
      </p:sp>
      <p:sp>
        <p:nvSpPr>
          <p:cNvPr id="57" name="text-880"/>
          <p:cNvSpPr txBox="1"/>
          <p:nvPr/>
        </p:nvSpPr>
        <p:spPr>
          <a:xfrm>
            <a:off x="548640" y="95554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18</a:t>
            </a:r>
            <a:endParaRPr lang="en-US" sz="1100" dirty="0"/>
          </a:p>
        </p:txBody>
      </p:sp>
      <p:sp>
        <p:nvSpPr>
          <p:cNvPr id="58" name="text-881"/>
          <p:cNvSpPr txBox="1"/>
          <p:nvPr/>
        </p:nvSpPr>
        <p:spPr>
          <a:xfrm>
            <a:off x="896112" y="9555480"/>
            <a:ext cx="2747772" cy="182880"/>
          </a:xfrm>
          <a:prstGeom prst="rect">
            <a:avLst/>
          </a:prstGeom>
          <a:noFill/>
          <a:ln/>
        </p:spPr>
        <p:txBody>
          <a:bodyPr wrap="square" lIns="0" tIns="0" rIns="0" bIns="0" rtlCol="0" anchor="t"/>
          <a:lstStyle/>
          <a:p>
            <a:pPr indent="0" marL="0">
              <a:buNone/>
            </a:pPr>
            <a:r>
              <a:rPr lang="en-US" sz="900" b="1" dirty="0">
                <a:solidFill>
                  <a:schemeClr val="tx1"/>
                </a:solidFill>
              </a:rPr>
              <a:t>Mount Aurora – Snow Peak &amp; Hanging Glacier</a:t>
            </a:r>
            <a:endParaRPr lang="en-US" sz="900" dirty="0"/>
          </a:p>
        </p:txBody>
      </p:sp>
      <p:sp>
        <p:nvSpPr>
          <p:cNvPr id="59" name="text-882"/>
          <p:cNvSpPr txBox="1"/>
          <p:nvPr/>
        </p:nvSpPr>
        <p:spPr>
          <a:xfrm>
            <a:off x="896112" y="97292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35 m landmark peak with the four-level spa inside.</a:t>
            </a:r>
            <a:endParaRPr lang="en-US" sz="800" dirty="0"/>
          </a:p>
        </p:txBody>
      </p:sp>
      <p:sp>
        <p:nvSpPr>
          <p:cNvPr id="60" name="text-883"/>
          <p:cNvSpPr txBox="1"/>
          <p:nvPr/>
        </p:nvSpPr>
        <p:spPr>
          <a:xfrm>
            <a:off x="3918204" y="17830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19</a:t>
            </a:r>
            <a:endParaRPr lang="en-US" sz="1100" dirty="0"/>
          </a:p>
        </p:txBody>
      </p:sp>
      <p:sp>
        <p:nvSpPr>
          <p:cNvPr id="61" name="text-884"/>
          <p:cNvSpPr txBox="1"/>
          <p:nvPr/>
        </p:nvSpPr>
        <p:spPr>
          <a:xfrm>
            <a:off x="4265676" y="1783080"/>
            <a:ext cx="2747772" cy="182880"/>
          </a:xfrm>
          <a:prstGeom prst="rect">
            <a:avLst/>
          </a:prstGeom>
          <a:noFill/>
          <a:ln/>
        </p:spPr>
        <p:txBody>
          <a:bodyPr wrap="square" lIns="0" tIns="0" rIns="0" bIns="0" rtlCol="0" anchor="t"/>
          <a:lstStyle/>
          <a:p>
            <a:pPr indent="0" marL="0">
              <a:buNone/>
            </a:pPr>
            <a:r>
              <a:rPr lang="en-US" sz="900" b="1" dirty="0">
                <a:solidFill>
                  <a:schemeClr val="tx1"/>
                </a:solidFill>
              </a:rPr>
              <a:t>Summit Sanctuary &amp; Aurora Eye</a:t>
            </a:r>
            <a:endParaRPr lang="en-US" sz="900" dirty="0"/>
          </a:p>
        </p:txBody>
      </p:sp>
      <p:sp>
        <p:nvSpPr>
          <p:cNvPr id="62" name="text-885"/>
          <p:cNvSpPr txBox="1"/>
          <p:nvPr/>
        </p:nvSpPr>
        <p:spPr>
          <a:xfrm>
            <a:off x="4265676" y="19568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Float pool, meditation circle and the Aurora Eye viewing bubble for the northern lights.</a:t>
            </a:r>
            <a:endParaRPr lang="en-US" sz="800" dirty="0"/>
          </a:p>
        </p:txBody>
      </p:sp>
      <p:sp>
        <p:nvSpPr>
          <p:cNvPr id="63" name="text-886"/>
          <p:cNvSpPr txBox="1"/>
          <p:nvPr/>
        </p:nvSpPr>
        <p:spPr>
          <a:xfrm>
            <a:off x="3918204" y="22402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20</a:t>
            </a:r>
            <a:endParaRPr lang="en-US" sz="1100" dirty="0"/>
          </a:p>
        </p:txBody>
      </p:sp>
      <p:sp>
        <p:nvSpPr>
          <p:cNvPr id="64" name="text-887"/>
          <p:cNvSpPr txBox="1"/>
          <p:nvPr/>
        </p:nvSpPr>
        <p:spPr>
          <a:xfrm>
            <a:off x="4265676" y="2240280"/>
            <a:ext cx="2747772" cy="182880"/>
          </a:xfrm>
          <a:prstGeom prst="rect">
            <a:avLst/>
          </a:prstGeom>
          <a:noFill/>
          <a:ln/>
        </p:spPr>
        <p:txBody>
          <a:bodyPr wrap="square" lIns="0" tIns="0" rIns="0" bIns="0" rtlCol="0" anchor="t"/>
          <a:lstStyle/>
          <a:p>
            <a:pPr indent="0" marL="0">
              <a:buNone/>
            </a:pPr>
            <a:r>
              <a:rPr lang="en-US" sz="900" b="1" dirty="0">
                <a:solidFill>
                  <a:schemeClr val="tx1"/>
                </a:solidFill>
              </a:rPr>
              <a:t>Aurora Lagoon – Outdoor Geothermal Mineral Pool</a:t>
            </a:r>
            <a:endParaRPr lang="en-US" sz="900" dirty="0"/>
          </a:p>
        </p:txBody>
      </p:sp>
      <p:sp>
        <p:nvSpPr>
          <p:cNvPr id="65" name="text-888"/>
          <p:cNvSpPr txBox="1"/>
          <p:nvPr/>
        </p:nvSpPr>
        <p:spPr>
          <a:xfrm>
            <a:off x="4265676" y="24140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38 °C open-air silica pool for bathing under the northern lights.</a:t>
            </a:r>
            <a:endParaRPr lang="en-US" sz="800" dirty="0"/>
          </a:p>
        </p:txBody>
      </p:sp>
      <p:sp>
        <p:nvSpPr>
          <p:cNvPr id="66" name="text-889"/>
          <p:cNvSpPr txBox="1"/>
          <p:nvPr/>
        </p:nvSpPr>
        <p:spPr>
          <a:xfrm>
            <a:off x="3918204" y="26974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21</a:t>
            </a:r>
            <a:endParaRPr lang="en-US" sz="1100" dirty="0"/>
          </a:p>
        </p:txBody>
      </p:sp>
      <p:sp>
        <p:nvSpPr>
          <p:cNvPr id="67" name="text-890"/>
          <p:cNvSpPr txBox="1"/>
          <p:nvPr/>
        </p:nvSpPr>
        <p:spPr>
          <a:xfrm>
            <a:off x="4265676" y="2697480"/>
            <a:ext cx="2747772" cy="182880"/>
          </a:xfrm>
          <a:prstGeom prst="rect">
            <a:avLst/>
          </a:prstGeom>
          <a:noFill/>
          <a:ln/>
        </p:spPr>
        <p:txBody>
          <a:bodyPr wrap="square" lIns="0" tIns="0" rIns="0" bIns="0" rtlCol="0" anchor="t"/>
          <a:lstStyle/>
          <a:p>
            <a:pPr indent="0" marL="0">
              <a:buNone/>
            </a:pPr>
            <a:r>
              <a:rPr lang="en-US" sz="900" b="1" dirty="0">
                <a:solidFill>
                  <a:schemeClr val="tx1"/>
                </a:solidFill>
              </a:rPr>
              <a:t>Fusion Core – Compact D-T Tokamak</a:t>
            </a:r>
            <a:endParaRPr lang="en-US" sz="900" dirty="0"/>
          </a:p>
        </p:txBody>
      </p:sp>
      <p:sp>
        <p:nvSpPr>
          <p:cNvPr id="68" name="text-891"/>
          <p:cNvSpPr txBox="1"/>
          <p:nvPr/>
        </p:nvSpPr>
        <p:spPr>
          <a:xfrm>
            <a:off x="4265676" y="28712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150-million-degree plasma giving about 800 MW of heat; it cannot melt down.</a:t>
            </a:r>
            <a:endParaRPr lang="en-US" sz="800" dirty="0"/>
          </a:p>
        </p:txBody>
      </p:sp>
      <p:sp>
        <p:nvSpPr>
          <p:cNvPr id="69" name="text-892"/>
          <p:cNvSpPr txBox="1"/>
          <p:nvPr/>
        </p:nvSpPr>
        <p:spPr>
          <a:xfrm>
            <a:off x="3918204" y="31546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22</a:t>
            </a:r>
            <a:endParaRPr lang="en-US" sz="1100" dirty="0"/>
          </a:p>
        </p:txBody>
      </p:sp>
      <p:sp>
        <p:nvSpPr>
          <p:cNvPr id="70" name="text-893"/>
          <p:cNvSpPr txBox="1"/>
          <p:nvPr/>
        </p:nvSpPr>
        <p:spPr>
          <a:xfrm>
            <a:off x="4265676" y="3154680"/>
            <a:ext cx="2747772" cy="182880"/>
          </a:xfrm>
          <a:prstGeom prst="rect">
            <a:avLst/>
          </a:prstGeom>
          <a:noFill/>
          <a:ln/>
        </p:spPr>
        <p:txBody>
          <a:bodyPr wrap="square" lIns="0" tIns="0" rIns="0" bIns="0" rtlCol="0" anchor="t"/>
          <a:lstStyle/>
          <a:p>
            <a:pPr indent="0" marL="0">
              <a:buNone/>
            </a:pPr>
            <a:r>
              <a:rPr lang="en-US" sz="900" b="1" dirty="0">
                <a:solidFill>
                  <a:schemeClr val="tx1"/>
                </a:solidFill>
              </a:rPr>
              <a:t>Power Conversion &amp; Heat Export Hall</a:t>
            </a:r>
            <a:endParaRPr lang="en-US" sz="900" dirty="0"/>
          </a:p>
        </p:txBody>
      </p:sp>
      <p:sp>
        <p:nvSpPr>
          <p:cNvPr id="71" name="text-894"/>
          <p:cNvSpPr txBox="1"/>
          <p:nvPr/>
        </p:nvSpPr>
        <p:spPr>
          <a:xfrm>
            <a:off x="4265676" y="33284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Makes about 300 MW of electricity and sends about 450 MW of heat to the city.</a:t>
            </a:r>
            <a:endParaRPr lang="en-US" sz="800" dirty="0"/>
          </a:p>
        </p:txBody>
      </p:sp>
      <p:sp>
        <p:nvSpPr>
          <p:cNvPr id="72" name="text-895"/>
          <p:cNvSpPr txBox="1"/>
          <p:nvPr/>
        </p:nvSpPr>
        <p:spPr>
          <a:xfrm>
            <a:off x="3918204" y="36118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23</a:t>
            </a:r>
            <a:endParaRPr lang="en-US" sz="1100" dirty="0"/>
          </a:p>
        </p:txBody>
      </p:sp>
      <p:sp>
        <p:nvSpPr>
          <p:cNvPr id="73" name="text-896"/>
          <p:cNvSpPr txBox="1"/>
          <p:nvPr/>
        </p:nvSpPr>
        <p:spPr>
          <a:xfrm>
            <a:off x="4265676" y="3611880"/>
            <a:ext cx="2747772" cy="182880"/>
          </a:xfrm>
          <a:prstGeom prst="rect">
            <a:avLst/>
          </a:prstGeom>
          <a:noFill/>
          <a:ln/>
        </p:spPr>
        <p:txBody>
          <a:bodyPr wrap="square" lIns="0" tIns="0" rIns="0" bIns="0" rtlCol="0" anchor="t"/>
          <a:lstStyle/>
          <a:p>
            <a:pPr indent="0" marL="0">
              <a:buNone/>
            </a:pPr>
            <a:r>
              <a:rPr lang="en-US" sz="900" b="1" dirty="0">
                <a:solidFill>
                  <a:schemeClr val="tx1"/>
                </a:solidFill>
              </a:rPr>
              <a:t>Plasma Waste Converter</a:t>
            </a:r>
            <a:endParaRPr lang="en-US" sz="900" dirty="0"/>
          </a:p>
        </p:txBody>
      </p:sp>
      <p:sp>
        <p:nvSpPr>
          <p:cNvPr id="74" name="text-897"/>
          <p:cNvSpPr txBox="1"/>
          <p:nvPr/>
        </p:nvSpPr>
        <p:spPr>
          <a:xfrm>
            <a:off x="4265676" y="37856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Turns about 20 tonnes of rubbish a day into clean gas, recovered metals and building blocks.</a:t>
            </a:r>
            <a:endParaRPr lang="en-US" sz="800" dirty="0"/>
          </a:p>
        </p:txBody>
      </p:sp>
      <p:sp>
        <p:nvSpPr>
          <p:cNvPr id="75" name="text-898"/>
          <p:cNvSpPr txBox="1"/>
          <p:nvPr/>
        </p:nvSpPr>
        <p:spPr>
          <a:xfrm>
            <a:off x="3918204" y="40690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24</a:t>
            </a:r>
            <a:endParaRPr lang="en-US" sz="1100" dirty="0"/>
          </a:p>
        </p:txBody>
      </p:sp>
      <p:sp>
        <p:nvSpPr>
          <p:cNvPr id="76" name="text-899"/>
          <p:cNvSpPr txBox="1"/>
          <p:nvPr/>
        </p:nvSpPr>
        <p:spPr>
          <a:xfrm>
            <a:off x="4265676" y="4069080"/>
            <a:ext cx="2747772" cy="182880"/>
          </a:xfrm>
          <a:prstGeom prst="rect">
            <a:avLst/>
          </a:prstGeom>
          <a:noFill/>
          <a:ln/>
        </p:spPr>
        <p:txBody>
          <a:bodyPr wrap="square" lIns="0" tIns="0" rIns="0" bIns="0" rtlCol="0" anchor="t"/>
          <a:lstStyle/>
          <a:p>
            <a:pPr indent="0" marL="0">
              <a:buNone/>
            </a:pPr>
            <a:r>
              <a:rPr lang="en-US" sz="900" b="1" dirty="0">
                <a:solidFill>
                  <a:schemeClr val="tx1"/>
                </a:solidFill>
              </a:rPr>
              <a:t>Snow Harvest &amp; Melt Hall</a:t>
            </a:r>
            <a:endParaRPr lang="en-US" sz="900" dirty="0"/>
          </a:p>
        </p:txBody>
      </p:sp>
      <p:sp>
        <p:nvSpPr>
          <p:cNvPr id="77" name="text-900"/>
          <p:cNvSpPr txBox="1"/>
          <p:nvPr/>
        </p:nvSpPr>
        <p:spPr>
          <a:xfrm>
            <a:off x="4265676" y="42428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Melts about 3,000 tonnes of clean snow a day with spare fusion heat.</a:t>
            </a:r>
            <a:endParaRPr lang="en-US" sz="800" dirty="0"/>
          </a:p>
        </p:txBody>
      </p:sp>
      <p:sp>
        <p:nvSpPr>
          <p:cNvPr id="78" name="text-901"/>
          <p:cNvSpPr txBox="1"/>
          <p:nvPr/>
        </p:nvSpPr>
        <p:spPr>
          <a:xfrm>
            <a:off x="3918204" y="45262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25</a:t>
            </a:r>
            <a:endParaRPr lang="en-US" sz="1100" dirty="0"/>
          </a:p>
        </p:txBody>
      </p:sp>
      <p:sp>
        <p:nvSpPr>
          <p:cNvPr id="79" name="text-902"/>
          <p:cNvSpPr txBox="1"/>
          <p:nvPr/>
        </p:nvSpPr>
        <p:spPr>
          <a:xfrm>
            <a:off x="4265676" y="4526280"/>
            <a:ext cx="2747772" cy="182880"/>
          </a:xfrm>
          <a:prstGeom prst="rect">
            <a:avLst/>
          </a:prstGeom>
          <a:noFill/>
          <a:ln/>
        </p:spPr>
        <p:txBody>
          <a:bodyPr wrap="square" lIns="0" tIns="0" rIns="0" bIns="0" rtlCol="0" anchor="t"/>
          <a:lstStyle/>
          <a:p>
            <a:pPr indent="0" marL="0">
              <a:buNone/>
            </a:pPr>
            <a:r>
              <a:rPr lang="en-US" sz="900" b="1" dirty="0">
                <a:solidFill>
                  <a:schemeClr val="tx1"/>
                </a:solidFill>
              </a:rPr>
              <a:t>Drinking-Water &amp; Mineral Works</a:t>
            </a:r>
            <a:endParaRPr lang="en-US" sz="900" dirty="0"/>
          </a:p>
        </p:txBody>
      </p:sp>
      <p:sp>
        <p:nvSpPr>
          <p:cNvPr id="80" name="text-903"/>
          <p:cNvSpPr txBox="1"/>
          <p:nvPr/>
        </p:nvSpPr>
        <p:spPr>
          <a:xfrm>
            <a:off x="4265676" y="47000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Makes about 2,500 m³ of drinking water a day, all of the city’s tap water.</a:t>
            </a:r>
            <a:endParaRPr lang="en-US" sz="800" dirty="0"/>
          </a:p>
        </p:txBody>
      </p:sp>
      <p:sp>
        <p:nvSpPr>
          <p:cNvPr id="81" name="text-904"/>
          <p:cNvSpPr txBox="1"/>
          <p:nvPr/>
        </p:nvSpPr>
        <p:spPr>
          <a:xfrm>
            <a:off x="3918204" y="49834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26</a:t>
            </a:r>
            <a:endParaRPr lang="en-US" sz="1100" dirty="0"/>
          </a:p>
        </p:txBody>
      </p:sp>
      <p:sp>
        <p:nvSpPr>
          <p:cNvPr id="82" name="text-905"/>
          <p:cNvSpPr txBox="1"/>
          <p:nvPr/>
        </p:nvSpPr>
        <p:spPr>
          <a:xfrm>
            <a:off x="4265676" y="4983480"/>
            <a:ext cx="2747772" cy="182880"/>
          </a:xfrm>
          <a:prstGeom prst="rect">
            <a:avLst/>
          </a:prstGeom>
          <a:noFill/>
          <a:ln/>
        </p:spPr>
        <p:txBody>
          <a:bodyPr wrap="square" lIns="0" tIns="0" rIns="0" bIns="0" rtlCol="0" anchor="t"/>
          <a:lstStyle/>
          <a:p>
            <a:pPr indent="0" marL="0">
              <a:buNone/>
            </a:pPr>
            <a:r>
              <a:rPr lang="en-US" sz="900" b="1" dirty="0">
                <a:solidFill>
                  <a:schemeClr val="tx1"/>
                </a:solidFill>
              </a:rPr>
              <a:t>Bioreactor Silos</a:t>
            </a:r>
            <a:endParaRPr lang="en-US" sz="900" dirty="0"/>
          </a:p>
        </p:txBody>
      </p:sp>
      <p:sp>
        <p:nvSpPr>
          <p:cNvPr id="83" name="text-906"/>
          <p:cNvSpPr txBox="1"/>
          <p:nvPr/>
        </p:nvSpPr>
        <p:spPr>
          <a:xfrm>
            <a:off x="4265676" y="51572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Six silos where microbes make about 2.5 tonnes of protein flour a day.</a:t>
            </a:r>
            <a:endParaRPr lang="en-US" sz="800" dirty="0"/>
          </a:p>
        </p:txBody>
      </p:sp>
      <p:sp>
        <p:nvSpPr>
          <p:cNvPr id="84" name="text-907"/>
          <p:cNvSpPr txBox="1"/>
          <p:nvPr/>
        </p:nvSpPr>
        <p:spPr>
          <a:xfrm>
            <a:off x="3918204" y="54406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27</a:t>
            </a:r>
            <a:endParaRPr lang="en-US" sz="1100" dirty="0"/>
          </a:p>
        </p:txBody>
      </p:sp>
      <p:sp>
        <p:nvSpPr>
          <p:cNvPr id="85" name="text-908"/>
          <p:cNvSpPr txBox="1"/>
          <p:nvPr/>
        </p:nvSpPr>
        <p:spPr>
          <a:xfrm>
            <a:off x="4265676" y="5440680"/>
            <a:ext cx="2747772" cy="182880"/>
          </a:xfrm>
          <a:prstGeom prst="rect">
            <a:avLst/>
          </a:prstGeom>
          <a:noFill/>
          <a:ln/>
        </p:spPr>
        <p:txBody>
          <a:bodyPr wrap="square" lIns="0" tIns="0" rIns="0" bIns="0" rtlCol="0" anchor="t"/>
          <a:lstStyle/>
          <a:p>
            <a:pPr indent="0" marL="0">
              <a:buNone/>
            </a:pPr>
            <a:r>
              <a:rPr lang="en-US" sz="900" b="1" dirty="0">
                <a:solidFill>
                  <a:schemeClr val="tx1"/>
                </a:solidFill>
              </a:rPr>
              <a:t>Ice-Proof Wind Farm</a:t>
            </a:r>
            <a:endParaRPr lang="en-US" sz="900" dirty="0"/>
          </a:p>
        </p:txBody>
      </p:sp>
      <p:sp>
        <p:nvSpPr>
          <p:cNvPr id="86" name="text-909"/>
          <p:cNvSpPr txBox="1"/>
          <p:nvPr/>
        </p:nvSpPr>
        <p:spPr>
          <a:xfrm>
            <a:off x="4265676" y="56144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Two rows of ice-proof turbines making about 60 MW.</a:t>
            </a:r>
            <a:endParaRPr lang="en-US" sz="800" dirty="0"/>
          </a:p>
        </p:txBody>
      </p:sp>
      <p:sp>
        <p:nvSpPr>
          <p:cNvPr id="87" name="text-910"/>
          <p:cNvSpPr txBox="1"/>
          <p:nvPr/>
        </p:nvSpPr>
        <p:spPr>
          <a:xfrm>
            <a:off x="3918204" y="58978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28</a:t>
            </a:r>
            <a:endParaRPr lang="en-US" sz="1100" dirty="0"/>
          </a:p>
        </p:txBody>
      </p:sp>
      <p:sp>
        <p:nvSpPr>
          <p:cNvPr id="88" name="text-911"/>
          <p:cNvSpPr txBox="1"/>
          <p:nvPr/>
        </p:nvSpPr>
        <p:spPr>
          <a:xfrm>
            <a:off x="4265676" y="5897880"/>
            <a:ext cx="2747772" cy="182880"/>
          </a:xfrm>
          <a:prstGeom prst="rect">
            <a:avLst/>
          </a:prstGeom>
          <a:noFill/>
          <a:ln/>
        </p:spPr>
        <p:txBody>
          <a:bodyPr wrap="square" lIns="0" tIns="0" rIns="0" bIns="0" rtlCol="0" anchor="t"/>
          <a:lstStyle/>
          <a:p>
            <a:pPr indent="0" marL="0">
              <a:buNone/>
            </a:pPr>
            <a:r>
              <a:rPr lang="en-US" sz="900" b="1" dirty="0">
                <a:solidFill>
                  <a:schemeClr val="tx1"/>
                </a:solidFill>
              </a:rPr>
              <a:t>Bifacial Solar Farm</a:t>
            </a:r>
            <a:endParaRPr lang="en-US" sz="900" dirty="0"/>
          </a:p>
        </p:txBody>
      </p:sp>
      <p:sp>
        <p:nvSpPr>
          <p:cNvPr id="89" name="text-912"/>
          <p:cNvSpPr txBox="1"/>
          <p:nvPr/>
        </p:nvSpPr>
        <p:spPr>
          <a:xfrm>
            <a:off x="4265676" y="60716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Double-sided panels that make power 24 hours a day in the midnight-sun months.</a:t>
            </a:r>
            <a:endParaRPr lang="en-US" sz="800" dirty="0"/>
          </a:p>
        </p:txBody>
      </p:sp>
      <p:sp>
        <p:nvSpPr>
          <p:cNvPr id="90" name="text-913"/>
          <p:cNvSpPr txBox="1"/>
          <p:nvPr/>
        </p:nvSpPr>
        <p:spPr>
          <a:xfrm>
            <a:off x="3918204" y="63550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29</a:t>
            </a:r>
            <a:endParaRPr lang="en-US" sz="1100" dirty="0"/>
          </a:p>
        </p:txBody>
      </p:sp>
      <p:sp>
        <p:nvSpPr>
          <p:cNvPr id="91" name="text-914"/>
          <p:cNvSpPr txBox="1"/>
          <p:nvPr/>
        </p:nvSpPr>
        <p:spPr>
          <a:xfrm>
            <a:off x="4265676" y="6355080"/>
            <a:ext cx="2747772" cy="182880"/>
          </a:xfrm>
          <a:prstGeom prst="rect">
            <a:avLst/>
          </a:prstGeom>
          <a:noFill/>
          <a:ln/>
        </p:spPr>
        <p:txBody>
          <a:bodyPr wrap="square" lIns="0" tIns="0" rIns="0" bIns="0" rtlCol="0" anchor="t"/>
          <a:lstStyle/>
          <a:p>
            <a:pPr indent="0" marL="0">
              <a:buNone/>
            </a:pPr>
            <a:r>
              <a:rPr lang="en-US" sz="900" b="1" dirty="0">
                <a:solidFill>
                  <a:schemeClr val="tx1"/>
                </a:solidFill>
              </a:rPr>
              <a:t>Water Recycling Line – Recycled Water Tower</a:t>
            </a:r>
            <a:endParaRPr lang="en-US" sz="900" dirty="0"/>
          </a:p>
        </p:txBody>
      </p:sp>
      <p:sp>
        <p:nvSpPr>
          <p:cNvPr id="92" name="text-915"/>
          <p:cNvSpPr txBox="1"/>
          <p:nvPr/>
        </p:nvSpPr>
        <p:spPr>
          <a:xfrm>
            <a:off x="4265676" y="65288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Stores recycled water for toilets, laundries, street cleaning, irrigation and hydrants.</a:t>
            </a:r>
            <a:endParaRPr lang="en-US" sz="800" dirty="0"/>
          </a:p>
        </p:txBody>
      </p:sp>
      <p:sp>
        <p:nvSpPr>
          <p:cNvPr id="93" name="text-916"/>
          <p:cNvSpPr txBox="1"/>
          <p:nvPr/>
        </p:nvSpPr>
        <p:spPr>
          <a:xfrm>
            <a:off x="3918204" y="68122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30</a:t>
            </a:r>
            <a:endParaRPr lang="en-US" sz="1100" dirty="0"/>
          </a:p>
        </p:txBody>
      </p:sp>
      <p:sp>
        <p:nvSpPr>
          <p:cNvPr id="94" name="text-917"/>
          <p:cNvSpPr txBox="1"/>
          <p:nvPr/>
        </p:nvSpPr>
        <p:spPr>
          <a:xfrm>
            <a:off x="4265676" y="6812280"/>
            <a:ext cx="2747772" cy="182880"/>
          </a:xfrm>
          <a:prstGeom prst="rect">
            <a:avLst/>
          </a:prstGeom>
          <a:noFill/>
          <a:ln/>
        </p:spPr>
        <p:txBody>
          <a:bodyPr wrap="square" lIns="0" tIns="0" rIns="0" bIns="0" rtlCol="0" anchor="t"/>
          <a:lstStyle/>
          <a:p>
            <a:pPr indent="0" marL="0">
              <a:buNone/>
            </a:pPr>
            <a:r>
              <a:rPr lang="en-US" sz="900" b="1" dirty="0">
                <a:solidFill>
                  <a:schemeClr val="tx1"/>
                </a:solidFill>
              </a:rPr>
              <a:t>Geothermal Power Plant</a:t>
            </a:r>
            <a:endParaRPr lang="en-US" sz="900" dirty="0"/>
          </a:p>
        </p:txBody>
      </p:sp>
      <p:sp>
        <p:nvSpPr>
          <p:cNvPr id="95" name="text-918"/>
          <p:cNvSpPr txBox="1"/>
          <p:nvPr/>
        </p:nvSpPr>
        <p:spPr>
          <a:xfrm>
            <a:off x="4265676" y="69860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Clean electricity and hot water around the clock; the second heat source.</a:t>
            </a:r>
            <a:endParaRPr lang="en-US" sz="800" dirty="0"/>
          </a:p>
        </p:txBody>
      </p:sp>
      <p:sp>
        <p:nvSpPr>
          <p:cNvPr id="96" name="text-919"/>
          <p:cNvSpPr txBox="1"/>
          <p:nvPr/>
        </p:nvSpPr>
        <p:spPr>
          <a:xfrm>
            <a:off x="3918204" y="72694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31</a:t>
            </a:r>
            <a:endParaRPr lang="en-US" sz="1100" dirty="0"/>
          </a:p>
        </p:txBody>
      </p:sp>
      <p:sp>
        <p:nvSpPr>
          <p:cNvPr id="97" name="text-920"/>
          <p:cNvSpPr txBox="1"/>
          <p:nvPr/>
        </p:nvSpPr>
        <p:spPr>
          <a:xfrm>
            <a:off x="4265676" y="7269480"/>
            <a:ext cx="2747772" cy="182880"/>
          </a:xfrm>
          <a:prstGeom prst="rect">
            <a:avLst/>
          </a:prstGeom>
          <a:noFill/>
          <a:ln/>
        </p:spPr>
        <p:txBody>
          <a:bodyPr wrap="square" lIns="0" tIns="0" rIns="0" bIns="0" rtlCol="0" anchor="t"/>
          <a:lstStyle/>
          <a:p>
            <a:pPr indent="0" marL="0">
              <a:buNone/>
            </a:pPr>
            <a:r>
              <a:rPr lang="en-US" sz="900" b="1" dirty="0">
                <a:solidFill>
                  <a:schemeClr val="tx1"/>
                </a:solidFill>
              </a:rPr>
              <a:t>Polar Rescue and Resilience Station</a:t>
            </a:r>
            <a:endParaRPr lang="en-US" sz="900" dirty="0"/>
          </a:p>
        </p:txBody>
      </p:sp>
      <p:sp>
        <p:nvSpPr>
          <p:cNvPr id="98" name="text-921"/>
          <p:cNvSpPr txBox="1"/>
          <p:nvPr/>
        </p:nvSpPr>
        <p:spPr>
          <a:xfrm>
            <a:off x="4265676" y="74432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Fire, ambulance and ice-rescue headquarters, home of the 112 emergency centre.</a:t>
            </a:r>
            <a:endParaRPr lang="en-US" sz="800" dirty="0"/>
          </a:p>
        </p:txBody>
      </p:sp>
      <p:sp>
        <p:nvSpPr>
          <p:cNvPr id="99" name="text-922"/>
          <p:cNvSpPr txBox="1"/>
          <p:nvPr/>
        </p:nvSpPr>
        <p:spPr>
          <a:xfrm>
            <a:off x="3918204" y="77266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32</a:t>
            </a:r>
            <a:endParaRPr lang="en-US" sz="1100" dirty="0"/>
          </a:p>
        </p:txBody>
      </p:sp>
      <p:sp>
        <p:nvSpPr>
          <p:cNvPr id="100" name="text-923"/>
          <p:cNvSpPr txBox="1"/>
          <p:nvPr/>
        </p:nvSpPr>
        <p:spPr>
          <a:xfrm>
            <a:off x="4265676" y="7726680"/>
            <a:ext cx="2747772" cy="182880"/>
          </a:xfrm>
          <a:prstGeom prst="rect">
            <a:avLst/>
          </a:prstGeom>
          <a:noFill/>
          <a:ln/>
        </p:spPr>
        <p:txBody>
          <a:bodyPr wrap="square" lIns="0" tIns="0" rIns="0" bIns="0" rtlCol="0" anchor="t"/>
          <a:lstStyle/>
          <a:p>
            <a:pPr indent="0" marL="0">
              <a:buNone/>
            </a:pPr>
            <a:r>
              <a:rPr lang="en-US" sz="900" b="1" dirty="0">
                <a:solidFill>
                  <a:schemeClr val="tx1"/>
                </a:solidFill>
              </a:rPr>
              <a:t>Glass Terminal, Control Tower &amp; Gate 1 Dreamliner</a:t>
            </a:r>
            <a:endParaRPr lang="en-US" sz="900" dirty="0"/>
          </a:p>
        </p:txBody>
      </p:sp>
      <p:sp>
        <p:nvSpPr>
          <p:cNvPr id="101" name="text-924"/>
          <p:cNvSpPr txBox="1"/>
          <p:nvPr/>
        </p:nvSpPr>
        <p:spPr>
          <a:xfrm>
            <a:off x="4265676" y="79004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Passenger and cargo airport; the city’s supply link in deep winter.</a:t>
            </a:r>
            <a:endParaRPr lang="en-US" sz="800" dirty="0"/>
          </a:p>
        </p:txBody>
      </p:sp>
      <p:sp>
        <p:nvSpPr>
          <p:cNvPr id="102" name="text-925"/>
          <p:cNvSpPr txBox="1"/>
          <p:nvPr/>
        </p:nvSpPr>
        <p:spPr>
          <a:xfrm>
            <a:off x="3918204" y="81838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33</a:t>
            </a:r>
            <a:endParaRPr lang="en-US" sz="1100" dirty="0"/>
          </a:p>
        </p:txBody>
      </p:sp>
      <p:sp>
        <p:nvSpPr>
          <p:cNvPr id="103" name="text-926"/>
          <p:cNvSpPr txBox="1"/>
          <p:nvPr/>
        </p:nvSpPr>
        <p:spPr>
          <a:xfrm>
            <a:off x="4265676" y="8183880"/>
            <a:ext cx="2747772" cy="182880"/>
          </a:xfrm>
          <a:prstGeom prst="rect">
            <a:avLst/>
          </a:prstGeom>
          <a:noFill/>
          <a:ln/>
        </p:spPr>
        <p:txBody>
          <a:bodyPr wrap="square" lIns="0" tIns="0" rIns="0" bIns="0" rtlCol="0" anchor="t"/>
          <a:lstStyle/>
          <a:p>
            <a:pPr indent="0" marL="0">
              <a:buNone/>
            </a:pPr>
            <a:r>
              <a:rPr lang="en-US" sz="900" b="1" dirty="0">
                <a:solidFill>
                  <a:schemeClr val="tx1"/>
                </a:solidFill>
              </a:rPr>
              <a:t>Evergreen Greenhouse Dome</a:t>
            </a:r>
            <a:endParaRPr lang="en-US" sz="900" dirty="0"/>
          </a:p>
        </p:txBody>
      </p:sp>
      <p:sp>
        <p:nvSpPr>
          <p:cNvPr id="104" name="text-927"/>
          <p:cNvSpPr txBox="1"/>
          <p:nvPr/>
        </p:nvSpPr>
        <p:spPr>
          <a:xfrm>
            <a:off x="4265676" y="83576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Grows fresh vegetables and berries all year under LED light.</a:t>
            </a:r>
            <a:endParaRPr lang="en-US" sz="800" dirty="0"/>
          </a:p>
        </p:txBody>
      </p:sp>
      <p:sp>
        <p:nvSpPr>
          <p:cNvPr id="105" name="text-928"/>
          <p:cNvSpPr txBox="1"/>
          <p:nvPr/>
        </p:nvSpPr>
        <p:spPr>
          <a:xfrm>
            <a:off x="3918204" y="86410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34</a:t>
            </a:r>
            <a:endParaRPr lang="en-US" sz="1100" dirty="0"/>
          </a:p>
        </p:txBody>
      </p:sp>
      <p:sp>
        <p:nvSpPr>
          <p:cNvPr id="106" name="text-929"/>
          <p:cNvSpPr txBox="1"/>
          <p:nvPr/>
        </p:nvSpPr>
        <p:spPr>
          <a:xfrm>
            <a:off x="4265676" y="8641080"/>
            <a:ext cx="2747772" cy="182880"/>
          </a:xfrm>
          <a:prstGeom prst="rect">
            <a:avLst/>
          </a:prstGeom>
          <a:noFill/>
          <a:ln/>
        </p:spPr>
        <p:txBody>
          <a:bodyPr wrap="square" lIns="0" tIns="0" rIns="0" bIns="0" rtlCol="0" anchor="t"/>
          <a:lstStyle/>
          <a:p>
            <a:pPr indent="0" marL="0">
              <a:buNone/>
            </a:pPr>
            <a:r>
              <a:rPr lang="en-US" sz="900" b="1" dirty="0">
                <a:solidFill>
                  <a:schemeClr val="tx1"/>
                </a:solidFill>
              </a:rPr>
              <a:t>Circular Recycling Center</a:t>
            </a:r>
            <a:endParaRPr lang="en-US" sz="900" dirty="0"/>
          </a:p>
        </p:txBody>
      </p:sp>
      <p:sp>
        <p:nvSpPr>
          <p:cNvPr id="107" name="text-930"/>
          <p:cNvSpPr txBox="1"/>
          <p:nvPr/>
        </p:nvSpPr>
        <p:spPr>
          <a:xfrm>
            <a:off x="4265676" y="88148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Sorts, repairs and recycles about 30 tonnes of materials a day.</a:t>
            </a:r>
            <a:endParaRPr lang="en-US" sz="800" dirty="0"/>
          </a:p>
        </p:txBody>
      </p:sp>
      <p:sp>
        <p:nvSpPr>
          <p:cNvPr id="108" name="text-931"/>
          <p:cNvSpPr txBox="1"/>
          <p:nvPr/>
        </p:nvSpPr>
        <p:spPr>
          <a:xfrm>
            <a:off x="3918204" y="9098280"/>
            <a:ext cx="329184" cy="228600"/>
          </a:xfrm>
          <a:prstGeom prst="rect">
            <a:avLst/>
          </a:prstGeom>
          <a:noFill/>
          <a:ln/>
        </p:spPr>
        <p:txBody>
          <a:bodyPr wrap="square" lIns="0" tIns="0" rIns="0" bIns="0" rtlCol="0" anchor="t"/>
          <a:lstStyle/>
          <a:p>
            <a:pPr indent="0" marL="0">
              <a:buNone/>
            </a:pPr>
            <a:r>
              <a:rPr lang="en-US" sz="1100" b="1" dirty="0">
                <a:solidFill>
                  <a:schemeClr val="accent6"/>
                </a:solidFill>
                <a:latin typeface="+mj-lt" pitchFamily="34" charset="0"/>
                <a:ea typeface="+mj-lt" pitchFamily="34" charset="-122"/>
                <a:cs typeface="+mj-lt" pitchFamily="34" charset="-120"/>
              </a:rPr>
              <a:t>35</a:t>
            </a:r>
            <a:endParaRPr lang="en-US" sz="1100" dirty="0"/>
          </a:p>
        </p:txBody>
      </p:sp>
      <p:sp>
        <p:nvSpPr>
          <p:cNvPr id="109" name="text-932"/>
          <p:cNvSpPr txBox="1"/>
          <p:nvPr/>
        </p:nvSpPr>
        <p:spPr>
          <a:xfrm>
            <a:off x="4265676" y="9098280"/>
            <a:ext cx="2747772" cy="182880"/>
          </a:xfrm>
          <a:prstGeom prst="rect">
            <a:avLst/>
          </a:prstGeom>
          <a:noFill/>
          <a:ln/>
        </p:spPr>
        <p:txBody>
          <a:bodyPr wrap="square" lIns="0" tIns="0" rIns="0" bIns="0" rtlCol="0" anchor="t"/>
          <a:lstStyle/>
          <a:p>
            <a:pPr indent="0" marL="0">
              <a:buNone/>
            </a:pPr>
            <a:r>
              <a:rPr lang="en-US" sz="900" b="1" dirty="0">
                <a:solidFill>
                  <a:schemeClr val="tx1"/>
                </a:solidFill>
              </a:rPr>
              <a:t>Aurora Snow Stadium</a:t>
            </a:r>
            <a:endParaRPr lang="en-US" sz="900" dirty="0"/>
          </a:p>
        </p:txBody>
      </p:sp>
      <p:sp>
        <p:nvSpPr>
          <p:cNvPr id="110" name="text-933"/>
          <p:cNvSpPr txBox="1"/>
          <p:nvPr/>
        </p:nvSpPr>
        <p:spPr>
          <a:xfrm>
            <a:off x="4265676" y="9272016"/>
            <a:ext cx="2747772" cy="274320"/>
          </a:xfrm>
          <a:prstGeom prst="rect">
            <a:avLst/>
          </a:prstGeom>
          <a:noFill/>
          <a:ln/>
        </p:spPr>
        <p:txBody>
          <a:bodyPr wrap="square" lIns="0" tIns="0" rIns="0" bIns="0" rtlCol="0" anchor="t"/>
          <a:lstStyle/>
          <a:p>
            <a:pPr indent="0" marL="0">
              <a:lnSpc>
                <a:spcPct val="100000"/>
              </a:lnSpc>
              <a:buNone/>
            </a:pPr>
            <a:r>
              <a:rPr lang="en-US" sz="800" dirty="0">
                <a:solidFill>
                  <a:schemeClr val="tx2"/>
                </a:solidFill>
              </a:rPr>
              <a:t>About 8,000 seats for snow sports, school sports days and the Midwinter Aurora Festival.</a:t>
            </a:r>
            <a:endParaRPr lang="en-US" sz="800" dirty="0"/>
          </a:p>
        </p:txBody>
      </p:sp>
      <p:sp>
        <p:nvSpPr>
          <p:cNvPr id="111" name="page-number"/>
          <p:cNvSpPr txBox="1"/>
          <p:nvPr/>
        </p:nvSpPr>
        <p:spPr>
          <a:xfrm>
            <a:off x="548640" y="10177272"/>
            <a:ext cx="411480" cy="219456"/>
          </a:xfrm>
          <a:prstGeom prst="rect">
            <a:avLst/>
          </a:prstGeom>
          <a:noFill/>
          <a:ln/>
        </p:spPr>
        <p:txBody>
          <a:bodyPr wrap="square" lIns="0" tIns="0" rIns="0" bIns="0" rtlCol="0" anchor="ctr"/>
          <a:lstStyle/>
          <a:p>
            <a:pPr algn="l" indent="0" marL="0">
              <a:buNone/>
            </a:pPr>
            <a:r>
              <a:rPr lang="en-US" sz="900" b="1" dirty="0">
                <a:solidFill>
                  <a:schemeClr val="tx1"/>
                </a:solidFill>
              </a:rPr>
              <a:t>34</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picture-934" descr="/home/user/chatbox-bi-n-o/magazine/assets/renders/resident.jpg">    </p:cNvPr>
          <p:cNvPicPr>
            <a:picLocks noChangeAspect="1"/>
          </p:cNvPicPr>
          <p:nvPr/>
        </p:nvPicPr>
        <p:blipFill>
          <a:blip r:embed="rId1"/>
          <a:srcRect l="0" r="0" t="0" b="0"/>
          <a:stretch/>
        </p:blipFill>
        <p:spPr>
          <a:xfrm>
            <a:off x="0" y="0"/>
            <a:ext cx="7562088" cy="5120640"/>
          </a:xfrm>
          <a:prstGeom prst="rect">
            <a:avLst/>
          </a:prstGeom>
        </p:spPr>
      </p:pic>
      <p:pic>
        <p:nvPicPr>
          <p:cNvPr id="3" name="shade-fade-935" descr="/home/user/chatbox-bi-n-o/magazine/assets/ui/fade_bottom.png">    </p:cNvPr>
          <p:cNvPicPr>
            <a:picLocks noChangeAspect="1"/>
          </p:cNvPicPr>
          <p:nvPr/>
        </p:nvPicPr>
        <p:blipFill>
          <a:blip r:embed="rId2"/>
          <a:stretch>
            <a:fillRect/>
          </a:stretch>
        </p:blipFill>
        <p:spPr>
          <a:xfrm>
            <a:off x="0" y="3108960"/>
            <a:ext cx="7562088" cy="2057400"/>
          </a:xfrm>
          <a:prstGeom prst="rect">
            <a:avLst/>
          </a:prstGeom>
        </p:spPr>
      </p:pic>
      <p:sp>
        <p:nvSpPr>
          <p:cNvPr id="4" name="kicker-dot-936"/>
          <p:cNvSpPr/>
          <p:nvPr/>
        </p:nvSpPr>
        <p:spPr>
          <a:xfrm>
            <a:off x="548640" y="4110228"/>
            <a:ext cx="100584" cy="100584"/>
          </a:xfrm>
          <a:prstGeom prst="ellipse">
            <a:avLst/>
          </a:prstGeom>
          <a:solidFill>
            <a:schemeClr val="accent1"/>
          </a:solidFill>
          <a:ln w="12700">
            <a:solidFill>
              <a:schemeClr val="accent1"/>
            </a:solidFill>
            <a:prstDash val="solid"/>
          </a:ln>
        </p:spPr>
      </p:sp>
      <p:sp>
        <p:nvSpPr>
          <p:cNvPr id="5" name="text-937"/>
          <p:cNvSpPr txBox="1"/>
          <p:nvPr/>
        </p:nvSpPr>
        <p:spPr>
          <a:xfrm>
            <a:off x="731520" y="4069080"/>
            <a:ext cx="5486400" cy="201168"/>
          </a:xfrm>
          <a:prstGeom prst="rect">
            <a:avLst/>
          </a:prstGeom>
          <a:noFill/>
          <a:ln/>
        </p:spPr>
        <p:txBody>
          <a:bodyPr wrap="square" lIns="0" tIns="0" rIns="0" bIns="0" rtlCol="0" anchor="t"/>
          <a:lstStyle/>
          <a:p>
            <a:pPr indent="0" marL="0">
              <a:buNone/>
            </a:pPr>
            <a:r>
              <a:rPr lang="en-US" sz="900" b="1" spc="300" kern="0" dirty="0">
                <a:solidFill>
                  <a:schemeClr val="bg1"/>
                </a:solidFill>
              </a:rPr>
              <a:t>A DAY IN AURORA HAVEN · AN IMAGINED STORY</a:t>
            </a:r>
            <a:endParaRPr lang="en-US" sz="900" dirty="0"/>
          </a:p>
        </p:txBody>
      </p:sp>
      <p:sp>
        <p:nvSpPr>
          <p:cNvPr id="6" name="title-938"/>
          <p:cNvSpPr txBox="1"/>
          <p:nvPr/>
        </p:nvSpPr>
        <p:spPr>
          <a:xfrm>
            <a:off x="548640" y="4325112"/>
            <a:ext cx="6464808" cy="685800"/>
          </a:xfrm>
          <a:prstGeom prst="rect">
            <a:avLst/>
          </a:prstGeom>
          <a:noFill/>
          <a:ln/>
        </p:spPr>
        <p:txBody>
          <a:bodyPr wrap="square" lIns="0" tIns="0" rIns="0" bIns="0" rtlCol="0" anchor="t"/>
          <a:lstStyle/>
          <a:p>
            <a:pPr indent="0" marL="0">
              <a:lnSpc>
                <a:spcPct val="92000"/>
              </a:lnSpc>
              <a:buNone/>
            </a:pPr>
            <a:r>
              <a:rPr lang="en-US" sz="3800" b="1" dirty="0">
                <a:solidFill>
                  <a:schemeClr val="bg1"/>
                </a:solidFill>
                <a:latin typeface="+mj-lt" pitchFamily="34" charset="0"/>
                <a:ea typeface="+mj-lt" pitchFamily="34" charset="-122"/>
                <a:cs typeface="+mj-lt" pitchFamily="34" charset="-120"/>
              </a:rPr>
              <a:t>Through a Resident’s Eyes</a:t>
            </a:r>
            <a:endParaRPr lang="en-US" sz="3800" dirty="0"/>
          </a:p>
        </p:txBody>
      </p:sp>
      <p:sp>
        <p:nvSpPr>
          <p:cNvPr id="7" name="text-940"/>
          <p:cNvSpPr txBox="1"/>
          <p:nvPr/>
        </p:nvSpPr>
        <p:spPr>
          <a:xfrm>
            <a:off x="548640" y="5120640"/>
            <a:ext cx="6464808" cy="594360"/>
          </a:xfrm>
          <a:prstGeom prst="rect">
            <a:avLst/>
          </a:prstGeom>
          <a:noFill/>
          <a:ln/>
        </p:spPr>
        <p:txBody>
          <a:bodyPr wrap="square" lIns="0" tIns="0" rIns="0" bIns="0" rtlCol="0" anchor="t"/>
          <a:lstStyle/>
          <a:p>
            <a:pPr indent="0" marL="0">
              <a:lnSpc>
                <a:spcPct val="110000"/>
              </a:lnSpc>
              <a:buNone/>
            </a:pPr>
            <a:r>
              <a:rPr lang="en-US" sz="1300" i="1" dirty="0">
                <a:solidFill>
                  <a:schemeClr val="bg2"/>
                </a:solidFill>
                <a:latin typeface="+mj-lt" pitchFamily="34" charset="0"/>
                <a:ea typeface="+mj-lt" pitchFamily="34" charset="-122"/>
                <a:cs typeface="+mj-lt" pitchFamily="34" charset="-120"/>
              </a:rPr>
              <a:t>It is January, and the sun has not risen for six weeks. This is how a winter day could feel for Mai, sixteen, a student at the Northern Lights School.</a:t>
            </a:r>
            <a:endParaRPr lang="en-US" sz="1300" dirty="0"/>
          </a:p>
        </p:txBody>
      </p:sp>
      <p:sp>
        <p:nvSpPr>
          <p:cNvPr id="8" name="text-941"/>
          <p:cNvSpPr txBox="1"/>
          <p:nvPr/>
        </p:nvSpPr>
        <p:spPr>
          <a:xfrm>
            <a:off x="548640" y="5897880"/>
            <a:ext cx="4206240" cy="4114800"/>
          </a:xfrm>
          <a:prstGeom prst="rect">
            <a:avLst/>
          </a:prstGeom>
          <a:noFill/>
          <a:ln/>
        </p:spPr>
        <p:txBody>
          <a:bodyPr wrap="square" lIns="0" tIns="0" rIns="0" bIns="0" rtlCol="0" anchor="t"/>
          <a:lstStyle/>
          <a:p>
            <a:pPr indent="0" marL="0">
              <a:lnSpc>
                <a:spcPct val="110000"/>
              </a:lnSpc>
              <a:buNone/>
            </a:pPr>
            <a:r>
              <a:rPr lang="en-US" sz="1100" b="1" dirty="0">
                <a:solidFill>
                  <a:schemeClr val="accent1"/>
                </a:solidFill>
                <a:latin typeface="+mj-lt" pitchFamily="34" charset="0"/>
                <a:ea typeface="+mj-lt" pitchFamily="34" charset="-122"/>
                <a:cs typeface="+mj-lt" pitchFamily="34" charset="-120"/>
              </a:rPr>
              <a:t>07:30  </a:t>
            </a:r>
            <a:pPr indent="0" marL="0">
              <a:lnSpc>
                <a:spcPct val="110000"/>
              </a:lnSpc>
              <a:spcAft>
                <a:spcPts val="700"/>
              </a:spcAft>
              <a:buNone/>
            </a:pPr>
            <a:r>
              <a:rPr lang="en-US" sz="1100" dirty="0">
                <a:solidFill>
                  <a:schemeClr val="bg1"/>
                </a:solidFill>
              </a:rPr>
              <a:t>Mai’s flat in the Aurora 81 Residences is warm without a single heater: the district-heating loop brings the fusion station’s heat to every room. Breakfast is bread baked with starch made from snow and air.</a:t>
            </a:r>
            <a:endParaRPr lang="en-US" sz="1100" dirty="0"/>
          </a:p>
          <a:p>
            <a:pPr indent="0" marL="0">
              <a:lnSpc>
                <a:spcPct val="110000"/>
              </a:lnSpc>
              <a:buNone/>
            </a:pPr>
            <a:r>
              <a:rPr lang="en-US" sz="1100" b="1" dirty="0">
                <a:solidFill>
                  <a:schemeClr val="accent1"/>
                </a:solidFill>
                <a:latin typeface="+mj-lt" pitchFamily="34" charset="0"/>
                <a:ea typeface="+mj-lt" pitchFamily="34" charset="-122"/>
                <a:cs typeface="+mj-lt" pitchFamily="34" charset="-120"/>
              </a:rPr>
              <a:t>08:10  </a:t>
            </a:r>
            <a:pPr indent="0" marL="0">
              <a:lnSpc>
                <a:spcPct val="110000"/>
              </a:lnSpc>
              <a:spcAft>
                <a:spcPts val="700"/>
              </a:spcAft>
              <a:buNone/>
            </a:pPr>
            <a:r>
              <a:rPr lang="en-US" sz="1100" dirty="0">
                <a:solidFill>
                  <a:schemeClr val="bg1"/>
                </a:solidFill>
              </a:rPr>
              <a:t>The heated sidewalk outside is dry. She rides the driverless Aurora Line under Liberty Mall, every three minutes, blizzard or not.</a:t>
            </a:r>
            <a:endParaRPr lang="en-US" sz="1100" dirty="0"/>
          </a:p>
          <a:p>
            <a:pPr indent="0" marL="0">
              <a:lnSpc>
                <a:spcPct val="110000"/>
              </a:lnSpc>
              <a:buNone/>
            </a:pPr>
            <a:r>
              <a:rPr lang="en-US" sz="1100" b="1" dirty="0">
                <a:solidFill>
                  <a:schemeClr val="accent1"/>
                </a:solidFill>
                <a:latin typeface="+mj-lt" pitchFamily="34" charset="0"/>
                <a:ea typeface="+mj-lt" pitchFamily="34" charset="-122"/>
                <a:cs typeface="+mj-lt" pitchFamily="34" charset="-120"/>
              </a:rPr>
              <a:t>12:30  </a:t>
            </a:r>
            <a:pPr indent="0" marL="0">
              <a:lnSpc>
                <a:spcPct val="110000"/>
              </a:lnSpc>
              <a:spcAft>
                <a:spcPts val="700"/>
              </a:spcAft>
              <a:buNone/>
            </a:pPr>
            <a:r>
              <a:rPr lang="en-US" sz="1100" dirty="0">
                <a:solidFill>
                  <a:schemeClr val="bg1"/>
                </a:solidFill>
              </a:rPr>
              <a:t>Lunch is a salad grown under LED light in the Evergreen Greenhouse Dome. After school she borrows a light-therapy lamp from the 24-hour library.</a:t>
            </a:r>
            <a:endParaRPr lang="en-US" sz="1100" dirty="0"/>
          </a:p>
          <a:p>
            <a:pPr indent="0" marL="0">
              <a:lnSpc>
                <a:spcPct val="110000"/>
              </a:lnSpc>
              <a:buNone/>
            </a:pPr>
            <a:r>
              <a:rPr lang="en-US" sz="1100" b="1" dirty="0">
                <a:solidFill>
                  <a:schemeClr val="accent1"/>
                </a:solidFill>
                <a:latin typeface="+mj-lt" pitchFamily="34" charset="0"/>
                <a:ea typeface="+mj-lt" pitchFamily="34" charset="-122"/>
                <a:cs typeface="+mj-lt" pitchFamily="34" charset="-120"/>
              </a:rPr>
              <a:t>17:00  </a:t>
            </a:r>
            <a:pPr indent="0" marL="0">
              <a:lnSpc>
                <a:spcPct val="110000"/>
              </a:lnSpc>
              <a:spcAft>
                <a:spcPts val="700"/>
              </a:spcAft>
              <a:buNone/>
            </a:pPr>
            <a:r>
              <a:rPr lang="en-US" sz="1100" dirty="0">
                <a:solidFill>
                  <a:schemeClr val="bg1"/>
                </a:solidFill>
              </a:rPr>
              <a:t>Every phone pings a blizzard warning, two days ahead. The football match moves indoors; nobody panics.</a:t>
            </a:r>
            <a:endParaRPr lang="en-US" sz="1100" dirty="0"/>
          </a:p>
          <a:p>
            <a:pPr indent="0" marL="0">
              <a:lnSpc>
                <a:spcPct val="110000"/>
              </a:lnSpc>
              <a:buNone/>
            </a:pPr>
            <a:r>
              <a:rPr lang="en-US" sz="1100" b="1" dirty="0">
                <a:solidFill>
                  <a:schemeClr val="accent1"/>
                </a:solidFill>
                <a:latin typeface="+mj-lt" pitchFamily="34" charset="0"/>
                <a:ea typeface="+mj-lt" pitchFamily="34" charset="-122"/>
                <a:cs typeface="+mj-lt" pitchFamily="34" charset="-120"/>
              </a:rPr>
              <a:t>20:00  </a:t>
            </a:r>
            <a:pPr indent="0" marL="0">
              <a:lnSpc>
                <a:spcPct val="110000"/>
              </a:lnSpc>
              <a:spcAft>
                <a:spcPts val="700"/>
              </a:spcAft>
              <a:buNone/>
            </a:pPr>
            <a:r>
              <a:rPr lang="en-US" sz="1100" dirty="0">
                <a:solidFill>
                  <a:schemeClr val="bg1"/>
                </a:solidFill>
              </a:rPr>
              <a:t>The spa shuttle takes her to Mount Aurora. She floats in the 38 °C Aurora Lagoon as green curtains of light ripple over the snow peak.</a:t>
            </a:r>
            <a:endParaRPr lang="en-US" sz="1100" dirty="0"/>
          </a:p>
        </p:txBody>
      </p:sp>
      <p:sp>
        <p:nvSpPr>
          <p:cNvPr id="9" name="quote-rule-942"/>
          <p:cNvSpPr/>
          <p:nvPr/>
        </p:nvSpPr>
        <p:spPr>
          <a:xfrm>
            <a:off x="4983480" y="6400800"/>
            <a:ext cx="548640" cy="45720"/>
          </a:xfrm>
          <a:prstGeom prst="rect">
            <a:avLst/>
          </a:prstGeom>
          <a:solidFill>
            <a:schemeClr val="accent1"/>
          </a:solidFill>
          <a:ln w="12700">
            <a:solidFill>
              <a:schemeClr val="accent1"/>
            </a:solidFill>
            <a:prstDash val="solid"/>
          </a:ln>
        </p:spPr>
      </p:sp>
      <p:sp>
        <p:nvSpPr>
          <p:cNvPr id="10" name="text-943"/>
          <p:cNvSpPr txBox="1"/>
          <p:nvPr/>
        </p:nvSpPr>
        <p:spPr>
          <a:xfrm>
            <a:off x="4983480" y="6565392"/>
            <a:ext cx="2029968" cy="1828800"/>
          </a:xfrm>
          <a:prstGeom prst="rect">
            <a:avLst/>
          </a:prstGeom>
          <a:noFill/>
          <a:ln/>
        </p:spPr>
        <p:txBody>
          <a:bodyPr wrap="square" lIns="0" tIns="0" rIns="0" bIns="0" rtlCol="0" anchor="t"/>
          <a:lstStyle/>
          <a:p>
            <a:pPr indent="0" marL="0">
              <a:lnSpc>
                <a:spcPct val="102000"/>
              </a:lnSpc>
              <a:buNone/>
            </a:pPr>
            <a:r>
              <a:rPr lang="en-US" sz="1800" b="1" i="1" dirty="0">
                <a:solidFill>
                  <a:schemeClr val="accent1"/>
                </a:solidFill>
                <a:latin typeface="+mj-lt" pitchFamily="34" charset="0"/>
                <a:ea typeface="+mj-lt" pitchFamily="34" charset="-122"/>
                <a:cs typeface="+mj-lt" pitchFamily="34" charset="-120"/>
              </a:rPr>
              <a:t>“In the polar night, my city is the warmest place I know.”</a:t>
            </a:r>
            <a:endParaRPr lang="en-US" sz="1800" dirty="0"/>
          </a:p>
        </p:txBody>
      </p:sp>
      <p:sp>
        <p:nvSpPr>
          <p:cNvPr id="11" name="text-944"/>
          <p:cNvSpPr txBox="1"/>
          <p:nvPr/>
        </p:nvSpPr>
        <p:spPr>
          <a:xfrm>
            <a:off x="4983480" y="9555480"/>
            <a:ext cx="2029968" cy="411480"/>
          </a:xfrm>
          <a:prstGeom prst="rect">
            <a:avLst/>
          </a:prstGeom>
          <a:noFill/>
          <a:ln/>
        </p:spPr>
        <p:txBody>
          <a:bodyPr wrap="square" lIns="0" tIns="0" rIns="0" bIns="0" rtlCol="0" anchor="t"/>
          <a:lstStyle/>
          <a:p>
            <a:pPr indent="0" marL="0">
              <a:buNone/>
            </a:pPr>
            <a:r>
              <a:rPr lang="en-US" sz="850" i="1" dirty="0">
                <a:solidFill>
                  <a:schemeClr val="bg2"/>
                </a:solidFill>
              </a:rPr>
              <a:t>Walking home on a heated sidewalk under the northern lights.</a:t>
            </a:r>
            <a:endParaRPr lang="en-US" sz="850" dirty="0"/>
          </a:p>
        </p:txBody>
      </p:sp>
      <p:sp>
        <p:nvSpPr>
          <p:cNvPr id="12" name="page-number"/>
          <p:cNvSpPr txBox="1"/>
          <p:nvPr/>
        </p:nvSpPr>
        <p:spPr>
          <a:xfrm>
            <a:off x="6601968" y="10177272"/>
            <a:ext cx="411480" cy="219456"/>
          </a:xfrm>
          <a:prstGeom prst="rect">
            <a:avLst/>
          </a:prstGeom>
          <a:noFill/>
          <a:ln/>
        </p:spPr>
        <p:txBody>
          <a:bodyPr wrap="square" lIns="0" tIns="0" rIns="0" bIns="0" rtlCol="0" anchor="ctr"/>
          <a:lstStyle/>
          <a:p>
            <a:pPr algn="r" indent="0" marL="0">
              <a:buNone/>
            </a:pPr>
            <a:r>
              <a:rPr lang="en-US" sz="900" b="1" dirty="0">
                <a:solidFill>
                  <a:schemeClr val="bg1"/>
                </a:solidFill>
              </a:rPr>
              <a:t>35</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kicker-dot-945"/>
          <p:cNvSpPr/>
          <p:nvPr/>
        </p:nvSpPr>
        <p:spPr>
          <a:xfrm>
            <a:off x="548640" y="544068"/>
            <a:ext cx="100584" cy="100584"/>
          </a:xfrm>
          <a:prstGeom prst="ellipse">
            <a:avLst/>
          </a:prstGeom>
          <a:solidFill>
            <a:schemeClr val="accent6"/>
          </a:solidFill>
          <a:ln w="12700">
            <a:solidFill>
              <a:schemeClr val="accent6"/>
            </a:solidFill>
            <a:prstDash val="solid"/>
          </a:ln>
        </p:spPr>
      </p:sp>
      <p:sp>
        <p:nvSpPr>
          <p:cNvPr id="3" name="text-946"/>
          <p:cNvSpPr txBox="1"/>
          <p:nvPr/>
        </p:nvSpPr>
        <p:spPr>
          <a:xfrm>
            <a:off x="731520" y="502920"/>
            <a:ext cx="5486400" cy="201168"/>
          </a:xfrm>
          <a:prstGeom prst="rect">
            <a:avLst/>
          </a:prstGeom>
          <a:noFill/>
          <a:ln/>
        </p:spPr>
        <p:txBody>
          <a:bodyPr wrap="square" lIns="0" tIns="0" rIns="0" bIns="0" rtlCol="0" anchor="t"/>
          <a:lstStyle/>
          <a:p>
            <a:pPr indent="0" marL="0">
              <a:buNone/>
            </a:pPr>
            <a:r>
              <a:rPr lang="en-US" sz="900" b="1" spc="300" kern="0" dirty="0">
                <a:solidFill>
                  <a:schemeClr val="accent6"/>
                </a:solidFill>
              </a:rPr>
              <a:t>RESEARCH INTEGRITY</a:t>
            </a:r>
            <a:endParaRPr lang="en-US" sz="900" dirty="0"/>
          </a:p>
        </p:txBody>
      </p:sp>
      <p:sp>
        <p:nvSpPr>
          <p:cNvPr id="4" name="title-947"/>
          <p:cNvSpPr txBox="1"/>
          <p:nvPr/>
        </p:nvSpPr>
        <p:spPr>
          <a:xfrm>
            <a:off x="548640" y="758952"/>
            <a:ext cx="6464808" cy="685800"/>
          </a:xfrm>
          <a:prstGeom prst="rect">
            <a:avLst/>
          </a:prstGeom>
          <a:noFill/>
          <a:ln/>
        </p:spPr>
        <p:txBody>
          <a:bodyPr wrap="square" lIns="0" tIns="0" rIns="0" bIns="0" rtlCol="0" anchor="t"/>
          <a:lstStyle/>
          <a:p>
            <a:pPr indent="0" marL="0">
              <a:lnSpc>
                <a:spcPct val="92000"/>
              </a:lnSpc>
              <a:buNone/>
            </a:pPr>
            <a:r>
              <a:rPr lang="en-US" sz="3400" b="1" dirty="0">
                <a:solidFill>
                  <a:schemeClr val="tx1"/>
                </a:solidFill>
                <a:latin typeface="+mj-lt" pitchFamily="34" charset="0"/>
                <a:ea typeface="+mj-lt" pitchFamily="34" charset="-122"/>
                <a:cs typeface="+mj-lt" pitchFamily="34" charset="-120"/>
              </a:rPr>
              <a:t>Sources &amp; Assumptions</a:t>
            </a:r>
            <a:endParaRPr lang="en-US" sz="3400" dirty="0"/>
          </a:p>
        </p:txBody>
      </p:sp>
      <p:sp>
        <p:nvSpPr>
          <p:cNvPr id="5" name="text-949"/>
          <p:cNvSpPr txBox="1"/>
          <p:nvPr/>
        </p:nvSpPr>
        <p:spPr>
          <a:xfrm>
            <a:off x="548640" y="1417320"/>
            <a:ext cx="6464808" cy="201168"/>
          </a:xfrm>
          <a:prstGeom prst="rect">
            <a:avLst/>
          </a:prstGeom>
          <a:noFill/>
          <a:ln/>
        </p:spPr>
        <p:txBody>
          <a:bodyPr wrap="square" lIns="0" tIns="0" rIns="0" bIns="0" rtlCol="0" anchor="t"/>
          <a:lstStyle/>
          <a:p>
            <a:pPr indent="0" marL="0">
              <a:buNone/>
            </a:pPr>
            <a:r>
              <a:rPr lang="en-US" sz="900" b="1" spc="300" kern="0" dirty="0">
                <a:solidFill>
                  <a:schemeClr val="tx2"/>
                </a:solidFill>
              </a:rPr>
              <a:t>HOW TO READ OUR NUMBERS</a:t>
            </a:r>
            <a:endParaRPr lang="en-US" sz="900" dirty="0"/>
          </a:p>
        </p:txBody>
      </p:sp>
      <p:sp>
        <p:nvSpPr>
          <p:cNvPr id="6" name="card-950"/>
          <p:cNvSpPr/>
          <p:nvPr/>
        </p:nvSpPr>
        <p:spPr>
          <a:xfrm>
            <a:off x="548640" y="1691640"/>
            <a:ext cx="2063496" cy="1051560"/>
          </a:xfrm>
          <a:prstGeom prst="roundRect">
            <a:avLst>
              <a:gd name="adj" fmla="val 6957"/>
            </a:avLst>
          </a:prstGeom>
          <a:solidFill>
            <a:schemeClr val="bg2"/>
          </a:solidFill>
          <a:ln w="12700">
            <a:solidFill>
              <a:schemeClr val="bg2"/>
            </a:solidFill>
            <a:prstDash val="solid"/>
          </a:ln>
        </p:spPr>
      </p:sp>
      <p:sp>
        <p:nvSpPr>
          <p:cNvPr id="7" name="text-951"/>
          <p:cNvSpPr txBox="1"/>
          <p:nvPr/>
        </p:nvSpPr>
        <p:spPr>
          <a:xfrm>
            <a:off x="658368" y="1764792"/>
            <a:ext cx="1844040" cy="219456"/>
          </a:xfrm>
          <a:prstGeom prst="rect">
            <a:avLst/>
          </a:prstGeom>
          <a:noFill/>
          <a:ln/>
        </p:spPr>
        <p:txBody>
          <a:bodyPr wrap="square" lIns="0" tIns="0" rIns="0" bIns="0" rtlCol="0" anchor="t"/>
          <a:lstStyle/>
          <a:p>
            <a:pPr indent="0" marL="0">
              <a:buNone/>
            </a:pPr>
            <a:r>
              <a:rPr lang="en-US" sz="1000" b="1" dirty="0">
                <a:solidFill>
                  <a:schemeClr val="accent6"/>
                </a:solidFill>
              </a:rPr>
              <a:t>Design values</a:t>
            </a:r>
            <a:endParaRPr lang="en-US" sz="1000" dirty="0"/>
          </a:p>
        </p:txBody>
      </p:sp>
      <p:sp>
        <p:nvSpPr>
          <p:cNvPr id="8" name="text-952"/>
          <p:cNvSpPr txBox="1"/>
          <p:nvPr/>
        </p:nvSpPr>
        <p:spPr>
          <a:xfrm>
            <a:off x="658368" y="2011680"/>
            <a:ext cx="1844040" cy="713232"/>
          </a:xfrm>
          <a:prstGeom prst="rect">
            <a:avLst/>
          </a:prstGeom>
          <a:noFill/>
          <a:ln/>
        </p:spPr>
        <p:txBody>
          <a:bodyPr wrap="square" lIns="0" tIns="0" rIns="0" bIns="0" rtlCol="0" anchor="t"/>
          <a:lstStyle/>
          <a:p>
            <a:pPr indent="0" marL="0">
              <a:lnSpc>
                <a:spcPct val="102000"/>
              </a:lnSpc>
              <a:buNone/>
            </a:pPr>
            <a:r>
              <a:rPr lang="en-US" sz="850" dirty="0">
                <a:solidFill>
                  <a:schemeClr val="tx1"/>
                </a:solidFill>
              </a:rPr>
              <a:t>Figures for our own city plan, such as 300 MW of electricity or 3,000 tonnes of snow a day. They come from our design, not from a real city.</a:t>
            </a:r>
            <a:endParaRPr lang="en-US" sz="850" dirty="0"/>
          </a:p>
        </p:txBody>
      </p:sp>
      <p:sp>
        <p:nvSpPr>
          <p:cNvPr id="9" name="card-953"/>
          <p:cNvSpPr/>
          <p:nvPr/>
        </p:nvSpPr>
        <p:spPr>
          <a:xfrm>
            <a:off x="2749296" y="1691640"/>
            <a:ext cx="2063496" cy="1051560"/>
          </a:xfrm>
          <a:prstGeom prst="roundRect">
            <a:avLst>
              <a:gd name="adj" fmla="val 6957"/>
            </a:avLst>
          </a:prstGeom>
          <a:solidFill>
            <a:schemeClr val="bg2"/>
          </a:solidFill>
          <a:ln w="12700">
            <a:solidFill>
              <a:schemeClr val="bg2"/>
            </a:solidFill>
            <a:prstDash val="solid"/>
          </a:ln>
        </p:spPr>
      </p:sp>
      <p:sp>
        <p:nvSpPr>
          <p:cNvPr id="10" name="text-954"/>
          <p:cNvSpPr txBox="1"/>
          <p:nvPr/>
        </p:nvSpPr>
        <p:spPr>
          <a:xfrm>
            <a:off x="2859024" y="1764792"/>
            <a:ext cx="1844040" cy="219456"/>
          </a:xfrm>
          <a:prstGeom prst="rect">
            <a:avLst/>
          </a:prstGeom>
          <a:noFill/>
          <a:ln/>
        </p:spPr>
        <p:txBody>
          <a:bodyPr wrap="square" lIns="0" tIns="0" rIns="0" bIns="0" rtlCol="0" anchor="t"/>
          <a:lstStyle/>
          <a:p>
            <a:pPr indent="0" marL="0">
              <a:buNone/>
            </a:pPr>
            <a:r>
              <a:rPr lang="en-US" sz="1000" b="1" dirty="0">
                <a:solidFill>
                  <a:schemeClr val="accent6"/>
                </a:solidFill>
              </a:rPr>
              <a:t>Our estimates</a:t>
            </a:r>
            <a:endParaRPr lang="en-US" sz="1000" dirty="0"/>
          </a:p>
        </p:txBody>
      </p:sp>
      <p:sp>
        <p:nvSpPr>
          <p:cNvPr id="11" name="text-955"/>
          <p:cNvSpPr txBox="1"/>
          <p:nvPr/>
        </p:nvSpPr>
        <p:spPr>
          <a:xfrm>
            <a:off x="2859024" y="2011680"/>
            <a:ext cx="1844040" cy="713232"/>
          </a:xfrm>
          <a:prstGeom prst="rect">
            <a:avLst/>
          </a:prstGeom>
          <a:noFill/>
          <a:ln/>
        </p:spPr>
        <p:txBody>
          <a:bodyPr wrap="square" lIns="0" tIns="0" rIns="0" bIns="0" rtlCol="0" anchor="t"/>
          <a:lstStyle/>
          <a:p>
            <a:pPr indent="0" marL="0">
              <a:lnSpc>
                <a:spcPct val="102000"/>
              </a:lnSpc>
              <a:buNone/>
            </a:pPr>
            <a:r>
              <a:rPr lang="en-US" sz="850" dirty="0">
                <a:solidFill>
                  <a:schemeClr val="tx1"/>
                </a:solidFill>
              </a:rPr>
              <a:t>Calculations we made ourselves and marked “our estimate”, such as the metro capacity, or worked out in the Reality check boxes. They show an idea is reasonable, not exact.</a:t>
            </a:r>
            <a:endParaRPr lang="en-US" sz="850" dirty="0"/>
          </a:p>
        </p:txBody>
      </p:sp>
      <p:sp>
        <p:nvSpPr>
          <p:cNvPr id="12" name="card-956"/>
          <p:cNvSpPr/>
          <p:nvPr/>
        </p:nvSpPr>
        <p:spPr>
          <a:xfrm>
            <a:off x="4949952" y="1691640"/>
            <a:ext cx="2063496" cy="1051560"/>
          </a:xfrm>
          <a:prstGeom prst="roundRect">
            <a:avLst>
              <a:gd name="adj" fmla="val 6957"/>
            </a:avLst>
          </a:prstGeom>
          <a:solidFill>
            <a:schemeClr val="bg2"/>
          </a:solidFill>
          <a:ln w="12700">
            <a:solidFill>
              <a:schemeClr val="bg2"/>
            </a:solidFill>
            <a:prstDash val="solid"/>
          </a:ln>
        </p:spPr>
      </p:sp>
      <p:sp>
        <p:nvSpPr>
          <p:cNvPr id="13" name="text-957"/>
          <p:cNvSpPr txBox="1"/>
          <p:nvPr/>
        </p:nvSpPr>
        <p:spPr>
          <a:xfrm>
            <a:off x="5059680" y="1764792"/>
            <a:ext cx="1844040" cy="219456"/>
          </a:xfrm>
          <a:prstGeom prst="rect">
            <a:avLst/>
          </a:prstGeom>
          <a:noFill/>
          <a:ln/>
        </p:spPr>
        <p:txBody>
          <a:bodyPr wrap="square" lIns="0" tIns="0" rIns="0" bIns="0" rtlCol="0" anchor="t"/>
          <a:lstStyle/>
          <a:p>
            <a:pPr indent="0" marL="0">
              <a:buNone/>
            </a:pPr>
            <a:r>
              <a:rPr lang="en-US" sz="1000" b="1" dirty="0">
                <a:solidFill>
                  <a:schemeClr val="accent6"/>
                </a:solidFill>
              </a:rPr>
              <a:t>Future concepts</a:t>
            </a:r>
            <a:endParaRPr lang="en-US" sz="1000" dirty="0"/>
          </a:p>
        </p:txBody>
      </p:sp>
      <p:sp>
        <p:nvSpPr>
          <p:cNvPr id="14" name="text-958"/>
          <p:cNvSpPr txBox="1"/>
          <p:nvPr/>
        </p:nvSpPr>
        <p:spPr>
          <a:xfrm>
            <a:off x="5059680" y="2011680"/>
            <a:ext cx="1844040" cy="713232"/>
          </a:xfrm>
          <a:prstGeom prst="rect">
            <a:avLst/>
          </a:prstGeom>
          <a:noFill/>
          <a:ln/>
        </p:spPr>
        <p:txBody>
          <a:bodyPr wrap="square" lIns="0" tIns="0" rIns="0" bIns="0" rtlCol="0" anchor="t"/>
          <a:lstStyle/>
          <a:p>
            <a:pPr indent="0" marL="0">
              <a:lnSpc>
                <a:spcPct val="102000"/>
              </a:lnSpc>
              <a:buNone/>
            </a:pPr>
            <a:r>
              <a:rPr lang="en-US" sz="850" dirty="0">
                <a:solidFill>
                  <a:schemeClr val="tx1"/>
                </a:solidFill>
              </a:rPr>
              <a:t>The fusion station and the snow-to-food plant do not exist at this size today. They are our team’s ideas for the future; no prototype has been tested.</a:t>
            </a:r>
            <a:endParaRPr lang="en-US" sz="850" dirty="0"/>
          </a:p>
        </p:txBody>
      </p:sp>
      <p:sp>
        <p:nvSpPr>
          <p:cNvPr id="15" name="text-959"/>
          <p:cNvSpPr txBox="1"/>
          <p:nvPr/>
        </p:nvSpPr>
        <p:spPr>
          <a:xfrm>
            <a:off x="548640" y="2971800"/>
            <a:ext cx="6464808" cy="201168"/>
          </a:xfrm>
          <a:prstGeom prst="rect">
            <a:avLst/>
          </a:prstGeom>
          <a:noFill/>
          <a:ln/>
        </p:spPr>
        <p:txBody>
          <a:bodyPr wrap="square" lIns="0" tIns="0" rIns="0" bIns="0" rtlCol="0" anchor="t"/>
          <a:lstStyle/>
          <a:p>
            <a:pPr indent="0" marL="0">
              <a:buNone/>
            </a:pPr>
            <a:r>
              <a:rPr lang="en-US" sz="900" b="1" spc="300" kern="0" dirty="0">
                <a:solidFill>
                  <a:schemeClr val="tx2"/>
                </a:solidFill>
              </a:rPr>
              <a:t>REFERENCES</a:t>
            </a:r>
            <a:endParaRPr lang="en-US" sz="900" dirty="0"/>
          </a:p>
        </p:txBody>
      </p:sp>
      <p:sp>
        <p:nvSpPr>
          <p:cNvPr id="16" name="text-960"/>
          <p:cNvSpPr txBox="1"/>
          <p:nvPr/>
        </p:nvSpPr>
        <p:spPr>
          <a:xfrm>
            <a:off x="548640" y="3246120"/>
            <a:ext cx="3095244" cy="5623560"/>
          </a:xfrm>
          <a:prstGeom prst="rect">
            <a:avLst/>
          </a:prstGeom>
          <a:noFill/>
          <a:ln/>
        </p:spPr>
        <p:txBody>
          <a:bodyPr wrap="square" lIns="0" tIns="0" rIns="0" bIns="0" rtlCol="0" anchor="t"/>
          <a:lstStyle/>
          <a:p>
            <a:pPr indent="0" marL="0">
              <a:lnSpc>
                <a:spcPct val="104000"/>
              </a:lnSpc>
              <a:buNone/>
            </a:pPr>
            <a:r>
              <a:rPr lang="en-US" sz="950" b="1" dirty="0">
                <a:solidFill>
                  <a:schemeClr val="accent6"/>
                </a:solidFill>
              </a:rPr>
              <a:t>[1]  </a:t>
            </a:r>
            <a:pPr indent="0" marL="0">
              <a:lnSpc>
                <a:spcPct val="104000"/>
              </a:lnSpc>
              <a:spcAft>
                <a:spcPts val="600"/>
              </a:spcAft>
              <a:buNone/>
            </a:pPr>
            <a:r>
              <a:rPr lang="en-US" sz="950" dirty="0">
                <a:solidFill>
                  <a:schemeClr val="tx1"/>
                </a:solidFill>
              </a:rPr>
              <a:t>Rantanen, M. et al. (2022). The Arctic has warmed nearly four times faster than the globe since 1979. Communications Earth &amp; Environment, 3, 168. doi.org/10.1038/s43247-022-00498-3</a:t>
            </a:r>
            <a:endParaRPr lang="en-US" sz="950" dirty="0"/>
          </a:p>
          <a:p>
            <a:pPr indent="0" marL="0">
              <a:lnSpc>
                <a:spcPct val="104000"/>
              </a:lnSpc>
              <a:buNone/>
            </a:pPr>
            <a:r>
              <a:rPr lang="en-US" sz="950" b="1" dirty="0">
                <a:solidFill>
                  <a:schemeClr val="accent6"/>
                </a:solidFill>
              </a:rPr>
              <a:t>[2]  </a:t>
            </a:r>
            <a:pPr indent="0" marL="0">
              <a:lnSpc>
                <a:spcPct val="104000"/>
              </a:lnSpc>
              <a:spcAft>
                <a:spcPts val="600"/>
              </a:spcAft>
              <a:buNone/>
            </a:pPr>
            <a:r>
              <a:rPr lang="en-US" sz="950" dirty="0">
                <a:solidFill>
                  <a:schemeClr val="tx1"/>
                </a:solidFill>
              </a:rPr>
              <a:t>Hjort, J. et al. (2018). Degrading permafrost puts Arctic infrastructure at risk by mid-century. Nature Communications, 9, 5147. doi.org/10.1038/s41467-018-07557-4</a:t>
            </a:r>
            <a:endParaRPr lang="en-US" sz="950" dirty="0"/>
          </a:p>
          <a:p>
            <a:pPr indent="0" marL="0">
              <a:lnSpc>
                <a:spcPct val="104000"/>
              </a:lnSpc>
              <a:buNone/>
            </a:pPr>
            <a:r>
              <a:rPr lang="en-US" sz="950" b="1" dirty="0">
                <a:solidFill>
                  <a:schemeClr val="accent6"/>
                </a:solidFill>
              </a:rPr>
              <a:t>[3]  </a:t>
            </a:r>
            <a:pPr indent="0" marL="0">
              <a:lnSpc>
                <a:spcPct val="104000"/>
              </a:lnSpc>
              <a:spcAft>
                <a:spcPts val="600"/>
              </a:spcAft>
              <a:buNone/>
            </a:pPr>
            <a:r>
              <a:rPr lang="en-US" sz="950" dirty="0">
                <a:solidFill>
                  <a:schemeClr val="tx1"/>
                </a:solidFill>
              </a:rPr>
              <a:t>Arctic Human Development Report (2004). Stefansson Arctic Institute for the Arctic Council: about 4 million people live in the Arctic.</a:t>
            </a:r>
            <a:endParaRPr lang="en-US" sz="950" dirty="0"/>
          </a:p>
          <a:p>
            <a:pPr indent="0" marL="0">
              <a:lnSpc>
                <a:spcPct val="104000"/>
              </a:lnSpc>
              <a:buNone/>
            </a:pPr>
            <a:r>
              <a:rPr lang="en-US" sz="950" b="1" dirty="0">
                <a:solidFill>
                  <a:schemeClr val="accent6"/>
                </a:solidFill>
              </a:rPr>
              <a:t>[4]  </a:t>
            </a:r>
            <a:pPr indent="0" marL="0">
              <a:lnSpc>
                <a:spcPct val="104000"/>
              </a:lnSpc>
              <a:spcAft>
                <a:spcPts val="600"/>
              </a:spcAft>
              <a:buNone/>
            </a:pPr>
            <a:r>
              <a:rPr lang="en-US" sz="950" dirty="0">
                <a:solidFill>
                  <a:schemeClr val="tx1"/>
                </a:solidFill>
              </a:rPr>
              <a:t>ITER Organization (2024). Baseline 2024: press conference summary, July 2024. iter.org</a:t>
            </a:r>
            <a:endParaRPr lang="en-US" sz="950" dirty="0"/>
          </a:p>
          <a:p>
            <a:pPr indent="0" marL="0">
              <a:lnSpc>
                <a:spcPct val="104000"/>
              </a:lnSpc>
              <a:buNone/>
            </a:pPr>
            <a:r>
              <a:rPr lang="en-US" sz="950" b="1" dirty="0">
                <a:solidFill>
                  <a:schemeClr val="accent6"/>
                </a:solidFill>
              </a:rPr>
              <a:t>[5]  </a:t>
            </a:r>
            <a:pPr indent="0" marL="0">
              <a:lnSpc>
                <a:spcPct val="104000"/>
              </a:lnSpc>
              <a:spcAft>
                <a:spcPts val="600"/>
              </a:spcAft>
              <a:buNone/>
            </a:pPr>
            <a:r>
              <a:rPr lang="en-US" sz="950" dirty="0">
                <a:solidFill>
                  <a:schemeClr val="tx1"/>
                </a:solidFill>
              </a:rPr>
              <a:t>SPARC (tokamak). Wikipedia, accessed October 2026. en.wikipedia.org/wiki/SPARC_(tokamak)</a:t>
            </a:r>
            <a:endParaRPr lang="en-US" sz="950" dirty="0"/>
          </a:p>
          <a:p>
            <a:pPr indent="0" marL="0">
              <a:lnSpc>
                <a:spcPct val="104000"/>
              </a:lnSpc>
              <a:buNone/>
            </a:pPr>
            <a:r>
              <a:rPr lang="en-US" sz="950" b="1" dirty="0">
                <a:solidFill>
                  <a:schemeClr val="accent6"/>
                </a:solidFill>
              </a:rPr>
              <a:t>[6]  </a:t>
            </a:r>
            <a:pPr indent="0" marL="0">
              <a:lnSpc>
                <a:spcPct val="104000"/>
              </a:lnSpc>
              <a:spcAft>
                <a:spcPts val="600"/>
              </a:spcAft>
              <a:buNone/>
            </a:pPr>
            <a:r>
              <a:rPr lang="en-US" sz="950" dirty="0">
                <a:solidFill>
                  <a:schemeClr val="tx1"/>
                </a:solidFill>
              </a:rPr>
              <a:t>Solar Foods (2024). Factory 01 starts production of Solein in Vantaa, Finland (press release, 15 April 2024) and Factory 01 press kit. solarfoods.com</a:t>
            </a:r>
            <a:endParaRPr lang="en-US" sz="950" dirty="0"/>
          </a:p>
          <a:p>
            <a:pPr indent="0" marL="0">
              <a:lnSpc>
                <a:spcPct val="104000"/>
              </a:lnSpc>
              <a:buNone/>
            </a:pPr>
            <a:r>
              <a:rPr lang="en-US" sz="950" b="1" dirty="0">
                <a:solidFill>
                  <a:schemeClr val="accent6"/>
                </a:solidFill>
              </a:rPr>
              <a:t>[7]  </a:t>
            </a:r>
            <a:pPr indent="0" marL="0">
              <a:lnSpc>
                <a:spcPct val="104000"/>
              </a:lnSpc>
              <a:spcAft>
                <a:spcPts val="600"/>
              </a:spcAft>
              <a:buNone/>
            </a:pPr>
            <a:r>
              <a:rPr lang="en-US" sz="950" dirty="0">
                <a:solidFill>
                  <a:schemeClr val="tx1"/>
                </a:solidFill>
              </a:rPr>
              <a:t>Cai, T. et al. (2021). Cell-free chemoenzymatic starch synthesis from carbon dioxide. Science, 373, 1523–1527. doi.org/10.1126/science.abh4049</a:t>
            </a:r>
            <a:endParaRPr lang="en-US" sz="950" dirty="0"/>
          </a:p>
          <a:p>
            <a:pPr indent="0" marL="0">
              <a:lnSpc>
                <a:spcPct val="104000"/>
              </a:lnSpc>
              <a:buNone/>
            </a:pPr>
            <a:r>
              <a:rPr lang="en-US" sz="950" b="1" dirty="0">
                <a:solidFill>
                  <a:schemeClr val="accent6"/>
                </a:solidFill>
              </a:rPr>
              <a:t>[8]  </a:t>
            </a:r>
            <a:pPr indent="0" marL="0">
              <a:lnSpc>
                <a:spcPct val="104000"/>
              </a:lnSpc>
              <a:spcAft>
                <a:spcPts val="600"/>
              </a:spcAft>
              <a:buNone/>
            </a:pPr>
            <a:r>
              <a:rPr lang="en-US" sz="950" dirty="0">
                <a:solidFill>
                  <a:schemeClr val="tx1"/>
                </a:solidFill>
              </a:rPr>
              <a:t>Dezeen (9 September 2021). Climeworks opens Orca, a direct air capture plant in Iceland. dezeen.com</a:t>
            </a:r>
            <a:endParaRPr lang="en-US" sz="950" dirty="0"/>
          </a:p>
          <a:p>
            <a:pPr indent="0" marL="0">
              <a:lnSpc>
                <a:spcPct val="104000"/>
              </a:lnSpc>
              <a:buNone/>
            </a:pPr>
            <a:r>
              <a:rPr lang="en-US" sz="950" b="1" dirty="0">
                <a:solidFill>
                  <a:schemeClr val="accent6"/>
                </a:solidFill>
              </a:rPr>
              <a:t>[9]  </a:t>
            </a:r>
            <a:pPr indent="0" marL="0">
              <a:lnSpc>
                <a:spcPct val="104000"/>
              </a:lnSpc>
              <a:spcAft>
                <a:spcPts val="600"/>
              </a:spcAft>
              <a:buNone/>
            </a:pPr>
            <a:r>
              <a:rPr lang="en-US" sz="950" dirty="0">
                <a:solidFill>
                  <a:schemeClr val="tx1"/>
                </a:solidFill>
              </a:rPr>
              <a:t>Blue Lagoon (geothermal spa). Wikipedia, accessed October 2026. en.wikipedia.org/wiki/Blue_Lagoon_(geothermal_spa)</a:t>
            </a:r>
            <a:endParaRPr lang="en-US" sz="950" dirty="0"/>
          </a:p>
          <a:p>
            <a:pPr indent="0" marL="0">
              <a:lnSpc>
                <a:spcPct val="104000"/>
              </a:lnSpc>
              <a:buNone/>
            </a:pPr>
            <a:r>
              <a:rPr lang="en-US" sz="950" b="1" dirty="0">
                <a:solidFill>
                  <a:schemeClr val="accent6"/>
                </a:solidFill>
              </a:rPr>
              <a:t>[10]  </a:t>
            </a:r>
            <a:pPr indent="0" marL="0">
              <a:lnSpc>
                <a:spcPct val="104000"/>
              </a:lnSpc>
              <a:spcAft>
                <a:spcPts val="600"/>
              </a:spcAft>
              <a:buNone/>
            </a:pPr>
            <a:r>
              <a:rPr lang="en-US" sz="950" dirty="0">
                <a:solidFill>
                  <a:schemeClr val="tx1"/>
                </a:solidFill>
              </a:rPr>
              <a:t>Swissinfo. Stone and water temple delights the senses (the Therme Vals by Peter Zumthor). swissinfo.ch</a:t>
            </a:r>
            <a:endParaRPr lang="en-US" sz="950" dirty="0"/>
          </a:p>
        </p:txBody>
      </p:sp>
      <p:sp>
        <p:nvSpPr>
          <p:cNvPr id="17" name="text-961"/>
          <p:cNvSpPr txBox="1"/>
          <p:nvPr/>
        </p:nvSpPr>
        <p:spPr>
          <a:xfrm>
            <a:off x="3918204" y="3246120"/>
            <a:ext cx="3095244" cy="5623560"/>
          </a:xfrm>
          <a:prstGeom prst="rect">
            <a:avLst/>
          </a:prstGeom>
          <a:noFill/>
          <a:ln/>
        </p:spPr>
        <p:txBody>
          <a:bodyPr wrap="square" lIns="0" tIns="0" rIns="0" bIns="0" rtlCol="0" anchor="t"/>
          <a:lstStyle/>
          <a:p>
            <a:pPr indent="0" marL="0">
              <a:lnSpc>
                <a:spcPct val="104000"/>
              </a:lnSpc>
              <a:buNone/>
            </a:pPr>
            <a:r>
              <a:rPr lang="en-US" sz="950" b="1" dirty="0">
                <a:solidFill>
                  <a:schemeClr val="accent6"/>
                </a:solidFill>
              </a:rPr>
              <a:t>[11]  </a:t>
            </a:r>
            <a:pPr indent="0" marL="0">
              <a:lnSpc>
                <a:spcPct val="104000"/>
              </a:lnSpc>
              <a:spcAft>
                <a:spcPts val="600"/>
              </a:spcAft>
              <a:buNone/>
            </a:pPr>
            <a:r>
              <a:rPr lang="en-US" sz="950" dirty="0">
                <a:solidFill>
                  <a:schemeClr val="tx1"/>
                </a:solidFill>
              </a:rPr>
              <a:t>ITER Organization. Tritium breeding. iter.org</a:t>
            </a:r>
            <a:endParaRPr lang="en-US" sz="950" dirty="0"/>
          </a:p>
          <a:p>
            <a:pPr indent="0" marL="0">
              <a:lnSpc>
                <a:spcPct val="104000"/>
              </a:lnSpc>
              <a:buNone/>
            </a:pPr>
            <a:r>
              <a:rPr lang="en-US" sz="950" b="1" dirty="0">
                <a:solidFill>
                  <a:schemeClr val="accent6"/>
                </a:solidFill>
              </a:rPr>
              <a:t>[12]  </a:t>
            </a:r>
            <a:pPr indent="0" marL="0">
              <a:lnSpc>
                <a:spcPct val="104000"/>
              </a:lnSpc>
              <a:spcAft>
                <a:spcPts val="600"/>
              </a:spcAft>
              <a:buNone/>
            </a:pPr>
            <a:r>
              <a:rPr lang="en-US" sz="950" dirty="0">
                <a:solidFill>
                  <a:schemeClr val="tx1"/>
                </a:solidFill>
              </a:rPr>
              <a:t>Kramer, D. (29 April 2016). ITER costs are pinned down, with caveats. Physics Today. physicstoday.aip.org</a:t>
            </a:r>
            <a:endParaRPr lang="en-US" sz="950" dirty="0"/>
          </a:p>
          <a:p>
            <a:pPr indent="0" marL="0">
              <a:lnSpc>
                <a:spcPct val="104000"/>
              </a:lnSpc>
              <a:buNone/>
            </a:pPr>
            <a:r>
              <a:rPr lang="en-US" sz="950" b="1" dirty="0">
                <a:solidFill>
                  <a:schemeClr val="accent6"/>
                </a:solidFill>
              </a:rPr>
              <a:t>[13]  </a:t>
            </a:r>
            <a:pPr indent="0" marL="0">
              <a:lnSpc>
                <a:spcPct val="104000"/>
              </a:lnSpc>
              <a:spcAft>
                <a:spcPts val="600"/>
              </a:spcAft>
              <a:buNone/>
            </a:pPr>
            <a:r>
              <a:rPr lang="en-US" sz="950" dirty="0">
                <a:solidFill>
                  <a:schemeClr val="tx1"/>
                </a:solidFill>
              </a:rPr>
              <a:t>Sendi, M., Bui, M., Mac Dowell, N. &amp; Fennell, P. (2024). Geospatial techno-economic and environmental assessment of different energy options for solid sorbent direct air capture. Cell Reports Sustainability, 1(8), 100151.</a:t>
            </a:r>
            <a:endParaRPr lang="en-US" sz="950" dirty="0"/>
          </a:p>
          <a:p>
            <a:pPr indent="0" marL="0">
              <a:lnSpc>
                <a:spcPct val="104000"/>
              </a:lnSpc>
              <a:buNone/>
            </a:pPr>
            <a:r>
              <a:rPr lang="en-US" sz="950" b="1" dirty="0">
                <a:solidFill>
                  <a:schemeClr val="accent6"/>
                </a:solidFill>
              </a:rPr>
              <a:t>[14]  </a:t>
            </a:r>
            <a:pPr indent="0" marL="0">
              <a:lnSpc>
                <a:spcPct val="104000"/>
              </a:lnSpc>
              <a:spcAft>
                <a:spcPts val="600"/>
              </a:spcAft>
              <a:buNone/>
            </a:pPr>
            <a:r>
              <a:rPr lang="en-US" sz="950" dirty="0">
                <a:solidFill>
                  <a:schemeClr val="tx1"/>
                </a:solidFill>
              </a:rPr>
              <a:t>Hasemyer, D. (17 July 2021). Thawing permafrost is artificially chilled to stabilize Alaska oil pipeline. Scientific American / Inside Climate News.</a:t>
            </a:r>
            <a:endParaRPr lang="en-US" sz="950" dirty="0"/>
          </a:p>
          <a:p>
            <a:pPr indent="0" marL="0">
              <a:lnSpc>
                <a:spcPct val="104000"/>
              </a:lnSpc>
              <a:buNone/>
            </a:pPr>
            <a:r>
              <a:rPr lang="en-US" sz="950" b="1" dirty="0">
                <a:solidFill>
                  <a:schemeClr val="accent6"/>
                </a:solidFill>
              </a:rPr>
              <a:t>[15]  </a:t>
            </a:r>
            <a:pPr indent="0" marL="0">
              <a:lnSpc>
                <a:spcPct val="104000"/>
              </a:lnSpc>
              <a:spcAft>
                <a:spcPts val="600"/>
              </a:spcAft>
              <a:buNone/>
            </a:pPr>
            <a:r>
              <a:rPr lang="en-US" sz="950" dirty="0">
                <a:solidFill>
                  <a:schemeClr val="tx1"/>
                </a:solidFill>
              </a:rPr>
              <a:t>AECO. Arctic fox: wildlife guidelines. aeco.no/guideline/wildlife/arctic-fox</a:t>
            </a:r>
            <a:endParaRPr lang="en-US" sz="950" dirty="0"/>
          </a:p>
          <a:p>
            <a:pPr indent="0" marL="0">
              <a:lnSpc>
                <a:spcPct val="104000"/>
              </a:lnSpc>
              <a:buNone/>
            </a:pPr>
            <a:r>
              <a:rPr lang="en-US" sz="950" b="1" dirty="0">
                <a:solidFill>
                  <a:schemeClr val="accent6"/>
                </a:solidFill>
              </a:rPr>
              <a:t>[16]  </a:t>
            </a:r>
            <a:pPr indent="0" marL="0">
              <a:lnSpc>
                <a:spcPct val="104000"/>
              </a:lnSpc>
              <a:spcAft>
                <a:spcPts val="600"/>
              </a:spcAft>
              <a:buNone/>
            </a:pPr>
            <a:r>
              <a:rPr lang="en-US" sz="950" dirty="0">
                <a:solidFill>
                  <a:schemeClr val="tx1"/>
                </a:solidFill>
              </a:rPr>
              <a:t>Barbosa, G. L. et al. (2015). Comparison of land, water, and energy requirements of lettuce grown using hydroponic vs. conventional agricultural methods. Int. J. Environ. Res. Public Health, 12(6), 6879–6891.</a:t>
            </a:r>
            <a:endParaRPr lang="en-US" sz="950" dirty="0"/>
          </a:p>
          <a:p>
            <a:pPr indent="0" marL="0">
              <a:lnSpc>
                <a:spcPct val="104000"/>
              </a:lnSpc>
              <a:buNone/>
            </a:pPr>
            <a:r>
              <a:rPr lang="en-US" sz="950" b="1" dirty="0">
                <a:solidFill>
                  <a:schemeClr val="accent6"/>
                </a:solidFill>
              </a:rPr>
              <a:t>[17]  </a:t>
            </a:r>
            <a:pPr indent="0" marL="0">
              <a:lnSpc>
                <a:spcPct val="104000"/>
              </a:lnSpc>
              <a:spcAft>
                <a:spcPts val="600"/>
              </a:spcAft>
              <a:buNone/>
            </a:pPr>
            <a:r>
              <a:rPr lang="en-US" sz="950" dirty="0">
                <a:solidFill>
                  <a:schemeClr val="tx1"/>
                </a:solidFill>
              </a:rPr>
              <a:t>pv magazine (23 May 2022). Bifacial solar modules shine in snowy environments. pv-magazine.com</a:t>
            </a:r>
            <a:endParaRPr lang="en-US" sz="950" dirty="0"/>
          </a:p>
          <a:p>
            <a:pPr indent="0" marL="0">
              <a:lnSpc>
                <a:spcPct val="104000"/>
              </a:lnSpc>
              <a:buNone/>
            </a:pPr>
            <a:r>
              <a:rPr lang="en-US" sz="950" b="1" dirty="0">
                <a:solidFill>
                  <a:schemeClr val="accent6"/>
                </a:solidFill>
              </a:rPr>
              <a:t>[18]  </a:t>
            </a:r>
            <a:pPr indent="0" marL="0">
              <a:lnSpc>
                <a:spcPct val="104000"/>
              </a:lnSpc>
              <a:spcAft>
                <a:spcPts val="600"/>
              </a:spcAft>
              <a:buNone/>
            </a:pPr>
            <a:r>
              <a:rPr lang="en-US" sz="950" dirty="0">
                <a:solidFill>
                  <a:schemeClr val="tx1"/>
                </a:solidFill>
              </a:rPr>
              <a:t>Iceland Review. Does Reykjavík have heated sidewalks? icelandreview.com</a:t>
            </a:r>
            <a:endParaRPr lang="en-US" sz="950" dirty="0"/>
          </a:p>
          <a:p>
            <a:pPr indent="0" marL="0">
              <a:lnSpc>
                <a:spcPct val="104000"/>
              </a:lnSpc>
              <a:buNone/>
            </a:pPr>
            <a:r>
              <a:rPr lang="en-US" sz="950" b="1" dirty="0">
                <a:solidFill>
                  <a:schemeClr val="accent6"/>
                </a:solidFill>
              </a:rPr>
              <a:t>[19]  </a:t>
            </a:r>
            <a:pPr indent="0" marL="0">
              <a:lnSpc>
                <a:spcPct val="104000"/>
              </a:lnSpc>
              <a:spcAft>
                <a:spcPts val="600"/>
              </a:spcAft>
              <a:buNone/>
            </a:pPr>
            <a:r>
              <a:rPr lang="en-US" sz="950" dirty="0">
                <a:solidFill>
                  <a:schemeClr val="tx1"/>
                </a:solidFill>
              </a:rPr>
              <a:t>Visit Tromsø. Winter in Tromsø: the polar night. visittromso.no</a:t>
            </a:r>
            <a:endParaRPr lang="en-US" sz="950" dirty="0"/>
          </a:p>
          <a:p>
            <a:pPr indent="0" marL="0">
              <a:lnSpc>
                <a:spcPct val="104000"/>
              </a:lnSpc>
              <a:buNone/>
            </a:pPr>
            <a:r>
              <a:rPr lang="en-US" sz="950" b="1" dirty="0">
                <a:solidFill>
                  <a:schemeClr val="accent6"/>
                </a:solidFill>
              </a:rPr>
              <a:t>[20]  </a:t>
            </a:r>
            <a:pPr indent="0" marL="0">
              <a:lnSpc>
                <a:spcPct val="104000"/>
              </a:lnSpc>
              <a:spcAft>
                <a:spcPts val="600"/>
              </a:spcAft>
              <a:buNone/>
            </a:pPr>
            <a:r>
              <a:rPr lang="en-US" sz="950" dirty="0">
                <a:solidFill>
                  <a:schemeClr val="tx1"/>
                </a:solidFill>
              </a:rPr>
              <a:t>Packer, L. W. et al. (2023). Neutron activation of ITER materials at JET. UKAEA-CCFE-CP(23)34. scientific-publications.ukaea.uk</a:t>
            </a:r>
            <a:endParaRPr lang="en-US" sz="950" dirty="0"/>
          </a:p>
        </p:txBody>
      </p:sp>
      <p:sp>
        <p:nvSpPr>
          <p:cNvPr id="18" name="card-962"/>
          <p:cNvSpPr/>
          <p:nvPr/>
        </p:nvSpPr>
        <p:spPr>
          <a:xfrm>
            <a:off x="548640" y="9006840"/>
            <a:ext cx="6464808" cy="960120"/>
          </a:xfrm>
          <a:prstGeom prst="roundRect">
            <a:avLst>
              <a:gd name="adj" fmla="val 7619"/>
            </a:avLst>
          </a:prstGeom>
          <a:solidFill>
            <a:schemeClr val="bg2"/>
          </a:solidFill>
          <a:ln w="12700">
            <a:solidFill>
              <a:schemeClr val="bg2"/>
            </a:solidFill>
            <a:prstDash val="solid"/>
          </a:ln>
        </p:spPr>
      </p:sp>
      <p:sp>
        <p:nvSpPr>
          <p:cNvPr id="19" name="text-963"/>
          <p:cNvSpPr txBox="1"/>
          <p:nvPr/>
        </p:nvSpPr>
        <p:spPr>
          <a:xfrm>
            <a:off x="685800" y="9079992"/>
            <a:ext cx="6190488" cy="822960"/>
          </a:xfrm>
          <a:prstGeom prst="rect">
            <a:avLst/>
          </a:prstGeom>
          <a:noFill/>
          <a:ln/>
        </p:spPr>
        <p:txBody>
          <a:bodyPr wrap="square" lIns="0" tIns="0" rIns="0" bIns="0" rtlCol="0" anchor="ctr"/>
          <a:lstStyle/>
          <a:p>
            <a:pPr indent="0" marL="0">
              <a:lnSpc>
                <a:spcPct val="104000"/>
              </a:lnSpc>
              <a:buNone/>
            </a:pPr>
            <a:r>
              <a:rPr lang="en-US" sz="900" b="1" spc="200" kern="0" dirty="0">
                <a:solidFill>
                  <a:schemeClr val="accent6"/>
                </a:solidFill>
              </a:rPr>
              <a:t>PICTURES  </a:t>
            </a:r>
            <a:pPr indent="0" marL="0">
              <a:lnSpc>
                <a:spcPct val="104000"/>
              </a:lnSpc>
              <a:spcAft>
                <a:spcPts val="400"/>
              </a:spcAft>
              <a:buNone/>
            </a:pPr>
            <a:r>
              <a:rPr lang="en-US" sz="900" dirty="0">
                <a:solidFill>
                  <a:schemeClr val="tx1"/>
                </a:solidFill>
              </a:rPr>
              <a:t>Every picture, plan and diagram in this magazine was made from our own 3D model of Aurora Haven (built with three.js). Text facts about the city come from our city plan and its place cards.</a:t>
            </a:r>
            <a:endParaRPr lang="en-US" sz="900" dirty="0"/>
          </a:p>
          <a:p>
            <a:pPr indent="0" marL="0">
              <a:lnSpc>
                <a:spcPct val="104000"/>
              </a:lnSpc>
              <a:buNone/>
            </a:pPr>
            <a:r>
              <a:rPr lang="en-US" sz="900" b="1" spc="200" kern="0" dirty="0">
                <a:solidFill>
                  <a:schemeClr val="accent6"/>
                </a:solidFill>
              </a:rPr>
              <a:t>AI USE  </a:t>
            </a:r>
            <a:pPr indent="0" marL="0">
              <a:lnSpc>
                <a:spcPct val="104000"/>
              </a:lnSpc>
              <a:buNone/>
            </a:pPr>
            <a:r>
              <a:rPr lang="en-US" sz="900" dirty="0">
                <a:solidFill>
                  <a:schemeClr val="tx1"/>
                </a:solidFill>
              </a:rPr>
              <a:t>We used AI tools to help us build the 3D model of the city and make the pictures, plans and diagrams in this magazine, and to check our spelling and fix logic errors in the text.</a:t>
            </a:r>
            <a:endParaRPr lang="en-US" sz="900" dirty="0"/>
          </a:p>
        </p:txBody>
      </p:sp>
      <p:sp>
        <p:nvSpPr>
          <p:cNvPr id="20" name="page-number"/>
          <p:cNvSpPr txBox="1"/>
          <p:nvPr/>
        </p:nvSpPr>
        <p:spPr>
          <a:xfrm>
            <a:off x="548640" y="10177272"/>
            <a:ext cx="411480" cy="219456"/>
          </a:xfrm>
          <a:prstGeom prst="rect">
            <a:avLst/>
          </a:prstGeom>
          <a:noFill/>
          <a:ln/>
        </p:spPr>
        <p:txBody>
          <a:bodyPr wrap="square" lIns="0" tIns="0" rIns="0" bIns="0" rtlCol="0" anchor="ctr"/>
          <a:lstStyle/>
          <a:p>
            <a:pPr algn="l" indent="0" marL="0">
              <a:buNone/>
            </a:pPr>
            <a:r>
              <a:rPr lang="en-US" sz="900" b="1" dirty="0">
                <a:solidFill>
                  <a:schemeClr val="tx1"/>
                </a:solidFill>
              </a:rPr>
              <a:t>36</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back-picture" descr="/home/user/chatbox-bi-n-o/magazine/assets/renders/back.jpg">    </p:cNvPr>
          <p:cNvPicPr>
            <a:picLocks noChangeAspect="1"/>
          </p:cNvPicPr>
          <p:nvPr/>
        </p:nvPicPr>
        <p:blipFill>
          <a:blip r:embed="rId1"/>
          <a:stretch>
            <a:fillRect/>
          </a:stretch>
        </p:blipFill>
        <p:spPr>
          <a:xfrm>
            <a:off x="0" y="0"/>
            <a:ext cx="7562088" cy="10689336"/>
          </a:xfrm>
          <a:prstGeom prst="rect">
            <a:avLst/>
          </a:prstGeom>
        </p:spPr>
      </p:pic>
      <p:sp>
        <p:nvSpPr>
          <p:cNvPr id="3" name="kicker-dot-964"/>
          <p:cNvSpPr/>
          <p:nvPr/>
        </p:nvSpPr>
        <p:spPr>
          <a:xfrm>
            <a:off x="548640" y="589788"/>
            <a:ext cx="100584" cy="100584"/>
          </a:xfrm>
          <a:prstGeom prst="ellipse">
            <a:avLst/>
          </a:prstGeom>
          <a:solidFill>
            <a:schemeClr val="accent1"/>
          </a:solidFill>
          <a:ln w="12700">
            <a:solidFill>
              <a:schemeClr val="accent1"/>
            </a:solidFill>
            <a:prstDash val="solid"/>
          </a:ln>
        </p:spPr>
      </p:sp>
      <p:sp>
        <p:nvSpPr>
          <p:cNvPr id="4" name="text-965"/>
          <p:cNvSpPr txBox="1"/>
          <p:nvPr/>
        </p:nvSpPr>
        <p:spPr>
          <a:xfrm>
            <a:off x="731520" y="548640"/>
            <a:ext cx="5486400" cy="201168"/>
          </a:xfrm>
          <a:prstGeom prst="rect">
            <a:avLst/>
          </a:prstGeom>
          <a:noFill/>
          <a:ln/>
        </p:spPr>
        <p:txBody>
          <a:bodyPr wrap="square" lIns="0" tIns="0" rIns="0" bIns="0" rtlCol="0" anchor="t"/>
          <a:lstStyle/>
          <a:p>
            <a:pPr indent="0" marL="0">
              <a:buNone/>
            </a:pPr>
            <a:r>
              <a:rPr lang="en-US" sz="900" b="1" spc="300" kern="0" dirty="0">
                <a:solidFill>
                  <a:schemeClr val="accent1"/>
                </a:solidFill>
              </a:rPr>
              <a:t>JOIN US</a:t>
            </a:r>
            <a:endParaRPr lang="en-US" sz="900" dirty="0"/>
          </a:p>
        </p:txBody>
      </p:sp>
      <p:sp>
        <p:nvSpPr>
          <p:cNvPr id="5" name="text-966"/>
          <p:cNvSpPr txBox="1"/>
          <p:nvPr/>
        </p:nvSpPr>
        <p:spPr>
          <a:xfrm>
            <a:off x="548640" y="777240"/>
            <a:ext cx="3200400" cy="1188720"/>
          </a:xfrm>
          <a:prstGeom prst="rect">
            <a:avLst/>
          </a:prstGeom>
          <a:noFill/>
          <a:ln/>
          <a:effectLst>
            <a:outerShdw sx="100000" sy="100000" kx="0" ky="0" algn="bl" rotWithShape="0" blurRad="76200" dist="12700" dir="5400000">
              <a:srgbClr val="06102A">
                <a:alpha val="60000"/>
              </a:srgbClr>
            </a:outerShdw>
          </a:effectLst>
        </p:spPr>
        <p:txBody>
          <a:bodyPr wrap="square" lIns="0" tIns="0" rIns="0" bIns="0" rtlCol="0" anchor="t"/>
          <a:lstStyle/>
          <a:p>
            <a:pPr indent="0" marL="0">
              <a:lnSpc>
                <a:spcPct val="92000"/>
              </a:lnSpc>
              <a:buNone/>
            </a:pPr>
            <a:r>
              <a:rPr lang="en-US" sz="3600" b="1" dirty="0">
                <a:solidFill>
                  <a:schemeClr val="bg1"/>
                </a:solidFill>
                <a:latin typeface="+mj-lt" pitchFamily="34" charset="0"/>
                <a:ea typeface="+mj-lt" pitchFamily="34" charset="-122"/>
                <a:cs typeface="+mj-lt" pitchFamily="34" charset="-120"/>
              </a:rPr>
              <a:t>Warm, Green and Ready</a:t>
            </a:r>
            <a:endParaRPr lang="en-US" sz="3600" dirty="0"/>
          </a:p>
        </p:txBody>
      </p:sp>
      <p:sp>
        <p:nvSpPr>
          <p:cNvPr id="6" name="panel-967"/>
          <p:cNvSpPr/>
          <p:nvPr/>
        </p:nvSpPr>
        <p:spPr>
          <a:xfrm>
            <a:off x="365760" y="1965960"/>
            <a:ext cx="3246120" cy="3108960"/>
          </a:xfrm>
          <a:prstGeom prst="rect">
            <a:avLst/>
          </a:prstGeom>
          <a:solidFill>
            <a:schemeClr val="tx1">
              <a:alpha val="72000"/>
            </a:schemeClr>
          </a:solidFill>
          <a:ln w="12700">
            <a:solidFill>
              <a:schemeClr val="tx1">
                <a:alpha val="0"/>
              </a:schemeClr>
            </a:solidFill>
            <a:prstDash val="solid"/>
          </a:ln>
        </p:spPr>
      </p:sp>
      <p:sp>
        <p:nvSpPr>
          <p:cNvPr id="7" name="text-968"/>
          <p:cNvSpPr txBox="1"/>
          <p:nvPr/>
        </p:nvSpPr>
        <p:spPr>
          <a:xfrm>
            <a:off x="548640" y="2103120"/>
            <a:ext cx="2880360" cy="2194560"/>
          </a:xfrm>
          <a:prstGeom prst="rect">
            <a:avLst/>
          </a:prstGeom>
          <a:noFill/>
          <a:ln/>
        </p:spPr>
        <p:txBody>
          <a:bodyPr wrap="square" lIns="0" tIns="0" rIns="0" bIns="0" rtlCol="0" anchor="t"/>
          <a:lstStyle/>
          <a:p>
            <a:pPr indent="0" marL="0">
              <a:lnSpc>
                <a:spcPct val="108000"/>
              </a:lnSpc>
              <a:buNone/>
            </a:pPr>
            <a:r>
              <a:rPr lang="en-US" sz="950" dirty="0">
                <a:solidFill>
                  <a:schemeClr val="bg1"/>
                </a:solidFill>
              </a:rPr>
              <a:t>As we conclude this feature on Aurora Haven, we are left with more than just an impression of futuristic design – we are reminded of our shared responsibility toward the planet. The project clearly demonstrates that advanced technology and nature can coexist in harmony when guided by vision and innovation. Aurora Haven not only sets a precedent for resilient urban planning in extreme climates, but also serves as a powerful inspiration for a sustainable future where human communities are built to endure. May the concepts presented here spark further dialog and inspire bold solutions for generations to come.</a:t>
            </a:r>
            <a:endParaRPr lang="en-US" sz="950" dirty="0"/>
          </a:p>
        </p:txBody>
      </p:sp>
      <p:sp>
        <p:nvSpPr>
          <p:cNvPr id="8" name="text-969"/>
          <p:cNvSpPr txBox="1"/>
          <p:nvPr/>
        </p:nvSpPr>
        <p:spPr>
          <a:xfrm>
            <a:off x="548640" y="4114800"/>
            <a:ext cx="2880360" cy="868680"/>
          </a:xfrm>
          <a:prstGeom prst="rect">
            <a:avLst/>
          </a:prstGeom>
          <a:noFill/>
          <a:ln/>
        </p:spPr>
        <p:txBody>
          <a:bodyPr wrap="square" lIns="0" tIns="0" rIns="0" bIns="0" rtlCol="0" anchor="t"/>
          <a:lstStyle/>
          <a:p>
            <a:pPr indent="0" marL="0">
              <a:lnSpc>
                <a:spcPct val="108000"/>
              </a:lnSpc>
              <a:buNone/>
            </a:pPr>
            <a:r>
              <a:rPr lang="en-US" sz="950" b="1" dirty="0">
                <a:solidFill>
                  <a:schemeClr val="accent1"/>
                </a:solidFill>
              </a:rPr>
              <a:t>Be one of the first polar citizens. </a:t>
            </a:r>
            <a:pPr indent="0" marL="0">
              <a:lnSpc>
                <a:spcPct val="108000"/>
              </a:lnSpc>
              <a:buNone/>
            </a:pPr>
            <a:r>
              <a:rPr lang="en-US" sz="950" dirty="0">
                <a:solidFill>
                  <a:schemeClr val="bg1"/>
                </a:solidFill>
              </a:rPr>
              <a:t>Buy a community share in our wind and solar farms through the Aurora Green Finance Hall, study polar science at Arctic University, or come for a night at the Mount Aurora spa.</a:t>
            </a:r>
            <a:endParaRPr lang="en-US" sz="950" dirty="0"/>
          </a:p>
        </p:txBody>
      </p:sp>
      <p:sp>
        <p:nvSpPr>
          <p:cNvPr id="9" name="panel-970"/>
          <p:cNvSpPr/>
          <p:nvPr/>
        </p:nvSpPr>
        <p:spPr>
          <a:xfrm>
            <a:off x="3794760" y="502920"/>
            <a:ext cx="3218688" cy="4572000"/>
          </a:xfrm>
          <a:prstGeom prst="rect">
            <a:avLst/>
          </a:prstGeom>
          <a:solidFill>
            <a:schemeClr val="tx1">
              <a:alpha val="72000"/>
            </a:schemeClr>
          </a:solidFill>
          <a:ln w="12700">
            <a:solidFill>
              <a:schemeClr val="tx1">
                <a:alpha val="0"/>
              </a:schemeClr>
            </a:solidFill>
            <a:prstDash val="solid"/>
          </a:ln>
        </p:spPr>
      </p:sp>
      <p:pic>
        <p:nvPicPr>
          <p:cNvPr id="10" name="city-logo" descr="/home/user/chatbox-bi-n-o/magazine/assets/ui/logo.png">    </p:cNvPr>
          <p:cNvPicPr>
            <a:picLocks noChangeAspect="1"/>
          </p:cNvPicPr>
          <p:nvPr/>
        </p:nvPicPr>
        <p:blipFill>
          <a:blip r:embed="rId2"/>
          <a:stretch>
            <a:fillRect/>
          </a:stretch>
        </p:blipFill>
        <p:spPr>
          <a:xfrm>
            <a:off x="3977640" y="685800"/>
            <a:ext cx="960120" cy="960120"/>
          </a:xfrm>
          <a:prstGeom prst="rect">
            <a:avLst/>
          </a:prstGeom>
        </p:spPr>
      </p:pic>
      <p:sp>
        <p:nvSpPr>
          <p:cNvPr id="11" name="text-971"/>
          <p:cNvSpPr txBox="1"/>
          <p:nvPr/>
        </p:nvSpPr>
        <p:spPr>
          <a:xfrm>
            <a:off x="5074920" y="841248"/>
            <a:ext cx="1801368" cy="292608"/>
          </a:xfrm>
          <a:prstGeom prst="rect">
            <a:avLst/>
          </a:prstGeom>
          <a:noFill/>
          <a:ln/>
        </p:spPr>
        <p:txBody>
          <a:bodyPr wrap="square" lIns="0" tIns="0" rIns="0" bIns="0" rtlCol="0" anchor="t"/>
          <a:lstStyle/>
          <a:p>
            <a:pPr indent="0" marL="0">
              <a:buNone/>
            </a:pPr>
            <a:r>
              <a:rPr lang="en-US" sz="1600" b="1" spc="100" kern="0" dirty="0">
                <a:solidFill>
                  <a:schemeClr val="bg1"/>
                </a:solidFill>
                <a:latin typeface="+mj-lt" pitchFamily="34" charset="0"/>
                <a:ea typeface="+mj-lt" pitchFamily="34" charset="-122"/>
                <a:cs typeface="+mj-lt" pitchFamily="34" charset="-120"/>
              </a:rPr>
              <a:t>AURORA HAVEN</a:t>
            </a:r>
            <a:endParaRPr lang="en-US" sz="1600" dirty="0"/>
          </a:p>
        </p:txBody>
      </p:sp>
      <p:sp>
        <p:nvSpPr>
          <p:cNvPr id="12" name="text-972"/>
          <p:cNvSpPr txBox="1"/>
          <p:nvPr/>
        </p:nvSpPr>
        <p:spPr>
          <a:xfrm>
            <a:off x="5074920" y="1143000"/>
            <a:ext cx="1801368" cy="274320"/>
          </a:xfrm>
          <a:prstGeom prst="rect">
            <a:avLst/>
          </a:prstGeom>
          <a:noFill/>
          <a:ln/>
        </p:spPr>
        <p:txBody>
          <a:bodyPr wrap="square" lIns="0" tIns="0" rIns="0" bIns="0" rtlCol="0" anchor="t"/>
          <a:lstStyle/>
          <a:p>
            <a:pPr indent="0" marL="0">
              <a:buNone/>
            </a:pPr>
            <a:r>
              <a:rPr lang="en-US" sz="1100" i="1" dirty="0">
                <a:solidFill>
                  <a:schemeClr val="bg2"/>
                </a:solidFill>
                <a:latin typeface="+mj-lt" pitchFamily="34" charset="0"/>
                <a:ea typeface="+mj-lt" pitchFamily="34" charset="-122"/>
                <a:cs typeface="+mj-lt" pitchFamily="34" charset="-120"/>
              </a:rPr>
              <a:t>A polar city that thrives</a:t>
            </a:r>
            <a:endParaRPr lang="en-US" sz="1100" dirty="0"/>
          </a:p>
        </p:txBody>
      </p:sp>
      <p:sp>
        <p:nvSpPr>
          <p:cNvPr id="13" name="text-973"/>
          <p:cNvSpPr txBox="1"/>
          <p:nvPr/>
        </p:nvSpPr>
        <p:spPr>
          <a:xfrm>
            <a:off x="3977640" y="1737360"/>
            <a:ext cx="1801368" cy="1371600"/>
          </a:xfrm>
          <a:prstGeom prst="rect">
            <a:avLst/>
          </a:prstGeom>
          <a:noFill/>
          <a:ln/>
        </p:spPr>
        <p:txBody>
          <a:bodyPr wrap="square" lIns="0" tIns="0" rIns="0" bIns="0" rtlCol="0" anchor="t"/>
          <a:lstStyle/>
          <a:p>
            <a:pPr indent="0" marL="0">
              <a:lnSpc>
                <a:spcPct val="100000"/>
              </a:lnSpc>
              <a:spcAft>
                <a:spcPts val="400"/>
              </a:spcAft>
              <a:buNone/>
            </a:pPr>
            <a:r>
              <a:rPr lang="en-US" sz="950" b="1" spc="200" kern="0" dirty="0">
                <a:solidFill>
                  <a:schemeClr val="accent1"/>
                </a:solidFill>
              </a:rPr>
              <a:t>CONTACT THE TEAM</a:t>
            </a:r>
            <a:endParaRPr lang="en-US" sz="950" dirty="0"/>
          </a:p>
          <a:p>
            <a:pPr indent="0" marL="0">
              <a:lnSpc>
                <a:spcPct val="100000"/>
              </a:lnSpc>
              <a:buNone/>
            </a:pPr>
            <a:r>
              <a:rPr lang="en-US" sz="950" b="1" dirty="0">
                <a:solidFill>
                  <a:schemeClr val="bg1"/>
                </a:solidFill>
              </a:rPr>
              <a:t>Polar City</a:t>
            </a:r>
            <a:endParaRPr lang="en-US" sz="950" dirty="0"/>
          </a:p>
          <a:p>
            <a:pPr indent="0" marL="0">
              <a:lnSpc>
                <a:spcPct val="100000"/>
              </a:lnSpc>
              <a:buNone/>
            </a:pPr>
            <a:r>
              <a:rPr lang="en-US" sz="800" dirty="0">
                <a:solidFill>
                  <a:schemeClr val="bg1"/>
                </a:solidFill>
                <a:latin typeface="Arial" pitchFamily="34" charset="0"/>
                <a:ea typeface="Arial" pitchFamily="34" charset="-122"/>
                <a:cs typeface="Arial" pitchFamily="34" charset="-120"/>
              </a:rPr>
              <a:t>Nguyễn Đông Bảo</a:t>
            </a:r>
            <a:endParaRPr lang="en-US" sz="950" dirty="0"/>
          </a:p>
          <a:p>
            <a:pPr indent="0" marL="0">
              <a:lnSpc>
                <a:spcPct val="100000"/>
              </a:lnSpc>
              <a:buNone/>
            </a:pPr>
            <a:r>
              <a:rPr lang="en-US" sz="800" dirty="0">
                <a:solidFill>
                  <a:schemeClr val="bg1"/>
                </a:solidFill>
                <a:latin typeface="Arial" pitchFamily="34" charset="0"/>
                <a:ea typeface="Arial" pitchFamily="34" charset="-122"/>
                <a:cs typeface="Arial" pitchFamily="34" charset="-120"/>
              </a:rPr>
              <a:t>Nguyễn Bá Hiếu Thiện</a:t>
            </a:r>
            <a:endParaRPr lang="en-US" sz="950" dirty="0"/>
          </a:p>
          <a:p>
            <a:pPr indent="0" marL="0">
              <a:lnSpc>
                <a:spcPct val="100000"/>
              </a:lnSpc>
              <a:buNone/>
            </a:pPr>
            <a:r>
              <a:rPr lang="en-US" sz="800" dirty="0">
                <a:solidFill>
                  <a:schemeClr val="bg1"/>
                </a:solidFill>
                <a:latin typeface="Arial" pitchFamily="34" charset="0"/>
                <a:ea typeface="Arial" pitchFamily="34" charset="-122"/>
                <a:cs typeface="Arial" pitchFamily="34" charset="-120"/>
              </a:rPr>
              <a:t>Phan Minh Khôi</a:t>
            </a:r>
            <a:endParaRPr lang="en-US" sz="950" dirty="0"/>
          </a:p>
          <a:p>
            <a:pPr indent="0" marL="0">
              <a:lnSpc>
                <a:spcPct val="100000"/>
              </a:lnSpc>
              <a:buNone/>
            </a:pPr>
            <a:r>
              <a:rPr lang="en-US" sz="800" dirty="0">
                <a:solidFill>
                  <a:schemeClr val="bg1"/>
                </a:solidFill>
                <a:latin typeface="Arial" pitchFamily="34" charset="0"/>
                <a:ea typeface="Arial" pitchFamily="34" charset="-122"/>
                <a:cs typeface="Arial" pitchFamily="34" charset="-120"/>
              </a:rPr>
              <a:t>Dương Hàng Nguyên</a:t>
            </a:r>
            <a:endParaRPr lang="en-US" sz="950" dirty="0"/>
          </a:p>
          <a:p>
            <a:pPr indent="0" marL="0">
              <a:lnSpc>
                <a:spcPct val="100000"/>
              </a:lnSpc>
              <a:buNone/>
            </a:pPr>
            <a:r>
              <a:rPr lang="en-US" sz="800" dirty="0">
                <a:solidFill>
                  <a:schemeClr val="bg1"/>
                </a:solidFill>
                <a:latin typeface="Arial" pitchFamily="34" charset="0"/>
                <a:ea typeface="Arial" pitchFamily="34" charset="-122"/>
                <a:cs typeface="Arial" pitchFamily="34" charset="-120"/>
              </a:rPr>
              <a:t>Phạm Phước Khoa</a:t>
            </a:r>
            <a:endParaRPr lang="en-US" sz="950" dirty="0"/>
          </a:p>
          <a:p>
            <a:pPr indent="0" marL="0">
              <a:lnSpc>
                <a:spcPct val="100000"/>
              </a:lnSpc>
              <a:buNone/>
            </a:pPr>
            <a:r>
              <a:rPr lang="en-US" sz="800" dirty="0">
                <a:solidFill>
                  <a:schemeClr val="bg1"/>
                </a:solidFill>
                <a:latin typeface="Arial" pitchFamily="34" charset="0"/>
                <a:ea typeface="Arial" pitchFamily="34" charset="-122"/>
                <a:cs typeface="Arial" pitchFamily="34" charset="-120"/>
              </a:rPr>
              <a:t>Nguyễn Minh Triết</a:t>
            </a:r>
            <a:endParaRPr lang="en-US" sz="950" dirty="0"/>
          </a:p>
          <a:p>
            <a:pPr indent="0" marL="0">
              <a:lnSpc>
                <a:spcPct val="100000"/>
              </a:lnSpc>
              <a:buNone/>
            </a:pPr>
            <a:r>
              <a:rPr lang="en-US" sz="800" dirty="0">
                <a:solidFill>
                  <a:schemeClr val="bg1"/>
                </a:solidFill>
                <a:latin typeface="Arial" pitchFamily="34" charset="0"/>
                <a:ea typeface="Arial" pitchFamily="34" charset="-122"/>
                <a:cs typeface="Arial" pitchFamily="34" charset="-120"/>
              </a:rPr>
              <a:t>Class 11A4 · Lê Quý Đôn High School</a:t>
            </a:r>
            <a:endParaRPr lang="en-US" sz="950" dirty="0"/>
          </a:p>
        </p:txBody>
      </p:sp>
      <p:pic>
        <p:nvPicPr>
          <p:cNvPr id="14" name="school-logo" descr="/home/user/chatbox-bi-n-o/magazine/assets/ui/school_logo.png">    </p:cNvPr>
          <p:cNvPicPr>
            <a:picLocks noChangeAspect="1"/>
          </p:cNvPicPr>
          <p:nvPr/>
        </p:nvPicPr>
        <p:blipFill>
          <a:blip r:embed="rId3"/>
          <a:stretch>
            <a:fillRect/>
          </a:stretch>
        </p:blipFill>
        <p:spPr>
          <a:xfrm>
            <a:off x="5897880" y="1874520"/>
            <a:ext cx="960120" cy="960120"/>
          </a:xfrm>
          <a:prstGeom prst="rect">
            <a:avLst/>
          </a:prstGeom>
        </p:spPr>
      </p:pic>
      <p:sp>
        <p:nvSpPr>
          <p:cNvPr id="15" name="card-974"/>
          <p:cNvSpPr/>
          <p:nvPr/>
        </p:nvSpPr>
        <p:spPr>
          <a:xfrm>
            <a:off x="3931920" y="3108960"/>
            <a:ext cx="2944368" cy="1783080"/>
          </a:xfrm>
          <a:prstGeom prst="roundRect">
            <a:avLst>
              <a:gd name="adj" fmla="val 4103"/>
            </a:avLst>
          </a:prstGeom>
          <a:solidFill>
            <a:schemeClr val="bg1"/>
          </a:solidFill>
          <a:ln w="12700">
            <a:solidFill>
              <a:schemeClr val="bg1"/>
            </a:solidFill>
            <a:prstDash val="solid"/>
          </a:ln>
        </p:spPr>
      </p:sp>
      <p:pic>
        <p:nvPicPr>
          <p:cNvPr id="16" name="qr-interview-975" descr="/home/user/chatbox-bi-n-o/magazine/assets/ui/qr_flipbook.png">
            <a:hlinkClick r:id="rId5" tooltip="Read the interactive edition"/>
          </p:cNvPr>
          <p:cNvPicPr>
            <a:picLocks noChangeAspect="1"/>
          </p:cNvPicPr>
          <p:nvPr/>
        </p:nvPicPr>
        <p:blipFill>
          <a:blip r:embed="rId4"/>
          <a:stretch>
            <a:fillRect/>
          </a:stretch>
        </p:blipFill>
        <p:spPr>
          <a:xfrm>
            <a:off x="4069080" y="3411626"/>
            <a:ext cx="1177747" cy="1177747"/>
          </a:xfrm>
          <a:prstGeom prst="rect">
            <a:avLst/>
          </a:prstGeom>
        </p:spPr>
      </p:pic>
      <p:sp>
        <p:nvSpPr>
          <p:cNvPr id="17" name="text-976"/>
          <p:cNvSpPr txBox="1"/>
          <p:nvPr/>
        </p:nvSpPr>
        <p:spPr>
          <a:xfrm>
            <a:off x="5429707" y="3246120"/>
            <a:ext cx="1309421" cy="1508760"/>
          </a:xfrm>
          <a:prstGeom prst="rect">
            <a:avLst/>
          </a:prstGeom>
          <a:noFill/>
          <a:ln/>
        </p:spPr>
        <p:txBody>
          <a:bodyPr wrap="square" lIns="0" tIns="0" rIns="0" bIns="0" rtlCol="0" anchor="ctr"/>
          <a:lstStyle/>
          <a:p>
            <a:pPr indent="0" marL="0">
              <a:lnSpc>
                <a:spcPct val="100000"/>
              </a:lnSpc>
              <a:spcAft>
                <a:spcPts val="300"/>
              </a:spcAft>
              <a:buNone/>
            </a:pPr>
            <a:r>
              <a:rPr lang="en-US" sz="800" b="1" spc="150" kern="0" dirty="0">
                <a:solidFill>
                  <a:schemeClr val="accent4"/>
                </a:solidFill>
              </a:rPr>
              <a:t>SCAN TO READ</a:t>
            </a:r>
            <a:endParaRPr lang="en-US" sz="1050" dirty="0"/>
          </a:p>
          <a:p>
            <a:pPr indent="0" marL="0">
              <a:lnSpc>
                <a:spcPct val="100000"/>
              </a:lnSpc>
              <a:spcAft>
                <a:spcPts val="300"/>
              </a:spcAft>
              <a:buNone/>
            </a:pPr>
            <a:r>
              <a:rPr lang="en-US" sz="1200" b="1" dirty="0">
                <a:solidFill>
                  <a:schemeClr val="tx1"/>
                </a:solidFill>
                <a:latin typeface="+mj-lt" pitchFamily="34" charset="0"/>
                <a:ea typeface="+mj-lt" pitchFamily="34" charset="-122"/>
                <a:cs typeface="+mj-lt" pitchFamily="34" charset="-120"/>
              </a:rPr>
              <a:t>The interactive edition</a:t>
            </a:r>
            <a:endParaRPr lang="en-US" sz="1050" dirty="0"/>
          </a:p>
          <a:p>
            <a:pPr indent="0" marL="0">
              <a:lnSpc>
                <a:spcPct val="100000"/>
              </a:lnSpc>
              <a:buNone/>
            </a:pPr>
            <a:r>
              <a:rPr lang="en-US" sz="850" dirty="0">
                <a:solidFill>
                  <a:schemeClr val="tx2"/>
                </a:solidFill>
              </a:rPr>
              <a:t>Flip through this magazine online on FlipHTML5</a:t>
            </a:r>
            <a:endParaRPr lang="en-US" sz="1050" dirty="0"/>
          </a:p>
          <a:p>
            <a:pPr indent="0" marL="0">
              <a:lnSpc>
                <a:spcPct val="100000"/>
              </a:lnSpc>
              <a:buNone/>
            </a:pPr>
            <a:r>
              <a:rPr lang="en-US" sz="850" b="1" u="sng" dirty="0">
                <a:solidFill>
                  <a:schemeClr val="accent6"/>
                </a:solidFill>
                <a:hlinkClick r:id="rId5" invalidUrl="" action="" tgtFrame="" tooltip="Read the interactive edition" history="1" highlightClick="0" endSnd="0">
                  <a:extLst>
                    <a:ext uri="{A12FA001-AC4F-418D-AE19-62706E023703}">
                      <ahyp:hlinkClr xmlns:ahyp="http://schemas.microsoft.com/office/drawing/2018/hyperlinkcolor" val="tx"/>
                    </a:ext>
                  </a:extLst>
                </a:hlinkClick>
              </a:rPr>
              <a:t>Open the flipbook</a:t>
            </a:r>
            <a:endParaRPr lang="en-US" sz="1050" dirty="0"/>
          </a:p>
        </p:txBody>
      </p:sp>
    </p:spTree>
  </p:cSld>
  <p:clrMapOvr>
    <a:masterClrMapping/>
  </p:clrMapOvr>
</p:sld>
</file>

<file path=ppt/theme/theme1.xml><?xml version="1.0" encoding="utf-8"?>
<a:theme xmlns:a="http://schemas.openxmlformats.org/drawingml/2006/main" name="Aurora Haven">
  <a:themeElements>
    <a:clrScheme name="Aurora Haven">
      <a:dk1>
        <a:srgbClr val="0E1A36"/>
      </a:dk1>
      <a:lt1>
        <a:srgbClr val="FFFFFF"/>
      </a:lt1>
      <a:dk2>
        <a:srgbClr val="4A5A75"/>
      </a:dk2>
      <a:lt2>
        <a:srgbClr val="EEF3F8"/>
      </a:lt2>
      <a:accent1>
        <a:srgbClr val="1FB58F"/>
      </a:accent1>
      <a:accent2>
        <a:srgbClr val="E06A2E"/>
      </a:accent2>
      <a:accent3>
        <a:srgbClr val="7B4FD6"/>
      </a:accent3>
      <a:accent4>
        <a:srgbClr val="0E8379"/>
      </a:accent4>
      <a:accent5>
        <a:srgbClr val="C9456F"/>
      </a:accent5>
      <a:accent6>
        <a:srgbClr val="4A7FC1"/>
      </a:accent6>
      <a:hlink>
        <a:srgbClr val="4A7FC1"/>
      </a:hlink>
      <a:folHlink>
        <a:srgbClr val="7B4FD6"/>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Aurora Haven – Issue 01</dc:title>
  <dc:subject>A polar city that thrives</dc:subject>
  <dc:creator>Polar City team, class 11A4, Lê Quý Đôn High School</dc:creator>
  <cp:lastModifiedBy>Polar City team, class 11A4, Lê Quý Đôn High School</cp:lastModifiedBy>
  <cp:revision>1</cp:revision>
  <dcterms:created xsi:type="dcterms:W3CDTF">2026-10-29T10:44:28Z</dcterms:created>
  <dcterms:modified xsi:type="dcterms:W3CDTF">2026-10-29T10:44:28Z</dcterms:modified>
</cp:coreProperties>
</file>