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5bcced9-1e8d-b5d0-e382-da0546a1df7c}">
          <p14:sldIdLst>
            <p14:sldId id="256"/>
          </p14:sldIdLst>
        </p14:section>
        <p14:section name="Welcome" id="{b1096c4c-54a9-a8db-26a6-89d51e47df03}">
          <p14:sldIdLst>
            <p14:sldId id="257"/>
            <p14:sldId id="258"/>
            <p14:sldId id="259"/>
            <p14:sldId id="260"/>
          </p14:sldIdLst>
        </p14:section>
        <p14:section name="The City" id="{bce6cc3e-6f1b-b251-1665-e52e10aabb45}">
          <p14:sldIdLst>
            <p14:sldId id="261"/>
            <p14:sldId id="262"/>
            <p14:sldId id="263"/>
            <p14:sldId id="264"/>
            <p14:sldId id="265"/>
            <p14:sldId id="266"/>
            <p14:sldId id="267"/>
            <p14:sldId id="268"/>
          </p14:sldIdLst>
        </p14:section>
        <p14:section name="Signature Districts" id="{01ecc5eb-10a4-77e3-3d44-c8c88bb255c9}">
          <p14:sldIdLst>
            <p14:sldId id="269"/>
            <p14:sldId id="270"/>
            <p14:sldId id="271"/>
            <p14:sldId id="272"/>
            <p14:sldId id="273"/>
            <p14:sldId id="274"/>
            <p14:sldId id="275"/>
            <p14:sldId id="276"/>
            <p14:sldId id="277"/>
            <p14:sldId id="278"/>
            <p14:sldId id="279"/>
          </p14:sldIdLst>
        </p14:section>
        <p14:section name="Living in Aurora Haven" id="{611839ba-b5e0-1463-06ea-5e50c0de2d14}">
          <p14:sldIdLst>
            <p14:sldId id="280"/>
            <p14:sldId id="281"/>
            <p14:sldId id="282"/>
            <p14:sldId id="283"/>
            <p14:sldId id="284"/>
            <p14:sldId id="285"/>
            <p14:sldId id="286"/>
          </p14:sldIdLst>
        </p14:section>
        <p14:section name="Guide" id="{22322608-aad1-453f-a8f2-3abde84314b7}">
          <p14:sldIdLst>
            <p14:sldId id="287"/>
            <p14:sldId id="288"/>
            <p14:sldId id="289"/>
            <p14:sldId id="290"/>
          </p14:sldIdLst>
        </p14:section>
        <p14:section name="Back Cover" id="{d03fc94d-e527-cef4-a3e4-77699d4646f5}">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1.jpg"/><Relationship Id="rId2" Type="http://schemas.openxmlformats.org/officeDocument/2006/relationships/image" Target="../media/image-3-2.png"/><Relationship Id="rId4" Type="http://schemas.openxmlformats.org/officeDocument/2006/relationships/slideLayout" Target="../slideLayouts/slideLayout6.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5.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8.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8.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8.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8.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6.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8.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2-1.jpg"/><Relationship Id="rId2" Type="http://schemas.openxmlformats.org/officeDocument/2006/relationships/image" Target="../media/image-32-2.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4" Type="http://schemas.openxmlformats.org/officeDocument/2006/relationships/hyperlink" Target="https://youtu.be/QwcP_2Q3Esc" TargetMode="External"/><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image" Target="../media/image-36-3.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13</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87"/>
          <p:cNvSpPr/>
          <p:nvPr/>
        </p:nvSpPr>
        <p:spPr>
          <a:xfrm>
            <a:off x="548640" y="868680"/>
            <a:ext cx="548640" cy="45720"/>
          </a:xfrm>
          <a:prstGeom prst="rect">
            <a:avLst/>
          </a:prstGeom>
          <a:solidFill>
            <a:schemeClr val="tx1"/>
          </a:solidFill>
          <a:ln w="12700">
            <a:solidFill>
              <a:schemeClr val="tx1"/>
            </a:solidFill>
            <a:prstDash val="solid"/>
          </a:ln>
        </p:spPr>
      </p:sp>
      <p:sp>
        <p:nvSpPr>
          <p:cNvPr id="5" name="text-88"/>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89" descr="/home/user/chatbox-bi-n-o/magazine/assets/renders/lagoon.jpg">    </p:cNvPr>
          <p:cNvPicPr>
            <a:picLocks noChangeAspect="1"/>
          </p:cNvPicPr>
          <p:nvPr/>
        </p:nvPicPr>
        <p:blipFill>
          <a:blip r:embed="rId1"/>
          <a:srcRect l="0" r="0" t="0" b="0"/>
          <a:stretch/>
        </p:blipFill>
        <p:spPr>
          <a:xfrm>
            <a:off x="0" y="2240280"/>
            <a:ext cx="7562088" cy="2514600"/>
          </a:xfrm>
          <a:prstGeom prst="rect">
            <a:avLst/>
          </a:prstGeom>
        </p:spPr>
      </p:pic>
      <p:sp>
        <p:nvSpPr>
          <p:cNvPr id="7" name="text-90"/>
          <p:cNvSpPr txBox="1"/>
          <p:nvPr/>
        </p:nvSpPr>
        <p:spPr>
          <a:xfrm>
            <a:off x="548640" y="4809744"/>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1"/>
          <p:cNvSpPr txBox="1"/>
          <p:nvPr/>
        </p:nvSpPr>
        <p:spPr>
          <a:xfrm>
            <a:off x="548640" y="5193792"/>
            <a:ext cx="3095244" cy="2103120"/>
          </a:xfrm>
          <a:prstGeom prst="rect">
            <a:avLst/>
          </a:prstGeom>
          <a:noFill/>
          <a:ln/>
        </p:spPr>
        <p:txBody>
          <a:bodyPr wrap="square" lIns="0" tIns="0" rIns="0" bIns="0" rtlCol="0" anchor="t"/>
          <a:lstStyle/>
          <a:p>
            <a:pPr indent="0" marL="0">
              <a:lnSpc>
                <a:spcPct val="112000"/>
              </a:lnSpc>
              <a:buNone/>
            </a:pPr>
            <a:r>
              <a:rPr lang="en-US" sz="1000" b="1" spc="100" kern="0" dirty="0">
                <a:solidFill>
                  <a:schemeClr val="tx1"/>
                </a:solidFill>
              </a:rPr>
              <a:t>DEAR READER, </a:t>
            </a:r>
            <a:pPr indent="0" marL="0">
              <a:lnSpc>
                <a:spcPct val="112000"/>
              </a:lnSpc>
              <a:spcAft>
                <a:spcPts val="700"/>
              </a:spcAft>
              <a:buNone/>
            </a:pPr>
            <a:r>
              <a:rPr lang="en-US" sz="1000" dirty="0">
                <a:solidFill>
                  <a:schemeClr val="tx1"/>
                </a:solidFill>
              </a:rPr>
              <a:t>welcome to the first issue of Aurora Haven, the city our team designed for the Polar / Ice environment: a compact, zero-carbon home for about 45,000 people on a frozen tundra plateau, below a 35-metre snow peak called Mount Aurora.</a:t>
            </a:r>
            <a:endParaRPr lang="en-US" sz="1000" dirty="0"/>
          </a:p>
          <a:p>
            <a:pPr indent="0" marL="0">
              <a:lnSpc>
                <a:spcPct val="112000"/>
              </a:lnSpc>
              <a:spcAft>
                <a:spcPts val="700"/>
              </a:spcAft>
              <a:buNone/>
            </a:pPr>
            <a:r>
              <a:rPr lang="en-US" sz="1000" dirty="0">
                <a:solidFill>
                  <a:schemeClr val="tx1"/>
                </a:solidFill>
              </a:rPr>
              <a:t>The Arctic is warming nearly four times faster than the rest of the planet [1], and the frozen ground under its towns is starting to thaw [2]. We wanted to prove that people can live well here without fossil fuels and without harming the tundra.</a:t>
            </a:r>
            <a:endParaRPr lang="en-US" sz="1000" dirty="0"/>
          </a:p>
        </p:txBody>
      </p:sp>
      <p:sp>
        <p:nvSpPr>
          <p:cNvPr id="9" name="text-92"/>
          <p:cNvSpPr txBox="1"/>
          <p:nvPr/>
        </p:nvSpPr>
        <p:spPr>
          <a:xfrm>
            <a:off x="3918204" y="5193792"/>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Inside you will find the crisis and our mission, the systems that keep the city warm, fed and safe, three breakthrough districts, and an honest look at their pros and cons.</a:t>
            </a:r>
            <a:endParaRPr lang="en-US" sz="1000" dirty="0"/>
          </a:p>
          <a:p>
            <a:pPr indent="0" marL="0">
              <a:lnSpc>
                <a:spcPct val="112000"/>
              </a:lnSpc>
              <a:spcAft>
                <a:spcPts val="700"/>
              </a:spcAft>
              <a:buNone/>
            </a:pPr>
            <a:r>
              <a:rPr lang="en-US" sz="1000" dirty="0">
                <a:solidFill>
                  <a:schemeClr val="tx1"/>
                </a:solidFill>
              </a:rPr>
              <a:t>Every picture was rendered from our own 3D model of the city. Scan the code below to watch our real-world interview.</a:t>
            </a:r>
            <a:endParaRPr lang="en-US" sz="1000" dirty="0"/>
          </a:p>
        </p:txBody>
      </p:sp>
      <p:sp>
        <p:nvSpPr>
          <p:cNvPr id="10" name="text-93"/>
          <p:cNvSpPr txBox="1"/>
          <p:nvPr/>
        </p:nvSpPr>
        <p:spPr>
          <a:xfrm>
            <a:off x="3918204" y="6565392"/>
            <a:ext cx="3095244" cy="228600"/>
          </a:xfrm>
          <a:prstGeom prst="rect">
            <a:avLst/>
          </a:prstGeom>
          <a:noFill/>
          <a:ln/>
        </p:spPr>
        <p:txBody>
          <a:bodyPr wrap="square" lIns="0" tIns="0" rIns="0" bIns="0" rtlCol="0" anchor="t"/>
          <a:lstStyle/>
          <a:p>
            <a:pPr indent="0" marL="0">
              <a:buNone/>
            </a:pPr>
            <a:r>
              <a:rPr lang="en-US" sz="1000" i="1" dirty="0">
                <a:solidFill>
                  <a:schemeClr val="tx2"/>
                </a:solidFill>
              </a:rPr>
              <a:t>With warm wishes from the founders,</a:t>
            </a:r>
            <a:endParaRPr lang="en-US" sz="1000" dirty="0"/>
          </a:p>
        </p:txBody>
      </p:sp>
      <p:sp>
        <p:nvSpPr>
          <p:cNvPr id="11" name="text-94"/>
          <p:cNvSpPr txBox="1"/>
          <p:nvPr/>
        </p:nvSpPr>
        <p:spPr>
          <a:xfrm>
            <a:off x="3918204" y="681228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2" name="text-95"/>
          <p:cNvSpPr txBox="1"/>
          <p:nvPr/>
        </p:nvSpPr>
        <p:spPr>
          <a:xfrm>
            <a:off x="3918204" y="705916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 [School] · [Date]</a:t>
            </a:r>
            <a:endParaRPr lang="en-US" sz="900" dirty="0"/>
          </a:p>
        </p:txBody>
      </p:sp>
      <p:sp>
        <p:nvSpPr>
          <p:cNvPr id="13" name="kicker-dot-96"/>
          <p:cNvSpPr/>
          <p:nvPr/>
        </p:nvSpPr>
        <p:spPr>
          <a:xfrm>
            <a:off x="548640" y="7493508"/>
            <a:ext cx="100584" cy="100584"/>
          </a:xfrm>
          <a:prstGeom prst="ellipse">
            <a:avLst/>
          </a:prstGeom>
          <a:solidFill>
            <a:schemeClr val="accent6"/>
          </a:solidFill>
          <a:ln w="12700">
            <a:solidFill>
              <a:schemeClr val="accent6"/>
            </a:solidFill>
            <a:prstDash val="solid"/>
          </a:ln>
        </p:spPr>
      </p:sp>
      <p:sp>
        <p:nvSpPr>
          <p:cNvPr id="14" name="text-97"/>
          <p:cNvSpPr txBox="1"/>
          <p:nvPr/>
        </p:nvSpPr>
        <p:spPr>
          <a:xfrm>
            <a:off x="731520" y="7452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MEET THE FOUNDERS</a:t>
            </a:r>
            <a:endParaRPr lang="en-US" sz="900" dirty="0"/>
          </a:p>
        </p:txBody>
      </p:sp>
      <p:sp>
        <p:nvSpPr>
          <p:cNvPr id="15" name="marker-98"/>
          <p:cNvSpPr/>
          <p:nvPr/>
        </p:nvSpPr>
        <p:spPr>
          <a:xfrm>
            <a:off x="548640" y="7772400"/>
            <a:ext cx="292608" cy="292608"/>
          </a:xfrm>
          <a:prstGeom prst="ellipse">
            <a:avLst/>
          </a:prstGeom>
          <a:solidFill>
            <a:schemeClr val="accent6"/>
          </a:solidFill>
          <a:ln w="12700">
            <a:solidFill>
              <a:schemeClr val="accent6"/>
            </a:solidFill>
            <a:prstDash val="solid"/>
          </a:ln>
        </p:spPr>
      </p:sp>
      <p:sp>
        <p:nvSpPr>
          <p:cNvPr id="16" name="text-99"/>
          <p:cNvSpPr txBox="1"/>
          <p:nvPr/>
        </p:nvSpPr>
        <p:spPr>
          <a:xfrm>
            <a:off x="548640" y="777240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1</a:t>
            </a:r>
            <a:endParaRPr lang="en-US" sz="1100" dirty="0"/>
          </a:p>
        </p:txBody>
      </p:sp>
      <p:sp>
        <p:nvSpPr>
          <p:cNvPr id="17" name="text-100"/>
          <p:cNvSpPr txBox="1"/>
          <p:nvPr/>
        </p:nvSpPr>
        <p:spPr>
          <a:xfrm>
            <a:off x="960120" y="7754112"/>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18" name="text-101"/>
          <p:cNvSpPr txBox="1"/>
          <p:nvPr/>
        </p:nvSpPr>
        <p:spPr>
          <a:xfrm>
            <a:off x="960120" y="7946136"/>
            <a:ext cx="2743200" cy="182880"/>
          </a:xfrm>
          <a:prstGeom prst="rect">
            <a:avLst/>
          </a:prstGeom>
          <a:noFill/>
          <a:ln/>
        </p:spPr>
        <p:txBody>
          <a:bodyPr wrap="square" lIns="0" tIns="0" rIns="0" bIns="0" rtlCol="0" anchor="t"/>
          <a:lstStyle/>
          <a:p>
            <a:pPr indent="0" marL="0">
              <a:buNone/>
            </a:pPr>
            <a:r>
              <a:rPr lang="en-US" sz="850" dirty="0">
                <a:solidFill>
                  <a:schemeClr val="tx2"/>
                </a:solidFill>
              </a:rPr>
              <a:t>Project lead &amp; editor</a:t>
            </a:r>
            <a:endParaRPr lang="en-US" sz="850" dirty="0"/>
          </a:p>
        </p:txBody>
      </p:sp>
      <p:sp>
        <p:nvSpPr>
          <p:cNvPr id="19" name="marker-102"/>
          <p:cNvSpPr/>
          <p:nvPr/>
        </p:nvSpPr>
        <p:spPr>
          <a:xfrm>
            <a:off x="548640" y="8202168"/>
            <a:ext cx="292608" cy="292608"/>
          </a:xfrm>
          <a:prstGeom prst="ellipse">
            <a:avLst/>
          </a:prstGeom>
          <a:solidFill>
            <a:schemeClr val="accent6"/>
          </a:solidFill>
          <a:ln w="12700">
            <a:solidFill>
              <a:schemeClr val="accent6"/>
            </a:solidFill>
            <a:prstDash val="solid"/>
          </a:ln>
        </p:spPr>
      </p:sp>
      <p:sp>
        <p:nvSpPr>
          <p:cNvPr id="20" name="text-103"/>
          <p:cNvSpPr txBox="1"/>
          <p:nvPr/>
        </p:nvSpPr>
        <p:spPr>
          <a:xfrm>
            <a:off x="548640" y="820216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2</a:t>
            </a:r>
            <a:endParaRPr lang="en-US" sz="1100" dirty="0"/>
          </a:p>
        </p:txBody>
      </p:sp>
      <p:sp>
        <p:nvSpPr>
          <p:cNvPr id="21" name="text-104"/>
          <p:cNvSpPr txBox="1"/>
          <p:nvPr/>
        </p:nvSpPr>
        <p:spPr>
          <a:xfrm>
            <a:off x="960120" y="8183880"/>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2" name="text-105"/>
          <p:cNvSpPr txBox="1"/>
          <p:nvPr/>
        </p:nvSpPr>
        <p:spPr>
          <a:xfrm>
            <a:off x="960120" y="8375904"/>
            <a:ext cx="2743200" cy="182880"/>
          </a:xfrm>
          <a:prstGeom prst="rect">
            <a:avLst/>
          </a:prstGeom>
          <a:noFill/>
          <a:ln/>
        </p:spPr>
        <p:txBody>
          <a:bodyPr wrap="square" lIns="0" tIns="0" rIns="0" bIns="0" rtlCol="0" anchor="t"/>
          <a:lstStyle/>
          <a:p>
            <a:pPr indent="0" marL="0">
              <a:buNone/>
            </a:pPr>
            <a:r>
              <a:rPr lang="en-US" sz="850" dirty="0">
                <a:solidFill>
                  <a:schemeClr val="tx2"/>
                </a:solidFill>
              </a:rPr>
              <a:t>City planner &amp; 3D builder</a:t>
            </a:r>
            <a:endParaRPr lang="en-US" sz="850" dirty="0"/>
          </a:p>
        </p:txBody>
      </p:sp>
      <p:sp>
        <p:nvSpPr>
          <p:cNvPr id="23" name="marker-106"/>
          <p:cNvSpPr/>
          <p:nvPr/>
        </p:nvSpPr>
        <p:spPr>
          <a:xfrm>
            <a:off x="548640" y="8631936"/>
            <a:ext cx="292608" cy="292608"/>
          </a:xfrm>
          <a:prstGeom prst="ellipse">
            <a:avLst/>
          </a:prstGeom>
          <a:solidFill>
            <a:schemeClr val="accent6"/>
          </a:solidFill>
          <a:ln w="12700">
            <a:solidFill>
              <a:schemeClr val="accent6"/>
            </a:solidFill>
            <a:prstDash val="solid"/>
          </a:ln>
        </p:spPr>
      </p:sp>
      <p:sp>
        <p:nvSpPr>
          <p:cNvPr id="24" name="text-107"/>
          <p:cNvSpPr txBox="1"/>
          <p:nvPr/>
        </p:nvSpPr>
        <p:spPr>
          <a:xfrm>
            <a:off x="548640" y="863193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3</a:t>
            </a:r>
            <a:endParaRPr lang="en-US" sz="1100" dirty="0"/>
          </a:p>
        </p:txBody>
      </p:sp>
      <p:sp>
        <p:nvSpPr>
          <p:cNvPr id="25" name="text-108"/>
          <p:cNvSpPr txBox="1"/>
          <p:nvPr/>
        </p:nvSpPr>
        <p:spPr>
          <a:xfrm>
            <a:off x="960120" y="8613648"/>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6" name="text-109"/>
          <p:cNvSpPr txBox="1"/>
          <p:nvPr/>
        </p:nvSpPr>
        <p:spPr>
          <a:xfrm>
            <a:off x="960120" y="8805672"/>
            <a:ext cx="2743200" cy="182880"/>
          </a:xfrm>
          <a:prstGeom prst="rect">
            <a:avLst/>
          </a:prstGeom>
          <a:noFill/>
          <a:ln/>
        </p:spPr>
        <p:txBody>
          <a:bodyPr wrap="square" lIns="0" tIns="0" rIns="0" bIns="0" rtlCol="0" anchor="t"/>
          <a:lstStyle/>
          <a:p>
            <a:pPr indent="0" marL="0">
              <a:buNone/>
            </a:pPr>
            <a:r>
              <a:rPr lang="en-US" sz="850" dirty="0">
                <a:solidFill>
                  <a:schemeClr val="tx2"/>
                </a:solidFill>
              </a:rPr>
              <a:t>Energy &amp; systems researcher</a:t>
            </a:r>
            <a:endParaRPr lang="en-US" sz="850" dirty="0"/>
          </a:p>
        </p:txBody>
      </p:sp>
      <p:sp>
        <p:nvSpPr>
          <p:cNvPr id="27" name="marker-110"/>
          <p:cNvSpPr/>
          <p:nvPr/>
        </p:nvSpPr>
        <p:spPr>
          <a:xfrm>
            <a:off x="548640" y="9061704"/>
            <a:ext cx="292608" cy="292608"/>
          </a:xfrm>
          <a:prstGeom prst="ellipse">
            <a:avLst/>
          </a:prstGeom>
          <a:solidFill>
            <a:schemeClr val="accent6"/>
          </a:solidFill>
          <a:ln w="12700">
            <a:solidFill>
              <a:schemeClr val="accent6"/>
            </a:solidFill>
            <a:prstDash val="solid"/>
          </a:ln>
        </p:spPr>
      </p:sp>
      <p:sp>
        <p:nvSpPr>
          <p:cNvPr id="28" name="text-111"/>
          <p:cNvSpPr txBox="1"/>
          <p:nvPr/>
        </p:nvSpPr>
        <p:spPr>
          <a:xfrm>
            <a:off x="548640" y="906170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4</a:t>
            </a:r>
            <a:endParaRPr lang="en-US" sz="1100" dirty="0"/>
          </a:p>
        </p:txBody>
      </p:sp>
      <p:sp>
        <p:nvSpPr>
          <p:cNvPr id="29" name="text-112"/>
          <p:cNvSpPr txBox="1"/>
          <p:nvPr/>
        </p:nvSpPr>
        <p:spPr>
          <a:xfrm>
            <a:off x="960120" y="9043416"/>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30" name="text-113"/>
          <p:cNvSpPr txBox="1"/>
          <p:nvPr/>
        </p:nvSpPr>
        <p:spPr>
          <a:xfrm>
            <a:off x="960120" y="9235440"/>
            <a:ext cx="2743200" cy="182880"/>
          </a:xfrm>
          <a:prstGeom prst="rect">
            <a:avLst/>
          </a:prstGeom>
          <a:noFill/>
          <a:ln/>
        </p:spPr>
        <p:txBody>
          <a:bodyPr wrap="square" lIns="0" tIns="0" rIns="0" bIns="0" rtlCol="0" anchor="t"/>
          <a:lstStyle/>
          <a:p>
            <a:pPr indent="0" marL="0">
              <a:buNone/>
            </a:pPr>
            <a:r>
              <a:rPr lang="en-US" sz="850" dirty="0">
                <a:solidFill>
                  <a:schemeClr val="tx2"/>
                </a:solidFill>
              </a:rPr>
              <a:t>Writer &amp; fact-checker</a:t>
            </a:r>
            <a:endParaRPr lang="en-US" sz="850" dirty="0"/>
          </a:p>
        </p:txBody>
      </p:sp>
      <p:sp>
        <p:nvSpPr>
          <p:cNvPr id="31" name="marker-114"/>
          <p:cNvSpPr/>
          <p:nvPr/>
        </p:nvSpPr>
        <p:spPr>
          <a:xfrm>
            <a:off x="548640" y="9491472"/>
            <a:ext cx="292608" cy="292608"/>
          </a:xfrm>
          <a:prstGeom prst="ellipse">
            <a:avLst/>
          </a:prstGeom>
          <a:solidFill>
            <a:schemeClr val="accent6"/>
          </a:solidFill>
          <a:ln w="12700">
            <a:solidFill>
              <a:schemeClr val="accent6"/>
            </a:solidFill>
            <a:prstDash val="solid"/>
          </a:ln>
        </p:spPr>
      </p:sp>
      <p:sp>
        <p:nvSpPr>
          <p:cNvPr id="32" name="text-115"/>
          <p:cNvSpPr txBox="1"/>
          <p:nvPr/>
        </p:nvSpPr>
        <p:spPr>
          <a:xfrm>
            <a:off x="548640" y="9491472"/>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5</a:t>
            </a:r>
            <a:endParaRPr lang="en-US" sz="1100" dirty="0"/>
          </a:p>
        </p:txBody>
      </p:sp>
      <p:sp>
        <p:nvSpPr>
          <p:cNvPr id="33" name="text-116"/>
          <p:cNvSpPr txBox="1"/>
          <p:nvPr/>
        </p:nvSpPr>
        <p:spPr>
          <a:xfrm>
            <a:off x="960120" y="9473184"/>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34" name="text-117"/>
          <p:cNvSpPr txBox="1"/>
          <p:nvPr/>
        </p:nvSpPr>
        <p:spPr>
          <a:xfrm>
            <a:off x="960120" y="9665208"/>
            <a:ext cx="2743200" cy="182880"/>
          </a:xfrm>
          <a:prstGeom prst="rect">
            <a:avLst/>
          </a:prstGeom>
          <a:noFill/>
          <a:ln/>
        </p:spPr>
        <p:txBody>
          <a:bodyPr wrap="square" lIns="0" tIns="0" rIns="0" bIns="0" rtlCol="0" anchor="t"/>
          <a:lstStyle/>
          <a:p>
            <a:pPr indent="0" marL="0">
              <a:buNone/>
            </a:pPr>
            <a:r>
              <a:rPr lang="en-US" sz="850" dirty="0">
                <a:solidFill>
                  <a:schemeClr val="tx2"/>
                </a:solidFill>
              </a:rPr>
              <a:t>Interview &amp; video producer</a:t>
            </a:r>
            <a:endParaRPr lang="en-US" sz="850" dirty="0"/>
          </a:p>
        </p:txBody>
      </p:sp>
      <p:sp>
        <p:nvSpPr>
          <p:cNvPr id="35" name="card-118"/>
          <p:cNvSpPr/>
          <p:nvPr/>
        </p:nvSpPr>
        <p:spPr>
          <a:xfrm>
            <a:off x="3918204" y="7452360"/>
            <a:ext cx="3095244" cy="2514600"/>
          </a:xfrm>
          <a:prstGeom prst="roundRect">
            <a:avLst>
              <a:gd name="adj" fmla="val 2909"/>
            </a:avLst>
          </a:prstGeom>
          <a:solidFill>
            <a:schemeClr val="bg2"/>
          </a:solidFill>
          <a:ln w="12700">
            <a:solidFill>
              <a:schemeClr val="bg2"/>
            </a:solidFill>
            <a:prstDash val="solid"/>
          </a:ln>
        </p:spPr>
      </p:sp>
      <p:pic>
        <p:nvPicPr>
          <p:cNvPr id="36" name="qr-interview-119" descr="/home/user/chatbox-bi-n-o/magazine/assets/ui/qr_interview.png">
            <a:hlinkClick r:id="rId3" tooltip="Watch our real-world interview"/>
          </p:cNvPr>
          <p:cNvPicPr>
            <a:picLocks noChangeAspect="1"/>
          </p:cNvPicPr>
          <p:nvPr/>
        </p:nvPicPr>
        <p:blipFill>
          <a:blip r:embed="rId2"/>
          <a:stretch>
            <a:fillRect/>
          </a:stretch>
        </p:blipFill>
        <p:spPr>
          <a:xfrm>
            <a:off x="4055364" y="8090611"/>
            <a:ext cx="1238098" cy="1238098"/>
          </a:xfrm>
          <a:prstGeom prst="rect">
            <a:avLst/>
          </a:prstGeom>
        </p:spPr>
      </p:pic>
      <p:sp>
        <p:nvSpPr>
          <p:cNvPr id="37" name="text-120"/>
          <p:cNvSpPr txBox="1"/>
          <p:nvPr/>
        </p:nvSpPr>
        <p:spPr>
          <a:xfrm>
            <a:off x="5476342" y="7589520"/>
            <a:ext cx="1399946" cy="224028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121"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22"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2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2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25"/>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27"/>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28"/>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29"/>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icture-130"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1"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32"/>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33"/>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34"/>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35"/>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36"/>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37"/>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38"/>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39"/>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40"/>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41"/>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2"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43"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44"/>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5"/>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46"/>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48"/>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49"/>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50"/>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51"/>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52"/>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53"/>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54"/>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55"/>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56"/>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57"/>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58"/>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59"/>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60"/>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61"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62"/>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63"/>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64"/>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65"/>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67"/>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68"/>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69"/>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70"/>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71"/>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72"/>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73"/>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74"/>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75"/>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76"/>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77"/>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78"/>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79"/>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80"/>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81"/>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82"/>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83"/>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84"/>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85"/>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186"/>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187"/>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188"/>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189"/>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190"/>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191"/>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192"/>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dot-19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9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19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197"/>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198"/>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199"/>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00"/>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01"/>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02"/>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03"/>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33.</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04"/>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05"/>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06"/>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07"/>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08"/>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09"/>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10"/>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11"/>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12"/>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3"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4"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5"/>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6"/>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7"/>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9"/>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20"/>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21"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2"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3"/>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28"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29"/>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30"/>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31"/>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32"/>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33"/>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34"/>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35"/>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36"/>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37"/>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38"/>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39"/>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40"/>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41"/>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42"/>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43"/>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44"/>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45"/>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46"/>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47"/>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48"/>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49"/>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50"/>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51"/>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52"/>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53"/>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54"/>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55"/>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56"/>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5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61"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62"/>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63"/>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64"/>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65"/>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66"/>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67"/>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68"/>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69"/>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70"/>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71"/>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72"/>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73"/>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74"/>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75"/>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76"/>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77"/>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78"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79"/>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80"/>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81"/>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82"/>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83"/>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84"/>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85"/>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286"/>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287"/>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88"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89"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90"/>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2"/>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4"/>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6"/>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97"/>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98"/>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99"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00"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01"/>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02"/>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0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0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06"/>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07"/>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08"/>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09"/>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10"/>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11"/>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12"/>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13"/>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14"/>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15"/>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16"/>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17"/>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18"/>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19"/>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20"/>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21"/>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22"/>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23"/>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24"/>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25"/>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26"/>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27"/>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28"/>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29"/>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30"/>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31"/>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32"/>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33"/>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34"/>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35"/>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36"/>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37"/>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38"/>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39"/>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40"/>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1"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2"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3"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44"/>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4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46"/>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4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48"/>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50"/>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51"/>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2"/>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3"/>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5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58"/>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59"/>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60"/>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1"/>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2"/>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3"/>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64"/>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65"/>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66"/>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67"/>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68"/>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69"/>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70"/>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71"/>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2"/>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3"/>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74"/>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75"/>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76"/>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77"/>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78"/>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79"/>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80"/>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1"/>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2"/>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83"/>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84"/>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85"/>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86"/>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87"/>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88"/>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89"/>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90"/>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91"/>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92"/>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3"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4"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95"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96"/>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97"/>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98"/>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99"/>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00"/>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02"/>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03"/>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4"/>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05"/>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06"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7"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08"/>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0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10"/>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2"/>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3"/>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4"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5"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16"/>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17"/>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18"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19"/>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20"/>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24"/>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25"/>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26"/>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27"/>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28"/>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29"/>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30"/>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31"/>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32"/>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33"/>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34"/>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35"/>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36"/>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37"/>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38"/>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39"/>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40"/>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41"/>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42"/>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43"/>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44"/>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45"/>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46"/>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47"/>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48"/>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49"/>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5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5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54"/>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55"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56"/>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57"/>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58"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59"/>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60"/>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61"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62"/>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63"/>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64"/>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65"/>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66"/>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67"/>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68"/>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69"/>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70"/>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71"/>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72"/>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73"/>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74"/>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75"/>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76"/>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77"/>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78"/>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79"/>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80"/>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81"/>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82"/>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83"/>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84"/>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85"/>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86"/>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87"/>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88"/>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89"/>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90"/>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91"/>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9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96"/>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97"/>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98"/>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99"/>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00"/>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01"/>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02"/>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03"/>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04"/>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05"/>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06"/>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07"/>
          <p:cNvSpPr/>
          <p:nvPr/>
        </p:nvSpPr>
        <p:spPr>
          <a:xfrm>
            <a:off x="2633472" y="3063240"/>
            <a:ext cx="2295144" cy="914"/>
          </a:xfrm>
          <a:prstGeom prst="line">
            <a:avLst/>
          </a:prstGeom>
          <a:noFill/>
          <a:ln w="28575">
            <a:solidFill>
              <a:schemeClr val="accent2"/>
            </a:solidFill>
            <a:prstDash val="solid"/>
            <a:tailEnd type="triangle"/>
          </a:ln>
        </p:spPr>
      </p:sp>
      <p:sp>
        <p:nvSpPr>
          <p:cNvPr id="19" name="text-508"/>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09"/>
          <p:cNvSpPr/>
          <p:nvPr/>
        </p:nvSpPr>
        <p:spPr>
          <a:xfrm>
            <a:off x="2633472" y="3410712"/>
            <a:ext cx="2295144" cy="914"/>
          </a:xfrm>
          <a:prstGeom prst="line">
            <a:avLst/>
          </a:prstGeom>
          <a:noFill/>
          <a:ln w="28575">
            <a:solidFill>
              <a:schemeClr val="bg2"/>
            </a:solidFill>
            <a:prstDash val="solid"/>
            <a:tailEnd type="triangle"/>
          </a:ln>
        </p:spPr>
      </p:sp>
      <p:sp>
        <p:nvSpPr>
          <p:cNvPr id="21" name="text-510"/>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11"/>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12"/>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13"/>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14"/>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15"/>
          <p:cNvSpPr/>
          <p:nvPr/>
        </p:nvSpPr>
        <p:spPr>
          <a:xfrm>
            <a:off x="1325880" y="4507992"/>
            <a:ext cx="914" cy="1179576"/>
          </a:xfrm>
          <a:prstGeom prst="line">
            <a:avLst/>
          </a:prstGeom>
          <a:noFill/>
          <a:ln w="28575">
            <a:solidFill>
              <a:schemeClr val="accent2"/>
            </a:solidFill>
            <a:prstDash val="solid"/>
            <a:tailEnd type="triangle"/>
          </a:ln>
        </p:spPr>
      </p:sp>
      <p:sp>
        <p:nvSpPr>
          <p:cNvPr id="27" name="arrow-516"/>
          <p:cNvSpPr/>
          <p:nvPr/>
        </p:nvSpPr>
        <p:spPr>
          <a:xfrm flipV="1">
            <a:off x="1874520" y="4507992"/>
            <a:ext cx="914" cy="1179576"/>
          </a:xfrm>
          <a:prstGeom prst="line">
            <a:avLst/>
          </a:prstGeom>
          <a:noFill/>
          <a:ln w="28575">
            <a:solidFill>
              <a:schemeClr val="bg2"/>
            </a:solidFill>
            <a:prstDash val="solid"/>
            <a:tailEnd type="triangle"/>
          </a:ln>
        </p:spPr>
      </p:sp>
      <p:sp>
        <p:nvSpPr>
          <p:cNvPr id="28" name="text-517"/>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18"/>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19"/>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20"/>
          <p:cNvSpPr/>
          <p:nvPr/>
        </p:nvSpPr>
        <p:spPr>
          <a:xfrm>
            <a:off x="6464808" y="4489704"/>
            <a:ext cx="914" cy="1078992"/>
          </a:xfrm>
          <a:prstGeom prst="line">
            <a:avLst/>
          </a:prstGeom>
          <a:noFill/>
          <a:ln w="28575">
            <a:solidFill>
              <a:schemeClr val="accent4"/>
            </a:solidFill>
            <a:prstDash val="solid"/>
            <a:tailEnd type="triangle"/>
          </a:ln>
        </p:spPr>
      </p:sp>
      <p:sp>
        <p:nvSpPr>
          <p:cNvPr id="32" name="text-521"/>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22"/>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23"/>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24"/>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25"/>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26"/>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27"/>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28"/>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29"/>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30"/>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31"/>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32"/>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33"/>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34"/>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35"/>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36"/>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37"/>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38"/>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3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43"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44"/>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45"/>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46"/>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47"/>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48"/>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49"/>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50"/>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51"/>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52"/>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53"/>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54"/>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55"/>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56"/>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57"/>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58"/>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59"/>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60"/>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61"/>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62"/>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63"/>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64"/>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65"/>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66"/>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67"/>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68"/>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69"/>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7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7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7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7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7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7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77"/>
          <p:cNvSpPr/>
          <p:nvPr/>
        </p:nvSpPr>
        <p:spPr>
          <a:xfrm>
            <a:off x="1315974" y="6153912"/>
            <a:ext cx="620268" cy="914"/>
          </a:xfrm>
          <a:prstGeom prst="line">
            <a:avLst/>
          </a:prstGeom>
          <a:noFill/>
          <a:ln w="22225">
            <a:solidFill>
              <a:schemeClr val="accent4"/>
            </a:solidFill>
            <a:prstDash val="solid"/>
            <a:tailEnd type="triangle"/>
          </a:ln>
        </p:spPr>
      </p:sp>
      <p:sp>
        <p:nvSpPr>
          <p:cNvPr id="9" name="marker-57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7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8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81"/>
          <p:cNvSpPr/>
          <p:nvPr/>
        </p:nvSpPr>
        <p:spPr>
          <a:xfrm>
            <a:off x="2393442" y="6153912"/>
            <a:ext cx="620268" cy="914"/>
          </a:xfrm>
          <a:prstGeom prst="line">
            <a:avLst/>
          </a:prstGeom>
          <a:noFill/>
          <a:ln w="22225">
            <a:solidFill>
              <a:schemeClr val="accent4"/>
            </a:solidFill>
            <a:prstDash val="solid"/>
            <a:tailEnd type="triangle"/>
          </a:ln>
        </p:spPr>
      </p:sp>
      <p:sp>
        <p:nvSpPr>
          <p:cNvPr id="13" name="marker-58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8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8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85"/>
          <p:cNvSpPr/>
          <p:nvPr/>
        </p:nvSpPr>
        <p:spPr>
          <a:xfrm>
            <a:off x="3470910" y="6153912"/>
            <a:ext cx="620268" cy="914"/>
          </a:xfrm>
          <a:prstGeom prst="line">
            <a:avLst/>
          </a:prstGeom>
          <a:noFill/>
          <a:ln w="22225">
            <a:solidFill>
              <a:schemeClr val="accent4"/>
            </a:solidFill>
            <a:prstDash val="solid"/>
            <a:tailEnd type="triangle"/>
          </a:ln>
        </p:spPr>
      </p:sp>
      <p:sp>
        <p:nvSpPr>
          <p:cNvPr id="17" name="marker-58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58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58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589"/>
          <p:cNvSpPr/>
          <p:nvPr/>
        </p:nvSpPr>
        <p:spPr>
          <a:xfrm>
            <a:off x="4548378" y="6153912"/>
            <a:ext cx="620268" cy="914"/>
          </a:xfrm>
          <a:prstGeom prst="line">
            <a:avLst/>
          </a:prstGeom>
          <a:noFill/>
          <a:ln w="22225">
            <a:solidFill>
              <a:schemeClr val="accent4"/>
            </a:solidFill>
            <a:prstDash val="solid"/>
            <a:tailEnd type="triangle"/>
          </a:ln>
        </p:spPr>
      </p:sp>
      <p:sp>
        <p:nvSpPr>
          <p:cNvPr id="21" name="marker-59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59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59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593"/>
          <p:cNvSpPr/>
          <p:nvPr/>
        </p:nvSpPr>
        <p:spPr>
          <a:xfrm>
            <a:off x="5625846" y="6153912"/>
            <a:ext cx="620268" cy="914"/>
          </a:xfrm>
          <a:prstGeom prst="line">
            <a:avLst/>
          </a:prstGeom>
          <a:noFill/>
          <a:ln w="22225">
            <a:solidFill>
              <a:schemeClr val="accent4"/>
            </a:solidFill>
            <a:prstDash val="solid"/>
            <a:tailEnd type="triangle"/>
          </a:ln>
        </p:spPr>
      </p:sp>
      <p:sp>
        <p:nvSpPr>
          <p:cNvPr id="25" name="marker-59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59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59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59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59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59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0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0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0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0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0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0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0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0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0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0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picture-610"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11"/>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12"/>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13"/>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14"/>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16"/>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17"/>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18"/>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19"/>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20"/>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21"/>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22"/>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27"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28"/>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29"/>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30"/>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31"/>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32"/>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33"/>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34"/>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35"/>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36"/>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37"/>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38"/>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39"/>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40"/>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41"/>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42"/>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43"/>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44"/>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45"/>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46"/>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47"/>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48"/>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49"/>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50"/>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51"/>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52"/>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53"/>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54"/>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5"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56"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57"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58"/>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5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60"/>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62"/>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63"/>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64"/>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65"/>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66"/>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67"/>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68"/>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7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7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73"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74"/>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75"/>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76"/>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77"/>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78"/>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79"/>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80"/>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81"/>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82"/>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83"/>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84"/>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85"/>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686"/>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687"/>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688"/>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68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6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693"/>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694"/>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695"/>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696"/>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697"/>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698"/>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699"/>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00"/>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01"/>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02"/>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03"/>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04"/>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05"/>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06"/>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07"/>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08"/>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09"/>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10"/>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11"/>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12"/>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13"/>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14"/>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15"/>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16"/>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17"/>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18"/>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19"/>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20"/>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21"/>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22"/>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23"/>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2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2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3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3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3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3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3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3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3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3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3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3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74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74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74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74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74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74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74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74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74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74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75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75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75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75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75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755"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756"/>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757"/>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758"/>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759"/>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760"/>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761"/>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762"/>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763"/>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764"/>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card-765"/>
          <p:cNvSpPr/>
          <p:nvPr/>
        </p:nvSpPr>
        <p:spPr>
          <a:xfrm>
            <a:off x="4910328" y="7086600"/>
            <a:ext cx="1993392" cy="2697480"/>
          </a:xfrm>
          <a:prstGeom prst="roundRect">
            <a:avLst>
              <a:gd name="adj" fmla="val 3670"/>
            </a:avLst>
          </a:prstGeom>
          <a:solidFill>
            <a:schemeClr val="bg2"/>
          </a:solidFill>
          <a:ln w="12700">
            <a:solidFill>
              <a:schemeClr val="bg2"/>
            </a:solidFill>
            <a:prstDash val="solid"/>
          </a:ln>
        </p:spPr>
      </p:sp>
      <p:pic>
        <p:nvPicPr>
          <p:cNvPr id="44" name="qr-interview-766" descr="/home/user/chatbox-bi-n-o/magazine/assets/ui/qr_interview.png">
            <a:hlinkClick r:id="rId3" tooltip="Watch our real-world interview"/>
          </p:cNvPr>
          <p:cNvPicPr>
            <a:picLocks noChangeAspect="1"/>
          </p:cNvPicPr>
          <p:nvPr/>
        </p:nvPicPr>
        <p:blipFill>
          <a:blip r:embed="rId2"/>
          <a:stretch>
            <a:fillRect/>
          </a:stretch>
        </p:blipFill>
        <p:spPr>
          <a:xfrm>
            <a:off x="5138928" y="7269480"/>
            <a:ext cx="1536192" cy="1536192"/>
          </a:xfrm>
          <a:prstGeom prst="rect">
            <a:avLst/>
          </a:prstGeom>
        </p:spPr>
      </p:pic>
      <p:sp>
        <p:nvSpPr>
          <p:cNvPr id="45" name="text-767"/>
          <p:cNvSpPr txBox="1"/>
          <p:nvPr/>
        </p:nvSpPr>
        <p:spPr>
          <a:xfrm>
            <a:off x="5001768" y="8897112"/>
            <a:ext cx="1810512" cy="795528"/>
          </a:xfrm>
          <a:prstGeom prst="rect">
            <a:avLst/>
          </a:prstGeom>
          <a:noFill/>
          <a:ln/>
        </p:spPr>
        <p:txBody>
          <a:bodyPr wrap="square" lIns="0" tIns="0" rIns="0" bIns="0" rtlCol="0" anchor="t"/>
          <a:lstStyle/>
          <a:p>
            <a:pPr algn="ctr" indent="0" marL="0">
              <a:lnSpc>
                <a:spcPct val="100000"/>
              </a:lnSpc>
              <a:spcAft>
                <a:spcPts val="300"/>
              </a:spcAft>
              <a:buNone/>
            </a:pPr>
            <a:r>
              <a:rPr lang="en-US" sz="800" b="1" spc="150" kern="0" dirty="0">
                <a:solidFill>
                  <a:schemeClr val="accent4"/>
                </a:solidFill>
              </a:rPr>
              <a:t>SCAN TO WATCH</a:t>
            </a:r>
            <a:endParaRPr lang="en-US" sz="1050" dirty="0"/>
          </a:p>
          <a:p>
            <a:pPr algn="ct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algn="ctr" indent="0" marL="0">
              <a:lnSpc>
                <a:spcPct val="100000"/>
              </a:lnSpc>
              <a:buNone/>
            </a:pPr>
            <a:r>
              <a:rPr lang="en-US" sz="850" dirty="0">
                <a:solidFill>
                  <a:schemeClr val="tx2"/>
                </a:solidFill>
              </a:rPr>
              <a:t>Video on YouTube</a:t>
            </a:r>
            <a:endParaRPr lang="en-US" sz="1050" dirty="0"/>
          </a:p>
          <a:p>
            <a:pPr algn="ct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6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7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772"/>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8–9.</a:t>
            </a:r>
            <a:endParaRPr lang="en-US" sz="950" dirty="0"/>
          </a:p>
        </p:txBody>
      </p:sp>
      <p:sp>
        <p:nvSpPr>
          <p:cNvPr id="6" name="text-773"/>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774"/>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775"/>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776"/>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777"/>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778"/>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779"/>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780"/>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781"/>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782"/>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783"/>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784"/>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785"/>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786"/>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787"/>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788"/>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789"/>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790"/>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791"/>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792"/>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793"/>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794"/>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795"/>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796"/>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797"/>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798"/>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799"/>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00"/>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01"/>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02"/>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03"/>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04"/>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05"/>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06"/>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07"/>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08"/>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09"/>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10"/>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11"/>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12"/>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13"/>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14"/>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15"/>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16"/>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17"/>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18"/>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19"/>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20"/>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21"/>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22"/>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23"/>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24"/>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25"/>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26"/>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27"/>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28"/>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29"/>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30"/>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31"/>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32"/>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33"/>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34"/>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35"/>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36"/>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37"/>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38"/>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39"/>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40"/>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41"/>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42"/>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843"/>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844"/>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845"/>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846"/>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847"/>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848"/>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849"/>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850"/>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851"/>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852"/>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853"/>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854"/>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855"/>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856"/>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857"/>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858"/>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859"/>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860"/>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861"/>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862"/>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863"/>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864"/>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865"/>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866"/>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867"/>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868"/>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869"/>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870"/>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871"/>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872"/>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873"/>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874"/>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875"/>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876"/>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877"/>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dot-878"/>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87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88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882"/>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883"/>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884"/>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885"/>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886"/>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887"/>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888"/>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889"/>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890"/>
          <p:cNvSpPr/>
          <p:nvPr/>
        </p:nvSpPr>
        <p:spPr>
          <a:xfrm>
            <a:off x="548640" y="2560320"/>
            <a:ext cx="6464808" cy="0"/>
          </a:xfrm>
          <a:prstGeom prst="line">
            <a:avLst/>
          </a:prstGeom>
          <a:noFill/>
          <a:ln w="9525">
            <a:solidFill>
              <a:schemeClr val="tx2"/>
            </a:solidFill>
            <a:prstDash val="solid"/>
          </a:ln>
        </p:spPr>
      </p:sp>
      <p:sp>
        <p:nvSpPr>
          <p:cNvPr id="14" name="kicker-dot-891"/>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892"/>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893"/>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894"/>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895"/>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896"/>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897"/>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898"/>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899"/>
          <p:cNvSpPr/>
          <p:nvPr/>
        </p:nvSpPr>
        <p:spPr>
          <a:xfrm>
            <a:off x="548640" y="3566160"/>
            <a:ext cx="6464808" cy="0"/>
          </a:xfrm>
          <a:prstGeom prst="line">
            <a:avLst/>
          </a:prstGeom>
          <a:noFill/>
          <a:ln w="9525">
            <a:solidFill>
              <a:schemeClr val="tx2"/>
            </a:solidFill>
            <a:prstDash val="solid"/>
          </a:ln>
        </p:spPr>
      </p:sp>
      <p:sp>
        <p:nvSpPr>
          <p:cNvPr id="23" name="kicker-dot-900"/>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01"/>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02"/>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03"/>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04"/>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05"/>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06"/>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07"/>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08"/>
          <p:cNvSpPr/>
          <p:nvPr/>
        </p:nvSpPr>
        <p:spPr>
          <a:xfrm>
            <a:off x="548640" y="4572000"/>
            <a:ext cx="6464808" cy="0"/>
          </a:xfrm>
          <a:prstGeom prst="line">
            <a:avLst/>
          </a:prstGeom>
          <a:noFill/>
          <a:ln w="9525">
            <a:solidFill>
              <a:schemeClr val="tx2"/>
            </a:solidFill>
            <a:prstDash val="solid"/>
          </a:ln>
        </p:spPr>
      </p:sp>
      <p:sp>
        <p:nvSpPr>
          <p:cNvPr id="32" name="kicker-dot-909"/>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10"/>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11"/>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12"/>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13"/>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14"/>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15"/>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16"/>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17"/>
          <p:cNvSpPr/>
          <p:nvPr/>
        </p:nvSpPr>
        <p:spPr>
          <a:xfrm>
            <a:off x="548640" y="5577840"/>
            <a:ext cx="6464808" cy="0"/>
          </a:xfrm>
          <a:prstGeom prst="line">
            <a:avLst/>
          </a:prstGeom>
          <a:noFill/>
          <a:ln w="9525">
            <a:solidFill>
              <a:schemeClr val="tx2"/>
            </a:solidFill>
            <a:prstDash val="solid"/>
          </a:ln>
        </p:spPr>
      </p:sp>
      <p:sp>
        <p:nvSpPr>
          <p:cNvPr id="41" name="kicker-dot-918"/>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19"/>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20"/>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21"/>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22"/>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23"/>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24"/>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25"/>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26"/>
          <p:cNvSpPr/>
          <p:nvPr/>
        </p:nvSpPr>
        <p:spPr>
          <a:xfrm>
            <a:off x="548640" y="6583680"/>
            <a:ext cx="6464808" cy="0"/>
          </a:xfrm>
          <a:prstGeom prst="line">
            <a:avLst/>
          </a:prstGeom>
          <a:noFill/>
          <a:ln w="9525">
            <a:solidFill>
              <a:schemeClr val="tx2"/>
            </a:solidFill>
            <a:prstDash val="solid"/>
          </a:ln>
        </p:spPr>
      </p:sp>
      <p:sp>
        <p:nvSpPr>
          <p:cNvPr id="50" name="kicker-dot-927"/>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28"/>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29"/>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30"/>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31"/>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32"/>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33"/>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34"/>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35"/>
          <p:cNvSpPr/>
          <p:nvPr/>
        </p:nvSpPr>
        <p:spPr>
          <a:xfrm>
            <a:off x="548640" y="7589520"/>
            <a:ext cx="6464808" cy="0"/>
          </a:xfrm>
          <a:prstGeom prst="line">
            <a:avLst/>
          </a:prstGeom>
          <a:noFill/>
          <a:ln w="9525">
            <a:solidFill>
              <a:schemeClr val="tx2"/>
            </a:solidFill>
            <a:prstDash val="solid"/>
          </a:ln>
        </p:spPr>
      </p:sp>
      <p:sp>
        <p:nvSpPr>
          <p:cNvPr id="59" name="kicker-dot-936"/>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37"/>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38"/>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39"/>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40"/>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41"/>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42"/>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943"/>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944"/>
          <p:cNvSpPr/>
          <p:nvPr/>
        </p:nvSpPr>
        <p:spPr>
          <a:xfrm>
            <a:off x="548640" y="8595360"/>
            <a:ext cx="6464808" cy="0"/>
          </a:xfrm>
          <a:prstGeom prst="line">
            <a:avLst/>
          </a:prstGeom>
          <a:noFill/>
          <a:ln w="9525">
            <a:solidFill>
              <a:schemeClr val="tx2"/>
            </a:solidFill>
            <a:prstDash val="solid"/>
          </a:ln>
        </p:spPr>
      </p:sp>
      <p:sp>
        <p:nvSpPr>
          <p:cNvPr id="68" name="kicker-dot-945"/>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946"/>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947"/>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948"/>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949"/>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950"/>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951"/>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952"/>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953"/>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35 explains how to read our numbers.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95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58"/>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59"/>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60"/>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1"/>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962"/>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63"/>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64"/>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965"/>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66"/>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67"/>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68"/>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69"/>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70"/>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971"/>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2"/>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73"/>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7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75"/>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76"/>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77"/>
          <p:cNvSpPr txBox="1"/>
          <p:nvPr/>
        </p:nvSpPr>
        <p:spPr>
          <a:xfrm>
            <a:off x="548640" y="2148840"/>
            <a:ext cx="2880360" cy="1508760"/>
          </a:xfrm>
          <a:prstGeom prst="rect">
            <a:avLst/>
          </a:prstGeom>
          <a:noFill/>
          <a:ln/>
        </p:spPr>
        <p:txBody>
          <a:bodyPr wrap="square" lIns="0" tIns="0" rIns="0" bIns="0" rtlCol="0" anchor="t"/>
          <a:lstStyle/>
          <a:p>
            <a:pPr indent="0" marL="0">
              <a:lnSpc>
                <a:spcPct val="110000"/>
              </a:lnSpc>
              <a:buNone/>
            </a:pPr>
            <a:r>
              <a:rPr lang="en-US" sz="1050" dirty="0">
                <a:solidFill>
                  <a:schemeClr val="bg1"/>
                </a:solidFill>
              </a:rPr>
              <a:t>Aurora Haven does not just survive the polar environment; it thrives in it. Heat from fusion and geothermal energy keeps every building warm, and clean energy and closed loops mean no fossil fuel and almost no waste. It is a place where 45,000 people can live, learn, work and watch the northern lights together.</a:t>
            </a:r>
            <a:endParaRPr lang="en-US" sz="1050" dirty="0"/>
          </a:p>
        </p:txBody>
      </p:sp>
      <p:sp>
        <p:nvSpPr>
          <p:cNvPr id="8" name="text-978"/>
          <p:cNvSpPr txBox="1"/>
          <p:nvPr/>
        </p:nvSpPr>
        <p:spPr>
          <a:xfrm>
            <a:off x="548640" y="3749040"/>
            <a:ext cx="2880360" cy="1188720"/>
          </a:xfrm>
          <a:prstGeom prst="rect">
            <a:avLst/>
          </a:prstGeom>
          <a:noFill/>
          <a:ln/>
        </p:spPr>
        <p:txBody>
          <a:bodyPr wrap="square" lIns="0" tIns="0" rIns="0" bIns="0" rtlCol="0" anchor="t"/>
          <a:lstStyle/>
          <a:p>
            <a:pPr indent="0" marL="0">
              <a:lnSpc>
                <a:spcPct val="110000"/>
              </a:lnSpc>
              <a:buNone/>
            </a:pPr>
            <a:r>
              <a:rPr lang="en-US" sz="1050" b="1" dirty="0">
                <a:solidFill>
                  <a:schemeClr val="accent1"/>
                </a:solidFill>
              </a:rPr>
              <a:t>Be one of the first polar citizens. </a:t>
            </a:r>
            <a:pPr indent="0" marL="0">
              <a:lnSpc>
                <a:spcPct val="110000"/>
              </a:lnSpc>
              <a:buNone/>
            </a:pPr>
            <a:r>
              <a:rPr lang="en-US" sz="1050" dirty="0">
                <a:solidFill>
                  <a:schemeClr val="bg1"/>
                </a:solidFill>
              </a:rPr>
              <a:t>Buy a community share in our wind and solar farms through the Aurora Green Finance Hall, study polar science at Arctic University, or come for a night at the Mount Aurora spa.</a:t>
            </a:r>
            <a:endParaRPr lang="en-US" sz="1050" dirty="0"/>
          </a:p>
        </p:txBody>
      </p:sp>
      <p:sp>
        <p:nvSpPr>
          <p:cNvPr id="9" name="panel-979"/>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80"/>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1"/>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2"/>
          <p:cNvSpPr txBox="1"/>
          <p:nvPr/>
        </p:nvSpPr>
        <p:spPr>
          <a:xfrm>
            <a:off x="3977640" y="1874520"/>
            <a:ext cx="1801368" cy="1097280"/>
          </a:xfrm>
          <a:prstGeom prst="rect">
            <a:avLst/>
          </a:prstGeom>
          <a:noFill/>
          <a:ln/>
        </p:spPr>
        <p:txBody>
          <a:bodyPr wrap="square" lIns="0" tIns="0" rIns="0" bIns="0" rtlCol="0" anchor="t"/>
          <a:lstStyle/>
          <a:p>
            <a:pPr indent="0" marL="0">
              <a:lnSpc>
                <a:spcPct val="108000"/>
              </a:lnSpc>
              <a:spcAft>
                <a:spcPts val="400"/>
              </a:spcAft>
              <a:buNone/>
            </a:pPr>
            <a:r>
              <a:rPr lang="en-US" sz="950" b="1" spc="200" kern="0" dirty="0">
                <a:solidFill>
                  <a:schemeClr val="accent1"/>
                </a:solidFill>
              </a:rPr>
              <a:t>CONTACT THE TEAM</a:t>
            </a:r>
            <a:endParaRPr lang="en-US" sz="950" dirty="0"/>
          </a:p>
          <a:p>
            <a:pPr indent="0" marL="0">
              <a:lnSpc>
                <a:spcPct val="108000"/>
              </a:lnSpc>
              <a:buNone/>
            </a:pPr>
            <a:r>
              <a:rPr lang="en-US" sz="950" b="1" dirty="0">
                <a:solidFill>
                  <a:schemeClr val="bg1"/>
                </a:solidFill>
              </a:rPr>
              <a:t>[Group name]</a:t>
            </a:r>
            <a:endParaRPr lang="en-US" sz="950" dirty="0"/>
          </a:p>
          <a:p>
            <a:pPr indent="0" marL="0">
              <a:lnSpc>
                <a:spcPct val="108000"/>
              </a:lnSpc>
              <a:buNone/>
            </a:pPr>
            <a:r>
              <a:rPr lang="en-US" sz="950" dirty="0">
                <a:solidFill>
                  <a:schemeClr val="bg1"/>
                </a:solidFill>
              </a:rPr>
              <a:t>[Member names]</a:t>
            </a:r>
            <a:endParaRPr lang="en-US" sz="950" dirty="0"/>
          </a:p>
          <a:p>
            <a:pPr indent="0" marL="0">
              <a:lnSpc>
                <a:spcPct val="108000"/>
              </a:lnSpc>
              <a:buNone/>
            </a:pPr>
            <a:r>
              <a:rPr lang="en-US" sz="950" dirty="0">
                <a:solidFill>
                  <a:schemeClr val="bg1"/>
                </a:solidFill>
              </a:rPr>
              <a:t>[Class] · [School]</a:t>
            </a:r>
            <a:endParaRPr lang="en-US" sz="950" dirty="0"/>
          </a:p>
          <a:p>
            <a:pPr indent="0" marL="0">
              <a:lnSpc>
                <a:spcPct val="108000"/>
              </a:lnSpc>
              <a:buNone/>
            </a:pPr>
            <a:r>
              <a:rPr lang="en-US" sz="950" dirty="0">
                <a:solidFill>
                  <a:schemeClr val="bg1"/>
                </a:solidFill>
              </a:rPr>
              <a:t>[Team email]</a:t>
            </a:r>
            <a:endParaRPr lang="en-US" sz="950" dirty="0"/>
          </a:p>
        </p:txBody>
      </p:sp>
      <p:sp>
        <p:nvSpPr>
          <p:cNvPr id="14" name="school-logo-space"/>
          <p:cNvSpPr/>
          <p:nvPr/>
        </p:nvSpPr>
        <p:spPr>
          <a:xfrm>
            <a:off x="5870448" y="1920240"/>
            <a:ext cx="960120" cy="960120"/>
          </a:xfrm>
          <a:prstGeom prst="roundRect">
            <a:avLst>
              <a:gd name="adj" fmla="val 7619"/>
            </a:avLst>
          </a:prstGeom>
          <a:solidFill>
            <a:schemeClr val="tx1">
              <a:alpha val="0"/>
            </a:schemeClr>
          </a:solidFill>
          <a:ln w="12700">
            <a:solidFill>
              <a:schemeClr val="bg2"/>
            </a:solidFill>
            <a:prstDash val="dash"/>
          </a:ln>
        </p:spPr>
      </p:sp>
      <p:sp>
        <p:nvSpPr>
          <p:cNvPr id="15" name="text-983"/>
          <p:cNvSpPr txBox="1"/>
          <p:nvPr/>
        </p:nvSpPr>
        <p:spPr>
          <a:xfrm>
            <a:off x="5916168" y="1920240"/>
            <a:ext cx="868680" cy="960120"/>
          </a:xfrm>
          <a:prstGeom prst="rect">
            <a:avLst/>
          </a:prstGeom>
          <a:noFill/>
          <a:ln/>
        </p:spPr>
        <p:txBody>
          <a:bodyPr wrap="square" lIns="0" tIns="0" rIns="0" bIns="0" rtlCol="0" anchor="ctr"/>
          <a:lstStyle/>
          <a:p>
            <a:pPr algn="ctr" indent="0" marL="0">
              <a:buNone/>
            </a:pPr>
            <a:r>
              <a:rPr lang="en-US" sz="800" dirty="0">
                <a:solidFill>
                  <a:schemeClr val="bg2"/>
                </a:solidFill>
              </a:rPr>
              <a:t>[School or team logo]</a:t>
            </a:r>
            <a:endParaRPr lang="en-US" sz="800" dirty="0"/>
          </a:p>
        </p:txBody>
      </p:sp>
      <p:sp>
        <p:nvSpPr>
          <p:cNvPr id="16" name="card-984"/>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7" name="qr-interview-985" descr="/home/user/chatbox-bi-n-o/magazine/assets/ui/qr_interview.png">
            <a:hlinkClick r:id="rId4" tooltip="Watch our real-world interview"/>
          </p:cNvPr>
          <p:cNvPicPr>
            <a:picLocks noChangeAspect="1"/>
          </p:cNvPicPr>
          <p:nvPr/>
        </p:nvPicPr>
        <p:blipFill>
          <a:blip r:embed="rId3"/>
          <a:stretch>
            <a:fillRect/>
          </a:stretch>
        </p:blipFill>
        <p:spPr>
          <a:xfrm>
            <a:off x="4069080" y="3411626"/>
            <a:ext cx="1177747" cy="1177747"/>
          </a:xfrm>
          <a:prstGeom prst="rect">
            <a:avLst/>
          </a:prstGeom>
        </p:spPr>
      </p:pic>
      <p:sp>
        <p:nvSpPr>
          <p:cNvPr id="18" name="text-986"/>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4"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2026-10-27T13:59:12Z</dcterms:created>
  <dcterms:modified xsi:type="dcterms:W3CDTF">2026-10-27T13:59:12Z</dcterms:modified>
</cp:coreProperties>
</file>