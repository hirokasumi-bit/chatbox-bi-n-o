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e63b10f-250c-23a9-e875-851c66bec0cb}">
          <p14:sldIdLst>
            <p14:sldId id="256"/>
            <p14:sldId id="257"/>
          </p14:sldIdLst>
        </p14:section>
        <p14:section name="Welcome" id="{6bbfaa12-f498-4e54-3ddd-cfda83a7ea8b}">
          <p14:sldIdLst>
            <p14:sldId id="258"/>
            <p14:sldId id="259"/>
            <p14:sldId id="260"/>
            <p14:sldId id="261"/>
            <p14:sldId id="262"/>
          </p14:sldIdLst>
        </p14:section>
        <p14:section name="The City" id="{e3b66c65-0634-e1a5-3552-5bda5863b55e}">
          <p14:sldIdLst>
            <p14:sldId id="263"/>
            <p14:sldId id="264"/>
            <p14:sldId id="265"/>
            <p14:sldId id="266"/>
            <p14:sldId id="267"/>
            <p14:sldId id="268"/>
          </p14:sldIdLst>
        </p14:section>
        <p14:section name="Signature Districts" id="{9a60b5a1-33d2-9378-f7db-5c8f32841ce4}">
          <p14:sldIdLst>
            <p14:sldId id="269"/>
            <p14:sldId id="270"/>
            <p14:sldId id="271"/>
            <p14:sldId id="272"/>
            <p14:sldId id="273"/>
            <p14:sldId id="274"/>
            <p14:sldId id="275"/>
            <p14:sldId id="276"/>
            <p14:sldId id="277"/>
            <p14:sldId id="278"/>
            <p14:sldId id="279"/>
          </p14:sldIdLst>
        </p14:section>
        <p14:section name="Living in Aurora Haven" id="{a41f9929-9fbb-52d7-1bed-c7c5006398a6}">
          <p14:sldIdLst>
            <p14:sldId id="280"/>
            <p14:sldId id="281"/>
            <p14:sldId id="282"/>
            <p14:sldId id="283"/>
            <p14:sldId id="284"/>
            <p14:sldId id="285"/>
            <p14:sldId id="286"/>
            <p14:sldId id="287"/>
            <p14:sldId id="288"/>
          </p14:sldIdLst>
        </p14:section>
        <p14:section name="Invest" id="{a4f2dcca-41fa-8f46-5a3f-ada1e0afae1a}">
          <p14:sldIdLst>
            <p14:sldId id="289"/>
          </p14:sldIdLst>
        </p14:section>
        <p14:section name="Guide" id="{8a7d2a89-c70b-a26a-440b-6f3ece6c9a59}">
          <p14:sldIdLst>
            <p14:sldId id="290"/>
            <p14:sldId id="291"/>
            <p14:sldId id="292"/>
            <p14:sldId id="293"/>
            <p14:sldId id="294"/>
          </p14:sldIdLst>
        </p14:section>
        <p14:section name="Back Cover" id="{3d59efca-0c54-c43d-22be-b99d22925629}">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MagazinePolarCity71844894/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snow mountain</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you can walk inside</a:t>
            </a:r>
            <a:endParaRPr lang="en-US" sz="1050" dirty="0"/>
          </a:p>
          <a:p>
            <a:pPr algn="r" indent="0" marL="0">
              <a:lnSpc>
                <a:spcPct val="105000"/>
              </a:lnSpc>
              <a:spcAft>
                <a:spcPts val="300"/>
              </a:spcAft>
              <a:buNone/>
            </a:pPr>
            <a:r>
              <a:rPr lang="en-US" sz="1050" dirty="0">
                <a:solidFill>
                  <a:schemeClr val="bg2"/>
                </a:solidFill>
              </a:rPr>
              <a:t>A whole leisure world inside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Our Eco-Polis model, and how to explore it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An imagined day in the polar night</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3"/>
          <p:cNvSpPr/>
          <p:nvPr/>
        </p:nvSpPr>
        <p:spPr>
          <a:xfrm>
            <a:off x="548640" y="868680"/>
            <a:ext cx="548640" cy="45720"/>
          </a:xfrm>
          <a:prstGeom prst="rect">
            <a:avLst/>
          </a:prstGeom>
          <a:solidFill>
            <a:schemeClr val="tx1"/>
          </a:solidFill>
          <a:ln w="12700">
            <a:solidFill>
              <a:schemeClr val="tx1"/>
            </a:solidFill>
            <a:prstDash val="solid"/>
          </a:ln>
        </p:spPr>
      </p:sp>
      <p:sp>
        <p:nvSpPr>
          <p:cNvPr id="5" name="text-94"/>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5"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6"/>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7"/>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8"/>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9"/>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100"/>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2" name="card-101"/>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102"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3"/>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4"/>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5"/>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10"/>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1"/>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2"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3"/>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4"/>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5"/>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6"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7"/>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8"/>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9"/>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20"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1"/>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2"/>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3"/>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4"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5"/>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6"/>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7"/>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8"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9"/>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30"/>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1"/>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2"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3"/>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4"/>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5"/>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36"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37"/>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38"/>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39"/>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40"/>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85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1"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2"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5"/>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7"/>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8"/>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9"/>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50"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51"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52"/>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53"/>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54"/>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55"/>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6"/>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7"/>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8"/>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9"/>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60"/>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61"/>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62"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63"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64"/>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65"/>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6"/>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8"/>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9"/>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70"/>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71"/>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72"/>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73"/>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74"/>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75"/>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6"/>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7"/>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8"/>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9"/>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80"/>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81"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82"/>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83"/>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84"/>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85"/>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7"/>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8"/>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9"/>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10" name="card-190"/>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91"/>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92"/>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93"/>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94"/>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95"/>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6"/>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7"/>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8"/>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9"/>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200"/>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201"/>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202"/>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203"/>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204"/>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205"/>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6"/>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7"/>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8"/>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9"/>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10"/>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11"/>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12"/>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3"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4"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5"/>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6"/>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7"/>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9"/>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20"/>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21"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2"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3"/>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28"/>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7" name="kicker-dot-229"/>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30"/>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31"/>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32"/>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33"/>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34"/>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35"/>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36"/>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37"/>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38"/>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39"/>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40"/>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41"/>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42"/>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43"/>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4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4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8"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9"/>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50"/>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51"/>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52"/>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53"/>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54"/>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55"/>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6"/>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7"/>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8"/>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9"/>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60"/>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61"/>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62"/>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63"/>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64"/>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Founding Mayor Monument · Civic Center · Snowflake General Hospital · Northern Lights School · Igloo Fresh · Aurora Cinema · Metro</a:t>
            </a:r>
            <a:endParaRPr lang="en-US" sz="950" dirty="0"/>
          </a:p>
        </p:txBody>
      </p:sp>
      <p:sp>
        <p:nvSpPr>
          <p:cNvPr id="22" name="card-265"/>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6"/>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7"/>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8"/>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9"/>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70"/>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71"/>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72"/>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73"/>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74"/>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75"/>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6"/>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77"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78"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79"/>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8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81"/>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8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83"/>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85"/>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286"/>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87"/>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88"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289"/>
          <p:cNvSpPr/>
          <p:nvPr/>
        </p:nvSpPr>
        <p:spPr>
          <a:xfrm>
            <a:off x="548640" y="548640"/>
            <a:ext cx="3140964" cy="2514600"/>
          </a:xfrm>
          <a:prstGeom prst="rect">
            <a:avLst/>
          </a:prstGeom>
          <a:solidFill>
            <a:schemeClr val="tx1">
              <a:alpha val="85000"/>
            </a:schemeClr>
          </a:solidFill>
          <a:ln w="12700">
            <a:solidFill>
              <a:schemeClr val="tx1">
                <a:alpha val="0"/>
              </a:schemeClr>
            </a:solidFill>
            <a:prstDash val="solid"/>
          </a:ln>
        </p:spPr>
      </p:sp>
      <p:sp>
        <p:nvSpPr>
          <p:cNvPr id="4" name="kicker-dot-290"/>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291"/>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292"/>
          <p:cNvSpPr txBox="1"/>
          <p:nvPr/>
        </p:nvSpPr>
        <p:spPr>
          <a:xfrm>
            <a:off x="694944" y="969264"/>
            <a:ext cx="2848356" cy="2002536"/>
          </a:xfrm>
          <a:prstGeom prst="rect">
            <a:avLst/>
          </a:prstGeom>
          <a:noFill/>
          <a:ln/>
        </p:spPr>
        <p:txBody>
          <a:bodyPr wrap="square" lIns="0" tIns="0" rIns="0" bIns="0" rtlCol="0" anchor="t"/>
          <a:lstStyle/>
          <a:p>
            <a:pPr indent="0" marL="0">
              <a:lnSpc>
                <a:spcPct val="106000"/>
              </a:lnSpc>
              <a:buNone/>
            </a:pPr>
            <a:r>
              <a:rPr lang="en-US" sz="90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00" dirty="0"/>
          </a:p>
        </p:txBody>
      </p:sp>
      <p:sp>
        <p:nvSpPr>
          <p:cNvPr id="7" name="panel-293"/>
          <p:cNvSpPr/>
          <p:nvPr/>
        </p:nvSpPr>
        <p:spPr>
          <a:xfrm>
            <a:off x="3872484" y="548640"/>
            <a:ext cx="3140964" cy="2514600"/>
          </a:xfrm>
          <a:prstGeom prst="rect">
            <a:avLst/>
          </a:prstGeom>
          <a:solidFill>
            <a:schemeClr val="tx1">
              <a:alpha val="85000"/>
            </a:schemeClr>
          </a:solidFill>
          <a:ln w="12700">
            <a:solidFill>
              <a:schemeClr val="tx1">
                <a:alpha val="0"/>
              </a:schemeClr>
            </a:solidFill>
            <a:prstDash val="solid"/>
          </a:ln>
        </p:spPr>
      </p:sp>
      <p:sp>
        <p:nvSpPr>
          <p:cNvPr id="8" name="kicker-dot-294"/>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295"/>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296"/>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297"/>
          <p:cNvSpPr txBox="1"/>
          <p:nvPr/>
        </p:nvSpPr>
        <p:spPr>
          <a:xfrm>
            <a:off x="4018788" y="1472184"/>
            <a:ext cx="2848356" cy="1499616"/>
          </a:xfrm>
          <a:prstGeom prst="rect">
            <a:avLst/>
          </a:prstGeom>
          <a:noFill/>
          <a:ln/>
        </p:spPr>
        <p:txBody>
          <a:bodyPr wrap="square" lIns="0" tIns="0" rIns="0" bIns="0" rtlCol="0" anchor="t"/>
          <a:lstStyle/>
          <a:p>
            <a:pPr indent="0" marL="0">
              <a:lnSpc>
                <a:spcPct val="106000"/>
              </a:lnSpc>
              <a:buNone/>
            </a:pPr>
            <a:r>
              <a:rPr lang="en-US" sz="900" dirty="0">
                <a:solidFill>
                  <a:schemeClr val="bg1"/>
                </a:solidFill>
              </a:rPr>
              <a:t>A day at 800 MW needs about 0.2 kg of fuel, close to our 170 g design. Breeding tritium at scale is unproven [11] and ITER costs €18–22 billion [12], so the city starts on wind, sun and geothermal power (page 27).</a:t>
            </a:r>
            <a:endParaRPr lang="en-US" sz="900" dirty="0"/>
          </a:p>
        </p:txBody>
      </p:sp>
      <p:pic>
        <p:nvPicPr>
          <p:cNvPr id="12" name="shade-bottom-298"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299"/>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00"/>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0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0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04"/>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05"/>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06"/>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07"/>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08"/>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09"/>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10"/>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11"/>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12"/>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13"/>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14"/>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15"/>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16"/>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17"/>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18"/>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19"/>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20"/>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21"/>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22"/>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23"/>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24"/>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hydrogen and CO₂ for the food plant, metals and paving blocks.</a:t>
            </a:r>
            <a:endParaRPr lang="en-US" sz="950" dirty="0"/>
          </a:p>
        </p:txBody>
      </p:sp>
      <p:sp>
        <p:nvSpPr>
          <p:cNvPr id="27" name="marker-325"/>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26"/>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27"/>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28"/>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29"/>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30"/>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31"/>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32"/>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33"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34"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35"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36"/>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37"/>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38"/>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39"/>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40"/>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42"/>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43"/>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44"/>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45"/>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46"/>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4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4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50"/>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51"/>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52"/>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53"/>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54"/>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55"/>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56"/>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57"/>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58"/>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59"/>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60"/>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61"/>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62"/>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63"/>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64"/>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65"/>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66"/>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67"/>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68"/>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69"/>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70"/>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71"/>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72"/>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73"/>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74"/>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375"/>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376"/>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377"/>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378"/>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850" dirty="0">
                <a:solidFill>
                  <a:schemeClr val="tx1"/>
                </a:solidFill>
              </a:rPr>
              <a:t>Each step exists, but apart: Solein protein from Finland [6], starch made from CO₂ in a lab [7] and air capture in Iceland [8]. We link them in one plant.</a:t>
            </a:r>
            <a:endParaRPr lang="en-US" sz="850" dirty="0"/>
          </a:p>
        </p:txBody>
      </p:sp>
      <p:sp>
        <p:nvSpPr>
          <p:cNvPr id="35" name="card-379"/>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380"/>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381"/>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382"/>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383"/>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850" dirty="0">
                <a:solidFill>
                  <a:schemeClr val="tx1"/>
                </a:solidFill>
              </a:rPr>
              <a:t>Melting 3,000 t of snow a day takes about 13 MW, inside the 14 MW of spare fusion heat. Starch from CO₂ is still lab-scale [7].</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84"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85"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386"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87"/>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88"/>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89"/>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90"/>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391"/>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393"/>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394"/>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395"/>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396"/>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397"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8"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399"/>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00"/>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01"/>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03"/>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04"/>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5"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06"/>
          <p:cNvSpPr/>
          <p:nvPr/>
        </p:nvSpPr>
        <p:spPr>
          <a:xfrm>
            <a:off x="548640" y="548640"/>
            <a:ext cx="3140964" cy="2514600"/>
          </a:xfrm>
          <a:prstGeom prst="rect">
            <a:avLst/>
          </a:prstGeom>
          <a:solidFill>
            <a:schemeClr val="tx1">
              <a:alpha val="85000"/>
            </a:schemeClr>
          </a:solidFill>
          <a:ln w="12700">
            <a:solidFill>
              <a:schemeClr val="tx1">
                <a:alpha val="0"/>
              </a:schemeClr>
            </a:solidFill>
            <a:prstDash val="solid"/>
          </a:ln>
        </p:spPr>
      </p:sp>
      <p:sp>
        <p:nvSpPr>
          <p:cNvPr id="4" name="kicker-dot-407"/>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08"/>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09"/>
          <p:cNvSpPr txBox="1"/>
          <p:nvPr/>
        </p:nvSpPr>
        <p:spPr>
          <a:xfrm>
            <a:off x="694944" y="969264"/>
            <a:ext cx="2848356" cy="2002536"/>
          </a:xfrm>
          <a:prstGeom prst="rect">
            <a:avLst/>
          </a:prstGeom>
          <a:noFill/>
          <a:ln/>
        </p:spPr>
        <p:txBody>
          <a:bodyPr wrap="square" lIns="0" tIns="0" rIns="0" bIns="0" rtlCol="0" anchor="t"/>
          <a:lstStyle/>
          <a:p>
            <a:pPr indent="0" marL="0">
              <a:lnSpc>
                <a:spcPct val="106000"/>
              </a:lnSpc>
              <a:buNone/>
            </a:pPr>
            <a:r>
              <a:rPr lang="en-US" sz="90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00" dirty="0"/>
          </a:p>
        </p:txBody>
      </p:sp>
      <p:sp>
        <p:nvSpPr>
          <p:cNvPr id="7" name="panel-410"/>
          <p:cNvSpPr/>
          <p:nvPr/>
        </p:nvSpPr>
        <p:spPr>
          <a:xfrm>
            <a:off x="3872484" y="548640"/>
            <a:ext cx="3140964" cy="2514600"/>
          </a:xfrm>
          <a:prstGeom prst="rect">
            <a:avLst/>
          </a:prstGeom>
          <a:solidFill>
            <a:schemeClr val="tx1">
              <a:alpha val="85000"/>
            </a:schemeClr>
          </a:solidFill>
          <a:ln w="12700">
            <a:solidFill>
              <a:schemeClr val="tx1">
                <a:alpha val="0"/>
              </a:schemeClr>
            </a:solidFill>
            <a:prstDash val="solid"/>
          </a:ln>
        </p:spPr>
      </p:sp>
      <p:sp>
        <p:nvSpPr>
          <p:cNvPr id="8" name="kicker-dot-411"/>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12"/>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13"/>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14"/>
          <p:cNvSpPr txBox="1"/>
          <p:nvPr/>
        </p:nvSpPr>
        <p:spPr>
          <a:xfrm>
            <a:off x="4018788" y="1472184"/>
            <a:ext cx="2848356" cy="1499616"/>
          </a:xfrm>
          <a:prstGeom prst="rect">
            <a:avLst/>
          </a:prstGeom>
          <a:noFill/>
          <a:ln/>
        </p:spPr>
        <p:txBody>
          <a:bodyPr wrap="square" lIns="0" tIns="0" rIns="0" bIns="0" rtlCol="0" anchor="t"/>
          <a:lstStyle/>
          <a:p>
            <a:pPr indent="0" marL="0">
              <a:lnSpc>
                <a:spcPct val="106000"/>
              </a:lnSpc>
              <a:buNone/>
            </a:pPr>
            <a:r>
              <a:rPr lang="en-US" sz="900" dirty="0">
                <a:solidFill>
                  <a:schemeClr val="bg1"/>
                </a:solidFill>
              </a:rPr>
              <a:t>An insulated rock shell holds 28 °C inside at −45 °C outside. It needs a hot spring below, to be confirmed by drilling, and thermosyphons like the Trans-Alaska Pipeline’s [14] keep the ground frozen.</a:t>
            </a:r>
            <a:endParaRPr lang="en-US" sz="900" dirty="0"/>
          </a:p>
        </p:txBody>
      </p:sp>
      <p:pic>
        <p:nvPicPr>
          <p:cNvPr id="12" name="shade-bottom-415"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16"/>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17"/>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1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1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21"/>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22"/>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23"/>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24"/>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25"/>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26"/>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27"/>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28"/>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29"/>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30"/>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31"/>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32"/>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33"/>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434"/>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435"/>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436"/>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4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441"/>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442"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443"/>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444"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445"/>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446"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447"/>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448"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449"/>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450"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451"/>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452"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453"/>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454"/>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455"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456"/>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457"/>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458"/>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459"/>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460"/>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461"/>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62"/>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6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6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66"/>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67"/>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68"/>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69"/>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70"/>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71"/>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72"/>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73"/>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74"/>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75"/>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76"/>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77"/>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78"/>
          <p:cNvSpPr/>
          <p:nvPr/>
        </p:nvSpPr>
        <p:spPr>
          <a:xfrm>
            <a:off x="2633472" y="3063240"/>
            <a:ext cx="2295144" cy="914"/>
          </a:xfrm>
          <a:prstGeom prst="line">
            <a:avLst/>
          </a:prstGeom>
          <a:noFill/>
          <a:ln w="28575">
            <a:solidFill>
              <a:schemeClr val="accent2"/>
            </a:solidFill>
            <a:prstDash val="solid"/>
            <a:tailEnd type="triangle"/>
          </a:ln>
        </p:spPr>
      </p:sp>
      <p:sp>
        <p:nvSpPr>
          <p:cNvPr id="19" name="text-479"/>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80"/>
          <p:cNvSpPr/>
          <p:nvPr/>
        </p:nvSpPr>
        <p:spPr>
          <a:xfrm>
            <a:off x="2633472" y="3410712"/>
            <a:ext cx="2295144" cy="914"/>
          </a:xfrm>
          <a:prstGeom prst="line">
            <a:avLst/>
          </a:prstGeom>
          <a:noFill/>
          <a:ln w="28575">
            <a:solidFill>
              <a:schemeClr val="bg2"/>
            </a:solidFill>
            <a:prstDash val="solid"/>
            <a:tailEnd type="triangle"/>
          </a:ln>
        </p:spPr>
      </p:sp>
      <p:sp>
        <p:nvSpPr>
          <p:cNvPr id="21" name="text-481"/>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82"/>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83"/>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84"/>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85"/>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486"/>
          <p:cNvSpPr/>
          <p:nvPr/>
        </p:nvSpPr>
        <p:spPr>
          <a:xfrm>
            <a:off x="1325880" y="4507992"/>
            <a:ext cx="914" cy="1179576"/>
          </a:xfrm>
          <a:prstGeom prst="line">
            <a:avLst/>
          </a:prstGeom>
          <a:noFill/>
          <a:ln w="28575">
            <a:solidFill>
              <a:schemeClr val="accent2"/>
            </a:solidFill>
            <a:prstDash val="solid"/>
            <a:tailEnd type="triangle"/>
          </a:ln>
        </p:spPr>
      </p:sp>
      <p:sp>
        <p:nvSpPr>
          <p:cNvPr id="27" name="arrow-487"/>
          <p:cNvSpPr/>
          <p:nvPr/>
        </p:nvSpPr>
        <p:spPr>
          <a:xfrm flipV="1">
            <a:off x="1874520" y="4507992"/>
            <a:ext cx="914" cy="1179576"/>
          </a:xfrm>
          <a:prstGeom prst="line">
            <a:avLst/>
          </a:prstGeom>
          <a:noFill/>
          <a:ln w="28575">
            <a:solidFill>
              <a:schemeClr val="bg2"/>
            </a:solidFill>
            <a:prstDash val="solid"/>
            <a:tailEnd type="triangle"/>
          </a:ln>
        </p:spPr>
      </p:sp>
      <p:sp>
        <p:nvSpPr>
          <p:cNvPr id="28" name="text-488"/>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489"/>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490"/>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491"/>
          <p:cNvSpPr/>
          <p:nvPr/>
        </p:nvSpPr>
        <p:spPr>
          <a:xfrm>
            <a:off x="6464808" y="4489704"/>
            <a:ext cx="914" cy="1078992"/>
          </a:xfrm>
          <a:prstGeom prst="line">
            <a:avLst/>
          </a:prstGeom>
          <a:noFill/>
          <a:ln w="28575">
            <a:solidFill>
              <a:schemeClr val="accent4"/>
            </a:solidFill>
            <a:prstDash val="solid"/>
            <a:tailEnd type="triangle"/>
          </a:ln>
        </p:spPr>
      </p:sp>
      <p:sp>
        <p:nvSpPr>
          <p:cNvPr id="32" name="text-492"/>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493"/>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494"/>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495"/>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496"/>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497"/>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498"/>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499"/>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00"/>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01"/>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02"/>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03"/>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04"/>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05"/>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06"/>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07"/>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08"/>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09"/>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1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14"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15"/>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16"/>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17"/>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18"/>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19"/>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20"/>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21"/>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22"/>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23"/>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24"/>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25"/>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26"/>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27"/>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28"/>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29"/>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30"/>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31"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32"/>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33"/>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34"/>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35"/>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536"/>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37"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38"/>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39"/>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40"/>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41"/>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43"/>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44"/>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45"/>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46"/>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47"/>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48"/>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49"/>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50"/>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51"/>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52"/>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53"/>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54"/>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55"/>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56"/>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57"/>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58"/>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59"/>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60"/>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61"/>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62"/>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63"/>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64"/>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65"/>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66"/>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67"/>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68"/>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69"/>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70"/>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71"/>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72"/>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73"/>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74"/>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7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7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7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79" descr="/home/user/chatbox-bi-n-o/magazine/assets/renders/renewable.jpg">    </p:cNvPr>
          <p:cNvPicPr>
            <a:picLocks noChangeAspect="1"/>
          </p:cNvPicPr>
          <p:nvPr/>
        </p:nvPicPr>
        <p:blipFill>
          <a:blip r:embed="rId1"/>
          <a:srcRect l="0" r="0" t="0" b="0"/>
          <a:stretch/>
        </p:blipFill>
        <p:spPr>
          <a:xfrm>
            <a:off x="0" y="1508760"/>
            <a:ext cx="7562088" cy="3291840"/>
          </a:xfrm>
          <a:prstGeom prst="rect">
            <a:avLst/>
          </a:prstGeom>
        </p:spPr>
      </p:pic>
      <p:sp>
        <p:nvSpPr>
          <p:cNvPr id="6" name="text-580"/>
          <p:cNvSpPr txBox="1"/>
          <p:nvPr/>
        </p:nvSpPr>
        <p:spPr>
          <a:xfrm>
            <a:off x="548640" y="48463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81"/>
          <p:cNvSpPr txBox="1"/>
          <p:nvPr/>
        </p:nvSpPr>
        <p:spPr>
          <a:xfrm>
            <a:off x="548640" y="5166360"/>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582"/>
          <p:cNvSpPr/>
          <p:nvPr/>
        </p:nvSpPr>
        <p:spPr>
          <a:xfrm>
            <a:off x="548640" y="5760720"/>
            <a:ext cx="1972056" cy="3931920"/>
          </a:xfrm>
          <a:prstGeom prst="roundRect">
            <a:avLst>
              <a:gd name="adj" fmla="val 3709"/>
            </a:avLst>
          </a:prstGeom>
          <a:solidFill>
            <a:schemeClr val="bg2"/>
          </a:solidFill>
          <a:ln w="12700">
            <a:solidFill>
              <a:schemeClr val="bg2"/>
            </a:solidFill>
            <a:prstDash val="solid"/>
          </a:ln>
        </p:spPr>
      </p:sp>
      <p:sp>
        <p:nvSpPr>
          <p:cNvPr id="9" name="step-head-583"/>
          <p:cNvSpPr/>
          <p:nvPr/>
        </p:nvSpPr>
        <p:spPr>
          <a:xfrm>
            <a:off x="548640" y="5760720"/>
            <a:ext cx="1972056" cy="347472"/>
          </a:xfrm>
          <a:prstGeom prst="rect">
            <a:avLst/>
          </a:prstGeom>
          <a:solidFill>
            <a:schemeClr val="accent6"/>
          </a:solidFill>
          <a:ln w="12700">
            <a:solidFill>
              <a:schemeClr val="accent6"/>
            </a:solidFill>
            <a:prstDash val="solid"/>
          </a:ln>
        </p:spPr>
      </p:sp>
      <p:sp>
        <p:nvSpPr>
          <p:cNvPr id="10" name="text-584"/>
          <p:cNvSpPr txBox="1"/>
          <p:nvPr/>
        </p:nvSpPr>
        <p:spPr>
          <a:xfrm>
            <a:off x="676656" y="576072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585"/>
          <p:cNvSpPr txBox="1"/>
          <p:nvPr/>
        </p:nvSpPr>
        <p:spPr>
          <a:xfrm>
            <a:off x="676656" y="626364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586"/>
          <p:cNvSpPr txBox="1"/>
          <p:nvPr/>
        </p:nvSpPr>
        <p:spPr>
          <a:xfrm>
            <a:off x="676656" y="6812280"/>
            <a:ext cx="1716024" cy="2788920"/>
          </a:xfrm>
          <a:prstGeom prst="rect">
            <a:avLst/>
          </a:prstGeom>
          <a:noFill/>
          <a:ln/>
        </p:spPr>
        <p:txBody>
          <a:bodyPr wrap="square" lIns="0" tIns="0" rIns="0" bIns="0" rtlCol="0" anchor="t"/>
          <a:lstStyle/>
          <a:p>
            <a:pPr indent="0" marL="0">
              <a:lnSpc>
                <a:spcPct val="108000"/>
              </a:lnSpc>
              <a:buNone/>
            </a:pPr>
            <a:r>
              <a:rPr lang="en-US" sz="100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00" dirty="0"/>
          </a:p>
        </p:txBody>
      </p:sp>
      <p:sp>
        <p:nvSpPr>
          <p:cNvPr id="13" name="arrow-587"/>
          <p:cNvSpPr/>
          <p:nvPr/>
        </p:nvSpPr>
        <p:spPr>
          <a:xfrm>
            <a:off x="2548128" y="7680960"/>
            <a:ext cx="219456" cy="914"/>
          </a:xfrm>
          <a:prstGeom prst="line">
            <a:avLst/>
          </a:prstGeom>
          <a:noFill/>
          <a:ln w="31750">
            <a:solidFill>
              <a:schemeClr val="tx2"/>
            </a:solidFill>
            <a:prstDash val="solid"/>
            <a:tailEnd type="triangle"/>
          </a:ln>
        </p:spPr>
      </p:sp>
      <p:sp>
        <p:nvSpPr>
          <p:cNvPr id="14" name="card-588"/>
          <p:cNvSpPr/>
          <p:nvPr/>
        </p:nvSpPr>
        <p:spPr>
          <a:xfrm>
            <a:off x="2795016" y="5760720"/>
            <a:ext cx="1972056" cy="3931920"/>
          </a:xfrm>
          <a:prstGeom prst="roundRect">
            <a:avLst>
              <a:gd name="adj" fmla="val 3709"/>
            </a:avLst>
          </a:prstGeom>
          <a:solidFill>
            <a:schemeClr val="bg2"/>
          </a:solidFill>
          <a:ln w="12700">
            <a:solidFill>
              <a:schemeClr val="bg2"/>
            </a:solidFill>
            <a:prstDash val="solid"/>
          </a:ln>
        </p:spPr>
      </p:sp>
      <p:sp>
        <p:nvSpPr>
          <p:cNvPr id="15" name="step-head-589"/>
          <p:cNvSpPr/>
          <p:nvPr/>
        </p:nvSpPr>
        <p:spPr>
          <a:xfrm>
            <a:off x="2795016" y="5760720"/>
            <a:ext cx="1972056" cy="347472"/>
          </a:xfrm>
          <a:prstGeom prst="rect">
            <a:avLst/>
          </a:prstGeom>
          <a:solidFill>
            <a:schemeClr val="accent3"/>
          </a:solidFill>
          <a:ln w="12700">
            <a:solidFill>
              <a:schemeClr val="accent3"/>
            </a:solidFill>
            <a:prstDash val="solid"/>
          </a:ln>
        </p:spPr>
      </p:sp>
      <p:sp>
        <p:nvSpPr>
          <p:cNvPr id="16" name="text-590"/>
          <p:cNvSpPr txBox="1"/>
          <p:nvPr/>
        </p:nvSpPr>
        <p:spPr>
          <a:xfrm>
            <a:off x="2923032" y="576072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591"/>
          <p:cNvSpPr txBox="1"/>
          <p:nvPr/>
        </p:nvSpPr>
        <p:spPr>
          <a:xfrm>
            <a:off x="2923032" y="626364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592"/>
          <p:cNvSpPr txBox="1"/>
          <p:nvPr/>
        </p:nvSpPr>
        <p:spPr>
          <a:xfrm>
            <a:off x="2923032" y="6812280"/>
            <a:ext cx="1716024" cy="2788920"/>
          </a:xfrm>
          <a:prstGeom prst="rect">
            <a:avLst/>
          </a:prstGeom>
          <a:noFill/>
          <a:ln/>
        </p:spPr>
        <p:txBody>
          <a:bodyPr wrap="square" lIns="0" tIns="0" rIns="0" bIns="0" rtlCol="0" anchor="t"/>
          <a:lstStyle/>
          <a:p>
            <a:pPr indent="0" marL="0">
              <a:lnSpc>
                <a:spcPct val="108000"/>
              </a:lnSpc>
              <a:buNone/>
            </a:pPr>
            <a:r>
              <a:rPr lang="en-US" sz="1000" dirty="0">
                <a:solidFill>
                  <a:schemeClr val="tx1"/>
                </a:solidFill>
              </a:rPr>
              <a:t>Once the plasma burns, the fusion station keeps itself going and gives the whole city electricity and heat, day and polar night.</a:t>
            </a:r>
            <a:endParaRPr lang="en-US" sz="1000" dirty="0"/>
          </a:p>
        </p:txBody>
      </p:sp>
      <p:sp>
        <p:nvSpPr>
          <p:cNvPr id="19" name="arrow-593"/>
          <p:cNvSpPr/>
          <p:nvPr/>
        </p:nvSpPr>
        <p:spPr>
          <a:xfrm>
            <a:off x="4794504" y="7680960"/>
            <a:ext cx="219456" cy="914"/>
          </a:xfrm>
          <a:prstGeom prst="line">
            <a:avLst/>
          </a:prstGeom>
          <a:noFill/>
          <a:ln w="31750">
            <a:solidFill>
              <a:schemeClr val="tx2"/>
            </a:solidFill>
            <a:prstDash val="solid"/>
            <a:tailEnd type="triangle"/>
          </a:ln>
        </p:spPr>
      </p:sp>
      <p:sp>
        <p:nvSpPr>
          <p:cNvPr id="20" name="card-594"/>
          <p:cNvSpPr/>
          <p:nvPr/>
        </p:nvSpPr>
        <p:spPr>
          <a:xfrm>
            <a:off x="5041392" y="5760720"/>
            <a:ext cx="1972056" cy="3931920"/>
          </a:xfrm>
          <a:prstGeom prst="roundRect">
            <a:avLst>
              <a:gd name="adj" fmla="val 3709"/>
            </a:avLst>
          </a:prstGeom>
          <a:solidFill>
            <a:schemeClr val="bg2"/>
          </a:solidFill>
          <a:ln w="12700">
            <a:solidFill>
              <a:schemeClr val="bg2"/>
            </a:solidFill>
            <a:prstDash val="solid"/>
          </a:ln>
        </p:spPr>
      </p:sp>
      <p:sp>
        <p:nvSpPr>
          <p:cNvPr id="21" name="step-head-595"/>
          <p:cNvSpPr/>
          <p:nvPr/>
        </p:nvSpPr>
        <p:spPr>
          <a:xfrm>
            <a:off x="5041392" y="5760720"/>
            <a:ext cx="1972056" cy="347472"/>
          </a:xfrm>
          <a:prstGeom prst="rect">
            <a:avLst/>
          </a:prstGeom>
          <a:solidFill>
            <a:schemeClr val="accent1"/>
          </a:solidFill>
          <a:ln w="12700">
            <a:solidFill>
              <a:schemeClr val="accent1"/>
            </a:solidFill>
            <a:prstDash val="solid"/>
          </a:ln>
        </p:spPr>
      </p:sp>
      <p:sp>
        <p:nvSpPr>
          <p:cNvPr id="22" name="text-596"/>
          <p:cNvSpPr txBox="1"/>
          <p:nvPr/>
        </p:nvSpPr>
        <p:spPr>
          <a:xfrm>
            <a:off x="5169408" y="576072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597"/>
          <p:cNvSpPr txBox="1"/>
          <p:nvPr/>
        </p:nvSpPr>
        <p:spPr>
          <a:xfrm>
            <a:off x="5169408" y="626364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598"/>
          <p:cNvSpPr txBox="1"/>
          <p:nvPr/>
        </p:nvSpPr>
        <p:spPr>
          <a:xfrm>
            <a:off x="5169408" y="6812280"/>
            <a:ext cx="1716024" cy="2788920"/>
          </a:xfrm>
          <a:prstGeom prst="rect">
            <a:avLst/>
          </a:prstGeom>
          <a:noFill/>
          <a:ln/>
        </p:spPr>
        <p:txBody>
          <a:bodyPr wrap="square" lIns="0" tIns="0" rIns="0" bIns="0" rtlCol="0" anchor="t"/>
          <a:lstStyle/>
          <a:p>
            <a:pPr indent="0" marL="0">
              <a:lnSpc>
                <a:spcPct val="108000"/>
              </a:lnSpc>
              <a:buNone/>
            </a:pPr>
            <a:r>
              <a:rPr lang="en-US" sz="1000" dirty="0">
                <a:solidFill>
                  <a:schemeClr val="tx1"/>
                </a:solidFill>
              </a:rPr>
              <a:t>If the reactor stops for repair, wind, sun, the batteries, the 24-hour geothermal plant and the 12-hour heat tank take over, so no home goes cold.</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99"/>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0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0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03"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04"/>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05"/>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06"/>
          <p:cNvSpPr/>
          <p:nvPr/>
        </p:nvSpPr>
        <p:spPr>
          <a:xfrm>
            <a:off x="1315974" y="6153912"/>
            <a:ext cx="620268" cy="914"/>
          </a:xfrm>
          <a:prstGeom prst="line">
            <a:avLst/>
          </a:prstGeom>
          <a:noFill/>
          <a:ln w="22225">
            <a:solidFill>
              <a:schemeClr val="accent4"/>
            </a:solidFill>
            <a:prstDash val="solid"/>
            <a:tailEnd type="triangle"/>
          </a:ln>
        </p:spPr>
      </p:sp>
      <p:sp>
        <p:nvSpPr>
          <p:cNvPr id="9" name="marker-607"/>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08"/>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09"/>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10"/>
          <p:cNvSpPr/>
          <p:nvPr/>
        </p:nvSpPr>
        <p:spPr>
          <a:xfrm>
            <a:off x="2393442" y="6153912"/>
            <a:ext cx="620268" cy="914"/>
          </a:xfrm>
          <a:prstGeom prst="line">
            <a:avLst/>
          </a:prstGeom>
          <a:noFill/>
          <a:ln w="22225">
            <a:solidFill>
              <a:schemeClr val="accent4"/>
            </a:solidFill>
            <a:prstDash val="solid"/>
            <a:tailEnd type="triangle"/>
          </a:ln>
        </p:spPr>
      </p:sp>
      <p:sp>
        <p:nvSpPr>
          <p:cNvPr id="13" name="marker-611"/>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12"/>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13"/>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14"/>
          <p:cNvSpPr/>
          <p:nvPr/>
        </p:nvSpPr>
        <p:spPr>
          <a:xfrm>
            <a:off x="3470910" y="6153912"/>
            <a:ext cx="620268" cy="914"/>
          </a:xfrm>
          <a:prstGeom prst="line">
            <a:avLst/>
          </a:prstGeom>
          <a:noFill/>
          <a:ln w="22225">
            <a:solidFill>
              <a:schemeClr val="accent4"/>
            </a:solidFill>
            <a:prstDash val="solid"/>
            <a:tailEnd type="triangle"/>
          </a:ln>
        </p:spPr>
      </p:sp>
      <p:sp>
        <p:nvSpPr>
          <p:cNvPr id="17" name="marker-615"/>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16"/>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17"/>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18"/>
          <p:cNvSpPr/>
          <p:nvPr/>
        </p:nvSpPr>
        <p:spPr>
          <a:xfrm>
            <a:off x="4548378" y="6153912"/>
            <a:ext cx="620268" cy="914"/>
          </a:xfrm>
          <a:prstGeom prst="line">
            <a:avLst/>
          </a:prstGeom>
          <a:noFill/>
          <a:ln w="22225">
            <a:solidFill>
              <a:schemeClr val="accent4"/>
            </a:solidFill>
            <a:prstDash val="solid"/>
            <a:tailEnd type="triangle"/>
          </a:ln>
        </p:spPr>
      </p:sp>
      <p:sp>
        <p:nvSpPr>
          <p:cNvPr id="21" name="marker-619"/>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20"/>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21"/>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22"/>
          <p:cNvSpPr/>
          <p:nvPr/>
        </p:nvSpPr>
        <p:spPr>
          <a:xfrm>
            <a:off x="5625846" y="6153912"/>
            <a:ext cx="620268" cy="914"/>
          </a:xfrm>
          <a:prstGeom prst="line">
            <a:avLst/>
          </a:prstGeom>
          <a:noFill/>
          <a:ln w="22225">
            <a:solidFill>
              <a:schemeClr val="accent4"/>
            </a:solidFill>
            <a:prstDash val="solid"/>
            <a:tailEnd type="triangle"/>
          </a:ln>
        </p:spPr>
      </p:sp>
      <p:sp>
        <p:nvSpPr>
          <p:cNvPr id="25" name="marker-623"/>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24"/>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25"/>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26"/>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27"/>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28"/>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29"/>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30"/>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31"/>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32"/>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33"/>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34"/>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35"/>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36"/>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37"/>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38"/>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39"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40"/>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41"/>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42"/>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43"/>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45"/>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46"/>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47"/>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48"/>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49"/>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50"/>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51"/>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5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5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5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56"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57"/>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58"/>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59"/>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60"/>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61"/>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62"/>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63"/>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Who rides</a:t>
            </a:r>
            <a:endParaRPr lang="en-US" sz="950" dirty="0"/>
          </a:p>
        </p:txBody>
      </p:sp>
      <p:sp>
        <p:nvSpPr>
          <p:cNvPr id="16" name="text-664"/>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65"/>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66"/>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How many</a:t>
            </a:r>
            <a:endParaRPr lang="en-US" sz="950" dirty="0"/>
          </a:p>
        </p:txBody>
      </p:sp>
      <p:sp>
        <p:nvSpPr>
          <p:cNvPr id="19" name="text-667"/>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68"/>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69"/>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 in a storm</a:t>
            </a:r>
            <a:endParaRPr lang="en-US" sz="950" dirty="0"/>
          </a:p>
        </p:txBody>
      </p:sp>
      <p:sp>
        <p:nvSpPr>
          <p:cNvPr id="22" name="text-670"/>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71"/>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72"/>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Powered by</a:t>
            </a:r>
            <a:endParaRPr lang="en-US" sz="950" dirty="0"/>
          </a:p>
        </p:txBody>
      </p:sp>
      <p:sp>
        <p:nvSpPr>
          <p:cNvPr id="25" name="text-673"/>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74"/>
          <p:cNvSpPr txBox="1"/>
          <p:nvPr/>
        </p:nvSpPr>
        <p:spPr>
          <a:xfrm>
            <a:off x="548640"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27" name="text-675"/>
          <p:cNvSpPr txBox="1"/>
          <p:nvPr/>
        </p:nvSpPr>
        <p:spPr>
          <a:xfrm>
            <a:off x="548640"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between trains at rush hour</a:t>
            </a:r>
            <a:endParaRPr lang="en-US" sz="850" dirty="0"/>
          </a:p>
        </p:txBody>
      </p:sp>
      <p:sp>
        <p:nvSpPr>
          <p:cNvPr id="28" name="text-676"/>
          <p:cNvSpPr txBox="1"/>
          <p:nvPr/>
        </p:nvSpPr>
        <p:spPr>
          <a:xfrm>
            <a:off x="2703576"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29" name="text-677"/>
          <p:cNvSpPr txBox="1"/>
          <p:nvPr/>
        </p:nvSpPr>
        <p:spPr>
          <a:xfrm>
            <a:off x="2703576"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30" name="text-678"/>
          <p:cNvSpPr txBox="1"/>
          <p:nvPr/>
        </p:nvSpPr>
        <p:spPr>
          <a:xfrm>
            <a:off x="4858512"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31" name="text-679"/>
          <p:cNvSpPr txBox="1"/>
          <p:nvPr/>
        </p:nvSpPr>
        <p:spPr>
          <a:xfrm>
            <a:off x="4858512"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80"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81"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82"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83"/>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8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85"/>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87"/>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88"/>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89"/>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90"/>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91"/>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92"/>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93"/>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9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9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9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98"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99"/>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00"/>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01"/>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02"/>
          <p:cNvSpPr txBox="1"/>
          <p:nvPr/>
        </p:nvSpPr>
        <p:spPr>
          <a:xfrm>
            <a:off x="548640" y="832104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03"/>
          <p:cNvSpPr txBox="1"/>
          <p:nvPr/>
        </p:nvSpPr>
        <p:spPr>
          <a:xfrm>
            <a:off x="548640" y="877722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04"/>
          <p:cNvSpPr txBox="1"/>
          <p:nvPr/>
        </p:nvSpPr>
        <p:spPr>
          <a:xfrm>
            <a:off x="2703576" y="832104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05"/>
          <p:cNvSpPr txBox="1"/>
          <p:nvPr/>
        </p:nvSpPr>
        <p:spPr>
          <a:xfrm>
            <a:off x="2703576" y="877722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06"/>
          <p:cNvSpPr txBox="1"/>
          <p:nvPr/>
        </p:nvSpPr>
        <p:spPr>
          <a:xfrm>
            <a:off x="4858512" y="832104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07"/>
          <p:cNvSpPr txBox="1"/>
          <p:nvPr/>
        </p:nvSpPr>
        <p:spPr>
          <a:xfrm>
            <a:off x="4858512" y="877722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8"/>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1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12"/>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13"/>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14"/>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5"/>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6"/>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7"/>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8"/>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9"/>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20"/>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21"/>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22"/>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23"/>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24"/>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5"/>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6"/>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7"/>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8"/>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9"/>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30"/>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31"/>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32"/>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33"/>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34"/>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5"/>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6"/>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7"/>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8"/>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9"/>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40"/>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41"/>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42"/>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43"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44"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5"/>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6"/>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7"/>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9"/>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50"/>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51"/>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52"/>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53"/>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54"/>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5"/>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6"/>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7"/>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8"/>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9"/>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60"/>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61"/>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62"/>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63"/>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64"/>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5"/>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6"/>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7"/>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8"/>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9"/>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70"/>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71"/>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72"/>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73"/>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74"/>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5"/>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6"/>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7"/>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8"/>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9"/>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80"/>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81"/>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82"/>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83"/>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84"/>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5"/>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6"/>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7"/>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8"/>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9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9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93"/>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94"/>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5"/>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6"/>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7"/>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8"/>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9"/>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00"/>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01"/>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02"/>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03"/>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04"/>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5"/>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6"/>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7"/>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8"/>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9"/>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10"/>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11"/>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12"/>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13"/>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14"/>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5"/>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6"/>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7"/>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8"/>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9"/>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20"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21"/>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22"/>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23"/>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24"/>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5"/>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6"/>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7"/>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28"/>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29"/>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3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3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3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34"/>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12.</a:t>
            </a:r>
            <a:endParaRPr lang="en-US" sz="950" dirty="0"/>
          </a:p>
        </p:txBody>
      </p:sp>
      <p:sp>
        <p:nvSpPr>
          <p:cNvPr id="6" name="text-835"/>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6"/>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37"/>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8"/>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9"/>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40"/>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41"/>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42"/>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43"/>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44"/>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5"/>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6"/>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7"/>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8"/>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9"/>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50"/>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51"/>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52"/>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53"/>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54"/>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5"/>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6"/>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7"/>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8"/>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9"/>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60"/>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61"/>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62"/>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63"/>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64"/>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5"/>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6"/>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7"/>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8"/>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9"/>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70"/>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71"/>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72"/>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73"/>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74"/>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5"/>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6"/>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7"/>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8"/>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9"/>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80"/>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81"/>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82"/>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83"/>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84"/>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5"/>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6"/>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7"/>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8"/>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9"/>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90"/>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91"/>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92"/>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93"/>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94"/>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5"/>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6"/>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7"/>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8"/>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9"/>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00"/>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01"/>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02"/>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03"/>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904"/>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5"/>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6"/>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7"/>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8"/>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9"/>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10"/>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11"/>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12"/>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13"/>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14"/>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5"/>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6"/>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7"/>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8"/>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9"/>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20"/>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21"/>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22"/>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23"/>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24"/>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5"/>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6"/>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7"/>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8"/>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9"/>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30"/>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31"/>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32"/>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33"/>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34"/>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5"/>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6"/>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7"/>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8"/>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9"/>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40"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941"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942"/>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943"/>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944"/>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946"/>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947"/>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948"/>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949"/>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950"/>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5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5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5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5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5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5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5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95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6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6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96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6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6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6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6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6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96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6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7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7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7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7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7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7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97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7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7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79"/>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Nguyễn Đông Bảo · Nguyễn Bá Hiếu Thiện · Phan Minh Khôi · Dương Hàng Nguyên · Phạm Phước Khoa · Nguyễn Minh Triết</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98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981"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98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2026-10-29T10:02:57Z</dcterms:created>
  <dcterms:modified xsi:type="dcterms:W3CDTF">2026-10-29T10:02:57Z</dcterms:modified>
</cp:coreProperties>
</file>