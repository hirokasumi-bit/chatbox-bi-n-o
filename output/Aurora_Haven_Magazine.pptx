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8060454-a7aa-7db3-8bd7-40fd163ef3c1}">
          <p14:sldIdLst>
            <p14:sldId id="256"/>
            <p14:sldId id="257"/>
          </p14:sldIdLst>
        </p14:section>
        <p14:section name="Welcome" id="{b9d61329-bdf0-3687-6a73-864e43bf3726}">
          <p14:sldIdLst>
            <p14:sldId id="258"/>
            <p14:sldId id="259"/>
            <p14:sldId id="260"/>
            <p14:sldId id="261"/>
            <p14:sldId id="262"/>
          </p14:sldIdLst>
        </p14:section>
        <p14:section name="The City" id="{6b65d4bb-b686-4f41-9f45-745ceb1466c5}">
          <p14:sldIdLst>
            <p14:sldId id="263"/>
            <p14:sldId id="264"/>
            <p14:sldId id="265"/>
            <p14:sldId id="266"/>
            <p14:sldId id="267"/>
            <p14:sldId id="268"/>
          </p14:sldIdLst>
        </p14:section>
        <p14:section name="Signature Districts" id="{992b42ba-387d-2fe9-3790-7c87e71e3c93}">
          <p14:sldIdLst>
            <p14:sldId id="269"/>
            <p14:sldId id="270"/>
            <p14:sldId id="271"/>
            <p14:sldId id="272"/>
            <p14:sldId id="273"/>
            <p14:sldId id="274"/>
            <p14:sldId id="275"/>
            <p14:sldId id="276"/>
            <p14:sldId id="277"/>
            <p14:sldId id="278"/>
            <p14:sldId id="279"/>
          </p14:sldIdLst>
        </p14:section>
        <p14:section name="Living in Aurora Haven" id="{c0f028fc-fe38-676c-652c-f0766cc6b681}">
          <p14:sldIdLst>
            <p14:sldId id="280"/>
            <p14:sldId id="281"/>
            <p14:sldId id="282"/>
            <p14:sldId id="283"/>
            <p14:sldId id="284"/>
            <p14:sldId id="285"/>
            <p14:sldId id="286"/>
            <p14:sldId id="287"/>
            <p14:sldId id="288"/>
          </p14:sldIdLst>
        </p14:section>
        <p14:section name="Invest" id="{fd3faf25-4e0d-e0a8-2446-0d2f5a55ec11}">
          <p14:sldIdLst>
            <p14:sldId id="289"/>
          </p14:sldIdLst>
        </p14:section>
        <p14:section name="Guide" id="{0f6d5ee2-2300-b2bf-dbbb-cbc69ef16e4f}">
          <p14:sldIdLst>
            <p14:sldId id="290"/>
            <p14:sldId id="291"/>
            <p14:sldId id="292"/>
            <p14:sldId id="293"/>
            <p14:sldId id="294"/>
          </p14:sldIdLst>
        </p14:section>
        <p14:section name="Back Cover" id="{166e3331-6403-5913-2349-95a57d6dd9c0}">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MagazinePolarCity71844894/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12</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snow mountain</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you can walk inside</a:t>
            </a:r>
            <a:endParaRPr lang="en-US" sz="1050" dirty="0"/>
          </a:p>
          <a:p>
            <a:pPr algn="r" indent="0" marL="0">
              <a:lnSpc>
                <a:spcPct val="105000"/>
              </a:lnSpc>
              <a:spcAft>
                <a:spcPts val="300"/>
              </a:spcAft>
              <a:buNone/>
            </a:pPr>
            <a:r>
              <a:rPr lang="en-US" sz="1050" dirty="0">
                <a:solidFill>
                  <a:schemeClr val="bg2"/>
                </a:solidFill>
              </a:rPr>
              <a:t>A whole leisure world inside a 35-metre snow peak</a:t>
            </a:r>
            <a:endParaRPr lang="en-US" sz="1050" dirty="0"/>
          </a:p>
          <a:p>
            <a:pPr algn="r" indent="0" marL="0">
              <a:lnSpc>
                <a:spcPct val="105000"/>
              </a:lnSpc>
              <a:buNone/>
            </a:pPr>
            <a:r>
              <a:rPr lang="en-US" sz="800" b="1" spc="200" kern="0" dirty="0">
                <a:solidFill>
                  <a:schemeClr val="accent1"/>
                </a:solidFill>
              </a:rPr>
              <a:t>PAGE 17</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15</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12" name="text-20"/>
          <p:cNvSpPr txBox="1"/>
          <p:nvPr/>
        </p:nvSpPr>
        <p:spPr>
          <a:xfrm>
            <a:off x="1051560"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3"/>
          <p:cNvSpPr txBox="1"/>
          <p:nvPr/>
        </p:nvSpPr>
        <p:spPr>
          <a:xfrm>
            <a:off x="1051560"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6"/>
          <p:cNvSpPr txBox="1"/>
          <p:nvPr/>
        </p:nvSpPr>
        <p:spPr>
          <a:xfrm>
            <a:off x="1051560"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9"/>
          <p:cNvSpPr txBox="1"/>
          <p:nvPr/>
        </p:nvSpPr>
        <p:spPr>
          <a:xfrm>
            <a:off x="1051560"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31"/>
          <p:cNvSpPr txBox="1"/>
          <p:nvPr/>
        </p:nvSpPr>
        <p:spPr>
          <a:xfrm>
            <a:off x="548640"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32"/>
          <p:cNvSpPr txBox="1"/>
          <p:nvPr/>
        </p:nvSpPr>
        <p:spPr>
          <a:xfrm>
            <a:off x="1051560"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33"/>
          <p:cNvSpPr txBox="1"/>
          <p:nvPr/>
        </p:nvSpPr>
        <p:spPr>
          <a:xfrm>
            <a:off x="1051560"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34"/>
          <p:cNvSpPr txBox="1"/>
          <p:nvPr/>
        </p:nvSpPr>
        <p:spPr>
          <a:xfrm>
            <a:off x="548640"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7" name="text-35"/>
          <p:cNvSpPr txBox="1"/>
          <p:nvPr/>
        </p:nvSpPr>
        <p:spPr>
          <a:xfrm>
            <a:off x="1051560"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37"/>
          <p:cNvSpPr txBox="1"/>
          <p:nvPr/>
        </p:nvSpPr>
        <p:spPr>
          <a:xfrm>
            <a:off x="548640"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30" name="text-38"/>
          <p:cNvSpPr txBox="1"/>
          <p:nvPr/>
        </p:nvSpPr>
        <p:spPr>
          <a:xfrm>
            <a:off x="1051560"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40"/>
          <p:cNvSpPr txBox="1"/>
          <p:nvPr/>
        </p:nvSpPr>
        <p:spPr>
          <a:xfrm>
            <a:off x="548640"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3" name="text-41"/>
          <p:cNvSpPr txBox="1"/>
          <p:nvPr/>
        </p:nvSpPr>
        <p:spPr>
          <a:xfrm>
            <a:off x="1051560"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Snow Mountain You Can Walk Inside</a:t>
            </a:r>
            <a:endParaRPr lang="en-US" sz="1050" dirty="0"/>
          </a:p>
        </p:txBody>
      </p:sp>
      <p:sp>
        <p:nvSpPr>
          <p:cNvPr id="34" name="text-42"/>
          <p:cNvSpPr txBox="1"/>
          <p:nvPr/>
        </p:nvSpPr>
        <p:spPr>
          <a:xfrm>
            <a:off x="1051560"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a:t>
            </a:r>
            <a:endParaRPr lang="en-US" sz="850" dirty="0"/>
          </a:p>
        </p:txBody>
      </p:sp>
      <p:sp>
        <p:nvSpPr>
          <p:cNvPr id="35" name="text-43"/>
          <p:cNvSpPr txBox="1"/>
          <p:nvPr/>
        </p:nvSpPr>
        <p:spPr>
          <a:xfrm>
            <a:off x="548640"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Built by Us</a:t>
            </a:r>
            <a:endParaRPr lang="en-US" sz="1050" dirty="0"/>
          </a:p>
        </p:txBody>
      </p:sp>
      <p:sp>
        <p:nvSpPr>
          <p:cNvPr id="37" name="text-45"/>
          <p:cNvSpPr txBox="1"/>
          <p:nvPr/>
        </p:nvSpPr>
        <p:spPr>
          <a:xfrm>
            <a:off x="1051560"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Our Eco-Polis model, and how to explore it</a:t>
            </a:r>
            <a:endParaRPr lang="en-US" sz="850" dirty="0"/>
          </a:p>
        </p:txBody>
      </p:sp>
      <p:sp>
        <p:nvSpPr>
          <p:cNvPr id="38" name="text-46"/>
          <p:cNvSpPr txBox="1"/>
          <p:nvPr/>
        </p:nvSpPr>
        <p:spPr>
          <a:xfrm>
            <a:off x="548640"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22</a:t>
            </a:r>
            <a:endParaRPr lang="en-US" sz="1700" dirty="0"/>
          </a:p>
        </p:txBody>
      </p:sp>
      <p:sp>
        <p:nvSpPr>
          <p:cNvPr id="39" name="text-47"/>
          <p:cNvSpPr txBox="1"/>
          <p:nvPr/>
        </p:nvSpPr>
        <p:spPr>
          <a:xfrm>
            <a:off x="1051560"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48"/>
          <p:cNvSpPr txBox="1"/>
          <p:nvPr/>
        </p:nvSpPr>
        <p:spPr>
          <a:xfrm>
            <a:off x="1051560"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49"/>
          <p:cNvSpPr txBox="1"/>
          <p:nvPr/>
        </p:nvSpPr>
        <p:spPr>
          <a:xfrm>
            <a:off x="548640"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42" name="text-50"/>
          <p:cNvSpPr txBox="1"/>
          <p:nvPr/>
        </p:nvSpPr>
        <p:spPr>
          <a:xfrm>
            <a:off x="1051560"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51"/>
          <p:cNvSpPr txBox="1"/>
          <p:nvPr/>
        </p:nvSpPr>
        <p:spPr>
          <a:xfrm>
            <a:off x="1051560"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Schools, health, shops and culture</a:t>
            </a:r>
            <a:endParaRPr lang="en-US" sz="850" dirty="0"/>
          </a:p>
        </p:txBody>
      </p:sp>
      <p:sp>
        <p:nvSpPr>
          <p:cNvPr id="44" name="text-52"/>
          <p:cNvSpPr txBox="1"/>
          <p:nvPr/>
        </p:nvSpPr>
        <p:spPr>
          <a:xfrm>
            <a:off x="548640" y="943660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45" name="text-53"/>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6" name="text-54"/>
          <p:cNvSpPr txBox="1"/>
          <p:nvPr/>
        </p:nvSpPr>
        <p:spPr>
          <a:xfrm>
            <a:off x="1051560" y="9646920"/>
            <a:ext cx="2592324" cy="201168"/>
          </a:xfrm>
          <a:prstGeom prst="rect">
            <a:avLst/>
          </a:prstGeom>
          <a:noFill/>
          <a:ln/>
        </p:spPr>
        <p:txBody>
          <a:bodyPr wrap="square" lIns="0" tIns="0" rIns="0" bIns="0" rtlCol="0" anchor="t"/>
          <a:lstStyle/>
          <a:p>
            <a:pPr indent="0" marL="0">
              <a:buNone/>
            </a:pPr>
            <a:r>
              <a:rPr lang="en-US" sz="850" dirty="0">
                <a:solidFill>
                  <a:schemeClr val="tx2"/>
                </a:solidFill>
              </a:rPr>
              <a:t>Housing for every age, built for −45 °C</a:t>
            </a:r>
            <a:endParaRPr lang="en-US" sz="850" dirty="0"/>
          </a:p>
        </p:txBody>
      </p:sp>
      <p:sp>
        <p:nvSpPr>
          <p:cNvPr id="47" name="text-55"/>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8" name="text-56"/>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9" name="text-57"/>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50" name="text-58"/>
          <p:cNvSpPr txBox="1"/>
          <p:nvPr/>
        </p:nvSpPr>
        <p:spPr>
          <a:xfrm>
            <a:off x="3918204"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51" name="text-59"/>
          <p:cNvSpPr txBox="1"/>
          <p:nvPr/>
        </p:nvSpPr>
        <p:spPr>
          <a:xfrm>
            <a:off x="4421124"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52" name="text-60"/>
          <p:cNvSpPr txBox="1"/>
          <p:nvPr/>
        </p:nvSpPr>
        <p:spPr>
          <a:xfrm>
            <a:off x="4421124"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3" name="text-61"/>
          <p:cNvSpPr txBox="1"/>
          <p:nvPr/>
        </p:nvSpPr>
        <p:spPr>
          <a:xfrm>
            <a:off x="3918204"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54" name="text-62"/>
          <p:cNvSpPr txBox="1"/>
          <p:nvPr/>
        </p:nvSpPr>
        <p:spPr>
          <a:xfrm>
            <a:off x="4421124"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5" name="text-63"/>
          <p:cNvSpPr txBox="1"/>
          <p:nvPr/>
        </p:nvSpPr>
        <p:spPr>
          <a:xfrm>
            <a:off x="4421124"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6" name="text-64"/>
          <p:cNvSpPr txBox="1"/>
          <p:nvPr/>
        </p:nvSpPr>
        <p:spPr>
          <a:xfrm>
            <a:off x="3918204"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7" name="text-65"/>
          <p:cNvSpPr txBox="1"/>
          <p:nvPr/>
        </p:nvSpPr>
        <p:spPr>
          <a:xfrm>
            <a:off x="4421124"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8" name="text-66"/>
          <p:cNvSpPr txBox="1"/>
          <p:nvPr/>
        </p:nvSpPr>
        <p:spPr>
          <a:xfrm>
            <a:off x="4421124"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9" name="text-67"/>
          <p:cNvSpPr txBox="1"/>
          <p:nvPr/>
        </p:nvSpPr>
        <p:spPr>
          <a:xfrm>
            <a:off x="3918204"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60" name="text-68"/>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61" name="text-69"/>
          <p:cNvSpPr txBox="1"/>
          <p:nvPr/>
        </p:nvSpPr>
        <p:spPr>
          <a:xfrm>
            <a:off x="4421124"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62" name="text-70"/>
          <p:cNvSpPr txBox="1"/>
          <p:nvPr/>
        </p:nvSpPr>
        <p:spPr>
          <a:xfrm>
            <a:off x="3918204"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63" name="text-71"/>
          <p:cNvSpPr txBox="1"/>
          <p:nvPr/>
        </p:nvSpPr>
        <p:spPr>
          <a:xfrm>
            <a:off x="4421124"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4" name="text-72"/>
          <p:cNvSpPr txBox="1"/>
          <p:nvPr/>
        </p:nvSpPr>
        <p:spPr>
          <a:xfrm>
            <a:off x="4421124"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5" name="text-73"/>
          <p:cNvSpPr txBox="1"/>
          <p:nvPr/>
        </p:nvSpPr>
        <p:spPr>
          <a:xfrm>
            <a:off x="3918204"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6" name="text-74"/>
          <p:cNvSpPr txBox="1"/>
          <p:nvPr/>
        </p:nvSpPr>
        <p:spPr>
          <a:xfrm>
            <a:off x="4421124"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7" name="text-75"/>
          <p:cNvSpPr txBox="1"/>
          <p:nvPr/>
        </p:nvSpPr>
        <p:spPr>
          <a:xfrm>
            <a:off x="4421124"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8" name="text-76"/>
          <p:cNvSpPr txBox="1"/>
          <p:nvPr/>
        </p:nvSpPr>
        <p:spPr>
          <a:xfrm>
            <a:off x="3918204"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9" name="text-77"/>
          <p:cNvSpPr txBox="1"/>
          <p:nvPr/>
        </p:nvSpPr>
        <p:spPr>
          <a:xfrm>
            <a:off x="4421124"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70" name="text-78"/>
          <p:cNvSpPr txBox="1"/>
          <p:nvPr/>
        </p:nvSpPr>
        <p:spPr>
          <a:xfrm>
            <a:off x="4421124"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71" name="text-79"/>
          <p:cNvSpPr txBox="1"/>
          <p:nvPr/>
        </p:nvSpPr>
        <p:spPr>
          <a:xfrm>
            <a:off x="3918204"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72" name="text-80"/>
          <p:cNvSpPr txBox="1"/>
          <p:nvPr/>
        </p:nvSpPr>
        <p:spPr>
          <a:xfrm>
            <a:off x="4421124"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3" name="text-81"/>
          <p:cNvSpPr txBox="1"/>
          <p:nvPr/>
        </p:nvSpPr>
        <p:spPr>
          <a:xfrm>
            <a:off x="4421124"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4" name="text-82"/>
          <p:cNvSpPr txBox="1"/>
          <p:nvPr/>
        </p:nvSpPr>
        <p:spPr>
          <a:xfrm>
            <a:off x="3918204"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75" name="text-83"/>
          <p:cNvSpPr txBox="1"/>
          <p:nvPr/>
        </p:nvSpPr>
        <p:spPr>
          <a:xfrm>
            <a:off x="4421124"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6" name="text-84"/>
          <p:cNvSpPr txBox="1"/>
          <p:nvPr/>
        </p:nvSpPr>
        <p:spPr>
          <a:xfrm>
            <a:off x="4421124"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7" name="text-85"/>
          <p:cNvSpPr txBox="1"/>
          <p:nvPr/>
        </p:nvSpPr>
        <p:spPr>
          <a:xfrm>
            <a:off x="3918204"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8" name="text-86"/>
          <p:cNvSpPr txBox="1"/>
          <p:nvPr/>
        </p:nvSpPr>
        <p:spPr>
          <a:xfrm>
            <a:off x="4421124"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Through a Resident’s Eyes</a:t>
            </a:r>
            <a:endParaRPr lang="en-US" sz="1050" dirty="0"/>
          </a:p>
        </p:txBody>
      </p:sp>
      <p:sp>
        <p:nvSpPr>
          <p:cNvPr id="79" name="text-87"/>
          <p:cNvSpPr txBox="1"/>
          <p:nvPr/>
        </p:nvSpPr>
        <p:spPr>
          <a:xfrm>
            <a:off x="4421124"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An imagined day in the polar night</a:t>
            </a:r>
            <a:endParaRPr lang="en-US" sz="850" dirty="0"/>
          </a:p>
        </p:txBody>
      </p:sp>
      <p:sp>
        <p:nvSpPr>
          <p:cNvPr id="80" name="text-88"/>
          <p:cNvSpPr txBox="1"/>
          <p:nvPr/>
        </p:nvSpPr>
        <p:spPr>
          <a:xfrm>
            <a:off x="3918204"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81" name="text-89"/>
          <p:cNvSpPr txBox="1"/>
          <p:nvPr/>
        </p:nvSpPr>
        <p:spPr>
          <a:xfrm>
            <a:off x="4421124"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82" name="text-90"/>
          <p:cNvSpPr txBox="1"/>
          <p:nvPr/>
        </p:nvSpPr>
        <p:spPr>
          <a:xfrm>
            <a:off x="4421124"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8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9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text-93"/>
          <p:cNvSpPr txBox="1"/>
          <p:nvPr/>
        </p:nvSpPr>
        <p:spPr>
          <a:xfrm>
            <a:off x="548640" y="94183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5" name="picture-94"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6" name="text-95"/>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7" name="text-96"/>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8" name="text-97"/>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9" name="text-98"/>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0" name="text-99"/>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1" name="card-100"/>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2" name="picture-101"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3" name="kicker-dot-102"/>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4" name="text-103"/>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5" name="text-104"/>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1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9"/>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10"/>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11"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2"/>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3"/>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4"/>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5"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6"/>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7"/>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8"/>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9"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20"/>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21"/>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2"/>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3"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4"/>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5"/>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6"/>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7"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8"/>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29"/>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30"/>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31"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2"/>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3"/>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4"/>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35" descr="/home/user/chatbox-bi-n-o/magazine/assets/ui/qr_interview.png">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36"/>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37"/>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38"/>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39"/>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90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9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0"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1"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42"/>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3"/>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4"/>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a:t>
            </a:r>
            <a:endParaRPr lang="en-US" sz="4600" dirty="0"/>
          </a:p>
          <a:p>
            <a:pPr indent="0" marL="0">
              <a:lnSpc>
                <a:spcPct val="92000"/>
              </a:lnSpc>
              <a:buNone/>
            </a:pPr>
            <a:r>
              <a:rPr lang="en-US" sz="4600" b="1" dirty="0">
                <a:solidFill>
                  <a:schemeClr val="bg1"/>
                </a:solidFill>
                <a:latin typeface="+mj-lt" pitchFamily="34" charset="0"/>
                <a:ea typeface="+mj-lt" pitchFamily="34" charset="-122"/>
                <a:cs typeface="+mj-lt" pitchFamily="34" charset="-120"/>
              </a:rPr>
              <a:t>Aurora Haven</a:t>
            </a:r>
            <a:endParaRPr lang="en-US" sz="4600" dirty="0"/>
          </a:p>
        </p:txBody>
      </p:sp>
      <p:sp>
        <p:nvSpPr>
          <p:cNvPr id="7" name="text-146"/>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7"/>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8"/>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10" name="quote-rule-149"/>
          <p:cNvSpPr/>
          <p:nvPr/>
        </p:nvSpPr>
        <p:spPr>
          <a:xfrm>
            <a:off x="548640" y="9144000"/>
            <a:ext cx="548640" cy="45720"/>
          </a:xfrm>
          <a:prstGeom prst="rect">
            <a:avLst/>
          </a:prstGeom>
          <a:solidFill>
            <a:schemeClr val="accent6"/>
          </a:solidFill>
          <a:ln w="12700">
            <a:solidFill>
              <a:schemeClr val="accent6"/>
            </a:solidFill>
            <a:prstDash val="solid"/>
          </a:ln>
        </p:spPr>
      </p:sp>
      <p:sp>
        <p:nvSpPr>
          <p:cNvPr id="11" name="text-150"/>
          <p:cNvSpPr txBox="1"/>
          <p:nvPr/>
        </p:nvSpPr>
        <p:spPr>
          <a:xfrm>
            <a:off x="548640" y="9308592"/>
            <a:ext cx="6464808" cy="777240"/>
          </a:xfrm>
          <a:prstGeom prst="rect">
            <a:avLst/>
          </a:prstGeom>
          <a:noFill/>
          <a:ln/>
        </p:spPr>
        <p:txBody>
          <a:bodyPr wrap="square" lIns="0" tIns="0" rIns="0" bIns="0" rtlCol="0" anchor="t"/>
          <a:lstStyle/>
          <a:p>
            <a:pPr indent="0" marL="0">
              <a:lnSpc>
                <a:spcPct val="102000"/>
              </a:lnSpc>
              <a:buNone/>
            </a:pPr>
            <a:r>
              <a:rPr lang="en-US" sz="1450" b="1" i="1" dirty="0">
                <a:solidFill>
                  <a:schemeClr val="accent6"/>
                </a:solidFill>
                <a:latin typeface="+mj-lt" pitchFamily="34" charset="0"/>
                <a:ea typeface="+mj-lt" pitchFamily="34" charset="-122"/>
                <a:cs typeface="+mj-lt" pitchFamily="34" charset="-120"/>
              </a:rPr>
              <a:t>“Three ideas work as one closed loop that keeps the city powered, fed and happy in one of the harshest places on Earth.”</a:t>
            </a:r>
            <a:endParaRPr lang="en-US" sz="145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51"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52"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53"/>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kicker-dot-154"/>
          <p:cNvSpPr/>
          <p:nvPr/>
        </p:nvSpPr>
        <p:spPr>
          <a:xfrm>
            <a:off x="548640" y="6761988"/>
            <a:ext cx="100584" cy="100584"/>
          </a:xfrm>
          <a:prstGeom prst="ellipse">
            <a:avLst/>
          </a:prstGeom>
          <a:solidFill>
            <a:schemeClr val="accent6"/>
          </a:solidFill>
          <a:ln w="12700">
            <a:solidFill>
              <a:schemeClr val="accent6"/>
            </a:solidFill>
            <a:prstDash val="solid"/>
          </a:ln>
        </p:spPr>
      </p:sp>
      <p:sp>
        <p:nvSpPr>
          <p:cNvPr id="6" name="text-155"/>
          <p:cNvSpPr txBox="1"/>
          <p:nvPr/>
        </p:nvSpPr>
        <p:spPr>
          <a:xfrm>
            <a:off x="731520" y="6720840"/>
            <a:ext cx="646480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THREE THINGS ONLY AURORA HAVEN HAS</a:t>
            </a:r>
            <a:endParaRPr lang="en-US" sz="900" dirty="0"/>
          </a:p>
        </p:txBody>
      </p:sp>
      <p:sp>
        <p:nvSpPr>
          <p:cNvPr id="7" name="card-156"/>
          <p:cNvSpPr/>
          <p:nvPr/>
        </p:nvSpPr>
        <p:spPr>
          <a:xfrm>
            <a:off x="548640" y="7059168"/>
            <a:ext cx="6464808" cy="896112"/>
          </a:xfrm>
          <a:prstGeom prst="roundRect">
            <a:avLst>
              <a:gd name="adj" fmla="val 8163"/>
            </a:avLst>
          </a:prstGeom>
          <a:solidFill>
            <a:schemeClr val="bg2"/>
          </a:solidFill>
          <a:ln w="12700">
            <a:solidFill>
              <a:schemeClr val="bg2"/>
            </a:solidFill>
            <a:prstDash val="solid"/>
          </a:ln>
        </p:spPr>
      </p:sp>
      <p:pic>
        <p:nvPicPr>
          <p:cNvPr id="8" name="picture-157" descr="/home/user/chatbox-bi-n-o/magazine/assets/renders/fusion_spread_R.jpg">    </p:cNvPr>
          <p:cNvPicPr>
            <a:picLocks noChangeAspect="1"/>
          </p:cNvPicPr>
          <p:nvPr/>
        </p:nvPicPr>
        <p:blipFill>
          <a:blip r:embed="rId3"/>
          <a:srcRect l="0" r="0" t="0" b="0"/>
          <a:stretch/>
        </p:blipFill>
        <p:spPr>
          <a:xfrm>
            <a:off x="548640" y="7059168"/>
            <a:ext cx="1417320" cy="896112"/>
          </a:xfrm>
          <a:prstGeom prst="rect">
            <a:avLst/>
          </a:prstGeom>
        </p:spPr>
      </p:pic>
      <p:sp>
        <p:nvSpPr>
          <p:cNvPr id="9" name="marker-158"/>
          <p:cNvSpPr/>
          <p:nvPr/>
        </p:nvSpPr>
        <p:spPr>
          <a:xfrm>
            <a:off x="2121408" y="7187184"/>
            <a:ext cx="365760" cy="365760"/>
          </a:xfrm>
          <a:prstGeom prst="ellipse">
            <a:avLst/>
          </a:prstGeom>
          <a:solidFill>
            <a:schemeClr val="accent3"/>
          </a:solidFill>
          <a:ln w="12700">
            <a:solidFill>
              <a:schemeClr val="accent3"/>
            </a:solidFill>
            <a:prstDash val="solid"/>
          </a:ln>
        </p:spPr>
      </p:sp>
      <p:sp>
        <p:nvSpPr>
          <p:cNvPr id="10" name="text-159"/>
          <p:cNvSpPr txBox="1"/>
          <p:nvPr/>
        </p:nvSpPr>
        <p:spPr>
          <a:xfrm>
            <a:off x="2121408" y="718718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11" name="text-160"/>
          <p:cNvSpPr txBox="1"/>
          <p:nvPr/>
        </p:nvSpPr>
        <p:spPr>
          <a:xfrm>
            <a:off x="2606040" y="7150608"/>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The City’s Own Sun</a:t>
            </a:r>
            <a:endParaRPr lang="en-US" sz="1300" dirty="0"/>
          </a:p>
        </p:txBody>
      </p:sp>
      <p:sp>
        <p:nvSpPr>
          <p:cNvPr id="12" name="text-161"/>
          <p:cNvSpPr txBox="1"/>
          <p:nvPr/>
        </p:nvSpPr>
        <p:spPr>
          <a:xfrm>
            <a:off x="2606040" y="7443216"/>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compact fusion reactor inside the city lights every home, heats every street and melts the snow we drink.</a:t>
            </a:r>
            <a:endParaRPr lang="en-US" sz="950" dirty="0"/>
          </a:p>
        </p:txBody>
      </p:sp>
      <p:sp>
        <p:nvSpPr>
          <p:cNvPr id="13" name="text-162"/>
          <p:cNvSpPr txBox="1"/>
          <p:nvPr/>
        </p:nvSpPr>
        <p:spPr>
          <a:xfrm>
            <a:off x="6144768" y="7168896"/>
            <a:ext cx="731520" cy="219456"/>
          </a:xfrm>
          <a:prstGeom prst="rect">
            <a:avLst/>
          </a:prstGeom>
          <a:noFill/>
          <a:ln/>
        </p:spPr>
        <p:txBody>
          <a:bodyPr wrap="square" lIns="0" tIns="0" rIns="0" bIns="0" rtlCol="0" anchor="t"/>
          <a:lstStyle/>
          <a:p>
            <a:pPr algn="r" indent="0" marL="0">
              <a:buNone/>
            </a:pPr>
            <a:r>
              <a:rPr lang="en-US" sz="800" b="1" spc="200" kern="0" dirty="0">
                <a:solidFill>
                  <a:schemeClr val="accent3"/>
                </a:solidFill>
              </a:rPr>
              <a:t>PAGE 12</a:t>
            </a:r>
            <a:endParaRPr lang="en-US" sz="800" dirty="0"/>
          </a:p>
        </p:txBody>
      </p:sp>
      <p:sp>
        <p:nvSpPr>
          <p:cNvPr id="14" name="card-163"/>
          <p:cNvSpPr/>
          <p:nvPr/>
        </p:nvSpPr>
        <p:spPr>
          <a:xfrm>
            <a:off x="548640" y="8046720"/>
            <a:ext cx="6464808" cy="896112"/>
          </a:xfrm>
          <a:prstGeom prst="roundRect">
            <a:avLst>
              <a:gd name="adj" fmla="val 8163"/>
            </a:avLst>
          </a:prstGeom>
          <a:solidFill>
            <a:schemeClr val="bg2"/>
          </a:solidFill>
          <a:ln w="12700">
            <a:solidFill>
              <a:schemeClr val="bg2"/>
            </a:solidFill>
            <a:prstDash val="solid"/>
          </a:ln>
        </p:spPr>
      </p:sp>
      <p:pic>
        <p:nvPicPr>
          <p:cNvPr id="15" name="picture-164" descr="/home/user/chatbox-bi-n-o/magazine/assets/renders/food.jpg">    </p:cNvPr>
          <p:cNvPicPr>
            <a:picLocks noChangeAspect="1"/>
          </p:cNvPicPr>
          <p:nvPr/>
        </p:nvPicPr>
        <p:blipFill>
          <a:blip r:embed="rId4"/>
          <a:srcRect l="0" r="0" t="0" b="0"/>
          <a:stretch/>
        </p:blipFill>
        <p:spPr>
          <a:xfrm>
            <a:off x="548640" y="8046720"/>
            <a:ext cx="1417320" cy="896112"/>
          </a:xfrm>
          <a:prstGeom prst="rect">
            <a:avLst/>
          </a:prstGeom>
        </p:spPr>
      </p:pic>
      <p:sp>
        <p:nvSpPr>
          <p:cNvPr id="16" name="marker-165"/>
          <p:cNvSpPr/>
          <p:nvPr/>
        </p:nvSpPr>
        <p:spPr>
          <a:xfrm>
            <a:off x="2121408" y="8174736"/>
            <a:ext cx="365760" cy="365760"/>
          </a:xfrm>
          <a:prstGeom prst="ellipse">
            <a:avLst/>
          </a:prstGeom>
          <a:solidFill>
            <a:schemeClr val="accent4"/>
          </a:solidFill>
          <a:ln w="12700">
            <a:solidFill>
              <a:schemeClr val="accent4"/>
            </a:solidFill>
            <a:prstDash val="solid"/>
          </a:ln>
        </p:spPr>
      </p:sp>
      <p:sp>
        <p:nvSpPr>
          <p:cNvPr id="17" name="text-166"/>
          <p:cNvSpPr txBox="1"/>
          <p:nvPr/>
        </p:nvSpPr>
        <p:spPr>
          <a:xfrm>
            <a:off x="2121408" y="81747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18" name="text-167"/>
          <p:cNvSpPr txBox="1"/>
          <p:nvPr/>
        </p:nvSpPr>
        <p:spPr>
          <a:xfrm>
            <a:off x="2606040" y="8138160"/>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Bread and Water from Snow and Air</a:t>
            </a:r>
            <a:endParaRPr lang="en-US" sz="1300" dirty="0"/>
          </a:p>
        </p:txBody>
      </p:sp>
      <p:sp>
        <p:nvSpPr>
          <p:cNvPr id="19" name="text-168"/>
          <p:cNvSpPr txBox="1"/>
          <p:nvPr/>
        </p:nvSpPr>
        <p:spPr>
          <a:xfrm>
            <a:off x="2606040" y="8430768"/>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factory turns snow and air into drinking water, bread and protein, so a city with no farmland can feed itself.</a:t>
            </a:r>
            <a:endParaRPr lang="en-US" sz="950" dirty="0"/>
          </a:p>
        </p:txBody>
      </p:sp>
      <p:sp>
        <p:nvSpPr>
          <p:cNvPr id="20" name="text-169"/>
          <p:cNvSpPr txBox="1"/>
          <p:nvPr/>
        </p:nvSpPr>
        <p:spPr>
          <a:xfrm>
            <a:off x="6144768" y="8156448"/>
            <a:ext cx="731520" cy="219456"/>
          </a:xfrm>
          <a:prstGeom prst="rect">
            <a:avLst/>
          </a:prstGeom>
          <a:noFill/>
          <a:ln/>
        </p:spPr>
        <p:txBody>
          <a:bodyPr wrap="square" lIns="0" tIns="0" rIns="0" bIns="0" rtlCol="0" anchor="t"/>
          <a:lstStyle/>
          <a:p>
            <a:pPr algn="r" indent="0" marL="0">
              <a:buNone/>
            </a:pPr>
            <a:r>
              <a:rPr lang="en-US" sz="800" b="1" spc="200" kern="0" dirty="0">
                <a:solidFill>
                  <a:schemeClr val="accent4"/>
                </a:solidFill>
              </a:rPr>
              <a:t>PAGE 15</a:t>
            </a:r>
            <a:endParaRPr lang="en-US" sz="800" dirty="0"/>
          </a:p>
        </p:txBody>
      </p:sp>
      <p:sp>
        <p:nvSpPr>
          <p:cNvPr id="21" name="card-170"/>
          <p:cNvSpPr/>
          <p:nvPr/>
        </p:nvSpPr>
        <p:spPr>
          <a:xfrm>
            <a:off x="548640" y="9034272"/>
            <a:ext cx="6464808" cy="896112"/>
          </a:xfrm>
          <a:prstGeom prst="roundRect">
            <a:avLst>
              <a:gd name="adj" fmla="val 8163"/>
            </a:avLst>
          </a:prstGeom>
          <a:solidFill>
            <a:schemeClr val="bg2"/>
          </a:solidFill>
          <a:ln w="12700">
            <a:solidFill>
              <a:schemeClr val="bg2"/>
            </a:solidFill>
            <a:prstDash val="solid"/>
          </a:ln>
        </p:spPr>
      </p:sp>
      <p:pic>
        <p:nvPicPr>
          <p:cNvPr id="22" name="picture-171" descr="/home/user/chatbox-bi-n-o/magazine/assets/renders/spa.jpg">    </p:cNvPr>
          <p:cNvPicPr>
            <a:picLocks noChangeAspect="1"/>
          </p:cNvPicPr>
          <p:nvPr/>
        </p:nvPicPr>
        <p:blipFill>
          <a:blip r:embed="rId5"/>
          <a:srcRect l="0" r="0" t="0" b="0"/>
          <a:stretch/>
        </p:blipFill>
        <p:spPr>
          <a:xfrm>
            <a:off x="548640" y="9034272"/>
            <a:ext cx="1417320" cy="896112"/>
          </a:xfrm>
          <a:prstGeom prst="rect">
            <a:avLst/>
          </a:prstGeom>
        </p:spPr>
      </p:pic>
      <p:sp>
        <p:nvSpPr>
          <p:cNvPr id="23" name="marker-172"/>
          <p:cNvSpPr/>
          <p:nvPr/>
        </p:nvSpPr>
        <p:spPr>
          <a:xfrm>
            <a:off x="2121408" y="9162288"/>
            <a:ext cx="365760" cy="365760"/>
          </a:xfrm>
          <a:prstGeom prst="ellipse">
            <a:avLst/>
          </a:prstGeom>
          <a:solidFill>
            <a:schemeClr val="accent5"/>
          </a:solidFill>
          <a:ln w="12700">
            <a:solidFill>
              <a:schemeClr val="accent5"/>
            </a:solidFill>
            <a:prstDash val="solid"/>
          </a:ln>
        </p:spPr>
      </p:sp>
      <p:sp>
        <p:nvSpPr>
          <p:cNvPr id="24" name="text-173"/>
          <p:cNvSpPr txBox="1"/>
          <p:nvPr/>
        </p:nvSpPr>
        <p:spPr>
          <a:xfrm>
            <a:off x="2121408" y="916228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25" name="text-174"/>
          <p:cNvSpPr txBox="1"/>
          <p:nvPr/>
        </p:nvSpPr>
        <p:spPr>
          <a:xfrm>
            <a:off x="2606040" y="9125712"/>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A Snow Mountain You Can Walk Inside</a:t>
            </a:r>
            <a:endParaRPr lang="en-US" sz="1300" dirty="0"/>
          </a:p>
        </p:txBody>
      </p:sp>
      <p:sp>
        <p:nvSpPr>
          <p:cNvPr id="26" name="text-175"/>
          <p:cNvSpPr txBox="1"/>
          <p:nvPr/>
        </p:nvSpPr>
        <p:spPr>
          <a:xfrm>
            <a:off x="2606040" y="9418320"/>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Mineral lakes, mud pools and saunas stay at 28 °C inside a 35-metre snow peak, all winter long.</a:t>
            </a:r>
            <a:endParaRPr lang="en-US" sz="950" dirty="0"/>
          </a:p>
        </p:txBody>
      </p:sp>
      <p:sp>
        <p:nvSpPr>
          <p:cNvPr id="27" name="text-176"/>
          <p:cNvSpPr txBox="1"/>
          <p:nvPr/>
        </p:nvSpPr>
        <p:spPr>
          <a:xfrm>
            <a:off x="6144768" y="9144000"/>
            <a:ext cx="731520" cy="219456"/>
          </a:xfrm>
          <a:prstGeom prst="rect">
            <a:avLst/>
          </a:prstGeom>
          <a:noFill/>
          <a:ln/>
        </p:spPr>
        <p:txBody>
          <a:bodyPr wrap="square" lIns="0" tIns="0" rIns="0" bIns="0" rtlCol="0" anchor="t"/>
          <a:lstStyle/>
          <a:p>
            <a:pPr algn="r" indent="0" marL="0">
              <a:buNone/>
            </a:pPr>
            <a:r>
              <a:rPr lang="en-US" sz="800" b="1" spc="200" kern="0" dirty="0">
                <a:solidFill>
                  <a:schemeClr val="accent5"/>
                </a:solidFill>
              </a:rPr>
              <a:t>PAGE 17</a:t>
            </a:r>
            <a:endParaRPr lang="en-US" sz="80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77"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78"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79"/>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80"/>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81"/>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83"/>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84"/>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85"/>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86"/>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87"/>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88"/>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89"/>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90"/>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91"/>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92"/>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93"/>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94"/>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95"/>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96"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97"/>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98"/>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99"/>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200"/>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text-202"/>
          <p:cNvSpPr txBox="1"/>
          <p:nvPr/>
        </p:nvSpPr>
        <p:spPr>
          <a:xfrm>
            <a:off x="548640" y="4005072"/>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8" name="text-203"/>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PEOPLE AND PLACES AT RISK</a:t>
            </a:r>
            <a:endParaRPr lang="en-US" sz="900" dirty="0"/>
          </a:p>
        </p:txBody>
      </p:sp>
      <p:sp>
        <p:nvSpPr>
          <p:cNvPr id="9" name="card-204"/>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0" name="text-205"/>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1" name="text-206"/>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2" name="card-207"/>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3" name="text-208"/>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4" name="text-209"/>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5" name="card-210"/>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6" name="text-211"/>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7" name="text-212"/>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8" name="card-213"/>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19" name="text-214"/>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0" name="text-215"/>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1" name="text-216"/>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2" name="text-217"/>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3" name="text-218"/>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4" name="text-219"/>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5" name="text-220"/>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6" name="text-221"/>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7" name="text-222"/>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8" name="text-223"/>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29" name="text-224"/>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0" name="text-225"/>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1" name="text-226"/>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3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2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2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3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3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a:t>
            </a:r>
            <a:endParaRPr lang="en-US" sz="4400" dirty="0"/>
          </a:p>
          <a:p>
            <a:pPr indent="0" marL="0">
              <a:lnSpc>
                <a:spcPct val="92000"/>
              </a:lnSpc>
              <a:buNone/>
            </a:pPr>
            <a:r>
              <a:rPr lang="en-US" sz="4400" b="1" dirty="0">
                <a:solidFill>
                  <a:schemeClr val="bg1"/>
                </a:solidFill>
                <a:latin typeface="+mj-lt" pitchFamily="34" charset="0"/>
                <a:ea typeface="+mj-lt" pitchFamily="34" charset="-122"/>
                <a:cs typeface="+mj-lt" pitchFamily="34" charset="-120"/>
              </a:rPr>
              <a:t>One Short Walk</a:t>
            </a:r>
            <a:endParaRPr lang="en-US" sz="4400" dirty="0"/>
          </a:p>
        </p:txBody>
      </p:sp>
      <p:sp>
        <p:nvSpPr>
          <p:cNvPr id="7" name="text-23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3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3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3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42"/>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34.</a:t>
            </a:r>
            <a:endParaRPr lang="en-US" sz="850" dirty="0"/>
          </a:p>
        </p:txBody>
      </p:sp>
      <p:sp>
        <p:nvSpPr>
          <p:cNvPr id="7" name="kicker-dot-243"/>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44"/>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45"/>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46"/>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47"/>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48"/>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49"/>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50"/>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51"/>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52"/>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53"/>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54"/>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55"/>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56"/>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57"/>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5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5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6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62" descr="/home/user/chatbox-bi-n-o/magazine/assets/renders/downtown_aerial.jpg">    </p:cNvPr>
          <p:cNvPicPr>
            <a:picLocks noChangeAspect="1"/>
          </p:cNvPicPr>
          <p:nvPr/>
        </p:nvPicPr>
        <p:blipFill>
          <a:blip r:embed="rId1"/>
          <a:srcRect l="0" r="0" t="0" b="0"/>
          <a:stretch/>
        </p:blipFill>
        <p:spPr>
          <a:xfrm>
            <a:off x="0" y="1508760"/>
            <a:ext cx="7562088" cy="4206240"/>
          </a:xfrm>
          <a:prstGeom prst="rect">
            <a:avLst/>
          </a:prstGeom>
        </p:spPr>
      </p:pic>
      <p:sp>
        <p:nvSpPr>
          <p:cNvPr id="6" name="text-263"/>
          <p:cNvSpPr txBox="1"/>
          <p:nvPr/>
        </p:nvSpPr>
        <p:spPr>
          <a:xfrm>
            <a:off x="548640" y="577900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64"/>
          <p:cNvSpPr/>
          <p:nvPr/>
        </p:nvSpPr>
        <p:spPr>
          <a:xfrm>
            <a:off x="548640" y="6172200"/>
            <a:ext cx="2093976" cy="1216152"/>
          </a:xfrm>
          <a:prstGeom prst="roundRect">
            <a:avLst>
              <a:gd name="adj" fmla="val 6015"/>
            </a:avLst>
          </a:prstGeom>
          <a:solidFill>
            <a:schemeClr val="bg2"/>
          </a:solidFill>
          <a:ln w="12700">
            <a:solidFill>
              <a:schemeClr val="bg2"/>
            </a:solidFill>
            <a:prstDash val="solid"/>
          </a:ln>
        </p:spPr>
      </p:sp>
      <p:sp>
        <p:nvSpPr>
          <p:cNvPr id="8" name="text-265"/>
          <p:cNvSpPr txBox="1"/>
          <p:nvPr/>
        </p:nvSpPr>
        <p:spPr>
          <a:xfrm>
            <a:off x="667512"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66"/>
          <p:cNvSpPr txBox="1"/>
          <p:nvPr/>
        </p:nvSpPr>
        <p:spPr>
          <a:xfrm>
            <a:off x="667512"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Core – AI Control Tower · Aurora Haven Police Headquarters · Polaris Green Office Tower</a:t>
            </a:r>
            <a:endParaRPr lang="en-US" sz="1000" dirty="0"/>
          </a:p>
        </p:txBody>
      </p:sp>
      <p:sp>
        <p:nvSpPr>
          <p:cNvPr id="10" name="card-267"/>
          <p:cNvSpPr/>
          <p:nvPr/>
        </p:nvSpPr>
        <p:spPr>
          <a:xfrm>
            <a:off x="2734056" y="6172200"/>
            <a:ext cx="2093976" cy="1216152"/>
          </a:xfrm>
          <a:prstGeom prst="roundRect">
            <a:avLst>
              <a:gd name="adj" fmla="val 6015"/>
            </a:avLst>
          </a:prstGeom>
          <a:solidFill>
            <a:schemeClr val="bg2"/>
          </a:solidFill>
          <a:ln w="12700">
            <a:solidFill>
              <a:schemeClr val="bg2"/>
            </a:solidFill>
            <a:prstDash val="solid"/>
          </a:ln>
        </p:spPr>
      </p:sp>
      <p:sp>
        <p:nvSpPr>
          <p:cNvPr id="11" name="text-268"/>
          <p:cNvSpPr txBox="1"/>
          <p:nvPr/>
        </p:nvSpPr>
        <p:spPr>
          <a:xfrm>
            <a:off x="2852928"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69"/>
          <p:cNvSpPr txBox="1"/>
          <p:nvPr/>
        </p:nvSpPr>
        <p:spPr>
          <a:xfrm>
            <a:off x="2852928"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University – Main Hall · Aurora Public Library</a:t>
            </a:r>
            <a:endParaRPr lang="en-US" sz="1000" dirty="0"/>
          </a:p>
        </p:txBody>
      </p:sp>
      <p:sp>
        <p:nvSpPr>
          <p:cNvPr id="13" name="card-270"/>
          <p:cNvSpPr/>
          <p:nvPr/>
        </p:nvSpPr>
        <p:spPr>
          <a:xfrm>
            <a:off x="4919472" y="6172200"/>
            <a:ext cx="2093976" cy="1216152"/>
          </a:xfrm>
          <a:prstGeom prst="roundRect">
            <a:avLst>
              <a:gd name="adj" fmla="val 6015"/>
            </a:avLst>
          </a:prstGeom>
          <a:solidFill>
            <a:schemeClr val="bg2"/>
          </a:solidFill>
          <a:ln w="12700">
            <a:solidFill>
              <a:schemeClr val="bg2"/>
            </a:solidFill>
            <a:prstDash val="solid"/>
          </a:ln>
        </p:spPr>
      </p:sp>
      <p:sp>
        <p:nvSpPr>
          <p:cNvPr id="14" name="text-271"/>
          <p:cNvSpPr txBox="1"/>
          <p:nvPr/>
        </p:nvSpPr>
        <p:spPr>
          <a:xfrm>
            <a:off x="5038344"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72"/>
          <p:cNvSpPr txBox="1"/>
          <p:nvPr/>
        </p:nvSpPr>
        <p:spPr>
          <a:xfrm>
            <a:off x="5038344"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Stock Exchange · Aurora Green Finance Hall · Snowline Courthouse · Aurora Business Hotel</a:t>
            </a:r>
            <a:endParaRPr lang="en-US" sz="1000" dirty="0"/>
          </a:p>
        </p:txBody>
      </p:sp>
      <p:sp>
        <p:nvSpPr>
          <p:cNvPr id="16" name="card-273"/>
          <p:cNvSpPr/>
          <p:nvPr/>
        </p:nvSpPr>
        <p:spPr>
          <a:xfrm>
            <a:off x="548640" y="7479792"/>
            <a:ext cx="2093976" cy="1216152"/>
          </a:xfrm>
          <a:prstGeom prst="roundRect">
            <a:avLst>
              <a:gd name="adj" fmla="val 6015"/>
            </a:avLst>
          </a:prstGeom>
          <a:solidFill>
            <a:schemeClr val="bg2"/>
          </a:solidFill>
          <a:ln w="12700">
            <a:solidFill>
              <a:schemeClr val="bg2"/>
            </a:solidFill>
            <a:prstDash val="solid"/>
          </a:ln>
        </p:spPr>
      </p:sp>
      <p:sp>
        <p:nvSpPr>
          <p:cNvPr id="17" name="text-274"/>
          <p:cNvSpPr txBox="1"/>
          <p:nvPr/>
        </p:nvSpPr>
        <p:spPr>
          <a:xfrm>
            <a:off x="667512"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75"/>
          <p:cNvSpPr txBox="1"/>
          <p:nvPr/>
        </p:nvSpPr>
        <p:spPr>
          <a:xfrm>
            <a:off x="667512"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West Market Fire &amp; Ambulance Station · Aurora Night Market Hall · Polar Pharmacy</a:t>
            </a:r>
            <a:endParaRPr lang="en-US" sz="1000" dirty="0"/>
          </a:p>
        </p:txBody>
      </p:sp>
      <p:sp>
        <p:nvSpPr>
          <p:cNvPr id="19" name="card-276"/>
          <p:cNvSpPr/>
          <p:nvPr/>
        </p:nvSpPr>
        <p:spPr>
          <a:xfrm>
            <a:off x="2734056" y="7479792"/>
            <a:ext cx="2093976" cy="1216152"/>
          </a:xfrm>
          <a:prstGeom prst="roundRect">
            <a:avLst>
              <a:gd name="adj" fmla="val 6015"/>
            </a:avLst>
          </a:prstGeom>
          <a:solidFill>
            <a:schemeClr val="tx1"/>
          </a:solidFill>
          <a:ln w="12700">
            <a:solidFill>
              <a:schemeClr val="tx1"/>
            </a:solidFill>
            <a:prstDash val="solid"/>
          </a:ln>
        </p:spPr>
      </p:sp>
      <p:sp>
        <p:nvSpPr>
          <p:cNvPr id="20" name="text-277"/>
          <p:cNvSpPr txBox="1"/>
          <p:nvPr/>
        </p:nvSpPr>
        <p:spPr>
          <a:xfrm>
            <a:off x="2852928" y="7589520"/>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78"/>
          <p:cNvSpPr txBox="1"/>
          <p:nvPr/>
        </p:nvSpPr>
        <p:spPr>
          <a:xfrm>
            <a:off x="2852928"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bg1"/>
                </a:solidFill>
              </a:rPr>
              <a:t>Founding Mayor Monument · Civic Center · Snowflake General Hospital · Northern Lights School · Igloo Fresh · Aurora Cinema · Metro</a:t>
            </a:r>
            <a:endParaRPr lang="en-US" sz="1000" dirty="0"/>
          </a:p>
        </p:txBody>
      </p:sp>
      <p:sp>
        <p:nvSpPr>
          <p:cNvPr id="22" name="card-279"/>
          <p:cNvSpPr/>
          <p:nvPr/>
        </p:nvSpPr>
        <p:spPr>
          <a:xfrm>
            <a:off x="4919472" y="7479792"/>
            <a:ext cx="2093976" cy="1216152"/>
          </a:xfrm>
          <a:prstGeom prst="roundRect">
            <a:avLst>
              <a:gd name="adj" fmla="val 6015"/>
            </a:avLst>
          </a:prstGeom>
          <a:solidFill>
            <a:schemeClr val="bg2"/>
          </a:solidFill>
          <a:ln w="12700">
            <a:solidFill>
              <a:schemeClr val="bg2"/>
            </a:solidFill>
            <a:prstDash val="solid"/>
          </a:ln>
        </p:spPr>
      </p:sp>
      <p:sp>
        <p:nvSpPr>
          <p:cNvPr id="23" name="text-280"/>
          <p:cNvSpPr txBox="1"/>
          <p:nvPr/>
        </p:nvSpPr>
        <p:spPr>
          <a:xfrm>
            <a:off x="5038344"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81"/>
          <p:cNvSpPr txBox="1"/>
          <p:nvPr/>
        </p:nvSpPr>
        <p:spPr>
          <a:xfrm>
            <a:off x="5038344"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Glacier Mall &amp; Crystal Atrium · Snow Lantern Primary School · Northern Lights Music Hall</a:t>
            </a:r>
            <a:endParaRPr lang="en-US" sz="1000" dirty="0"/>
          </a:p>
        </p:txBody>
      </p:sp>
      <p:sp>
        <p:nvSpPr>
          <p:cNvPr id="25" name="card-282"/>
          <p:cNvSpPr/>
          <p:nvPr/>
        </p:nvSpPr>
        <p:spPr>
          <a:xfrm>
            <a:off x="548640" y="8787384"/>
            <a:ext cx="2093976" cy="1216152"/>
          </a:xfrm>
          <a:prstGeom prst="roundRect">
            <a:avLst>
              <a:gd name="adj" fmla="val 6015"/>
            </a:avLst>
          </a:prstGeom>
          <a:solidFill>
            <a:schemeClr val="bg2"/>
          </a:solidFill>
          <a:ln w="12700">
            <a:solidFill>
              <a:schemeClr val="bg2"/>
            </a:solidFill>
            <a:prstDash val="solid"/>
          </a:ln>
        </p:spPr>
      </p:sp>
      <p:sp>
        <p:nvSpPr>
          <p:cNvPr id="26" name="text-283"/>
          <p:cNvSpPr txBox="1"/>
          <p:nvPr/>
        </p:nvSpPr>
        <p:spPr>
          <a:xfrm>
            <a:off x="667512"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84"/>
          <p:cNvSpPr txBox="1"/>
          <p:nvPr/>
        </p:nvSpPr>
        <p:spPr>
          <a:xfrm>
            <a:off x="667512"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Family homes · Pinecone Kindergarten · Snowpine Senior Care Home</a:t>
            </a:r>
            <a:endParaRPr lang="en-US" sz="1000" dirty="0"/>
          </a:p>
        </p:txBody>
      </p:sp>
      <p:sp>
        <p:nvSpPr>
          <p:cNvPr id="28" name="card-285"/>
          <p:cNvSpPr/>
          <p:nvPr/>
        </p:nvSpPr>
        <p:spPr>
          <a:xfrm>
            <a:off x="2734056" y="8787384"/>
            <a:ext cx="2093976" cy="1216152"/>
          </a:xfrm>
          <a:prstGeom prst="roundRect">
            <a:avLst>
              <a:gd name="adj" fmla="val 6015"/>
            </a:avLst>
          </a:prstGeom>
          <a:solidFill>
            <a:schemeClr val="bg2"/>
          </a:solidFill>
          <a:ln w="12700">
            <a:solidFill>
              <a:schemeClr val="bg2"/>
            </a:solidFill>
            <a:prstDash val="solid"/>
          </a:ln>
        </p:spPr>
      </p:sp>
      <p:sp>
        <p:nvSpPr>
          <p:cNvPr id="29" name="text-286"/>
          <p:cNvSpPr txBox="1"/>
          <p:nvPr/>
        </p:nvSpPr>
        <p:spPr>
          <a:xfrm>
            <a:off x="2852928"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87"/>
          <p:cNvSpPr txBox="1"/>
          <p:nvPr/>
        </p:nvSpPr>
        <p:spPr>
          <a:xfrm>
            <a:off x="2852928"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Mount Aurora Guesthouse · Southside Police &amp; Mountain Rescue Post · spa shuttle street</a:t>
            </a:r>
            <a:endParaRPr lang="en-US" sz="1000" dirty="0"/>
          </a:p>
        </p:txBody>
      </p:sp>
      <p:sp>
        <p:nvSpPr>
          <p:cNvPr id="31" name="card-288"/>
          <p:cNvSpPr/>
          <p:nvPr/>
        </p:nvSpPr>
        <p:spPr>
          <a:xfrm>
            <a:off x="4919472" y="8787384"/>
            <a:ext cx="2093976" cy="1216152"/>
          </a:xfrm>
          <a:prstGeom prst="roundRect">
            <a:avLst>
              <a:gd name="adj" fmla="val 6015"/>
            </a:avLst>
          </a:prstGeom>
          <a:solidFill>
            <a:schemeClr val="bg2"/>
          </a:solidFill>
          <a:ln w="12700">
            <a:solidFill>
              <a:schemeClr val="bg2"/>
            </a:solidFill>
            <a:prstDash val="solid"/>
          </a:ln>
        </p:spPr>
      </p:sp>
      <p:sp>
        <p:nvSpPr>
          <p:cNvPr id="32" name="text-289"/>
          <p:cNvSpPr txBox="1"/>
          <p:nvPr/>
        </p:nvSpPr>
        <p:spPr>
          <a:xfrm>
            <a:off x="5038344"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90"/>
          <p:cNvSpPr txBox="1"/>
          <p:nvPr/>
        </p:nvSpPr>
        <p:spPr>
          <a:xfrm>
            <a:off x="5038344"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81 – Polar Landmark Tower · Aurora 81 Residences (Twin Towers)</a:t>
            </a:r>
            <a:endParaRPr lang="en-US" sz="1000" dirty="0"/>
          </a:p>
        </p:txBody>
      </p:sp>
      <p:sp>
        <p:nvSpPr>
          <p:cNvPr id="3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91"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92"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93"/>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94"/>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95"/>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96"/>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97"/>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99"/>
          <p:cNvSpPr txBox="1"/>
          <p:nvPr/>
        </p:nvSpPr>
        <p:spPr>
          <a:xfrm>
            <a:off x="548640" y="2697480"/>
            <a:ext cx="5120640" cy="9144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put a fusion reactor inside the city itself, so one machine lights every home, heats every street and melts the snow we drink.</a:t>
            </a:r>
            <a:endParaRPr lang="en-US" sz="1500" dirty="0"/>
          </a:p>
        </p:txBody>
      </p:sp>
      <p:sp>
        <p:nvSpPr>
          <p:cNvPr id="10" name="panel-300"/>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01"/>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302"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sp>
        <p:nvSpPr>
          <p:cNvPr id="3" name="panel-303"/>
          <p:cNvSpPr/>
          <p:nvPr/>
        </p:nvSpPr>
        <p:spPr>
          <a:xfrm>
            <a:off x="548640" y="548640"/>
            <a:ext cx="3140964" cy="1655699"/>
          </a:xfrm>
          <a:prstGeom prst="rect">
            <a:avLst/>
          </a:prstGeom>
          <a:solidFill>
            <a:schemeClr val="tx1">
              <a:alpha val="85000"/>
            </a:schemeClr>
          </a:solidFill>
          <a:ln w="12700">
            <a:solidFill>
              <a:schemeClr val="tx1">
                <a:alpha val="0"/>
              </a:schemeClr>
            </a:solidFill>
            <a:prstDash val="solid"/>
          </a:ln>
        </p:spPr>
      </p:sp>
      <p:sp>
        <p:nvSpPr>
          <p:cNvPr id="4" name="kicker-dot-304"/>
          <p:cNvSpPr/>
          <p:nvPr/>
        </p:nvSpPr>
        <p:spPr>
          <a:xfrm>
            <a:off x="694944" y="736092"/>
            <a:ext cx="100584" cy="100584"/>
          </a:xfrm>
          <a:prstGeom prst="ellipse">
            <a:avLst/>
          </a:prstGeom>
          <a:solidFill>
            <a:schemeClr val="accent3"/>
          </a:solidFill>
          <a:ln w="12700">
            <a:solidFill>
              <a:schemeClr val="accent3"/>
            </a:solidFill>
            <a:prstDash val="solid"/>
          </a:ln>
        </p:spPr>
      </p:sp>
      <p:sp>
        <p:nvSpPr>
          <p:cNvPr id="5" name="text-305"/>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6" name="text-306"/>
          <p:cNvSpPr txBox="1"/>
          <p:nvPr/>
        </p:nvSpPr>
        <p:spPr>
          <a:xfrm>
            <a:off x="694944" y="969264"/>
            <a:ext cx="2848356" cy="1143635"/>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Fusion is still being tested. The compact SPARC tokamak aims for its first plasma around 2027 [5], and ITER in France plans to burn deuterium–tritium fuel in 2039 [4]. No fusion plant sells power yet: Aurora Haven is designed for the day one does.</a:t>
            </a:r>
            <a:endParaRPr lang="en-US" sz="950" dirty="0"/>
          </a:p>
        </p:txBody>
      </p:sp>
      <p:sp>
        <p:nvSpPr>
          <p:cNvPr id="7" name="panel-307"/>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308"/>
          <p:cNvSpPr/>
          <p:nvPr/>
        </p:nvSpPr>
        <p:spPr>
          <a:xfrm>
            <a:off x="4018788" y="736092"/>
            <a:ext cx="100584" cy="100584"/>
          </a:xfrm>
          <a:prstGeom prst="ellipse">
            <a:avLst/>
          </a:prstGeom>
          <a:solidFill>
            <a:schemeClr val="accent3"/>
          </a:solidFill>
          <a:ln w="12700">
            <a:solidFill>
              <a:schemeClr val="accent3"/>
            </a:solidFill>
            <a:prstDash val="solid"/>
          </a:ln>
        </p:spPr>
      </p:sp>
      <p:sp>
        <p:nvSpPr>
          <p:cNvPr id="9" name="text-309"/>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0" name="text-310"/>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1" name="text-311"/>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 day at 800 MW needs about 0.2 kg of fuel, close to our 170 g design. Breeding tritium at scale is unproven [11] and ITER costs €18–22 billion [12], so the city starts on wind, sun and geothermal power (page 25).</a:t>
            </a:r>
            <a:endParaRPr lang="en-US" sz="950" dirty="0"/>
          </a:p>
        </p:txBody>
      </p:sp>
      <p:pic>
        <p:nvPicPr>
          <p:cNvPr id="12" name="shade-bottom-312"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13" name="text-313"/>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14"/>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1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1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18"/>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19"/>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20"/>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21"/>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22"/>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23"/>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24"/>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25"/>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26"/>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the tritium the reactor burns inside sealed, leak-monitored loops, so none is imported. Recovered helium cools MRI scanners.</a:t>
            </a:r>
            <a:endParaRPr lang="en-US" sz="950" dirty="0"/>
          </a:p>
        </p:txBody>
      </p:sp>
      <p:sp>
        <p:nvSpPr>
          <p:cNvPr id="15" name="marker-327"/>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28"/>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29"/>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30"/>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If anything fails, the plasma simply goes out: it cannot melt down.</a:t>
            </a:r>
            <a:endParaRPr lang="en-US" sz="950" dirty="0"/>
          </a:p>
        </p:txBody>
      </p:sp>
      <p:sp>
        <p:nvSpPr>
          <p:cNvPr id="19" name="marker-331"/>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32"/>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33"/>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34"/>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Turbines driven by CO₂ sealed in a closed loop make about 300 MW of electricity and send about 450 MW of heat to the city.</a:t>
            </a:r>
            <a:endParaRPr lang="en-US" sz="950" dirty="0"/>
          </a:p>
        </p:txBody>
      </p:sp>
      <p:sp>
        <p:nvSpPr>
          <p:cNvPr id="23" name="marker-335"/>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36"/>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37"/>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38"/>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tonnes of rubbish a day into hydrogen and CO₂ for the food plant, metals and paving blocks.</a:t>
            </a:r>
            <a:endParaRPr lang="en-US" sz="950" dirty="0"/>
          </a:p>
        </p:txBody>
      </p:sp>
      <p:sp>
        <p:nvSpPr>
          <p:cNvPr id="27" name="marker-339"/>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40"/>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41"/>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42"/>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card-343"/>
          <p:cNvSpPr/>
          <p:nvPr/>
        </p:nvSpPr>
        <p:spPr>
          <a:xfrm>
            <a:off x="5074920" y="5369215"/>
            <a:ext cx="1938528" cy="4552025"/>
          </a:xfrm>
          <a:prstGeom prst="roundRect">
            <a:avLst>
              <a:gd name="adj" fmla="val 3774"/>
            </a:avLst>
          </a:prstGeom>
          <a:solidFill>
            <a:schemeClr val="bg2"/>
          </a:solidFill>
          <a:ln w="12700">
            <a:solidFill>
              <a:schemeClr val="bg2"/>
            </a:solidFill>
            <a:prstDash val="solid"/>
          </a:ln>
        </p:spPr>
      </p:sp>
      <p:sp>
        <p:nvSpPr>
          <p:cNvPr id="32" name="kicker-dot-344"/>
          <p:cNvSpPr/>
          <p:nvPr/>
        </p:nvSpPr>
        <p:spPr>
          <a:xfrm>
            <a:off x="5221224" y="5556667"/>
            <a:ext cx="100584" cy="100584"/>
          </a:xfrm>
          <a:prstGeom prst="ellipse">
            <a:avLst/>
          </a:prstGeom>
          <a:solidFill>
            <a:schemeClr val="accent3"/>
          </a:solidFill>
          <a:ln w="12700">
            <a:solidFill>
              <a:schemeClr val="accent3"/>
            </a:solidFill>
            <a:prstDash val="solid"/>
          </a:ln>
        </p:spPr>
      </p:sp>
      <p:sp>
        <p:nvSpPr>
          <p:cNvPr id="33" name="text-345"/>
          <p:cNvSpPr txBox="1"/>
          <p:nvPr/>
        </p:nvSpPr>
        <p:spPr>
          <a:xfrm>
            <a:off x="5404104" y="5515519"/>
            <a:ext cx="1609344"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WHY IT’S GREEN</a:t>
            </a:r>
            <a:endParaRPr lang="en-US" sz="900" dirty="0"/>
          </a:p>
        </p:txBody>
      </p:sp>
      <p:sp>
        <p:nvSpPr>
          <p:cNvPr id="34" name="text-346"/>
          <p:cNvSpPr txBox="1"/>
          <p:nvPr/>
        </p:nvSpPr>
        <p:spPr>
          <a:xfrm>
            <a:off x="5221224" y="5789839"/>
            <a:ext cx="1645920" cy="4039961"/>
          </a:xfrm>
          <a:prstGeom prst="rect">
            <a:avLst/>
          </a:prstGeom>
          <a:noFill/>
          <a:ln/>
        </p:spPr>
        <p:txBody>
          <a:bodyPr wrap="square" lIns="0" tIns="0" rIns="0" bIns="0" rtlCol="0" anchor="t"/>
          <a:lstStyle/>
          <a:p>
            <a:pPr indent="0" marL="0">
              <a:lnSpc>
                <a:spcPct val="106000"/>
              </a:lnSpc>
              <a:buNone/>
            </a:pPr>
            <a:r>
              <a:rPr lang="en-US" sz="850" b="1" dirty="0">
                <a:solidFill>
                  <a:schemeClr val="accent3"/>
                </a:solidFill>
              </a:rPr>
              <a:t>94% used. </a:t>
            </a:r>
            <a:pPr indent="0" marL="0">
              <a:lnSpc>
                <a:spcPct val="106000"/>
              </a:lnSpc>
              <a:spcAft>
                <a:spcPts val="400"/>
              </a:spcAft>
              <a:buNone/>
            </a:pPr>
            <a:r>
              <a:rPr lang="en-US" sz="850" dirty="0">
                <a:solidFill>
                  <a:schemeClr val="tx1"/>
                </a:solidFill>
              </a:rPr>
              <a:t>Of 800 MW of heat, 300 MW becomes power and 450 MW warms the city.</a:t>
            </a:r>
            <a:endParaRPr lang="en-US" sz="850" dirty="0"/>
          </a:p>
          <a:p>
            <a:pPr indent="0" marL="0">
              <a:lnSpc>
                <a:spcPct val="106000"/>
              </a:lnSpc>
              <a:buNone/>
            </a:pPr>
            <a:r>
              <a:rPr lang="en-US" sz="850" b="1" dirty="0">
                <a:solidFill>
                  <a:schemeClr val="accent3"/>
                </a:solidFill>
              </a:rPr>
              <a:t>No CO₂. </a:t>
            </a:r>
            <a:pPr indent="0" marL="0">
              <a:lnSpc>
                <a:spcPct val="106000"/>
              </a:lnSpc>
              <a:spcAft>
                <a:spcPts val="400"/>
              </a:spcAft>
              <a:buNone/>
            </a:pPr>
            <a:r>
              <a:rPr lang="en-US" sz="850" dirty="0">
                <a:solidFill>
                  <a:schemeClr val="tx1"/>
                </a:solidFill>
              </a:rPr>
              <a:t>Nothing burns, and the turbines’ CO₂ never leaves its loop.</a:t>
            </a:r>
            <a:endParaRPr lang="en-US" sz="850" dirty="0"/>
          </a:p>
          <a:p>
            <a:pPr indent="0" marL="0">
              <a:lnSpc>
                <a:spcPct val="106000"/>
              </a:lnSpc>
              <a:buNone/>
            </a:pPr>
            <a:r>
              <a:rPr lang="en-US" sz="850" b="1" dirty="0">
                <a:solidFill>
                  <a:schemeClr val="accent3"/>
                </a:solidFill>
              </a:rPr>
              <a:t>Fuel from snow. </a:t>
            </a:r>
            <a:pPr indent="0" marL="0">
              <a:lnSpc>
                <a:spcPct val="106000"/>
              </a:lnSpc>
              <a:spcAft>
                <a:spcPts val="400"/>
              </a:spcAft>
              <a:buNone/>
            </a:pPr>
            <a:r>
              <a:rPr lang="en-US" sz="850" dirty="0">
                <a:solidFill>
                  <a:schemeClr val="tx1"/>
                </a:solidFill>
              </a:rPr>
              <a:t>Deuterium comes from meltwater: no mines, no tankers.</a:t>
            </a:r>
            <a:endParaRPr lang="en-US" sz="850" dirty="0"/>
          </a:p>
          <a:p>
            <a:pPr indent="0" marL="0">
              <a:lnSpc>
                <a:spcPct val="106000"/>
              </a:lnSpc>
              <a:buNone/>
            </a:pPr>
            <a:r>
              <a:rPr lang="en-US" sz="850" b="1" dirty="0">
                <a:solidFill>
                  <a:schemeClr val="accent3"/>
                </a:solidFill>
              </a:rPr>
              <a:t>Rubbish reused. </a:t>
            </a:r>
            <a:pPr indent="0" marL="0">
              <a:lnSpc>
                <a:spcPct val="106000"/>
              </a:lnSpc>
              <a:spcAft>
                <a:spcPts val="400"/>
              </a:spcAft>
              <a:buNone/>
            </a:pPr>
            <a:r>
              <a:rPr lang="en-US" sz="850" dirty="0">
                <a:solidFill>
                  <a:schemeClr val="tx1"/>
                </a:solidFill>
              </a:rPr>
              <a:t>The converter’s hydrogen and CO₂ feed the food plant.</a:t>
            </a:r>
            <a:endParaRPr lang="en-US" sz="850" dirty="0"/>
          </a:p>
          <a:p>
            <a:pPr indent="0" marL="0">
              <a:lnSpc>
                <a:spcPct val="106000"/>
              </a:lnSpc>
              <a:buNone/>
            </a:pPr>
            <a:r>
              <a:rPr lang="en-US" sz="850" b="1" dirty="0">
                <a:solidFill>
                  <a:schemeClr val="accent3"/>
                </a:solidFill>
              </a:rPr>
              <a:t>Little waste. </a:t>
            </a:r>
            <a:pPr indent="0" marL="0">
              <a:lnSpc>
                <a:spcPct val="106000"/>
              </a:lnSpc>
              <a:spcAft>
                <a:spcPts val="400"/>
              </a:spcAft>
              <a:buNone/>
            </a:pPr>
            <a:r>
              <a:rPr lang="en-US" sz="850" dirty="0">
                <a:solidFill>
                  <a:schemeClr val="tx1"/>
                </a:solidFill>
              </a:rPr>
              <a:t>Its radioactive waste is mostly short-lived, under 100 years, unlike spent fission fuel [20].</a:t>
            </a:r>
            <a:endParaRPr lang="en-US" sz="850" dirty="0"/>
          </a:p>
        </p:txBody>
      </p:sp>
      <p:sp>
        <p:nvSpPr>
          <p:cNvPr id="3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47"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48"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49"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50"/>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5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52"/>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5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54"/>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56"/>
          <p:cNvSpPr txBox="1"/>
          <p:nvPr/>
        </p:nvSpPr>
        <p:spPr>
          <a:xfrm>
            <a:off x="548640" y="3246120"/>
            <a:ext cx="566928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a factory that bakes bread and pours drinking water out of snow and air, so a city with no farmland can feed itself.</a:t>
            </a:r>
            <a:endParaRPr lang="en-US" sz="1450" dirty="0"/>
          </a:p>
        </p:txBody>
      </p:sp>
      <p:sp>
        <p:nvSpPr>
          <p:cNvPr id="11" name="text-357"/>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58"/>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59"/>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6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6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6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64"/>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65"/>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66"/>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67"/>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68"/>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69"/>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70"/>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71"/>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72"/>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73"/>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74"/>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75"/>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76"/>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tonnes of hydrogen a day; the oxygen goes to the hospital and the waste converter.</a:t>
            </a:r>
            <a:endParaRPr lang="en-US" sz="950" dirty="0"/>
          </a:p>
        </p:txBody>
      </p:sp>
      <p:sp>
        <p:nvSpPr>
          <p:cNvPr id="19" name="marker-377"/>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78"/>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79"/>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80"/>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81"/>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82"/>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83"/>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84"/>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85"/>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86"/>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87"/>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88"/>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card-389"/>
          <p:cNvSpPr/>
          <p:nvPr/>
        </p:nvSpPr>
        <p:spPr>
          <a:xfrm>
            <a:off x="5074920" y="5257800"/>
            <a:ext cx="1938528" cy="2263140"/>
          </a:xfrm>
          <a:prstGeom prst="roundRect">
            <a:avLst>
              <a:gd name="adj" fmla="val 3774"/>
            </a:avLst>
          </a:prstGeom>
          <a:solidFill>
            <a:schemeClr val="bg2"/>
          </a:solidFill>
          <a:ln w="12700">
            <a:solidFill>
              <a:schemeClr val="bg2"/>
            </a:solidFill>
            <a:prstDash val="solid"/>
          </a:ln>
        </p:spPr>
      </p:sp>
      <p:sp>
        <p:nvSpPr>
          <p:cNvPr id="32" name="kicker-dot-390"/>
          <p:cNvSpPr/>
          <p:nvPr/>
        </p:nvSpPr>
        <p:spPr>
          <a:xfrm>
            <a:off x="5221224" y="5445252"/>
            <a:ext cx="100584" cy="100584"/>
          </a:xfrm>
          <a:prstGeom prst="ellipse">
            <a:avLst/>
          </a:prstGeom>
          <a:solidFill>
            <a:schemeClr val="accent4"/>
          </a:solidFill>
          <a:ln w="12700">
            <a:solidFill>
              <a:schemeClr val="accent4"/>
            </a:solidFill>
            <a:prstDash val="solid"/>
          </a:ln>
        </p:spPr>
      </p:sp>
      <p:sp>
        <p:nvSpPr>
          <p:cNvPr id="33" name="text-391"/>
          <p:cNvSpPr txBox="1"/>
          <p:nvPr/>
        </p:nvSpPr>
        <p:spPr>
          <a:xfrm>
            <a:off x="5404104" y="54041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34" name="text-392"/>
          <p:cNvSpPr txBox="1"/>
          <p:nvPr/>
        </p:nvSpPr>
        <p:spPr>
          <a:xfrm>
            <a:off x="5221224" y="5861304"/>
            <a:ext cx="1645920" cy="156819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Each step exists, but apart: Solein protein from Finland [6], starch made from CO₂ in a lab [7] and air capture in Iceland [8]. We link them in one plant.</a:t>
            </a:r>
            <a:endParaRPr lang="en-US" sz="950" dirty="0"/>
          </a:p>
        </p:txBody>
      </p:sp>
      <p:sp>
        <p:nvSpPr>
          <p:cNvPr id="35" name="card-393"/>
          <p:cNvSpPr/>
          <p:nvPr/>
        </p:nvSpPr>
        <p:spPr>
          <a:xfrm>
            <a:off x="5074920" y="7658100"/>
            <a:ext cx="1938528" cy="2263140"/>
          </a:xfrm>
          <a:prstGeom prst="roundRect">
            <a:avLst>
              <a:gd name="adj" fmla="val 3774"/>
            </a:avLst>
          </a:prstGeom>
          <a:solidFill>
            <a:schemeClr val="bg2"/>
          </a:solidFill>
          <a:ln w="12700">
            <a:solidFill>
              <a:schemeClr val="bg2"/>
            </a:solidFill>
            <a:prstDash val="solid"/>
          </a:ln>
        </p:spPr>
      </p:sp>
      <p:sp>
        <p:nvSpPr>
          <p:cNvPr id="36" name="kicker-dot-394"/>
          <p:cNvSpPr/>
          <p:nvPr/>
        </p:nvSpPr>
        <p:spPr>
          <a:xfrm>
            <a:off x="5221224" y="7845552"/>
            <a:ext cx="100584" cy="100584"/>
          </a:xfrm>
          <a:prstGeom prst="ellipse">
            <a:avLst/>
          </a:prstGeom>
          <a:solidFill>
            <a:schemeClr val="accent4"/>
          </a:solidFill>
          <a:ln w="12700">
            <a:solidFill>
              <a:schemeClr val="accent4"/>
            </a:solidFill>
            <a:prstDash val="solid"/>
          </a:ln>
        </p:spPr>
      </p:sp>
      <p:sp>
        <p:nvSpPr>
          <p:cNvPr id="37" name="text-395"/>
          <p:cNvSpPr txBox="1"/>
          <p:nvPr/>
        </p:nvSpPr>
        <p:spPr>
          <a:xfrm>
            <a:off x="5404104" y="78044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38" name="text-396"/>
          <p:cNvSpPr txBox="1"/>
          <p:nvPr/>
        </p:nvSpPr>
        <p:spPr>
          <a:xfrm>
            <a:off x="5221224" y="8078724"/>
            <a:ext cx="1645920" cy="457200"/>
          </a:xfrm>
          <a:prstGeom prst="rect">
            <a:avLst/>
          </a:prstGeom>
          <a:noFill/>
          <a:ln/>
        </p:spPr>
        <p:txBody>
          <a:bodyPr wrap="square" lIns="0" tIns="0" rIns="0" bIns="0" rtlCol="0" anchor="t"/>
          <a:lstStyle/>
          <a:p>
            <a:pPr indent="0" marL="0">
              <a:buNone/>
            </a:pPr>
            <a:r>
              <a:rPr lang="en-US" sz="2000" b="1" dirty="0">
                <a:solidFill>
                  <a:schemeClr val="accent4"/>
                </a:solidFill>
                <a:latin typeface="+mj-lt" pitchFamily="34" charset="0"/>
                <a:ea typeface="+mj-lt" pitchFamily="34" charset="-122"/>
                <a:cs typeface="+mj-lt" pitchFamily="34" charset="-120"/>
              </a:rPr>
              <a:t>≈ 13 MW</a:t>
            </a:r>
            <a:endParaRPr lang="en-US" sz="2000" dirty="0"/>
          </a:p>
        </p:txBody>
      </p:sp>
      <p:sp>
        <p:nvSpPr>
          <p:cNvPr id="39" name="text-397"/>
          <p:cNvSpPr txBox="1"/>
          <p:nvPr/>
        </p:nvSpPr>
        <p:spPr>
          <a:xfrm>
            <a:off x="5221224" y="8581644"/>
            <a:ext cx="1645920" cy="124815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Melting 3,000 tonnes of snow a day takes about 13 MW, inside the 14 MW of spare fusion heat. Starch from CO₂ is still lab-scale [7].</a:t>
            </a:r>
            <a:endParaRPr lang="en-US" sz="950" dirty="0"/>
          </a:p>
        </p:txBody>
      </p:sp>
      <p:sp>
        <p:nvSpPr>
          <p:cNvPr id="4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98"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9" descr="/home/user/chatbox-bi-n-o/magazine/assets/ui/shade_top.png">    </p:cNvPr>
          <p:cNvPicPr>
            <a:picLocks noChangeAspect="1"/>
          </p:cNvPicPr>
          <p:nvPr/>
        </p:nvPicPr>
        <p:blipFill>
          <a:blip r:embed="rId2"/>
          <a:stretch>
            <a:fillRect/>
          </a:stretch>
        </p:blipFill>
        <p:spPr>
          <a:xfrm>
            <a:off x="0" y="0"/>
            <a:ext cx="7562088" cy="4389120"/>
          </a:xfrm>
          <a:prstGeom prst="rect">
            <a:avLst/>
          </a:prstGeom>
        </p:spPr>
      </p:pic>
      <p:pic>
        <p:nvPicPr>
          <p:cNvPr id="4" name="shade-bottom-400"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01"/>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0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03"/>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0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a:t>
            </a:r>
            <a:endParaRPr lang="en-US" sz="900" dirty="0"/>
          </a:p>
        </p:txBody>
      </p:sp>
      <p:sp>
        <p:nvSpPr>
          <p:cNvPr id="9" name="title-405"/>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0" name="text-407"/>
          <p:cNvSpPr txBox="1"/>
          <p:nvPr/>
        </p:nvSpPr>
        <p:spPr>
          <a:xfrm>
            <a:off x="548640" y="3200400"/>
            <a:ext cx="585216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Our big idea: the mountain is the building. Inside a 35-metre snow peak shaped like Nepal’s Ama Dablam, a whole leisure world stays at 28 °C all winter.</a:t>
            </a:r>
            <a:endParaRPr lang="en-US" sz="1400" dirty="0"/>
          </a:p>
        </p:txBody>
      </p:sp>
      <p:sp>
        <p:nvSpPr>
          <p:cNvPr id="11" name="text-408"/>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09"/>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10"/>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11"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12"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13"/>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1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15"/>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17"/>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18"/>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19"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sp>
        <p:nvSpPr>
          <p:cNvPr id="3" name="panel-420"/>
          <p:cNvSpPr/>
          <p:nvPr/>
        </p:nvSpPr>
        <p:spPr>
          <a:xfrm>
            <a:off x="548640" y="548640"/>
            <a:ext cx="3140964" cy="1498854"/>
          </a:xfrm>
          <a:prstGeom prst="rect">
            <a:avLst/>
          </a:prstGeom>
          <a:solidFill>
            <a:schemeClr val="tx1">
              <a:alpha val="85000"/>
            </a:schemeClr>
          </a:solidFill>
          <a:ln w="12700">
            <a:solidFill>
              <a:schemeClr val="tx1">
                <a:alpha val="0"/>
              </a:schemeClr>
            </a:solidFill>
            <a:prstDash val="solid"/>
          </a:ln>
        </p:spPr>
      </p:sp>
      <p:sp>
        <p:nvSpPr>
          <p:cNvPr id="4" name="kicker-dot-421"/>
          <p:cNvSpPr/>
          <p:nvPr/>
        </p:nvSpPr>
        <p:spPr>
          <a:xfrm>
            <a:off x="694944" y="736092"/>
            <a:ext cx="100584" cy="100584"/>
          </a:xfrm>
          <a:prstGeom prst="ellipse">
            <a:avLst/>
          </a:prstGeom>
          <a:solidFill>
            <a:schemeClr val="accent5"/>
          </a:solidFill>
          <a:ln w="12700">
            <a:solidFill>
              <a:schemeClr val="accent5"/>
            </a:solidFill>
            <a:prstDash val="solid"/>
          </a:ln>
        </p:spPr>
      </p:sp>
      <p:sp>
        <p:nvSpPr>
          <p:cNvPr id="5" name="text-422"/>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6" name="text-423"/>
          <p:cNvSpPr txBox="1"/>
          <p:nvPr/>
        </p:nvSpPr>
        <p:spPr>
          <a:xfrm>
            <a:off x="694944" y="96926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Iceland’s Blue Lagoon bathes visitors in 37–39 °C water from a geothermal power plant [9], and Switzerland’s Therme Vals is cut into a hillside [10]. Mount Aurora goes further: the whole snow peak becomes the building.</a:t>
            </a:r>
            <a:endParaRPr lang="en-US" sz="950" dirty="0"/>
          </a:p>
        </p:txBody>
      </p:sp>
      <p:sp>
        <p:nvSpPr>
          <p:cNvPr id="7" name="panel-424"/>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425"/>
          <p:cNvSpPr/>
          <p:nvPr/>
        </p:nvSpPr>
        <p:spPr>
          <a:xfrm>
            <a:off x="4018788" y="736092"/>
            <a:ext cx="100584" cy="100584"/>
          </a:xfrm>
          <a:prstGeom prst="ellipse">
            <a:avLst/>
          </a:prstGeom>
          <a:solidFill>
            <a:schemeClr val="accent5"/>
          </a:solidFill>
          <a:ln w="12700">
            <a:solidFill>
              <a:schemeClr val="accent5"/>
            </a:solidFill>
            <a:prstDash val="solid"/>
          </a:ln>
        </p:spPr>
      </p:sp>
      <p:sp>
        <p:nvSpPr>
          <p:cNvPr id="9" name="text-426"/>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0" name="text-427"/>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73 °C apart</a:t>
            </a:r>
            <a:endParaRPr lang="en-US" sz="2400" dirty="0"/>
          </a:p>
        </p:txBody>
      </p:sp>
      <p:sp>
        <p:nvSpPr>
          <p:cNvPr id="11" name="text-428"/>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An insulated rock shell holds 28 °C inside at −45 °C outside. It needs a hot spring below, to be confirmed by drilling, and thermosyphons like the Trans-Alaska Pipeline’s [14] keep the ground frozen.</a:t>
            </a:r>
            <a:endParaRPr lang="en-US" sz="950" dirty="0"/>
          </a:p>
        </p:txBody>
      </p:sp>
      <p:pic>
        <p:nvPicPr>
          <p:cNvPr id="12" name="shade-bottom-429" descr="/home/user/chatbox-bi-n-o/magazine/assets/ui/shade_bottom.png">    </p:cNvPr>
          <p:cNvPicPr>
            <a:picLocks noChangeAspect="1"/>
          </p:cNvPicPr>
          <p:nvPr/>
        </p:nvPicPr>
        <p:blipFill>
          <a:blip r:embed="rId2"/>
          <a:stretch>
            <a:fillRect/>
          </a:stretch>
        </p:blipFill>
        <p:spPr>
          <a:xfrm>
            <a:off x="0" y="8778240"/>
            <a:ext cx="7562088" cy="1911096"/>
          </a:xfrm>
          <a:prstGeom prst="rect">
            <a:avLst/>
          </a:prstGeom>
        </p:spPr>
      </p:pic>
      <p:sp>
        <p:nvSpPr>
          <p:cNvPr id="13" name="text-430"/>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31"/>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3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3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35"/>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36"/>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37"/>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38"/>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39"/>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40"/>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41"/>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42"/>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43"/>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44"/>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45"/>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46"/>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47"/>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card-448"/>
          <p:cNvSpPr/>
          <p:nvPr/>
        </p:nvSpPr>
        <p:spPr>
          <a:xfrm>
            <a:off x="548640" y="8590377"/>
            <a:ext cx="6464808" cy="777240"/>
          </a:xfrm>
          <a:prstGeom prst="roundRect">
            <a:avLst>
              <a:gd name="adj" fmla="val 9412"/>
            </a:avLst>
          </a:prstGeom>
          <a:solidFill>
            <a:schemeClr val="tx1"/>
          </a:solidFill>
          <a:ln w="12700">
            <a:solidFill>
              <a:schemeClr val="tx1"/>
            </a:solidFill>
            <a:prstDash val="solid"/>
          </a:ln>
        </p:spPr>
      </p:sp>
      <p:sp>
        <p:nvSpPr>
          <p:cNvPr id="20" name="text-449"/>
          <p:cNvSpPr txBox="1"/>
          <p:nvPr/>
        </p:nvSpPr>
        <p:spPr>
          <a:xfrm>
            <a:off x="685800" y="8636097"/>
            <a:ext cx="6190488" cy="685800"/>
          </a:xfrm>
          <a:prstGeom prst="rect">
            <a:avLst/>
          </a:prstGeom>
          <a:noFill/>
          <a:ln/>
        </p:spPr>
        <p:txBody>
          <a:bodyPr wrap="square" lIns="0" tIns="0" rIns="0" bIns="0" rtlCol="0" anchor="ctr"/>
          <a:lstStyle/>
          <a:p>
            <a:pPr indent="0" marL="0">
              <a:buNone/>
            </a:pPr>
            <a:r>
              <a:rPr lang="en-US" sz="950" b="1" spc="200" kern="0" dirty="0">
                <a:solidFill>
                  <a:schemeClr val="accent5"/>
                </a:solidFill>
              </a:rPr>
              <a:t>ALSO A SHELTER  </a:t>
            </a:r>
            <a:pPr indent="0" marL="0">
              <a:buNone/>
            </a:pPr>
            <a:r>
              <a:rPr lang="en-US" sz="950" dirty="0">
                <a:solidFill>
                  <a:schemeClr val="bg1"/>
                </a:solidFill>
              </a:rPr>
              <a:t>In a disaster, the mountain becomes a warm refuge for up to 1,000 people: geothermal heat, mineral water and the food reserve keep it running even if the city’s power fails.</a:t>
            </a:r>
            <a:endParaRPr lang="en-US" sz="950" dirty="0"/>
          </a:p>
        </p:txBody>
      </p:sp>
      <p:sp>
        <p:nvSpPr>
          <p:cNvPr id="21" name="text-450"/>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5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5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45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455"/>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Before any picture in this magazine, we built Aurora Haven ourselves in the Eco-Polis Builder: 241 named places, each with its own purpose and special features.</a:t>
            </a:r>
            <a:endParaRPr lang="en-US" sz="1250" dirty="0"/>
          </a:p>
        </p:txBody>
      </p:sp>
      <p:pic>
        <p:nvPicPr>
          <p:cNvPr id="6" name="picture-456" descr="/home/user/chatbox-bi-n-o/magazine/assets/ecopolis/overview.jpg">    </p:cNvPr>
          <p:cNvPicPr>
            <a:picLocks noChangeAspect="1"/>
          </p:cNvPicPr>
          <p:nvPr/>
        </p:nvPicPr>
        <p:blipFill>
          <a:blip r:embed="rId1"/>
          <a:srcRect l="0" r="0" t="0" b="0"/>
          <a:stretch/>
        </p:blipFill>
        <p:spPr>
          <a:xfrm>
            <a:off x="548640" y="2103120"/>
            <a:ext cx="6464808" cy="3633761"/>
          </a:xfrm>
          <a:prstGeom prst="rect">
            <a:avLst/>
          </a:prstGeom>
        </p:spPr>
      </p:pic>
      <p:sp>
        <p:nvSpPr>
          <p:cNvPr id="7" name="text-457"/>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458" descr="/home/user/chatbox-bi-n-o/magazine/assets/ecopolis/fusion.jpg">    </p:cNvPr>
          <p:cNvPicPr>
            <a:picLocks noChangeAspect="1"/>
          </p:cNvPicPr>
          <p:nvPr/>
        </p:nvPicPr>
        <p:blipFill>
          <a:blip r:embed="rId2"/>
          <a:srcRect l="0" r="0" t="0" b="0"/>
          <a:stretch/>
        </p:blipFill>
        <p:spPr>
          <a:xfrm>
            <a:off x="548640" y="6056921"/>
            <a:ext cx="1547622" cy="1036907"/>
          </a:xfrm>
          <a:prstGeom prst="rect">
            <a:avLst/>
          </a:prstGeom>
        </p:spPr>
      </p:pic>
      <p:sp>
        <p:nvSpPr>
          <p:cNvPr id="9" name="text-459"/>
          <p:cNvSpPr txBox="1"/>
          <p:nvPr/>
        </p:nvSpPr>
        <p:spPr>
          <a:xfrm>
            <a:off x="548640"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460" descr="/home/user/chatbox-bi-n-o/magazine/assets/ecopolis/food.jpg">    </p:cNvPr>
          <p:cNvPicPr>
            <a:picLocks noChangeAspect="1"/>
          </p:cNvPicPr>
          <p:nvPr/>
        </p:nvPicPr>
        <p:blipFill>
          <a:blip r:embed="rId3"/>
          <a:srcRect l="0" r="0" t="0" b="0"/>
          <a:stretch/>
        </p:blipFill>
        <p:spPr>
          <a:xfrm>
            <a:off x="2187702" y="6056921"/>
            <a:ext cx="1547622" cy="1036907"/>
          </a:xfrm>
          <a:prstGeom prst="rect">
            <a:avLst/>
          </a:prstGeom>
        </p:spPr>
      </p:pic>
      <p:sp>
        <p:nvSpPr>
          <p:cNvPr id="11" name="text-461"/>
          <p:cNvSpPr txBox="1"/>
          <p:nvPr/>
        </p:nvSpPr>
        <p:spPr>
          <a:xfrm>
            <a:off x="2187702"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462" descr="/home/user/chatbox-bi-n-o/magazine/assets/ecopolis/mount.jpg">    </p:cNvPr>
          <p:cNvPicPr>
            <a:picLocks noChangeAspect="1"/>
          </p:cNvPicPr>
          <p:nvPr/>
        </p:nvPicPr>
        <p:blipFill>
          <a:blip r:embed="rId4"/>
          <a:srcRect l="0" r="0" t="0" b="0"/>
          <a:stretch/>
        </p:blipFill>
        <p:spPr>
          <a:xfrm>
            <a:off x="3826764" y="6056921"/>
            <a:ext cx="1547622" cy="1036907"/>
          </a:xfrm>
          <a:prstGeom prst="rect">
            <a:avLst/>
          </a:prstGeom>
        </p:spPr>
      </p:pic>
      <p:sp>
        <p:nvSpPr>
          <p:cNvPr id="13" name="text-463"/>
          <p:cNvSpPr txBox="1"/>
          <p:nvPr/>
        </p:nvSpPr>
        <p:spPr>
          <a:xfrm>
            <a:off x="3826764"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464" descr="/home/user/chatbox-bi-n-o/magazine/assets/ecopolis/downtown.jpg">    </p:cNvPr>
          <p:cNvPicPr>
            <a:picLocks noChangeAspect="1"/>
          </p:cNvPicPr>
          <p:nvPr/>
        </p:nvPicPr>
        <p:blipFill>
          <a:blip r:embed="rId5"/>
          <a:srcRect l="0" r="0" t="0" b="0"/>
          <a:stretch/>
        </p:blipFill>
        <p:spPr>
          <a:xfrm>
            <a:off x="5465826" y="6056921"/>
            <a:ext cx="1547622" cy="1036907"/>
          </a:xfrm>
          <a:prstGeom prst="rect">
            <a:avLst/>
          </a:prstGeom>
        </p:spPr>
      </p:pic>
      <p:sp>
        <p:nvSpPr>
          <p:cNvPr id="15" name="text-465"/>
          <p:cNvSpPr txBox="1"/>
          <p:nvPr/>
        </p:nvSpPr>
        <p:spPr>
          <a:xfrm>
            <a:off x="5465826"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466" descr="/home/user/chatbox-bi-n-o/magazine/assets/ui/qr_map_file.png">    </p:cNvPr>
          <p:cNvPicPr>
            <a:picLocks noChangeAspect="1"/>
          </p:cNvPicPr>
          <p:nvPr/>
        </p:nvPicPr>
        <p:blipFill>
          <a:blip r:embed="rId6"/>
          <a:stretch>
            <a:fillRect/>
          </a:stretch>
        </p:blipFill>
        <p:spPr>
          <a:xfrm>
            <a:off x="548640" y="7505308"/>
            <a:ext cx="1143000" cy="1143000"/>
          </a:xfrm>
          <a:prstGeom prst="rect">
            <a:avLst/>
          </a:prstGeom>
        </p:spPr>
      </p:pic>
      <p:sp>
        <p:nvSpPr>
          <p:cNvPr id="17" name="text-467"/>
          <p:cNvSpPr txBox="1"/>
          <p:nvPr/>
        </p:nvSpPr>
        <p:spPr>
          <a:xfrm>
            <a:off x="45720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468"/>
          <p:cNvSpPr txBox="1"/>
          <p:nvPr/>
        </p:nvSpPr>
        <p:spPr>
          <a:xfrm>
            <a:off x="41148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469" descr="/home/user/chatbox-bi-n-o/magazine/assets/ui/qr_ecopolis.png">    </p:cNvPr>
          <p:cNvPicPr>
            <a:picLocks noChangeAspect="1"/>
          </p:cNvPicPr>
          <p:nvPr/>
        </p:nvPicPr>
        <p:blipFill>
          <a:blip r:embed="rId7"/>
          <a:stretch>
            <a:fillRect/>
          </a:stretch>
        </p:blipFill>
        <p:spPr>
          <a:xfrm>
            <a:off x="1965960" y="7505308"/>
            <a:ext cx="1143000" cy="1143000"/>
          </a:xfrm>
          <a:prstGeom prst="rect">
            <a:avLst/>
          </a:prstGeom>
        </p:spPr>
      </p:pic>
      <p:sp>
        <p:nvSpPr>
          <p:cNvPr id="20" name="text-470"/>
          <p:cNvSpPr txBox="1"/>
          <p:nvPr/>
        </p:nvSpPr>
        <p:spPr>
          <a:xfrm>
            <a:off x="187452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471"/>
          <p:cNvSpPr txBox="1"/>
          <p:nvPr/>
        </p:nvSpPr>
        <p:spPr>
          <a:xfrm>
            <a:off x="182880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472"/>
          <p:cNvSpPr/>
          <p:nvPr/>
        </p:nvSpPr>
        <p:spPr>
          <a:xfrm>
            <a:off x="3474720" y="7459588"/>
            <a:ext cx="3538728" cy="2507372"/>
          </a:xfrm>
          <a:prstGeom prst="roundRect">
            <a:avLst>
              <a:gd name="adj" fmla="val 2917"/>
            </a:avLst>
          </a:prstGeom>
          <a:solidFill>
            <a:schemeClr val="bg2"/>
          </a:solidFill>
          <a:ln w="12700">
            <a:solidFill>
              <a:schemeClr val="bg2"/>
            </a:solidFill>
            <a:prstDash val="solid"/>
          </a:ln>
        </p:spPr>
      </p:sp>
      <p:sp>
        <p:nvSpPr>
          <p:cNvPr id="23" name="kicker-dot-473"/>
          <p:cNvSpPr/>
          <p:nvPr/>
        </p:nvSpPr>
        <p:spPr>
          <a:xfrm>
            <a:off x="3621024" y="7647040"/>
            <a:ext cx="100584" cy="100584"/>
          </a:xfrm>
          <a:prstGeom prst="ellipse">
            <a:avLst/>
          </a:prstGeom>
          <a:solidFill>
            <a:schemeClr val="accent6"/>
          </a:solidFill>
          <a:ln w="12700">
            <a:solidFill>
              <a:schemeClr val="accent6"/>
            </a:solidFill>
            <a:prstDash val="solid"/>
          </a:ln>
        </p:spPr>
      </p:sp>
      <p:sp>
        <p:nvSpPr>
          <p:cNvPr id="24" name="text-474"/>
          <p:cNvSpPr txBox="1"/>
          <p:nvPr/>
        </p:nvSpPr>
        <p:spPr>
          <a:xfrm>
            <a:off x="3803904" y="7605892"/>
            <a:ext cx="320954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475"/>
          <p:cNvSpPr txBox="1"/>
          <p:nvPr/>
        </p:nvSpPr>
        <p:spPr>
          <a:xfrm>
            <a:off x="3621024" y="7880212"/>
            <a:ext cx="3246120" cy="1995308"/>
          </a:xfrm>
          <a:prstGeom prst="rect">
            <a:avLst/>
          </a:prstGeom>
          <a:noFill/>
          <a:ln/>
        </p:spPr>
        <p:txBody>
          <a:bodyPr wrap="square" lIns="0" tIns="0" rIns="0" bIns="0" rtlCol="0" anchor="t"/>
          <a:lstStyle/>
          <a:p>
            <a:pPr indent="0" marL="0">
              <a:lnSpc>
                <a:spcPct val="106000"/>
              </a:lnSpc>
              <a:buNone/>
            </a:pPr>
            <a:r>
              <a:rPr lang="en-US" sz="1000" b="1" dirty="0">
                <a:solidFill>
                  <a:schemeClr val="accent6"/>
                </a:solidFill>
              </a:rPr>
              <a:t>1. </a:t>
            </a:r>
            <a:pPr indent="0" marL="0">
              <a:lnSpc>
                <a:spcPct val="106000"/>
              </a:lnSpc>
              <a:spcAft>
                <a:spcPts val="500"/>
              </a:spcAft>
              <a:buNone/>
            </a:pPr>
            <a:r>
              <a:rPr lang="en-US" sz="1000" dirty="0">
                <a:solidFill>
                  <a:schemeClr val="tx1"/>
                </a:solidFill>
              </a:rPr>
              <a:t>Scan the first code to download our map file.</a:t>
            </a:r>
            <a:endParaRPr lang="en-US" sz="1000" dirty="0"/>
          </a:p>
          <a:p>
            <a:pPr indent="0" marL="0">
              <a:lnSpc>
                <a:spcPct val="106000"/>
              </a:lnSpc>
              <a:buNone/>
            </a:pPr>
            <a:r>
              <a:rPr lang="en-US" sz="1000" b="1" dirty="0">
                <a:solidFill>
                  <a:schemeClr val="accent6"/>
                </a:solidFill>
              </a:rPr>
              <a:t>2. </a:t>
            </a:r>
            <a:pPr indent="0" marL="0">
              <a:lnSpc>
                <a:spcPct val="106000"/>
              </a:lnSpc>
              <a:spcAft>
                <a:spcPts val="500"/>
              </a:spcAft>
              <a:buNone/>
            </a:pPr>
            <a:r>
              <a:rPr lang="en-US" sz="1000" dirty="0">
                <a:solidFill>
                  <a:schemeClr val="tx1"/>
                </a:solidFill>
              </a:rPr>
              <a:t>Scan the second code to open the Eco-Polis Builder.</a:t>
            </a:r>
            <a:endParaRPr lang="en-US" sz="1000" dirty="0"/>
          </a:p>
          <a:p>
            <a:pPr indent="0" marL="0">
              <a:lnSpc>
                <a:spcPct val="106000"/>
              </a:lnSpc>
              <a:buNone/>
            </a:pPr>
            <a:r>
              <a:rPr lang="en-US" sz="1000" b="1" dirty="0">
                <a:solidFill>
                  <a:schemeClr val="accent6"/>
                </a:solidFill>
              </a:rPr>
              <a:t>3. </a:t>
            </a:r>
            <a:pPr indent="0" marL="0">
              <a:lnSpc>
                <a:spcPct val="106000"/>
              </a:lnSpc>
              <a:spcAft>
                <a:spcPts val="500"/>
              </a:spcAft>
              <a:buNone/>
            </a:pPr>
            <a:r>
              <a:rPr lang="en-US" sz="1000" dirty="0">
                <a:solidFill>
                  <a:schemeClr val="tx1"/>
                </a:solidFill>
              </a:rPr>
              <a:t>Click the Load button (folder icon) and choose Aurora_Haven.json.</a:t>
            </a:r>
            <a:endParaRPr lang="en-US" sz="1000" dirty="0"/>
          </a:p>
          <a:p>
            <a:pPr indent="0" marL="0">
              <a:lnSpc>
                <a:spcPct val="106000"/>
              </a:lnSpc>
              <a:buNone/>
            </a:pPr>
            <a:r>
              <a:rPr lang="en-US" sz="1000" b="1" dirty="0">
                <a:solidFill>
                  <a:schemeClr val="accent6"/>
                </a:solidFill>
              </a:rPr>
              <a:t>4. </a:t>
            </a:r>
            <a:pPr indent="0" marL="0">
              <a:lnSpc>
                <a:spcPct val="106000"/>
              </a:lnSpc>
              <a:spcAft>
                <a:spcPts val="500"/>
              </a:spcAft>
              <a:buNone/>
            </a:pPr>
            <a:r>
              <a:rPr lang="en-US" sz="1000" dirty="0">
                <a:solidFill>
                  <a:schemeClr val="tx1"/>
                </a:solidFill>
              </a:rPr>
              <a:t>Click Lock (View), then Full Screen.</a:t>
            </a:r>
            <a:endParaRPr lang="en-US" sz="1000" dirty="0"/>
          </a:p>
          <a:p>
            <a:pPr indent="0" marL="0">
              <a:lnSpc>
                <a:spcPct val="106000"/>
              </a:lnSpc>
              <a:buNone/>
            </a:pPr>
            <a:r>
              <a:rPr lang="en-US" sz="1000" b="1" dirty="0">
                <a:solidFill>
                  <a:schemeClr val="accent6"/>
                </a:solidFill>
              </a:rPr>
              <a:t>5. </a:t>
            </a:r>
            <a:pPr indent="0" marL="0">
              <a:lnSpc>
                <a:spcPct val="106000"/>
              </a:lnSpc>
              <a:spcAft>
                <a:spcPts val="500"/>
              </a:spcAft>
              <a:buNone/>
            </a:pPr>
            <a:r>
              <a:rPr lang="en-US" sz="1000" dirty="0">
                <a:solidFill>
                  <a:schemeClr val="tx1"/>
                </a:solidFill>
              </a:rPr>
              <a:t>Drag to turn, scroll to zoom, and click a building to read about it.</a:t>
            </a:r>
            <a:endParaRPr lang="en-US" sz="1000" dirty="0"/>
          </a:p>
        </p:txBody>
      </p:sp>
      <p:sp>
        <p:nvSpPr>
          <p:cNvPr id="2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76"/>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7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7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80"/>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81"/>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82"/>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83"/>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84"/>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85"/>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86"/>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87"/>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88"/>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89"/>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90"/>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91"/>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92"/>
          <p:cNvSpPr/>
          <p:nvPr/>
        </p:nvSpPr>
        <p:spPr>
          <a:xfrm>
            <a:off x="2633472" y="3063240"/>
            <a:ext cx="2295144" cy="914"/>
          </a:xfrm>
          <a:prstGeom prst="line">
            <a:avLst/>
          </a:prstGeom>
          <a:noFill/>
          <a:ln w="28575">
            <a:solidFill>
              <a:schemeClr val="accent2"/>
            </a:solidFill>
            <a:prstDash val="solid"/>
            <a:tailEnd type="triangle"/>
          </a:ln>
        </p:spPr>
      </p:sp>
      <p:sp>
        <p:nvSpPr>
          <p:cNvPr id="19" name="text-493"/>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94"/>
          <p:cNvSpPr/>
          <p:nvPr/>
        </p:nvSpPr>
        <p:spPr>
          <a:xfrm>
            <a:off x="2633472" y="3410712"/>
            <a:ext cx="2295144" cy="914"/>
          </a:xfrm>
          <a:prstGeom prst="line">
            <a:avLst/>
          </a:prstGeom>
          <a:noFill/>
          <a:ln w="28575">
            <a:solidFill>
              <a:schemeClr val="bg2"/>
            </a:solidFill>
            <a:prstDash val="solid"/>
            <a:tailEnd type="triangle"/>
          </a:ln>
        </p:spPr>
      </p:sp>
      <p:sp>
        <p:nvSpPr>
          <p:cNvPr id="21" name="text-495"/>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96"/>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97"/>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98"/>
          <p:cNvSpPr/>
          <p:nvPr/>
        </p:nvSpPr>
        <p:spPr>
          <a:xfrm flipH="1">
            <a:off x="2633472" y="4105656"/>
            <a:ext cx="2295144" cy="914"/>
          </a:xfrm>
          <a:prstGeom prst="line">
            <a:avLst/>
          </a:prstGeom>
          <a:noFill/>
          <a:ln w="28575">
            <a:solidFill>
              <a:schemeClr val="accent1"/>
            </a:solidFill>
            <a:prstDash val="solid"/>
            <a:tailEnd type="triangle"/>
          </a:ln>
        </p:spPr>
      </p:sp>
      <p:sp>
        <p:nvSpPr>
          <p:cNvPr id="25" name="text-499"/>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00"/>
          <p:cNvSpPr/>
          <p:nvPr/>
        </p:nvSpPr>
        <p:spPr>
          <a:xfrm>
            <a:off x="1325880" y="4507992"/>
            <a:ext cx="914" cy="1179576"/>
          </a:xfrm>
          <a:prstGeom prst="line">
            <a:avLst/>
          </a:prstGeom>
          <a:noFill/>
          <a:ln w="28575">
            <a:solidFill>
              <a:schemeClr val="accent2"/>
            </a:solidFill>
            <a:prstDash val="solid"/>
            <a:tailEnd type="triangle"/>
          </a:ln>
        </p:spPr>
      </p:sp>
      <p:sp>
        <p:nvSpPr>
          <p:cNvPr id="27" name="arrow-501"/>
          <p:cNvSpPr/>
          <p:nvPr/>
        </p:nvSpPr>
        <p:spPr>
          <a:xfrm flipV="1">
            <a:off x="1874520" y="4507992"/>
            <a:ext cx="914" cy="1179576"/>
          </a:xfrm>
          <a:prstGeom prst="line">
            <a:avLst/>
          </a:prstGeom>
          <a:noFill/>
          <a:ln w="28575">
            <a:solidFill>
              <a:schemeClr val="bg2"/>
            </a:solidFill>
            <a:prstDash val="solid"/>
            <a:tailEnd type="triangle"/>
          </a:ln>
        </p:spPr>
      </p:sp>
      <p:sp>
        <p:nvSpPr>
          <p:cNvPr id="28" name="text-502"/>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03"/>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04"/>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05"/>
          <p:cNvSpPr/>
          <p:nvPr/>
        </p:nvSpPr>
        <p:spPr>
          <a:xfrm>
            <a:off x="6464808" y="4489704"/>
            <a:ext cx="914" cy="1078992"/>
          </a:xfrm>
          <a:prstGeom prst="line">
            <a:avLst/>
          </a:prstGeom>
          <a:noFill/>
          <a:ln w="28575">
            <a:solidFill>
              <a:schemeClr val="accent4"/>
            </a:solidFill>
            <a:prstDash val="solid"/>
            <a:tailEnd type="triangle"/>
          </a:ln>
        </p:spPr>
      </p:sp>
      <p:sp>
        <p:nvSpPr>
          <p:cNvPr id="32" name="text-506"/>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07"/>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08"/>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09"/>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10"/>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11"/>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12"/>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13"/>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14"/>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15"/>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16"/>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17"/>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18"/>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19"/>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20"/>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21"/>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22"/>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23"/>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5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22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28"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29"/>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30"/>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31"/>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32"/>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33"/>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34"/>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35"/>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36"/>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37"/>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38"/>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39"/>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40"/>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41"/>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42"/>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43"/>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44"/>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45"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46"/>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47"/>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48"/>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49"/>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7" name="text-550"/>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23</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551"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552"/>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553"/>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554"/>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555"/>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557"/>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558"/>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559"/>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560"/>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561"/>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562"/>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563"/>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564"/>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565"/>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566"/>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567"/>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568"/>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569"/>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570"/>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571"/>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572"/>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573"/>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574"/>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575"/>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576"/>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577"/>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578"/>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579"/>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580"/>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581"/>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582"/>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583"/>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584"/>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585"/>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586"/>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587"/>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588"/>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8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9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9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93" descr="/home/user/chatbox-bi-n-o/magazine/assets/renders/renewable.jpg">    </p:cNvPr>
          <p:cNvPicPr>
            <a:picLocks noChangeAspect="1"/>
          </p:cNvPicPr>
          <p:nvPr/>
        </p:nvPicPr>
        <p:blipFill>
          <a:blip r:embed="rId1"/>
          <a:srcRect l="0" r="0" t="0" b="0"/>
          <a:stretch/>
        </p:blipFill>
        <p:spPr>
          <a:xfrm>
            <a:off x="0" y="1508760"/>
            <a:ext cx="7562088" cy="4206240"/>
          </a:xfrm>
          <a:prstGeom prst="rect">
            <a:avLst/>
          </a:prstGeom>
        </p:spPr>
      </p:pic>
      <p:sp>
        <p:nvSpPr>
          <p:cNvPr id="6" name="text-594"/>
          <p:cNvSpPr txBox="1"/>
          <p:nvPr/>
        </p:nvSpPr>
        <p:spPr>
          <a:xfrm>
            <a:off x="548640" y="576072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95"/>
          <p:cNvSpPr txBox="1"/>
          <p:nvPr/>
        </p:nvSpPr>
        <p:spPr>
          <a:xfrm>
            <a:off x="548640" y="6053328"/>
            <a:ext cx="6464808" cy="41148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Wind and sun start the city’s own sun. Once fusion is running, they step back and stand guard.</a:t>
            </a:r>
            <a:endParaRPr lang="en-US" sz="1350" dirty="0"/>
          </a:p>
        </p:txBody>
      </p:sp>
      <p:sp>
        <p:nvSpPr>
          <p:cNvPr id="8" name="card-596"/>
          <p:cNvSpPr/>
          <p:nvPr/>
        </p:nvSpPr>
        <p:spPr>
          <a:xfrm>
            <a:off x="548640" y="6629400"/>
            <a:ext cx="1972056" cy="3291840"/>
          </a:xfrm>
          <a:prstGeom prst="roundRect">
            <a:avLst>
              <a:gd name="adj" fmla="val 3709"/>
            </a:avLst>
          </a:prstGeom>
          <a:solidFill>
            <a:schemeClr val="bg2"/>
          </a:solidFill>
          <a:ln w="12700">
            <a:solidFill>
              <a:schemeClr val="bg2"/>
            </a:solidFill>
            <a:prstDash val="solid"/>
          </a:ln>
        </p:spPr>
      </p:sp>
      <p:sp>
        <p:nvSpPr>
          <p:cNvPr id="9" name="step-head-597"/>
          <p:cNvSpPr/>
          <p:nvPr/>
        </p:nvSpPr>
        <p:spPr>
          <a:xfrm>
            <a:off x="548640" y="6629400"/>
            <a:ext cx="1972056" cy="347472"/>
          </a:xfrm>
          <a:prstGeom prst="rect">
            <a:avLst/>
          </a:prstGeom>
          <a:solidFill>
            <a:schemeClr val="accent6"/>
          </a:solidFill>
          <a:ln w="12700">
            <a:solidFill>
              <a:schemeClr val="accent6"/>
            </a:solidFill>
            <a:prstDash val="solid"/>
          </a:ln>
        </p:spPr>
      </p:sp>
      <p:sp>
        <p:nvSpPr>
          <p:cNvPr id="10" name="text-598"/>
          <p:cNvSpPr txBox="1"/>
          <p:nvPr/>
        </p:nvSpPr>
        <p:spPr>
          <a:xfrm>
            <a:off x="676656"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599"/>
          <p:cNvSpPr txBox="1"/>
          <p:nvPr/>
        </p:nvSpPr>
        <p:spPr>
          <a:xfrm>
            <a:off x="676656" y="7086600"/>
            <a:ext cx="1716024" cy="457200"/>
          </a:xfrm>
          <a:prstGeom prst="rect">
            <a:avLst/>
          </a:prstGeom>
          <a:noFill/>
          <a:ln/>
        </p:spPr>
        <p:txBody>
          <a:bodyPr wrap="square" lIns="0" tIns="0" rIns="0" bIns="0" rtlCol="0" anchor="t"/>
          <a:lstStyle/>
          <a:p>
            <a:pPr indent="0" marL="0">
              <a:buNone/>
            </a:pPr>
            <a:r>
              <a:rPr lang="en-US" sz="1900" b="1" dirty="0">
                <a:solidFill>
                  <a:schemeClr val="accent6"/>
                </a:solidFill>
                <a:latin typeface="+mj-lt" pitchFamily="34" charset="0"/>
                <a:ea typeface="+mj-lt" pitchFamily="34" charset="-122"/>
                <a:cs typeface="+mj-lt" pitchFamily="34" charset="-120"/>
              </a:rPr>
              <a:t>200 MWh</a:t>
            </a:r>
            <a:endParaRPr lang="en-US" sz="1900" dirty="0"/>
          </a:p>
        </p:txBody>
      </p:sp>
      <p:sp>
        <p:nvSpPr>
          <p:cNvPr id="12" name="text-600"/>
          <p:cNvSpPr txBox="1"/>
          <p:nvPr/>
        </p:nvSpPr>
        <p:spPr>
          <a:xfrm>
            <a:off x="676656"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The Ice-Proof Wind Farm (60 MW) and the Bifacial Solar Farm fill the battery bank, which gives the big burst of power that starts the reactor’s magnets and heaters. The panels also catch light off the snow: tests in snowy Canada found about +19% [17].</a:t>
            </a:r>
            <a:endParaRPr lang="en-US" sz="1050" dirty="0"/>
          </a:p>
        </p:txBody>
      </p:sp>
      <p:sp>
        <p:nvSpPr>
          <p:cNvPr id="13" name="arrow-601"/>
          <p:cNvSpPr/>
          <p:nvPr/>
        </p:nvSpPr>
        <p:spPr>
          <a:xfrm>
            <a:off x="2548128" y="8275320"/>
            <a:ext cx="219456" cy="914"/>
          </a:xfrm>
          <a:prstGeom prst="line">
            <a:avLst/>
          </a:prstGeom>
          <a:noFill/>
          <a:ln w="31750">
            <a:solidFill>
              <a:schemeClr val="tx2"/>
            </a:solidFill>
            <a:prstDash val="solid"/>
            <a:tailEnd type="triangle"/>
          </a:ln>
        </p:spPr>
      </p:sp>
      <p:sp>
        <p:nvSpPr>
          <p:cNvPr id="14" name="card-602"/>
          <p:cNvSpPr/>
          <p:nvPr/>
        </p:nvSpPr>
        <p:spPr>
          <a:xfrm>
            <a:off x="2795016" y="6629400"/>
            <a:ext cx="1972056" cy="3291840"/>
          </a:xfrm>
          <a:prstGeom prst="roundRect">
            <a:avLst>
              <a:gd name="adj" fmla="val 3709"/>
            </a:avLst>
          </a:prstGeom>
          <a:solidFill>
            <a:schemeClr val="bg2"/>
          </a:solidFill>
          <a:ln w="12700">
            <a:solidFill>
              <a:schemeClr val="bg2"/>
            </a:solidFill>
            <a:prstDash val="solid"/>
          </a:ln>
        </p:spPr>
      </p:sp>
      <p:sp>
        <p:nvSpPr>
          <p:cNvPr id="15" name="step-head-603"/>
          <p:cNvSpPr/>
          <p:nvPr/>
        </p:nvSpPr>
        <p:spPr>
          <a:xfrm>
            <a:off x="2795016" y="6629400"/>
            <a:ext cx="1972056" cy="347472"/>
          </a:xfrm>
          <a:prstGeom prst="rect">
            <a:avLst/>
          </a:prstGeom>
          <a:solidFill>
            <a:schemeClr val="accent3"/>
          </a:solidFill>
          <a:ln w="12700">
            <a:solidFill>
              <a:schemeClr val="accent3"/>
            </a:solidFill>
            <a:prstDash val="solid"/>
          </a:ln>
        </p:spPr>
      </p:sp>
      <p:sp>
        <p:nvSpPr>
          <p:cNvPr id="16" name="text-604"/>
          <p:cNvSpPr txBox="1"/>
          <p:nvPr/>
        </p:nvSpPr>
        <p:spPr>
          <a:xfrm>
            <a:off x="2923032"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7" name="text-605"/>
          <p:cNvSpPr txBox="1"/>
          <p:nvPr/>
        </p:nvSpPr>
        <p:spPr>
          <a:xfrm>
            <a:off x="2923032" y="7086600"/>
            <a:ext cx="1716024" cy="457200"/>
          </a:xfrm>
          <a:prstGeom prst="rect">
            <a:avLst/>
          </a:prstGeom>
          <a:noFill/>
          <a:ln/>
        </p:spPr>
        <p:txBody>
          <a:bodyPr wrap="square" lIns="0" tIns="0" rIns="0" bIns="0" rtlCol="0" anchor="t"/>
          <a:lstStyle/>
          <a:p>
            <a:pPr indent="0" marL="0">
              <a:buNone/>
            </a:pPr>
            <a:r>
              <a:rPr lang="en-US" sz="1900" b="1" dirty="0">
                <a:solidFill>
                  <a:schemeClr val="accent3"/>
                </a:solidFill>
                <a:latin typeface="+mj-lt" pitchFamily="34" charset="0"/>
                <a:ea typeface="+mj-lt" pitchFamily="34" charset="-122"/>
                <a:cs typeface="+mj-lt" pitchFamily="34" charset="-120"/>
              </a:rPr>
              <a:t>300 + 450 MW</a:t>
            </a:r>
            <a:endParaRPr lang="en-US" sz="1900" dirty="0"/>
          </a:p>
        </p:txBody>
      </p:sp>
      <p:sp>
        <p:nvSpPr>
          <p:cNvPr id="18" name="text-606"/>
          <p:cNvSpPr txBox="1"/>
          <p:nvPr/>
        </p:nvSpPr>
        <p:spPr>
          <a:xfrm>
            <a:off x="2923032"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Once the plasma burns, the fusion station keeps itself going and gives the whole city electricity and heat, day and polar night.</a:t>
            </a:r>
            <a:endParaRPr lang="en-US" sz="1050" dirty="0"/>
          </a:p>
        </p:txBody>
      </p:sp>
      <p:sp>
        <p:nvSpPr>
          <p:cNvPr id="19" name="arrow-607"/>
          <p:cNvSpPr/>
          <p:nvPr/>
        </p:nvSpPr>
        <p:spPr>
          <a:xfrm>
            <a:off x="4794504" y="8275320"/>
            <a:ext cx="219456" cy="914"/>
          </a:xfrm>
          <a:prstGeom prst="line">
            <a:avLst/>
          </a:prstGeom>
          <a:noFill/>
          <a:ln w="31750">
            <a:solidFill>
              <a:schemeClr val="tx2"/>
            </a:solidFill>
            <a:prstDash val="solid"/>
            <a:tailEnd type="triangle"/>
          </a:ln>
        </p:spPr>
      </p:sp>
      <p:sp>
        <p:nvSpPr>
          <p:cNvPr id="20" name="card-608"/>
          <p:cNvSpPr/>
          <p:nvPr/>
        </p:nvSpPr>
        <p:spPr>
          <a:xfrm>
            <a:off x="5041392" y="6629400"/>
            <a:ext cx="1972056" cy="3291840"/>
          </a:xfrm>
          <a:prstGeom prst="roundRect">
            <a:avLst>
              <a:gd name="adj" fmla="val 3709"/>
            </a:avLst>
          </a:prstGeom>
          <a:solidFill>
            <a:schemeClr val="bg2"/>
          </a:solidFill>
          <a:ln w="12700">
            <a:solidFill>
              <a:schemeClr val="bg2"/>
            </a:solidFill>
            <a:prstDash val="solid"/>
          </a:ln>
        </p:spPr>
      </p:sp>
      <p:sp>
        <p:nvSpPr>
          <p:cNvPr id="21" name="step-head-609"/>
          <p:cNvSpPr/>
          <p:nvPr/>
        </p:nvSpPr>
        <p:spPr>
          <a:xfrm>
            <a:off x="5041392" y="6629400"/>
            <a:ext cx="1972056" cy="347472"/>
          </a:xfrm>
          <a:prstGeom prst="rect">
            <a:avLst/>
          </a:prstGeom>
          <a:solidFill>
            <a:schemeClr val="accent1"/>
          </a:solidFill>
          <a:ln w="12700">
            <a:solidFill>
              <a:schemeClr val="accent1"/>
            </a:solidFill>
            <a:prstDash val="solid"/>
          </a:ln>
        </p:spPr>
      </p:sp>
      <p:sp>
        <p:nvSpPr>
          <p:cNvPr id="22" name="text-610"/>
          <p:cNvSpPr txBox="1"/>
          <p:nvPr/>
        </p:nvSpPr>
        <p:spPr>
          <a:xfrm>
            <a:off x="5169408"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3" name="text-611"/>
          <p:cNvSpPr txBox="1"/>
          <p:nvPr/>
        </p:nvSpPr>
        <p:spPr>
          <a:xfrm>
            <a:off x="5169408" y="7086600"/>
            <a:ext cx="1716024" cy="457200"/>
          </a:xfrm>
          <a:prstGeom prst="rect">
            <a:avLst/>
          </a:prstGeom>
          <a:noFill/>
          <a:ln/>
        </p:spPr>
        <p:txBody>
          <a:bodyPr wrap="square" lIns="0" tIns="0" rIns="0" bIns="0" rtlCol="0" anchor="t"/>
          <a:lstStyle/>
          <a:p>
            <a:pPr indent="0" marL="0">
              <a:buNone/>
            </a:pPr>
            <a:r>
              <a:rPr lang="en-US" sz="1900" b="1" dirty="0">
                <a:solidFill>
                  <a:schemeClr val="accent1"/>
                </a:solidFill>
                <a:latin typeface="+mj-lt" pitchFamily="34" charset="0"/>
                <a:ea typeface="+mj-lt" pitchFamily="34" charset="-122"/>
                <a:cs typeface="+mj-lt" pitchFamily="34" charset="-120"/>
              </a:rPr>
              <a:t>12 h</a:t>
            </a:r>
            <a:endParaRPr lang="en-US" sz="1900" dirty="0"/>
          </a:p>
        </p:txBody>
      </p:sp>
      <p:sp>
        <p:nvSpPr>
          <p:cNvPr id="24" name="text-612"/>
          <p:cNvSpPr txBox="1"/>
          <p:nvPr/>
        </p:nvSpPr>
        <p:spPr>
          <a:xfrm>
            <a:off x="5169408"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If the reactor stops for repair, wind, sun, the batteries, the 24-hour geothermal plant and the 12-hour heat tank take over, so no home goes cold.</a:t>
            </a:r>
            <a:endParaRPr lang="en-US" sz="1050" dirty="0"/>
          </a:p>
        </p:txBody>
      </p:sp>
      <p:sp>
        <p:nvSpPr>
          <p:cNvPr id="2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13"/>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1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1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17"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18"/>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19"/>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20"/>
          <p:cNvSpPr/>
          <p:nvPr/>
        </p:nvSpPr>
        <p:spPr>
          <a:xfrm>
            <a:off x="1315974" y="6153912"/>
            <a:ext cx="620268" cy="914"/>
          </a:xfrm>
          <a:prstGeom prst="line">
            <a:avLst/>
          </a:prstGeom>
          <a:noFill/>
          <a:ln w="22225">
            <a:solidFill>
              <a:schemeClr val="accent4"/>
            </a:solidFill>
            <a:prstDash val="solid"/>
            <a:tailEnd type="triangle"/>
          </a:ln>
        </p:spPr>
      </p:sp>
      <p:sp>
        <p:nvSpPr>
          <p:cNvPr id="9" name="marker-621"/>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22"/>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23"/>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24"/>
          <p:cNvSpPr/>
          <p:nvPr/>
        </p:nvSpPr>
        <p:spPr>
          <a:xfrm>
            <a:off x="2393442" y="6153912"/>
            <a:ext cx="620268" cy="914"/>
          </a:xfrm>
          <a:prstGeom prst="line">
            <a:avLst/>
          </a:prstGeom>
          <a:noFill/>
          <a:ln w="22225">
            <a:solidFill>
              <a:schemeClr val="accent4"/>
            </a:solidFill>
            <a:prstDash val="solid"/>
            <a:tailEnd type="triangle"/>
          </a:ln>
        </p:spPr>
      </p:sp>
      <p:sp>
        <p:nvSpPr>
          <p:cNvPr id="13" name="marker-625"/>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26"/>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27"/>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28"/>
          <p:cNvSpPr/>
          <p:nvPr/>
        </p:nvSpPr>
        <p:spPr>
          <a:xfrm>
            <a:off x="3470910" y="6153912"/>
            <a:ext cx="620268" cy="914"/>
          </a:xfrm>
          <a:prstGeom prst="line">
            <a:avLst/>
          </a:prstGeom>
          <a:noFill/>
          <a:ln w="22225">
            <a:solidFill>
              <a:schemeClr val="accent4"/>
            </a:solidFill>
            <a:prstDash val="solid"/>
            <a:tailEnd type="triangle"/>
          </a:ln>
        </p:spPr>
      </p:sp>
      <p:sp>
        <p:nvSpPr>
          <p:cNvPr id="17" name="marker-629"/>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30"/>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31"/>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32"/>
          <p:cNvSpPr/>
          <p:nvPr/>
        </p:nvSpPr>
        <p:spPr>
          <a:xfrm>
            <a:off x="4548378" y="6153912"/>
            <a:ext cx="620268" cy="914"/>
          </a:xfrm>
          <a:prstGeom prst="line">
            <a:avLst/>
          </a:prstGeom>
          <a:noFill/>
          <a:ln w="22225">
            <a:solidFill>
              <a:schemeClr val="accent4"/>
            </a:solidFill>
            <a:prstDash val="solid"/>
            <a:tailEnd type="triangle"/>
          </a:ln>
        </p:spPr>
      </p:sp>
      <p:sp>
        <p:nvSpPr>
          <p:cNvPr id="21" name="marker-633"/>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34"/>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35"/>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36"/>
          <p:cNvSpPr/>
          <p:nvPr/>
        </p:nvSpPr>
        <p:spPr>
          <a:xfrm>
            <a:off x="5625846" y="6153912"/>
            <a:ext cx="620268" cy="914"/>
          </a:xfrm>
          <a:prstGeom prst="line">
            <a:avLst/>
          </a:prstGeom>
          <a:noFill/>
          <a:ln w="22225">
            <a:solidFill>
              <a:schemeClr val="accent4"/>
            </a:solidFill>
            <a:prstDash val="solid"/>
            <a:tailEnd type="triangle"/>
          </a:ln>
        </p:spPr>
      </p:sp>
      <p:sp>
        <p:nvSpPr>
          <p:cNvPr id="25" name="marker-637"/>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38"/>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39"/>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40"/>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41"/>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42"/>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43"/>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44"/>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45"/>
          <p:cNvSpPr txBox="1"/>
          <p:nvPr/>
        </p:nvSpPr>
        <p:spPr>
          <a:xfrm>
            <a:off x="548640"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95%</a:t>
            </a:r>
            <a:endParaRPr lang="en-US" sz="2600" dirty="0"/>
          </a:p>
        </p:txBody>
      </p:sp>
      <p:sp>
        <p:nvSpPr>
          <p:cNvPr id="34" name="text-646"/>
          <p:cNvSpPr txBox="1"/>
          <p:nvPr/>
        </p:nvSpPr>
        <p:spPr>
          <a:xfrm>
            <a:off x="548640"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is used again</a:t>
            </a:r>
            <a:endParaRPr lang="en-US" sz="900" dirty="0"/>
          </a:p>
        </p:txBody>
      </p:sp>
      <p:sp>
        <p:nvSpPr>
          <p:cNvPr id="35" name="text-647"/>
          <p:cNvSpPr txBox="1"/>
          <p:nvPr/>
        </p:nvSpPr>
        <p:spPr>
          <a:xfrm>
            <a:off x="2703576"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30 tonnes</a:t>
            </a:r>
            <a:endParaRPr lang="en-US" sz="2600" dirty="0"/>
          </a:p>
        </p:txBody>
      </p:sp>
      <p:sp>
        <p:nvSpPr>
          <p:cNvPr id="36" name="text-648"/>
          <p:cNvSpPr txBox="1"/>
          <p:nvPr/>
        </p:nvSpPr>
        <p:spPr>
          <a:xfrm>
            <a:off x="2703576"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every day</a:t>
            </a:r>
            <a:endParaRPr lang="en-US" sz="900" dirty="0"/>
          </a:p>
        </p:txBody>
      </p:sp>
      <p:sp>
        <p:nvSpPr>
          <p:cNvPr id="37" name="text-649"/>
          <p:cNvSpPr txBox="1"/>
          <p:nvPr/>
        </p:nvSpPr>
        <p:spPr>
          <a:xfrm>
            <a:off x="4858512"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0</a:t>
            </a:r>
            <a:endParaRPr lang="en-US" sz="2600" dirty="0"/>
          </a:p>
        </p:txBody>
      </p:sp>
      <p:sp>
        <p:nvSpPr>
          <p:cNvPr id="38" name="text-650"/>
          <p:cNvSpPr txBox="1"/>
          <p:nvPr/>
        </p:nvSpPr>
        <p:spPr>
          <a:xfrm>
            <a:off x="4858512"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rubbish sent to landfill</a:t>
            </a:r>
            <a:endParaRPr lang="en-US" sz="90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51"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52"/>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53"/>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54"/>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55"/>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57"/>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58"/>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59"/>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60"/>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61"/>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62"/>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63"/>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6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6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6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68"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69"/>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70"/>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71"/>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72"/>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73"/>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74"/>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75"/>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Who rides</a:t>
            </a:r>
            <a:endParaRPr lang="en-US" sz="950" dirty="0"/>
          </a:p>
        </p:txBody>
      </p:sp>
      <p:sp>
        <p:nvSpPr>
          <p:cNvPr id="16" name="text-676"/>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77"/>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78"/>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How many</a:t>
            </a:r>
            <a:endParaRPr lang="en-US" sz="950" dirty="0"/>
          </a:p>
        </p:txBody>
      </p:sp>
      <p:sp>
        <p:nvSpPr>
          <p:cNvPr id="19" name="text-679"/>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80"/>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81"/>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 in a storm</a:t>
            </a:r>
            <a:endParaRPr lang="en-US" sz="950" dirty="0"/>
          </a:p>
        </p:txBody>
      </p:sp>
      <p:sp>
        <p:nvSpPr>
          <p:cNvPr id="22" name="text-682"/>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83"/>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84"/>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Powered by</a:t>
            </a:r>
            <a:endParaRPr lang="en-US" sz="950" dirty="0"/>
          </a:p>
        </p:txBody>
      </p:sp>
      <p:sp>
        <p:nvSpPr>
          <p:cNvPr id="25" name="text-685"/>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86"/>
          <p:cNvSpPr txBox="1"/>
          <p:nvPr/>
        </p:nvSpPr>
        <p:spPr>
          <a:xfrm>
            <a:off x="548640"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27" name="text-687"/>
          <p:cNvSpPr txBox="1"/>
          <p:nvPr/>
        </p:nvSpPr>
        <p:spPr>
          <a:xfrm>
            <a:off x="548640"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between trains at rush hour</a:t>
            </a:r>
            <a:endParaRPr lang="en-US" sz="850" dirty="0"/>
          </a:p>
        </p:txBody>
      </p:sp>
      <p:sp>
        <p:nvSpPr>
          <p:cNvPr id="28" name="text-688"/>
          <p:cNvSpPr txBox="1"/>
          <p:nvPr/>
        </p:nvSpPr>
        <p:spPr>
          <a:xfrm>
            <a:off x="2703576"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29" name="text-689"/>
          <p:cNvSpPr txBox="1"/>
          <p:nvPr/>
        </p:nvSpPr>
        <p:spPr>
          <a:xfrm>
            <a:off x="2703576"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30" name="text-690"/>
          <p:cNvSpPr txBox="1"/>
          <p:nvPr/>
        </p:nvSpPr>
        <p:spPr>
          <a:xfrm>
            <a:off x="4858512"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31" name="text-691"/>
          <p:cNvSpPr txBox="1"/>
          <p:nvPr/>
        </p:nvSpPr>
        <p:spPr>
          <a:xfrm>
            <a:off x="4858512"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3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92"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93"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94"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95"/>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96"/>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97"/>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99"/>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700"/>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701"/>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702"/>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703"/>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704"/>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705"/>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1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06"/>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10" descr="/home/user/chatbox-bi-n-o/magazine/assets/renders/rescue.jpg">    </p:cNvPr>
          <p:cNvPicPr>
            <a:picLocks noChangeAspect="1"/>
          </p:cNvPicPr>
          <p:nvPr/>
        </p:nvPicPr>
        <p:blipFill>
          <a:blip r:embed="rId1"/>
          <a:srcRect l="0" r="0" t="0" b="0"/>
          <a:stretch/>
        </p:blipFill>
        <p:spPr>
          <a:xfrm>
            <a:off x="0" y="1508760"/>
            <a:ext cx="7562088" cy="4480560"/>
          </a:xfrm>
          <a:prstGeom prst="rect">
            <a:avLst/>
          </a:prstGeom>
        </p:spPr>
      </p:pic>
      <p:sp>
        <p:nvSpPr>
          <p:cNvPr id="6" name="text-711"/>
          <p:cNvSpPr txBox="1"/>
          <p:nvPr/>
        </p:nvSpPr>
        <p:spPr>
          <a:xfrm>
            <a:off x="548640" y="60350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12"/>
          <p:cNvSpPr txBox="1"/>
          <p:nvPr/>
        </p:nvSpPr>
        <p:spPr>
          <a:xfrm>
            <a:off x="548640"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13"/>
          <p:cNvSpPr txBox="1"/>
          <p:nvPr/>
        </p:nvSpPr>
        <p:spPr>
          <a:xfrm>
            <a:off x="3918204"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14"/>
          <p:cNvSpPr txBox="1"/>
          <p:nvPr/>
        </p:nvSpPr>
        <p:spPr>
          <a:xfrm>
            <a:off x="548640"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60 s</a:t>
            </a:r>
            <a:endParaRPr lang="en-US" sz="2800" dirty="0"/>
          </a:p>
        </p:txBody>
      </p:sp>
      <p:sp>
        <p:nvSpPr>
          <p:cNvPr id="10" name="text-715"/>
          <p:cNvSpPr txBox="1"/>
          <p:nvPr/>
        </p:nvSpPr>
        <p:spPr>
          <a:xfrm>
            <a:off x="548640"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16"/>
          <p:cNvSpPr txBox="1"/>
          <p:nvPr/>
        </p:nvSpPr>
        <p:spPr>
          <a:xfrm>
            <a:off x="2703576"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30 days</a:t>
            </a:r>
            <a:endParaRPr lang="en-US" sz="2800" dirty="0"/>
          </a:p>
        </p:txBody>
      </p:sp>
      <p:sp>
        <p:nvSpPr>
          <p:cNvPr id="12" name="text-717"/>
          <p:cNvSpPr txBox="1"/>
          <p:nvPr/>
        </p:nvSpPr>
        <p:spPr>
          <a:xfrm>
            <a:off x="2703576"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3" name="text-718"/>
          <p:cNvSpPr txBox="1"/>
          <p:nvPr/>
        </p:nvSpPr>
        <p:spPr>
          <a:xfrm>
            <a:off x="4858512"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48 h</a:t>
            </a:r>
            <a:endParaRPr lang="en-US" sz="2800" dirty="0"/>
          </a:p>
        </p:txBody>
      </p:sp>
      <p:sp>
        <p:nvSpPr>
          <p:cNvPr id="14" name="text-719"/>
          <p:cNvSpPr txBox="1"/>
          <p:nvPr/>
        </p:nvSpPr>
        <p:spPr>
          <a:xfrm>
            <a:off x="4858512"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1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20"/>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2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2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24"/>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25"/>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26"/>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27"/>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28"/>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29"/>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30"/>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31"/>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32"/>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tonnes a year [6]. Heated streets, insulated tunnels and triple glazing all cost more than ordinary ones.</a:t>
            </a:r>
            <a:endParaRPr lang="en-US" sz="1000" dirty="0"/>
          </a:p>
        </p:txBody>
      </p:sp>
      <p:sp>
        <p:nvSpPr>
          <p:cNvPr id="14" name="text-733"/>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34"/>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35"/>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36"/>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37"/>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38"/>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39"/>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40"/>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41"/>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42"/>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43"/>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44"/>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45"/>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46"/>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47"/>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48"/>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49"/>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50"/>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51"/>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52"/>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53"/>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54"/>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55"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56"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57"/>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58"/>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59"/>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61"/>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62"/>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63"/>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64"/>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65"/>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66"/>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67"/>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68"/>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69"/>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70"/>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71"/>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72"/>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73"/>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74"/>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75"/>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76"/>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77"/>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78"/>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79"/>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80"/>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81"/>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82"/>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83"/>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84"/>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85"/>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tonnes a year [6].</a:t>
            </a:r>
            <a:endParaRPr lang="en-US" sz="950" dirty="0"/>
          </a:p>
        </p:txBody>
      </p:sp>
      <p:sp>
        <p:nvSpPr>
          <p:cNvPr id="33" name="marker-786"/>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87"/>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88"/>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89"/>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card-790"/>
          <p:cNvSpPr/>
          <p:nvPr/>
        </p:nvSpPr>
        <p:spPr>
          <a:xfrm>
            <a:off x="548640" y="8412480"/>
            <a:ext cx="1533906" cy="621792"/>
          </a:xfrm>
          <a:prstGeom prst="roundRect">
            <a:avLst>
              <a:gd name="adj" fmla="val 11765"/>
            </a:avLst>
          </a:prstGeom>
          <a:solidFill>
            <a:schemeClr val="bg2"/>
          </a:solidFill>
          <a:ln w="12700">
            <a:solidFill>
              <a:schemeClr val="bg2"/>
            </a:solidFill>
            <a:prstDash val="solid"/>
          </a:ln>
        </p:spPr>
      </p:sp>
      <p:sp>
        <p:nvSpPr>
          <p:cNvPr id="38" name="text-791"/>
          <p:cNvSpPr txBox="1"/>
          <p:nvPr/>
        </p:nvSpPr>
        <p:spPr>
          <a:xfrm>
            <a:off x="621792"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card-792"/>
          <p:cNvSpPr/>
          <p:nvPr/>
        </p:nvSpPr>
        <p:spPr>
          <a:xfrm>
            <a:off x="2192274" y="8412480"/>
            <a:ext cx="1533906" cy="621792"/>
          </a:xfrm>
          <a:prstGeom prst="roundRect">
            <a:avLst>
              <a:gd name="adj" fmla="val 11765"/>
            </a:avLst>
          </a:prstGeom>
          <a:solidFill>
            <a:schemeClr val="bg2"/>
          </a:solidFill>
          <a:ln w="12700">
            <a:solidFill>
              <a:schemeClr val="bg2"/>
            </a:solidFill>
            <a:prstDash val="solid"/>
          </a:ln>
        </p:spPr>
      </p:sp>
      <p:sp>
        <p:nvSpPr>
          <p:cNvPr id="40" name="text-793"/>
          <p:cNvSpPr txBox="1"/>
          <p:nvPr/>
        </p:nvSpPr>
        <p:spPr>
          <a:xfrm>
            <a:off x="2265426"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card-794"/>
          <p:cNvSpPr/>
          <p:nvPr/>
        </p:nvSpPr>
        <p:spPr>
          <a:xfrm>
            <a:off x="3835908" y="8412480"/>
            <a:ext cx="1533906" cy="621792"/>
          </a:xfrm>
          <a:prstGeom prst="roundRect">
            <a:avLst>
              <a:gd name="adj" fmla="val 11765"/>
            </a:avLst>
          </a:prstGeom>
          <a:solidFill>
            <a:schemeClr val="bg2"/>
          </a:solidFill>
          <a:ln w="12700">
            <a:solidFill>
              <a:schemeClr val="bg2"/>
            </a:solidFill>
            <a:prstDash val="solid"/>
          </a:ln>
        </p:spPr>
      </p:sp>
      <p:sp>
        <p:nvSpPr>
          <p:cNvPr id="42" name="text-795"/>
          <p:cNvSpPr txBox="1"/>
          <p:nvPr/>
        </p:nvSpPr>
        <p:spPr>
          <a:xfrm>
            <a:off x="3909060"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card-796"/>
          <p:cNvSpPr/>
          <p:nvPr/>
        </p:nvSpPr>
        <p:spPr>
          <a:xfrm>
            <a:off x="5479542" y="8412480"/>
            <a:ext cx="1533906" cy="621792"/>
          </a:xfrm>
          <a:prstGeom prst="roundRect">
            <a:avLst>
              <a:gd name="adj" fmla="val 11765"/>
            </a:avLst>
          </a:prstGeom>
          <a:solidFill>
            <a:schemeClr val="bg2"/>
          </a:solidFill>
          <a:ln w="12700">
            <a:solidFill>
              <a:schemeClr val="bg2"/>
            </a:solidFill>
            <a:prstDash val="solid"/>
          </a:ln>
        </p:spPr>
      </p:sp>
      <p:sp>
        <p:nvSpPr>
          <p:cNvPr id="44" name="text-797"/>
          <p:cNvSpPr txBox="1"/>
          <p:nvPr/>
        </p:nvSpPr>
        <p:spPr>
          <a:xfrm>
            <a:off x="5552694"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98"/>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31.</a:t>
            </a:r>
            <a:endParaRPr lang="en-US" sz="850" dirty="0"/>
          </a:p>
        </p:txBody>
      </p:sp>
      <p:sp>
        <p:nvSpPr>
          <p:cNvPr id="46" name="card-799"/>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800"/>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3.</a:t>
            </a:r>
            <a:endParaRPr lang="en-US" sz="950" dirty="0"/>
          </a:p>
        </p:txBody>
      </p:sp>
      <p:sp>
        <p:nvSpPr>
          <p:cNvPr id="48"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32</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0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0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0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0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06"/>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07"/>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08"/>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09"/>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10"/>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11"/>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12"/>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13"/>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14"/>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15"/>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16"/>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17"/>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18"/>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19"/>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20"/>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tonnes of snow a day with spare fusion heat.</a:t>
            </a:r>
            <a:endParaRPr lang="en-US" sz="1050" dirty="0"/>
          </a:p>
        </p:txBody>
      </p:sp>
      <p:sp>
        <p:nvSpPr>
          <p:cNvPr id="22" name="marker-821"/>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22"/>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23"/>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24"/>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25"/>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26"/>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27"/>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28"/>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29"/>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30"/>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31"/>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32"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33"/>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34"/>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35"/>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36"/>
          <p:cNvSpPr txBox="1"/>
          <p:nvPr/>
        </p:nvSpPr>
        <p:spPr>
          <a:xfrm>
            <a:off x="4965192" y="694944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37"/>
          <p:cNvSpPr txBox="1"/>
          <p:nvPr/>
        </p:nvSpPr>
        <p:spPr>
          <a:xfrm>
            <a:off x="4965192" y="732942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38"/>
          <p:cNvSpPr txBox="1"/>
          <p:nvPr/>
        </p:nvSpPr>
        <p:spPr>
          <a:xfrm>
            <a:off x="4965192" y="82296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39"/>
          <p:cNvSpPr txBox="1"/>
          <p:nvPr/>
        </p:nvSpPr>
        <p:spPr>
          <a:xfrm>
            <a:off x="4965192" y="86095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33</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4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4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4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44"/>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10.</a:t>
            </a:r>
            <a:endParaRPr lang="en-US" sz="950" dirty="0"/>
          </a:p>
        </p:txBody>
      </p:sp>
      <p:sp>
        <p:nvSpPr>
          <p:cNvPr id="6" name="text-845"/>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46"/>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47"/>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48"/>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49"/>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50"/>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51"/>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52"/>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53"/>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54"/>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55"/>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56"/>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57"/>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58"/>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59"/>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60"/>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61"/>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62"/>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63"/>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64"/>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65"/>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66"/>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67"/>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68"/>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69"/>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70"/>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71"/>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72"/>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73"/>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74"/>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75"/>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76"/>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77"/>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78"/>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79"/>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80"/>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81"/>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82"/>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83"/>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84"/>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85"/>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86"/>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87"/>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88"/>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89"/>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90"/>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91"/>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92"/>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93"/>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94"/>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95"/>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96"/>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97"/>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98"/>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99"/>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900"/>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01"/>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02"/>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03"/>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04"/>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05"/>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06"/>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07"/>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08"/>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09"/>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10"/>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11"/>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12"/>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13"/>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tonnes of rubbish a day into clean gas, recovered metals and building blocks.</a:t>
            </a:r>
            <a:endParaRPr lang="en-US" sz="800" dirty="0"/>
          </a:p>
        </p:txBody>
      </p:sp>
      <p:sp>
        <p:nvSpPr>
          <p:cNvPr id="75" name="text-914"/>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15"/>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16"/>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tonnes of clean snow a day with spare fusion heat.</a:t>
            </a:r>
            <a:endParaRPr lang="en-US" sz="800" dirty="0"/>
          </a:p>
        </p:txBody>
      </p:sp>
      <p:sp>
        <p:nvSpPr>
          <p:cNvPr id="78" name="text-917"/>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18"/>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19"/>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20"/>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21"/>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22"/>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tonnes of protein flour a day.</a:t>
            </a:r>
            <a:endParaRPr lang="en-US" sz="800" dirty="0"/>
          </a:p>
        </p:txBody>
      </p:sp>
      <p:sp>
        <p:nvSpPr>
          <p:cNvPr id="84" name="text-923"/>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24"/>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25"/>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26"/>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27"/>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28"/>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29"/>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30"/>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31"/>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32"/>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33"/>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34"/>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35"/>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36"/>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37"/>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38"/>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39"/>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40"/>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41"/>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42"/>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43"/>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44"/>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45"/>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46"/>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tonnes of materials a day.</a:t>
            </a:r>
            <a:endParaRPr lang="en-US" sz="800" dirty="0"/>
          </a:p>
        </p:txBody>
      </p:sp>
      <p:sp>
        <p:nvSpPr>
          <p:cNvPr id="108" name="text-947"/>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48"/>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49"/>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111"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950" descr="/home/user/chatbox-bi-n-o/magazine/assets/renders/resident.jpg">    </p:cNvPr>
          <p:cNvPicPr>
            <a:picLocks noChangeAspect="1"/>
          </p:cNvPicPr>
          <p:nvPr/>
        </p:nvPicPr>
        <p:blipFill>
          <a:blip r:embed="rId1"/>
          <a:srcRect l="0" r="0" t="0" b="0"/>
          <a:stretch/>
        </p:blipFill>
        <p:spPr>
          <a:xfrm>
            <a:off x="0" y="0"/>
            <a:ext cx="7562088" cy="5120640"/>
          </a:xfrm>
          <a:prstGeom prst="rect">
            <a:avLst/>
          </a:prstGeom>
        </p:spPr>
      </p:pic>
      <p:pic>
        <p:nvPicPr>
          <p:cNvPr id="3" name="shade-fade-951" descr="/home/user/chatbox-bi-n-o/magazine/assets/ui/fade_bottom.png">    </p:cNvPr>
          <p:cNvPicPr>
            <a:picLocks noChangeAspect="1"/>
          </p:cNvPicPr>
          <p:nvPr/>
        </p:nvPicPr>
        <p:blipFill>
          <a:blip r:embed="rId2"/>
          <a:stretch>
            <a:fillRect/>
          </a:stretch>
        </p:blipFill>
        <p:spPr>
          <a:xfrm>
            <a:off x="0" y="3108960"/>
            <a:ext cx="7562088" cy="2057400"/>
          </a:xfrm>
          <a:prstGeom prst="rect">
            <a:avLst/>
          </a:prstGeom>
        </p:spPr>
      </p:pic>
      <p:sp>
        <p:nvSpPr>
          <p:cNvPr id="4" name="kicker-dot-952"/>
          <p:cNvSpPr/>
          <p:nvPr/>
        </p:nvSpPr>
        <p:spPr>
          <a:xfrm>
            <a:off x="548640" y="4110228"/>
            <a:ext cx="100584" cy="100584"/>
          </a:xfrm>
          <a:prstGeom prst="ellipse">
            <a:avLst/>
          </a:prstGeom>
          <a:solidFill>
            <a:schemeClr val="accent1"/>
          </a:solidFill>
          <a:ln w="12700">
            <a:solidFill>
              <a:schemeClr val="accent1"/>
            </a:solidFill>
            <a:prstDash val="solid"/>
          </a:ln>
        </p:spPr>
      </p:sp>
      <p:sp>
        <p:nvSpPr>
          <p:cNvPr id="5" name="text-953"/>
          <p:cNvSpPr txBox="1"/>
          <p:nvPr/>
        </p:nvSpPr>
        <p:spPr>
          <a:xfrm>
            <a:off x="731520" y="406908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6" name="title-954"/>
          <p:cNvSpPr txBox="1"/>
          <p:nvPr/>
        </p:nvSpPr>
        <p:spPr>
          <a:xfrm>
            <a:off x="548640" y="432511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7" name="text-956"/>
          <p:cNvSpPr txBox="1"/>
          <p:nvPr/>
        </p:nvSpPr>
        <p:spPr>
          <a:xfrm>
            <a:off x="548640" y="5120640"/>
            <a:ext cx="6464808" cy="594360"/>
          </a:xfrm>
          <a:prstGeom prst="rect">
            <a:avLst/>
          </a:prstGeom>
          <a:noFill/>
          <a:ln/>
        </p:spPr>
        <p:txBody>
          <a:bodyPr wrap="square" lIns="0" tIns="0" rIns="0" bIns="0" rtlCol="0" anchor="t"/>
          <a:lstStyle/>
          <a:p>
            <a:pPr indent="0" marL="0">
              <a:lnSpc>
                <a:spcPct val="110000"/>
              </a:lnSpc>
              <a:buNone/>
            </a:pPr>
            <a:r>
              <a:rPr lang="en-US" sz="1300" i="1" dirty="0">
                <a:solidFill>
                  <a:schemeClr val="bg2"/>
                </a:solidFill>
                <a:latin typeface="+mj-lt" pitchFamily="34" charset="0"/>
                <a:ea typeface="+mj-lt" pitchFamily="34" charset="-122"/>
                <a:cs typeface="+mj-lt" pitchFamily="34" charset="-120"/>
              </a:rPr>
              <a:t>It is January, and the sun has not risen for six weeks. This is how a winter day could feel for Mai, sixteen, a student at the Northern Lights School.</a:t>
            </a:r>
            <a:endParaRPr lang="en-US" sz="1300" dirty="0"/>
          </a:p>
        </p:txBody>
      </p:sp>
      <p:sp>
        <p:nvSpPr>
          <p:cNvPr id="8" name="text-957"/>
          <p:cNvSpPr txBox="1"/>
          <p:nvPr/>
        </p:nvSpPr>
        <p:spPr>
          <a:xfrm>
            <a:off x="548640" y="5897880"/>
            <a:ext cx="4206240" cy="4114800"/>
          </a:xfrm>
          <a:prstGeom prst="rect">
            <a:avLst/>
          </a:prstGeom>
          <a:noFill/>
          <a:ln/>
        </p:spPr>
        <p:txBody>
          <a:bodyPr wrap="square" lIns="0" tIns="0" rIns="0" bIns="0" rtlCol="0" anchor="t"/>
          <a:lstStyle/>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07:30  </a:t>
            </a:r>
            <a:pPr indent="0" marL="0">
              <a:lnSpc>
                <a:spcPct val="110000"/>
              </a:lnSpc>
              <a:spcAft>
                <a:spcPts val="700"/>
              </a:spcAft>
              <a:buNone/>
            </a:pPr>
            <a:r>
              <a:rPr lang="en-US" sz="1100" dirty="0">
                <a:solidFill>
                  <a:schemeClr val="bg1"/>
                </a:solidFill>
              </a:rPr>
              <a:t>Mai’s flat in the Aurora 81 Residences is warm without a single heater: the district-heating loop brings the fusion station’s heat to every room. Breakfast is bread baked with starch made from snow and air.</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08:10  </a:t>
            </a:r>
            <a:pPr indent="0" marL="0">
              <a:lnSpc>
                <a:spcPct val="110000"/>
              </a:lnSpc>
              <a:spcAft>
                <a:spcPts val="700"/>
              </a:spcAft>
              <a:buNone/>
            </a:pPr>
            <a:r>
              <a:rPr lang="en-US" sz="1100" dirty="0">
                <a:solidFill>
                  <a:schemeClr val="bg1"/>
                </a:solidFill>
              </a:rPr>
              <a:t>The heated sidewalk outside is dry. She rides the driverless Aurora Line under Liberty Mall, every three minutes, blizzard or not.</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12:30  </a:t>
            </a:r>
            <a:pPr indent="0" marL="0">
              <a:lnSpc>
                <a:spcPct val="110000"/>
              </a:lnSpc>
              <a:spcAft>
                <a:spcPts val="700"/>
              </a:spcAft>
              <a:buNone/>
            </a:pPr>
            <a:r>
              <a:rPr lang="en-US" sz="1100" dirty="0">
                <a:solidFill>
                  <a:schemeClr val="bg1"/>
                </a:solidFill>
              </a:rPr>
              <a:t>Lunch is a salad grown under LED light in the Evergreen Greenhouse Dome. After school she borrows a light-therapy lamp from the 24-hour library.</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17:00  </a:t>
            </a:r>
            <a:pPr indent="0" marL="0">
              <a:lnSpc>
                <a:spcPct val="110000"/>
              </a:lnSpc>
              <a:spcAft>
                <a:spcPts val="700"/>
              </a:spcAft>
              <a:buNone/>
            </a:pPr>
            <a:r>
              <a:rPr lang="en-US" sz="1100" dirty="0">
                <a:solidFill>
                  <a:schemeClr val="bg1"/>
                </a:solidFill>
              </a:rPr>
              <a:t>Every phone pings a blizzard warning, two days ahead. The football match moves indoors; nobody panics.</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20:00  </a:t>
            </a:r>
            <a:pPr indent="0" marL="0">
              <a:lnSpc>
                <a:spcPct val="110000"/>
              </a:lnSpc>
              <a:spcAft>
                <a:spcPts val="700"/>
              </a:spcAft>
              <a:buNone/>
            </a:pPr>
            <a:r>
              <a:rPr lang="en-US" sz="1100" dirty="0">
                <a:solidFill>
                  <a:schemeClr val="bg1"/>
                </a:solidFill>
              </a:rPr>
              <a:t>The spa shuttle takes her to Mount Aurora. She floats in the 38 °C Aurora Lagoon as green curtains of light ripple over the snow peak.</a:t>
            </a:r>
            <a:endParaRPr lang="en-US" sz="1100" dirty="0"/>
          </a:p>
        </p:txBody>
      </p:sp>
      <p:sp>
        <p:nvSpPr>
          <p:cNvPr id="9" name="quote-rule-958"/>
          <p:cNvSpPr/>
          <p:nvPr/>
        </p:nvSpPr>
        <p:spPr>
          <a:xfrm>
            <a:off x="4983480" y="6400800"/>
            <a:ext cx="548640" cy="45720"/>
          </a:xfrm>
          <a:prstGeom prst="rect">
            <a:avLst/>
          </a:prstGeom>
          <a:solidFill>
            <a:schemeClr val="accent1"/>
          </a:solidFill>
          <a:ln w="12700">
            <a:solidFill>
              <a:schemeClr val="accent1"/>
            </a:solidFill>
            <a:prstDash val="solid"/>
          </a:ln>
        </p:spPr>
      </p:sp>
      <p:sp>
        <p:nvSpPr>
          <p:cNvPr id="10" name="text-959"/>
          <p:cNvSpPr txBox="1"/>
          <p:nvPr/>
        </p:nvSpPr>
        <p:spPr>
          <a:xfrm>
            <a:off x="4983480" y="6565392"/>
            <a:ext cx="2029968" cy="18288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“In the polar night, my city is the warmest place I know.”</a:t>
            </a:r>
            <a:endParaRPr lang="en-US" sz="1800" dirty="0"/>
          </a:p>
        </p:txBody>
      </p:sp>
      <p:sp>
        <p:nvSpPr>
          <p:cNvPr id="11" name="text-960"/>
          <p:cNvSpPr txBox="1"/>
          <p:nvPr/>
        </p:nvSpPr>
        <p:spPr>
          <a:xfrm>
            <a:off x="4983480" y="9555480"/>
            <a:ext cx="2029968" cy="411480"/>
          </a:xfrm>
          <a:prstGeom prst="rect">
            <a:avLst/>
          </a:prstGeom>
          <a:noFill/>
          <a:ln/>
        </p:spPr>
        <p:txBody>
          <a:bodyPr wrap="square" lIns="0" tIns="0" rIns="0" bIns="0" rtlCol="0" anchor="t"/>
          <a:lstStyle/>
          <a:p>
            <a:pPr indent="0" marL="0">
              <a:buNone/>
            </a:pPr>
            <a:r>
              <a:rPr lang="en-US" sz="850" i="1" dirty="0">
                <a:solidFill>
                  <a:schemeClr val="bg2"/>
                </a:solidFill>
              </a:rPr>
              <a:t>Walking home on a heated sidewalk under the northern lights.</a:t>
            </a:r>
            <a:endParaRPr lang="en-US" sz="850" dirty="0"/>
          </a:p>
        </p:txBody>
      </p:sp>
      <p:sp>
        <p:nvSpPr>
          <p:cNvPr id="1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35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96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6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6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6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6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6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6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tonnes of snow a day. They come from our design, not from a real city.</a:t>
            </a:r>
            <a:endParaRPr lang="en-US" sz="850" dirty="0"/>
          </a:p>
        </p:txBody>
      </p:sp>
      <p:sp>
        <p:nvSpPr>
          <p:cNvPr id="9" name="card-96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7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7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in the Reality check boxes. They show an idea is reasonable, not exact.</a:t>
            </a:r>
            <a:endParaRPr lang="en-US" sz="850" dirty="0"/>
          </a:p>
        </p:txBody>
      </p:sp>
      <p:sp>
        <p:nvSpPr>
          <p:cNvPr id="12" name="card-97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7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7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7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7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7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a:p>
            <a:pPr indent="0" marL="0">
              <a:lnSpc>
                <a:spcPct val="104000"/>
              </a:lnSpc>
              <a:buNone/>
            </a:pPr>
            <a:r>
              <a:rPr lang="en-US" sz="950" b="1" dirty="0">
                <a:solidFill>
                  <a:schemeClr val="accent6"/>
                </a:solidFill>
              </a:rPr>
              <a:t>[20]  </a:t>
            </a:r>
            <a:pPr indent="0" marL="0">
              <a:lnSpc>
                <a:spcPct val="104000"/>
              </a:lnSpc>
              <a:spcAft>
                <a:spcPts val="600"/>
              </a:spcAft>
              <a:buNone/>
            </a:pPr>
            <a:r>
              <a:rPr lang="en-US" sz="950" dirty="0">
                <a:solidFill>
                  <a:schemeClr val="tx1"/>
                </a:solidFill>
              </a:rPr>
              <a:t>Packer, L. W. et al. (2023). Neutron activation of ITER materials at JET. UKAEA-CCFE-CP(23)34. scientific-publications.ukaea.uk</a:t>
            </a:r>
            <a:endParaRPr lang="en-US" sz="950" dirty="0"/>
          </a:p>
        </p:txBody>
      </p:sp>
      <p:sp>
        <p:nvSpPr>
          <p:cNvPr id="18" name="card-97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97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98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8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8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8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8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98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98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98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98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989"/>
          <p:cNvSpPr txBox="1"/>
          <p:nvPr/>
        </p:nvSpPr>
        <p:spPr>
          <a:xfrm>
            <a:off x="3977640" y="1737360"/>
            <a:ext cx="1801368" cy="1371600"/>
          </a:xfrm>
          <a:prstGeom prst="rect">
            <a:avLst/>
          </a:prstGeom>
          <a:noFill/>
          <a:ln/>
        </p:spPr>
        <p:txBody>
          <a:bodyPr wrap="square" lIns="0" tIns="0" rIns="0" bIns="0" rtlCol="0" anchor="t"/>
          <a:lstStyle/>
          <a:p>
            <a:pPr indent="0" marL="0">
              <a:lnSpc>
                <a:spcPct val="100000"/>
              </a:lnSpc>
              <a:spcAft>
                <a:spcPts val="400"/>
              </a:spcAft>
              <a:buNone/>
            </a:pPr>
            <a:r>
              <a:rPr lang="en-US" sz="950" b="1" spc="200" kern="0" dirty="0">
                <a:solidFill>
                  <a:schemeClr val="accent1"/>
                </a:solidFill>
              </a:rPr>
              <a:t>CONTACT THE TEAM</a:t>
            </a:r>
            <a:endParaRPr lang="en-US" sz="950" dirty="0"/>
          </a:p>
          <a:p>
            <a:pPr indent="0" marL="0">
              <a:lnSpc>
                <a:spcPct val="100000"/>
              </a:lnSpc>
              <a:buNone/>
            </a:pPr>
            <a:r>
              <a:rPr lang="en-US" sz="950" b="1" dirty="0">
                <a:solidFill>
                  <a:schemeClr val="bg1"/>
                </a:solidFill>
              </a:rPr>
              <a:t>Polar City</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Đông Bảo</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Bá Hiếu Thiện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Phan Minh Khôi</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Dương Hàng Nguyên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Phạm Phước Khoa</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Minh Triết</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99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991"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99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2026-10-29T11:30:31Z</dcterms:created>
  <dcterms:modified xsi:type="dcterms:W3CDTF">2026-10-29T11:30:31Z</dcterms:modified>
</cp:coreProperties>
</file>