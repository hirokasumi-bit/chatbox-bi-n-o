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4d3a9849-260c-e1aa-340b-a9c475a18ca9}">
          <p14:sldIdLst>
            <p14:sldId id="256"/>
            <p14:sldId id="257"/>
          </p14:sldIdLst>
        </p14:section>
        <p14:section name="Welcome" id="{90f6750a-ef60-422e-83a2-5261df37ddc5}">
          <p14:sldIdLst>
            <p14:sldId id="258"/>
            <p14:sldId id="259"/>
            <p14:sldId id="260"/>
            <p14:sldId id="261"/>
            <p14:sldId id="262"/>
          </p14:sldIdLst>
        </p14:section>
        <p14:section name="The City" id="{2791c4c7-c164-46e9-1b82-2994d2fb13d7}">
          <p14:sldIdLst>
            <p14:sldId id="263"/>
            <p14:sldId id="264"/>
            <p14:sldId id="265"/>
            <p14:sldId id="266"/>
            <p14:sldId id="267"/>
            <p14:sldId id="268"/>
            <p14:sldId id="269"/>
            <p14:sldId id="270"/>
          </p14:sldIdLst>
        </p14:section>
        <p14:section name="Signature Districts" id="{e24f0fab-9dd8-9cc8-0d05-74c405b6f0d8}">
          <p14:sldIdLst>
            <p14:sldId id="271"/>
            <p14:sldId id="272"/>
            <p14:sldId id="273"/>
            <p14:sldId id="274"/>
            <p14:sldId id="275"/>
            <p14:sldId id="276"/>
            <p14:sldId id="277"/>
            <p14:sldId id="278"/>
            <p14:sldId id="279"/>
            <p14:sldId id="280"/>
            <p14:sldId id="281"/>
          </p14:sldIdLst>
        </p14:section>
        <p14:section name="Living in Aurora Haven" id="{7cd3f3d4-2297-ed08-c9be-f6089d5c0ed6}">
          <p14:sldIdLst>
            <p14:sldId id="282"/>
            <p14:sldId id="283"/>
            <p14:sldId id="284"/>
            <p14:sldId id="285"/>
            <p14:sldId id="286"/>
            <p14:sldId id="287"/>
            <p14:sldId id="288"/>
          </p14:sldIdLst>
        </p14:section>
        <p14:section name="Invest" id="{14c64142-31b9-4215-0c35-93c4652b3e6a}">
          <p14:sldIdLst>
            <p14:sldId id="289"/>
          </p14:sldIdLst>
        </p14:section>
        <p14:section name="Guide" id="{19945128-33a2-9ac9-5b46-d0f0d2f139bf}">
          <p14:sldIdLst>
            <p14:sldId id="290"/>
            <p14:sldId id="291"/>
            <p14:sldId id="292"/>
            <p14:sldId id="293"/>
            <p14:sldId id="294"/>
          </p14:sldIdLst>
        </p14:section>
        <p14:section name="Back Cover" id="{b5ecf9b2-aecb-1fbc-0a65-ad90d56617aa}">
          <p14:sldIdLst>
            <p14:sldId id="29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L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L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1005840" y="10195560"/>
            <a:ext cx="3657600" cy="182880"/>
          </a:xfrm>
          <a:prstGeom prst="rect">
            <a:avLst/>
          </a:prstGeom>
          <a:noFill/>
          <a:ln/>
        </p:spPr>
        <p:txBody>
          <a:bodyPr wrap="square" lIns="0" tIns="0" rIns="0" bIns="0" rtlCol="0" anchor="ctr"/>
          <a:lstStyle/>
          <a:p>
            <a:pPr algn="l"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R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R_ICE">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tx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R_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2898648" y="10195560"/>
            <a:ext cx="3657600" cy="182880"/>
          </a:xfrm>
          <a:prstGeom prst="rect">
            <a:avLst/>
          </a:prstGeom>
          <a:noFill/>
          <a:ln/>
        </p:spPr>
        <p:txBody>
          <a:bodyPr wrap="square" lIns="0" tIns="0" rIns="0" bIns="0" rtlCol="0" anchor="ctr"/>
          <a:lstStyle/>
          <a:p>
            <a:pPr algn="r" indent="0" marL="0">
              <a:buNone/>
            </a:pPr>
            <a:r>
              <a:rPr lang="en-US" sz="700" b="1" spc="200" kern="0" dirty="0">
                <a:solidFill>
                  <a:schemeClr val="bg2"/>
                </a:solidFill>
              </a:rPr>
              <a:t>AURORA HAVEN  ·  ISSUE 01</a:t>
            </a:r>
            <a:endParaRPr lang="en-US" sz="7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1009</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7.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4.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youtu.be/QwcP_2Q3Esc" TargetMode="External"/><Relationship Id="rId1" Type="http://schemas.openxmlformats.org/officeDocument/2006/relationships/image" Target="../media/image-5-1.png"/><Relationship Id="rId3" Type="http://schemas.openxmlformats.org/officeDocument/2006/relationships/slideLayout" Target="../slideLayouts/slideLayout7.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7.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slideLayout" Target="../slideLayouts/slideLayout6.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7.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8.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png"/><Relationship Id="rId3" Type="http://schemas.openxmlformats.org/officeDocument/2006/relationships/slideLayout" Target="../slideLayouts/slideLayout6.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9.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7.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png"/><Relationship Id="rId3" Type="http://schemas.openxmlformats.org/officeDocument/2006/relationships/slideLayout" Target="../slideLayouts/slideLayout6.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png"/><Relationship Id="rId3" Type="http://schemas.openxmlformats.org/officeDocument/2006/relationships/slideLayout" Target="../slideLayouts/slideLayout9.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9.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9.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slideLayout" Target="../slideLayouts/slideLayout6.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9.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jpg"/><Relationship Id="rId3" Type="http://schemas.openxmlformats.org/officeDocument/2006/relationships/image" Target="../media/image-25-3.jpg"/><Relationship Id="rId4" Type="http://schemas.openxmlformats.org/officeDocument/2006/relationships/slideLayout" Target="../slideLayouts/slideLayout7.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7.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4.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9.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4.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3" Type="http://schemas.openxmlformats.org/officeDocument/2006/relationships/hyperlink" Target="https://youtu.be/QwcP_2Q3Esc" TargetMode="External"/><Relationship Id="rId1" Type="http://schemas.openxmlformats.org/officeDocument/2006/relationships/image" Target="../media/image-35-1.jpg"/><Relationship Id="rId2" Type="http://schemas.openxmlformats.org/officeDocument/2006/relationships/image" Target="../media/image-35-2.png"/><Relationship Id="rId4" Type="http://schemas.openxmlformats.org/officeDocument/2006/relationships/slideLayout" Target="../slideLayouts/slideLayout8.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4" Type="http://schemas.openxmlformats.org/officeDocument/2006/relationships/hyperlink" Target="https://youtu.be/QwcP_2Q3Esc" TargetMode="External"/><Relationship Id="rId1" Type="http://schemas.openxmlformats.org/officeDocument/2006/relationships/image" Target="../media/image-40-1.jpg"/><Relationship Id="rId2" Type="http://schemas.openxmlformats.org/officeDocument/2006/relationships/image" Target="../media/image-40-2.png"/><Relationship Id="rId3" Type="http://schemas.openxmlformats.org/officeDocument/2006/relationships/image" Target="../media/image-40-3.png"/><Relationship Id="rId5" Type="http://schemas.openxmlformats.org/officeDocument/2006/relationships/slideLayout" Target="../slideLayouts/slideLayout2.xml"/><Relationship Id="rId6"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picture" descr="/home/user/chatbox-bi-n-o/magazine/assets/renders/cover.jpg">    </p:cNvPr>
          <p:cNvPicPr>
            <a:picLocks noChangeAspect="1"/>
          </p:cNvPicPr>
          <p:nvPr/>
        </p:nvPicPr>
        <p:blipFill>
          <a:blip r:embed="rId1"/>
          <a:stretch>
            <a:fillRect/>
          </a:stretch>
        </p:blipFill>
        <p:spPr>
          <a:xfrm>
            <a:off x="0" y="0"/>
            <a:ext cx="7562088" cy="10689336"/>
          </a:xfrm>
          <a:prstGeom prst="rect">
            <a:avLst/>
          </a:prstGeom>
        </p:spPr>
      </p:pic>
      <p:pic>
        <p:nvPicPr>
          <p:cNvPr id="3" name="shade-bottom-1" descr="/home/user/chatbox-bi-n-o/magazine/assets/ui/shade_bottom.png">    </p:cNvPr>
          <p:cNvPicPr>
            <a:picLocks noChangeAspect="1"/>
          </p:cNvPicPr>
          <p:nvPr/>
        </p:nvPicPr>
        <p:blipFill>
          <a:blip r:embed="rId2"/>
          <a:stretch>
            <a:fillRect/>
          </a:stretch>
        </p:blipFill>
        <p:spPr>
          <a:xfrm>
            <a:off x="0" y="7223760"/>
            <a:ext cx="7562088" cy="3465576"/>
          </a:xfrm>
          <a:prstGeom prst="rect">
            <a:avLst/>
          </a:prstGeom>
        </p:spPr>
      </p:pic>
      <p:sp>
        <p:nvSpPr>
          <p:cNvPr id="4" name="text-2"/>
          <p:cNvSpPr txBox="1"/>
          <p:nvPr/>
        </p:nvSpPr>
        <p:spPr>
          <a:xfrm>
            <a:off x="548640" y="347472"/>
            <a:ext cx="6464808" cy="201168"/>
          </a:xfrm>
          <a:prstGeom prst="rect">
            <a:avLst/>
          </a:prstGeom>
          <a:noFill/>
          <a:ln/>
        </p:spPr>
        <p:txBody>
          <a:bodyPr wrap="square" lIns="0" tIns="0" rIns="0" bIns="0" rtlCol="0" anchor="t"/>
          <a:lstStyle/>
          <a:p>
            <a:pPr algn="ctr" indent="0" marL="0">
              <a:buNone/>
            </a:pPr>
            <a:r>
              <a:rPr lang="en-US" sz="850" b="1" spc="300" kern="0" dirty="0">
                <a:solidFill>
                  <a:schemeClr val="bg1"/>
                </a:solidFill>
              </a:rPr>
              <a:t>ISSUE 01   ·   POLAR / ICE CITY   ·   A CITY BUILT IN 3D</a:t>
            </a:r>
            <a:endParaRPr lang="en-US" sz="850" dirty="0"/>
          </a:p>
        </p:txBody>
      </p:sp>
      <p:sp>
        <p:nvSpPr>
          <p:cNvPr id="5" name="text-3"/>
          <p:cNvSpPr txBox="1"/>
          <p:nvPr/>
        </p:nvSpPr>
        <p:spPr>
          <a:xfrm>
            <a:off x="182880" y="548640"/>
            <a:ext cx="7196328" cy="1051560"/>
          </a:xfrm>
          <a:prstGeom prst="rect">
            <a:avLst/>
          </a:prstGeom>
          <a:noFill/>
          <a:ln/>
        </p:spPr>
        <p:txBody>
          <a:bodyPr wrap="square" lIns="0" tIns="0" rIns="0" bIns="0" rtlCol="0" anchor="t"/>
          <a:lstStyle/>
          <a:p>
            <a:pPr algn="ctr" indent="0" marL="0">
              <a:buNone/>
            </a:pPr>
            <a:r>
              <a:rPr lang="en-US" sz="6400" b="1" spc="100" kern="0" dirty="0">
                <a:solidFill>
                  <a:schemeClr val="bg1"/>
                </a:solidFill>
                <a:latin typeface="+mj-lt" pitchFamily="34" charset="0"/>
                <a:ea typeface="+mj-lt" pitchFamily="34" charset="-122"/>
                <a:cs typeface="+mj-lt" pitchFamily="34" charset="-120"/>
              </a:rPr>
              <a:t>AURORA HAVEN</a:t>
            </a:r>
            <a:endParaRPr lang="en-US" sz="6400" dirty="0"/>
          </a:p>
        </p:txBody>
      </p:sp>
      <p:pic>
        <p:nvPicPr>
          <p:cNvPr id="6" name="cover-tower-overlay" descr="/home/user/chatbox-bi-n-o/magazine/assets/renders/cover_tower_top.png">    </p:cNvPr>
          <p:cNvPicPr>
            <a:picLocks noChangeAspect="1"/>
          </p:cNvPicPr>
          <p:nvPr/>
        </p:nvPicPr>
        <p:blipFill>
          <a:blip r:embed="rId3"/>
          <a:stretch>
            <a:fillRect/>
          </a:stretch>
        </p:blipFill>
        <p:spPr>
          <a:xfrm>
            <a:off x="0" y="0"/>
            <a:ext cx="7562088" cy="2139626"/>
          </a:xfrm>
          <a:prstGeom prst="rect">
            <a:avLst/>
          </a:prstGeom>
        </p:spPr>
      </p:pic>
      <p:sp>
        <p:nvSpPr>
          <p:cNvPr id="7" name="text-4"/>
          <p:cNvSpPr txBox="1"/>
          <p:nvPr/>
        </p:nvSpPr>
        <p:spPr>
          <a:xfrm>
            <a:off x="182880" y="1627632"/>
            <a:ext cx="7196328" cy="320040"/>
          </a:xfrm>
          <a:prstGeom prst="rect">
            <a:avLst/>
          </a:prstGeom>
          <a:noFill/>
          <a:ln/>
        </p:spPr>
        <p:txBody>
          <a:bodyPr wrap="square" lIns="0" tIns="0" rIns="0" bIns="0" rtlCol="0" anchor="t"/>
          <a:lstStyle/>
          <a:p>
            <a:pPr algn="ctr" indent="0" marL="0">
              <a:buNone/>
            </a:pPr>
            <a:r>
              <a:rPr lang="en-US" sz="1500" i="1" dirty="0">
                <a:solidFill>
                  <a:schemeClr val="bg1"/>
                </a:solidFill>
                <a:latin typeface="+mj-lt" pitchFamily="34" charset="0"/>
                <a:ea typeface="+mj-lt" pitchFamily="34" charset="-122"/>
                <a:cs typeface="+mj-lt" pitchFamily="34" charset="-120"/>
              </a:rPr>
              <a:t>A polar city that thrives</a:t>
            </a:r>
            <a:endParaRPr lang="en-US" sz="1500" dirty="0"/>
          </a:p>
        </p:txBody>
      </p:sp>
      <p:sp>
        <p:nvSpPr>
          <p:cNvPr id="8" name="text-5"/>
          <p:cNvSpPr txBox="1"/>
          <p:nvPr/>
        </p:nvSpPr>
        <p:spPr>
          <a:xfrm>
            <a:off x="4864608" y="2011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The city's own sun</a:t>
            </a:r>
            <a:endParaRPr lang="en-US" sz="1050" dirty="0"/>
          </a:p>
          <a:p>
            <a:pPr algn="r" indent="0" marL="0">
              <a:lnSpc>
                <a:spcPct val="105000"/>
              </a:lnSpc>
              <a:spcAft>
                <a:spcPts val="300"/>
              </a:spcAft>
              <a:buNone/>
            </a:pPr>
            <a:r>
              <a:rPr lang="en-US" sz="1050" dirty="0">
                <a:solidFill>
                  <a:schemeClr val="bg2"/>
                </a:solidFill>
              </a:rPr>
              <a:t>A compact fusion station keeps 45,000 people warm through the polar night</a:t>
            </a:r>
            <a:endParaRPr lang="en-US" sz="1050" dirty="0"/>
          </a:p>
          <a:p>
            <a:pPr algn="r" indent="0" marL="0">
              <a:lnSpc>
                <a:spcPct val="105000"/>
              </a:lnSpc>
              <a:buNone/>
            </a:pPr>
            <a:r>
              <a:rPr lang="en-US" sz="800" b="1" spc="200" kern="0" dirty="0">
                <a:solidFill>
                  <a:schemeClr val="accent1"/>
                </a:solidFill>
              </a:rPr>
              <a:t>PAGE 16</a:t>
            </a:r>
            <a:endParaRPr lang="en-US" sz="1050" dirty="0"/>
          </a:p>
        </p:txBody>
      </p:sp>
      <p:sp>
        <p:nvSpPr>
          <p:cNvPr id="9" name="text-6"/>
          <p:cNvSpPr txBox="1"/>
          <p:nvPr/>
        </p:nvSpPr>
        <p:spPr>
          <a:xfrm>
            <a:off x="4864608" y="3154680"/>
            <a:ext cx="214884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A warm heart</a:t>
            </a:r>
            <a:endParaRPr lang="en-US" sz="1050" dirty="0"/>
          </a:p>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inside the ice</a:t>
            </a:r>
            <a:endParaRPr lang="en-US" sz="1050" dirty="0"/>
          </a:p>
          <a:p>
            <a:pPr algn="r" indent="0" marL="0">
              <a:lnSpc>
                <a:spcPct val="105000"/>
              </a:lnSpc>
              <a:spcAft>
                <a:spcPts val="300"/>
              </a:spcAft>
              <a:buNone/>
            </a:pPr>
            <a:r>
              <a:rPr lang="en-US" sz="1050" dirty="0">
                <a:solidFill>
                  <a:schemeClr val="bg2"/>
                </a:solidFill>
              </a:rPr>
              <a:t>Four geothermal spa levels hidden in a 35-metre snow peak</a:t>
            </a:r>
            <a:endParaRPr lang="en-US" sz="1050" dirty="0"/>
          </a:p>
          <a:p>
            <a:pPr algn="r" indent="0" marL="0">
              <a:lnSpc>
                <a:spcPct val="105000"/>
              </a:lnSpc>
              <a:buNone/>
            </a:pPr>
            <a:r>
              <a:rPr lang="en-US" sz="800" b="1" spc="200" kern="0" dirty="0">
                <a:solidFill>
                  <a:schemeClr val="accent1"/>
                </a:solidFill>
              </a:rPr>
              <a:t>PAGE 21</a:t>
            </a:r>
            <a:endParaRPr lang="en-US" sz="1050" dirty="0"/>
          </a:p>
        </p:txBody>
      </p:sp>
      <p:sp>
        <p:nvSpPr>
          <p:cNvPr id="10" name="text-7"/>
          <p:cNvSpPr txBox="1"/>
          <p:nvPr/>
        </p:nvSpPr>
        <p:spPr>
          <a:xfrm>
            <a:off x="548640"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l"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Bread and water from snow and air</a:t>
            </a:r>
            <a:endParaRPr lang="en-US" sz="1050" dirty="0"/>
          </a:p>
          <a:p>
            <a:pPr algn="l" indent="0" marL="0">
              <a:lnSpc>
                <a:spcPct val="105000"/>
              </a:lnSpc>
              <a:spcAft>
                <a:spcPts val="300"/>
              </a:spcAft>
              <a:buNone/>
            </a:pPr>
            <a:r>
              <a:rPr lang="en-US" sz="1050" dirty="0">
                <a:solidFill>
                  <a:schemeClr val="bg2"/>
                </a:solidFill>
              </a:rPr>
              <a:t>Inside the plant that feeds a city with no farmland</a:t>
            </a:r>
            <a:endParaRPr lang="en-US" sz="1050" dirty="0"/>
          </a:p>
          <a:p>
            <a:pPr algn="l" indent="0" marL="0">
              <a:lnSpc>
                <a:spcPct val="105000"/>
              </a:lnSpc>
              <a:buNone/>
            </a:pPr>
            <a:r>
              <a:rPr lang="en-US" sz="800" b="1" spc="200" kern="0" dirty="0">
                <a:solidFill>
                  <a:schemeClr val="accent1"/>
                </a:solidFill>
              </a:rPr>
              <a:t>PAGE 19</a:t>
            </a:r>
            <a:endParaRPr lang="en-US" sz="1050" dirty="0"/>
          </a:p>
        </p:txBody>
      </p:sp>
      <p:sp>
        <p:nvSpPr>
          <p:cNvPr id="11" name="text-8"/>
          <p:cNvSpPr txBox="1"/>
          <p:nvPr/>
        </p:nvSpPr>
        <p:spPr>
          <a:xfrm>
            <a:off x="3995928" y="8915400"/>
            <a:ext cx="3017520" cy="132588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algn="r" indent="0" marL="0">
              <a:lnSpc>
                <a:spcPct val="105000"/>
              </a:lnSpc>
              <a:spcAft>
                <a:spcPts val="300"/>
              </a:spcAft>
              <a:buNone/>
            </a:pPr>
            <a:r>
              <a:rPr lang="en-US" sz="1500" b="1" dirty="0">
                <a:solidFill>
                  <a:schemeClr val="bg1"/>
                </a:solidFill>
                <a:latin typeface="+mj-lt" pitchFamily="34" charset="0"/>
                <a:ea typeface="+mj-lt" pitchFamily="34" charset="-122"/>
                <a:cs typeface="+mj-lt" pitchFamily="34" charset="-120"/>
              </a:rPr>
              <a:t>−45 °C. 120 km/h. No sun.</a:t>
            </a:r>
            <a:endParaRPr lang="en-US" sz="1050" dirty="0"/>
          </a:p>
          <a:p>
            <a:pPr algn="r" indent="0" marL="0">
              <a:lnSpc>
                <a:spcPct val="105000"/>
              </a:lnSpc>
              <a:spcAft>
                <a:spcPts val="300"/>
              </a:spcAft>
              <a:buNone/>
            </a:pPr>
            <a:r>
              <a:rPr lang="en-US" sz="1050" dirty="0">
                <a:solidFill>
                  <a:schemeClr val="bg2"/>
                </a:solidFill>
              </a:rPr>
              <a:t>The polar challenge, and the five ideas that answer it</a:t>
            </a:r>
            <a:endParaRPr lang="en-US" sz="1050" dirty="0"/>
          </a:p>
          <a:p>
            <a:pPr algn="r" indent="0" marL="0">
              <a:lnSpc>
                <a:spcPct val="105000"/>
              </a:lnSpc>
              <a:buNone/>
            </a:pPr>
            <a:r>
              <a:rPr lang="en-US" sz="800" b="1" spc="200" kern="0" dirty="0">
                <a:solidFill>
                  <a:schemeClr val="accent1"/>
                </a:solidFill>
              </a:rPr>
              <a:t>PAGE 8</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picture-9" descr="/home/user/chatbox-bi-n-o/magazine/assets/renders/street_dusk.jpg">    </p:cNvPr>
          <p:cNvPicPr>
            <a:picLocks noChangeAspect="1"/>
          </p:cNvPicPr>
          <p:nvPr/>
        </p:nvPicPr>
        <p:blipFill>
          <a:blip r:embed="rId1"/>
          <a:srcRect l="0" r="0" t="0" b="0"/>
          <a:stretch/>
        </p:blipFill>
        <p:spPr>
          <a:xfrm>
            <a:off x="0" y="0"/>
            <a:ext cx="7562088" cy="3931920"/>
          </a:xfrm>
          <a:prstGeom prst="rect">
            <a:avLst/>
          </a:prstGeom>
        </p:spPr>
      </p:pic>
      <p:pic>
        <p:nvPicPr>
          <p:cNvPr id="3" name="shade-bottom-10" descr="/home/user/chatbox-bi-n-o/magazine/assets/ui/shade_bottom.png">    </p:cNvPr>
          <p:cNvPicPr>
            <a:picLocks noChangeAspect="1"/>
          </p:cNvPicPr>
          <p:nvPr/>
        </p:nvPicPr>
        <p:blipFill>
          <a:blip r:embed="rId2"/>
          <a:stretch>
            <a:fillRect/>
          </a:stretch>
        </p:blipFill>
        <p:spPr>
          <a:xfrm>
            <a:off x="0" y="1645920"/>
            <a:ext cx="7562088" cy="2286000"/>
          </a:xfrm>
          <a:prstGeom prst="rect">
            <a:avLst/>
          </a:prstGeom>
        </p:spPr>
      </p:pic>
      <p:sp>
        <p:nvSpPr>
          <p:cNvPr id="4" name="kicker-dot-11"/>
          <p:cNvSpPr/>
          <p:nvPr/>
        </p:nvSpPr>
        <p:spPr>
          <a:xfrm>
            <a:off x="548640" y="2766060"/>
            <a:ext cx="100584" cy="100584"/>
          </a:xfrm>
          <a:prstGeom prst="ellipse">
            <a:avLst/>
          </a:prstGeom>
          <a:solidFill>
            <a:schemeClr val="accent1"/>
          </a:solidFill>
          <a:ln w="12700">
            <a:solidFill>
              <a:schemeClr val="accent1"/>
            </a:solidFill>
            <a:prstDash val="solid"/>
          </a:ln>
        </p:spPr>
      </p:sp>
      <p:sp>
        <p:nvSpPr>
          <p:cNvPr id="5" name="text-12"/>
          <p:cNvSpPr txBox="1"/>
          <p:nvPr/>
        </p:nvSpPr>
        <p:spPr>
          <a:xfrm>
            <a:off x="731520" y="2724912"/>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INSIDE THIS ISSUE</a:t>
            </a:r>
            <a:endParaRPr lang="en-US" sz="900" dirty="0"/>
          </a:p>
        </p:txBody>
      </p:sp>
      <p:sp>
        <p:nvSpPr>
          <p:cNvPr id="6" name="title-13"/>
          <p:cNvSpPr txBox="1"/>
          <p:nvPr/>
        </p:nvSpPr>
        <p:spPr>
          <a:xfrm>
            <a:off x="548640" y="2980944"/>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Contents</a:t>
            </a:r>
            <a:endParaRPr lang="en-US" sz="4400" dirty="0"/>
          </a:p>
        </p:txBody>
      </p:sp>
      <p:sp>
        <p:nvSpPr>
          <p:cNvPr id="7" name="text-15"/>
          <p:cNvSpPr txBox="1"/>
          <p:nvPr/>
        </p:nvSpPr>
        <p:spPr>
          <a:xfrm>
            <a:off x="548640" y="4005072"/>
            <a:ext cx="6464808" cy="228600"/>
          </a:xfrm>
          <a:prstGeom prst="rect">
            <a:avLst/>
          </a:prstGeom>
          <a:noFill/>
          <a:ln/>
        </p:spPr>
        <p:txBody>
          <a:bodyPr wrap="square" lIns="0" tIns="0" rIns="0" bIns="0" rtlCol="0" anchor="t"/>
          <a:lstStyle/>
          <a:p>
            <a:pPr indent="0" marL="0">
              <a:buNone/>
            </a:pPr>
            <a:r>
              <a:rPr lang="en-US" sz="850" i="1" dirty="0">
                <a:solidFill>
                  <a:schemeClr val="tx2"/>
                </a:solidFill>
              </a:rPr>
              <a:t>Shops and cafés on a downtown street at dusk. The streets are warmed from below, so they stay clear of ice without salt.</a:t>
            </a:r>
            <a:endParaRPr lang="en-US" sz="850" dirty="0"/>
          </a:p>
        </p:txBody>
      </p:sp>
      <p:sp>
        <p:nvSpPr>
          <p:cNvPr id="8" name="text-16"/>
          <p:cNvSpPr txBox="1"/>
          <p:nvPr/>
        </p:nvSpPr>
        <p:spPr>
          <a:xfrm>
            <a:off x="548640"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4</a:t>
            </a:r>
            <a:endParaRPr lang="en-US" sz="1700" dirty="0"/>
          </a:p>
        </p:txBody>
      </p:sp>
      <p:sp>
        <p:nvSpPr>
          <p:cNvPr id="9" name="text-17"/>
          <p:cNvSpPr txBox="1"/>
          <p:nvPr/>
        </p:nvSpPr>
        <p:spPr>
          <a:xfrm>
            <a:off x="1051560"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Letter from the Founders</a:t>
            </a:r>
            <a:endParaRPr lang="en-US" sz="1050" dirty="0"/>
          </a:p>
        </p:txBody>
      </p:sp>
      <p:sp>
        <p:nvSpPr>
          <p:cNvPr id="10" name="text-18"/>
          <p:cNvSpPr txBox="1"/>
          <p:nvPr/>
        </p:nvSpPr>
        <p:spPr>
          <a:xfrm>
            <a:off x="1051560"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we are, our team and why we built Aurora Haven</a:t>
            </a:r>
            <a:endParaRPr lang="en-US" sz="850" dirty="0"/>
          </a:p>
        </p:txBody>
      </p:sp>
      <p:sp>
        <p:nvSpPr>
          <p:cNvPr id="11" name="text-19"/>
          <p:cNvSpPr txBox="1"/>
          <p:nvPr/>
        </p:nvSpPr>
        <p:spPr>
          <a:xfrm>
            <a:off x="548640"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6</a:t>
            </a:r>
            <a:endParaRPr lang="en-US" sz="1700" dirty="0"/>
          </a:p>
        </p:txBody>
      </p:sp>
      <p:sp>
        <p:nvSpPr>
          <p:cNvPr id="12" name="text-20"/>
          <p:cNvSpPr txBox="1"/>
          <p:nvPr/>
        </p:nvSpPr>
        <p:spPr>
          <a:xfrm>
            <a:off x="1051560"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Welcome to Aurora Haven</a:t>
            </a:r>
            <a:endParaRPr lang="en-US" sz="1050" dirty="0"/>
          </a:p>
        </p:txBody>
      </p:sp>
      <p:sp>
        <p:nvSpPr>
          <p:cNvPr id="13" name="text-21"/>
          <p:cNvSpPr txBox="1"/>
          <p:nvPr/>
        </p:nvSpPr>
        <p:spPr>
          <a:xfrm>
            <a:off x="1051560"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A compact city of 45,000 under a snow peak</a:t>
            </a:r>
            <a:endParaRPr lang="en-US" sz="850" dirty="0"/>
          </a:p>
        </p:txBody>
      </p:sp>
      <p:sp>
        <p:nvSpPr>
          <p:cNvPr id="14" name="text-22"/>
          <p:cNvSpPr txBox="1"/>
          <p:nvPr/>
        </p:nvSpPr>
        <p:spPr>
          <a:xfrm>
            <a:off x="548640"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8</a:t>
            </a:r>
            <a:endParaRPr lang="en-US" sz="1700" dirty="0"/>
          </a:p>
        </p:txBody>
      </p:sp>
      <p:sp>
        <p:nvSpPr>
          <p:cNvPr id="15" name="text-23"/>
          <p:cNvSpPr txBox="1"/>
          <p:nvPr/>
        </p:nvSpPr>
        <p:spPr>
          <a:xfrm>
            <a:off x="1051560"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Polar Challenge</a:t>
            </a:r>
            <a:endParaRPr lang="en-US" sz="1050" dirty="0"/>
          </a:p>
        </p:txBody>
      </p:sp>
      <p:sp>
        <p:nvSpPr>
          <p:cNvPr id="16" name="text-24"/>
          <p:cNvSpPr txBox="1"/>
          <p:nvPr/>
        </p:nvSpPr>
        <p:spPr>
          <a:xfrm>
            <a:off x="1051560"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Cold, darkness, wind and thawing ground</a:t>
            </a:r>
            <a:endParaRPr lang="en-US" sz="850" dirty="0"/>
          </a:p>
        </p:txBody>
      </p:sp>
      <p:sp>
        <p:nvSpPr>
          <p:cNvPr id="17" name="text-25"/>
          <p:cNvSpPr txBox="1"/>
          <p:nvPr/>
        </p:nvSpPr>
        <p:spPr>
          <a:xfrm>
            <a:off x="548640"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9</a:t>
            </a:r>
            <a:endParaRPr lang="en-US" sz="1700" dirty="0"/>
          </a:p>
        </p:txBody>
      </p:sp>
      <p:sp>
        <p:nvSpPr>
          <p:cNvPr id="18" name="text-26"/>
          <p:cNvSpPr txBox="1"/>
          <p:nvPr/>
        </p:nvSpPr>
        <p:spPr>
          <a:xfrm>
            <a:off x="1051560"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Our Vision &amp; Mission</a:t>
            </a:r>
            <a:endParaRPr lang="en-US" sz="1050" dirty="0"/>
          </a:p>
        </p:txBody>
      </p:sp>
      <p:sp>
        <p:nvSpPr>
          <p:cNvPr id="19" name="text-27"/>
          <p:cNvSpPr txBox="1"/>
          <p:nvPr/>
        </p:nvSpPr>
        <p:spPr>
          <a:xfrm>
            <a:off x="1051560"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Who is affected, and the five ideas that answer it</a:t>
            </a:r>
            <a:endParaRPr lang="en-US" sz="850" dirty="0"/>
          </a:p>
        </p:txBody>
      </p:sp>
      <p:sp>
        <p:nvSpPr>
          <p:cNvPr id="20" name="text-28"/>
          <p:cNvSpPr txBox="1"/>
          <p:nvPr/>
        </p:nvSpPr>
        <p:spPr>
          <a:xfrm>
            <a:off x="548640"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10</a:t>
            </a:r>
            <a:endParaRPr lang="en-US" sz="1700" dirty="0"/>
          </a:p>
        </p:txBody>
      </p:sp>
      <p:sp>
        <p:nvSpPr>
          <p:cNvPr id="21" name="text-29"/>
          <p:cNvSpPr txBox="1"/>
          <p:nvPr/>
        </p:nvSpPr>
        <p:spPr>
          <a:xfrm>
            <a:off x="1051560"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Whole City Plan</a:t>
            </a:r>
            <a:endParaRPr lang="en-US" sz="1050" dirty="0"/>
          </a:p>
        </p:txBody>
      </p:sp>
      <p:sp>
        <p:nvSpPr>
          <p:cNvPr id="22" name="text-30"/>
          <p:cNvSpPr txBox="1"/>
          <p:nvPr/>
        </p:nvSpPr>
        <p:spPr>
          <a:xfrm>
            <a:off x="1051560"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From the wind farm to Mount Aurora</a:t>
            </a:r>
            <a:endParaRPr lang="en-US" sz="850" dirty="0"/>
          </a:p>
        </p:txBody>
      </p:sp>
      <p:sp>
        <p:nvSpPr>
          <p:cNvPr id="23" name="text-31"/>
          <p:cNvSpPr txBox="1"/>
          <p:nvPr/>
        </p:nvSpPr>
        <p:spPr>
          <a:xfrm>
            <a:off x="548640"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12</a:t>
            </a:r>
            <a:endParaRPr lang="en-US" sz="1700" dirty="0"/>
          </a:p>
        </p:txBody>
      </p:sp>
      <p:sp>
        <p:nvSpPr>
          <p:cNvPr id="24" name="text-32"/>
          <p:cNvSpPr txBox="1"/>
          <p:nvPr/>
        </p:nvSpPr>
        <p:spPr>
          <a:xfrm>
            <a:off x="1051560"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Nine Blocks, One Short Walk</a:t>
            </a:r>
            <a:endParaRPr lang="en-US" sz="1050" dirty="0"/>
          </a:p>
        </p:txBody>
      </p:sp>
      <p:sp>
        <p:nvSpPr>
          <p:cNvPr id="25" name="text-33"/>
          <p:cNvSpPr txBox="1"/>
          <p:nvPr/>
        </p:nvSpPr>
        <p:spPr>
          <a:xfrm>
            <a:off x="1051560"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Downtown around the Aurora Roundabout</a:t>
            </a:r>
            <a:endParaRPr lang="en-US" sz="850" dirty="0"/>
          </a:p>
        </p:txBody>
      </p:sp>
      <p:sp>
        <p:nvSpPr>
          <p:cNvPr id="26" name="text-34"/>
          <p:cNvSpPr txBox="1"/>
          <p:nvPr/>
        </p:nvSpPr>
        <p:spPr>
          <a:xfrm>
            <a:off x="548640"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15</a:t>
            </a:r>
            <a:endParaRPr lang="en-US" sz="1700" dirty="0"/>
          </a:p>
        </p:txBody>
      </p:sp>
      <p:sp>
        <p:nvSpPr>
          <p:cNvPr id="27" name="text-35"/>
          <p:cNvSpPr txBox="1"/>
          <p:nvPr/>
        </p:nvSpPr>
        <p:spPr>
          <a:xfrm>
            <a:off x="1051560"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Livable City Every Day</a:t>
            </a:r>
            <a:endParaRPr lang="en-US" sz="1050" dirty="0"/>
          </a:p>
        </p:txBody>
      </p:sp>
      <p:sp>
        <p:nvSpPr>
          <p:cNvPr id="28" name="text-36"/>
          <p:cNvSpPr txBox="1"/>
          <p:nvPr/>
        </p:nvSpPr>
        <p:spPr>
          <a:xfrm>
            <a:off x="1051560"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Homes, schools, health, shops and culture</a:t>
            </a:r>
            <a:endParaRPr lang="en-US" sz="850" dirty="0"/>
          </a:p>
        </p:txBody>
      </p:sp>
      <p:sp>
        <p:nvSpPr>
          <p:cNvPr id="29" name="text-37"/>
          <p:cNvSpPr txBox="1"/>
          <p:nvPr/>
        </p:nvSpPr>
        <p:spPr>
          <a:xfrm>
            <a:off x="548640"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16</a:t>
            </a:r>
            <a:endParaRPr lang="en-US" sz="1700" dirty="0"/>
          </a:p>
        </p:txBody>
      </p:sp>
      <p:sp>
        <p:nvSpPr>
          <p:cNvPr id="30" name="text-38"/>
          <p:cNvSpPr txBox="1"/>
          <p:nvPr/>
        </p:nvSpPr>
        <p:spPr>
          <a:xfrm>
            <a:off x="1051560"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The City's Own Sun</a:t>
            </a:r>
            <a:endParaRPr lang="en-US" sz="1050" dirty="0"/>
          </a:p>
        </p:txBody>
      </p:sp>
      <p:sp>
        <p:nvSpPr>
          <p:cNvPr id="31" name="text-39"/>
          <p:cNvSpPr txBox="1"/>
          <p:nvPr/>
        </p:nvSpPr>
        <p:spPr>
          <a:xfrm>
            <a:off x="1051560"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1 · Fusion Power Station</a:t>
            </a:r>
            <a:endParaRPr lang="en-US" sz="850" dirty="0"/>
          </a:p>
        </p:txBody>
      </p:sp>
      <p:sp>
        <p:nvSpPr>
          <p:cNvPr id="32" name="text-40"/>
          <p:cNvSpPr txBox="1"/>
          <p:nvPr/>
        </p:nvSpPr>
        <p:spPr>
          <a:xfrm>
            <a:off x="548640"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19</a:t>
            </a:r>
            <a:endParaRPr lang="en-US" sz="1700" dirty="0"/>
          </a:p>
        </p:txBody>
      </p:sp>
      <p:sp>
        <p:nvSpPr>
          <p:cNvPr id="33" name="text-41"/>
          <p:cNvSpPr txBox="1"/>
          <p:nvPr/>
        </p:nvSpPr>
        <p:spPr>
          <a:xfrm>
            <a:off x="1051560"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Bread and Water from Snow and Air</a:t>
            </a:r>
            <a:endParaRPr lang="en-US" sz="1050" dirty="0"/>
          </a:p>
        </p:txBody>
      </p:sp>
      <p:sp>
        <p:nvSpPr>
          <p:cNvPr id="34" name="text-42"/>
          <p:cNvSpPr txBox="1"/>
          <p:nvPr/>
        </p:nvSpPr>
        <p:spPr>
          <a:xfrm>
            <a:off x="1051560"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2 · Snow-to-Food &amp; Water Plant</a:t>
            </a:r>
            <a:endParaRPr lang="en-US" sz="850" dirty="0"/>
          </a:p>
        </p:txBody>
      </p:sp>
      <p:sp>
        <p:nvSpPr>
          <p:cNvPr id="35" name="text-43"/>
          <p:cNvSpPr txBox="1"/>
          <p:nvPr/>
        </p:nvSpPr>
        <p:spPr>
          <a:xfrm>
            <a:off x="548640"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21</a:t>
            </a:r>
            <a:endParaRPr lang="en-US" sz="1700" dirty="0"/>
          </a:p>
        </p:txBody>
      </p:sp>
      <p:sp>
        <p:nvSpPr>
          <p:cNvPr id="36" name="text-44"/>
          <p:cNvSpPr txBox="1"/>
          <p:nvPr/>
        </p:nvSpPr>
        <p:spPr>
          <a:xfrm>
            <a:off x="1051560"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 Warm Heart Inside the Ice</a:t>
            </a:r>
            <a:endParaRPr lang="en-US" sz="1050" dirty="0"/>
          </a:p>
        </p:txBody>
      </p:sp>
      <p:sp>
        <p:nvSpPr>
          <p:cNvPr id="37" name="text-45"/>
          <p:cNvSpPr txBox="1"/>
          <p:nvPr/>
        </p:nvSpPr>
        <p:spPr>
          <a:xfrm>
            <a:off x="1051560"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Breakthrough 3 · Mount Aurora spa resort</a:t>
            </a:r>
            <a:endParaRPr lang="en-US" sz="850" dirty="0"/>
          </a:p>
        </p:txBody>
      </p:sp>
      <p:sp>
        <p:nvSpPr>
          <p:cNvPr id="38" name="text-46"/>
          <p:cNvSpPr txBox="1"/>
          <p:nvPr/>
        </p:nvSpPr>
        <p:spPr>
          <a:xfrm>
            <a:off x="548640"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25</a:t>
            </a:r>
            <a:endParaRPr lang="en-US" sz="1700" dirty="0"/>
          </a:p>
        </p:txBody>
      </p:sp>
      <p:sp>
        <p:nvSpPr>
          <p:cNvPr id="39" name="text-47"/>
          <p:cNvSpPr txBox="1"/>
          <p:nvPr/>
        </p:nvSpPr>
        <p:spPr>
          <a:xfrm>
            <a:off x="1051560"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Breakthroughs, Checked</a:t>
            </a:r>
            <a:endParaRPr lang="en-US" sz="1050" dirty="0"/>
          </a:p>
        </p:txBody>
      </p:sp>
      <p:sp>
        <p:nvSpPr>
          <p:cNvPr id="40" name="text-48"/>
          <p:cNvSpPr txBox="1"/>
          <p:nvPr/>
        </p:nvSpPr>
        <p:spPr>
          <a:xfrm>
            <a:off x="1051560"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Problem, mechanism, novelty, feasibility, impact</a:t>
            </a:r>
            <a:endParaRPr lang="en-US" sz="850" dirty="0"/>
          </a:p>
        </p:txBody>
      </p:sp>
      <p:sp>
        <p:nvSpPr>
          <p:cNvPr id="41" name="text-49"/>
          <p:cNvSpPr txBox="1"/>
          <p:nvPr/>
        </p:nvSpPr>
        <p:spPr>
          <a:xfrm>
            <a:off x="548640" y="9418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26</a:t>
            </a:r>
            <a:endParaRPr lang="en-US" sz="1700" dirty="0"/>
          </a:p>
        </p:txBody>
      </p:sp>
      <p:sp>
        <p:nvSpPr>
          <p:cNvPr id="42" name="text-50"/>
          <p:cNvSpPr txBox="1"/>
          <p:nvPr/>
        </p:nvSpPr>
        <p:spPr>
          <a:xfrm>
            <a:off x="1051560" y="9436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Three Districts, One Loop</a:t>
            </a:r>
            <a:endParaRPr lang="en-US" sz="1050" dirty="0"/>
          </a:p>
        </p:txBody>
      </p:sp>
      <p:sp>
        <p:nvSpPr>
          <p:cNvPr id="43" name="text-51"/>
          <p:cNvSpPr txBox="1"/>
          <p:nvPr/>
        </p:nvSpPr>
        <p:spPr>
          <a:xfrm>
            <a:off x="1051560" y="9628632"/>
            <a:ext cx="2592324" cy="201168"/>
          </a:xfrm>
          <a:prstGeom prst="rect">
            <a:avLst/>
          </a:prstGeom>
          <a:noFill/>
          <a:ln/>
        </p:spPr>
        <p:txBody>
          <a:bodyPr wrap="square" lIns="0" tIns="0" rIns="0" bIns="0" rtlCol="0" anchor="t"/>
          <a:lstStyle/>
          <a:p>
            <a:pPr indent="0" marL="0">
              <a:buNone/>
            </a:pPr>
            <a:r>
              <a:rPr lang="en-US" sz="850" dirty="0">
                <a:solidFill>
                  <a:schemeClr val="tx2"/>
                </a:solidFill>
              </a:rPr>
              <a:t>How heat, water, oxygen and waste go round</a:t>
            </a:r>
            <a:endParaRPr lang="en-US" sz="850" dirty="0"/>
          </a:p>
        </p:txBody>
      </p:sp>
      <p:sp>
        <p:nvSpPr>
          <p:cNvPr id="44" name="text-52"/>
          <p:cNvSpPr txBox="1"/>
          <p:nvPr/>
        </p:nvSpPr>
        <p:spPr>
          <a:xfrm>
            <a:off x="3918204" y="4389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27</a:t>
            </a:r>
            <a:endParaRPr lang="en-US" sz="1700" dirty="0"/>
          </a:p>
        </p:txBody>
      </p:sp>
      <p:sp>
        <p:nvSpPr>
          <p:cNvPr id="45" name="text-53"/>
          <p:cNvSpPr txBox="1"/>
          <p:nvPr/>
        </p:nvSpPr>
        <p:spPr>
          <a:xfrm>
            <a:off x="4421124" y="4407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Energy for the Polar Night</a:t>
            </a:r>
            <a:endParaRPr lang="en-US" sz="1050" dirty="0"/>
          </a:p>
        </p:txBody>
      </p:sp>
      <p:sp>
        <p:nvSpPr>
          <p:cNvPr id="46" name="text-54"/>
          <p:cNvSpPr txBox="1"/>
          <p:nvPr/>
        </p:nvSpPr>
        <p:spPr>
          <a:xfrm>
            <a:off x="4421124" y="4599432"/>
            <a:ext cx="2592324" cy="201168"/>
          </a:xfrm>
          <a:prstGeom prst="rect">
            <a:avLst/>
          </a:prstGeom>
          <a:noFill/>
          <a:ln/>
        </p:spPr>
        <p:txBody>
          <a:bodyPr wrap="square" lIns="0" tIns="0" rIns="0" bIns="0" rtlCol="0" anchor="t"/>
          <a:lstStyle/>
          <a:p>
            <a:pPr indent="0" marL="0">
              <a:buNone/>
            </a:pPr>
            <a:r>
              <a:rPr lang="en-US" sz="850" dirty="0">
                <a:solidFill>
                  <a:schemeClr val="tx2"/>
                </a:solidFill>
              </a:rPr>
              <a:t>Fusion, wind, sun, geothermal and storage</a:t>
            </a:r>
            <a:endParaRPr lang="en-US" sz="850" dirty="0"/>
          </a:p>
        </p:txBody>
      </p:sp>
      <p:sp>
        <p:nvSpPr>
          <p:cNvPr id="47" name="text-55"/>
          <p:cNvSpPr txBox="1"/>
          <p:nvPr/>
        </p:nvSpPr>
        <p:spPr>
          <a:xfrm>
            <a:off x="3918204" y="4846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28</a:t>
            </a:r>
            <a:endParaRPr lang="en-US" sz="1700" dirty="0"/>
          </a:p>
        </p:txBody>
      </p:sp>
      <p:sp>
        <p:nvSpPr>
          <p:cNvPr id="48" name="text-56"/>
          <p:cNvSpPr txBox="1"/>
          <p:nvPr/>
        </p:nvSpPr>
        <p:spPr>
          <a:xfrm>
            <a:off x="4421124" y="4864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Nothing Is Wasted</a:t>
            </a:r>
            <a:endParaRPr lang="en-US" sz="1050" dirty="0"/>
          </a:p>
        </p:txBody>
      </p:sp>
      <p:sp>
        <p:nvSpPr>
          <p:cNvPr id="49" name="text-57"/>
          <p:cNvSpPr txBox="1"/>
          <p:nvPr/>
        </p:nvSpPr>
        <p:spPr>
          <a:xfrm>
            <a:off x="4421124" y="5056632"/>
            <a:ext cx="2592324" cy="201168"/>
          </a:xfrm>
          <a:prstGeom prst="rect">
            <a:avLst/>
          </a:prstGeom>
          <a:noFill/>
          <a:ln/>
        </p:spPr>
        <p:txBody>
          <a:bodyPr wrap="square" lIns="0" tIns="0" rIns="0" bIns="0" rtlCol="0" anchor="t"/>
          <a:lstStyle/>
          <a:p>
            <a:pPr indent="0" marL="0">
              <a:buNone/>
            </a:pPr>
            <a:r>
              <a:rPr lang="en-US" sz="850" dirty="0">
                <a:solidFill>
                  <a:schemeClr val="tx2"/>
                </a:solidFill>
              </a:rPr>
              <a:t>Water and waste in closed loops</a:t>
            </a:r>
            <a:endParaRPr lang="en-US" sz="850" dirty="0"/>
          </a:p>
        </p:txBody>
      </p:sp>
      <p:sp>
        <p:nvSpPr>
          <p:cNvPr id="50" name="text-58"/>
          <p:cNvSpPr txBox="1"/>
          <p:nvPr/>
        </p:nvSpPr>
        <p:spPr>
          <a:xfrm>
            <a:off x="3918204" y="5303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29</a:t>
            </a:r>
            <a:endParaRPr lang="en-US" sz="1700" dirty="0"/>
          </a:p>
        </p:txBody>
      </p:sp>
      <p:sp>
        <p:nvSpPr>
          <p:cNvPr id="51" name="text-59"/>
          <p:cNvSpPr txBox="1"/>
          <p:nvPr/>
        </p:nvSpPr>
        <p:spPr>
          <a:xfrm>
            <a:off x="4421124" y="5321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Wild Neighbours</a:t>
            </a:r>
            <a:endParaRPr lang="en-US" sz="1050" dirty="0"/>
          </a:p>
        </p:txBody>
      </p:sp>
      <p:sp>
        <p:nvSpPr>
          <p:cNvPr id="52" name="text-60"/>
          <p:cNvSpPr txBox="1"/>
          <p:nvPr/>
        </p:nvSpPr>
        <p:spPr>
          <a:xfrm>
            <a:off x="4421124" y="5513832"/>
            <a:ext cx="2592324" cy="201168"/>
          </a:xfrm>
          <a:prstGeom prst="rect">
            <a:avLst/>
          </a:prstGeom>
          <a:noFill/>
          <a:ln/>
        </p:spPr>
        <p:txBody>
          <a:bodyPr wrap="square" lIns="0" tIns="0" rIns="0" bIns="0" rtlCol="0" anchor="t"/>
          <a:lstStyle/>
          <a:p>
            <a:pPr indent="0" marL="0">
              <a:buNone/>
            </a:pPr>
            <a:r>
              <a:rPr lang="en-US" sz="850" dirty="0">
                <a:solidFill>
                  <a:schemeClr val="tx2"/>
                </a:solidFill>
              </a:rPr>
              <a:t>Our urban eco-system: plants and animals</a:t>
            </a:r>
            <a:endParaRPr lang="en-US" sz="850" dirty="0"/>
          </a:p>
        </p:txBody>
      </p:sp>
      <p:sp>
        <p:nvSpPr>
          <p:cNvPr id="53" name="text-61"/>
          <p:cNvSpPr txBox="1"/>
          <p:nvPr/>
        </p:nvSpPr>
        <p:spPr>
          <a:xfrm>
            <a:off x="3918204" y="5760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30</a:t>
            </a:r>
            <a:endParaRPr lang="en-US" sz="1700" dirty="0"/>
          </a:p>
        </p:txBody>
      </p:sp>
      <p:sp>
        <p:nvSpPr>
          <p:cNvPr id="54" name="text-62"/>
          <p:cNvSpPr txBox="1"/>
          <p:nvPr/>
        </p:nvSpPr>
        <p:spPr>
          <a:xfrm>
            <a:off x="4421124" y="5779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Getting Around Fossil-Free</a:t>
            </a:r>
            <a:endParaRPr lang="en-US" sz="1050" dirty="0"/>
          </a:p>
        </p:txBody>
      </p:sp>
      <p:sp>
        <p:nvSpPr>
          <p:cNvPr id="55" name="text-63"/>
          <p:cNvSpPr txBox="1"/>
          <p:nvPr/>
        </p:nvSpPr>
        <p:spPr>
          <a:xfrm>
            <a:off x="4421124" y="5971032"/>
            <a:ext cx="2592324" cy="201168"/>
          </a:xfrm>
          <a:prstGeom prst="rect">
            <a:avLst/>
          </a:prstGeom>
          <a:noFill/>
          <a:ln/>
        </p:spPr>
        <p:txBody>
          <a:bodyPr wrap="square" lIns="0" tIns="0" rIns="0" bIns="0" rtlCol="0" anchor="t"/>
          <a:lstStyle/>
          <a:p>
            <a:pPr indent="0" marL="0">
              <a:buNone/>
            </a:pPr>
            <a:r>
              <a:rPr lang="en-US" sz="850" dirty="0">
                <a:solidFill>
                  <a:schemeClr val="tx2"/>
                </a:solidFill>
              </a:rPr>
              <a:t>Routes, users, capacity, safety and energy</a:t>
            </a:r>
            <a:endParaRPr lang="en-US" sz="850" dirty="0"/>
          </a:p>
        </p:txBody>
      </p:sp>
      <p:sp>
        <p:nvSpPr>
          <p:cNvPr id="56" name="text-64"/>
          <p:cNvSpPr txBox="1"/>
          <p:nvPr/>
        </p:nvSpPr>
        <p:spPr>
          <a:xfrm>
            <a:off x="3918204" y="6217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31</a:t>
            </a:r>
            <a:endParaRPr lang="en-US" sz="1700" dirty="0"/>
          </a:p>
        </p:txBody>
      </p:sp>
      <p:sp>
        <p:nvSpPr>
          <p:cNvPr id="57" name="text-65"/>
          <p:cNvSpPr txBox="1"/>
          <p:nvPr/>
        </p:nvSpPr>
        <p:spPr>
          <a:xfrm>
            <a:off x="4421124" y="6236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Salad Under the Northern Lights</a:t>
            </a:r>
            <a:endParaRPr lang="en-US" sz="1050" dirty="0"/>
          </a:p>
        </p:txBody>
      </p:sp>
      <p:sp>
        <p:nvSpPr>
          <p:cNvPr id="58" name="text-66"/>
          <p:cNvSpPr txBox="1"/>
          <p:nvPr/>
        </p:nvSpPr>
        <p:spPr>
          <a:xfrm>
            <a:off x="4421124" y="6428232"/>
            <a:ext cx="2592324" cy="201168"/>
          </a:xfrm>
          <a:prstGeom prst="rect">
            <a:avLst/>
          </a:prstGeom>
          <a:noFill/>
          <a:ln/>
        </p:spPr>
        <p:txBody>
          <a:bodyPr wrap="square" lIns="0" tIns="0" rIns="0" bIns="0" rtlCol="0" anchor="t"/>
          <a:lstStyle/>
          <a:p>
            <a:pPr indent="0" marL="0">
              <a:buNone/>
            </a:pPr>
            <a:r>
              <a:rPr lang="en-US" sz="850" dirty="0">
                <a:solidFill>
                  <a:schemeClr val="tx2"/>
                </a:solidFill>
              </a:rPr>
              <a:t>Inside the Evergreen Greenhouse Dome</a:t>
            </a:r>
            <a:endParaRPr lang="en-US" sz="850" dirty="0"/>
          </a:p>
        </p:txBody>
      </p:sp>
      <p:sp>
        <p:nvSpPr>
          <p:cNvPr id="59" name="text-67"/>
          <p:cNvSpPr txBox="1"/>
          <p:nvPr/>
        </p:nvSpPr>
        <p:spPr>
          <a:xfrm>
            <a:off x="3918204" y="6675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32</a:t>
            </a:r>
            <a:endParaRPr lang="en-US" sz="1700" dirty="0"/>
          </a:p>
        </p:txBody>
      </p:sp>
      <p:sp>
        <p:nvSpPr>
          <p:cNvPr id="60" name="text-68"/>
          <p:cNvSpPr txBox="1"/>
          <p:nvPr/>
        </p:nvSpPr>
        <p:spPr>
          <a:xfrm>
            <a:off x="4421124" y="6693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Safe and Ready for Any Storm</a:t>
            </a:r>
            <a:endParaRPr lang="en-US" sz="1050" dirty="0"/>
          </a:p>
        </p:txBody>
      </p:sp>
      <p:sp>
        <p:nvSpPr>
          <p:cNvPr id="61" name="text-69"/>
          <p:cNvSpPr txBox="1"/>
          <p:nvPr/>
        </p:nvSpPr>
        <p:spPr>
          <a:xfrm>
            <a:off x="4421124" y="6885432"/>
            <a:ext cx="2592324" cy="201168"/>
          </a:xfrm>
          <a:prstGeom prst="rect">
            <a:avLst/>
          </a:prstGeom>
          <a:noFill/>
          <a:ln/>
        </p:spPr>
        <p:txBody>
          <a:bodyPr wrap="square" lIns="0" tIns="0" rIns="0" bIns="0" rtlCol="0" anchor="t"/>
          <a:lstStyle/>
          <a:p>
            <a:pPr indent="0" marL="0">
              <a:buNone/>
            </a:pPr>
            <a:r>
              <a:rPr lang="en-US" sz="850" dirty="0">
                <a:solidFill>
                  <a:schemeClr val="tx2"/>
                </a:solidFill>
              </a:rPr>
              <a:t>Rescue, shelters and blizzard forecasts</a:t>
            </a:r>
            <a:endParaRPr lang="en-US" sz="850" dirty="0"/>
          </a:p>
        </p:txBody>
      </p:sp>
      <p:sp>
        <p:nvSpPr>
          <p:cNvPr id="62" name="text-70"/>
          <p:cNvSpPr txBox="1"/>
          <p:nvPr/>
        </p:nvSpPr>
        <p:spPr>
          <a:xfrm>
            <a:off x="3918204" y="7132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33</a:t>
            </a:r>
            <a:endParaRPr lang="en-US" sz="1700" dirty="0"/>
          </a:p>
        </p:txBody>
      </p:sp>
      <p:sp>
        <p:nvSpPr>
          <p:cNvPr id="63" name="text-71"/>
          <p:cNvSpPr txBox="1"/>
          <p:nvPr/>
        </p:nvSpPr>
        <p:spPr>
          <a:xfrm>
            <a:off x="4421124" y="7150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Pros &amp; Cons</a:t>
            </a:r>
            <a:endParaRPr lang="en-US" sz="1050" dirty="0"/>
          </a:p>
        </p:txBody>
      </p:sp>
      <p:sp>
        <p:nvSpPr>
          <p:cNvPr id="64" name="text-72"/>
          <p:cNvSpPr txBox="1"/>
          <p:nvPr/>
        </p:nvSpPr>
        <p:spPr>
          <a:xfrm>
            <a:off x="4421124" y="7342632"/>
            <a:ext cx="2592324" cy="201168"/>
          </a:xfrm>
          <a:prstGeom prst="rect">
            <a:avLst/>
          </a:prstGeom>
          <a:noFill/>
          <a:ln/>
        </p:spPr>
        <p:txBody>
          <a:bodyPr wrap="square" lIns="0" tIns="0" rIns="0" bIns="0" rtlCol="0" anchor="t"/>
          <a:lstStyle/>
          <a:p>
            <a:pPr indent="0" marL="0">
              <a:buNone/>
            </a:pPr>
            <a:r>
              <a:rPr lang="en-US" sz="850" dirty="0">
                <a:solidFill>
                  <a:schemeClr val="tx2"/>
                </a:solidFill>
              </a:rPr>
              <a:t>Advantages, risks, costs and trade-offs</a:t>
            </a:r>
            <a:endParaRPr lang="en-US" sz="850" dirty="0"/>
          </a:p>
        </p:txBody>
      </p:sp>
      <p:sp>
        <p:nvSpPr>
          <p:cNvPr id="65" name="text-73"/>
          <p:cNvSpPr txBox="1"/>
          <p:nvPr/>
        </p:nvSpPr>
        <p:spPr>
          <a:xfrm>
            <a:off x="3918204" y="75895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34</a:t>
            </a:r>
            <a:endParaRPr lang="en-US" sz="1700" dirty="0"/>
          </a:p>
        </p:txBody>
      </p:sp>
      <p:sp>
        <p:nvSpPr>
          <p:cNvPr id="66" name="text-74"/>
          <p:cNvSpPr txBox="1"/>
          <p:nvPr/>
        </p:nvSpPr>
        <p:spPr>
          <a:xfrm>
            <a:off x="4421124" y="76078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Invest in Aurora Haven</a:t>
            </a:r>
            <a:endParaRPr lang="en-US" sz="1050" dirty="0"/>
          </a:p>
        </p:txBody>
      </p:sp>
      <p:sp>
        <p:nvSpPr>
          <p:cNvPr id="67" name="text-75"/>
          <p:cNvSpPr txBox="1"/>
          <p:nvPr/>
        </p:nvSpPr>
        <p:spPr>
          <a:xfrm>
            <a:off x="4421124" y="7799832"/>
            <a:ext cx="2592324" cy="201168"/>
          </a:xfrm>
          <a:prstGeom prst="rect">
            <a:avLst/>
          </a:prstGeom>
          <a:noFill/>
          <a:ln/>
        </p:spPr>
        <p:txBody>
          <a:bodyPr wrap="square" lIns="0" tIns="0" rIns="0" bIns="0" rtlCol="0" anchor="t"/>
          <a:lstStyle/>
          <a:p>
            <a:pPr indent="0" marL="0">
              <a:buNone/>
            </a:pPr>
            <a:r>
              <a:rPr lang="en-US" sz="850" dirty="0">
                <a:solidFill>
                  <a:schemeClr val="tx2"/>
                </a:solidFill>
              </a:rPr>
              <a:t>Three ways to fund the city, stage by stage</a:t>
            </a:r>
            <a:endParaRPr lang="en-US" sz="850" dirty="0"/>
          </a:p>
        </p:txBody>
      </p:sp>
      <p:sp>
        <p:nvSpPr>
          <p:cNvPr id="68" name="text-76"/>
          <p:cNvSpPr txBox="1"/>
          <p:nvPr/>
        </p:nvSpPr>
        <p:spPr>
          <a:xfrm>
            <a:off x="3918204" y="80467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35</a:t>
            </a:r>
            <a:endParaRPr lang="en-US" sz="1700" dirty="0"/>
          </a:p>
        </p:txBody>
      </p:sp>
      <p:sp>
        <p:nvSpPr>
          <p:cNvPr id="69" name="text-77"/>
          <p:cNvSpPr txBox="1"/>
          <p:nvPr/>
        </p:nvSpPr>
        <p:spPr>
          <a:xfrm>
            <a:off x="4421124" y="80650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Take the Tour</a:t>
            </a:r>
            <a:endParaRPr lang="en-US" sz="1050" dirty="0"/>
          </a:p>
        </p:txBody>
      </p:sp>
      <p:sp>
        <p:nvSpPr>
          <p:cNvPr id="70" name="text-78"/>
          <p:cNvSpPr txBox="1"/>
          <p:nvPr/>
        </p:nvSpPr>
        <p:spPr>
          <a:xfrm>
            <a:off x="4421124" y="8257032"/>
            <a:ext cx="2592324" cy="201168"/>
          </a:xfrm>
          <a:prstGeom prst="rect">
            <a:avLst/>
          </a:prstGeom>
          <a:noFill/>
          <a:ln/>
        </p:spPr>
        <p:txBody>
          <a:bodyPr wrap="square" lIns="0" tIns="0" rIns="0" bIns="0" rtlCol="0" anchor="t"/>
          <a:lstStyle/>
          <a:p>
            <a:pPr indent="0" marL="0">
              <a:buNone/>
            </a:pPr>
            <a:r>
              <a:rPr lang="en-US" sz="850" dirty="0">
                <a:solidFill>
                  <a:schemeClr val="tx2"/>
                </a:solidFill>
              </a:rPr>
              <a:t>Eight stops around the city</a:t>
            </a:r>
            <a:endParaRPr lang="en-US" sz="850" dirty="0"/>
          </a:p>
        </p:txBody>
      </p:sp>
      <p:sp>
        <p:nvSpPr>
          <p:cNvPr id="71" name="text-79"/>
          <p:cNvSpPr txBox="1"/>
          <p:nvPr/>
        </p:nvSpPr>
        <p:spPr>
          <a:xfrm>
            <a:off x="3918204" y="85039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36</a:t>
            </a:r>
            <a:endParaRPr lang="en-US" sz="1700" dirty="0"/>
          </a:p>
        </p:txBody>
      </p:sp>
      <p:sp>
        <p:nvSpPr>
          <p:cNvPr id="72" name="text-80"/>
          <p:cNvSpPr txBox="1"/>
          <p:nvPr/>
        </p:nvSpPr>
        <p:spPr>
          <a:xfrm>
            <a:off x="4421124" y="85222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Places to Visit</a:t>
            </a:r>
            <a:endParaRPr lang="en-US" sz="1050" dirty="0"/>
          </a:p>
        </p:txBody>
      </p:sp>
      <p:sp>
        <p:nvSpPr>
          <p:cNvPr id="73" name="text-81"/>
          <p:cNvSpPr txBox="1"/>
          <p:nvPr/>
        </p:nvSpPr>
        <p:spPr>
          <a:xfrm>
            <a:off x="4421124" y="8714232"/>
            <a:ext cx="2592324" cy="201168"/>
          </a:xfrm>
          <a:prstGeom prst="rect">
            <a:avLst/>
          </a:prstGeom>
          <a:noFill/>
          <a:ln/>
        </p:spPr>
        <p:txBody>
          <a:bodyPr wrap="square" lIns="0" tIns="0" rIns="0" bIns="0" rtlCol="0" anchor="t"/>
          <a:lstStyle/>
          <a:p>
            <a:pPr indent="0" marL="0">
              <a:buNone/>
            </a:pPr>
            <a:r>
              <a:rPr lang="en-US" sz="850" dirty="0">
                <a:solidFill>
                  <a:schemeClr val="tx2"/>
                </a:solidFill>
              </a:rPr>
              <a:t>35 key places and what they do</a:t>
            </a:r>
            <a:endParaRPr lang="en-US" sz="850" dirty="0"/>
          </a:p>
        </p:txBody>
      </p:sp>
      <p:sp>
        <p:nvSpPr>
          <p:cNvPr id="74" name="text-82"/>
          <p:cNvSpPr txBox="1"/>
          <p:nvPr/>
        </p:nvSpPr>
        <p:spPr>
          <a:xfrm>
            <a:off x="3918204" y="89611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37</a:t>
            </a:r>
            <a:endParaRPr lang="en-US" sz="1700" dirty="0"/>
          </a:p>
        </p:txBody>
      </p:sp>
      <p:sp>
        <p:nvSpPr>
          <p:cNvPr id="75" name="text-83"/>
          <p:cNvSpPr txBox="1"/>
          <p:nvPr/>
        </p:nvSpPr>
        <p:spPr>
          <a:xfrm>
            <a:off x="4421124" y="89794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Aurora Haven by the Numbers</a:t>
            </a:r>
            <a:endParaRPr lang="en-US" sz="1050" dirty="0"/>
          </a:p>
        </p:txBody>
      </p:sp>
      <p:sp>
        <p:nvSpPr>
          <p:cNvPr id="76" name="text-84"/>
          <p:cNvSpPr txBox="1"/>
          <p:nvPr/>
        </p:nvSpPr>
        <p:spPr>
          <a:xfrm>
            <a:off x="4421124" y="9171432"/>
            <a:ext cx="2592324" cy="201168"/>
          </a:xfrm>
          <a:prstGeom prst="rect">
            <a:avLst/>
          </a:prstGeom>
          <a:noFill/>
          <a:ln/>
        </p:spPr>
        <p:txBody>
          <a:bodyPr wrap="square" lIns="0" tIns="0" rIns="0" bIns="0" rtlCol="0" anchor="t"/>
          <a:lstStyle/>
          <a:p>
            <a:pPr indent="0" marL="0">
              <a:buNone/>
            </a:pPr>
            <a:r>
              <a:rPr lang="en-US" sz="850" dirty="0">
                <a:solidFill>
                  <a:schemeClr val="tx2"/>
                </a:solidFill>
              </a:rPr>
              <a:t>The key figures in one place</a:t>
            </a:r>
            <a:endParaRPr lang="en-US" sz="850" dirty="0"/>
          </a:p>
        </p:txBody>
      </p:sp>
      <p:sp>
        <p:nvSpPr>
          <p:cNvPr id="77" name="text-85"/>
          <p:cNvSpPr txBox="1"/>
          <p:nvPr/>
        </p:nvSpPr>
        <p:spPr>
          <a:xfrm>
            <a:off x="3918204" y="9418320"/>
            <a:ext cx="457200" cy="365760"/>
          </a:xfrm>
          <a:prstGeom prst="rect">
            <a:avLst/>
          </a:prstGeom>
          <a:noFill/>
          <a:ln/>
        </p:spPr>
        <p:txBody>
          <a:bodyPr wrap="square" lIns="0" tIns="0" rIns="0" bIns="0" rtlCol="0" anchor="t"/>
          <a:lstStyle/>
          <a:p>
            <a:pPr indent="0" marL="0">
              <a:buNone/>
            </a:pPr>
            <a:r>
              <a:rPr lang="en-US" sz="1700" b="1" dirty="0">
                <a:solidFill>
                  <a:schemeClr val="accent6"/>
                </a:solidFill>
                <a:latin typeface="+mj-lt" pitchFamily="34" charset="0"/>
                <a:ea typeface="+mj-lt" pitchFamily="34" charset="-122"/>
                <a:cs typeface="+mj-lt" pitchFamily="34" charset="-120"/>
              </a:rPr>
              <a:t>38</a:t>
            </a:r>
            <a:endParaRPr lang="en-US" sz="1700" dirty="0"/>
          </a:p>
        </p:txBody>
      </p:sp>
      <p:sp>
        <p:nvSpPr>
          <p:cNvPr id="78" name="text-86"/>
          <p:cNvSpPr txBox="1"/>
          <p:nvPr/>
        </p:nvSpPr>
        <p:spPr>
          <a:xfrm>
            <a:off x="4421124" y="9436608"/>
            <a:ext cx="2592324" cy="201168"/>
          </a:xfrm>
          <a:prstGeom prst="rect">
            <a:avLst/>
          </a:prstGeom>
          <a:noFill/>
          <a:ln/>
        </p:spPr>
        <p:txBody>
          <a:bodyPr wrap="square" lIns="0" tIns="0" rIns="0" bIns="0" rtlCol="0" anchor="t"/>
          <a:lstStyle/>
          <a:p>
            <a:pPr indent="0" marL="0">
              <a:buNone/>
            </a:pPr>
            <a:r>
              <a:rPr lang="en-US" sz="1050" b="1" dirty="0">
                <a:solidFill>
                  <a:schemeClr val="tx1"/>
                </a:solidFill>
              </a:rPr>
              <a:t>Sources &amp; Assumptions</a:t>
            </a:r>
            <a:endParaRPr lang="en-US" sz="1050" dirty="0"/>
          </a:p>
        </p:txBody>
      </p:sp>
      <p:sp>
        <p:nvSpPr>
          <p:cNvPr id="79" name="text-87"/>
          <p:cNvSpPr txBox="1"/>
          <p:nvPr/>
        </p:nvSpPr>
        <p:spPr>
          <a:xfrm>
            <a:off x="4421124" y="9628632"/>
            <a:ext cx="2592324" cy="201168"/>
          </a:xfrm>
          <a:prstGeom prst="rect">
            <a:avLst/>
          </a:prstGeom>
          <a:noFill/>
          <a:ln/>
        </p:spPr>
        <p:txBody>
          <a:bodyPr wrap="square" lIns="0" tIns="0" rIns="0" bIns="0" rtlCol="0" anchor="t"/>
          <a:lstStyle/>
          <a:p>
            <a:pPr indent="0" marL="0">
              <a:buNone/>
            </a:pPr>
            <a:r>
              <a:rPr lang="en-US" sz="850" dirty="0">
                <a:solidFill>
                  <a:schemeClr val="tx2"/>
                </a:solidFill>
              </a:rPr>
              <a:t>Where our facts come from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dot-8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LETTER FROM THE FOUNDERS</a:t>
            </a:r>
            <a:endParaRPr lang="en-US" sz="900" dirty="0"/>
          </a:p>
        </p:txBody>
      </p:sp>
      <p:sp>
        <p:nvSpPr>
          <p:cNvPr id="4" name="quote-rule-90"/>
          <p:cNvSpPr/>
          <p:nvPr/>
        </p:nvSpPr>
        <p:spPr>
          <a:xfrm>
            <a:off x="548640" y="868680"/>
            <a:ext cx="548640" cy="45720"/>
          </a:xfrm>
          <a:prstGeom prst="rect">
            <a:avLst/>
          </a:prstGeom>
          <a:solidFill>
            <a:schemeClr val="tx1"/>
          </a:solidFill>
          <a:ln w="12700">
            <a:solidFill>
              <a:schemeClr val="tx1"/>
            </a:solidFill>
            <a:prstDash val="solid"/>
          </a:ln>
        </p:spPr>
      </p:sp>
      <p:sp>
        <p:nvSpPr>
          <p:cNvPr id="5" name="text-91"/>
          <p:cNvSpPr txBox="1"/>
          <p:nvPr/>
        </p:nvSpPr>
        <p:spPr>
          <a:xfrm>
            <a:off x="548640" y="1033272"/>
            <a:ext cx="6464808" cy="1097280"/>
          </a:xfrm>
          <a:prstGeom prst="rect">
            <a:avLst/>
          </a:prstGeom>
          <a:noFill/>
          <a:ln/>
        </p:spPr>
        <p:txBody>
          <a:bodyPr wrap="square" lIns="0" tIns="0" rIns="0" bIns="0" rtlCol="0" anchor="t"/>
          <a:lstStyle/>
          <a:p>
            <a:pPr indent="0" marL="0">
              <a:lnSpc>
                <a:spcPct val="102000"/>
              </a:lnSpc>
              <a:buNone/>
            </a:pPr>
            <a:r>
              <a:rPr lang="en-US" sz="2300" b="1" i="1" dirty="0">
                <a:solidFill>
                  <a:schemeClr val="tx1"/>
                </a:solidFill>
                <a:latin typeface="+mj-lt" pitchFamily="34" charset="0"/>
                <a:ea typeface="+mj-lt" pitchFamily="34" charset="-122"/>
                <a:cs typeface="+mj-lt" pitchFamily="34" charset="-120"/>
              </a:rPr>
              <a:t>“Our goal was not only to survive the cold but to build a city where people really want to live.”</a:t>
            </a:r>
            <a:endParaRPr lang="en-US" sz="2300" dirty="0"/>
          </a:p>
        </p:txBody>
      </p:sp>
      <p:pic>
        <p:nvPicPr>
          <p:cNvPr id="6" name="picture-92" descr="/home/user/chatbox-bi-n-o/magazine/assets/renders/lagoon.jpg">    </p:cNvPr>
          <p:cNvPicPr>
            <a:picLocks noChangeAspect="1"/>
          </p:cNvPicPr>
          <p:nvPr/>
        </p:nvPicPr>
        <p:blipFill>
          <a:blip r:embed="rId1"/>
          <a:srcRect l="0" r="0" t="0" b="0"/>
          <a:stretch/>
        </p:blipFill>
        <p:spPr>
          <a:xfrm>
            <a:off x="0" y="2240280"/>
            <a:ext cx="7562088" cy="3200400"/>
          </a:xfrm>
          <a:prstGeom prst="rect">
            <a:avLst/>
          </a:prstGeom>
        </p:spPr>
      </p:pic>
      <p:sp>
        <p:nvSpPr>
          <p:cNvPr id="7" name="text-93"/>
          <p:cNvSpPr txBox="1"/>
          <p:nvPr/>
        </p:nvSpPr>
        <p:spPr>
          <a:xfrm>
            <a:off x="548640" y="5504688"/>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Aurora Lagoon, a 38 °C open-air mineral pool at the foot of Mount Aurora, under the northern lights.</a:t>
            </a:r>
            <a:endParaRPr lang="en-US" sz="850" dirty="0"/>
          </a:p>
        </p:txBody>
      </p:sp>
      <p:sp>
        <p:nvSpPr>
          <p:cNvPr id="8" name="text-94"/>
          <p:cNvSpPr txBox="1"/>
          <p:nvPr/>
        </p:nvSpPr>
        <p:spPr>
          <a:xfrm>
            <a:off x="548640" y="5897880"/>
            <a:ext cx="3095244" cy="2194560"/>
          </a:xfrm>
          <a:prstGeom prst="rect">
            <a:avLst/>
          </a:prstGeom>
          <a:noFill/>
          <a:ln/>
        </p:spPr>
        <p:txBody>
          <a:bodyPr wrap="square" lIns="0" tIns="0" rIns="0" bIns="0" rtlCol="0" anchor="t"/>
          <a:lstStyle/>
          <a:p>
            <a:pPr indent="0" marL="0">
              <a:lnSpc>
                <a:spcPct val="112000"/>
              </a:lnSpc>
              <a:buNone/>
            </a:pPr>
            <a:r>
              <a:rPr lang="en-US" sz="1100" b="1" spc="100" kern="0" dirty="0">
                <a:solidFill>
                  <a:schemeClr val="tx1"/>
                </a:solidFill>
              </a:rPr>
              <a:t>WELCOME TO THIS SPECIAL FEATURE </a:t>
            </a:r>
            <a:pPr indent="0" marL="0">
              <a:lnSpc>
                <a:spcPct val="112000"/>
              </a:lnSpc>
              <a:spcAft>
                <a:spcPts val="700"/>
              </a:spcAft>
              <a:buNone/>
            </a:pPr>
            <a:r>
              <a:rPr lang="en-US" sz="1100" dirty="0">
                <a:solidFill>
                  <a:schemeClr val="tx1"/>
                </a:solidFill>
              </a:rPr>
              <a:t>on a polar city named Aurora Haven – a bold architectural marvel where human ingenuity meets the call of the wild. In an era shaped by global climate shifts, this project is more than just an urban concept; it represents a strategic vision for survival and sustainable development in the earth’s most extreme polar environments.</a:t>
            </a:r>
            <a:endParaRPr lang="en-US" sz="1100" dirty="0"/>
          </a:p>
        </p:txBody>
      </p:sp>
      <p:sp>
        <p:nvSpPr>
          <p:cNvPr id="9" name="text-95"/>
          <p:cNvSpPr txBox="1"/>
          <p:nvPr/>
        </p:nvSpPr>
        <p:spPr>
          <a:xfrm>
            <a:off x="3918204" y="5897880"/>
            <a:ext cx="3095244" cy="1554480"/>
          </a:xfrm>
          <a:prstGeom prst="rect">
            <a:avLst/>
          </a:prstGeom>
          <a:noFill/>
          <a:ln/>
        </p:spPr>
        <p:txBody>
          <a:bodyPr wrap="square" lIns="0" tIns="0" rIns="0" bIns="0" rtlCol="0" anchor="t"/>
          <a:lstStyle/>
          <a:p>
            <a:pPr indent="0" marL="0">
              <a:lnSpc>
                <a:spcPct val="112000"/>
              </a:lnSpc>
              <a:spcAft>
                <a:spcPts val="700"/>
              </a:spcAft>
              <a:buNone/>
            </a:pPr>
            <a:r>
              <a:rPr lang="en-US" sz="1100" dirty="0">
                <a:solidFill>
                  <a:schemeClr val="tx1"/>
                </a:solidFill>
              </a:rPr>
              <a:t>From its sleek structural design to intelligent renewable energy integration, Aurora Haven redefines how humanity can adapt and thrive under pressure. We invite you to turn the page and step into a world where extreme natural challenges are transformed into a vibrant, resilient, and forward-thinking community.</a:t>
            </a:r>
            <a:endParaRPr lang="en-US" sz="1100" dirty="0"/>
          </a:p>
        </p:txBody>
      </p:sp>
      <p:sp>
        <p:nvSpPr>
          <p:cNvPr id="10" name="text-96"/>
          <p:cNvSpPr txBox="1"/>
          <p:nvPr/>
        </p:nvSpPr>
        <p:spPr>
          <a:xfrm>
            <a:off x="3918204" y="7589520"/>
            <a:ext cx="3095244" cy="228600"/>
          </a:xfrm>
          <a:prstGeom prst="rect">
            <a:avLst/>
          </a:prstGeom>
          <a:noFill/>
          <a:ln/>
        </p:spPr>
        <p:txBody>
          <a:bodyPr wrap="square" lIns="0" tIns="0" rIns="0" bIns="0" rtlCol="0" anchor="t"/>
          <a:lstStyle/>
          <a:p>
            <a:pPr indent="0" marL="0">
              <a:buNone/>
            </a:pPr>
            <a:r>
              <a:rPr lang="en-US" sz="1200" b="1" i="1" dirty="0">
                <a:solidFill>
                  <a:schemeClr val="tx1"/>
                </a:solidFill>
                <a:latin typeface="+mj-lt" pitchFamily="34" charset="0"/>
                <a:ea typeface="+mj-lt" pitchFamily="34" charset="-122"/>
                <a:cs typeface="+mj-lt" pitchFamily="34" charset="-120"/>
              </a:rPr>
              <a:t>[Group name]</a:t>
            </a:r>
            <a:endParaRPr lang="en-US" sz="1200" dirty="0"/>
          </a:p>
        </p:txBody>
      </p:sp>
      <p:sp>
        <p:nvSpPr>
          <p:cNvPr id="11" name="text-97"/>
          <p:cNvSpPr txBox="1"/>
          <p:nvPr/>
        </p:nvSpPr>
        <p:spPr>
          <a:xfrm>
            <a:off x="3918204" y="7836408"/>
            <a:ext cx="3095244" cy="201168"/>
          </a:xfrm>
          <a:prstGeom prst="rect">
            <a:avLst/>
          </a:prstGeom>
          <a:noFill/>
          <a:ln/>
        </p:spPr>
        <p:txBody>
          <a:bodyPr wrap="square" lIns="0" tIns="0" rIns="0" bIns="0" rtlCol="0" anchor="t"/>
          <a:lstStyle/>
          <a:p>
            <a:pPr indent="0" marL="0">
              <a:buNone/>
            </a:pPr>
            <a:r>
              <a:rPr lang="en-US" sz="900" dirty="0">
                <a:solidFill>
                  <a:schemeClr val="tx2"/>
                </a:solidFill>
              </a:rPr>
              <a:t>[Class] · [School] · [Date]</a:t>
            </a:r>
            <a:endParaRPr lang="en-US" sz="900" dirty="0"/>
          </a:p>
        </p:txBody>
      </p:sp>
      <p:sp>
        <p:nvSpPr>
          <p:cNvPr id="12" name="card-98"/>
          <p:cNvSpPr/>
          <p:nvPr/>
        </p:nvSpPr>
        <p:spPr>
          <a:xfrm>
            <a:off x="548640" y="8595360"/>
            <a:ext cx="6464808" cy="1325880"/>
          </a:xfrm>
          <a:prstGeom prst="roundRect">
            <a:avLst>
              <a:gd name="adj" fmla="val 5517"/>
            </a:avLst>
          </a:prstGeom>
          <a:solidFill>
            <a:schemeClr val="bg2"/>
          </a:solidFill>
          <a:ln w="12700">
            <a:solidFill>
              <a:schemeClr val="bg2"/>
            </a:solidFill>
            <a:prstDash val="solid"/>
          </a:ln>
        </p:spPr>
      </p:sp>
      <p:pic>
        <p:nvPicPr>
          <p:cNvPr id="13" name="picture-99" descr="/home/user/chatbox-bi-n-o/magazine/assets/renders/cover.jpg">    </p:cNvPr>
          <p:cNvPicPr>
            <a:picLocks noChangeAspect="1"/>
          </p:cNvPicPr>
          <p:nvPr/>
        </p:nvPicPr>
        <p:blipFill>
          <a:blip r:embed="rId2"/>
          <a:srcRect l="0" r="0" t="0" b="0"/>
          <a:stretch/>
        </p:blipFill>
        <p:spPr>
          <a:xfrm>
            <a:off x="685800" y="8732520"/>
            <a:ext cx="731520" cy="1051560"/>
          </a:xfrm>
          <a:prstGeom prst="rect">
            <a:avLst/>
          </a:prstGeom>
        </p:spPr>
      </p:pic>
      <p:sp>
        <p:nvSpPr>
          <p:cNvPr id="14" name="kicker-dot-100"/>
          <p:cNvSpPr/>
          <p:nvPr/>
        </p:nvSpPr>
        <p:spPr>
          <a:xfrm>
            <a:off x="1600200" y="8791956"/>
            <a:ext cx="100584" cy="100584"/>
          </a:xfrm>
          <a:prstGeom prst="ellipse">
            <a:avLst/>
          </a:prstGeom>
          <a:solidFill>
            <a:schemeClr val="accent6"/>
          </a:solidFill>
          <a:ln w="12700">
            <a:solidFill>
              <a:schemeClr val="accent6"/>
            </a:solidFill>
            <a:prstDash val="solid"/>
          </a:ln>
        </p:spPr>
      </p:sp>
      <p:sp>
        <p:nvSpPr>
          <p:cNvPr id="15" name="text-101"/>
          <p:cNvSpPr txBox="1"/>
          <p:nvPr/>
        </p:nvSpPr>
        <p:spPr>
          <a:xfrm>
            <a:off x="1783080" y="8750808"/>
            <a:ext cx="523036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ON THE COVER</a:t>
            </a:r>
            <a:endParaRPr lang="en-US" sz="900" dirty="0"/>
          </a:p>
        </p:txBody>
      </p:sp>
      <p:sp>
        <p:nvSpPr>
          <p:cNvPr id="16" name="text-102"/>
          <p:cNvSpPr txBox="1"/>
          <p:nvPr/>
        </p:nvSpPr>
        <p:spPr>
          <a:xfrm>
            <a:off x="1600200" y="8988552"/>
            <a:ext cx="5276088" cy="8229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named in honour of Landmark 81 in Ho Chi Minh City, beside the street that leads to the glowing terraces of the Mount Aurora spa, under the northern lights. Its nine bundled glass tubes step back like bamboo stalks and cut blizzard wind load by about 25%.</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dot-103"/>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4"/>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TEAM BEHIND AURORA HAVEN</a:t>
            </a:r>
            <a:endParaRPr lang="en-US" sz="900" dirty="0"/>
          </a:p>
        </p:txBody>
      </p:sp>
      <p:sp>
        <p:nvSpPr>
          <p:cNvPr id="4" name="title-105"/>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Meet the Founders</a:t>
            </a:r>
            <a:endParaRPr lang="en-US" sz="3400" dirty="0"/>
          </a:p>
        </p:txBody>
      </p:sp>
      <p:sp>
        <p:nvSpPr>
          <p:cNvPr id="5" name="text-107"/>
          <p:cNvSpPr txBox="1"/>
          <p:nvPr/>
        </p:nvSpPr>
        <p:spPr>
          <a:xfrm>
            <a:off x="548640" y="1463040"/>
            <a:ext cx="6464808" cy="45720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The people who planned, built and wrote Aurora Haven, and what each of us did.</a:t>
            </a:r>
            <a:endParaRPr lang="en-US" sz="1300" dirty="0"/>
          </a:p>
        </p:txBody>
      </p:sp>
      <p:sp>
        <p:nvSpPr>
          <p:cNvPr id="6" name="card-108"/>
          <p:cNvSpPr/>
          <p:nvPr/>
        </p:nvSpPr>
        <p:spPr>
          <a:xfrm>
            <a:off x="548640" y="2103120"/>
            <a:ext cx="3140964" cy="2514600"/>
          </a:xfrm>
          <a:prstGeom prst="roundRect">
            <a:avLst>
              <a:gd name="adj" fmla="val 2909"/>
            </a:avLst>
          </a:prstGeom>
          <a:solidFill>
            <a:schemeClr val="bg2"/>
          </a:solidFill>
          <a:ln w="12700">
            <a:solidFill>
              <a:schemeClr val="bg2"/>
            </a:solidFill>
            <a:prstDash val="solid"/>
          </a:ln>
        </p:spPr>
      </p:sp>
      <p:sp>
        <p:nvSpPr>
          <p:cNvPr id="7" name="photo-space-109"/>
          <p:cNvSpPr/>
          <p:nvPr/>
        </p:nvSpPr>
        <p:spPr>
          <a:xfrm>
            <a:off x="685800" y="2240280"/>
            <a:ext cx="2866644" cy="1600200"/>
          </a:xfrm>
          <a:prstGeom prst="roundRect">
            <a:avLst>
              <a:gd name="adj" fmla="val 3429"/>
            </a:avLst>
          </a:prstGeom>
          <a:solidFill>
            <a:schemeClr val="bg1"/>
          </a:solidFill>
          <a:ln w="12700">
            <a:solidFill>
              <a:schemeClr val="tx2"/>
            </a:solidFill>
            <a:prstDash val="dash"/>
          </a:ln>
        </p:spPr>
      </p:sp>
      <p:sp>
        <p:nvSpPr>
          <p:cNvPr id="8" name="text-110"/>
          <p:cNvSpPr txBox="1"/>
          <p:nvPr/>
        </p:nvSpPr>
        <p:spPr>
          <a:xfrm>
            <a:off x="685800" y="2240280"/>
            <a:ext cx="2866644" cy="1600200"/>
          </a:xfrm>
          <a:prstGeom prst="rect">
            <a:avLst/>
          </a:prstGeom>
          <a:noFill/>
          <a:ln/>
        </p:spPr>
        <p:txBody>
          <a:bodyPr wrap="square" lIns="0" tIns="0" rIns="0" bIns="0" rtlCol="0" anchor="ctr"/>
          <a:lstStyle/>
          <a:p>
            <a:pPr algn="ctr" indent="0" marL="0">
              <a:buNone/>
            </a:pPr>
            <a:r>
              <a:rPr lang="en-US" sz="1000" dirty="0">
                <a:solidFill>
                  <a:schemeClr val="tx2"/>
                </a:solidFill>
              </a:rPr>
              <a:t>[Photo]</a:t>
            </a:r>
            <a:endParaRPr lang="en-US" sz="1000" dirty="0"/>
          </a:p>
        </p:txBody>
      </p:sp>
      <p:sp>
        <p:nvSpPr>
          <p:cNvPr id="9" name="marker-111"/>
          <p:cNvSpPr/>
          <p:nvPr/>
        </p:nvSpPr>
        <p:spPr>
          <a:xfrm>
            <a:off x="685800" y="3995928"/>
            <a:ext cx="384048" cy="384048"/>
          </a:xfrm>
          <a:prstGeom prst="ellipse">
            <a:avLst/>
          </a:prstGeom>
          <a:solidFill>
            <a:schemeClr val="accent6"/>
          </a:solidFill>
          <a:ln w="12700">
            <a:solidFill>
              <a:schemeClr val="accent6"/>
            </a:solidFill>
            <a:prstDash val="solid"/>
          </a:ln>
        </p:spPr>
      </p:sp>
      <p:sp>
        <p:nvSpPr>
          <p:cNvPr id="10" name="text-112"/>
          <p:cNvSpPr txBox="1"/>
          <p:nvPr/>
        </p:nvSpPr>
        <p:spPr>
          <a:xfrm>
            <a:off x="685800" y="39959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11" name="text-113"/>
          <p:cNvSpPr txBox="1"/>
          <p:nvPr/>
        </p:nvSpPr>
        <p:spPr>
          <a:xfrm>
            <a:off x="1188720" y="3968496"/>
            <a:ext cx="2363724" cy="237744"/>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[Member name]</a:t>
            </a:r>
            <a:endParaRPr lang="en-US" sz="1300" dirty="0"/>
          </a:p>
        </p:txBody>
      </p:sp>
      <p:sp>
        <p:nvSpPr>
          <p:cNvPr id="12" name="text-114"/>
          <p:cNvSpPr txBox="1"/>
          <p:nvPr/>
        </p:nvSpPr>
        <p:spPr>
          <a:xfrm>
            <a:off x="1188720" y="4224528"/>
            <a:ext cx="2363724" cy="219456"/>
          </a:xfrm>
          <a:prstGeom prst="rect">
            <a:avLst/>
          </a:prstGeom>
          <a:noFill/>
          <a:ln/>
        </p:spPr>
        <p:txBody>
          <a:bodyPr wrap="square" lIns="0" tIns="0" rIns="0" bIns="0" rtlCol="0" anchor="t"/>
          <a:lstStyle/>
          <a:p>
            <a:pPr indent="0" marL="0">
              <a:buNone/>
            </a:pPr>
            <a:r>
              <a:rPr lang="en-US" sz="950" b="1" dirty="0">
                <a:solidFill>
                  <a:schemeClr val="accent6"/>
                </a:solidFill>
              </a:rPr>
              <a:t>Project lead &amp; editor</a:t>
            </a:r>
            <a:endParaRPr lang="en-US" sz="950" dirty="0"/>
          </a:p>
        </p:txBody>
      </p:sp>
      <p:sp>
        <p:nvSpPr>
          <p:cNvPr id="13" name="card-115"/>
          <p:cNvSpPr/>
          <p:nvPr/>
        </p:nvSpPr>
        <p:spPr>
          <a:xfrm>
            <a:off x="3872484" y="2103120"/>
            <a:ext cx="3140964" cy="2514600"/>
          </a:xfrm>
          <a:prstGeom prst="roundRect">
            <a:avLst>
              <a:gd name="adj" fmla="val 2909"/>
            </a:avLst>
          </a:prstGeom>
          <a:solidFill>
            <a:schemeClr val="bg2"/>
          </a:solidFill>
          <a:ln w="12700">
            <a:solidFill>
              <a:schemeClr val="bg2"/>
            </a:solidFill>
            <a:prstDash val="solid"/>
          </a:ln>
        </p:spPr>
      </p:sp>
      <p:sp>
        <p:nvSpPr>
          <p:cNvPr id="14" name="photo-space-116"/>
          <p:cNvSpPr/>
          <p:nvPr/>
        </p:nvSpPr>
        <p:spPr>
          <a:xfrm>
            <a:off x="4009644" y="2240280"/>
            <a:ext cx="2866644" cy="1600200"/>
          </a:xfrm>
          <a:prstGeom prst="roundRect">
            <a:avLst>
              <a:gd name="adj" fmla="val 3429"/>
            </a:avLst>
          </a:prstGeom>
          <a:solidFill>
            <a:schemeClr val="bg1"/>
          </a:solidFill>
          <a:ln w="12700">
            <a:solidFill>
              <a:schemeClr val="tx2"/>
            </a:solidFill>
            <a:prstDash val="dash"/>
          </a:ln>
        </p:spPr>
      </p:sp>
      <p:sp>
        <p:nvSpPr>
          <p:cNvPr id="15" name="text-117"/>
          <p:cNvSpPr txBox="1"/>
          <p:nvPr/>
        </p:nvSpPr>
        <p:spPr>
          <a:xfrm>
            <a:off x="4009644" y="2240280"/>
            <a:ext cx="2866644" cy="1600200"/>
          </a:xfrm>
          <a:prstGeom prst="rect">
            <a:avLst/>
          </a:prstGeom>
          <a:noFill/>
          <a:ln/>
        </p:spPr>
        <p:txBody>
          <a:bodyPr wrap="square" lIns="0" tIns="0" rIns="0" bIns="0" rtlCol="0" anchor="ctr"/>
          <a:lstStyle/>
          <a:p>
            <a:pPr algn="ctr" indent="0" marL="0">
              <a:buNone/>
            </a:pPr>
            <a:r>
              <a:rPr lang="en-US" sz="1000" dirty="0">
                <a:solidFill>
                  <a:schemeClr val="tx2"/>
                </a:solidFill>
              </a:rPr>
              <a:t>[Photo]</a:t>
            </a:r>
            <a:endParaRPr lang="en-US" sz="1000" dirty="0"/>
          </a:p>
        </p:txBody>
      </p:sp>
      <p:sp>
        <p:nvSpPr>
          <p:cNvPr id="16" name="marker-118"/>
          <p:cNvSpPr/>
          <p:nvPr/>
        </p:nvSpPr>
        <p:spPr>
          <a:xfrm>
            <a:off x="4009644" y="3995928"/>
            <a:ext cx="384048" cy="384048"/>
          </a:xfrm>
          <a:prstGeom prst="ellipse">
            <a:avLst/>
          </a:prstGeom>
          <a:solidFill>
            <a:schemeClr val="accent6"/>
          </a:solidFill>
          <a:ln w="12700">
            <a:solidFill>
              <a:schemeClr val="accent6"/>
            </a:solidFill>
            <a:prstDash val="solid"/>
          </a:ln>
        </p:spPr>
      </p:sp>
      <p:sp>
        <p:nvSpPr>
          <p:cNvPr id="17" name="text-119"/>
          <p:cNvSpPr txBox="1"/>
          <p:nvPr/>
        </p:nvSpPr>
        <p:spPr>
          <a:xfrm>
            <a:off x="4009644" y="39959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18" name="text-120"/>
          <p:cNvSpPr txBox="1"/>
          <p:nvPr/>
        </p:nvSpPr>
        <p:spPr>
          <a:xfrm>
            <a:off x="4512564" y="3968496"/>
            <a:ext cx="2363724" cy="237744"/>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[Member name]</a:t>
            </a:r>
            <a:endParaRPr lang="en-US" sz="1300" dirty="0"/>
          </a:p>
        </p:txBody>
      </p:sp>
      <p:sp>
        <p:nvSpPr>
          <p:cNvPr id="19" name="text-121"/>
          <p:cNvSpPr txBox="1"/>
          <p:nvPr/>
        </p:nvSpPr>
        <p:spPr>
          <a:xfrm>
            <a:off x="4512564" y="4224528"/>
            <a:ext cx="2363724" cy="219456"/>
          </a:xfrm>
          <a:prstGeom prst="rect">
            <a:avLst/>
          </a:prstGeom>
          <a:noFill/>
          <a:ln/>
        </p:spPr>
        <p:txBody>
          <a:bodyPr wrap="square" lIns="0" tIns="0" rIns="0" bIns="0" rtlCol="0" anchor="t"/>
          <a:lstStyle/>
          <a:p>
            <a:pPr indent="0" marL="0">
              <a:buNone/>
            </a:pPr>
            <a:r>
              <a:rPr lang="en-US" sz="950" b="1" dirty="0">
                <a:solidFill>
                  <a:schemeClr val="accent6"/>
                </a:solidFill>
              </a:rPr>
              <a:t>City planner &amp; 3D builder</a:t>
            </a:r>
            <a:endParaRPr lang="en-US" sz="950" dirty="0"/>
          </a:p>
        </p:txBody>
      </p:sp>
      <p:sp>
        <p:nvSpPr>
          <p:cNvPr id="20" name="card-122"/>
          <p:cNvSpPr/>
          <p:nvPr/>
        </p:nvSpPr>
        <p:spPr>
          <a:xfrm>
            <a:off x="548640" y="4754880"/>
            <a:ext cx="3140964" cy="2514600"/>
          </a:xfrm>
          <a:prstGeom prst="roundRect">
            <a:avLst>
              <a:gd name="adj" fmla="val 2909"/>
            </a:avLst>
          </a:prstGeom>
          <a:solidFill>
            <a:schemeClr val="bg2"/>
          </a:solidFill>
          <a:ln w="12700">
            <a:solidFill>
              <a:schemeClr val="bg2"/>
            </a:solidFill>
            <a:prstDash val="solid"/>
          </a:ln>
        </p:spPr>
      </p:sp>
      <p:sp>
        <p:nvSpPr>
          <p:cNvPr id="21" name="photo-space-123"/>
          <p:cNvSpPr/>
          <p:nvPr/>
        </p:nvSpPr>
        <p:spPr>
          <a:xfrm>
            <a:off x="685800" y="4892040"/>
            <a:ext cx="2866644" cy="1600200"/>
          </a:xfrm>
          <a:prstGeom prst="roundRect">
            <a:avLst>
              <a:gd name="adj" fmla="val 3429"/>
            </a:avLst>
          </a:prstGeom>
          <a:solidFill>
            <a:schemeClr val="bg1"/>
          </a:solidFill>
          <a:ln w="12700">
            <a:solidFill>
              <a:schemeClr val="tx2"/>
            </a:solidFill>
            <a:prstDash val="dash"/>
          </a:ln>
        </p:spPr>
      </p:sp>
      <p:sp>
        <p:nvSpPr>
          <p:cNvPr id="22" name="text-124"/>
          <p:cNvSpPr txBox="1"/>
          <p:nvPr/>
        </p:nvSpPr>
        <p:spPr>
          <a:xfrm>
            <a:off x="685800" y="4892040"/>
            <a:ext cx="2866644" cy="1600200"/>
          </a:xfrm>
          <a:prstGeom prst="rect">
            <a:avLst/>
          </a:prstGeom>
          <a:noFill/>
          <a:ln/>
        </p:spPr>
        <p:txBody>
          <a:bodyPr wrap="square" lIns="0" tIns="0" rIns="0" bIns="0" rtlCol="0" anchor="ctr"/>
          <a:lstStyle/>
          <a:p>
            <a:pPr algn="ctr" indent="0" marL="0">
              <a:buNone/>
            </a:pPr>
            <a:r>
              <a:rPr lang="en-US" sz="1000" dirty="0">
                <a:solidFill>
                  <a:schemeClr val="tx2"/>
                </a:solidFill>
              </a:rPr>
              <a:t>[Photo]</a:t>
            </a:r>
            <a:endParaRPr lang="en-US" sz="1000" dirty="0"/>
          </a:p>
        </p:txBody>
      </p:sp>
      <p:sp>
        <p:nvSpPr>
          <p:cNvPr id="23" name="marker-125"/>
          <p:cNvSpPr/>
          <p:nvPr/>
        </p:nvSpPr>
        <p:spPr>
          <a:xfrm>
            <a:off x="685800" y="6647688"/>
            <a:ext cx="384048" cy="384048"/>
          </a:xfrm>
          <a:prstGeom prst="ellipse">
            <a:avLst/>
          </a:prstGeom>
          <a:solidFill>
            <a:schemeClr val="accent6"/>
          </a:solidFill>
          <a:ln w="12700">
            <a:solidFill>
              <a:schemeClr val="accent6"/>
            </a:solidFill>
            <a:prstDash val="solid"/>
          </a:ln>
        </p:spPr>
      </p:sp>
      <p:sp>
        <p:nvSpPr>
          <p:cNvPr id="24" name="text-126"/>
          <p:cNvSpPr txBox="1"/>
          <p:nvPr/>
        </p:nvSpPr>
        <p:spPr>
          <a:xfrm>
            <a:off x="685800" y="66476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25" name="text-127"/>
          <p:cNvSpPr txBox="1"/>
          <p:nvPr/>
        </p:nvSpPr>
        <p:spPr>
          <a:xfrm>
            <a:off x="1188720" y="6620256"/>
            <a:ext cx="2363724" cy="237744"/>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[Member name]</a:t>
            </a:r>
            <a:endParaRPr lang="en-US" sz="1300" dirty="0"/>
          </a:p>
        </p:txBody>
      </p:sp>
      <p:sp>
        <p:nvSpPr>
          <p:cNvPr id="26" name="text-128"/>
          <p:cNvSpPr txBox="1"/>
          <p:nvPr/>
        </p:nvSpPr>
        <p:spPr>
          <a:xfrm>
            <a:off x="1188720" y="6876288"/>
            <a:ext cx="2363724" cy="219456"/>
          </a:xfrm>
          <a:prstGeom prst="rect">
            <a:avLst/>
          </a:prstGeom>
          <a:noFill/>
          <a:ln/>
        </p:spPr>
        <p:txBody>
          <a:bodyPr wrap="square" lIns="0" tIns="0" rIns="0" bIns="0" rtlCol="0" anchor="t"/>
          <a:lstStyle/>
          <a:p>
            <a:pPr indent="0" marL="0">
              <a:buNone/>
            </a:pPr>
            <a:r>
              <a:rPr lang="en-US" sz="950" b="1" dirty="0">
                <a:solidFill>
                  <a:schemeClr val="accent6"/>
                </a:solidFill>
              </a:rPr>
              <a:t>Energy &amp; systems researcher</a:t>
            </a:r>
            <a:endParaRPr lang="en-US" sz="950" dirty="0"/>
          </a:p>
        </p:txBody>
      </p:sp>
      <p:sp>
        <p:nvSpPr>
          <p:cNvPr id="27" name="card-129"/>
          <p:cNvSpPr/>
          <p:nvPr/>
        </p:nvSpPr>
        <p:spPr>
          <a:xfrm>
            <a:off x="3872484" y="4754880"/>
            <a:ext cx="3140964" cy="2514600"/>
          </a:xfrm>
          <a:prstGeom prst="roundRect">
            <a:avLst>
              <a:gd name="adj" fmla="val 2909"/>
            </a:avLst>
          </a:prstGeom>
          <a:solidFill>
            <a:schemeClr val="bg2"/>
          </a:solidFill>
          <a:ln w="12700">
            <a:solidFill>
              <a:schemeClr val="bg2"/>
            </a:solidFill>
            <a:prstDash val="solid"/>
          </a:ln>
        </p:spPr>
      </p:sp>
      <p:sp>
        <p:nvSpPr>
          <p:cNvPr id="28" name="photo-space-130"/>
          <p:cNvSpPr/>
          <p:nvPr/>
        </p:nvSpPr>
        <p:spPr>
          <a:xfrm>
            <a:off x="4009644" y="4892040"/>
            <a:ext cx="2866644" cy="1600200"/>
          </a:xfrm>
          <a:prstGeom prst="roundRect">
            <a:avLst>
              <a:gd name="adj" fmla="val 3429"/>
            </a:avLst>
          </a:prstGeom>
          <a:solidFill>
            <a:schemeClr val="bg1"/>
          </a:solidFill>
          <a:ln w="12700">
            <a:solidFill>
              <a:schemeClr val="tx2"/>
            </a:solidFill>
            <a:prstDash val="dash"/>
          </a:ln>
        </p:spPr>
      </p:sp>
      <p:sp>
        <p:nvSpPr>
          <p:cNvPr id="29" name="text-131"/>
          <p:cNvSpPr txBox="1"/>
          <p:nvPr/>
        </p:nvSpPr>
        <p:spPr>
          <a:xfrm>
            <a:off x="4009644" y="4892040"/>
            <a:ext cx="2866644" cy="1600200"/>
          </a:xfrm>
          <a:prstGeom prst="rect">
            <a:avLst/>
          </a:prstGeom>
          <a:noFill/>
          <a:ln/>
        </p:spPr>
        <p:txBody>
          <a:bodyPr wrap="square" lIns="0" tIns="0" rIns="0" bIns="0" rtlCol="0" anchor="ctr"/>
          <a:lstStyle/>
          <a:p>
            <a:pPr algn="ctr" indent="0" marL="0">
              <a:buNone/>
            </a:pPr>
            <a:r>
              <a:rPr lang="en-US" sz="1000" dirty="0">
                <a:solidFill>
                  <a:schemeClr val="tx2"/>
                </a:solidFill>
              </a:rPr>
              <a:t>[Photo]</a:t>
            </a:r>
            <a:endParaRPr lang="en-US" sz="1000" dirty="0"/>
          </a:p>
        </p:txBody>
      </p:sp>
      <p:sp>
        <p:nvSpPr>
          <p:cNvPr id="30" name="marker-132"/>
          <p:cNvSpPr/>
          <p:nvPr/>
        </p:nvSpPr>
        <p:spPr>
          <a:xfrm>
            <a:off x="4009644" y="6647688"/>
            <a:ext cx="384048" cy="384048"/>
          </a:xfrm>
          <a:prstGeom prst="ellipse">
            <a:avLst/>
          </a:prstGeom>
          <a:solidFill>
            <a:schemeClr val="accent6"/>
          </a:solidFill>
          <a:ln w="12700">
            <a:solidFill>
              <a:schemeClr val="accent6"/>
            </a:solidFill>
            <a:prstDash val="solid"/>
          </a:ln>
        </p:spPr>
      </p:sp>
      <p:sp>
        <p:nvSpPr>
          <p:cNvPr id="31" name="text-133"/>
          <p:cNvSpPr txBox="1"/>
          <p:nvPr/>
        </p:nvSpPr>
        <p:spPr>
          <a:xfrm>
            <a:off x="4009644" y="664768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4</a:t>
            </a:r>
            <a:endParaRPr lang="en-US" sz="1300" dirty="0"/>
          </a:p>
        </p:txBody>
      </p:sp>
      <p:sp>
        <p:nvSpPr>
          <p:cNvPr id="32" name="text-134"/>
          <p:cNvSpPr txBox="1"/>
          <p:nvPr/>
        </p:nvSpPr>
        <p:spPr>
          <a:xfrm>
            <a:off x="4512564" y="6620256"/>
            <a:ext cx="2363724" cy="237744"/>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[Member name]</a:t>
            </a:r>
            <a:endParaRPr lang="en-US" sz="1300" dirty="0"/>
          </a:p>
        </p:txBody>
      </p:sp>
      <p:sp>
        <p:nvSpPr>
          <p:cNvPr id="33" name="text-135"/>
          <p:cNvSpPr txBox="1"/>
          <p:nvPr/>
        </p:nvSpPr>
        <p:spPr>
          <a:xfrm>
            <a:off x="4512564" y="6876288"/>
            <a:ext cx="2363724" cy="219456"/>
          </a:xfrm>
          <a:prstGeom prst="rect">
            <a:avLst/>
          </a:prstGeom>
          <a:noFill/>
          <a:ln/>
        </p:spPr>
        <p:txBody>
          <a:bodyPr wrap="square" lIns="0" tIns="0" rIns="0" bIns="0" rtlCol="0" anchor="t"/>
          <a:lstStyle/>
          <a:p>
            <a:pPr indent="0" marL="0">
              <a:buNone/>
            </a:pPr>
            <a:r>
              <a:rPr lang="en-US" sz="950" b="1" dirty="0">
                <a:solidFill>
                  <a:schemeClr val="accent6"/>
                </a:solidFill>
              </a:rPr>
              <a:t>Writer &amp; fact-checker</a:t>
            </a:r>
            <a:endParaRPr lang="en-US" sz="950" dirty="0"/>
          </a:p>
        </p:txBody>
      </p:sp>
      <p:sp>
        <p:nvSpPr>
          <p:cNvPr id="34" name="card-136"/>
          <p:cNvSpPr/>
          <p:nvPr/>
        </p:nvSpPr>
        <p:spPr>
          <a:xfrm>
            <a:off x="548640" y="7406640"/>
            <a:ext cx="3140964" cy="2514600"/>
          </a:xfrm>
          <a:prstGeom prst="roundRect">
            <a:avLst>
              <a:gd name="adj" fmla="val 2909"/>
            </a:avLst>
          </a:prstGeom>
          <a:solidFill>
            <a:schemeClr val="bg2"/>
          </a:solidFill>
          <a:ln w="12700">
            <a:solidFill>
              <a:schemeClr val="bg2"/>
            </a:solidFill>
            <a:prstDash val="solid"/>
          </a:ln>
        </p:spPr>
      </p:sp>
      <p:sp>
        <p:nvSpPr>
          <p:cNvPr id="35" name="photo-space-137"/>
          <p:cNvSpPr/>
          <p:nvPr/>
        </p:nvSpPr>
        <p:spPr>
          <a:xfrm>
            <a:off x="685800" y="7543800"/>
            <a:ext cx="2866644" cy="1600200"/>
          </a:xfrm>
          <a:prstGeom prst="roundRect">
            <a:avLst>
              <a:gd name="adj" fmla="val 3429"/>
            </a:avLst>
          </a:prstGeom>
          <a:solidFill>
            <a:schemeClr val="bg1"/>
          </a:solidFill>
          <a:ln w="12700">
            <a:solidFill>
              <a:schemeClr val="tx2"/>
            </a:solidFill>
            <a:prstDash val="dash"/>
          </a:ln>
        </p:spPr>
      </p:sp>
      <p:sp>
        <p:nvSpPr>
          <p:cNvPr id="36" name="text-138"/>
          <p:cNvSpPr txBox="1"/>
          <p:nvPr/>
        </p:nvSpPr>
        <p:spPr>
          <a:xfrm>
            <a:off x="685800" y="7543800"/>
            <a:ext cx="2866644" cy="1600200"/>
          </a:xfrm>
          <a:prstGeom prst="rect">
            <a:avLst/>
          </a:prstGeom>
          <a:noFill/>
          <a:ln/>
        </p:spPr>
        <p:txBody>
          <a:bodyPr wrap="square" lIns="0" tIns="0" rIns="0" bIns="0" rtlCol="0" anchor="ctr"/>
          <a:lstStyle/>
          <a:p>
            <a:pPr algn="ctr" indent="0" marL="0">
              <a:buNone/>
            </a:pPr>
            <a:r>
              <a:rPr lang="en-US" sz="1000" dirty="0">
                <a:solidFill>
                  <a:schemeClr val="tx2"/>
                </a:solidFill>
              </a:rPr>
              <a:t>[Photo]</a:t>
            </a:r>
            <a:endParaRPr lang="en-US" sz="1000" dirty="0"/>
          </a:p>
        </p:txBody>
      </p:sp>
      <p:sp>
        <p:nvSpPr>
          <p:cNvPr id="37" name="marker-139"/>
          <p:cNvSpPr/>
          <p:nvPr/>
        </p:nvSpPr>
        <p:spPr>
          <a:xfrm>
            <a:off x="685800" y="9299448"/>
            <a:ext cx="384048" cy="384048"/>
          </a:xfrm>
          <a:prstGeom prst="ellipse">
            <a:avLst/>
          </a:prstGeom>
          <a:solidFill>
            <a:schemeClr val="accent6"/>
          </a:solidFill>
          <a:ln w="12700">
            <a:solidFill>
              <a:schemeClr val="accent6"/>
            </a:solidFill>
            <a:prstDash val="solid"/>
          </a:ln>
        </p:spPr>
      </p:sp>
      <p:sp>
        <p:nvSpPr>
          <p:cNvPr id="38" name="text-140"/>
          <p:cNvSpPr txBox="1"/>
          <p:nvPr/>
        </p:nvSpPr>
        <p:spPr>
          <a:xfrm>
            <a:off x="685800" y="929944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5</a:t>
            </a:r>
            <a:endParaRPr lang="en-US" sz="1300" dirty="0"/>
          </a:p>
        </p:txBody>
      </p:sp>
      <p:sp>
        <p:nvSpPr>
          <p:cNvPr id="39" name="text-141"/>
          <p:cNvSpPr txBox="1"/>
          <p:nvPr/>
        </p:nvSpPr>
        <p:spPr>
          <a:xfrm>
            <a:off x="1188720" y="9272016"/>
            <a:ext cx="2363724" cy="237744"/>
          </a:xfrm>
          <a:prstGeom prst="rect">
            <a:avLst/>
          </a:prstGeom>
          <a:noFill/>
          <a:ln/>
        </p:spPr>
        <p:txBody>
          <a:bodyPr wrap="square" lIns="0" tIns="0" rIns="0" bIns="0" rtlCol="0" anchor="t"/>
          <a:lstStyle/>
          <a:p>
            <a:pPr indent="0" marL="0">
              <a:buNone/>
            </a:pPr>
            <a:r>
              <a:rPr lang="en-US" sz="1300" b="1" dirty="0">
                <a:solidFill>
                  <a:schemeClr val="tx1"/>
                </a:solidFill>
                <a:latin typeface="+mj-lt" pitchFamily="34" charset="0"/>
                <a:ea typeface="+mj-lt" pitchFamily="34" charset="-122"/>
                <a:cs typeface="+mj-lt" pitchFamily="34" charset="-120"/>
              </a:rPr>
              <a:t>[Member name]</a:t>
            </a:r>
            <a:endParaRPr lang="en-US" sz="1300" dirty="0"/>
          </a:p>
        </p:txBody>
      </p:sp>
      <p:sp>
        <p:nvSpPr>
          <p:cNvPr id="40" name="text-142"/>
          <p:cNvSpPr txBox="1"/>
          <p:nvPr/>
        </p:nvSpPr>
        <p:spPr>
          <a:xfrm>
            <a:off x="1188720" y="9528048"/>
            <a:ext cx="2363724" cy="219456"/>
          </a:xfrm>
          <a:prstGeom prst="rect">
            <a:avLst/>
          </a:prstGeom>
          <a:noFill/>
          <a:ln/>
        </p:spPr>
        <p:txBody>
          <a:bodyPr wrap="square" lIns="0" tIns="0" rIns="0" bIns="0" rtlCol="0" anchor="t"/>
          <a:lstStyle/>
          <a:p>
            <a:pPr indent="0" marL="0">
              <a:buNone/>
            </a:pPr>
            <a:r>
              <a:rPr lang="en-US" sz="950" b="1" dirty="0">
                <a:solidFill>
                  <a:schemeClr val="accent6"/>
                </a:solidFill>
              </a:rPr>
              <a:t>Interview &amp; video producer</a:t>
            </a:r>
            <a:endParaRPr lang="en-US" sz="950" dirty="0"/>
          </a:p>
        </p:txBody>
      </p:sp>
      <p:sp>
        <p:nvSpPr>
          <p:cNvPr id="41" name="card-143"/>
          <p:cNvSpPr/>
          <p:nvPr/>
        </p:nvSpPr>
        <p:spPr>
          <a:xfrm>
            <a:off x="3872484" y="7406640"/>
            <a:ext cx="3140964" cy="2514600"/>
          </a:xfrm>
          <a:prstGeom prst="roundRect">
            <a:avLst>
              <a:gd name="adj" fmla="val 2909"/>
            </a:avLst>
          </a:prstGeom>
          <a:solidFill>
            <a:schemeClr val="bg2"/>
          </a:solidFill>
          <a:ln w="12700">
            <a:solidFill>
              <a:schemeClr val="bg2"/>
            </a:solidFill>
            <a:prstDash val="solid"/>
          </a:ln>
        </p:spPr>
      </p:sp>
      <p:pic>
        <p:nvPicPr>
          <p:cNvPr id="42" name="qr-interview-144" descr="/home/user/chatbox-bi-n-o/magazine/assets/ui/qr_interview.png">
            <a:hlinkClick r:id="rId2" tooltip="Watch our real-world interview"/>
          </p:cNvPr>
          <p:cNvPicPr>
            <a:picLocks noChangeAspect="1"/>
          </p:cNvPicPr>
          <p:nvPr/>
        </p:nvPicPr>
        <p:blipFill>
          <a:blip r:embed="rId1"/>
          <a:stretch>
            <a:fillRect/>
          </a:stretch>
        </p:blipFill>
        <p:spPr>
          <a:xfrm>
            <a:off x="4009644" y="8035747"/>
            <a:ext cx="1256386" cy="1256386"/>
          </a:xfrm>
          <a:prstGeom prst="rect">
            <a:avLst/>
          </a:prstGeom>
        </p:spPr>
      </p:pic>
      <p:sp>
        <p:nvSpPr>
          <p:cNvPr id="43" name="text-145"/>
          <p:cNvSpPr txBox="1"/>
          <p:nvPr/>
        </p:nvSpPr>
        <p:spPr>
          <a:xfrm>
            <a:off x="5448910" y="7543800"/>
            <a:ext cx="1427378" cy="224028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2"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picture-146" descr="/home/user/chatbox-bi-n-o/magazine/assets/renders/welcome_pano_L.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47" descr="/home/user/chatbox-bi-n-o/magazine/assets/ui/shade_bottom.png">    </p:cNvPr>
          <p:cNvPicPr>
            <a:picLocks noChangeAspect="1"/>
          </p:cNvPicPr>
          <p:nvPr/>
        </p:nvPicPr>
        <p:blipFill>
          <a:blip r:embed="rId2"/>
          <a:stretch>
            <a:fillRect/>
          </a:stretch>
        </p:blipFill>
        <p:spPr>
          <a:xfrm>
            <a:off x="0" y="3474720"/>
            <a:ext cx="7562088" cy="2926080"/>
          </a:xfrm>
          <a:prstGeom prst="rect">
            <a:avLst/>
          </a:prstGeom>
        </p:spPr>
      </p:pic>
      <p:sp>
        <p:nvSpPr>
          <p:cNvPr id="4" name="kicker-dot-148"/>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49"/>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CITY OVERVIEW</a:t>
            </a:r>
            <a:endParaRPr lang="en-US" sz="900" dirty="0"/>
          </a:p>
        </p:txBody>
      </p:sp>
      <p:sp>
        <p:nvSpPr>
          <p:cNvPr id="6" name="title-150"/>
          <p:cNvSpPr txBox="1"/>
          <p:nvPr/>
        </p:nvSpPr>
        <p:spPr>
          <a:xfrm>
            <a:off x="548640" y="4892040"/>
            <a:ext cx="6464808" cy="12801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Welcome to Aurora Haven</a:t>
            </a:r>
            <a:endParaRPr lang="en-US" sz="4600" dirty="0"/>
          </a:p>
        </p:txBody>
      </p:sp>
      <p:sp>
        <p:nvSpPr>
          <p:cNvPr id="7" name="text-152"/>
          <p:cNvSpPr txBox="1"/>
          <p:nvPr/>
        </p:nvSpPr>
        <p:spPr>
          <a:xfrm>
            <a:off x="548640" y="6720840"/>
            <a:ext cx="6464808" cy="640080"/>
          </a:xfrm>
          <a:prstGeom prst="rect">
            <a:avLst/>
          </a:prstGeom>
          <a:noFill/>
          <a:ln/>
        </p:spPr>
        <p:txBody>
          <a:bodyPr wrap="square" lIns="0" tIns="0" rIns="0" bIns="0" rtlCol="0" anchor="t"/>
          <a:lstStyle/>
          <a:p>
            <a:pPr indent="0" marL="0">
              <a:lnSpc>
                <a:spcPct val="110000"/>
              </a:lnSpc>
              <a:buNone/>
            </a:pPr>
            <a:r>
              <a:rPr lang="en-US" sz="1500" i="1" dirty="0">
                <a:solidFill>
                  <a:schemeClr val="tx1"/>
                </a:solidFill>
                <a:latin typeface="+mj-lt" pitchFamily="34" charset="0"/>
                <a:ea typeface="+mj-lt" pitchFamily="34" charset="-122"/>
                <a:cs typeface="+mj-lt" pitchFamily="34" charset="-120"/>
              </a:rPr>
              <a:t>Designed not just to survive the polar night, but to make life here warm, healthy and sustainable.</a:t>
            </a:r>
            <a:endParaRPr lang="en-US" sz="1500" dirty="0"/>
          </a:p>
        </p:txBody>
      </p:sp>
      <p:sp>
        <p:nvSpPr>
          <p:cNvPr id="8" name="text-153"/>
          <p:cNvSpPr txBox="1"/>
          <p:nvPr/>
        </p:nvSpPr>
        <p:spPr>
          <a:xfrm>
            <a:off x="548640" y="7543800"/>
            <a:ext cx="3095244" cy="2468880"/>
          </a:xfrm>
          <a:prstGeom prst="rect">
            <a:avLst/>
          </a:prstGeom>
          <a:noFill/>
          <a:ln/>
        </p:spPr>
        <p:txBody>
          <a:bodyPr wrap="square" lIns="0" tIns="0" rIns="0" bIns="0" rtlCol="0" anchor="t"/>
          <a:lstStyle/>
          <a:p>
            <a:pPr indent="0" marL="0">
              <a:lnSpc>
                <a:spcPct val="112000"/>
              </a:lnSpc>
              <a:buNone/>
            </a:pPr>
            <a:r>
              <a:rPr lang="en-US" sz="1050" b="1" spc="100" kern="0" dirty="0">
                <a:solidFill>
                  <a:schemeClr val="tx1"/>
                </a:solidFill>
              </a:rPr>
              <a:t>AURORA HAVEN IS </a:t>
            </a:r>
            <a:pPr indent="0" marL="0">
              <a:lnSpc>
                <a:spcPct val="112000"/>
              </a:lnSpc>
              <a:spcAft>
                <a:spcPts val="700"/>
              </a:spcAft>
              <a:buNone/>
            </a:pPr>
            <a:r>
              <a:rPr lang="en-US" sz="1050" dirty="0">
                <a:solidFill>
                  <a:schemeClr val="tx1"/>
                </a:solidFill>
              </a:rPr>
              <a:t>a compact polar city of around 45,000 people, built on a frozen tundra plateau beneath the snow peak of Mount Aurora. Winters fall to −45 °C, the sun disappears for two months of polar night, and almost nothing can grow.</a:t>
            </a:r>
            <a:endParaRPr lang="en-US" sz="1050" dirty="0"/>
          </a:p>
        </p:txBody>
      </p:sp>
      <p:sp>
        <p:nvSpPr>
          <p:cNvPr id="9" name="text-154"/>
          <p:cNvSpPr txBox="1"/>
          <p:nvPr/>
        </p:nvSpPr>
        <p:spPr>
          <a:xfrm>
            <a:off x="3918204" y="7543800"/>
            <a:ext cx="3095244" cy="25146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whole city is shaped around one idea: heat, energy, water and food should never be wasted. Every building shares a single heating network, the city runs on zero-carbon energy, and nearly all of its water and waste is recycled.</a:t>
            </a:r>
            <a:endParaRPr lang="en-US" sz="1050" dirty="0"/>
          </a:p>
          <a:p>
            <a:pPr indent="0" marL="0">
              <a:lnSpc>
                <a:spcPct val="112000"/>
              </a:lnSpc>
              <a:spcAft>
                <a:spcPts val="700"/>
              </a:spcAft>
              <a:buNone/>
            </a:pPr>
            <a:r>
              <a:rPr lang="en-US" sz="1050" dirty="0">
                <a:solidFill>
                  <a:schemeClr val="tx1"/>
                </a:solidFill>
              </a:rPr>
              <a:t>Homes, schools, healthcare, shops and parks sit within a short walk of each other, connected by a downtown metro, electric trams and heated streets.</a:t>
            </a:r>
            <a:endParaRPr lang="en-US" sz="10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picture-155" descr="/home/user/chatbox-bi-n-o/magazine/assets/renders/welcome_pano_R.jpg">    </p:cNvPr>
          <p:cNvPicPr>
            <a:picLocks noChangeAspect="1"/>
          </p:cNvPicPr>
          <p:nvPr/>
        </p:nvPicPr>
        <p:blipFill>
          <a:blip r:embed="rId1"/>
          <a:srcRect l="0" r="0" t="0" b="0"/>
          <a:stretch/>
        </p:blipFill>
        <p:spPr>
          <a:xfrm>
            <a:off x="0" y="0"/>
            <a:ext cx="7562088" cy="6400800"/>
          </a:xfrm>
          <a:prstGeom prst="rect">
            <a:avLst/>
          </a:prstGeom>
        </p:spPr>
      </p:pic>
      <p:pic>
        <p:nvPicPr>
          <p:cNvPr id="3" name="shade-bottom-156" descr="/home/user/chatbox-bi-n-o/magazine/assets/ui/shade_bottom.png">    </p:cNvPr>
          <p:cNvPicPr>
            <a:picLocks noChangeAspect="1"/>
          </p:cNvPicPr>
          <p:nvPr/>
        </p:nvPicPr>
        <p:blipFill>
          <a:blip r:embed="rId2"/>
          <a:stretch>
            <a:fillRect/>
          </a:stretch>
        </p:blipFill>
        <p:spPr>
          <a:xfrm>
            <a:off x="0" y="5212080"/>
            <a:ext cx="7562088" cy="1188720"/>
          </a:xfrm>
          <a:prstGeom prst="rect">
            <a:avLst/>
          </a:prstGeom>
        </p:spPr>
      </p:pic>
      <p:sp>
        <p:nvSpPr>
          <p:cNvPr id="4" name="text-157"/>
          <p:cNvSpPr txBox="1"/>
          <p:nvPr/>
        </p:nvSpPr>
        <p:spPr>
          <a:xfrm>
            <a:off x="3172968" y="5833872"/>
            <a:ext cx="3840480" cy="411480"/>
          </a:xfrm>
          <a:prstGeom prst="rect">
            <a:avLst/>
          </a:prstGeom>
          <a:noFill/>
          <a:ln/>
        </p:spPr>
        <p:txBody>
          <a:bodyPr wrap="square" lIns="0" tIns="0" rIns="0" bIns="0" rtlCol="0" anchor="t"/>
          <a:lstStyle/>
          <a:p>
            <a:pPr algn="r" indent="0" marL="0">
              <a:buNone/>
            </a:pPr>
            <a:r>
              <a:rPr lang="en-US" sz="850" i="1" dirty="0">
                <a:solidFill>
                  <a:schemeClr val="bg1"/>
                </a:solidFill>
              </a:rPr>
              <a:t>Aurora Haven at dusk, seen from the south-east: the fusion station in front, downtown and Aurora 81 in the middle, the wind farm on the windy northern edge.</a:t>
            </a:r>
            <a:endParaRPr lang="en-US" sz="850" dirty="0"/>
          </a:p>
        </p:txBody>
      </p:sp>
      <p:sp>
        <p:nvSpPr>
          <p:cNvPr id="5" name="text-158"/>
          <p:cNvSpPr txBox="1"/>
          <p:nvPr/>
        </p:nvSpPr>
        <p:spPr>
          <a:xfrm>
            <a:off x="548640" y="6766560"/>
            <a:ext cx="3461004" cy="329184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What makes Aurora Haven special is its three signature districts. A fusion power station acts as the city’s own sun, giving steady power and heat even through the polar night. A Snow-to-Food &amp; Water Plant turns snow and air into clean drinking water and food, so the city can feed itself without farmland.</a:t>
            </a:r>
            <a:endParaRPr lang="en-US" sz="1050" dirty="0"/>
          </a:p>
          <a:p>
            <a:pPr indent="0" marL="0">
              <a:lnSpc>
                <a:spcPct val="112000"/>
              </a:lnSpc>
              <a:spcAft>
                <a:spcPts val="700"/>
              </a:spcAft>
              <a:buNone/>
            </a:pPr>
            <a:r>
              <a:rPr lang="en-US" sz="1050" dirty="0">
                <a:solidFill>
                  <a:schemeClr val="tx1"/>
                </a:solidFill>
              </a:rPr>
              <a:t>And inside Mount Aurora, a geothermal spa resort offers warmth, rest and a view of the northern lights. Together they form one closed loop that keeps the city powered, fed and happy in one of the harshest places on Earth.</a:t>
            </a:r>
            <a:endParaRPr lang="en-US" sz="1050" dirty="0"/>
          </a:p>
        </p:txBody>
      </p:sp>
      <p:sp>
        <p:nvSpPr>
          <p:cNvPr id="6" name="text-159"/>
          <p:cNvSpPr txBox="1"/>
          <p:nvPr/>
        </p:nvSpPr>
        <p:spPr>
          <a:xfrm>
            <a:off x="4421124" y="6675120"/>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45,000</a:t>
            </a:r>
            <a:endParaRPr lang="en-US" sz="2600" dirty="0"/>
          </a:p>
        </p:txBody>
      </p:sp>
      <p:sp>
        <p:nvSpPr>
          <p:cNvPr id="7" name="text-160"/>
          <p:cNvSpPr txBox="1"/>
          <p:nvPr/>
        </p:nvSpPr>
        <p:spPr>
          <a:xfrm>
            <a:off x="4421124" y="7105904"/>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residents</a:t>
            </a:r>
            <a:endParaRPr lang="en-US" sz="900" dirty="0"/>
          </a:p>
        </p:txBody>
      </p:sp>
      <p:sp>
        <p:nvSpPr>
          <p:cNvPr id="8" name="text-161"/>
          <p:cNvSpPr txBox="1"/>
          <p:nvPr/>
        </p:nvSpPr>
        <p:spPr>
          <a:xfrm>
            <a:off x="4421124" y="7516368"/>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−45 °C</a:t>
            </a:r>
            <a:endParaRPr lang="en-US" sz="2600" dirty="0"/>
          </a:p>
        </p:txBody>
      </p:sp>
      <p:sp>
        <p:nvSpPr>
          <p:cNvPr id="9" name="text-162"/>
          <p:cNvSpPr txBox="1"/>
          <p:nvPr/>
        </p:nvSpPr>
        <p:spPr>
          <a:xfrm>
            <a:off x="4421124" y="7947152"/>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winter lows</a:t>
            </a:r>
            <a:endParaRPr lang="en-US" sz="900" dirty="0"/>
          </a:p>
        </p:txBody>
      </p:sp>
      <p:sp>
        <p:nvSpPr>
          <p:cNvPr id="10" name="text-163"/>
          <p:cNvSpPr txBox="1"/>
          <p:nvPr/>
        </p:nvSpPr>
        <p:spPr>
          <a:xfrm>
            <a:off x="4421124" y="8357616"/>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35 m</a:t>
            </a:r>
            <a:endParaRPr lang="en-US" sz="2600" dirty="0"/>
          </a:p>
        </p:txBody>
      </p:sp>
      <p:sp>
        <p:nvSpPr>
          <p:cNvPr id="11" name="text-164"/>
          <p:cNvSpPr txBox="1"/>
          <p:nvPr/>
        </p:nvSpPr>
        <p:spPr>
          <a:xfrm>
            <a:off x="4421124" y="8788400"/>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Mount Aurora, the snow peak</a:t>
            </a:r>
            <a:endParaRPr lang="en-US" sz="900" dirty="0"/>
          </a:p>
        </p:txBody>
      </p:sp>
      <p:sp>
        <p:nvSpPr>
          <p:cNvPr id="12" name="text-165"/>
          <p:cNvSpPr txBox="1"/>
          <p:nvPr/>
        </p:nvSpPr>
        <p:spPr>
          <a:xfrm>
            <a:off x="4421124" y="9198864"/>
            <a:ext cx="2592324" cy="403352"/>
          </a:xfrm>
          <a:prstGeom prst="rect">
            <a:avLst/>
          </a:prstGeom>
          <a:noFill/>
          <a:ln/>
        </p:spPr>
        <p:txBody>
          <a:bodyPr wrap="square" lIns="0" tIns="0" rIns="0" bIns="0" rtlCol="0" anchor="b"/>
          <a:lstStyle/>
          <a:p>
            <a:pPr indent="0" marL="0">
              <a:buNone/>
            </a:pPr>
            <a:r>
              <a:rPr lang="en-US" sz="2600" b="1" dirty="0">
                <a:solidFill>
                  <a:schemeClr val="accent6"/>
                </a:solidFill>
                <a:latin typeface="+mj-lt" pitchFamily="34" charset="0"/>
                <a:ea typeface="+mj-lt" pitchFamily="34" charset="-122"/>
                <a:cs typeface="+mj-lt" pitchFamily="34" charset="-120"/>
              </a:rPr>
              <a:t>10 min</a:t>
            </a:r>
            <a:endParaRPr lang="en-US" sz="2600" dirty="0"/>
          </a:p>
        </p:txBody>
      </p:sp>
      <p:sp>
        <p:nvSpPr>
          <p:cNvPr id="13" name="text-166"/>
          <p:cNvSpPr txBox="1"/>
          <p:nvPr/>
        </p:nvSpPr>
        <p:spPr>
          <a:xfrm>
            <a:off x="4421124" y="9629648"/>
            <a:ext cx="2592324" cy="22860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walk to daily needs</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picture-167" descr="/home/user/chatbox-bi-n-o/magazine/assets/renders/storm.jpg">    </p:cNvPr>
          <p:cNvPicPr>
            <a:picLocks noChangeAspect="1"/>
          </p:cNvPicPr>
          <p:nvPr/>
        </p:nvPicPr>
        <p:blipFill>
          <a:blip r:embed="rId1"/>
          <a:srcRect l="0" r="0" t="0" b="0"/>
          <a:stretch/>
        </p:blipFill>
        <p:spPr>
          <a:xfrm>
            <a:off x="0" y="0"/>
            <a:ext cx="7562088" cy="5760720"/>
          </a:xfrm>
          <a:prstGeom prst="rect">
            <a:avLst/>
          </a:prstGeom>
        </p:spPr>
      </p:pic>
      <p:pic>
        <p:nvPicPr>
          <p:cNvPr id="3" name="shade-fade-168" descr="/home/user/chatbox-bi-n-o/magazine/assets/ui/fade_bottom.png">    </p:cNvPr>
          <p:cNvPicPr>
            <a:picLocks noChangeAspect="1"/>
          </p:cNvPicPr>
          <p:nvPr/>
        </p:nvPicPr>
        <p:blipFill>
          <a:blip r:embed="rId2"/>
          <a:stretch>
            <a:fillRect/>
          </a:stretch>
        </p:blipFill>
        <p:spPr>
          <a:xfrm>
            <a:off x="0" y="3566160"/>
            <a:ext cx="7562088" cy="2240280"/>
          </a:xfrm>
          <a:prstGeom prst="rect">
            <a:avLst/>
          </a:prstGeom>
        </p:spPr>
      </p:pic>
      <p:sp>
        <p:nvSpPr>
          <p:cNvPr id="4" name="kicker-dot-169"/>
          <p:cNvSpPr/>
          <p:nvPr/>
        </p:nvSpPr>
        <p:spPr>
          <a:xfrm>
            <a:off x="548640" y="4658868"/>
            <a:ext cx="100584" cy="100584"/>
          </a:xfrm>
          <a:prstGeom prst="ellipse">
            <a:avLst/>
          </a:prstGeom>
          <a:solidFill>
            <a:schemeClr val="accent1"/>
          </a:solidFill>
          <a:ln w="12700">
            <a:solidFill>
              <a:schemeClr val="accent1"/>
            </a:solidFill>
            <a:prstDash val="solid"/>
          </a:ln>
        </p:spPr>
      </p:sp>
      <p:sp>
        <p:nvSpPr>
          <p:cNvPr id="5" name="text-170"/>
          <p:cNvSpPr txBox="1"/>
          <p:nvPr/>
        </p:nvSpPr>
        <p:spPr>
          <a:xfrm>
            <a:off x="731520" y="4617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THE PLACE</a:t>
            </a:r>
            <a:endParaRPr lang="en-US" sz="900" dirty="0"/>
          </a:p>
        </p:txBody>
      </p:sp>
      <p:sp>
        <p:nvSpPr>
          <p:cNvPr id="6" name="title-171"/>
          <p:cNvSpPr txBox="1"/>
          <p:nvPr/>
        </p:nvSpPr>
        <p:spPr>
          <a:xfrm>
            <a:off x="548640" y="4873752"/>
            <a:ext cx="6464808" cy="73152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The Polar Challenge</a:t>
            </a:r>
            <a:endParaRPr lang="en-US" sz="4400" dirty="0"/>
          </a:p>
        </p:txBody>
      </p:sp>
      <p:sp>
        <p:nvSpPr>
          <p:cNvPr id="7" name="text-173"/>
          <p:cNvSpPr txBox="1"/>
          <p:nvPr/>
        </p:nvSpPr>
        <p:spPr>
          <a:xfrm>
            <a:off x="548640" y="5669280"/>
            <a:ext cx="6464808" cy="594360"/>
          </a:xfrm>
          <a:prstGeom prst="rect">
            <a:avLst/>
          </a:prstGeom>
          <a:noFill/>
          <a:ln/>
        </p:spPr>
        <p:txBody>
          <a:bodyPr wrap="square" lIns="0" tIns="0" rIns="0" bIns="0" rtlCol="0" anchor="t"/>
          <a:lstStyle/>
          <a:p>
            <a:pPr indent="0" marL="0">
              <a:lnSpc>
                <a:spcPct val="110000"/>
              </a:lnSpc>
              <a:buNone/>
            </a:pPr>
            <a:r>
              <a:rPr lang="en-US" sz="1500" i="1" dirty="0">
                <a:solidFill>
                  <a:schemeClr val="bg2"/>
                </a:solidFill>
                <a:latin typeface="+mj-lt" pitchFamily="34" charset="0"/>
                <a:ea typeface="+mj-lt" pitchFamily="34" charset="-122"/>
                <a:cs typeface="+mj-lt" pitchFamily="34" charset="-120"/>
              </a:rPr>
              <a:t>One of the hardest places on Earth to build a city, so every building had to answer one question.</a:t>
            </a:r>
            <a:endParaRPr lang="en-US" sz="1500" dirty="0"/>
          </a:p>
        </p:txBody>
      </p:sp>
      <p:sp>
        <p:nvSpPr>
          <p:cNvPr id="8" name="text-174"/>
          <p:cNvSpPr txBox="1"/>
          <p:nvPr/>
        </p:nvSpPr>
        <p:spPr>
          <a:xfrm>
            <a:off x="548640" y="6400800"/>
            <a:ext cx="3931920" cy="265176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Aurora Haven sits in one of the hardest environments on Earth. In winter the temperature falls to minus 45 degrees. For about two months the sun never rises, as in Tromsø, Norway, which sees no sunrise from late November to mid-January [19]. Blizzards can reach 120 kilometres per hour.</a:t>
            </a:r>
            <a:endParaRPr lang="en-US" sz="1000" dirty="0"/>
          </a:p>
          <a:p>
            <a:pPr indent="0" marL="0">
              <a:lnSpc>
                <a:spcPct val="112000"/>
              </a:lnSpc>
              <a:spcAft>
                <a:spcPts val="700"/>
              </a:spcAft>
              <a:buNone/>
            </a:pPr>
            <a:r>
              <a:rPr lang="en-US" sz="1000" dirty="0">
                <a:solidFill>
                  <a:schemeClr val="bg1"/>
                </a:solidFill>
              </a:rPr>
              <a:t>The ground is permafrost, so a warm building can thaw it and crack its own foundations. Across the Arctic, about 70% of today’s buildings, roads and pipelines on permafrost stand where the ground could thaw by 2050 [2]. There is almost no farmland, and in deep winter supplies can only arrive by air.</a:t>
            </a:r>
            <a:endParaRPr lang="en-US" sz="1000" dirty="0"/>
          </a:p>
          <a:p>
            <a:pPr indent="0" marL="0">
              <a:lnSpc>
                <a:spcPct val="112000"/>
              </a:lnSpc>
              <a:spcAft>
                <a:spcPts val="700"/>
              </a:spcAft>
              <a:buNone/>
            </a:pPr>
            <a:r>
              <a:rPr lang="en-US" sz="1000" dirty="0">
                <a:solidFill>
                  <a:schemeClr val="bg1"/>
                </a:solidFill>
              </a:rPr>
              <a:t>So we asked one question about every building in the city:</a:t>
            </a:r>
            <a:endParaRPr lang="en-US" sz="1000" dirty="0"/>
          </a:p>
        </p:txBody>
      </p:sp>
      <p:sp>
        <p:nvSpPr>
          <p:cNvPr id="9" name="quote-rule-175"/>
          <p:cNvSpPr/>
          <p:nvPr/>
        </p:nvSpPr>
        <p:spPr>
          <a:xfrm>
            <a:off x="548640" y="8549640"/>
            <a:ext cx="548640" cy="45720"/>
          </a:xfrm>
          <a:prstGeom prst="rect">
            <a:avLst/>
          </a:prstGeom>
          <a:solidFill>
            <a:schemeClr val="accent1"/>
          </a:solidFill>
          <a:ln w="12700">
            <a:solidFill>
              <a:schemeClr val="accent1"/>
            </a:solidFill>
            <a:prstDash val="solid"/>
          </a:ln>
        </p:spPr>
      </p:sp>
      <p:sp>
        <p:nvSpPr>
          <p:cNvPr id="10" name="text-176"/>
          <p:cNvSpPr txBox="1"/>
          <p:nvPr/>
        </p:nvSpPr>
        <p:spPr>
          <a:xfrm>
            <a:off x="548640" y="8714232"/>
            <a:ext cx="3931920" cy="822960"/>
          </a:xfrm>
          <a:prstGeom prst="rect">
            <a:avLst/>
          </a:prstGeom>
          <a:noFill/>
          <a:ln/>
        </p:spPr>
        <p:txBody>
          <a:bodyPr wrap="square" lIns="0" tIns="0" rIns="0" bIns="0" rtlCol="0" anchor="t"/>
          <a:lstStyle/>
          <a:p>
            <a:pPr indent="0" marL="0">
              <a:lnSpc>
                <a:spcPct val="102000"/>
              </a:lnSpc>
              <a:buNone/>
            </a:pPr>
            <a:r>
              <a:rPr lang="en-US" sz="1700" b="1" i="1" dirty="0">
                <a:solidFill>
                  <a:schemeClr val="accent1"/>
                </a:solidFill>
                <a:latin typeface="+mj-lt" pitchFamily="34" charset="0"/>
                <a:ea typeface="+mj-lt" pitchFamily="34" charset="-122"/>
                <a:cs typeface="+mj-lt" pitchFamily="34" charset="-120"/>
              </a:rPr>
              <a:t>“How does it help people stay warm, fed, safe and happy here?”</a:t>
            </a:r>
            <a:endParaRPr lang="en-US" sz="1700" dirty="0"/>
          </a:p>
        </p:txBody>
      </p:sp>
      <p:sp>
        <p:nvSpPr>
          <p:cNvPr id="11" name="text-177"/>
          <p:cNvSpPr txBox="1"/>
          <p:nvPr/>
        </p:nvSpPr>
        <p:spPr>
          <a:xfrm>
            <a:off x="4846320" y="6355080"/>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−45 °C</a:t>
            </a:r>
            <a:endParaRPr lang="en-US" sz="2400" dirty="0"/>
          </a:p>
        </p:txBody>
      </p:sp>
      <p:sp>
        <p:nvSpPr>
          <p:cNvPr id="12" name="text-178"/>
          <p:cNvSpPr txBox="1"/>
          <p:nvPr/>
        </p:nvSpPr>
        <p:spPr>
          <a:xfrm>
            <a:off x="4846320" y="6760464"/>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winter temperatures</a:t>
            </a:r>
            <a:endParaRPr lang="en-US" sz="900" dirty="0"/>
          </a:p>
        </p:txBody>
      </p:sp>
      <p:sp>
        <p:nvSpPr>
          <p:cNvPr id="13" name="text-179"/>
          <p:cNvSpPr txBox="1"/>
          <p:nvPr/>
        </p:nvSpPr>
        <p:spPr>
          <a:xfrm>
            <a:off x="4846320" y="7196328"/>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2 months</a:t>
            </a:r>
            <a:endParaRPr lang="en-US" sz="2400" dirty="0"/>
          </a:p>
        </p:txBody>
      </p:sp>
      <p:sp>
        <p:nvSpPr>
          <p:cNvPr id="14" name="text-180"/>
          <p:cNvSpPr txBox="1"/>
          <p:nvPr/>
        </p:nvSpPr>
        <p:spPr>
          <a:xfrm>
            <a:off x="4846320" y="7601712"/>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of polar night, and two of midnight sun</a:t>
            </a:r>
            <a:endParaRPr lang="en-US" sz="900" dirty="0"/>
          </a:p>
        </p:txBody>
      </p:sp>
      <p:sp>
        <p:nvSpPr>
          <p:cNvPr id="15" name="text-181"/>
          <p:cNvSpPr txBox="1"/>
          <p:nvPr/>
        </p:nvSpPr>
        <p:spPr>
          <a:xfrm>
            <a:off x="4846320" y="8037576"/>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120 km/h</a:t>
            </a:r>
            <a:endParaRPr lang="en-US" sz="2400" dirty="0"/>
          </a:p>
        </p:txBody>
      </p:sp>
      <p:sp>
        <p:nvSpPr>
          <p:cNvPr id="16" name="text-182"/>
          <p:cNvSpPr txBox="1"/>
          <p:nvPr/>
        </p:nvSpPr>
        <p:spPr>
          <a:xfrm>
            <a:off x="4846320" y="8442960"/>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blizzards</a:t>
            </a:r>
            <a:endParaRPr lang="en-US" sz="900" dirty="0"/>
          </a:p>
        </p:txBody>
      </p:sp>
      <p:sp>
        <p:nvSpPr>
          <p:cNvPr id="17" name="text-183"/>
          <p:cNvSpPr txBox="1"/>
          <p:nvPr/>
        </p:nvSpPr>
        <p:spPr>
          <a:xfrm>
            <a:off x="4846320" y="8878824"/>
            <a:ext cx="2167128" cy="377952"/>
          </a:xfrm>
          <a:prstGeom prst="rect">
            <a:avLst/>
          </a:prstGeom>
          <a:noFill/>
          <a:ln/>
        </p:spPr>
        <p:txBody>
          <a:bodyPr wrap="square" lIns="0" tIns="0" rIns="0" bIns="0" rtlCol="0" anchor="b"/>
          <a:lstStyle/>
          <a:p>
            <a:pPr indent="0" marL="0">
              <a:buNone/>
            </a:pPr>
            <a:r>
              <a:rPr lang="en-US" sz="2400" b="1" dirty="0">
                <a:solidFill>
                  <a:schemeClr val="accent1"/>
                </a:solidFill>
                <a:latin typeface="+mj-lt" pitchFamily="34" charset="0"/>
                <a:ea typeface="+mj-lt" pitchFamily="34" charset="-122"/>
                <a:cs typeface="+mj-lt" pitchFamily="34" charset="-120"/>
              </a:rPr>
              <a:t>≈4×</a:t>
            </a:r>
            <a:endParaRPr lang="en-US" sz="2400" dirty="0"/>
          </a:p>
        </p:txBody>
      </p:sp>
      <p:sp>
        <p:nvSpPr>
          <p:cNvPr id="18" name="text-184"/>
          <p:cNvSpPr txBox="1"/>
          <p:nvPr/>
        </p:nvSpPr>
        <p:spPr>
          <a:xfrm>
            <a:off x="4846320" y="9284208"/>
            <a:ext cx="2167128" cy="36576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faster warming in the Arctic than the world since 1979 [1]</a:t>
            </a:r>
            <a:endParaRPr lang="en-US" sz="900" dirty="0"/>
          </a:p>
        </p:txBody>
      </p:sp>
      <p:sp>
        <p:nvSpPr>
          <p:cNvPr id="19" name="text-185"/>
          <p:cNvSpPr txBox="1"/>
          <p:nvPr/>
        </p:nvSpPr>
        <p:spPr>
          <a:xfrm>
            <a:off x="4846320" y="9738360"/>
            <a:ext cx="2167128" cy="411480"/>
          </a:xfrm>
          <a:prstGeom prst="rect">
            <a:avLst/>
          </a:prstGeom>
          <a:noFill/>
          <a:ln/>
        </p:spPr>
        <p:txBody>
          <a:bodyPr wrap="square" lIns="0" tIns="0" rIns="0" bIns="0" rtlCol="0" anchor="t"/>
          <a:lstStyle/>
          <a:p>
            <a:pPr indent="0" marL="0">
              <a:buNone/>
            </a:pPr>
            <a:r>
              <a:rPr lang="en-US" sz="850" i="1" dirty="0">
                <a:solidFill>
                  <a:schemeClr val="bg2"/>
                </a:solidFill>
              </a:rPr>
              <a:t>A blizzard sweeps past the snowbreak pines towards the Ice-Proof Wind Farm on the windy northern edge.</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icture-186" descr="/home/user/chatbox-bi-n-o/magazine/assets/renders/principles.jpg">    </p:cNvPr>
          <p:cNvPicPr>
            <a:picLocks noChangeAspect="1"/>
          </p:cNvPicPr>
          <p:nvPr/>
        </p:nvPicPr>
        <p:blipFill>
          <a:blip r:embed="rId1"/>
          <a:srcRect l="0" r="0" t="0" b="0"/>
          <a:stretch/>
        </p:blipFill>
        <p:spPr>
          <a:xfrm>
            <a:off x="0" y="0"/>
            <a:ext cx="7562088" cy="2651760"/>
          </a:xfrm>
          <a:prstGeom prst="rect">
            <a:avLst/>
          </a:prstGeom>
        </p:spPr>
      </p:pic>
      <p:sp>
        <p:nvSpPr>
          <p:cNvPr id="3" name="text-187"/>
          <p:cNvSpPr txBox="1"/>
          <p:nvPr/>
        </p:nvSpPr>
        <p:spPr>
          <a:xfrm>
            <a:off x="548640" y="2697480"/>
            <a:ext cx="6464808" cy="201168"/>
          </a:xfrm>
          <a:prstGeom prst="rect">
            <a:avLst/>
          </a:prstGeom>
          <a:noFill/>
          <a:ln/>
        </p:spPr>
        <p:txBody>
          <a:bodyPr wrap="square" lIns="0" tIns="0" rIns="0" bIns="0" rtlCol="0" anchor="t"/>
          <a:lstStyle/>
          <a:p>
            <a:pPr indent="0" marL="0">
              <a:buNone/>
            </a:pPr>
            <a:r>
              <a:rPr lang="en-US" sz="850" i="1" dirty="0">
                <a:solidFill>
                  <a:schemeClr val="tx2"/>
                </a:solidFill>
              </a:rPr>
              <a:t>Downtown in the low sun, with Aurora 81, the food plant silos and Mount Aurora behind.</a:t>
            </a:r>
            <a:endParaRPr lang="en-US" sz="850" dirty="0"/>
          </a:p>
        </p:txBody>
      </p:sp>
      <p:sp>
        <p:nvSpPr>
          <p:cNvPr id="4" name="kicker-dot-188"/>
          <p:cNvSpPr/>
          <p:nvPr/>
        </p:nvSpPr>
        <p:spPr>
          <a:xfrm>
            <a:off x="548640" y="3058668"/>
            <a:ext cx="100584" cy="100584"/>
          </a:xfrm>
          <a:prstGeom prst="ellipse">
            <a:avLst/>
          </a:prstGeom>
          <a:solidFill>
            <a:schemeClr val="accent6"/>
          </a:solidFill>
          <a:ln w="12700">
            <a:solidFill>
              <a:schemeClr val="accent6"/>
            </a:solidFill>
            <a:prstDash val="solid"/>
          </a:ln>
        </p:spPr>
      </p:sp>
      <p:sp>
        <p:nvSpPr>
          <p:cNvPr id="5" name="text-189"/>
          <p:cNvSpPr txBox="1"/>
          <p:nvPr/>
        </p:nvSpPr>
        <p:spPr>
          <a:xfrm>
            <a:off x="731520" y="30175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VISION</a:t>
            </a:r>
            <a:endParaRPr lang="en-US" sz="900" dirty="0"/>
          </a:p>
        </p:txBody>
      </p:sp>
      <p:sp>
        <p:nvSpPr>
          <p:cNvPr id="6" name="title-190"/>
          <p:cNvSpPr txBox="1"/>
          <p:nvPr/>
        </p:nvSpPr>
        <p:spPr>
          <a:xfrm>
            <a:off x="548640" y="3264408"/>
            <a:ext cx="6464808" cy="64008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Our Vision &amp; Mission</a:t>
            </a:r>
            <a:endParaRPr lang="en-US" sz="3400" dirty="0"/>
          </a:p>
        </p:txBody>
      </p:sp>
      <p:sp>
        <p:nvSpPr>
          <p:cNvPr id="7" name="quote-rule-192"/>
          <p:cNvSpPr/>
          <p:nvPr/>
        </p:nvSpPr>
        <p:spPr>
          <a:xfrm>
            <a:off x="548640" y="3950208"/>
            <a:ext cx="548640" cy="45720"/>
          </a:xfrm>
          <a:prstGeom prst="rect">
            <a:avLst/>
          </a:prstGeom>
          <a:solidFill>
            <a:schemeClr val="accent6"/>
          </a:solidFill>
          <a:ln w="12700">
            <a:solidFill>
              <a:schemeClr val="accent6"/>
            </a:solidFill>
            <a:prstDash val="solid"/>
          </a:ln>
        </p:spPr>
      </p:sp>
      <p:sp>
        <p:nvSpPr>
          <p:cNvPr id="8" name="text-193"/>
          <p:cNvSpPr txBox="1"/>
          <p:nvPr/>
        </p:nvSpPr>
        <p:spPr>
          <a:xfrm>
            <a:off x="548640" y="4114800"/>
            <a:ext cx="6464808" cy="777240"/>
          </a:xfrm>
          <a:prstGeom prst="rect">
            <a:avLst/>
          </a:prstGeom>
          <a:noFill/>
          <a:ln/>
        </p:spPr>
        <p:txBody>
          <a:bodyPr wrap="square" lIns="0" tIns="0" rIns="0" bIns="0" rtlCol="0" anchor="t"/>
          <a:lstStyle/>
          <a:p>
            <a:pPr indent="0" marL="0">
              <a:lnSpc>
                <a:spcPct val="102000"/>
              </a:lnSpc>
              <a:buNone/>
            </a:pPr>
            <a:r>
              <a:rPr lang="en-US" sz="1550" b="1" i="1" dirty="0">
                <a:solidFill>
                  <a:schemeClr val="accent6"/>
                </a:solidFill>
                <a:latin typeface="+mj-lt" pitchFamily="34" charset="0"/>
                <a:ea typeface="+mj-lt" pitchFamily="34" charset="-122"/>
                <a:cs typeface="+mj-lt" pitchFamily="34" charset="-120"/>
              </a:rPr>
              <a:t>Our mission: a zero-carbon city where 45,000 people stay warm, fed, safe and happy through the polar night, without harming the tundra.</a:t>
            </a:r>
            <a:endParaRPr lang="en-US" sz="1550" dirty="0"/>
          </a:p>
        </p:txBody>
      </p:sp>
      <p:sp>
        <p:nvSpPr>
          <p:cNvPr id="9" name="text-194"/>
          <p:cNvSpPr txBox="1"/>
          <p:nvPr/>
        </p:nvSpPr>
        <p:spPr>
          <a:xfrm>
            <a:off x="548640" y="49834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WHO IS AFFECTED?</a:t>
            </a:r>
            <a:endParaRPr lang="en-US" sz="900" dirty="0"/>
          </a:p>
        </p:txBody>
      </p:sp>
      <p:sp>
        <p:nvSpPr>
          <p:cNvPr id="10" name="card-195"/>
          <p:cNvSpPr/>
          <p:nvPr/>
        </p:nvSpPr>
        <p:spPr>
          <a:xfrm>
            <a:off x="548640" y="5257800"/>
            <a:ext cx="3140964" cy="1024128"/>
          </a:xfrm>
          <a:prstGeom prst="roundRect">
            <a:avLst>
              <a:gd name="adj" fmla="val 7143"/>
            </a:avLst>
          </a:prstGeom>
          <a:solidFill>
            <a:schemeClr val="bg2"/>
          </a:solidFill>
          <a:ln w="12700">
            <a:solidFill>
              <a:schemeClr val="bg2"/>
            </a:solidFill>
            <a:prstDash val="solid"/>
          </a:ln>
        </p:spPr>
      </p:sp>
      <p:sp>
        <p:nvSpPr>
          <p:cNvPr id="11" name="text-196"/>
          <p:cNvSpPr txBox="1"/>
          <p:nvPr/>
        </p:nvSpPr>
        <p:spPr>
          <a:xfrm>
            <a:off x="685800"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45,000 residents</a:t>
            </a:r>
            <a:endParaRPr lang="en-US" sz="1200" dirty="0"/>
          </a:p>
        </p:txBody>
      </p:sp>
      <p:sp>
        <p:nvSpPr>
          <p:cNvPr id="12" name="text-197"/>
          <p:cNvSpPr txBox="1"/>
          <p:nvPr/>
        </p:nvSpPr>
        <p:spPr>
          <a:xfrm>
            <a:off x="685800"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Families, children, older people and shift workers face −45 °C, two months without sun and 120 km/h blizzards every winter.</a:t>
            </a:r>
            <a:endParaRPr lang="en-US" sz="900" dirty="0"/>
          </a:p>
        </p:txBody>
      </p:sp>
      <p:sp>
        <p:nvSpPr>
          <p:cNvPr id="13" name="card-198"/>
          <p:cNvSpPr/>
          <p:nvPr/>
        </p:nvSpPr>
        <p:spPr>
          <a:xfrm>
            <a:off x="3872484" y="5257800"/>
            <a:ext cx="3140964" cy="1024128"/>
          </a:xfrm>
          <a:prstGeom prst="roundRect">
            <a:avLst>
              <a:gd name="adj" fmla="val 7143"/>
            </a:avLst>
          </a:prstGeom>
          <a:solidFill>
            <a:schemeClr val="bg2"/>
          </a:solidFill>
          <a:ln w="12700">
            <a:solidFill>
              <a:schemeClr val="bg2"/>
            </a:solidFill>
            <a:prstDash val="solid"/>
          </a:ln>
        </p:spPr>
      </p:sp>
      <p:sp>
        <p:nvSpPr>
          <p:cNvPr id="14" name="text-199"/>
          <p:cNvSpPr txBox="1"/>
          <p:nvPr/>
        </p:nvSpPr>
        <p:spPr>
          <a:xfrm>
            <a:off x="4009644" y="5349240"/>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4 million Arctic people</a:t>
            </a:r>
            <a:endParaRPr lang="en-US" sz="1200" dirty="0"/>
          </a:p>
        </p:txBody>
      </p:sp>
      <p:sp>
        <p:nvSpPr>
          <p:cNvPr id="15" name="text-200"/>
          <p:cNvSpPr txBox="1"/>
          <p:nvPr/>
        </p:nvSpPr>
        <p:spPr>
          <a:xfrm>
            <a:off x="4009644" y="5605272"/>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About 4 million people live in the Arctic today [3]. By 2050, nearly 4 million people may live where thawing ground can crack homes, roads and pipes [2].</a:t>
            </a:r>
            <a:endParaRPr lang="en-US" sz="900" dirty="0"/>
          </a:p>
        </p:txBody>
      </p:sp>
      <p:sp>
        <p:nvSpPr>
          <p:cNvPr id="16" name="card-201"/>
          <p:cNvSpPr/>
          <p:nvPr/>
        </p:nvSpPr>
        <p:spPr>
          <a:xfrm>
            <a:off x="548640" y="6373368"/>
            <a:ext cx="3140964" cy="1024128"/>
          </a:xfrm>
          <a:prstGeom prst="roundRect">
            <a:avLst>
              <a:gd name="adj" fmla="val 7143"/>
            </a:avLst>
          </a:prstGeom>
          <a:solidFill>
            <a:schemeClr val="bg2"/>
          </a:solidFill>
          <a:ln w="12700">
            <a:solidFill>
              <a:schemeClr val="bg2"/>
            </a:solidFill>
            <a:prstDash val="solid"/>
          </a:ln>
        </p:spPr>
      </p:sp>
      <p:sp>
        <p:nvSpPr>
          <p:cNvPr id="17" name="text-202"/>
          <p:cNvSpPr txBox="1"/>
          <p:nvPr/>
        </p:nvSpPr>
        <p:spPr>
          <a:xfrm>
            <a:off x="685800"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Supply chains</a:t>
            </a:r>
            <a:endParaRPr lang="en-US" sz="1200" dirty="0"/>
          </a:p>
        </p:txBody>
      </p:sp>
      <p:sp>
        <p:nvSpPr>
          <p:cNvPr id="18" name="text-203"/>
          <p:cNvSpPr txBox="1"/>
          <p:nvPr/>
        </p:nvSpPr>
        <p:spPr>
          <a:xfrm>
            <a:off x="685800"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In deep winter, food, medicine and spare parts can only arrive by air, so one long storm can cut a city off.</a:t>
            </a:r>
            <a:endParaRPr lang="en-US" sz="900" dirty="0"/>
          </a:p>
        </p:txBody>
      </p:sp>
      <p:sp>
        <p:nvSpPr>
          <p:cNvPr id="19" name="card-204"/>
          <p:cNvSpPr/>
          <p:nvPr/>
        </p:nvSpPr>
        <p:spPr>
          <a:xfrm>
            <a:off x="3872484" y="6373368"/>
            <a:ext cx="3140964" cy="1024128"/>
          </a:xfrm>
          <a:prstGeom prst="roundRect">
            <a:avLst>
              <a:gd name="adj" fmla="val 7143"/>
            </a:avLst>
          </a:prstGeom>
          <a:solidFill>
            <a:schemeClr val="bg2"/>
          </a:solidFill>
          <a:ln w="12700">
            <a:solidFill>
              <a:schemeClr val="bg2"/>
            </a:solidFill>
            <a:prstDash val="solid"/>
          </a:ln>
        </p:spPr>
      </p:sp>
      <p:sp>
        <p:nvSpPr>
          <p:cNvPr id="20" name="text-205"/>
          <p:cNvSpPr txBox="1"/>
          <p:nvPr/>
        </p:nvSpPr>
        <p:spPr>
          <a:xfrm>
            <a:off x="4009644" y="6464808"/>
            <a:ext cx="2866644" cy="219456"/>
          </a:xfrm>
          <a:prstGeom prst="rect">
            <a:avLst/>
          </a:prstGeom>
          <a:noFill/>
          <a:ln/>
        </p:spPr>
        <p:txBody>
          <a:bodyPr wrap="square" lIns="0" tIns="0" rIns="0" bIns="0" rtlCol="0" anchor="t"/>
          <a:lstStyle/>
          <a:p>
            <a:pPr indent="0" marL="0">
              <a:buNone/>
            </a:pPr>
            <a:r>
              <a:rPr lang="en-US" sz="1200" b="1" dirty="0">
                <a:solidFill>
                  <a:schemeClr val="accent6"/>
                </a:solidFill>
                <a:latin typeface="+mj-lt" pitchFamily="34" charset="0"/>
                <a:ea typeface="+mj-lt" pitchFamily="34" charset="-122"/>
                <a:cs typeface="+mj-lt" pitchFamily="34" charset="-120"/>
              </a:rPr>
              <a:t>The tundra and its wildlife</a:t>
            </a:r>
            <a:endParaRPr lang="en-US" sz="1200" dirty="0"/>
          </a:p>
        </p:txBody>
      </p:sp>
      <p:sp>
        <p:nvSpPr>
          <p:cNvPr id="21" name="text-206"/>
          <p:cNvSpPr txBox="1"/>
          <p:nvPr/>
        </p:nvSpPr>
        <p:spPr>
          <a:xfrm>
            <a:off x="4009644" y="6720840"/>
            <a:ext cx="28666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Arctic foxes, hares, ptarmigans and reindeer depend on fragile, frozen land that a careless city would pollute, light up or melt.</a:t>
            </a:r>
            <a:endParaRPr lang="en-US" sz="900" dirty="0"/>
          </a:p>
        </p:txBody>
      </p:sp>
      <p:sp>
        <p:nvSpPr>
          <p:cNvPr id="22" name="text-207"/>
          <p:cNvSpPr txBox="1"/>
          <p:nvPr/>
        </p:nvSpPr>
        <p:spPr>
          <a:xfrm>
            <a:off x="548640" y="75895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FIVE DESIGN PRINCIPLES</a:t>
            </a:r>
            <a:endParaRPr lang="en-US" sz="900" dirty="0"/>
          </a:p>
        </p:txBody>
      </p:sp>
      <p:sp>
        <p:nvSpPr>
          <p:cNvPr id="23" name="text-208"/>
          <p:cNvSpPr txBox="1"/>
          <p:nvPr/>
        </p:nvSpPr>
        <p:spPr>
          <a:xfrm>
            <a:off x="548640" y="7845552"/>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01</a:t>
            </a:r>
            <a:endParaRPr lang="en-US" sz="1600" dirty="0"/>
          </a:p>
        </p:txBody>
      </p:sp>
      <p:sp>
        <p:nvSpPr>
          <p:cNvPr id="24" name="text-209"/>
          <p:cNvSpPr txBox="1"/>
          <p:nvPr/>
        </p:nvSpPr>
        <p:spPr>
          <a:xfrm>
            <a:off x="1051560" y="7891272"/>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Heat is life: </a:t>
            </a:r>
            <a:pPr indent="0" marL="0">
              <a:lnSpc>
                <a:spcPct val="104000"/>
              </a:lnSpc>
              <a:buNone/>
            </a:pPr>
            <a:r>
              <a:rPr lang="en-US" sz="1000" dirty="0">
                <a:solidFill>
                  <a:schemeClr val="tx2"/>
                </a:solidFill>
              </a:rPr>
              <a:t>one heating loop, fed by fusion and geothermal heat, warms every building; insulated piles keep the permafrost frozen.</a:t>
            </a:r>
            <a:endParaRPr lang="en-US" sz="1000" dirty="0"/>
          </a:p>
        </p:txBody>
      </p:sp>
      <p:sp>
        <p:nvSpPr>
          <p:cNvPr id="25" name="text-210"/>
          <p:cNvSpPr txBox="1"/>
          <p:nvPr/>
        </p:nvSpPr>
        <p:spPr>
          <a:xfrm>
            <a:off x="548640" y="8275320"/>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02</a:t>
            </a:r>
            <a:endParaRPr lang="en-US" sz="1600" dirty="0"/>
          </a:p>
        </p:txBody>
      </p:sp>
      <p:sp>
        <p:nvSpPr>
          <p:cNvPr id="26" name="text-211"/>
          <p:cNvSpPr txBox="1"/>
          <p:nvPr/>
        </p:nvSpPr>
        <p:spPr>
          <a:xfrm>
            <a:off x="1051560" y="8321040"/>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Zero carbon: </a:t>
            </a:r>
            <a:pPr indent="0" marL="0">
              <a:lnSpc>
                <a:spcPct val="104000"/>
              </a:lnSpc>
              <a:buNone/>
            </a:pPr>
            <a:r>
              <a:rPr lang="en-US" sz="1000" dirty="0">
                <a:solidFill>
                  <a:schemeClr val="tx2"/>
                </a:solidFill>
              </a:rPr>
              <a:t>no fossil fuel burns anywhere; power comes from fusion, wind, sun and geothermal heat.</a:t>
            </a:r>
            <a:endParaRPr lang="en-US" sz="1000" dirty="0"/>
          </a:p>
        </p:txBody>
      </p:sp>
      <p:sp>
        <p:nvSpPr>
          <p:cNvPr id="27" name="text-212"/>
          <p:cNvSpPr txBox="1"/>
          <p:nvPr/>
        </p:nvSpPr>
        <p:spPr>
          <a:xfrm>
            <a:off x="548640" y="8705088"/>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03</a:t>
            </a:r>
            <a:endParaRPr lang="en-US" sz="1600" dirty="0"/>
          </a:p>
        </p:txBody>
      </p:sp>
      <p:sp>
        <p:nvSpPr>
          <p:cNvPr id="28" name="text-213"/>
          <p:cNvSpPr txBox="1"/>
          <p:nvPr/>
        </p:nvSpPr>
        <p:spPr>
          <a:xfrm>
            <a:off x="1051560" y="8750808"/>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Closed loops: </a:t>
            </a:r>
            <a:pPr indent="0" marL="0">
              <a:lnSpc>
                <a:spcPct val="104000"/>
              </a:lnSpc>
              <a:buNone/>
            </a:pPr>
            <a:r>
              <a:rPr lang="en-US" sz="1000" dirty="0">
                <a:solidFill>
                  <a:schemeClr val="tx2"/>
                </a:solidFill>
              </a:rPr>
              <a:t>about 95% of water is recycled and rubbish is reused instead of thrown away.</a:t>
            </a:r>
            <a:endParaRPr lang="en-US" sz="1000" dirty="0"/>
          </a:p>
        </p:txBody>
      </p:sp>
      <p:sp>
        <p:nvSpPr>
          <p:cNvPr id="29" name="text-214"/>
          <p:cNvSpPr txBox="1"/>
          <p:nvPr/>
        </p:nvSpPr>
        <p:spPr>
          <a:xfrm>
            <a:off x="548640" y="9134856"/>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04</a:t>
            </a:r>
            <a:endParaRPr lang="en-US" sz="1600" dirty="0"/>
          </a:p>
        </p:txBody>
      </p:sp>
      <p:sp>
        <p:nvSpPr>
          <p:cNvPr id="30" name="text-215"/>
          <p:cNvSpPr txBox="1"/>
          <p:nvPr/>
        </p:nvSpPr>
        <p:spPr>
          <a:xfrm>
            <a:off x="1051560" y="9180576"/>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Compact and car-light: </a:t>
            </a:r>
            <a:pPr indent="0" marL="0">
              <a:lnSpc>
                <a:spcPct val="104000"/>
              </a:lnSpc>
              <a:buNone/>
            </a:pPr>
            <a:r>
              <a:rPr lang="en-US" sz="1000" dirty="0">
                <a:solidFill>
                  <a:schemeClr val="tx2"/>
                </a:solidFill>
              </a:rPr>
              <a:t>daily needs within a 10-minute walk; the few cars are electric.</a:t>
            </a:r>
            <a:endParaRPr lang="en-US" sz="1000" dirty="0"/>
          </a:p>
        </p:txBody>
      </p:sp>
      <p:sp>
        <p:nvSpPr>
          <p:cNvPr id="31" name="text-216"/>
          <p:cNvSpPr txBox="1"/>
          <p:nvPr/>
        </p:nvSpPr>
        <p:spPr>
          <a:xfrm>
            <a:off x="548640" y="9564624"/>
            <a:ext cx="457200" cy="329184"/>
          </a:xfrm>
          <a:prstGeom prst="rect">
            <a:avLst/>
          </a:prstGeom>
          <a:noFill/>
          <a:ln/>
        </p:spPr>
        <p:txBody>
          <a:bodyPr wrap="square" lIns="0" tIns="0" rIns="0" bIns="0" rtlCol="0" anchor="t"/>
          <a:lstStyle/>
          <a:p>
            <a:pPr indent="0" marL="0">
              <a:buNone/>
            </a:pPr>
            <a:r>
              <a:rPr lang="en-US" sz="1600" b="1" dirty="0">
                <a:solidFill>
                  <a:schemeClr val="accent6"/>
                </a:solidFill>
                <a:latin typeface="+mj-lt" pitchFamily="34" charset="0"/>
                <a:ea typeface="+mj-lt" pitchFamily="34" charset="-122"/>
                <a:cs typeface="+mj-lt" pitchFamily="34" charset="-120"/>
              </a:rPr>
              <a:t>05</a:t>
            </a:r>
            <a:endParaRPr lang="en-US" sz="1600" dirty="0"/>
          </a:p>
        </p:txBody>
      </p:sp>
      <p:sp>
        <p:nvSpPr>
          <p:cNvPr id="32" name="text-217"/>
          <p:cNvSpPr txBox="1"/>
          <p:nvPr/>
        </p:nvSpPr>
        <p:spPr>
          <a:xfrm>
            <a:off x="1051560" y="9610344"/>
            <a:ext cx="5961888" cy="402336"/>
          </a:xfrm>
          <a:prstGeom prst="rect">
            <a:avLst/>
          </a:prstGeom>
          <a:noFill/>
          <a:ln/>
        </p:spPr>
        <p:txBody>
          <a:bodyPr wrap="square" lIns="0" tIns="0" rIns="0" bIns="0" rtlCol="0" anchor="t"/>
          <a:lstStyle/>
          <a:p>
            <a:pPr indent="0" marL="0">
              <a:lnSpc>
                <a:spcPct val="104000"/>
              </a:lnSpc>
              <a:buNone/>
            </a:pPr>
            <a:r>
              <a:rPr lang="en-US" sz="1000" b="1" dirty="0">
                <a:solidFill>
                  <a:schemeClr val="tx1"/>
                </a:solidFill>
              </a:rPr>
              <a:t>Resilient and healthy: </a:t>
            </a:r>
            <a:pPr indent="0" marL="0">
              <a:lnSpc>
                <a:spcPct val="104000"/>
              </a:lnSpc>
              <a:buNone/>
            </a:pPr>
            <a:r>
              <a:rPr lang="en-US" sz="1000" dirty="0">
                <a:solidFill>
                  <a:schemeClr val="tx2"/>
                </a:solidFill>
              </a:rPr>
              <a:t>shelters for 30 days, and light, parks, culture and a spa for the polar night.</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dot-21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1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THE MAP</a:t>
            </a:r>
            <a:endParaRPr lang="en-US" sz="900" dirty="0"/>
          </a:p>
        </p:txBody>
      </p:sp>
      <p:sp>
        <p:nvSpPr>
          <p:cNvPr id="4" name="title-22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The Whole City Plan</a:t>
            </a:r>
            <a:endParaRPr lang="en-US" sz="3600" dirty="0"/>
          </a:p>
        </p:txBody>
      </p:sp>
      <p:sp>
        <p:nvSpPr>
          <p:cNvPr id="5" name="kicker-dot-222"/>
          <p:cNvSpPr/>
          <p:nvPr/>
        </p:nvSpPr>
        <p:spPr>
          <a:xfrm>
            <a:off x="548640" y="1613916"/>
            <a:ext cx="100584" cy="100584"/>
          </a:xfrm>
          <a:prstGeom prst="ellipse">
            <a:avLst/>
          </a:prstGeom>
          <a:solidFill>
            <a:schemeClr val="tx1"/>
          </a:solidFill>
          <a:ln w="12700">
            <a:solidFill>
              <a:schemeClr val="tx1"/>
            </a:solidFill>
            <a:prstDash val="solid"/>
          </a:ln>
        </p:spPr>
      </p:sp>
      <p:sp>
        <p:nvSpPr>
          <p:cNvPr id="6" name="text-223"/>
          <p:cNvSpPr txBox="1"/>
          <p:nvPr/>
        </p:nvSpPr>
        <p:spPr>
          <a:xfrm>
            <a:off x="731520" y="1572768"/>
            <a:ext cx="2912364" cy="201168"/>
          </a:xfrm>
          <a:prstGeom prst="rect">
            <a:avLst/>
          </a:prstGeom>
          <a:noFill/>
          <a:ln/>
        </p:spPr>
        <p:txBody>
          <a:bodyPr wrap="square" lIns="0" tIns="0" rIns="0" bIns="0" rtlCol="0" anchor="t"/>
          <a:lstStyle/>
          <a:p>
            <a:pPr indent="0" marL="0">
              <a:buNone/>
            </a:pPr>
            <a:r>
              <a:rPr lang="en-US" sz="900" b="1" spc="300" kern="0" dirty="0">
                <a:solidFill>
                  <a:schemeClr val="tx1"/>
                </a:solidFill>
              </a:rPr>
              <a:t>DOWNTOWN</a:t>
            </a:r>
            <a:endParaRPr lang="en-US" sz="900" dirty="0"/>
          </a:p>
        </p:txBody>
      </p:sp>
      <p:sp>
        <p:nvSpPr>
          <p:cNvPr id="7" name="text-224"/>
          <p:cNvSpPr txBox="1"/>
          <p:nvPr/>
        </p:nvSpPr>
        <p:spPr>
          <a:xfrm>
            <a:off x="548640"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Nine blocks around the Aurora Roundabout and the President Ho Chi Minh Monument, with the hospital, schools, shops and the metro interchange.</a:t>
            </a:r>
            <a:endParaRPr lang="en-US" sz="900" dirty="0"/>
          </a:p>
        </p:txBody>
      </p:sp>
      <p:sp>
        <p:nvSpPr>
          <p:cNvPr id="8" name="kicker-dot-225"/>
          <p:cNvSpPr/>
          <p:nvPr/>
        </p:nvSpPr>
        <p:spPr>
          <a:xfrm>
            <a:off x="3918204" y="1613916"/>
            <a:ext cx="100584" cy="100584"/>
          </a:xfrm>
          <a:prstGeom prst="ellipse">
            <a:avLst/>
          </a:prstGeom>
          <a:solidFill>
            <a:schemeClr val="accent6"/>
          </a:solidFill>
          <a:ln w="12700">
            <a:solidFill>
              <a:schemeClr val="accent6"/>
            </a:solidFill>
            <a:prstDash val="solid"/>
          </a:ln>
        </p:spPr>
      </p:sp>
      <p:sp>
        <p:nvSpPr>
          <p:cNvPr id="9" name="text-226"/>
          <p:cNvSpPr txBox="1"/>
          <p:nvPr/>
        </p:nvSpPr>
        <p:spPr>
          <a:xfrm>
            <a:off x="4101084" y="157276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NORTH</a:t>
            </a:r>
            <a:endParaRPr lang="en-US" sz="900" dirty="0"/>
          </a:p>
        </p:txBody>
      </p:sp>
      <p:sp>
        <p:nvSpPr>
          <p:cNvPr id="10" name="text-227"/>
          <p:cNvSpPr txBox="1"/>
          <p:nvPr/>
        </p:nvSpPr>
        <p:spPr>
          <a:xfrm>
            <a:off x="3918204" y="1828800"/>
            <a:ext cx="3095244"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windy north holds the Northern Renewable Park, the energy hub, the Polar Rescue and Resilience Station and the airport.</a:t>
            </a:r>
            <a:endParaRPr lang="en-US" sz="900" dirty="0"/>
          </a:p>
        </p:txBody>
      </p:sp>
      <p:pic>
        <p:nvPicPr>
          <p:cNvPr id="11" name="master-plan-left" descr="/home/user/chatbox-bi-n-o/magazine/assets/plans/01_city_master_plan_L.png">    </p:cNvPr>
          <p:cNvPicPr>
            <a:picLocks noChangeAspect="1"/>
          </p:cNvPicPr>
          <p:nvPr/>
        </p:nvPicPr>
        <p:blipFill>
          <a:blip r:embed="rId1"/>
          <a:stretch>
            <a:fillRect/>
          </a:stretch>
        </p:blipFill>
        <p:spPr>
          <a:xfrm>
            <a:off x="1935011" y="2514600"/>
            <a:ext cx="5627077" cy="7315200"/>
          </a:xfrm>
          <a:prstGeom prst="rect">
            <a:avLst/>
          </a:prstGeom>
        </p:spPr>
      </p:pic>
      <p:sp>
        <p:nvSpPr>
          <p:cNvPr id="12" name="text-228"/>
          <p:cNvSpPr txBox="1"/>
          <p:nvPr/>
        </p:nvSpPr>
        <p:spPr>
          <a:xfrm>
            <a:off x="548640" y="8092440"/>
            <a:ext cx="1249211" cy="1737360"/>
          </a:xfrm>
          <a:prstGeom prst="rect">
            <a:avLst/>
          </a:prstGeom>
          <a:noFill/>
          <a:ln/>
        </p:spPr>
        <p:txBody>
          <a:bodyPr wrap="square" lIns="0" tIns="0" rIns="0" bIns="0" rtlCol="0" anchor="b"/>
          <a:lstStyle/>
          <a:p>
            <a:pPr indent="0" marL="0">
              <a:buNone/>
            </a:pPr>
            <a:r>
              <a:rPr lang="en-US" sz="850" i="1" dirty="0">
                <a:solidFill>
                  <a:schemeClr val="tx2"/>
                </a:solidFill>
              </a:rPr>
              <a:t>Aurora Haven – City Master Plan. North is up; one unit is one metre. Drawn from the 3D model; the numbers are the 35 places listed on page 36.</a:t>
            </a:r>
            <a:endParaRPr lang="en-US" sz="8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master-plan-right" descr="/home/user/chatbox-bi-n-o/magazine/assets/plans/01_city_master_plan_R.png">    </p:cNvPr>
          <p:cNvPicPr>
            <a:picLocks noChangeAspect="1"/>
          </p:cNvPicPr>
          <p:nvPr/>
        </p:nvPicPr>
        <p:blipFill>
          <a:blip r:embed="rId1"/>
          <a:stretch>
            <a:fillRect/>
          </a:stretch>
        </p:blipFill>
        <p:spPr>
          <a:xfrm>
            <a:off x="0" y="2514600"/>
            <a:ext cx="5627077" cy="7315200"/>
          </a:xfrm>
          <a:prstGeom prst="rect">
            <a:avLst/>
          </a:prstGeom>
        </p:spPr>
      </p:pic>
      <p:sp>
        <p:nvSpPr>
          <p:cNvPr id="3" name="kicker-dot-229"/>
          <p:cNvSpPr/>
          <p:nvPr/>
        </p:nvSpPr>
        <p:spPr>
          <a:xfrm>
            <a:off x="548640" y="1613916"/>
            <a:ext cx="100584" cy="100584"/>
          </a:xfrm>
          <a:prstGeom prst="ellipse">
            <a:avLst/>
          </a:prstGeom>
          <a:solidFill>
            <a:schemeClr val="tx2"/>
          </a:solidFill>
          <a:ln w="12700">
            <a:solidFill>
              <a:schemeClr val="tx2"/>
            </a:solidFill>
            <a:prstDash val="solid"/>
          </a:ln>
        </p:spPr>
      </p:sp>
      <p:sp>
        <p:nvSpPr>
          <p:cNvPr id="4" name="text-230"/>
          <p:cNvSpPr txBox="1"/>
          <p:nvPr/>
        </p:nvSpPr>
        <p:spPr>
          <a:xfrm>
            <a:off x="731520" y="1572768"/>
            <a:ext cx="1850136" cy="201168"/>
          </a:xfrm>
          <a:prstGeom prst="rect">
            <a:avLst/>
          </a:prstGeom>
          <a:noFill/>
          <a:ln/>
        </p:spPr>
        <p:txBody>
          <a:bodyPr wrap="square" lIns="0" tIns="0" rIns="0" bIns="0" rtlCol="0" anchor="t"/>
          <a:lstStyle/>
          <a:p>
            <a:pPr indent="0" marL="0">
              <a:buNone/>
            </a:pPr>
            <a:r>
              <a:rPr lang="en-US" sz="900" b="1" spc="300" kern="0" dirty="0">
                <a:solidFill>
                  <a:schemeClr val="tx2"/>
                </a:solidFill>
              </a:rPr>
              <a:t>WEST</a:t>
            </a:r>
            <a:endParaRPr lang="en-US" sz="900" dirty="0"/>
          </a:p>
        </p:txBody>
      </p:sp>
      <p:sp>
        <p:nvSpPr>
          <p:cNvPr id="5" name="text-231"/>
          <p:cNvSpPr txBox="1"/>
          <p:nvPr/>
        </p:nvSpPr>
        <p:spPr>
          <a:xfrm>
            <a:off x="548640"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The air base and garrison, behind a belt of trees that screens the eco-homes.</a:t>
            </a:r>
            <a:endParaRPr lang="en-US" sz="900" dirty="0"/>
          </a:p>
        </p:txBody>
      </p:sp>
      <p:sp>
        <p:nvSpPr>
          <p:cNvPr id="6" name="kicker-dot-232"/>
          <p:cNvSpPr/>
          <p:nvPr/>
        </p:nvSpPr>
        <p:spPr>
          <a:xfrm>
            <a:off x="2764536" y="1613916"/>
            <a:ext cx="100584" cy="100584"/>
          </a:xfrm>
          <a:prstGeom prst="ellipse">
            <a:avLst/>
          </a:prstGeom>
          <a:solidFill>
            <a:schemeClr val="accent4"/>
          </a:solidFill>
          <a:ln w="12700">
            <a:solidFill>
              <a:schemeClr val="accent4"/>
            </a:solidFill>
            <a:prstDash val="solid"/>
          </a:ln>
        </p:spPr>
      </p:sp>
      <p:sp>
        <p:nvSpPr>
          <p:cNvPr id="7" name="text-233"/>
          <p:cNvSpPr txBox="1"/>
          <p:nvPr/>
        </p:nvSpPr>
        <p:spPr>
          <a:xfrm>
            <a:off x="2947416"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4"/>
                </a:solidFill>
              </a:rPr>
              <a:t>EAST</a:t>
            </a:r>
            <a:endParaRPr lang="en-US" sz="900" dirty="0"/>
          </a:p>
        </p:txBody>
      </p:sp>
      <p:sp>
        <p:nvSpPr>
          <p:cNvPr id="8" name="text-234"/>
          <p:cNvSpPr txBox="1"/>
          <p:nvPr/>
        </p:nvSpPr>
        <p:spPr>
          <a:xfrm>
            <a:off x="2764536"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Greenhouses, the snow stadium, the fusion station and the Snow-to-Food plant, linked by pipe bridges and heat mains.</a:t>
            </a:r>
            <a:endParaRPr lang="en-US" sz="900" dirty="0"/>
          </a:p>
        </p:txBody>
      </p:sp>
      <p:sp>
        <p:nvSpPr>
          <p:cNvPr id="9" name="kicker-dot-235"/>
          <p:cNvSpPr/>
          <p:nvPr/>
        </p:nvSpPr>
        <p:spPr>
          <a:xfrm>
            <a:off x="4980432" y="1613916"/>
            <a:ext cx="100584" cy="100584"/>
          </a:xfrm>
          <a:prstGeom prst="ellipse">
            <a:avLst/>
          </a:prstGeom>
          <a:solidFill>
            <a:schemeClr val="accent5"/>
          </a:solidFill>
          <a:ln w="12700">
            <a:solidFill>
              <a:schemeClr val="accent5"/>
            </a:solidFill>
            <a:prstDash val="solid"/>
          </a:ln>
        </p:spPr>
      </p:sp>
      <p:sp>
        <p:nvSpPr>
          <p:cNvPr id="10" name="text-236"/>
          <p:cNvSpPr txBox="1"/>
          <p:nvPr/>
        </p:nvSpPr>
        <p:spPr>
          <a:xfrm>
            <a:off x="5163312" y="1572768"/>
            <a:ext cx="1850136" cy="201168"/>
          </a:xfrm>
          <a:prstGeom prst="rect">
            <a:avLst/>
          </a:prstGeom>
          <a:noFill/>
          <a:ln/>
        </p:spPr>
        <p:txBody>
          <a:bodyPr wrap="square" lIns="0" tIns="0" rIns="0" bIns="0" rtlCol="0" anchor="t"/>
          <a:lstStyle/>
          <a:p>
            <a:pPr indent="0" marL="0">
              <a:buNone/>
            </a:pPr>
            <a:r>
              <a:rPr lang="en-US" sz="900" b="1" spc="300" kern="0" dirty="0">
                <a:solidFill>
                  <a:schemeClr val="accent5"/>
                </a:solidFill>
              </a:rPr>
              <a:t>SOUTH</a:t>
            </a:r>
            <a:endParaRPr lang="en-US" sz="900" dirty="0"/>
          </a:p>
        </p:txBody>
      </p:sp>
      <p:sp>
        <p:nvSpPr>
          <p:cNvPr id="11" name="text-237"/>
          <p:cNvSpPr txBox="1"/>
          <p:nvPr/>
        </p:nvSpPr>
        <p:spPr>
          <a:xfrm>
            <a:off x="4980432" y="1828800"/>
            <a:ext cx="2033016" cy="640080"/>
          </a:xfrm>
          <a:prstGeom prst="rect">
            <a:avLst/>
          </a:prstGeom>
          <a:noFill/>
          <a:ln/>
        </p:spPr>
        <p:txBody>
          <a:bodyPr wrap="square" lIns="0" tIns="0" rIns="0" bIns="0" rtlCol="0" anchor="t"/>
          <a:lstStyle/>
          <a:p>
            <a:pPr indent="0" marL="0">
              <a:lnSpc>
                <a:spcPct val="104000"/>
              </a:lnSpc>
              <a:buNone/>
            </a:pPr>
            <a:r>
              <a:rPr lang="en-US" sz="900" dirty="0">
                <a:solidFill>
                  <a:schemeClr val="tx1"/>
                </a:solidFill>
              </a:rPr>
              <a:t>Framed by Liberty Mall, Mount Aurora rises with its geothermal spa resort inside.</a:t>
            </a:r>
            <a:endParaRPr lang="en-US" sz="9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icture-238" descr="/home/user/chatbox-bi-n-o/magazine/assets/renders/liberty_dusk_L.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39" descr="/home/user/chatbox-bi-n-o/magazine/assets/ui/shade_bottom.png">    </p:cNvPr>
          <p:cNvPicPr>
            <a:picLocks noChangeAspect="1"/>
          </p:cNvPicPr>
          <p:nvPr/>
        </p:nvPicPr>
        <p:blipFill>
          <a:blip r:embed="rId2"/>
          <a:stretch>
            <a:fillRect/>
          </a:stretch>
        </p:blipFill>
        <p:spPr>
          <a:xfrm>
            <a:off x="0" y="5120640"/>
            <a:ext cx="7562088" cy="5568696"/>
          </a:xfrm>
          <a:prstGeom prst="rect">
            <a:avLst/>
          </a:prstGeom>
        </p:spPr>
      </p:pic>
      <p:sp>
        <p:nvSpPr>
          <p:cNvPr id="4" name="kicker-dot-240"/>
          <p:cNvSpPr/>
          <p:nvPr/>
        </p:nvSpPr>
        <p:spPr>
          <a:xfrm>
            <a:off x="548640" y="6944868"/>
            <a:ext cx="100584" cy="100584"/>
          </a:xfrm>
          <a:prstGeom prst="ellipse">
            <a:avLst/>
          </a:prstGeom>
          <a:solidFill>
            <a:schemeClr val="accent1"/>
          </a:solidFill>
          <a:ln w="12700">
            <a:solidFill>
              <a:schemeClr val="accent1"/>
            </a:solidFill>
            <a:prstDash val="solid"/>
          </a:ln>
        </p:spPr>
      </p:sp>
      <p:sp>
        <p:nvSpPr>
          <p:cNvPr id="5" name="text-241"/>
          <p:cNvSpPr txBox="1"/>
          <p:nvPr/>
        </p:nvSpPr>
        <p:spPr>
          <a:xfrm>
            <a:off x="731520" y="690372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DOWNTOWN</a:t>
            </a:r>
            <a:endParaRPr lang="en-US" sz="900" dirty="0"/>
          </a:p>
        </p:txBody>
      </p:sp>
      <p:sp>
        <p:nvSpPr>
          <p:cNvPr id="6" name="title-242"/>
          <p:cNvSpPr txBox="1"/>
          <p:nvPr/>
        </p:nvSpPr>
        <p:spPr>
          <a:xfrm>
            <a:off x="548640" y="7159752"/>
            <a:ext cx="6464808" cy="137160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Nine Blocks, One Short Walk</a:t>
            </a:r>
            <a:endParaRPr lang="en-US" sz="4400" dirty="0"/>
          </a:p>
        </p:txBody>
      </p:sp>
      <p:sp>
        <p:nvSpPr>
          <p:cNvPr id="7" name="text-244"/>
          <p:cNvSpPr txBox="1"/>
          <p:nvPr/>
        </p:nvSpPr>
        <p:spPr>
          <a:xfrm>
            <a:off x="548640" y="8503920"/>
            <a:ext cx="6464808" cy="59436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Shops, schools, healthcare and homes within a short walk of each other, around the Aurora Roundabout.</a:t>
            </a:r>
            <a:endParaRPr lang="en-US" sz="1400" dirty="0"/>
          </a:p>
        </p:txBody>
      </p:sp>
      <p:sp>
        <p:nvSpPr>
          <p:cNvPr id="8" name="text-245"/>
          <p:cNvSpPr txBox="1"/>
          <p:nvPr/>
        </p:nvSpPr>
        <p:spPr>
          <a:xfrm>
            <a:off x="548640" y="9189720"/>
            <a:ext cx="6464808" cy="868680"/>
          </a:xfrm>
          <a:prstGeom prst="rect">
            <a:avLst/>
          </a:prstGeom>
          <a:noFill/>
          <a:ln/>
        </p:spPr>
        <p:txBody>
          <a:bodyPr wrap="square" lIns="0" tIns="0" rIns="0" bIns="0" rtlCol="0" anchor="t"/>
          <a:lstStyle/>
          <a:p>
            <a:pPr indent="0" marL="0">
              <a:lnSpc>
                <a:spcPct val="110000"/>
              </a:lnSpc>
              <a:buNone/>
            </a:pPr>
            <a:r>
              <a:rPr lang="en-US" sz="1000" dirty="0">
                <a:solidFill>
                  <a:schemeClr val="bg1"/>
                </a:solidFill>
              </a:rPr>
              <a:t>Downtown is laid out in nine blocks around the Aurora Roundabout and the President Ho Chi Minh Monument. The metro interchange lies under Liberty Mall, the tree-lined promenade through the four central blocks, which hosts festivals, markets and parades.</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picture-246" descr="/home/user/chatbox-bi-n-o/magazine/assets/renders/liberty_dusk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247" descr="/home/user/chatbox-bi-n-o/magazine/assets/ui/shade_bottom.png">    </p:cNvPr>
          <p:cNvPicPr>
            <a:picLocks noChangeAspect="1"/>
          </p:cNvPicPr>
          <p:nvPr/>
        </p:nvPicPr>
        <p:blipFill>
          <a:blip r:embed="rId2"/>
          <a:stretch>
            <a:fillRect/>
          </a:stretch>
        </p:blipFill>
        <p:spPr>
          <a:xfrm>
            <a:off x="0" y="8229600"/>
            <a:ext cx="7562088" cy="2459736"/>
          </a:xfrm>
          <a:prstGeom prst="rect">
            <a:avLst/>
          </a:prstGeom>
        </p:spPr>
      </p:pic>
      <p:sp>
        <p:nvSpPr>
          <p:cNvPr id="4" name="text-248"/>
          <p:cNvSpPr txBox="1"/>
          <p:nvPr/>
        </p:nvSpPr>
        <p:spPr>
          <a:xfrm>
            <a:off x="2990088" y="937260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Liberty Mall at dusk, looking north to the President Ho Chi Minh Monument. Its granite plaza is warmed from below by the heating loop and never ices, and twin lanterns line the way.</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kicker-dot-249"/>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5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DOWNTOWN</a:t>
            </a:r>
            <a:endParaRPr lang="en-US" sz="900" dirty="0"/>
          </a:p>
        </p:txBody>
      </p:sp>
      <p:sp>
        <p:nvSpPr>
          <p:cNvPr id="4" name="title-25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The Nine Blocks</a:t>
            </a:r>
            <a:endParaRPr lang="en-US" sz="3400" dirty="0"/>
          </a:p>
        </p:txBody>
      </p:sp>
      <p:pic>
        <p:nvPicPr>
          <p:cNvPr id="5" name="picture-253" descr="/home/user/chatbox-bi-n-o/magazine/assets/renders/downtown_aerial.jpg">    </p:cNvPr>
          <p:cNvPicPr>
            <a:picLocks noChangeAspect="1"/>
          </p:cNvPicPr>
          <p:nvPr/>
        </p:nvPicPr>
        <p:blipFill>
          <a:blip r:embed="rId1"/>
          <a:srcRect l="0" r="0" t="0" b="0"/>
          <a:stretch/>
        </p:blipFill>
        <p:spPr>
          <a:xfrm>
            <a:off x="0" y="1508760"/>
            <a:ext cx="7562088" cy="3794760"/>
          </a:xfrm>
          <a:prstGeom prst="rect">
            <a:avLst/>
          </a:prstGeom>
        </p:spPr>
      </p:pic>
      <p:sp>
        <p:nvSpPr>
          <p:cNvPr id="6" name="text-254"/>
          <p:cNvSpPr txBox="1"/>
          <p:nvPr/>
        </p:nvSpPr>
        <p:spPr>
          <a:xfrm>
            <a:off x="548640" y="5367528"/>
            <a:ext cx="6464808" cy="228600"/>
          </a:xfrm>
          <a:prstGeom prst="rect">
            <a:avLst/>
          </a:prstGeom>
          <a:noFill/>
          <a:ln/>
        </p:spPr>
        <p:txBody>
          <a:bodyPr wrap="square" lIns="0" tIns="0" rIns="0" bIns="0" rtlCol="0" anchor="t"/>
          <a:lstStyle/>
          <a:p>
            <a:pPr indent="0" marL="0">
              <a:buNone/>
            </a:pPr>
            <a:r>
              <a:rPr lang="en-US" sz="850" i="1" dirty="0">
                <a:solidFill>
                  <a:schemeClr val="tx2"/>
                </a:solidFill>
              </a:rPr>
              <a:t>Downtown from the south-east. The map below follows the city plan, with north at the top.</a:t>
            </a:r>
            <a:endParaRPr lang="en-US" sz="850" dirty="0"/>
          </a:p>
        </p:txBody>
      </p:sp>
      <p:sp>
        <p:nvSpPr>
          <p:cNvPr id="7" name="card-255"/>
          <p:cNvSpPr/>
          <p:nvPr/>
        </p:nvSpPr>
        <p:spPr>
          <a:xfrm>
            <a:off x="548640" y="5760720"/>
            <a:ext cx="2093976" cy="1344168"/>
          </a:xfrm>
          <a:prstGeom prst="roundRect">
            <a:avLst>
              <a:gd name="adj" fmla="val 5442"/>
            </a:avLst>
          </a:prstGeom>
          <a:solidFill>
            <a:schemeClr val="bg2"/>
          </a:solidFill>
          <a:ln w="12700">
            <a:solidFill>
              <a:schemeClr val="bg2"/>
            </a:solidFill>
            <a:prstDash val="solid"/>
          </a:ln>
        </p:spPr>
      </p:sp>
      <p:sp>
        <p:nvSpPr>
          <p:cNvPr id="8" name="text-256"/>
          <p:cNvSpPr txBox="1"/>
          <p:nvPr/>
        </p:nvSpPr>
        <p:spPr>
          <a:xfrm>
            <a:off x="667512"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Polaris Quarter</a:t>
            </a:r>
            <a:endParaRPr lang="en-US" sz="1050" dirty="0"/>
          </a:p>
        </p:txBody>
      </p:sp>
      <p:sp>
        <p:nvSpPr>
          <p:cNvPr id="9" name="text-257"/>
          <p:cNvSpPr txBox="1"/>
          <p:nvPr/>
        </p:nvSpPr>
        <p:spPr>
          <a:xfrm>
            <a:off x="667512"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Core – AI Control Tower · Aurora Haven Police Headquarters · Polaris Green Office Tower</a:t>
            </a:r>
            <a:endParaRPr lang="en-US" sz="950" dirty="0"/>
          </a:p>
        </p:txBody>
      </p:sp>
      <p:sp>
        <p:nvSpPr>
          <p:cNvPr id="10" name="card-258"/>
          <p:cNvSpPr/>
          <p:nvPr/>
        </p:nvSpPr>
        <p:spPr>
          <a:xfrm>
            <a:off x="2734056" y="5760720"/>
            <a:ext cx="2093976" cy="1344168"/>
          </a:xfrm>
          <a:prstGeom prst="roundRect">
            <a:avLst>
              <a:gd name="adj" fmla="val 5442"/>
            </a:avLst>
          </a:prstGeom>
          <a:solidFill>
            <a:schemeClr val="bg2"/>
          </a:solidFill>
          <a:ln w="12700">
            <a:solidFill>
              <a:schemeClr val="bg2"/>
            </a:solidFill>
            <a:prstDash val="solid"/>
          </a:ln>
        </p:spPr>
      </p:sp>
      <p:sp>
        <p:nvSpPr>
          <p:cNvPr id="11" name="text-259"/>
          <p:cNvSpPr txBox="1"/>
          <p:nvPr/>
        </p:nvSpPr>
        <p:spPr>
          <a:xfrm>
            <a:off x="2852928"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Knowledge Quarter</a:t>
            </a:r>
            <a:endParaRPr lang="en-US" sz="1050" dirty="0"/>
          </a:p>
        </p:txBody>
      </p:sp>
      <p:sp>
        <p:nvSpPr>
          <p:cNvPr id="12" name="text-260"/>
          <p:cNvSpPr txBox="1"/>
          <p:nvPr/>
        </p:nvSpPr>
        <p:spPr>
          <a:xfrm>
            <a:off x="2852928"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University – Main Hall · Aurora Public Library</a:t>
            </a:r>
            <a:endParaRPr lang="en-US" sz="950" dirty="0"/>
          </a:p>
        </p:txBody>
      </p:sp>
      <p:sp>
        <p:nvSpPr>
          <p:cNvPr id="13" name="card-261"/>
          <p:cNvSpPr/>
          <p:nvPr/>
        </p:nvSpPr>
        <p:spPr>
          <a:xfrm>
            <a:off x="4919472" y="5760720"/>
            <a:ext cx="2093976" cy="1344168"/>
          </a:xfrm>
          <a:prstGeom prst="roundRect">
            <a:avLst>
              <a:gd name="adj" fmla="val 5442"/>
            </a:avLst>
          </a:prstGeom>
          <a:solidFill>
            <a:schemeClr val="bg2"/>
          </a:solidFill>
          <a:ln w="12700">
            <a:solidFill>
              <a:schemeClr val="bg2"/>
            </a:solidFill>
            <a:prstDash val="solid"/>
          </a:ln>
        </p:spPr>
      </p:sp>
      <p:sp>
        <p:nvSpPr>
          <p:cNvPr id="14" name="text-262"/>
          <p:cNvSpPr txBox="1"/>
          <p:nvPr/>
        </p:nvSpPr>
        <p:spPr>
          <a:xfrm>
            <a:off x="5038344" y="5870448"/>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Financial District</a:t>
            </a:r>
            <a:endParaRPr lang="en-US" sz="1050" dirty="0"/>
          </a:p>
        </p:txBody>
      </p:sp>
      <p:sp>
        <p:nvSpPr>
          <p:cNvPr id="15" name="text-263"/>
          <p:cNvSpPr txBox="1"/>
          <p:nvPr/>
        </p:nvSpPr>
        <p:spPr>
          <a:xfrm>
            <a:off x="5038344" y="6144768"/>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Arctic Stock Exchange · Aurora Green Finance Hall · Snowline Courthouse · Aurora Business Hotel</a:t>
            </a:r>
            <a:endParaRPr lang="en-US" sz="950" dirty="0"/>
          </a:p>
        </p:txBody>
      </p:sp>
      <p:sp>
        <p:nvSpPr>
          <p:cNvPr id="16" name="card-264"/>
          <p:cNvSpPr/>
          <p:nvPr/>
        </p:nvSpPr>
        <p:spPr>
          <a:xfrm>
            <a:off x="548640" y="7196328"/>
            <a:ext cx="2093976" cy="1344168"/>
          </a:xfrm>
          <a:prstGeom prst="roundRect">
            <a:avLst>
              <a:gd name="adj" fmla="val 5442"/>
            </a:avLst>
          </a:prstGeom>
          <a:solidFill>
            <a:schemeClr val="bg2"/>
          </a:solidFill>
          <a:ln w="12700">
            <a:solidFill>
              <a:schemeClr val="bg2"/>
            </a:solidFill>
            <a:prstDash val="solid"/>
          </a:ln>
        </p:spPr>
      </p:sp>
      <p:sp>
        <p:nvSpPr>
          <p:cNvPr id="17" name="text-265"/>
          <p:cNvSpPr txBox="1"/>
          <p:nvPr/>
        </p:nvSpPr>
        <p:spPr>
          <a:xfrm>
            <a:off x="667512"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West Market Street</a:t>
            </a:r>
            <a:endParaRPr lang="en-US" sz="1050" dirty="0"/>
          </a:p>
        </p:txBody>
      </p:sp>
      <p:sp>
        <p:nvSpPr>
          <p:cNvPr id="18" name="text-266"/>
          <p:cNvSpPr txBox="1"/>
          <p:nvPr/>
        </p:nvSpPr>
        <p:spPr>
          <a:xfrm>
            <a:off x="667512"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West Market Fire &amp; Ambulance Station · Aurora Night Market Hall · Polar Pharmacy</a:t>
            </a:r>
            <a:endParaRPr lang="en-US" sz="950" dirty="0"/>
          </a:p>
        </p:txBody>
      </p:sp>
      <p:sp>
        <p:nvSpPr>
          <p:cNvPr id="19" name="card-267"/>
          <p:cNvSpPr/>
          <p:nvPr/>
        </p:nvSpPr>
        <p:spPr>
          <a:xfrm>
            <a:off x="2734056" y="7196328"/>
            <a:ext cx="2093976" cy="1344168"/>
          </a:xfrm>
          <a:prstGeom prst="roundRect">
            <a:avLst>
              <a:gd name="adj" fmla="val 5442"/>
            </a:avLst>
          </a:prstGeom>
          <a:solidFill>
            <a:schemeClr val="tx1"/>
          </a:solidFill>
          <a:ln w="12700">
            <a:solidFill>
              <a:schemeClr val="tx1"/>
            </a:solidFill>
            <a:prstDash val="solid"/>
          </a:ln>
        </p:spPr>
      </p:sp>
      <p:sp>
        <p:nvSpPr>
          <p:cNvPr id="20" name="text-268"/>
          <p:cNvSpPr txBox="1"/>
          <p:nvPr/>
        </p:nvSpPr>
        <p:spPr>
          <a:xfrm>
            <a:off x="2852928" y="7306056"/>
            <a:ext cx="1856232" cy="219456"/>
          </a:xfrm>
          <a:prstGeom prst="rect">
            <a:avLst/>
          </a:prstGeom>
          <a:noFill/>
          <a:ln/>
        </p:spPr>
        <p:txBody>
          <a:bodyPr wrap="square" lIns="0" tIns="0" rIns="0" bIns="0" rtlCol="0" anchor="t"/>
          <a:lstStyle/>
          <a:p>
            <a:pPr indent="0" marL="0">
              <a:buNone/>
            </a:pPr>
            <a:r>
              <a:rPr lang="en-US" sz="1050" b="1" dirty="0">
                <a:solidFill>
                  <a:schemeClr val="accent1"/>
                </a:solidFill>
              </a:rPr>
              <a:t>Civic Core &amp; Liberty Mall</a:t>
            </a:r>
            <a:endParaRPr lang="en-US" sz="1050" dirty="0"/>
          </a:p>
        </p:txBody>
      </p:sp>
      <p:sp>
        <p:nvSpPr>
          <p:cNvPr id="21" name="text-269"/>
          <p:cNvSpPr txBox="1"/>
          <p:nvPr/>
        </p:nvSpPr>
        <p:spPr>
          <a:xfrm>
            <a:off x="2852928"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bg1"/>
                </a:solidFill>
              </a:rPr>
              <a:t>President Ho Chi Minh Monument · Civic Center · Snowflake General Hospital · Northern Lights School · Igloo Fresh · Aurora Cinema · Metro</a:t>
            </a:r>
            <a:endParaRPr lang="en-US" sz="950" dirty="0"/>
          </a:p>
        </p:txBody>
      </p:sp>
      <p:sp>
        <p:nvSpPr>
          <p:cNvPr id="22" name="card-270"/>
          <p:cNvSpPr/>
          <p:nvPr/>
        </p:nvSpPr>
        <p:spPr>
          <a:xfrm>
            <a:off x="4919472" y="7196328"/>
            <a:ext cx="2093976" cy="1344168"/>
          </a:xfrm>
          <a:prstGeom prst="roundRect">
            <a:avLst>
              <a:gd name="adj" fmla="val 5442"/>
            </a:avLst>
          </a:prstGeom>
          <a:solidFill>
            <a:schemeClr val="bg2"/>
          </a:solidFill>
          <a:ln w="12700">
            <a:solidFill>
              <a:schemeClr val="bg2"/>
            </a:solidFill>
            <a:prstDash val="solid"/>
          </a:ln>
        </p:spPr>
      </p:sp>
      <p:sp>
        <p:nvSpPr>
          <p:cNvPr id="23" name="text-271"/>
          <p:cNvSpPr txBox="1"/>
          <p:nvPr/>
        </p:nvSpPr>
        <p:spPr>
          <a:xfrm>
            <a:off x="5038344" y="7306056"/>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East Gallery Avenue</a:t>
            </a:r>
            <a:endParaRPr lang="en-US" sz="1050" dirty="0"/>
          </a:p>
        </p:txBody>
      </p:sp>
      <p:sp>
        <p:nvSpPr>
          <p:cNvPr id="24" name="text-272"/>
          <p:cNvSpPr txBox="1"/>
          <p:nvPr/>
        </p:nvSpPr>
        <p:spPr>
          <a:xfrm>
            <a:off x="5038344" y="7580376"/>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Glacier Mall &amp; Crystal Atrium · Snow Lantern Primary School · Northern Lights Music Hall</a:t>
            </a:r>
            <a:endParaRPr lang="en-US" sz="950" dirty="0"/>
          </a:p>
        </p:txBody>
      </p:sp>
      <p:sp>
        <p:nvSpPr>
          <p:cNvPr id="25" name="card-273"/>
          <p:cNvSpPr/>
          <p:nvPr/>
        </p:nvSpPr>
        <p:spPr>
          <a:xfrm>
            <a:off x="548640" y="8631936"/>
            <a:ext cx="2093976" cy="1344168"/>
          </a:xfrm>
          <a:prstGeom prst="roundRect">
            <a:avLst>
              <a:gd name="adj" fmla="val 5442"/>
            </a:avLst>
          </a:prstGeom>
          <a:solidFill>
            <a:schemeClr val="bg2"/>
          </a:solidFill>
          <a:ln w="12700">
            <a:solidFill>
              <a:schemeClr val="bg2"/>
            </a:solidFill>
            <a:prstDash val="solid"/>
          </a:ln>
        </p:spPr>
      </p:sp>
      <p:sp>
        <p:nvSpPr>
          <p:cNvPr id="26" name="text-274"/>
          <p:cNvSpPr txBox="1"/>
          <p:nvPr/>
        </p:nvSpPr>
        <p:spPr>
          <a:xfrm>
            <a:off x="667512"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Snowpine Residences</a:t>
            </a:r>
            <a:endParaRPr lang="en-US" sz="1050" dirty="0"/>
          </a:p>
        </p:txBody>
      </p:sp>
      <p:sp>
        <p:nvSpPr>
          <p:cNvPr id="27" name="text-275"/>
          <p:cNvSpPr txBox="1"/>
          <p:nvPr/>
        </p:nvSpPr>
        <p:spPr>
          <a:xfrm>
            <a:off x="667512"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homes · Pinecone Kindergarten · Snowpine Senior Care Home</a:t>
            </a:r>
            <a:endParaRPr lang="en-US" sz="950" dirty="0"/>
          </a:p>
        </p:txBody>
      </p:sp>
      <p:sp>
        <p:nvSpPr>
          <p:cNvPr id="28" name="card-276"/>
          <p:cNvSpPr/>
          <p:nvPr/>
        </p:nvSpPr>
        <p:spPr>
          <a:xfrm>
            <a:off x="2734056" y="8631936"/>
            <a:ext cx="2093976" cy="1344168"/>
          </a:xfrm>
          <a:prstGeom prst="roundRect">
            <a:avLst>
              <a:gd name="adj" fmla="val 5442"/>
            </a:avLst>
          </a:prstGeom>
          <a:solidFill>
            <a:schemeClr val="bg2"/>
          </a:solidFill>
          <a:ln w="12700">
            <a:solidFill>
              <a:schemeClr val="bg2"/>
            </a:solidFill>
            <a:prstDash val="solid"/>
          </a:ln>
        </p:spPr>
      </p:sp>
      <p:sp>
        <p:nvSpPr>
          <p:cNvPr id="29" name="text-277"/>
          <p:cNvSpPr txBox="1"/>
          <p:nvPr/>
        </p:nvSpPr>
        <p:spPr>
          <a:xfrm>
            <a:off x="2852928"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Mount Aurora Approach</a:t>
            </a:r>
            <a:endParaRPr lang="en-US" sz="1050" dirty="0"/>
          </a:p>
        </p:txBody>
      </p:sp>
      <p:sp>
        <p:nvSpPr>
          <p:cNvPr id="30" name="text-278"/>
          <p:cNvSpPr txBox="1"/>
          <p:nvPr/>
        </p:nvSpPr>
        <p:spPr>
          <a:xfrm>
            <a:off x="2852928"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Mount Aurora Guesthouse · Southside Police &amp; Mountain Rescue Post · spa shuttle street</a:t>
            </a:r>
            <a:endParaRPr lang="en-US" sz="950" dirty="0"/>
          </a:p>
        </p:txBody>
      </p:sp>
      <p:sp>
        <p:nvSpPr>
          <p:cNvPr id="31" name="card-279"/>
          <p:cNvSpPr/>
          <p:nvPr/>
        </p:nvSpPr>
        <p:spPr>
          <a:xfrm>
            <a:off x="4919472" y="8631936"/>
            <a:ext cx="2093976" cy="1344168"/>
          </a:xfrm>
          <a:prstGeom prst="roundRect">
            <a:avLst>
              <a:gd name="adj" fmla="val 5442"/>
            </a:avLst>
          </a:prstGeom>
          <a:solidFill>
            <a:schemeClr val="bg2"/>
          </a:solidFill>
          <a:ln w="12700">
            <a:solidFill>
              <a:schemeClr val="bg2"/>
            </a:solidFill>
            <a:prstDash val="solid"/>
          </a:ln>
        </p:spPr>
      </p:sp>
      <p:sp>
        <p:nvSpPr>
          <p:cNvPr id="32" name="text-280"/>
          <p:cNvSpPr txBox="1"/>
          <p:nvPr/>
        </p:nvSpPr>
        <p:spPr>
          <a:xfrm>
            <a:off x="5038344" y="8741664"/>
            <a:ext cx="1856232" cy="219456"/>
          </a:xfrm>
          <a:prstGeom prst="rect">
            <a:avLst/>
          </a:prstGeom>
          <a:noFill/>
          <a:ln/>
        </p:spPr>
        <p:txBody>
          <a:bodyPr wrap="square" lIns="0" tIns="0" rIns="0" bIns="0" rtlCol="0" anchor="t"/>
          <a:lstStyle/>
          <a:p>
            <a:pPr indent="0" marL="0">
              <a:buNone/>
            </a:pPr>
            <a:r>
              <a:rPr lang="en-US" sz="1050" b="1" dirty="0">
                <a:solidFill>
                  <a:schemeClr val="accent6"/>
                </a:solidFill>
              </a:rPr>
              <a:t>Aurora 81 District</a:t>
            </a:r>
            <a:endParaRPr lang="en-US" sz="1050" dirty="0"/>
          </a:p>
        </p:txBody>
      </p:sp>
      <p:sp>
        <p:nvSpPr>
          <p:cNvPr id="33" name="text-281"/>
          <p:cNvSpPr txBox="1"/>
          <p:nvPr/>
        </p:nvSpPr>
        <p:spPr>
          <a:xfrm>
            <a:off x="5038344" y="9015984"/>
            <a:ext cx="1856232" cy="886968"/>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81 – Polar Landmark Tower · Aurora 81 Residences (Twin Towers)</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kicker-dot-282"/>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283"/>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EVERYDAY LIFE</a:t>
            </a:r>
            <a:endParaRPr lang="en-US" sz="900" dirty="0"/>
          </a:p>
        </p:txBody>
      </p:sp>
      <p:sp>
        <p:nvSpPr>
          <p:cNvPr id="4" name="title-284"/>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A Livable City Every Day</a:t>
            </a:r>
            <a:endParaRPr lang="en-US" sz="3400" dirty="0"/>
          </a:p>
        </p:txBody>
      </p:sp>
      <p:pic>
        <p:nvPicPr>
          <p:cNvPr id="5" name="picture-286" descr="/home/user/chatbox-bi-n-o/magazine/assets/renders/houses_dusk.jpg">    </p:cNvPr>
          <p:cNvPicPr>
            <a:picLocks noChangeAspect="1"/>
          </p:cNvPicPr>
          <p:nvPr/>
        </p:nvPicPr>
        <p:blipFill>
          <a:blip r:embed="rId1"/>
          <a:srcRect l="0" r="0" t="0" b="0"/>
          <a:stretch/>
        </p:blipFill>
        <p:spPr>
          <a:xfrm>
            <a:off x="0" y="1508760"/>
            <a:ext cx="7562088" cy="3657600"/>
          </a:xfrm>
          <a:prstGeom prst="rect">
            <a:avLst/>
          </a:prstGeom>
        </p:spPr>
      </p:pic>
      <p:sp>
        <p:nvSpPr>
          <p:cNvPr id="6" name="text-287"/>
          <p:cNvSpPr txBox="1"/>
          <p:nvPr/>
        </p:nvSpPr>
        <p:spPr>
          <a:xfrm>
            <a:off x="548640" y="5230368"/>
            <a:ext cx="6464808" cy="365760"/>
          </a:xfrm>
          <a:prstGeom prst="rect">
            <a:avLst/>
          </a:prstGeom>
          <a:noFill/>
          <a:ln/>
        </p:spPr>
        <p:txBody>
          <a:bodyPr wrap="square" lIns="0" tIns="0" rIns="0" bIns="0" rtlCol="0" anchor="t"/>
          <a:lstStyle/>
          <a:p>
            <a:pPr indent="0" marL="0">
              <a:buNone/>
            </a:pPr>
            <a:r>
              <a:rPr lang="en-US" sz="850" i="1" dirty="0">
                <a:solidFill>
                  <a:schemeClr val="tx2"/>
                </a:solidFill>
              </a:rPr>
              <a:t>Snowpine Residences at dusk. Sidewalks warmed by district-heating return water stay snow-free, and spruces shelter the courtyards from the wind.</a:t>
            </a:r>
            <a:endParaRPr lang="en-US" sz="850" dirty="0"/>
          </a:p>
        </p:txBody>
      </p:sp>
      <p:sp>
        <p:nvSpPr>
          <p:cNvPr id="7" name="kicker-dot-288"/>
          <p:cNvSpPr/>
          <p:nvPr/>
        </p:nvSpPr>
        <p:spPr>
          <a:xfrm>
            <a:off x="548640" y="5801868"/>
            <a:ext cx="100584" cy="100584"/>
          </a:xfrm>
          <a:prstGeom prst="ellipse">
            <a:avLst/>
          </a:prstGeom>
          <a:solidFill>
            <a:schemeClr val="accent6"/>
          </a:solidFill>
          <a:ln w="12700">
            <a:solidFill>
              <a:schemeClr val="accent6"/>
            </a:solidFill>
            <a:prstDash val="solid"/>
          </a:ln>
        </p:spPr>
      </p:sp>
      <p:sp>
        <p:nvSpPr>
          <p:cNvPr id="8" name="text-289"/>
          <p:cNvSpPr txBox="1"/>
          <p:nvPr/>
        </p:nvSpPr>
        <p:spPr>
          <a:xfrm>
            <a:off x="731520" y="5760720"/>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HOMES</a:t>
            </a:r>
            <a:endParaRPr lang="en-US" sz="900" dirty="0"/>
          </a:p>
        </p:txBody>
      </p:sp>
      <p:sp>
        <p:nvSpPr>
          <p:cNvPr id="9" name="text-290"/>
          <p:cNvSpPr txBox="1"/>
          <p:nvPr/>
        </p:nvSpPr>
        <p:spPr>
          <a:xfrm>
            <a:off x="548640" y="6007608"/>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Family houses in Snowpine Residences, the western eco-homes, towers such as the Aurora 81 Residences and Ice Crystal Apartments, co-living, student and senior housing.</a:t>
            </a:r>
            <a:endParaRPr lang="en-US" sz="950" dirty="0"/>
          </a:p>
        </p:txBody>
      </p:sp>
      <p:sp>
        <p:nvSpPr>
          <p:cNvPr id="10" name="kicker-dot-291"/>
          <p:cNvSpPr/>
          <p:nvPr/>
        </p:nvSpPr>
        <p:spPr>
          <a:xfrm>
            <a:off x="548640" y="6652260"/>
            <a:ext cx="100584" cy="100584"/>
          </a:xfrm>
          <a:prstGeom prst="ellipse">
            <a:avLst/>
          </a:prstGeom>
          <a:solidFill>
            <a:schemeClr val="accent6"/>
          </a:solidFill>
          <a:ln w="12700">
            <a:solidFill>
              <a:schemeClr val="accent6"/>
            </a:solidFill>
            <a:prstDash val="solid"/>
          </a:ln>
        </p:spPr>
      </p:sp>
      <p:sp>
        <p:nvSpPr>
          <p:cNvPr id="11" name="text-292"/>
          <p:cNvSpPr txBox="1"/>
          <p:nvPr/>
        </p:nvSpPr>
        <p:spPr>
          <a:xfrm>
            <a:off x="731520" y="6611112"/>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LEARNING</a:t>
            </a:r>
            <a:endParaRPr lang="en-US" sz="900" dirty="0"/>
          </a:p>
        </p:txBody>
      </p:sp>
      <p:sp>
        <p:nvSpPr>
          <p:cNvPr id="12" name="text-293"/>
          <p:cNvSpPr txBox="1"/>
          <p:nvPr/>
        </p:nvSpPr>
        <p:spPr>
          <a:xfrm>
            <a:off x="548640" y="6858000"/>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Three kindergartens, Snow Lantern Primary School, the Northern Lights School for ages 6 to 18, and Arctic University.</a:t>
            </a:r>
            <a:endParaRPr lang="en-US" sz="950" dirty="0"/>
          </a:p>
        </p:txBody>
      </p:sp>
      <p:sp>
        <p:nvSpPr>
          <p:cNvPr id="13" name="kicker-dot-294"/>
          <p:cNvSpPr/>
          <p:nvPr/>
        </p:nvSpPr>
        <p:spPr>
          <a:xfrm>
            <a:off x="548640" y="7502652"/>
            <a:ext cx="100584" cy="100584"/>
          </a:xfrm>
          <a:prstGeom prst="ellipse">
            <a:avLst/>
          </a:prstGeom>
          <a:solidFill>
            <a:schemeClr val="accent6"/>
          </a:solidFill>
          <a:ln w="12700">
            <a:solidFill>
              <a:schemeClr val="accent6"/>
            </a:solidFill>
            <a:prstDash val="solid"/>
          </a:ln>
        </p:spPr>
      </p:sp>
      <p:sp>
        <p:nvSpPr>
          <p:cNvPr id="14" name="text-295"/>
          <p:cNvSpPr txBox="1"/>
          <p:nvPr/>
        </p:nvSpPr>
        <p:spPr>
          <a:xfrm>
            <a:off x="731520" y="7461504"/>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HEALTH</a:t>
            </a:r>
            <a:endParaRPr lang="en-US" sz="900" dirty="0"/>
          </a:p>
        </p:txBody>
      </p:sp>
      <p:sp>
        <p:nvSpPr>
          <p:cNvPr id="15" name="text-296"/>
          <p:cNvSpPr txBox="1"/>
          <p:nvPr/>
        </p:nvSpPr>
        <p:spPr>
          <a:xfrm>
            <a:off x="548640" y="7708392"/>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Snowflake General Hospital with about 250 beds and a 24-hour emergency department, a campus clinic and a 24-hour pharmacy.</a:t>
            </a:r>
            <a:endParaRPr lang="en-US" sz="950" dirty="0"/>
          </a:p>
        </p:txBody>
      </p:sp>
      <p:sp>
        <p:nvSpPr>
          <p:cNvPr id="16" name="kicker-dot-297"/>
          <p:cNvSpPr/>
          <p:nvPr/>
        </p:nvSpPr>
        <p:spPr>
          <a:xfrm>
            <a:off x="548640" y="8353044"/>
            <a:ext cx="100584" cy="100584"/>
          </a:xfrm>
          <a:prstGeom prst="ellipse">
            <a:avLst/>
          </a:prstGeom>
          <a:solidFill>
            <a:schemeClr val="accent6"/>
          </a:solidFill>
          <a:ln w="12700">
            <a:solidFill>
              <a:schemeClr val="accent6"/>
            </a:solidFill>
            <a:prstDash val="solid"/>
          </a:ln>
        </p:spPr>
      </p:sp>
      <p:sp>
        <p:nvSpPr>
          <p:cNvPr id="17" name="text-298"/>
          <p:cNvSpPr txBox="1"/>
          <p:nvPr/>
        </p:nvSpPr>
        <p:spPr>
          <a:xfrm>
            <a:off x="731520" y="8311896"/>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SHOPPING</a:t>
            </a:r>
            <a:endParaRPr lang="en-US" sz="900" dirty="0"/>
          </a:p>
        </p:txBody>
      </p:sp>
      <p:sp>
        <p:nvSpPr>
          <p:cNvPr id="18" name="text-299"/>
          <p:cNvSpPr txBox="1"/>
          <p:nvPr/>
        </p:nvSpPr>
        <p:spPr>
          <a:xfrm>
            <a:off x="548640" y="8558784"/>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Igloo Fresh Supermarket, Tundra Grocery, the night and fish markets and the Aurora Glacier Mall with its indoor atrium park.</a:t>
            </a:r>
            <a:endParaRPr lang="en-US" sz="950" dirty="0"/>
          </a:p>
        </p:txBody>
      </p:sp>
      <p:sp>
        <p:nvSpPr>
          <p:cNvPr id="19" name="kicker-dot-300"/>
          <p:cNvSpPr/>
          <p:nvPr/>
        </p:nvSpPr>
        <p:spPr>
          <a:xfrm>
            <a:off x="548640" y="9203436"/>
            <a:ext cx="100584" cy="100584"/>
          </a:xfrm>
          <a:prstGeom prst="ellipse">
            <a:avLst/>
          </a:prstGeom>
          <a:solidFill>
            <a:schemeClr val="accent6"/>
          </a:solidFill>
          <a:ln w="12700">
            <a:solidFill>
              <a:schemeClr val="accent6"/>
            </a:solidFill>
            <a:prstDash val="solid"/>
          </a:ln>
        </p:spPr>
      </p:sp>
      <p:sp>
        <p:nvSpPr>
          <p:cNvPr id="20" name="text-301"/>
          <p:cNvSpPr txBox="1"/>
          <p:nvPr/>
        </p:nvSpPr>
        <p:spPr>
          <a:xfrm>
            <a:off x="731520" y="9162288"/>
            <a:ext cx="2912364"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CULTURE AND PARKS</a:t>
            </a:r>
            <a:endParaRPr lang="en-US" sz="900" dirty="0"/>
          </a:p>
        </p:txBody>
      </p:sp>
      <p:sp>
        <p:nvSpPr>
          <p:cNvPr id="21" name="text-302"/>
          <p:cNvSpPr txBox="1"/>
          <p:nvPr/>
        </p:nvSpPr>
        <p:spPr>
          <a:xfrm>
            <a:off x="548640" y="9409176"/>
            <a:ext cx="3232404" cy="594360"/>
          </a:xfrm>
          <a:prstGeom prst="rect">
            <a:avLst/>
          </a:prstGeom>
          <a:noFill/>
          <a:ln/>
        </p:spPr>
        <p:txBody>
          <a:bodyPr wrap="square" lIns="0" tIns="0" rIns="0" bIns="0" rtlCol="0" anchor="t"/>
          <a:lstStyle/>
          <a:p>
            <a:pPr indent="0" marL="0">
              <a:lnSpc>
                <a:spcPct val="105000"/>
              </a:lnSpc>
              <a:buNone/>
            </a:pPr>
            <a:r>
              <a:rPr lang="en-US" sz="950" dirty="0">
                <a:solidFill>
                  <a:schemeClr val="tx1"/>
                </a:solidFill>
              </a:rPr>
              <a:t>Aurora Cinema, a music hall, a library open 24 hours in the polar night, the Snow Stadium and parks with heated benches.</a:t>
            </a:r>
            <a:endParaRPr lang="en-US" sz="950" dirty="0"/>
          </a:p>
        </p:txBody>
      </p:sp>
      <p:pic>
        <p:nvPicPr>
          <p:cNvPr id="22" name="picture-303" descr="/home/user/chatbox-bi-n-o/magazine/assets/renders/approach_dusk.jpg">    </p:cNvPr>
          <p:cNvPicPr>
            <a:picLocks noChangeAspect="1"/>
          </p:cNvPicPr>
          <p:nvPr/>
        </p:nvPicPr>
        <p:blipFill>
          <a:blip r:embed="rId2"/>
          <a:srcRect l="0" r="0" t="0" b="0"/>
          <a:stretch/>
        </p:blipFill>
        <p:spPr>
          <a:xfrm>
            <a:off x="4055364" y="5760720"/>
            <a:ext cx="2958084" cy="2057400"/>
          </a:xfrm>
          <a:prstGeom prst="rect">
            <a:avLst/>
          </a:prstGeom>
        </p:spPr>
      </p:pic>
      <p:sp>
        <p:nvSpPr>
          <p:cNvPr id="23" name="text-304"/>
          <p:cNvSpPr txBox="1"/>
          <p:nvPr/>
        </p:nvSpPr>
        <p:spPr>
          <a:xfrm>
            <a:off x="4055364" y="7863840"/>
            <a:ext cx="2958084" cy="548640"/>
          </a:xfrm>
          <a:prstGeom prst="rect">
            <a:avLst/>
          </a:prstGeom>
          <a:noFill/>
          <a:ln/>
        </p:spPr>
        <p:txBody>
          <a:bodyPr wrap="square" lIns="0" tIns="0" rIns="0" bIns="0" rtlCol="0" anchor="t"/>
          <a:lstStyle/>
          <a:p>
            <a:pPr indent="0" marL="0">
              <a:buNone/>
            </a:pPr>
            <a:r>
              <a:rPr lang="en-US" sz="850" i="1" dirty="0">
                <a:solidFill>
                  <a:schemeClr val="tx2"/>
                </a:solidFill>
              </a:rPr>
              <a:t>The Mount Aurora Approach: low buildings keep the summit in view, and warm, low-glare lanterns do not hide the aurora.</a:t>
            </a:r>
            <a:endParaRPr lang="en-US" sz="850" dirty="0"/>
          </a:p>
        </p:txBody>
      </p:sp>
      <p:sp>
        <p:nvSpPr>
          <p:cNvPr id="24" name="text-305"/>
          <p:cNvSpPr txBox="1"/>
          <p:nvPr/>
        </p:nvSpPr>
        <p:spPr>
          <a:xfrm>
            <a:off x="4055364"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250</a:t>
            </a:r>
            <a:endParaRPr lang="en-US" sz="2000" dirty="0"/>
          </a:p>
        </p:txBody>
      </p:sp>
      <p:sp>
        <p:nvSpPr>
          <p:cNvPr id="25" name="text-306"/>
          <p:cNvSpPr txBox="1"/>
          <p:nvPr/>
        </p:nvSpPr>
        <p:spPr>
          <a:xfrm>
            <a:off x="4055364"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hospital beds</a:t>
            </a:r>
            <a:endParaRPr lang="en-US" sz="850" dirty="0"/>
          </a:p>
        </p:txBody>
      </p:sp>
      <p:sp>
        <p:nvSpPr>
          <p:cNvPr id="26" name="text-307"/>
          <p:cNvSpPr txBox="1"/>
          <p:nvPr/>
        </p:nvSpPr>
        <p:spPr>
          <a:xfrm>
            <a:off x="5534406" y="8503920"/>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900</a:t>
            </a:r>
            <a:endParaRPr lang="en-US" sz="2000" dirty="0"/>
          </a:p>
        </p:txBody>
      </p:sp>
      <p:sp>
        <p:nvSpPr>
          <p:cNvPr id="27" name="text-308"/>
          <p:cNvSpPr txBox="1"/>
          <p:nvPr/>
        </p:nvSpPr>
        <p:spPr>
          <a:xfrm>
            <a:off x="5534406" y="8858504"/>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pupils at Northern Lights School</a:t>
            </a:r>
            <a:endParaRPr lang="en-US" sz="850" dirty="0"/>
          </a:p>
        </p:txBody>
      </p:sp>
      <p:sp>
        <p:nvSpPr>
          <p:cNvPr id="28" name="text-309"/>
          <p:cNvSpPr txBox="1"/>
          <p:nvPr/>
        </p:nvSpPr>
        <p:spPr>
          <a:xfrm>
            <a:off x="4055364"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5,000</a:t>
            </a:r>
            <a:endParaRPr lang="en-US" sz="2000" dirty="0"/>
          </a:p>
        </p:txBody>
      </p:sp>
      <p:sp>
        <p:nvSpPr>
          <p:cNvPr id="29" name="text-310"/>
          <p:cNvSpPr txBox="1"/>
          <p:nvPr/>
        </p:nvSpPr>
        <p:spPr>
          <a:xfrm>
            <a:off x="4055364"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students at Arctic University</a:t>
            </a:r>
            <a:endParaRPr lang="en-US" sz="850" dirty="0"/>
          </a:p>
        </p:txBody>
      </p:sp>
      <p:sp>
        <p:nvSpPr>
          <p:cNvPr id="30" name="text-311"/>
          <p:cNvSpPr txBox="1"/>
          <p:nvPr/>
        </p:nvSpPr>
        <p:spPr>
          <a:xfrm>
            <a:off x="5534406" y="9253728"/>
            <a:ext cx="1387602"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8,000</a:t>
            </a:r>
            <a:endParaRPr lang="en-US" sz="2000" dirty="0"/>
          </a:p>
        </p:txBody>
      </p:sp>
      <p:sp>
        <p:nvSpPr>
          <p:cNvPr id="31" name="text-312"/>
          <p:cNvSpPr txBox="1"/>
          <p:nvPr/>
        </p:nvSpPr>
        <p:spPr>
          <a:xfrm>
            <a:off x="5534406" y="9608312"/>
            <a:ext cx="1387602" cy="292608"/>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seats in the Snow Stadium</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picture-313" descr="/home/user/chatbox-bi-n-o/magazine/assets/renders/fusion_spread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314" descr="/home/user/chatbox-bi-n-o/magazine/assets/ui/shade_top.png">    </p:cNvPr>
          <p:cNvPicPr>
            <a:picLocks noChangeAspect="1"/>
          </p:cNvPicPr>
          <p:nvPr/>
        </p:nvPicPr>
        <p:blipFill>
          <a:blip r:embed="rId2"/>
          <a:stretch>
            <a:fillRect/>
          </a:stretch>
        </p:blipFill>
        <p:spPr>
          <a:xfrm>
            <a:off x="0" y="0"/>
            <a:ext cx="7562088" cy="4206240"/>
          </a:xfrm>
          <a:prstGeom prst="rect">
            <a:avLst/>
          </a:prstGeom>
        </p:spPr>
      </p:pic>
      <p:sp>
        <p:nvSpPr>
          <p:cNvPr id="4" name="marker-315"/>
          <p:cNvSpPr/>
          <p:nvPr/>
        </p:nvSpPr>
        <p:spPr>
          <a:xfrm>
            <a:off x="548640" y="548640"/>
            <a:ext cx="731520" cy="731520"/>
          </a:xfrm>
          <a:prstGeom prst="ellipse">
            <a:avLst/>
          </a:prstGeom>
          <a:solidFill>
            <a:schemeClr val="accent3"/>
          </a:solidFill>
          <a:ln w="19050">
            <a:solidFill>
              <a:schemeClr val="bg1"/>
            </a:solidFill>
            <a:prstDash val="solid"/>
          </a:ln>
        </p:spPr>
      </p:sp>
      <p:sp>
        <p:nvSpPr>
          <p:cNvPr id="5" name="text-316"/>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6" name="kicker-dot-317"/>
          <p:cNvSpPr/>
          <p:nvPr/>
        </p:nvSpPr>
        <p:spPr>
          <a:xfrm>
            <a:off x="548640" y="1549908"/>
            <a:ext cx="100584" cy="100584"/>
          </a:xfrm>
          <a:prstGeom prst="ellipse">
            <a:avLst/>
          </a:prstGeom>
          <a:solidFill>
            <a:schemeClr val="accent3"/>
          </a:solidFill>
          <a:ln w="12700">
            <a:solidFill>
              <a:schemeClr val="accent3"/>
            </a:solidFill>
            <a:prstDash val="solid"/>
          </a:ln>
        </p:spPr>
      </p:sp>
      <p:sp>
        <p:nvSpPr>
          <p:cNvPr id="7" name="text-318"/>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1 · FUSION POWER STATION</a:t>
            </a:r>
            <a:endParaRPr lang="en-US" sz="900" dirty="0"/>
          </a:p>
        </p:txBody>
      </p:sp>
      <p:sp>
        <p:nvSpPr>
          <p:cNvPr id="8" name="title-319"/>
          <p:cNvSpPr txBox="1"/>
          <p:nvPr/>
        </p:nvSpPr>
        <p:spPr>
          <a:xfrm>
            <a:off x="548640" y="1764792"/>
            <a:ext cx="6464808" cy="868680"/>
          </a:xfrm>
          <a:prstGeom prst="rect">
            <a:avLst/>
          </a:prstGeom>
          <a:noFill/>
          <a:ln/>
        </p:spPr>
        <p:txBody>
          <a:bodyPr wrap="square" lIns="0" tIns="0" rIns="0" bIns="0" rtlCol="0" anchor="t"/>
          <a:lstStyle/>
          <a:p>
            <a:pPr indent="0" marL="0">
              <a:lnSpc>
                <a:spcPct val="92000"/>
              </a:lnSpc>
              <a:buNone/>
            </a:pPr>
            <a:r>
              <a:rPr lang="en-US" sz="5000" b="1" dirty="0">
                <a:solidFill>
                  <a:schemeClr val="bg1"/>
                </a:solidFill>
                <a:latin typeface="+mj-lt" pitchFamily="34" charset="0"/>
                <a:ea typeface="+mj-lt" pitchFamily="34" charset="-122"/>
                <a:cs typeface="+mj-lt" pitchFamily="34" charset="-120"/>
              </a:rPr>
              <a:t>The City's Own Sun</a:t>
            </a:r>
            <a:endParaRPr lang="en-US" sz="5000" dirty="0"/>
          </a:p>
        </p:txBody>
      </p:sp>
      <p:sp>
        <p:nvSpPr>
          <p:cNvPr id="9" name="text-321"/>
          <p:cNvSpPr txBox="1"/>
          <p:nvPr/>
        </p:nvSpPr>
        <p:spPr>
          <a:xfrm>
            <a:off x="548640" y="2697480"/>
            <a:ext cx="4937760" cy="914400"/>
          </a:xfrm>
          <a:prstGeom prst="rect">
            <a:avLst/>
          </a:prstGeom>
          <a:noFill/>
          <a:ln/>
        </p:spPr>
        <p:txBody>
          <a:bodyPr wrap="square" lIns="0" tIns="0" rIns="0" bIns="0" rtlCol="0" anchor="t"/>
          <a:lstStyle/>
          <a:p>
            <a:pPr indent="0" marL="0">
              <a:lnSpc>
                <a:spcPct val="110000"/>
              </a:lnSpc>
              <a:buNone/>
            </a:pPr>
            <a:r>
              <a:rPr lang="en-US" sz="1450" i="1" dirty="0">
                <a:solidFill>
                  <a:schemeClr val="bg1"/>
                </a:solidFill>
                <a:latin typeface="+mj-lt" pitchFamily="34" charset="0"/>
                <a:ea typeface="+mj-lt" pitchFamily="34" charset="-122"/>
                <a:cs typeface="+mj-lt" pitchFamily="34" charset="-120"/>
              </a:rPr>
              <a:t>A compact tokamak gives Aurora Haven about 300 MW of electricity and 450 MW of district heat, steady through the polar night, with no CO₂ and no meltdown.</a:t>
            </a:r>
            <a:endParaRPr lang="en-US" sz="1450" dirty="0"/>
          </a:p>
        </p:txBody>
      </p:sp>
      <p:sp>
        <p:nvSpPr>
          <p:cNvPr id="10" name="panel-322"/>
          <p:cNvSpPr/>
          <p:nvPr/>
        </p:nvSpPr>
        <p:spPr>
          <a:xfrm>
            <a:off x="320040" y="6903720"/>
            <a:ext cx="3474720" cy="2651760"/>
          </a:xfrm>
          <a:prstGeom prst="rect">
            <a:avLst/>
          </a:prstGeom>
          <a:solidFill>
            <a:schemeClr val="tx1">
              <a:alpha val="78000"/>
            </a:schemeClr>
          </a:solidFill>
          <a:ln w="12700">
            <a:solidFill>
              <a:schemeClr val="tx1">
                <a:alpha val="0"/>
              </a:schemeClr>
            </a:solidFill>
            <a:prstDash val="solid"/>
          </a:ln>
        </p:spPr>
      </p:sp>
      <p:sp>
        <p:nvSpPr>
          <p:cNvPr id="11" name="text-323"/>
          <p:cNvSpPr txBox="1"/>
          <p:nvPr/>
        </p:nvSpPr>
        <p:spPr>
          <a:xfrm>
            <a:off x="548640" y="7132320"/>
            <a:ext cx="3017520" cy="269748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Our first signature district is the city’s own sun. Stage 1 takes deuterium from snowmelt water, so the fuel literally falls from the sky as snow. Stage 2 breeds tritium in a lithium blanket, so none is imported.</a:t>
            </a:r>
            <a:endParaRPr lang="en-US" sz="1000" dirty="0"/>
          </a:p>
          <a:p>
            <a:pPr indent="0" marL="0">
              <a:lnSpc>
                <a:spcPct val="112000"/>
              </a:lnSpc>
              <a:spcAft>
                <a:spcPts val="700"/>
              </a:spcAft>
              <a:buNone/>
            </a:pPr>
            <a:r>
              <a:rPr lang="en-US" sz="1000" dirty="0">
                <a:solidFill>
                  <a:schemeClr val="bg1"/>
                </a:solidFill>
              </a:rPr>
              <a:t>Stage 3 is the tokamak, where superconducting magnets hold a 150-million-degree plasma that makes about 800 megawatts of heat. Stage 4 turns that heat into about 300 megawatts of electricity and sends 450 megawatts into the district-heating loop.</a:t>
            </a:r>
            <a:endParaRPr lang="en-US" sz="1000" dirty="0"/>
          </a:p>
          <a:p>
            <a:pPr indent="0" marL="0">
              <a:lnSpc>
                <a:spcPct val="112000"/>
              </a:lnSpc>
              <a:spcAft>
                <a:spcPts val="700"/>
              </a:spcAft>
              <a:buNone/>
            </a:pPr>
            <a:r>
              <a:rPr lang="en-US" sz="1000" dirty="0">
                <a:solidFill>
                  <a:schemeClr val="bg1"/>
                </a:solidFill>
              </a:rPr>
              <a:t>The reactor runs on about 170 grams of fuel a day. If anything fails, the plasma simply goes out in a split second, so it cannot melt down or run away.</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picture-324" descr="/home/user/chatbox-bi-n-o/magazine/assets/renders/fusion_spread_R.jpg">    </p:cNvPr>
          <p:cNvPicPr>
            <a:picLocks noChangeAspect="1"/>
          </p:cNvPicPr>
          <p:nvPr/>
        </p:nvPicPr>
        <p:blipFill>
          <a:blip r:embed="rId1"/>
          <a:srcRect l="0" r="0" t="0" b="0"/>
          <a:stretch/>
        </p:blipFill>
        <p:spPr>
          <a:xfrm>
            <a:off x="0" y="0"/>
            <a:ext cx="7562088" cy="10689336"/>
          </a:xfrm>
          <a:prstGeom prst="rect">
            <a:avLst/>
          </a:prstGeom>
        </p:spPr>
      </p:pic>
      <p:pic>
        <p:nvPicPr>
          <p:cNvPr id="3" name="shade-bottom-325" descr="/home/user/chatbox-bi-n-o/magazine/assets/ui/shade_bottom.png">    </p:cNvPr>
          <p:cNvPicPr>
            <a:picLocks noChangeAspect="1"/>
          </p:cNvPicPr>
          <p:nvPr/>
        </p:nvPicPr>
        <p:blipFill>
          <a:blip r:embed="rId2"/>
          <a:stretch>
            <a:fillRect/>
          </a:stretch>
        </p:blipFill>
        <p:spPr>
          <a:xfrm>
            <a:off x="0" y="8595360"/>
            <a:ext cx="7562088" cy="2093976"/>
          </a:xfrm>
          <a:prstGeom prst="rect">
            <a:avLst/>
          </a:prstGeom>
        </p:spPr>
      </p:pic>
      <p:sp>
        <p:nvSpPr>
          <p:cNvPr id="4" name="text-326"/>
          <p:cNvSpPr txBox="1"/>
          <p:nvPr/>
        </p:nvSpPr>
        <p:spPr>
          <a:xfrm>
            <a:off x="3355848" y="9555480"/>
            <a:ext cx="3657600" cy="365760"/>
          </a:xfrm>
          <a:prstGeom prst="rect">
            <a:avLst/>
          </a:prstGeom>
          <a:noFill/>
          <a:ln/>
        </p:spPr>
        <p:txBody>
          <a:bodyPr wrap="square" lIns="0" tIns="0" rIns="0" bIns="0" rtlCol="0" anchor="t"/>
          <a:lstStyle/>
          <a:p>
            <a:pPr algn="r" indent="0" marL="0">
              <a:buNone/>
            </a:pPr>
            <a:r>
              <a:rPr lang="en-US" sz="850" i="1" dirty="0">
                <a:solidFill>
                  <a:schemeClr val="bg1"/>
                </a:solidFill>
              </a:rPr>
              <a:t>The Fusion Core, a compact D-T tokamak, glowing violet under the northern lights.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kicker-dot-327"/>
          <p:cNvSpPr/>
          <p:nvPr/>
        </p:nvSpPr>
        <p:spPr>
          <a:xfrm>
            <a:off x="548640" y="544068"/>
            <a:ext cx="100584" cy="100584"/>
          </a:xfrm>
          <a:prstGeom prst="ellipse">
            <a:avLst/>
          </a:prstGeom>
          <a:solidFill>
            <a:schemeClr val="accent3"/>
          </a:solidFill>
          <a:ln w="12700">
            <a:solidFill>
              <a:schemeClr val="accent3"/>
            </a:solidFill>
            <a:prstDash val="solid"/>
          </a:ln>
        </p:spPr>
      </p:sp>
      <p:sp>
        <p:nvSpPr>
          <p:cNvPr id="3" name="text-328"/>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3"/>
                </a:solidFill>
              </a:rPr>
              <a:t>FUSION POWER STATION · HOW IT WORKS</a:t>
            </a:r>
            <a:endParaRPr lang="en-US" sz="900" dirty="0"/>
          </a:p>
        </p:txBody>
      </p:sp>
      <p:sp>
        <p:nvSpPr>
          <p:cNvPr id="4" name="title-329"/>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Five Stages, One Sun</a:t>
            </a:r>
            <a:endParaRPr lang="en-US" sz="3400" dirty="0"/>
          </a:p>
        </p:txBody>
      </p:sp>
      <p:pic>
        <p:nvPicPr>
          <p:cNvPr id="5" name="fusion-plan" descr="/home/user/chatbox-bi-n-o/magazine/assets/plans/02_fusion_power_station_plan.png">    </p:cNvPr>
          <p:cNvPicPr>
            <a:picLocks noChangeAspect="1"/>
          </p:cNvPicPr>
          <p:nvPr/>
        </p:nvPicPr>
        <p:blipFill>
          <a:blip r:embed="rId1"/>
          <a:stretch>
            <a:fillRect/>
          </a:stretch>
        </p:blipFill>
        <p:spPr>
          <a:xfrm>
            <a:off x="548640" y="1554480"/>
            <a:ext cx="6464808" cy="3448975"/>
          </a:xfrm>
          <a:prstGeom prst="rect">
            <a:avLst/>
          </a:prstGeom>
        </p:spPr>
      </p:pic>
      <p:sp>
        <p:nvSpPr>
          <p:cNvPr id="6" name="text-331"/>
          <p:cNvSpPr txBox="1"/>
          <p:nvPr/>
        </p:nvSpPr>
        <p:spPr>
          <a:xfrm>
            <a:off x="548640" y="5049175"/>
            <a:ext cx="6464808" cy="228600"/>
          </a:xfrm>
          <a:prstGeom prst="rect">
            <a:avLst/>
          </a:prstGeom>
          <a:noFill/>
          <a:ln/>
        </p:spPr>
        <p:txBody>
          <a:bodyPr wrap="square" lIns="0" tIns="0" rIns="0" bIns="0" rtlCol="0" anchor="t"/>
          <a:lstStyle/>
          <a:p>
            <a:pPr indent="0" marL="0">
              <a:buNone/>
            </a:pPr>
            <a:r>
              <a:rPr lang="en-US" sz="850" i="1" dirty="0">
                <a:solidFill>
                  <a:schemeClr val="tx2"/>
                </a:solidFill>
              </a:rPr>
              <a:t>Fusion Power Station – District Plan. Signature district 1: a compact D-T tokamak.</a:t>
            </a:r>
            <a:endParaRPr lang="en-US" sz="850" dirty="0"/>
          </a:p>
        </p:txBody>
      </p:sp>
      <p:sp>
        <p:nvSpPr>
          <p:cNvPr id="7" name="marker-332"/>
          <p:cNvSpPr/>
          <p:nvPr/>
        </p:nvSpPr>
        <p:spPr>
          <a:xfrm>
            <a:off x="548640" y="5414935"/>
            <a:ext cx="329184" cy="329184"/>
          </a:xfrm>
          <a:prstGeom prst="ellipse">
            <a:avLst/>
          </a:prstGeom>
          <a:solidFill>
            <a:schemeClr val="accent3"/>
          </a:solidFill>
          <a:ln w="12700">
            <a:solidFill>
              <a:schemeClr val="accent3"/>
            </a:solidFill>
            <a:prstDash val="solid"/>
          </a:ln>
        </p:spPr>
      </p:sp>
      <p:sp>
        <p:nvSpPr>
          <p:cNvPr id="8" name="text-333"/>
          <p:cNvSpPr txBox="1"/>
          <p:nvPr/>
        </p:nvSpPr>
        <p:spPr>
          <a:xfrm>
            <a:off x="548640" y="54149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34"/>
          <p:cNvSpPr txBox="1"/>
          <p:nvPr/>
        </p:nvSpPr>
        <p:spPr>
          <a:xfrm>
            <a:off x="1005840" y="5405791"/>
            <a:ext cx="3703320" cy="201168"/>
          </a:xfrm>
          <a:prstGeom prst="rect">
            <a:avLst/>
          </a:prstGeom>
          <a:noFill/>
          <a:ln/>
        </p:spPr>
        <p:txBody>
          <a:bodyPr wrap="square" lIns="0" tIns="0" rIns="0" bIns="0" rtlCol="0" anchor="t"/>
          <a:lstStyle/>
          <a:p>
            <a:pPr indent="0" marL="0">
              <a:buNone/>
            </a:pPr>
            <a:r>
              <a:rPr lang="en-US" sz="1050" b="1" dirty="0">
                <a:solidFill>
                  <a:schemeClr val="tx1"/>
                </a:solidFill>
              </a:rPr>
              <a:t>Heavy-water separation</a:t>
            </a:r>
            <a:endParaRPr lang="en-US" sz="1050" dirty="0"/>
          </a:p>
        </p:txBody>
      </p:sp>
      <p:sp>
        <p:nvSpPr>
          <p:cNvPr id="10" name="text-335"/>
          <p:cNvSpPr txBox="1"/>
          <p:nvPr/>
        </p:nvSpPr>
        <p:spPr>
          <a:xfrm>
            <a:off x="1005840" y="5616103"/>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Takes deuterium from the deuterium-rich water left by the food plant’s electrolysers and purifies it to 99.8% heavy water.</a:t>
            </a:r>
            <a:endParaRPr lang="en-US" sz="950" dirty="0"/>
          </a:p>
        </p:txBody>
      </p:sp>
      <p:sp>
        <p:nvSpPr>
          <p:cNvPr id="11" name="marker-336"/>
          <p:cNvSpPr/>
          <p:nvPr/>
        </p:nvSpPr>
        <p:spPr>
          <a:xfrm>
            <a:off x="548640" y="6181226"/>
            <a:ext cx="329184" cy="329184"/>
          </a:xfrm>
          <a:prstGeom prst="ellipse">
            <a:avLst/>
          </a:prstGeom>
          <a:solidFill>
            <a:schemeClr val="accent3"/>
          </a:solidFill>
          <a:ln w="12700">
            <a:solidFill>
              <a:schemeClr val="accent3"/>
            </a:solidFill>
            <a:prstDash val="solid"/>
          </a:ln>
        </p:spPr>
      </p:sp>
      <p:sp>
        <p:nvSpPr>
          <p:cNvPr id="12" name="text-337"/>
          <p:cNvSpPr txBox="1"/>
          <p:nvPr/>
        </p:nvSpPr>
        <p:spPr>
          <a:xfrm>
            <a:off x="548640" y="6181226"/>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38"/>
          <p:cNvSpPr txBox="1"/>
          <p:nvPr/>
        </p:nvSpPr>
        <p:spPr>
          <a:xfrm>
            <a:off x="1005840" y="6172082"/>
            <a:ext cx="3703320" cy="201168"/>
          </a:xfrm>
          <a:prstGeom prst="rect">
            <a:avLst/>
          </a:prstGeom>
          <a:noFill/>
          <a:ln/>
        </p:spPr>
        <p:txBody>
          <a:bodyPr wrap="square" lIns="0" tIns="0" rIns="0" bIns="0" rtlCol="0" anchor="t"/>
          <a:lstStyle/>
          <a:p>
            <a:pPr indent="0" marL="0">
              <a:buNone/>
            </a:pPr>
            <a:r>
              <a:rPr lang="en-US" sz="1050" b="1" dirty="0">
                <a:solidFill>
                  <a:schemeClr val="tx1"/>
                </a:solidFill>
              </a:rPr>
              <a:t>Lithium blanket &amp; tritium fuel cycle</a:t>
            </a:r>
            <a:endParaRPr lang="en-US" sz="1050" dirty="0"/>
          </a:p>
        </p:txBody>
      </p:sp>
      <p:sp>
        <p:nvSpPr>
          <p:cNvPr id="14" name="text-339"/>
          <p:cNvSpPr txBox="1"/>
          <p:nvPr/>
        </p:nvSpPr>
        <p:spPr>
          <a:xfrm>
            <a:off x="1005840" y="6382394"/>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Breeds slightly more tritium than the reactor burns, so none is imported. Recovered helium cools the hospital’s MRI scanners.</a:t>
            </a:r>
            <a:endParaRPr lang="en-US" sz="950" dirty="0"/>
          </a:p>
        </p:txBody>
      </p:sp>
      <p:sp>
        <p:nvSpPr>
          <p:cNvPr id="15" name="marker-340"/>
          <p:cNvSpPr/>
          <p:nvPr/>
        </p:nvSpPr>
        <p:spPr>
          <a:xfrm>
            <a:off x="548640" y="6947517"/>
            <a:ext cx="329184" cy="329184"/>
          </a:xfrm>
          <a:prstGeom prst="ellipse">
            <a:avLst/>
          </a:prstGeom>
          <a:solidFill>
            <a:schemeClr val="accent3"/>
          </a:solidFill>
          <a:ln w="12700">
            <a:solidFill>
              <a:schemeClr val="accent3"/>
            </a:solidFill>
            <a:prstDash val="solid"/>
          </a:ln>
        </p:spPr>
      </p:sp>
      <p:sp>
        <p:nvSpPr>
          <p:cNvPr id="16" name="text-341"/>
          <p:cNvSpPr txBox="1"/>
          <p:nvPr/>
        </p:nvSpPr>
        <p:spPr>
          <a:xfrm>
            <a:off x="548640" y="6947517"/>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42"/>
          <p:cNvSpPr txBox="1"/>
          <p:nvPr/>
        </p:nvSpPr>
        <p:spPr>
          <a:xfrm>
            <a:off x="1005840" y="6938373"/>
            <a:ext cx="3703320" cy="201168"/>
          </a:xfrm>
          <a:prstGeom prst="rect">
            <a:avLst/>
          </a:prstGeom>
          <a:noFill/>
          <a:ln/>
        </p:spPr>
        <p:txBody>
          <a:bodyPr wrap="square" lIns="0" tIns="0" rIns="0" bIns="0" rtlCol="0" anchor="t"/>
          <a:lstStyle/>
          <a:p>
            <a:pPr indent="0" marL="0">
              <a:buNone/>
            </a:pPr>
            <a:r>
              <a:rPr lang="en-US" sz="1050" b="1" dirty="0">
                <a:solidFill>
                  <a:schemeClr val="tx1"/>
                </a:solidFill>
              </a:rPr>
              <a:t>Fusion core: compact D-T tokamak</a:t>
            </a:r>
            <a:endParaRPr lang="en-US" sz="1050" dirty="0"/>
          </a:p>
        </p:txBody>
      </p:sp>
      <p:sp>
        <p:nvSpPr>
          <p:cNvPr id="18" name="text-343"/>
          <p:cNvSpPr txBox="1"/>
          <p:nvPr/>
        </p:nvSpPr>
        <p:spPr>
          <a:xfrm>
            <a:off x="1005840" y="7148685"/>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Superconducting magnets hold a 150-million-degree plasma. No CO₂, no long-lived waste, no meltdown.</a:t>
            </a:r>
            <a:endParaRPr lang="en-US" sz="950" dirty="0"/>
          </a:p>
        </p:txBody>
      </p:sp>
      <p:sp>
        <p:nvSpPr>
          <p:cNvPr id="19" name="marker-344"/>
          <p:cNvSpPr/>
          <p:nvPr/>
        </p:nvSpPr>
        <p:spPr>
          <a:xfrm>
            <a:off x="548640" y="7713808"/>
            <a:ext cx="329184" cy="329184"/>
          </a:xfrm>
          <a:prstGeom prst="ellipse">
            <a:avLst/>
          </a:prstGeom>
          <a:solidFill>
            <a:schemeClr val="accent3"/>
          </a:solidFill>
          <a:ln w="12700">
            <a:solidFill>
              <a:schemeClr val="accent3"/>
            </a:solidFill>
            <a:prstDash val="solid"/>
          </a:ln>
        </p:spPr>
      </p:sp>
      <p:sp>
        <p:nvSpPr>
          <p:cNvPr id="20" name="text-345"/>
          <p:cNvSpPr txBox="1"/>
          <p:nvPr/>
        </p:nvSpPr>
        <p:spPr>
          <a:xfrm>
            <a:off x="548640" y="77138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46"/>
          <p:cNvSpPr txBox="1"/>
          <p:nvPr/>
        </p:nvSpPr>
        <p:spPr>
          <a:xfrm>
            <a:off x="1005840" y="770466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Power conversion &amp; heat export</a:t>
            </a:r>
            <a:endParaRPr lang="en-US" sz="1050" dirty="0"/>
          </a:p>
        </p:txBody>
      </p:sp>
      <p:sp>
        <p:nvSpPr>
          <p:cNvPr id="22" name="text-347"/>
          <p:cNvSpPr txBox="1"/>
          <p:nvPr/>
        </p:nvSpPr>
        <p:spPr>
          <a:xfrm>
            <a:off x="1005840" y="791497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Supercritical-CO₂ turbines make about 300 MW of electricity and send about 450 MW of heat to the city.</a:t>
            </a:r>
            <a:endParaRPr lang="en-US" sz="950" dirty="0"/>
          </a:p>
        </p:txBody>
      </p:sp>
      <p:sp>
        <p:nvSpPr>
          <p:cNvPr id="23" name="marker-348"/>
          <p:cNvSpPr/>
          <p:nvPr/>
        </p:nvSpPr>
        <p:spPr>
          <a:xfrm>
            <a:off x="548640" y="8480098"/>
            <a:ext cx="329184" cy="329184"/>
          </a:xfrm>
          <a:prstGeom prst="ellipse">
            <a:avLst/>
          </a:prstGeom>
          <a:solidFill>
            <a:schemeClr val="accent3"/>
          </a:solidFill>
          <a:ln w="12700">
            <a:solidFill>
              <a:schemeClr val="accent3"/>
            </a:solidFill>
            <a:prstDash val="solid"/>
          </a:ln>
        </p:spPr>
      </p:sp>
      <p:sp>
        <p:nvSpPr>
          <p:cNvPr id="24" name="text-349"/>
          <p:cNvSpPr txBox="1"/>
          <p:nvPr/>
        </p:nvSpPr>
        <p:spPr>
          <a:xfrm>
            <a:off x="548640" y="848009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350"/>
          <p:cNvSpPr txBox="1"/>
          <p:nvPr/>
        </p:nvSpPr>
        <p:spPr>
          <a:xfrm>
            <a:off x="1005840" y="8470954"/>
            <a:ext cx="3703320" cy="201168"/>
          </a:xfrm>
          <a:prstGeom prst="rect">
            <a:avLst/>
          </a:prstGeom>
          <a:noFill/>
          <a:ln/>
        </p:spPr>
        <p:txBody>
          <a:bodyPr wrap="square" lIns="0" tIns="0" rIns="0" bIns="0" rtlCol="0" anchor="t"/>
          <a:lstStyle/>
          <a:p>
            <a:pPr indent="0" marL="0">
              <a:buNone/>
            </a:pPr>
            <a:r>
              <a:rPr lang="en-US" sz="1050" b="1" dirty="0">
                <a:solidFill>
                  <a:schemeClr val="tx1"/>
                </a:solidFill>
              </a:rPr>
              <a:t>Plasma waste converter</a:t>
            </a:r>
            <a:endParaRPr lang="en-US" sz="1050" dirty="0"/>
          </a:p>
        </p:txBody>
      </p:sp>
      <p:sp>
        <p:nvSpPr>
          <p:cNvPr id="26" name="text-351"/>
          <p:cNvSpPr txBox="1"/>
          <p:nvPr/>
        </p:nvSpPr>
        <p:spPr>
          <a:xfrm>
            <a:off x="1005840" y="8681266"/>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Torches hotter than 5,000 °C turn about 20 t of rubbish a day into clean gas, metals and paving blocks.</a:t>
            </a:r>
            <a:endParaRPr lang="en-US" sz="950" dirty="0"/>
          </a:p>
        </p:txBody>
      </p:sp>
      <p:sp>
        <p:nvSpPr>
          <p:cNvPr id="27" name="marker-352"/>
          <p:cNvSpPr/>
          <p:nvPr/>
        </p:nvSpPr>
        <p:spPr>
          <a:xfrm>
            <a:off x="548640" y="9246389"/>
            <a:ext cx="329184" cy="329184"/>
          </a:xfrm>
          <a:prstGeom prst="ellipse">
            <a:avLst/>
          </a:prstGeom>
          <a:solidFill>
            <a:schemeClr val="tx1"/>
          </a:solidFill>
          <a:ln w="12700">
            <a:solidFill>
              <a:schemeClr val="tx1"/>
            </a:solidFill>
            <a:prstDash val="solid"/>
          </a:ln>
        </p:spPr>
      </p:sp>
      <p:sp>
        <p:nvSpPr>
          <p:cNvPr id="28" name="text-353"/>
          <p:cNvSpPr txBox="1"/>
          <p:nvPr/>
        </p:nvSpPr>
        <p:spPr>
          <a:xfrm>
            <a:off x="548640" y="9246389"/>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C</a:t>
            </a:r>
            <a:endParaRPr lang="en-US" sz="1200" dirty="0"/>
          </a:p>
        </p:txBody>
      </p:sp>
      <p:sp>
        <p:nvSpPr>
          <p:cNvPr id="29" name="text-354"/>
          <p:cNvSpPr txBox="1"/>
          <p:nvPr/>
        </p:nvSpPr>
        <p:spPr>
          <a:xfrm>
            <a:off x="1005840" y="9237245"/>
            <a:ext cx="3703320" cy="201168"/>
          </a:xfrm>
          <a:prstGeom prst="rect">
            <a:avLst/>
          </a:prstGeom>
          <a:noFill/>
          <a:ln/>
        </p:spPr>
        <p:txBody>
          <a:bodyPr wrap="square" lIns="0" tIns="0" rIns="0" bIns="0" rtlCol="0" anchor="t"/>
          <a:lstStyle/>
          <a:p>
            <a:pPr indent="0" marL="0">
              <a:buNone/>
            </a:pPr>
            <a:r>
              <a:rPr lang="en-US" sz="1050" b="1" dirty="0">
                <a:solidFill>
                  <a:schemeClr val="tx1"/>
                </a:solidFill>
              </a:rPr>
              <a:t>Control &amp; visitor centre</a:t>
            </a:r>
            <a:endParaRPr lang="en-US" sz="1050" dirty="0"/>
          </a:p>
        </p:txBody>
      </p:sp>
      <p:sp>
        <p:nvSpPr>
          <p:cNvPr id="30" name="text-355"/>
          <p:cNvSpPr txBox="1"/>
          <p:nvPr/>
        </p:nvSpPr>
        <p:spPr>
          <a:xfrm>
            <a:off x="1005840" y="9447557"/>
            <a:ext cx="3703320" cy="510259"/>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Operators and an AI digital twin can stop the plasma in milliseconds; a public gallery faces the reactor.</a:t>
            </a:r>
            <a:endParaRPr lang="en-US" sz="950" dirty="0"/>
          </a:p>
        </p:txBody>
      </p:sp>
      <p:sp>
        <p:nvSpPr>
          <p:cNvPr id="31" name="text-356"/>
          <p:cNvSpPr txBox="1"/>
          <p:nvPr/>
        </p:nvSpPr>
        <p:spPr>
          <a:xfrm>
            <a:off x="5074920" y="5323495"/>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800 MW</a:t>
            </a:r>
            <a:endParaRPr lang="en-US" sz="2400" dirty="0"/>
          </a:p>
        </p:txBody>
      </p:sp>
      <p:sp>
        <p:nvSpPr>
          <p:cNvPr id="32" name="text-357"/>
          <p:cNvSpPr txBox="1"/>
          <p:nvPr/>
        </p:nvSpPr>
        <p:spPr>
          <a:xfrm>
            <a:off x="5074920" y="5728879"/>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heat from the plasma</a:t>
            </a:r>
            <a:endParaRPr lang="en-US" sz="900" dirty="0"/>
          </a:p>
        </p:txBody>
      </p:sp>
      <p:sp>
        <p:nvSpPr>
          <p:cNvPr id="33" name="text-358"/>
          <p:cNvSpPr txBox="1"/>
          <p:nvPr/>
        </p:nvSpPr>
        <p:spPr>
          <a:xfrm>
            <a:off x="5074920" y="6243044"/>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300 MW</a:t>
            </a:r>
            <a:endParaRPr lang="en-US" sz="2400" dirty="0"/>
          </a:p>
        </p:txBody>
      </p:sp>
      <p:sp>
        <p:nvSpPr>
          <p:cNvPr id="34" name="text-359"/>
          <p:cNvSpPr txBox="1"/>
          <p:nvPr/>
        </p:nvSpPr>
        <p:spPr>
          <a:xfrm>
            <a:off x="5074920" y="6648428"/>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electricity</a:t>
            </a:r>
            <a:endParaRPr lang="en-US" sz="900" dirty="0"/>
          </a:p>
        </p:txBody>
      </p:sp>
      <p:sp>
        <p:nvSpPr>
          <p:cNvPr id="35" name="text-360"/>
          <p:cNvSpPr txBox="1"/>
          <p:nvPr/>
        </p:nvSpPr>
        <p:spPr>
          <a:xfrm>
            <a:off x="5074920" y="7162593"/>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450 MW</a:t>
            </a:r>
            <a:endParaRPr lang="en-US" sz="2400" dirty="0"/>
          </a:p>
        </p:txBody>
      </p:sp>
      <p:sp>
        <p:nvSpPr>
          <p:cNvPr id="36" name="text-361"/>
          <p:cNvSpPr txBox="1"/>
          <p:nvPr/>
        </p:nvSpPr>
        <p:spPr>
          <a:xfrm>
            <a:off x="5074920" y="7567977"/>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district heat for the city</a:t>
            </a:r>
            <a:endParaRPr lang="en-US" sz="900" dirty="0"/>
          </a:p>
        </p:txBody>
      </p:sp>
      <p:sp>
        <p:nvSpPr>
          <p:cNvPr id="37" name="text-362"/>
          <p:cNvSpPr txBox="1"/>
          <p:nvPr/>
        </p:nvSpPr>
        <p:spPr>
          <a:xfrm>
            <a:off x="5074920" y="8082142"/>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170 g</a:t>
            </a:r>
            <a:endParaRPr lang="en-US" sz="2400" dirty="0"/>
          </a:p>
        </p:txBody>
      </p:sp>
      <p:sp>
        <p:nvSpPr>
          <p:cNvPr id="38" name="text-363"/>
          <p:cNvSpPr txBox="1"/>
          <p:nvPr/>
        </p:nvSpPr>
        <p:spPr>
          <a:xfrm>
            <a:off x="5074920" y="8487526"/>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fuel a day, about 70 g of it deuterium</a:t>
            </a:r>
            <a:endParaRPr lang="en-US" sz="900" dirty="0"/>
          </a:p>
        </p:txBody>
      </p:sp>
      <p:sp>
        <p:nvSpPr>
          <p:cNvPr id="39" name="text-364"/>
          <p:cNvSpPr txBox="1"/>
          <p:nvPr/>
        </p:nvSpPr>
        <p:spPr>
          <a:xfrm>
            <a:off x="5074920" y="9001691"/>
            <a:ext cx="1938528" cy="377952"/>
          </a:xfrm>
          <a:prstGeom prst="rect">
            <a:avLst/>
          </a:prstGeom>
          <a:noFill/>
          <a:ln/>
        </p:spPr>
        <p:txBody>
          <a:bodyPr wrap="square" lIns="0" tIns="0" rIns="0" bIns="0" rtlCol="0" anchor="b"/>
          <a:lstStyle/>
          <a:p>
            <a:pPr indent="0" marL="0">
              <a:buNone/>
            </a:pPr>
            <a:r>
              <a:rPr lang="en-US" sz="2400" b="1" dirty="0">
                <a:solidFill>
                  <a:schemeClr val="accent3"/>
                </a:solidFill>
                <a:latin typeface="+mj-lt" pitchFamily="34" charset="0"/>
                <a:ea typeface="+mj-lt" pitchFamily="34" charset="-122"/>
                <a:cs typeface="+mj-lt" pitchFamily="34" charset="-120"/>
              </a:rPr>
              <a:t>1 litre</a:t>
            </a:r>
            <a:endParaRPr lang="en-US" sz="2400" dirty="0"/>
          </a:p>
        </p:txBody>
      </p:sp>
      <p:sp>
        <p:nvSpPr>
          <p:cNvPr id="40" name="text-365"/>
          <p:cNvSpPr txBox="1"/>
          <p:nvPr/>
        </p:nvSpPr>
        <p:spPr>
          <a:xfrm>
            <a:off x="5074920" y="9407075"/>
            <a:ext cx="1938528" cy="384048"/>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liquid helium a day for MRI scanners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picture-366" descr="/home/user/chatbox-bi-n-o/magazine/assets/renders/food.jpg">    </p:cNvPr>
          <p:cNvPicPr>
            <a:picLocks noChangeAspect="1"/>
          </p:cNvPicPr>
          <p:nvPr/>
        </p:nvPicPr>
        <p:blipFill>
          <a:blip r:embed="rId1"/>
          <a:srcRect l="0" r="0" t="0" b="0"/>
          <a:stretch/>
        </p:blipFill>
        <p:spPr>
          <a:xfrm>
            <a:off x="0" y="0"/>
            <a:ext cx="7562088" cy="10689336"/>
          </a:xfrm>
          <a:prstGeom prst="rect">
            <a:avLst/>
          </a:prstGeom>
        </p:spPr>
      </p:pic>
      <p:pic>
        <p:nvPicPr>
          <p:cNvPr id="3" name="shade-topStrong-367" descr="/home/user/chatbox-bi-n-o/magazine/assets/ui/shade_top_strong.png">    </p:cNvPr>
          <p:cNvPicPr>
            <a:picLocks noChangeAspect="1"/>
          </p:cNvPicPr>
          <p:nvPr/>
        </p:nvPicPr>
        <p:blipFill>
          <a:blip r:embed="rId2"/>
          <a:stretch>
            <a:fillRect/>
          </a:stretch>
        </p:blipFill>
        <p:spPr>
          <a:xfrm>
            <a:off x="0" y="0"/>
            <a:ext cx="7562088" cy="5120640"/>
          </a:xfrm>
          <a:prstGeom prst="rect">
            <a:avLst/>
          </a:prstGeom>
        </p:spPr>
      </p:pic>
      <p:pic>
        <p:nvPicPr>
          <p:cNvPr id="4" name="shade-bottom-368" descr="/home/user/chatbox-bi-n-o/magazine/assets/ui/shade_bottom.png">    </p:cNvPr>
          <p:cNvPicPr>
            <a:picLocks noChangeAspect="1"/>
          </p:cNvPicPr>
          <p:nvPr/>
        </p:nvPicPr>
        <p:blipFill>
          <a:blip r:embed="rId3"/>
          <a:stretch>
            <a:fillRect/>
          </a:stretch>
        </p:blipFill>
        <p:spPr>
          <a:xfrm>
            <a:off x="0" y="6766560"/>
            <a:ext cx="7562088" cy="3922776"/>
          </a:xfrm>
          <a:prstGeom prst="rect">
            <a:avLst/>
          </a:prstGeom>
        </p:spPr>
      </p:pic>
      <p:sp>
        <p:nvSpPr>
          <p:cNvPr id="5" name="marker-369"/>
          <p:cNvSpPr/>
          <p:nvPr/>
        </p:nvSpPr>
        <p:spPr>
          <a:xfrm>
            <a:off x="548640" y="548640"/>
            <a:ext cx="731520" cy="731520"/>
          </a:xfrm>
          <a:prstGeom prst="ellipse">
            <a:avLst/>
          </a:prstGeom>
          <a:solidFill>
            <a:schemeClr val="accent4"/>
          </a:solidFill>
          <a:ln w="19050">
            <a:solidFill>
              <a:schemeClr val="bg1"/>
            </a:solidFill>
            <a:prstDash val="solid"/>
          </a:ln>
        </p:spPr>
      </p:sp>
      <p:sp>
        <p:nvSpPr>
          <p:cNvPr id="6" name="text-370"/>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2</a:t>
            </a:r>
            <a:endParaRPr lang="en-US" sz="2800" dirty="0"/>
          </a:p>
        </p:txBody>
      </p:sp>
      <p:sp>
        <p:nvSpPr>
          <p:cNvPr id="7" name="kicker-dot-371"/>
          <p:cNvSpPr/>
          <p:nvPr/>
        </p:nvSpPr>
        <p:spPr>
          <a:xfrm>
            <a:off x="548640" y="1549908"/>
            <a:ext cx="100584" cy="100584"/>
          </a:xfrm>
          <a:prstGeom prst="ellipse">
            <a:avLst/>
          </a:prstGeom>
          <a:solidFill>
            <a:schemeClr val="accent1"/>
          </a:solidFill>
          <a:ln w="12700">
            <a:solidFill>
              <a:schemeClr val="accent1"/>
            </a:solidFill>
            <a:prstDash val="solid"/>
          </a:ln>
        </p:spPr>
      </p:sp>
      <p:sp>
        <p:nvSpPr>
          <p:cNvPr id="8" name="text-372"/>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2 · SNOW-TO-FOOD &amp; WATER PLANT</a:t>
            </a:r>
            <a:endParaRPr lang="en-US" sz="900" dirty="0"/>
          </a:p>
        </p:txBody>
      </p:sp>
      <p:sp>
        <p:nvSpPr>
          <p:cNvPr id="9" name="title-373"/>
          <p:cNvSpPr txBox="1"/>
          <p:nvPr/>
        </p:nvSpPr>
        <p:spPr>
          <a:xfrm>
            <a:off x="548640" y="176479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Bread and Water from Snow and Air</a:t>
            </a:r>
            <a:endParaRPr lang="en-US" sz="4400" dirty="0"/>
          </a:p>
        </p:txBody>
      </p:sp>
      <p:sp>
        <p:nvSpPr>
          <p:cNvPr id="10" name="text-375"/>
          <p:cNvSpPr txBox="1"/>
          <p:nvPr/>
        </p:nvSpPr>
        <p:spPr>
          <a:xfrm>
            <a:off x="548640" y="3246120"/>
            <a:ext cx="548640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Six stages turn tundra snow and air into all of the city’s drinking water and about half of its protein, with no farmland at all.</a:t>
            </a:r>
            <a:endParaRPr lang="en-US" sz="1400" dirty="0"/>
          </a:p>
        </p:txBody>
      </p:sp>
      <p:sp>
        <p:nvSpPr>
          <p:cNvPr id="11" name="text-376"/>
          <p:cNvSpPr txBox="1"/>
          <p:nvPr/>
        </p:nvSpPr>
        <p:spPr>
          <a:xfrm>
            <a:off x="548640"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What do you eat where nothing grows? Stage 1 melts about 3,000 tonnes of clean tundra snow a day with spare heat from the fusion station, so the snow does the job of a cooling tower. Stage 2 turns the meltwater into all the city’s drinking water.</a:t>
            </a:r>
            <a:endParaRPr lang="en-US" sz="1000" dirty="0"/>
          </a:p>
        </p:txBody>
      </p:sp>
      <p:sp>
        <p:nvSpPr>
          <p:cNvPr id="12" name="text-377"/>
          <p:cNvSpPr txBox="1"/>
          <p:nvPr/>
        </p:nvSpPr>
        <p:spPr>
          <a:xfrm>
            <a:off x="3918204" y="8412480"/>
            <a:ext cx="3095244" cy="16459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Stage 3 splits water into hydrogen and oxygen and captures CO₂ from the air; Stage 4 turns them into starch and fats. In Stage 5, microbes in six silos make about 2.5 tonnes of protein flour a day. Stage 6 cooks bread, noodles and drinks for the city.</a:t>
            </a:r>
            <a:endParaRPr lang="en-US" sz="1000" dirty="0"/>
          </a:p>
        </p:txBody>
      </p:sp>
      <p:sp>
        <p:nvSpPr>
          <p:cNvPr id="13" name="text-378"/>
          <p:cNvSpPr txBox="1"/>
          <p:nvPr/>
        </p:nvSpPr>
        <p:spPr>
          <a:xfrm>
            <a:off x="548640" y="8092440"/>
            <a:ext cx="6464808" cy="228600"/>
          </a:xfrm>
          <a:prstGeom prst="rect">
            <a:avLst/>
          </a:prstGeom>
          <a:noFill/>
          <a:ln/>
        </p:spPr>
        <p:txBody>
          <a:bodyPr wrap="square" lIns="0" tIns="0" rIns="0" bIns="0" rtlCol="0" anchor="t"/>
          <a:lstStyle/>
          <a:p>
            <a:pPr indent="0" marL="0">
              <a:buNone/>
            </a:pPr>
            <a:r>
              <a:rPr lang="en-US" sz="850" i="1" dirty="0">
                <a:solidFill>
                  <a:schemeClr val="bg2"/>
                </a:solidFill>
              </a:rPr>
              <a:t>The six Bioreactor Silos in the low sun.</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kicker-dot-379"/>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38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SNOW-TO-FOOD &amp; WATER PLANT · HOW IT WORKS</a:t>
            </a:r>
            <a:endParaRPr lang="en-US" sz="900" dirty="0"/>
          </a:p>
        </p:txBody>
      </p:sp>
      <p:sp>
        <p:nvSpPr>
          <p:cNvPr id="4" name="title-38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Six Stages from Snow to Supper</a:t>
            </a:r>
            <a:endParaRPr lang="en-US" sz="3400" dirty="0"/>
          </a:p>
        </p:txBody>
      </p:sp>
      <p:pic>
        <p:nvPicPr>
          <p:cNvPr id="5" name="food-plan" descr="/home/user/chatbox-bi-n-o/magazine/assets/plans/03_snow_to_food_water_plant_plan.png">    </p:cNvPr>
          <p:cNvPicPr>
            <a:picLocks noChangeAspect="1"/>
          </p:cNvPicPr>
          <p:nvPr/>
        </p:nvPicPr>
        <p:blipFill>
          <a:blip r:embed="rId1"/>
          <a:stretch>
            <a:fillRect/>
          </a:stretch>
        </p:blipFill>
        <p:spPr>
          <a:xfrm>
            <a:off x="548640" y="1554480"/>
            <a:ext cx="6464808" cy="3128967"/>
          </a:xfrm>
          <a:prstGeom prst="rect">
            <a:avLst/>
          </a:prstGeom>
        </p:spPr>
      </p:pic>
      <p:sp>
        <p:nvSpPr>
          <p:cNvPr id="6" name="text-383"/>
          <p:cNvSpPr txBox="1"/>
          <p:nvPr/>
        </p:nvSpPr>
        <p:spPr>
          <a:xfrm>
            <a:off x="548640" y="4729167"/>
            <a:ext cx="6464808" cy="228600"/>
          </a:xfrm>
          <a:prstGeom prst="rect">
            <a:avLst/>
          </a:prstGeom>
          <a:noFill/>
          <a:ln/>
        </p:spPr>
        <p:txBody>
          <a:bodyPr wrap="square" lIns="0" tIns="0" rIns="0" bIns="0" rtlCol="0" anchor="t"/>
          <a:lstStyle/>
          <a:p>
            <a:pPr indent="0" marL="0">
              <a:buNone/>
            </a:pPr>
            <a:r>
              <a:rPr lang="en-US" sz="850" i="1" dirty="0">
                <a:solidFill>
                  <a:schemeClr val="tx2"/>
                </a:solidFill>
              </a:rPr>
              <a:t>Snow-to-Food &amp; Water Plant – District Plan. All drinking water and about half of the city’s protein, from snow and air.</a:t>
            </a:r>
            <a:endParaRPr lang="en-US" sz="850" dirty="0"/>
          </a:p>
        </p:txBody>
      </p:sp>
      <p:sp>
        <p:nvSpPr>
          <p:cNvPr id="7" name="marker-384"/>
          <p:cNvSpPr/>
          <p:nvPr/>
        </p:nvSpPr>
        <p:spPr>
          <a:xfrm>
            <a:off x="548640" y="5303520"/>
            <a:ext cx="329184" cy="329184"/>
          </a:xfrm>
          <a:prstGeom prst="ellipse">
            <a:avLst/>
          </a:prstGeom>
          <a:solidFill>
            <a:schemeClr val="accent4"/>
          </a:solidFill>
          <a:ln w="12700">
            <a:solidFill>
              <a:schemeClr val="accent4"/>
            </a:solidFill>
            <a:prstDash val="solid"/>
          </a:ln>
        </p:spPr>
      </p:sp>
      <p:sp>
        <p:nvSpPr>
          <p:cNvPr id="8" name="text-385"/>
          <p:cNvSpPr txBox="1"/>
          <p:nvPr/>
        </p:nvSpPr>
        <p:spPr>
          <a:xfrm>
            <a:off x="548640" y="53035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9" name="text-386"/>
          <p:cNvSpPr txBox="1"/>
          <p:nvPr/>
        </p:nvSpPr>
        <p:spPr>
          <a:xfrm>
            <a:off x="1005840" y="52943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Snow harvest &amp; melt hall</a:t>
            </a:r>
            <a:endParaRPr lang="en-US" sz="1050" dirty="0"/>
          </a:p>
        </p:txBody>
      </p:sp>
      <p:sp>
        <p:nvSpPr>
          <p:cNvPr id="10" name="text-387"/>
          <p:cNvSpPr txBox="1"/>
          <p:nvPr/>
        </p:nvSpPr>
        <p:spPr>
          <a:xfrm>
            <a:off x="1005840" y="55046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Electric harvesters gather wind-packed snow upwind of the city; about 14 MW of spare fusion heat melts it.</a:t>
            </a:r>
            <a:endParaRPr lang="en-US" sz="950" dirty="0"/>
          </a:p>
        </p:txBody>
      </p:sp>
      <p:sp>
        <p:nvSpPr>
          <p:cNvPr id="11" name="marker-388"/>
          <p:cNvSpPr/>
          <p:nvPr/>
        </p:nvSpPr>
        <p:spPr>
          <a:xfrm>
            <a:off x="548640" y="6088380"/>
            <a:ext cx="329184" cy="329184"/>
          </a:xfrm>
          <a:prstGeom prst="ellipse">
            <a:avLst/>
          </a:prstGeom>
          <a:solidFill>
            <a:schemeClr val="accent4"/>
          </a:solidFill>
          <a:ln w="12700">
            <a:solidFill>
              <a:schemeClr val="accent4"/>
            </a:solidFill>
            <a:prstDash val="solid"/>
          </a:ln>
        </p:spPr>
      </p:sp>
      <p:sp>
        <p:nvSpPr>
          <p:cNvPr id="12" name="text-389"/>
          <p:cNvSpPr txBox="1"/>
          <p:nvPr/>
        </p:nvSpPr>
        <p:spPr>
          <a:xfrm>
            <a:off x="548640" y="608838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3" name="text-390"/>
          <p:cNvSpPr txBox="1"/>
          <p:nvPr/>
        </p:nvSpPr>
        <p:spPr>
          <a:xfrm>
            <a:off x="1005840" y="6079236"/>
            <a:ext cx="3703320" cy="201168"/>
          </a:xfrm>
          <a:prstGeom prst="rect">
            <a:avLst/>
          </a:prstGeom>
          <a:noFill/>
          <a:ln/>
        </p:spPr>
        <p:txBody>
          <a:bodyPr wrap="square" lIns="0" tIns="0" rIns="0" bIns="0" rtlCol="0" anchor="t"/>
          <a:lstStyle/>
          <a:p>
            <a:pPr indent="0" marL="0">
              <a:buNone/>
            </a:pPr>
            <a:r>
              <a:rPr lang="en-US" sz="1050" b="1" dirty="0">
                <a:solidFill>
                  <a:schemeClr val="tx1"/>
                </a:solidFill>
              </a:rPr>
              <a:t>Drinking-water &amp; mineral works</a:t>
            </a:r>
            <a:endParaRPr lang="en-US" sz="1050" dirty="0"/>
          </a:p>
        </p:txBody>
      </p:sp>
      <p:sp>
        <p:nvSpPr>
          <p:cNvPr id="14" name="text-391"/>
          <p:cNvSpPr txBox="1"/>
          <p:nvPr/>
        </p:nvSpPr>
        <p:spPr>
          <a:xfrm>
            <a:off x="1005840" y="628954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Membranes and UV light remove every germ, calcite adds calcium and magnesium, and sensors test the water every five minutes.</a:t>
            </a:r>
            <a:endParaRPr lang="en-US" sz="950" dirty="0"/>
          </a:p>
        </p:txBody>
      </p:sp>
      <p:sp>
        <p:nvSpPr>
          <p:cNvPr id="15" name="marker-392"/>
          <p:cNvSpPr/>
          <p:nvPr/>
        </p:nvSpPr>
        <p:spPr>
          <a:xfrm>
            <a:off x="548640" y="6873240"/>
            <a:ext cx="329184" cy="329184"/>
          </a:xfrm>
          <a:prstGeom prst="ellipse">
            <a:avLst/>
          </a:prstGeom>
          <a:solidFill>
            <a:schemeClr val="accent4"/>
          </a:solidFill>
          <a:ln w="12700">
            <a:solidFill>
              <a:schemeClr val="accent4"/>
            </a:solidFill>
            <a:prstDash val="solid"/>
          </a:ln>
        </p:spPr>
      </p:sp>
      <p:sp>
        <p:nvSpPr>
          <p:cNvPr id="16" name="text-393"/>
          <p:cNvSpPr txBox="1"/>
          <p:nvPr/>
        </p:nvSpPr>
        <p:spPr>
          <a:xfrm>
            <a:off x="548640" y="687324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17" name="text-394"/>
          <p:cNvSpPr txBox="1"/>
          <p:nvPr/>
        </p:nvSpPr>
        <p:spPr>
          <a:xfrm>
            <a:off x="1005840" y="6864096"/>
            <a:ext cx="3703320" cy="201168"/>
          </a:xfrm>
          <a:prstGeom prst="rect">
            <a:avLst/>
          </a:prstGeom>
          <a:noFill/>
          <a:ln/>
        </p:spPr>
        <p:txBody>
          <a:bodyPr wrap="square" lIns="0" tIns="0" rIns="0" bIns="0" rtlCol="0" anchor="t"/>
          <a:lstStyle/>
          <a:p>
            <a:pPr indent="0" marL="0">
              <a:buNone/>
            </a:pPr>
            <a:r>
              <a:rPr lang="en-US" sz="1050" b="1" dirty="0">
                <a:solidFill>
                  <a:schemeClr val="tx1"/>
                </a:solidFill>
              </a:rPr>
              <a:t>Electrolysis, air capture &amp; green ammonia</a:t>
            </a:r>
            <a:endParaRPr lang="en-US" sz="1050" dirty="0"/>
          </a:p>
        </p:txBody>
      </p:sp>
      <p:sp>
        <p:nvSpPr>
          <p:cNvPr id="18" name="text-395"/>
          <p:cNvSpPr txBox="1"/>
          <p:nvPr/>
        </p:nvSpPr>
        <p:spPr>
          <a:xfrm>
            <a:off x="1005840" y="707440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About 5 t of hydrogen a day; the oxygen goes to the hospital and the waste converter.</a:t>
            </a:r>
            <a:endParaRPr lang="en-US" sz="950" dirty="0"/>
          </a:p>
        </p:txBody>
      </p:sp>
      <p:sp>
        <p:nvSpPr>
          <p:cNvPr id="19" name="marker-396"/>
          <p:cNvSpPr/>
          <p:nvPr/>
        </p:nvSpPr>
        <p:spPr>
          <a:xfrm>
            <a:off x="548640" y="7658100"/>
            <a:ext cx="329184" cy="329184"/>
          </a:xfrm>
          <a:prstGeom prst="ellipse">
            <a:avLst/>
          </a:prstGeom>
          <a:solidFill>
            <a:schemeClr val="accent4"/>
          </a:solidFill>
          <a:ln w="12700">
            <a:solidFill>
              <a:schemeClr val="accent4"/>
            </a:solidFill>
            <a:prstDash val="solid"/>
          </a:ln>
        </p:spPr>
      </p:sp>
      <p:sp>
        <p:nvSpPr>
          <p:cNvPr id="20" name="text-397"/>
          <p:cNvSpPr txBox="1"/>
          <p:nvPr/>
        </p:nvSpPr>
        <p:spPr>
          <a:xfrm>
            <a:off x="548640" y="765810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4</a:t>
            </a:r>
            <a:endParaRPr lang="en-US" sz="1200" dirty="0"/>
          </a:p>
        </p:txBody>
      </p:sp>
      <p:sp>
        <p:nvSpPr>
          <p:cNvPr id="21" name="text-398"/>
          <p:cNvSpPr txBox="1"/>
          <p:nvPr/>
        </p:nvSpPr>
        <p:spPr>
          <a:xfrm>
            <a:off x="1005840" y="7648956"/>
            <a:ext cx="3703320" cy="201168"/>
          </a:xfrm>
          <a:prstGeom prst="rect">
            <a:avLst/>
          </a:prstGeom>
          <a:noFill/>
          <a:ln/>
        </p:spPr>
        <p:txBody>
          <a:bodyPr wrap="square" lIns="0" tIns="0" rIns="0" bIns="0" rtlCol="0" anchor="t"/>
          <a:lstStyle/>
          <a:p>
            <a:pPr indent="0" marL="0">
              <a:buNone/>
            </a:pPr>
            <a:r>
              <a:rPr lang="en-US" sz="1050" b="1" dirty="0">
                <a:solidFill>
                  <a:schemeClr val="tx1"/>
                </a:solidFill>
              </a:rPr>
              <a:t>Carbon-fixation chemistry</a:t>
            </a:r>
            <a:endParaRPr lang="en-US" sz="1050" dirty="0"/>
          </a:p>
        </p:txBody>
      </p:sp>
      <p:sp>
        <p:nvSpPr>
          <p:cNvPr id="22" name="text-399"/>
          <p:cNvSpPr txBox="1"/>
          <p:nvPr/>
        </p:nvSpPr>
        <p:spPr>
          <a:xfrm>
            <a:off x="1005840" y="785926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A copper catalyst makes methanol, and enzymes build it into starch about eight times faster than a maize field.</a:t>
            </a:r>
            <a:endParaRPr lang="en-US" sz="950" dirty="0"/>
          </a:p>
        </p:txBody>
      </p:sp>
      <p:sp>
        <p:nvSpPr>
          <p:cNvPr id="23" name="marker-400"/>
          <p:cNvSpPr/>
          <p:nvPr/>
        </p:nvSpPr>
        <p:spPr>
          <a:xfrm>
            <a:off x="548640" y="8442960"/>
            <a:ext cx="329184" cy="329184"/>
          </a:xfrm>
          <a:prstGeom prst="ellipse">
            <a:avLst/>
          </a:prstGeom>
          <a:solidFill>
            <a:schemeClr val="accent4"/>
          </a:solidFill>
          <a:ln w="12700">
            <a:solidFill>
              <a:schemeClr val="accent4"/>
            </a:solidFill>
            <a:prstDash val="solid"/>
          </a:ln>
        </p:spPr>
      </p:sp>
      <p:sp>
        <p:nvSpPr>
          <p:cNvPr id="24" name="text-401"/>
          <p:cNvSpPr txBox="1"/>
          <p:nvPr/>
        </p:nvSpPr>
        <p:spPr>
          <a:xfrm>
            <a:off x="548640" y="84429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5</a:t>
            </a:r>
            <a:endParaRPr lang="en-US" sz="1200" dirty="0"/>
          </a:p>
        </p:txBody>
      </p:sp>
      <p:sp>
        <p:nvSpPr>
          <p:cNvPr id="25" name="text-402"/>
          <p:cNvSpPr txBox="1"/>
          <p:nvPr/>
        </p:nvSpPr>
        <p:spPr>
          <a:xfrm>
            <a:off x="1005840" y="8433816"/>
            <a:ext cx="3703320" cy="201168"/>
          </a:xfrm>
          <a:prstGeom prst="rect">
            <a:avLst/>
          </a:prstGeom>
          <a:noFill/>
          <a:ln/>
        </p:spPr>
        <p:txBody>
          <a:bodyPr wrap="square" lIns="0" tIns="0" rIns="0" bIns="0" rtlCol="0" anchor="t"/>
          <a:lstStyle/>
          <a:p>
            <a:pPr indent="0" marL="0">
              <a:buNone/>
            </a:pPr>
            <a:r>
              <a:rPr lang="en-US" sz="1050" b="1" dirty="0">
                <a:solidFill>
                  <a:schemeClr val="tx1"/>
                </a:solidFill>
              </a:rPr>
              <a:t>Bioreactor silos</a:t>
            </a:r>
            <a:endParaRPr lang="en-US" sz="1050" dirty="0"/>
          </a:p>
        </p:txBody>
      </p:sp>
      <p:sp>
        <p:nvSpPr>
          <p:cNvPr id="26" name="text-403"/>
          <p:cNvSpPr txBox="1"/>
          <p:nvPr/>
        </p:nvSpPr>
        <p:spPr>
          <a:xfrm>
            <a:off x="1005840" y="864412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Hydrogen-eating bacteria make protein flour; yeasts and algae make oils and vitamins, 24 hours a day.</a:t>
            </a:r>
            <a:endParaRPr lang="en-US" sz="950" dirty="0"/>
          </a:p>
        </p:txBody>
      </p:sp>
      <p:sp>
        <p:nvSpPr>
          <p:cNvPr id="27" name="marker-404"/>
          <p:cNvSpPr/>
          <p:nvPr/>
        </p:nvSpPr>
        <p:spPr>
          <a:xfrm>
            <a:off x="548640" y="9227820"/>
            <a:ext cx="329184" cy="329184"/>
          </a:xfrm>
          <a:prstGeom prst="ellipse">
            <a:avLst/>
          </a:prstGeom>
          <a:solidFill>
            <a:schemeClr val="accent4"/>
          </a:solidFill>
          <a:ln w="12700">
            <a:solidFill>
              <a:schemeClr val="accent4"/>
            </a:solidFill>
            <a:prstDash val="solid"/>
          </a:ln>
        </p:spPr>
      </p:sp>
      <p:sp>
        <p:nvSpPr>
          <p:cNvPr id="28" name="text-405"/>
          <p:cNvSpPr txBox="1"/>
          <p:nvPr/>
        </p:nvSpPr>
        <p:spPr>
          <a:xfrm>
            <a:off x="548640" y="922782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6</a:t>
            </a:r>
            <a:endParaRPr lang="en-US" sz="1200" dirty="0"/>
          </a:p>
        </p:txBody>
      </p:sp>
      <p:sp>
        <p:nvSpPr>
          <p:cNvPr id="29" name="text-406"/>
          <p:cNvSpPr txBox="1"/>
          <p:nvPr/>
        </p:nvSpPr>
        <p:spPr>
          <a:xfrm>
            <a:off x="1005840" y="9218676"/>
            <a:ext cx="3703320" cy="201168"/>
          </a:xfrm>
          <a:prstGeom prst="rect">
            <a:avLst/>
          </a:prstGeom>
          <a:noFill/>
          <a:ln/>
        </p:spPr>
        <p:txBody>
          <a:bodyPr wrap="square" lIns="0" tIns="0" rIns="0" bIns="0" rtlCol="0" anchor="t"/>
          <a:lstStyle/>
          <a:p>
            <a:pPr indent="0" marL="0">
              <a:buNone/>
            </a:pPr>
            <a:r>
              <a:rPr lang="en-US" sz="1050" b="1" dirty="0">
                <a:solidFill>
                  <a:schemeClr val="tx1"/>
                </a:solidFill>
              </a:rPr>
              <a:t>Food kitchen, bottling &amp; distribution</a:t>
            </a:r>
            <a:endParaRPr lang="en-US" sz="1050" dirty="0"/>
          </a:p>
        </p:txBody>
      </p:sp>
      <p:sp>
        <p:nvSpPr>
          <p:cNvPr id="30" name="text-407"/>
          <p:cNvSpPr txBox="1"/>
          <p:nvPr/>
        </p:nvSpPr>
        <p:spPr>
          <a:xfrm>
            <a:off x="1005840" y="9428988"/>
            <a:ext cx="3703320" cy="528828"/>
          </a:xfrm>
          <a:prstGeom prst="rect">
            <a:avLst/>
          </a:prstGeom>
          <a:noFill/>
          <a:ln/>
        </p:spPr>
        <p:txBody>
          <a:bodyPr wrap="square" lIns="0" tIns="0" rIns="0" bIns="0" rtlCol="0" anchor="t"/>
          <a:lstStyle/>
          <a:p>
            <a:pPr indent="0" marL="0">
              <a:lnSpc>
                <a:spcPct val="108000"/>
              </a:lnSpc>
              <a:buNone/>
            </a:pPr>
            <a:r>
              <a:rPr lang="en-US" sz="950" dirty="0">
                <a:solidFill>
                  <a:schemeClr val="tx2"/>
                </a:solidFill>
              </a:rPr>
              <a:t>Bread, noodles, protein mince and dairy-style drinks, delivered overnight in heated electric vans.</a:t>
            </a:r>
            <a:endParaRPr lang="en-US" sz="950" dirty="0"/>
          </a:p>
        </p:txBody>
      </p:sp>
      <p:sp>
        <p:nvSpPr>
          <p:cNvPr id="31" name="text-408"/>
          <p:cNvSpPr txBox="1"/>
          <p:nvPr/>
        </p:nvSpPr>
        <p:spPr>
          <a:xfrm>
            <a:off x="5074920" y="5212080"/>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3,000 t</a:t>
            </a:r>
            <a:endParaRPr lang="en-US" sz="2400" dirty="0"/>
          </a:p>
        </p:txBody>
      </p:sp>
      <p:sp>
        <p:nvSpPr>
          <p:cNvPr id="32" name="text-409"/>
          <p:cNvSpPr txBox="1"/>
          <p:nvPr/>
        </p:nvSpPr>
        <p:spPr>
          <a:xfrm>
            <a:off x="5074920" y="5617464"/>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snow melted a day</a:t>
            </a:r>
            <a:endParaRPr lang="en-US" sz="900" dirty="0"/>
          </a:p>
        </p:txBody>
      </p:sp>
      <p:sp>
        <p:nvSpPr>
          <p:cNvPr id="33" name="text-410"/>
          <p:cNvSpPr txBox="1"/>
          <p:nvPr/>
        </p:nvSpPr>
        <p:spPr>
          <a:xfrm>
            <a:off x="5074920" y="6153912"/>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2,500 m³</a:t>
            </a:r>
            <a:endParaRPr lang="en-US" sz="2400" dirty="0"/>
          </a:p>
        </p:txBody>
      </p:sp>
      <p:sp>
        <p:nvSpPr>
          <p:cNvPr id="34" name="text-411"/>
          <p:cNvSpPr txBox="1"/>
          <p:nvPr/>
        </p:nvSpPr>
        <p:spPr>
          <a:xfrm>
            <a:off x="5074920" y="6559296"/>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drinking water a day, all of the city’s tap water</a:t>
            </a:r>
            <a:endParaRPr lang="en-US" sz="900" dirty="0"/>
          </a:p>
        </p:txBody>
      </p:sp>
      <p:sp>
        <p:nvSpPr>
          <p:cNvPr id="35" name="text-412"/>
          <p:cNvSpPr txBox="1"/>
          <p:nvPr/>
        </p:nvSpPr>
        <p:spPr>
          <a:xfrm>
            <a:off x="5074920" y="7095744"/>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20 t</a:t>
            </a:r>
            <a:endParaRPr lang="en-US" sz="2400" dirty="0"/>
          </a:p>
        </p:txBody>
      </p:sp>
      <p:sp>
        <p:nvSpPr>
          <p:cNvPr id="36" name="text-413"/>
          <p:cNvSpPr txBox="1"/>
          <p:nvPr/>
        </p:nvSpPr>
        <p:spPr>
          <a:xfrm>
            <a:off x="5074920" y="7501128"/>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CO₂ captured from the air a day</a:t>
            </a:r>
            <a:endParaRPr lang="en-US" sz="900" dirty="0"/>
          </a:p>
        </p:txBody>
      </p:sp>
      <p:sp>
        <p:nvSpPr>
          <p:cNvPr id="37" name="text-414"/>
          <p:cNvSpPr txBox="1"/>
          <p:nvPr/>
        </p:nvSpPr>
        <p:spPr>
          <a:xfrm>
            <a:off x="5074920" y="8037576"/>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2.5 t</a:t>
            </a:r>
            <a:endParaRPr lang="en-US" sz="2400" dirty="0"/>
          </a:p>
        </p:txBody>
      </p:sp>
      <p:sp>
        <p:nvSpPr>
          <p:cNvPr id="38" name="text-415"/>
          <p:cNvSpPr txBox="1"/>
          <p:nvPr/>
        </p:nvSpPr>
        <p:spPr>
          <a:xfrm>
            <a:off x="5074920" y="8442960"/>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protein flour a day, as much as 600 hectares of soybeans</a:t>
            </a:r>
            <a:endParaRPr lang="en-US" sz="900" dirty="0"/>
          </a:p>
        </p:txBody>
      </p:sp>
      <p:sp>
        <p:nvSpPr>
          <p:cNvPr id="39" name="text-416"/>
          <p:cNvSpPr txBox="1"/>
          <p:nvPr/>
        </p:nvSpPr>
        <p:spPr>
          <a:xfrm>
            <a:off x="5074920" y="8979408"/>
            <a:ext cx="1938528" cy="377952"/>
          </a:xfrm>
          <a:prstGeom prst="rect">
            <a:avLst/>
          </a:prstGeom>
          <a:noFill/>
          <a:ln/>
        </p:spPr>
        <p:txBody>
          <a:bodyPr wrap="square" lIns="0" tIns="0" rIns="0" bIns="0" rtlCol="0" anchor="b"/>
          <a:lstStyle/>
          <a:p>
            <a:pPr indent="0" marL="0">
              <a:buNone/>
            </a:pPr>
            <a:r>
              <a:rPr lang="en-US" sz="2400" b="1" dirty="0">
                <a:solidFill>
                  <a:schemeClr val="accent4"/>
                </a:solidFill>
                <a:latin typeface="+mj-lt" pitchFamily="34" charset="0"/>
                <a:ea typeface="+mj-lt" pitchFamily="34" charset="-122"/>
                <a:cs typeface="+mj-lt" pitchFamily="34" charset="-120"/>
              </a:rPr>
              <a:t>30 days</a:t>
            </a:r>
            <a:endParaRPr lang="en-US" sz="2400" dirty="0"/>
          </a:p>
        </p:txBody>
      </p:sp>
      <p:sp>
        <p:nvSpPr>
          <p:cNvPr id="40" name="text-417"/>
          <p:cNvSpPr txBox="1"/>
          <p:nvPr/>
        </p:nvSpPr>
        <p:spPr>
          <a:xfrm>
            <a:off x="5074920" y="9384792"/>
            <a:ext cx="1938528" cy="41148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meals and water for everyone in the Food Reserve Bunker</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picture-418" descr="/home/user/chatbox-bi-n-o/magazine/assets/renders/spa.jpg">    </p:cNvPr>
          <p:cNvPicPr>
            <a:picLocks noChangeAspect="1"/>
          </p:cNvPicPr>
          <p:nvPr/>
        </p:nvPicPr>
        <p:blipFill>
          <a:blip r:embed="rId1"/>
          <a:srcRect l="0" r="0" t="0" b="0"/>
          <a:stretch/>
        </p:blipFill>
        <p:spPr>
          <a:xfrm>
            <a:off x="0" y="0"/>
            <a:ext cx="7562088" cy="10689336"/>
          </a:xfrm>
          <a:prstGeom prst="rect">
            <a:avLst/>
          </a:prstGeom>
        </p:spPr>
      </p:pic>
      <p:pic>
        <p:nvPicPr>
          <p:cNvPr id="3" name="shade-top-419" descr="/home/user/chatbox-bi-n-o/magazine/assets/ui/shade_top.png">    </p:cNvPr>
          <p:cNvPicPr>
            <a:picLocks noChangeAspect="1"/>
          </p:cNvPicPr>
          <p:nvPr/>
        </p:nvPicPr>
        <p:blipFill>
          <a:blip r:embed="rId2"/>
          <a:stretch>
            <a:fillRect/>
          </a:stretch>
        </p:blipFill>
        <p:spPr>
          <a:xfrm>
            <a:off x="0" y="0"/>
            <a:ext cx="7562088" cy="3474720"/>
          </a:xfrm>
          <a:prstGeom prst="rect">
            <a:avLst/>
          </a:prstGeom>
        </p:spPr>
      </p:pic>
      <p:pic>
        <p:nvPicPr>
          <p:cNvPr id="4" name="shade-bottom-420" descr="/home/user/chatbox-bi-n-o/magazine/assets/ui/shade_bottom.png">    </p:cNvPr>
          <p:cNvPicPr>
            <a:picLocks noChangeAspect="1"/>
          </p:cNvPicPr>
          <p:nvPr/>
        </p:nvPicPr>
        <p:blipFill>
          <a:blip r:embed="rId3"/>
          <a:stretch>
            <a:fillRect/>
          </a:stretch>
        </p:blipFill>
        <p:spPr>
          <a:xfrm>
            <a:off x="0" y="6949440"/>
            <a:ext cx="7562088" cy="3739896"/>
          </a:xfrm>
          <a:prstGeom prst="rect">
            <a:avLst/>
          </a:prstGeom>
        </p:spPr>
      </p:pic>
      <p:sp>
        <p:nvSpPr>
          <p:cNvPr id="5" name="marker-421"/>
          <p:cNvSpPr/>
          <p:nvPr/>
        </p:nvSpPr>
        <p:spPr>
          <a:xfrm>
            <a:off x="548640" y="548640"/>
            <a:ext cx="731520" cy="731520"/>
          </a:xfrm>
          <a:prstGeom prst="ellipse">
            <a:avLst/>
          </a:prstGeom>
          <a:solidFill>
            <a:schemeClr val="accent5"/>
          </a:solidFill>
          <a:ln w="19050">
            <a:solidFill>
              <a:schemeClr val="bg1"/>
            </a:solidFill>
            <a:prstDash val="solid"/>
          </a:ln>
        </p:spPr>
      </p:sp>
      <p:sp>
        <p:nvSpPr>
          <p:cNvPr id="6" name="text-422"/>
          <p:cNvSpPr txBox="1"/>
          <p:nvPr/>
        </p:nvSpPr>
        <p:spPr>
          <a:xfrm>
            <a:off x="548640" y="548640"/>
            <a:ext cx="731520" cy="73152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7" name="kicker-dot-423"/>
          <p:cNvSpPr/>
          <p:nvPr/>
        </p:nvSpPr>
        <p:spPr>
          <a:xfrm>
            <a:off x="548640" y="1549908"/>
            <a:ext cx="100584" cy="100584"/>
          </a:xfrm>
          <a:prstGeom prst="ellipse">
            <a:avLst/>
          </a:prstGeom>
          <a:solidFill>
            <a:schemeClr val="accent5"/>
          </a:solidFill>
          <a:ln w="12700">
            <a:solidFill>
              <a:schemeClr val="accent5"/>
            </a:solidFill>
            <a:prstDash val="solid"/>
          </a:ln>
        </p:spPr>
      </p:sp>
      <p:sp>
        <p:nvSpPr>
          <p:cNvPr id="8" name="text-424"/>
          <p:cNvSpPr txBox="1"/>
          <p:nvPr/>
        </p:nvSpPr>
        <p:spPr>
          <a:xfrm>
            <a:off x="731520" y="150876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SIGNATURE DISTRICT 3 · MOUNT AURORA GEOTHERMAL SPA RESORT</a:t>
            </a:r>
            <a:endParaRPr lang="en-US" sz="900" dirty="0"/>
          </a:p>
        </p:txBody>
      </p:sp>
      <p:sp>
        <p:nvSpPr>
          <p:cNvPr id="9" name="title-425"/>
          <p:cNvSpPr txBox="1"/>
          <p:nvPr/>
        </p:nvSpPr>
        <p:spPr>
          <a:xfrm>
            <a:off x="548640" y="1764792"/>
            <a:ext cx="6464808" cy="77724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A Warm Heart Inside the Ice</a:t>
            </a:r>
            <a:endParaRPr lang="en-US" sz="3800" dirty="0"/>
          </a:p>
        </p:txBody>
      </p:sp>
      <p:sp>
        <p:nvSpPr>
          <p:cNvPr id="10" name="text-427"/>
          <p:cNvSpPr txBox="1"/>
          <p:nvPr/>
        </p:nvSpPr>
        <p:spPr>
          <a:xfrm>
            <a:off x="548640" y="260604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Inside a 35-metre snow peak shaped like Nepal’s Ama Dablam, four geothermal spa levels stay at 28 °C all winter.</a:t>
            </a:r>
            <a:endParaRPr lang="en-US" sz="1400" dirty="0"/>
          </a:p>
        </p:txBody>
      </p:sp>
      <p:sp>
        <p:nvSpPr>
          <p:cNvPr id="11" name="text-428"/>
          <p:cNvSpPr txBox="1"/>
          <p:nvPr/>
        </p:nvSpPr>
        <p:spPr>
          <a:xfrm>
            <a:off x="548640"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Guests enter through the North Portal, where a thermal revolving door and an air curtain keep the −45 °C air out. The peak’s deep snow works as a blanket that holds in the geothermal heat, and sensors release the snow load safely before an avalanche can build.</a:t>
            </a:r>
            <a:endParaRPr lang="en-US" sz="1000" dirty="0"/>
          </a:p>
        </p:txBody>
      </p:sp>
      <p:sp>
        <p:nvSpPr>
          <p:cNvPr id="12" name="text-429"/>
          <p:cNvSpPr txBox="1"/>
          <p:nvPr/>
        </p:nvSpPr>
        <p:spPr>
          <a:xfrm>
            <a:off x="3918204" y="8458200"/>
            <a:ext cx="3095244" cy="1600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Outside is the Aurora Lagoon, a 38-degree mineral pool for bathing under the northern lights. The spa fights the winter blues, brings tourists and income, and in an emergency can shelter up to 1,000 people.</a:t>
            </a:r>
            <a:endParaRPr lang="en-US" sz="1000" dirty="0"/>
          </a:p>
        </p:txBody>
      </p:sp>
      <p:sp>
        <p:nvSpPr>
          <p:cNvPr id="13" name="text-430"/>
          <p:cNvSpPr txBox="1"/>
          <p:nvPr/>
        </p:nvSpPr>
        <p:spPr>
          <a:xfrm>
            <a:off x="548640" y="7863840"/>
            <a:ext cx="6464808" cy="411480"/>
          </a:xfrm>
          <a:prstGeom prst="rect">
            <a:avLst/>
          </a:prstGeom>
          <a:noFill/>
          <a:ln/>
        </p:spPr>
        <p:txBody>
          <a:bodyPr wrap="square" lIns="0" tIns="0" rIns="0" bIns="0" rtlCol="0" anchor="t"/>
          <a:lstStyle/>
          <a:p>
            <a:pPr indent="0" marL="0">
              <a:buNone/>
            </a:pPr>
            <a:r>
              <a:rPr lang="en-US" sz="850" i="1" dirty="0">
                <a:solidFill>
                  <a:schemeClr val="bg2"/>
                </a:solidFill>
              </a:rPr>
              <a:t>The four spa levels step out of the north face; the forecourt is warmed by the spa’s used hot water, so guests walk ice-free from the shuttle to the door.</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picture-431" descr="/home/user/chatbox-bi-n-o/magazine/assets/renders/grotto_L.jpg">    </p:cNvPr>
          <p:cNvPicPr>
            <a:picLocks noChangeAspect="1"/>
          </p:cNvPicPr>
          <p:nvPr/>
        </p:nvPicPr>
        <p:blipFill>
          <a:blip r:embed="rId1"/>
          <a:srcRect l="0" r="0" t="0" b="0"/>
          <a:stretch/>
        </p:blipFill>
        <p:spPr>
          <a:xfrm>
            <a:off x="0" y="0"/>
            <a:ext cx="7562088" cy="10689336"/>
          </a:xfrm>
          <a:prstGeom prst="rect">
            <a:avLst/>
          </a:prstGeom>
        </p:spPr>
      </p:pic>
      <p:pic>
        <p:nvPicPr>
          <p:cNvPr id="3" name="shade-top-432" descr="/home/user/chatbox-bi-n-o/magazine/assets/ui/shade_top.png">    </p:cNvPr>
          <p:cNvPicPr>
            <a:picLocks noChangeAspect="1"/>
          </p:cNvPicPr>
          <p:nvPr/>
        </p:nvPicPr>
        <p:blipFill>
          <a:blip r:embed="rId2"/>
          <a:stretch>
            <a:fillRect/>
          </a:stretch>
        </p:blipFill>
        <p:spPr>
          <a:xfrm>
            <a:off x="0" y="0"/>
            <a:ext cx="7562088" cy="4023360"/>
          </a:xfrm>
          <a:prstGeom prst="rect">
            <a:avLst/>
          </a:prstGeom>
        </p:spPr>
      </p:pic>
      <p:sp>
        <p:nvSpPr>
          <p:cNvPr id="4" name="kicker-dot-433"/>
          <p:cNvSpPr/>
          <p:nvPr/>
        </p:nvSpPr>
        <p:spPr>
          <a:xfrm>
            <a:off x="548640" y="589788"/>
            <a:ext cx="100584" cy="100584"/>
          </a:xfrm>
          <a:prstGeom prst="ellipse">
            <a:avLst/>
          </a:prstGeom>
          <a:solidFill>
            <a:schemeClr val="accent5"/>
          </a:solidFill>
          <a:ln w="12700">
            <a:solidFill>
              <a:schemeClr val="accent5"/>
            </a:solidFill>
            <a:prstDash val="solid"/>
          </a:ln>
        </p:spPr>
      </p:sp>
      <p:sp>
        <p:nvSpPr>
          <p:cNvPr id="5" name="text-434"/>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MOUNT AURORA · LEVEL 1</a:t>
            </a:r>
            <a:endParaRPr lang="en-US" sz="900" dirty="0"/>
          </a:p>
        </p:txBody>
      </p:sp>
      <p:sp>
        <p:nvSpPr>
          <p:cNvPr id="6" name="title-435"/>
          <p:cNvSpPr txBox="1"/>
          <p:nvPr/>
        </p:nvSpPr>
        <p:spPr>
          <a:xfrm>
            <a:off x="548640" y="804672"/>
            <a:ext cx="6464808" cy="822960"/>
          </a:xfrm>
          <a:prstGeom prst="rect">
            <a:avLst/>
          </a:prstGeom>
          <a:noFill/>
          <a:ln/>
        </p:spPr>
        <p:txBody>
          <a:bodyPr wrap="square" lIns="0" tIns="0" rIns="0" bIns="0" rtlCol="0" anchor="t"/>
          <a:lstStyle/>
          <a:p>
            <a:pPr indent="0" marL="0">
              <a:lnSpc>
                <a:spcPct val="92000"/>
              </a:lnSpc>
              <a:buNone/>
            </a:pPr>
            <a:r>
              <a:rPr lang="en-US" sz="4600" b="1" dirty="0">
                <a:solidFill>
                  <a:schemeClr val="bg1"/>
                </a:solidFill>
                <a:latin typeface="+mj-lt" pitchFamily="34" charset="0"/>
                <a:ea typeface="+mj-lt" pitchFamily="34" charset="-122"/>
                <a:cs typeface="+mj-lt" pitchFamily="34" charset="-120"/>
              </a:rPr>
              <a:t>Inside the Mountain</a:t>
            </a:r>
            <a:endParaRPr lang="en-US" sz="4600" dirty="0"/>
          </a:p>
        </p:txBody>
      </p:sp>
      <p:sp>
        <p:nvSpPr>
          <p:cNvPr id="7" name="text-437"/>
          <p:cNvSpPr txBox="1"/>
          <p:nvPr/>
        </p:nvSpPr>
        <p:spPr>
          <a:xfrm>
            <a:off x="548640" y="1783080"/>
            <a:ext cx="4206240" cy="1097280"/>
          </a:xfrm>
          <a:prstGeom prst="rect">
            <a:avLst/>
          </a:prstGeom>
          <a:noFill/>
          <a:ln/>
        </p:spPr>
        <p:txBody>
          <a:bodyPr wrap="square" lIns="0" tIns="0" rIns="0" bIns="0" rtlCol="0" anchor="t"/>
          <a:lstStyle/>
          <a:p>
            <a:pPr indent="0" marL="0">
              <a:lnSpc>
                <a:spcPct val="108000"/>
              </a:lnSpc>
              <a:buNone/>
            </a:pPr>
            <a:r>
              <a:rPr lang="en-US" sz="1400" i="1" dirty="0">
                <a:solidFill>
                  <a:schemeClr val="bg1"/>
                </a:solidFill>
                <a:latin typeface="+mj-lt" pitchFamily="34" charset="0"/>
                <a:ea typeface="+mj-lt" pitchFamily="34" charset="-122"/>
                <a:cs typeface="+mj-lt" pitchFamily="34" charset="-120"/>
              </a:rPr>
              <a:t>The ground level and arrival floor of the spa: a welcome hall, two changing suites, a 7 × 13 m geothermal Mineral Lake grotto and an onsen garden with hot, warm and glacier-cold pools.</a:t>
            </a:r>
            <a:endParaRPr lang="en-US" sz="1400" dirty="0"/>
          </a:p>
        </p:txBody>
      </p:sp>
      <p:sp>
        <p:nvSpPr>
          <p:cNvPr id="8" name="text-438"/>
          <p:cNvSpPr txBox="1"/>
          <p:nvPr/>
        </p:nvSpPr>
        <p:spPr>
          <a:xfrm>
            <a:off x="548640" y="2926080"/>
            <a:ext cx="4206240" cy="731520"/>
          </a:xfrm>
          <a:prstGeom prst="rect">
            <a:avLst/>
          </a:prstGeom>
          <a:noFill/>
          <a:ln/>
        </p:spPr>
        <p:txBody>
          <a:bodyPr wrap="square" lIns="0" tIns="0" rIns="0" bIns="0" rtlCol="0" anchor="t"/>
          <a:lstStyle/>
          <a:p>
            <a:pPr indent="0" marL="0">
              <a:lnSpc>
                <a:spcPct val="108000"/>
              </a:lnSpc>
              <a:buNone/>
            </a:pPr>
            <a:r>
              <a:rPr lang="en-US" sz="1000" dirty="0">
                <a:solidFill>
                  <a:schemeClr val="bg2"/>
                </a:solidFill>
              </a:rPr>
              <a:t>A 40 °C silica- and bicarbonate-rich spring rises from the geothermal field into the lake, spills over a basalt wall and flows on to the outdoor Aurora Lagoon.</a:t>
            </a:r>
            <a:endParaRPr lang="en-US" sz="10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picture-439" descr="/home/user/chatbox-bi-n-o/magazine/assets/renders/grotto_R.jpg">    </p:cNvPr>
          <p:cNvPicPr>
            <a:picLocks noChangeAspect="1"/>
          </p:cNvPicPr>
          <p:nvPr/>
        </p:nvPicPr>
        <p:blipFill>
          <a:blip r:embed="rId1"/>
          <a:srcRect l="0" r="0" t="0" b="0"/>
          <a:stretch/>
        </p:blipFill>
        <p:spPr>
          <a:xfrm>
            <a:off x="0" y="0"/>
            <a:ext cx="7562088" cy="10689336"/>
          </a:xfrm>
          <a:prstGeom prst="rect">
            <a:avLst/>
          </a:prstGeom>
        </p:spPr>
      </p:pic>
      <p:pic>
        <p:nvPicPr>
          <p:cNvPr id="3" name="shade-top-440" descr="/home/user/chatbox-bi-n-o/magazine/assets/ui/shade_top.png">    </p:cNvPr>
          <p:cNvPicPr>
            <a:picLocks noChangeAspect="1"/>
          </p:cNvPicPr>
          <p:nvPr/>
        </p:nvPicPr>
        <p:blipFill>
          <a:blip r:embed="rId2"/>
          <a:stretch>
            <a:fillRect/>
          </a:stretch>
        </p:blipFill>
        <p:spPr>
          <a:xfrm>
            <a:off x="0" y="0"/>
            <a:ext cx="7562088" cy="2377440"/>
          </a:xfrm>
          <a:prstGeom prst="rect">
            <a:avLst/>
          </a:prstGeom>
        </p:spPr>
      </p:pic>
      <p:sp>
        <p:nvSpPr>
          <p:cNvPr id="4" name="text-441"/>
          <p:cNvSpPr txBox="1"/>
          <p:nvPr/>
        </p:nvSpPr>
        <p:spPr>
          <a:xfrm>
            <a:off x="5001768" y="502920"/>
            <a:ext cx="2011680" cy="581152"/>
          </a:xfrm>
          <a:prstGeom prst="rect">
            <a:avLst/>
          </a:prstGeom>
          <a:noFill/>
          <a:ln/>
        </p:spPr>
        <p:txBody>
          <a:bodyPr wrap="square" lIns="0" tIns="0" rIns="0" bIns="0" rtlCol="0" anchor="b"/>
          <a:lstStyle/>
          <a:p>
            <a:pPr indent="0" marL="0">
              <a:buNone/>
            </a:pPr>
            <a:r>
              <a:rPr lang="en-US" sz="4000" b="1" dirty="0">
                <a:solidFill>
                  <a:schemeClr val="bg1"/>
                </a:solidFill>
                <a:latin typeface="+mj-lt" pitchFamily="34" charset="0"/>
                <a:ea typeface="+mj-lt" pitchFamily="34" charset="-122"/>
                <a:cs typeface="+mj-lt" pitchFamily="34" charset="-120"/>
              </a:rPr>
              <a:t>40 °C</a:t>
            </a:r>
            <a:endParaRPr lang="en-US" sz="4000" dirty="0"/>
          </a:p>
        </p:txBody>
      </p:sp>
      <p:sp>
        <p:nvSpPr>
          <p:cNvPr id="5" name="text-442"/>
          <p:cNvSpPr txBox="1"/>
          <p:nvPr/>
        </p:nvSpPr>
        <p:spPr>
          <a:xfrm>
            <a:off x="5001768" y="1111504"/>
            <a:ext cx="2011680" cy="274320"/>
          </a:xfrm>
          <a:prstGeom prst="rect">
            <a:avLst/>
          </a:prstGeom>
          <a:noFill/>
          <a:ln/>
        </p:spPr>
        <p:txBody>
          <a:bodyPr wrap="square" lIns="0" tIns="0" rIns="0" bIns="0" rtlCol="0" anchor="t"/>
          <a:lstStyle/>
          <a:p>
            <a:pPr indent="0" marL="0">
              <a:lnSpc>
                <a:spcPct val="105000"/>
              </a:lnSpc>
              <a:buNone/>
            </a:pPr>
            <a:r>
              <a:rPr lang="en-US" sz="1000" dirty="0">
                <a:solidFill>
                  <a:schemeClr val="bg2"/>
                </a:solidFill>
              </a:rPr>
              <a:t>Mineral Lake spring</a:t>
            </a:r>
            <a:endParaRPr lang="en-US" sz="1000" dirty="0"/>
          </a:p>
        </p:txBody>
      </p:sp>
      <p:pic>
        <p:nvPicPr>
          <p:cNvPr id="6" name="shade-bottom-443" descr="/home/user/chatbox-bi-n-o/magazine/assets/ui/shade_bottom.png">    </p:cNvPr>
          <p:cNvPicPr>
            <a:picLocks noChangeAspect="1"/>
          </p:cNvPicPr>
          <p:nvPr/>
        </p:nvPicPr>
        <p:blipFill>
          <a:blip r:embed="rId3"/>
          <a:stretch>
            <a:fillRect/>
          </a:stretch>
        </p:blipFill>
        <p:spPr>
          <a:xfrm>
            <a:off x="0" y="8778240"/>
            <a:ext cx="7562088" cy="1911096"/>
          </a:xfrm>
          <a:prstGeom prst="rect">
            <a:avLst/>
          </a:prstGeom>
        </p:spPr>
      </p:pic>
      <p:sp>
        <p:nvSpPr>
          <p:cNvPr id="7" name="text-444"/>
          <p:cNvSpPr txBox="1"/>
          <p:nvPr/>
        </p:nvSpPr>
        <p:spPr>
          <a:xfrm>
            <a:off x="2990088" y="9418320"/>
            <a:ext cx="4023360" cy="548640"/>
          </a:xfrm>
          <a:prstGeom prst="rect">
            <a:avLst/>
          </a:prstGeom>
          <a:noFill/>
          <a:ln/>
        </p:spPr>
        <p:txBody>
          <a:bodyPr wrap="square" lIns="0" tIns="0" rIns="0" bIns="0" rtlCol="0" anchor="t"/>
          <a:lstStyle/>
          <a:p>
            <a:pPr algn="r" indent="0" marL="0">
              <a:buNone/>
            </a:pPr>
            <a:r>
              <a:rPr lang="en-US" sz="850" i="1" dirty="0">
                <a:solidFill>
                  <a:schemeClr val="bg1"/>
                </a:solidFill>
              </a:rPr>
              <a:t>The Mineral Lake Grotto: a larch footbridge crosses the 7 × 13 m lake, and stone lanterns light the shore below the basalt wall.</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kicker-dot-445"/>
          <p:cNvSpPr/>
          <p:nvPr/>
        </p:nvSpPr>
        <p:spPr>
          <a:xfrm>
            <a:off x="548640" y="544068"/>
            <a:ext cx="100584" cy="100584"/>
          </a:xfrm>
          <a:prstGeom prst="ellipse">
            <a:avLst/>
          </a:prstGeom>
          <a:solidFill>
            <a:schemeClr val="accent5"/>
          </a:solidFill>
          <a:ln w="12700">
            <a:solidFill>
              <a:schemeClr val="accent5"/>
            </a:solidFill>
            <a:prstDash val="solid"/>
          </a:ln>
        </p:spPr>
      </p:sp>
      <p:sp>
        <p:nvSpPr>
          <p:cNvPr id="3" name="text-44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5"/>
                </a:solidFill>
              </a:rPr>
              <a:t>MOUNT AURORA · LEVEL BY LEVEL</a:t>
            </a:r>
            <a:endParaRPr lang="en-US" sz="900" dirty="0"/>
          </a:p>
        </p:txBody>
      </p:sp>
      <p:sp>
        <p:nvSpPr>
          <p:cNvPr id="4" name="title-44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Four Floors of Warmth</a:t>
            </a:r>
            <a:endParaRPr lang="en-US" sz="3400" dirty="0"/>
          </a:p>
        </p:txBody>
      </p:sp>
      <p:pic>
        <p:nvPicPr>
          <p:cNvPr id="5" name="spa-plan" descr="/home/user/chatbox-bi-n-o/magazine/assets/plans/04_mount_aurora_spa_resort_plan.png">    </p:cNvPr>
          <p:cNvPicPr>
            <a:picLocks noChangeAspect="1"/>
          </p:cNvPicPr>
          <p:nvPr/>
        </p:nvPicPr>
        <p:blipFill>
          <a:blip r:embed="rId1"/>
          <a:stretch>
            <a:fillRect/>
          </a:stretch>
        </p:blipFill>
        <p:spPr>
          <a:xfrm>
            <a:off x="548640" y="1554480"/>
            <a:ext cx="6464808" cy="3652617"/>
          </a:xfrm>
          <a:prstGeom prst="rect">
            <a:avLst/>
          </a:prstGeom>
        </p:spPr>
      </p:pic>
      <p:sp>
        <p:nvSpPr>
          <p:cNvPr id="6" name="text-449"/>
          <p:cNvSpPr txBox="1"/>
          <p:nvPr/>
        </p:nvSpPr>
        <p:spPr>
          <a:xfrm>
            <a:off x="548640" y="5252817"/>
            <a:ext cx="6464808" cy="228600"/>
          </a:xfrm>
          <a:prstGeom prst="rect">
            <a:avLst/>
          </a:prstGeom>
          <a:noFill/>
          <a:ln/>
        </p:spPr>
        <p:txBody>
          <a:bodyPr wrap="square" lIns="0" tIns="0" rIns="0" bIns="0" rtlCol="0" anchor="t"/>
          <a:lstStyle/>
          <a:p>
            <a:pPr indent="0" marL="0">
              <a:buNone/>
            </a:pPr>
            <a:r>
              <a:rPr lang="en-US" sz="850" i="1" dirty="0">
                <a:solidFill>
                  <a:schemeClr val="tx2"/>
                </a:solidFill>
              </a:rPr>
              <a:t>Mount Aurora Geothermal Spa Resort – Level Plans. The glass lift links all four levels.</a:t>
            </a:r>
            <a:endParaRPr lang="en-US" sz="850" dirty="0"/>
          </a:p>
        </p:txBody>
      </p:sp>
      <p:sp>
        <p:nvSpPr>
          <p:cNvPr id="7" name="card-450"/>
          <p:cNvSpPr/>
          <p:nvPr/>
        </p:nvSpPr>
        <p:spPr>
          <a:xfrm>
            <a:off x="548640" y="5572857"/>
            <a:ext cx="3140964" cy="1371600"/>
          </a:xfrm>
          <a:prstGeom prst="roundRect">
            <a:avLst>
              <a:gd name="adj" fmla="val 5333"/>
            </a:avLst>
          </a:prstGeom>
          <a:solidFill>
            <a:schemeClr val="bg2"/>
          </a:solidFill>
          <a:ln w="12700">
            <a:solidFill>
              <a:schemeClr val="bg2"/>
            </a:solidFill>
            <a:prstDash val="solid"/>
          </a:ln>
        </p:spPr>
      </p:sp>
      <p:sp>
        <p:nvSpPr>
          <p:cNvPr id="8" name="text-451"/>
          <p:cNvSpPr txBox="1"/>
          <p:nvPr/>
        </p:nvSpPr>
        <p:spPr>
          <a:xfrm>
            <a:off x="685800"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1 · 0 M</a:t>
            </a:r>
            <a:endParaRPr lang="en-US" sz="850" dirty="0"/>
          </a:p>
        </p:txBody>
      </p:sp>
      <p:sp>
        <p:nvSpPr>
          <p:cNvPr id="9" name="text-452"/>
          <p:cNvSpPr txBox="1"/>
          <p:nvPr/>
        </p:nvSpPr>
        <p:spPr>
          <a:xfrm>
            <a:off x="685800"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Welcome Hall, Mineral Lake Grotto &amp; Onsen Garden</a:t>
            </a:r>
            <a:endParaRPr lang="en-US" sz="1050" dirty="0"/>
          </a:p>
          <a:p>
            <a:pPr indent="0" marL="0">
              <a:lnSpc>
                <a:spcPct val="105000"/>
              </a:lnSpc>
              <a:buNone/>
            </a:pPr>
            <a:r>
              <a:rPr lang="en-US" sz="950" dirty="0">
                <a:solidFill>
                  <a:schemeClr val="tx2"/>
                </a:solidFill>
              </a:rPr>
              <a:t>A 40 °C silica-rich spring rises into a 7 × 13 m Mineral Lake; hot, warm and glacier-cold pools boost circulation.</a:t>
            </a:r>
            <a:endParaRPr lang="en-US" sz="1050" dirty="0"/>
          </a:p>
        </p:txBody>
      </p:sp>
      <p:sp>
        <p:nvSpPr>
          <p:cNvPr id="10" name="card-453"/>
          <p:cNvSpPr/>
          <p:nvPr/>
        </p:nvSpPr>
        <p:spPr>
          <a:xfrm>
            <a:off x="3872484" y="5572857"/>
            <a:ext cx="3140964" cy="1371600"/>
          </a:xfrm>
          <a:prstGeom prst="roundRect">
            <a:avLst>
              <a:gd name="adj" fmla="val 5333"/>
            </a:avLst>
          </a:prstGeom>
          <a:solidFill>
            <a:schemeClr val="bg2"/>
          </a:solidFill>
          <a:ln w="12700">
            <a:solidFill>
              <a:schemeClr val="bg2"/>
            </a:solidFill>
            <a:prstDash val="solid"/>
          </a:ln>
        </p:spPr>
      </p:sp>
      <p:sp>
        <p:nvSpPr>
          <p:cNvPr id="11" name="text-454"/>
          <p:cNvSpPr txBox="1"/>
          <p:nvPr/>
        </p:nvSpPr>
        <p:spPr>
          <a:xfrm>
            <a:off x="4009644" y="5682585"/>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2 · 4.5 M</a:t>
            </a:r>
            <a:endParaRPr lang="en-US" sz="850" dirty="0"/>
          </a:p>
        </p:txBody>
      </p:sp>
      <p:sp>
        <p:nvSpPr>
          <p:cNvPr id="12" name="text-455"/>
          <p:cNvSpPr txBox="1"/>
          <p:nvPr/>
        </p:nvSpPr>
        <p:spPr>
          <a:xfrm>
            <a:off x="4009644" y="5902041"/>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Volcanic Mud Terraces</a:t>
            </a:r>
            <a:endParaRPr lang="en-US" sz="1050" dirty="0"/>
          </a:p>
          <a:p>
            <a:pPr indent="0" marL="0">
              <a:lnSpc>
                <a:spcPct val="105000"/>
              </a:lnSpc>
              <a:buNone/>
            </a:pPr>
            <a:r>
              <a:rPr lang="en-US" sz="950" dirty="0">
                <a:solidFill>
                  <a:schemeClr val="tx2"/>
                </a:solidFill>
              </a:rPr>
              <a:t>An 8 × 10 m mud field held at 39 °C. The mud is filtered and UV-sterilised every night and reused for months.</a:t>
            </a:r>
            <a:endParaRPr lang="en-US" sz="1050" dirty="0"/>
          </a:p>
        </p:txBody>
      </p:sp>
      <p:sp>
        <p:nvSpPr>
          <p:cNvPr id="13" name="card-456"/>
          <p:cNvSpPr/>
          <p:nvPr/>
        </p:nvSpPr>
        <p:spPr>
          <a:xfrm>
            <a:off x="548640" y="7054185"/>
            <a:ext cx="3140964" cy="1371600"/>
          </a:xfrm>
          <a:prstGeom prst="roundRect">
            <a:avLst>
              <a:gd name="adj" fmla="val 5333"/>
            </a:avLst>
          </a:prstGeom>
          <a:solidFill>
            <a:schemeClr val="bg2"/>
          </a:solidFill>
          <a:ln w="12700">
            <a:solidFill>
              <a:schemeClr val="bg2"/>
            </a:solidFill>
            <a:prstDash val="solid"/>
          </a:ln>
        </p:spPr>
      </p:sp>
      <p:sp>
        <p:nvSpPr>
          <p:cNvPr id="14" name="text-457"/>
          <p:cNvSpPr txBox="1"/>
          <p:nvPr/>
        </p:nvSpPr>
        <p:spPr>
          <a:xfrm>
            <a:off x="685800"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3 · 9 M</a:t>
            </a:r>
            <a:endParaRPr lang="en-US" sz="850" dirty="0"/>
          </a:p>
        </p:txBody>
      </p:sp>
      <p:sp>
        <p:nvSpPr>
          <p:cNvPr id="15" name="text-458"/>
          <p:cNvSpPr txBox="1"/>
          <p:nvPr/>
        </p:nvSpPr>
        <p:spPr>
          <a:xfrm>
            <a:off x="685800"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Treatment Suites &amp; Himalayan Salt Sauna</a:t>
            </a:r>
            <a:endParaRPr lang="en-US" sz="1050" dirty="0"/>
          </a:p>
          <a:p>
            <a:pPr indent="0" marL="0">
              <a:lnSpc>
                <a:spcPct val="105000"/>
              </a:lnSpc>
              <a:buNone/>
            </a:pPr>
            <a:r>
              <a:rPr lang="en-US" sz="950" dirty="0">
                <a:solidFill>
                  <a:schemeClr val="tx2"/>
                </a:solidFill>
              </a:rPr>
              <a:t>Hot-stone massage, arctic kelp wraps and a 75 °C pink salt sauna heated by the geothermal loop.</a:t>
            </a:r>
            <a:endParaRPr lang="en-US" sz="1050" dirty="0"/>
          </a:p>
        </p:txBody>
      </p:sp>
      <p:sp>
        <p:nvSpPr>
          <p:cNvPr id="16" name="card-459"/>
          <p:cNvSpPr/>
          <p:nvPr/>
        </p:nvSpPr>
        <p:spPr>
          <a:xfrm>
            <a:off x="3872484" y="7054185"/>
            <a:ext cx="3140964" cy="1371600"/>
          </a:xfrm>
          <a:prstGeom prst="roundRect">
            <a:avLst>
              <a:gd name="adj" fmla="val 5333"/>
            </a:avLst>
          </a:prstGeom>
          <a:solidFill>
            <a:schemeClr val="bg2"/>
          </a:solidFill>
          <a:ln w="12700">
            <a:solidFill>
              <a:schemeClr val="bg2"/>
            </a:solidFill>
            <a:prstDash val="solid"/>
          </a:ln>
        </p:spPr>
      </p:sp>
      <p:sp>
        <p:nvSpPr>
          <p:cNvPr id="17" name="text-460"/>
          <p:cNvSpPr txBox="1"/>
          <p:nvPr/>
        </p:nvSpPr>
        <p:spPr>
          <a:xfrm>
            <a:off x="4009644" y="7163913"/>
            <a:ext cx="2866644" cy="182880"/>
          </a:xfrm>
          <a:prstGeom prst="rect">
            <a:avLst/>
          </a:prstGeom>
          <a:noFill/>
          <a:ln/>
        </p:spPr>
        <p:txBody>
          <a:bodyPr wrap="square" lIns="0" tIns="0" rIns="0" bIns="0" rtlCol="0" anchor="t"/>
          <a:lstStyle/>
          <a:p>
            <a:pPr indent="0" marL="0">
              <a:buNone/>
            </a:pPr>
            <a:r>
              <a:rPr lang="en-US" sz="850" b="1" spc="200" kern="0" dirty="0">
                <a:solidFill>
                  <a:schemeClr val="accent5"/>
                </a:solidFill>
              </a:rPr>
              <a:t>LEVEL 4 · 13.5 M</a:t>
            </a:r>
            <a:endParaRPr lang="en-US" sz="850" dirty="0"/>
          </a:p>
        </p:txBody>
      </p:sp>
      <p:sp>
        <p:nvSpPr>
          <p:cNvPr id="18" name="text-461"/>
          <p:cNvSpPr txBox="1"/>
          <p:nvPr/>
        </p:nvSpPr>
        <p:spPr>
          <a:xfrm>
            <a:off x="4009644" y="7383369"/>
            <a:ext cx="2866644" cy="987552"/>
          </a:xfrm>
          <a:prstGeom prst="rect">
            <a:avLst/>
          </a:prstGeom>
          <a:noFill/>
          <a:ln/>
        </p:spPr>
        <p:txBody>
          <a:bodyPr wrap="square" lIns="0" tIns="0" rIns="0" bIns="0" rtlCol="0" anchor="t"/>
          <a:lstStyle/>
          <a:p>
            <a:pPr indent="0" marL="0">
              <a:lnSpc>
                <a:spcPct val="105000"/>
              </a:lnSpc>
              <a:spcAft>
                <a:spcPts val="400"/>
              </a:spcAft>
              <a:buNone/>
            </a:pPr>
            <a:r>
              <a:rPr lang="en-US" sz="1200" b="1" dirty="0">
                <a:solidFill>
                  <a:schemeClr val="tx1"/>
                </a:solidFill>
                <a:latin typeface="+mj-lt" pitchFamily="34" charset="0"/>
                <a:ea typeface="+mj-lt" pitchFamily="34" charset="-122"/>
                <a:cs typeface="+mj-lt" pitchFamily="34" charset="-120"/>
              </a:rPr>
              <a:t>Summit Sanctuary &amp; Aurora Eye</a:t>
            </a:r>
            <a:endParaRPr lang="en-US" sz="1050" dirty="0"/>
          </a:p>
          <a:p>
            <a:pPr indent="0" marL="0">
              <a:lnSpc>
                <a:spcPct val="105000"/>
              </a:lnSpc>
              <a:buNone/>
            </a:pPr>
            <a:r>
              <a:rPr lang="en-US" sz="950" dirty="0">
                <a:solidFill>
                  <a:schemeClr val="tx2"/>
                </a:solidFill>
              </a:rPr>
              <a:t>A 35 °C float pool, a meditation circle and a heated glass bubble for watching the northern lights.</a:t>
            </a:r>
            <a:endParaRPr lang="en-US" sz="1050" dirty="0"/>
          </a:p>
        </p:txBody>
      </p:sp>
      <p:sp>
        <p:nvSpPr>
          <p:cNvPr id="19" name="text-462"/>
          <p:cNvSpPr txBox="1"/>
          <p:nvPr/>
        </p:nvSpPr>
        <p:spPr>
          <a:xfrm>
            <a:off x="54864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28 °C</a:t>
            </a:r>
            <a:endParaRPr lang="en-US" sz="2000" dirty="0"/>
          </a:p>
        </p:txBody>
      </p:sp>
      <p:sp>
        <p:nvSpPr>
          <p:cNvPr id="20" name="text-463"/>
          <p:cNvSpPr txBox="1"/>
          <p:nvPr/>
        </p:nvSpPr>
        <p:spPr>
          <a:xfrm>
            <a:off x="54864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inside the spa</a:t>
            </a:r>
            <a:endParaRPr lang="en-US" sz="850" dirty="0"/>
          </a:p>
        </p:txBody>
      </p:sp>
      <p:sp>
        <p:nvSpPr>
          <p:cNvPr id="21" name="text-464"/>
          <p:cNvSpPr txBox="1"/>
          <p:nvPr/>
        </p:nvSpPr>
        <p:spPr>
          <a:xfrm>
            <a:off x="1626108"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40 °C</a:t>
            </a:r>
            <a:endParaRPr lang="en-US" sz="2000" dirty="0"/>
          </a:p>
        </p:txBody>
      </p:sp>
      <p:sp>
        <p:nvSpPr>
          <p:cNvPr id="22" name="text-465"/>
          <p:cNvSpPr txBox="1"/>
          <p:nvPr/>
        </p:nvSpPr>
        <p:spPr>
          <a:xfrm>
            <a:off x="1626108"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Mineral Lake spring</a:t>
            </a:r>
            <a:endParaRPr lang="en-US" sz="850" dirty="0"/>
          </a:p>
        </p:txBody>
      </p:sp>
      <p:sp>
        <p:nvSpPr>
          <p:cNvPr id="23" name="text-466"/>
          <p:cNvSpPr txBox="1"/>
          <p:nvPr/>
        </p:nvSpPr>
        <p:spPr>
          <a:xfrm>
            <a:off x="2703576"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39 °C</a:t>
            </a:r>
            <a:endParaRPr lang="en-US" sz="2000" dirty="0"/>
          </a:p>
        </p:txBody>
      </p:sp>
      <p:sp>
        <p:nvSpPr>
          <p:cNvPr id="24" name="text-467"/>
          <p:cNvSpPr txBox="1"/>
          <p:nvPr/>
        </p:nvSpPr>
        <p:spPr>
          <a:xfrm>
            <a:off x="2703576"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volcanic mud</a:t>
            </a:r>
            <a:endParaRPr lang="en-US" sz="850" dirty="0"/>
          </a:p>
        </p:txBody>
      </p:sp>
      <p:sp>
        <p:nvSpPr>
          <p:cNvPr id="25" name="text-468"/>
          <p:cNvSpPr txBox="1"/>
          <p:nvPr/>
        </p:nvSpPr>
        <p:spPr>
          <a:xfrm>
            <a:off x="3781044"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75 °C</a:t>
            </a:r>
            <a:endParaRPr lang="en-US" sz="2000" dirty="0"/>
          </a:p>
        </p:txBody>
      </p:sp>
      <p:sp>
        <p:nvSpPr>
          <p:cNvPr id="26" name="text-469"/>
          <p:cNvSpPr txBox="1"/>
          <p:nvPr/>
        </p:nvSpPr>
        <p:spPr>
          <a:xfrm>
            <a:off x="3781044"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salt sauna</a:t>
            </a:r>
            <a:endParaRPr lang="en-US" sz="850" dirty="0"/>
          </a:p>
        </p:txBody>
      </p:sp>
      <p:sp>
        <p:nvSpPr>
          <p:cNvPr id="27" name="text-470"/>
          <p:cNvSpPr txBox="1"/>
          <p:nvPr/>
        </p:nvSpPr>
        <p:spPr>
          <a:xfrm>
            <a:off x="4858512"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35 °C</a:t>
            </a:r>
            <a:endParaRPr lang="en-US" sz="2000" dirty="0"/>
          </a:p>
        </p:txBody>
      </p:sp>
      <p:sp>
        <p:nvSpPr>
          <p:cNvPr id="28" name="text-471"/>
          <p:cNvSpPr txBox="1"/>
          <p:nvPr/>
        </p:nvSpPr>
        <p:spPr>
          <a:xfrm>
            <a:off x="4858512"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float pool</a:t>
            </a:r>
            <a:endParaRPr lang="en-US" sz="850" dirty="0"/>
          </a:p>
        </p:txBody>
      </p:sp>
      <p:sp>
        <p:nvSpPr>
          <p:cNvPr id="29" name="text-472"/>
          <p:cNvSpPr txBox="1"/>
          <p:nvPr/>
        </p:nvSpPr>
        <p:spPr>
          <a:xfrm>
            <a:off x="5935980" y="8636097"/>
            <a:ext cx="1004316" cy="327152"/>
          </a:xfrm>
          <a:prstGeom prst="rect">
            <a:avLst/>
          </a:prstGeom>
          <a:noFill/>
          <a:ln/>
        </p:spPr>
        <p:txBody>
          <a:bodyPr wrap="square" lIns="0" tIns="0" rIns="0" bIns="0" rtlCol="0" anchor="b"/>
          <a:lstStyle/>
          <a:p>
            <a:pPr indent="0" marL="0">
              <a:buNone/>
            </a:pPr>
            <a:r>
              <a:rPr lang="en-US" sz="2000" b="1" dirty="0">
                <a:solidFill>
                  <a:schemeClr val="accent5"/>
                </a:solidFill>
                <a:latin typeface="+mj-lt" pitchFamily="34" charset="0"/>
                <a:ea typeface="+mj-lt" pitchFamily="34" charset="-122"/>
                <a:cs typeface="+mj-lt" pitchFamily="34" charset="-120"/>
              </a:rPr>
              <a:t>38 °C</a:t>
            </a:r>
            <a:endParaRPr lang="en-US" sz="2000" dirty="0"/>
          </a:p>
        </p:txBody>
      </p:sp>
      <p:sp>
        <p:nvSpPr>
          <p:cNvPr id="30" name="text-473"/>
          <p:cNvSpPr txBox="1"/>
          <p:nvPr/>
        </p:nvSpPr>
        <p:spPr>
          <a:xfrm>
            <a:off x="5935980" y="8990681"/>
            <a:ext cx="1004316"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Aurora Lagoon</a:t>
            </a:r>
            <a:endParaRPr lang="en-US" sz="850" dirty="0"/>
          </a:p>
        </p:txBody>
      </p:sp>
      <p:sp>
        <p:nvSpPr>
          <p:cNvPr id="31" name="text-474"/>
          <p:cNvSpPr txBox="1"/>
          <p:nvPr/>
        </p:nvSpPr>
        <p:spPr>
          <a:xfrm>
            <a:off x="548640" y="9550497"/>
            <a:ext cx="6464808" cy="502920"/>
          </a:xfrm>
          <a:prstGeom prst="rect">
            <a:avLst/>
          </a:prstGeom>
          <a:noFill/>
          <a:ln/>
        </p:spPr>
        <p:txBody>
          <a:bodyPr wrap="square" lIns="0" tIns="0" rIns="0" bIns="0" rtlCol="0" anchor="t"/>
          <a:lstStyle/>
          <a:p>
            <a:pPr indent="0" marL="0">
              <a:buNone/>
            </a:pPr>
            <a:r>
              <a:rPr lang="en-US" sz="900" i="1" dirty="0">
                <a:solidFill>
                  <a:schemeClr val="tx2"/>
                </a:solidFill>
              </a:rPr>
              <a:t>Route through the spa: North Portal → grotto → Welcome Hall → changing suites → Mineral Lake &amp; Onsen Garden → glass lift → mud terraces → treatments &amp; salt sauna → Summit Sanctuary and the Aurora Eye.</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kicker-dot-47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47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SIGNATURE INNOVATIONS AT A GLANCE</a:t>
            </a:r>
            <a:endParaRPr lang="en-US" sz="900" dirty="0"/>
          </a:p>
        </p:txBody>
      </p:sp>
      <p:sp>
        <p:nvSpPr>
          <p:cNvPr id="4" name="title-47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Three Breakthroughs, Checked</a:t>
            </a:r>
            <a:endParaRPr lang="en-US" sz="3400" dirty="0"/>
          </a:p>
        </p:txBody>
      </p:sp>
      <p:sp>
        <p:nvSpPr>
          <p:cNvPr id="5" name="text-479"/>
          <p:cNvSpPr txBox="1"/>
          <p:nvPr/>
        </p:nvSpPr>
        <p:spPr>
          <a:xfrm>
            <a:off x="548640" y="1463040"/>
            <a:ext cx="6464808" cy="548640"/>
          </a:xfrm>
          <a:prstGeom prst="rect">
            <a:avLst/>
          </a:prstGeom>
          <a:noFill/>
          <a:ln/>
        </p:spPr>
        <p:txBody>
          <a:bodyPr wrap="square" lIns="0" tIns="0" rIns="0" bIns="0" rtlCol="0" anchor="t"/>
          <a:lstStyle/>
          <a:p>
            <a:pPr indent="0" marL="0">
              <a:lnSpc>
                <a:spcPct val="110000"/>
              </a:lnSpc>
              <a:buNone/>
            </a:pPr>
            <a:r>
              <a:rPr lang="en-US" sz="1200" i="1" dirty="0">
                <a:solidFill>
                  <a:schemeClr val="tx2"/>
                </a:solidFill>
                <a:latin typeface="+mj-lt" pitchFamily="34" charset="0"/>
                <a:ea typeface="+mj-lt" pitchFamily="34" charset="-122"/>
                <a:cs typeface="+mj-lt" pitchFamily="34" charset="-120"/>
              </a:rPr>
              <a:t>For each idea: the problem it solves, how it works, what is new compared with today’s technology, the science and maths behind it, how realistic it is, and what it changes.</a:t>
            </a:r>
            <a:endParaRPr lang="en-US" sz="1200" dirty="0"/>
          </a:p>
        </p:txBody>
      </p:sp>
      <p:pic>
        <p:nvPicPr>
          <p:cNvPr id="6" name="picture-480" descr="/home/user/chatbox-bi-n-o/magazine/assets/renders/fusion_spread_R.jpg">    </p:cNvPr>
          <p:cNvPicPr>
            <a:picLocks noChangeAspect="1"/>
          </p:cNvPicPr>
          <p:nvPr/>
        </p:nvPicPr>
        <p:blipFill>
          <a:blip r:embed="rId1"/>
          <a:srcRect l="0" r="0" t="0" b="0"/>
          <a:stretch/>
        </p:blipFill>
        <p:spPr>
          <a:xfrm>
            <a:off x="1618488" y="2103120"/>
            <a:ext cx="1725168" cy="914400"/>
          </a:xfrm>
          <a:prstGeom prst="rect">
            <a:avLst/>
          </a:prstGeom>
        </p:spPr>
      </p:pic>
      <p:sp>
        <p:nvSpPr>
          <p:cNvPr id="7" name="column-head-481"/>
          <p:cNvSpPr/>
          <p:nvPr/>
        </p:nvSpPr>
        <p:spPr>
          <a:xfrm>
            <a:off x="1618488" y="3017520"/>
            <a:ext cx="1725168" cy="274320"/>
          </a:xfrm>
          <a:prstGeom prst="rect">
            <a:avLst/>
          </a:prstGeom>
          <a:solidFill>
            <a:schemeClr val="accent3"/>
          </a:solidFill>
          <a:ln w="12700">
            <a:solidFill>
              <a:schemeClr val="accent3"/>
            </a:solidFill>
            <a:prstDash val="solid"/>
          </a:ln>
        </p:spPr>
      </p:sp>
      <p:sp>
        <p:nvSpPr>
          <p:cNvPr id="8" name="text-482"/>
          <p:cNvSpPr txBox="1"/>
          <p:nvPr/>
        </p:nvSpPr>
        <p:spPr>
          <a:xfrm>
            <a:off x="1691640"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1 · Fusion Power Station</a:t>
            </a:r>
            <a:endParaRPr lang="en-US" sz="850" dirty="0"/>
          </a:p>
        </p:txBody>
      </p:sp>
      <p:pic>
        <p:nvPicPr>
          <p:cNvPr id="9" name="picture-483" descr="/home/user/chatbox-bi-n-o/magazine/assets/renders/food.jpg">    </p:cNvPr>
          <p:cNvPicPr>
            <a:picLocks noChangeAspect="1"/>
          </p:cNvPicPr>
          <p:nvPr/>
        </p:nvPicPr>
        <p:blipFill>
          <a:blip r:embed="rId2"/>
          <a:srcRect l="0" r="0" t="0" b="0"/>
          <a:stretch/>
        </p:blipFill>
        <p:spPr>
          <a:xfrm>
            <a:off x="3453384" y="2103120"/>
            <a:ext cx="1725168" cy="914400"/>
          </a:xfrm>
          <a:prstGeom prst="rect">
            <a:avLst/>
          </a:prstGeom>
        </p:spPr>
      </p:pic>
      <p:sp>
        <p:nvSpPr>
          <p:cNvPr id="10" name="column-head-484"/>
          <p:cNvSpPr/>
          <p:nvPr/>
        </p:nvSpPr>
        <p:spPr>
          <a:xfrm>
            <a:off x="3453384" y="3017520"/>
            <a:ext cx="1725168" cy="274320"/>
          </a:xfrm>
          <a:prstGeom prst="rect">
            <a:avLst/>
          </a:prstGeom>
          <a:solidFill>
            <a:schemeClr val="accent4"/>
          </a:solidFill>
          <a:ln w="12700">
            <a:solidFill>
              <a:schemeClr val="accent4"/>
            </a:solidFill>
            <a:prstDash val="solid"/>
          </a:ln>
        </p:spPr>
      </p:sp>
      <p:sp>
        <p:nvSpPr>
          <p:cNvPr id="11" name="text-485"/>
          <p:cNvSpPr txBox="1"/>
          <p:nvPr/>
        </p:nvSpPr>
        <p:spPr>
          <a:xfrm>
            <a:off x="3526536"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2 · Snow-to-Food &amp; Water Plant</a:t>
            </a:r>
            <a:endParaRPr lang="en-US" sz="850" dirty="0"/>
          </a:p>
        </p:txBody>
      </p:sp>
      <p:pic>
        <p:nvPicPr>
          <p:cNvPr id="12" name="picture-486" descr="/home/user/chatbox-bi-n-o/magazine/assets/renders/spa.jpg">    </p:cNvPr>
          <p:cNvPicPr>
            <a:picLocks noChangeAspect="1"/>
          </p:cNvPicPr>
          <p:nvPr/>
        </p:nvPicPr>
        <p:blipFill>
          <a:blip r:embed="rId3"/>
          <a:srcRect l="0" r="0" t="0" b="0"/>
          <a:stretch/>
        </p:blipFill>
        <p:spPr>
          <a:xfrm>
            <a:off x="5288280" y="2103120"/>
            <a:ext cx="1725168" cy="914400"/>
          </a:xfrm>
          <a:prstGeom prst="rect">
            <a:avLst/>
          </a:prstGeom>
        </p:spPr>
      </p:pic>
      <p:sp>
        <p:nvSpPr>
          <p:cNvPr id="13" name="column-head-487"/>
          <p:cNvSpPr/>
          <p:nvPr/>
        </p:nvSpPr>
        <p:spPr>
          <a:xfrm>
            <a:off x="5288280" y="3017520"/>
            <a:ext cx="1725168" cy="274320"/>
          </a:xfrm>
          <a:prstGeom prst="rect">
            <a:avLst/>
          </a:prstGeom>
          <a:solidFill>
            <a:schemeClr val="accent5"/>
          </a:solidFill>
          <a:ln w="12700">
            <a:solidFill>
              <a:schemeClr val="accent5"/>
            </a:solidFill>
            <a:prstDash val="solid"/>
          </a:ln>
        </p:spPr>
      </p:sp>
      <p:sp>
        <p:nvSpPr>
          <p:cNvPr id="14" name="text-488"/>
          <p:cNvSpPr txBox="1"/>
          <p:nvPr/>
        </p:nvSpPr>
        <p:spPr>
          <a:xfrm>
            <a:off x="5361432" y="3017520"/>
            <a:ext cx="1578864" cy="274320"/>
          </a:xfrm>
          <a:prstGeom prst="rect">
            <a:avLst/>
          </a:prstGeom>
          <a:noFill/>
          <a:ln/>
        </p:spPr>
        <p:txBody>
          <a:bodyPr wrap="square" lIns="0" tIns="0" rIns="0" bIns="0" rtlCol="0" anchor="ctr"/>
          <a:lstStyle/>
          <a:p>
            <a:pPr indent="0" marL="0">
              <a:buNone/>
            </a:pPr>
            <a:r>
              <a:rPr lang="en-US" sz="850" b="1" dirty="0">
                <a:solidFill>
                  <a:schemeClr val="bg1"/>
                </a:solidFill>
              </a:rPr>
              <a:t>3 · Mount Aurora Spa</a:t>
            </a:r>
            <a:endParaRPr lang="en-US" sz="850" dirty="0"/>
          </a:p>
        </p:txBody>
      </p:sp>
      <p:sp>
        <p:nvSpPr>
          <p:cNvPr id="15" name="row-band-489"/>
          <p:cNvSpPr/>
          <p:nvPr/>
        </p:nvSpPr>
        <p:spPr>
          <a:xfrm>
            <a:off x="548640" y="3383280"/>
            <a:ext cx="6464808" cy="685800"/>
          </a:xfrm>
          <a:prstGeom prst="rect">
            <a:avLst/>
          </a:prstGeom>
          <a:solidFill>
            <a:schemeClr val="bg2"/>
          </a:solidFill>
          <a:ln w="12700">
            <a:solidFill>
              <a:schemeClr val="bg2"/>
            </a:solidFill>
            <a:prstDash val="solid"/>
          </a:ln>
        </p:spPr>
      </p:sp>
      <p:sp>
        <p:nvSpPr>
          <p:cNvPr id="16" name="text-490"/>
          <p:cNvSpPr txBox="1"/>
          <p:nvPr/>
        </p:nvSpPr>
        <p:spPr>
          <a:xfrm>
            <a:off x="603504" y="34472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THE PROBLEM</a:t>
            </a:r>
            <a:endParaRPr lang="en-US" sz="750" dirty="0"/>
          </a:p>
        </p:txBody>
      </p:sp>
      <p:sp>
        <p:nvSpPr>
          <p:cNvPr id="17" name="text-491"/>
          <p:cNvSpPr txBox="1"/>
          <p:nvPr/>
        </p:nvSpPr>
        <p:spPr>
          <a:xfrm>
            <a:off x="1618488"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Two months without sun and winters of −45 °C. The city needs steady, zero-carbon heat and power every hour of the year.</a:t>
            </a:r>
            <a:endParaRPr lang="en-US" sz="800" dirty="0"/>
          </a:p>
        </p:txBody>
      </p:sp>
      <p:sp>
        <p:nvSpPr>
          <p:cNvPr id="18" name="text-492"/>
          <p:cNvSpPr txBox="1"/>
          <p:nvPr/>
        </p:nvSpPr>
        <p:spPr>
          <a:xfrm>
            <a:off x="3453384"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No farmland, and in deep winter supplies can only arrive by air. How do 45,000 people get water and food?</a:t>
            </a:r>
            <a:endParaRPr lang="en-US" sz="800" dirty="0"/>
          </a:p>
        </p:txBody>
      </p:sp>
      <p:sp>
        <p:nvSpPr>
          <p:cNvPr id="19" name="text-493"/>
          <p:cNvSpPr txBox="1"/>
          <p:nvPr/>
        </p:nvSpPr>
        <p:spPr>
          <a:xfrm>
            <a:off x="5288280" y="3429000"/>
            <a:ext cx="1725168" cy="5943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Months of darkness and cold keep people indoors, and a city needs a warm public place to rest, meet and shelter in a disaster.</a:t>
            </a:r>
            <a:endParaRPr lang="en-US" sz="800" dirty="0"/>
          </a:p>
        </p:txBody>
      </p:sp>
      <p:sp>
        <p:nvSpPr>
          <p:cNvPr id="20" name="text-494"/>
          <p:cNvSpPr txBox="1"/>
          <p:nvPr/>
        </p:nvSpPr>
        <p:spPr>
          <a:xfrm>
            <a:off x="603504" y="4133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HOW IT WORKS</a:t>
            </a:r>
            <a:endParaRPr lang="en-US" sz="750" dirty="0"/>
          </a:p>
        </p:txBody>
      </p:sp>
      <p:sp>
        <p:nvSpPr>
          <p:cNvPr id="21" name="text-495"/>
          <p:cNvSpPr txBox="1"/>
          <p:nvPr/>
        </p:nvSpPr>
        <p:spPr>
          <a:xfrm>
            <a:off x="1618488"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compact D-T tokamak: superconducting magnets hold a 150-million-degree plasma. 800 MW of heat becomes 300 MW of electricity and 450 MW of district heat (page 18).</a:t>
            </a:r>
            <a:endParaRPr lang="en-US" sz="800" dirty="0"/>
          </a:p>
        </p:txBody>
      </p:sp>
      <p:sp>
        <p:nvSpPr>
          <p:cNvPr id="22" name="text-496"/>
          <p:cNvSpPr txBox="1"/>
          <p:nvPr/>
        </p:nvSpPr>
        <p:spPr>
          <a:xfrm>
            <a:off x="3453384"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Spare fusion heat melts 3,000 t of snow a day into drinking water. Electrolysis and air capture make hydrogen, oxygen and CO₂, which become starch, fats and microbial protein (page 20).</a:t>
            </a:r>
            <a:endParaRPr lang="en-US" sz="800" dirty="0"/>
          </a:p>
        </p:txBody>
      </p:sp>
      <p:sp>
        <p:nvSpPr>
          <p:cNvPr id="23" name="text-497"/>
          <p:cNvSpPr txBox="1"/>
          <p:nvPr/>
        </p:nvSpPr>
        <p:spPr>
          <a:xfrm>
            <a:off x="5288280" y="411480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40 °C geothermal spring fills a 7 × 13 m Mineral Lake inside an insulated rock shell that keeps four spa levels at 28 °C; the overflow feeds the 38 °C lagoon outside (page 24).</a:t>
            </a:r>
            <a:endParaRPr lang="en-US" sz="800" dirty="0"/>
          </a:p>
        </p:txBody>
      </p:sp>
      <p:sp>
        <p:nvSpPr>
          <p:cNvPr id="24" name="row-band-498"/>
          <p:cNvSpPr/>
          <p:nvPr/>
        </p:nvSpPr>
        <p:spPr>
          <a:xfrm>
            <a:off x="548640" y="4983480"/>
            <a:ext cx="6464808" cy="1188720"/>
          </a:xfrm>
          <a:prstGeom prst="rect">
            <a:avLst/>
          </a:prstGeom>
          <a:solidFill>
            <a:schemeClr val="bg2"/>
          </a:solidFill>
          <a:ln w="12700">
            <a:solidFill>
              <a:schemeClr val="bg2"/>
            </a:solidFill>
            <a:prstDash val="solid"/>
          </a:ln>
        </p:spPr>
      </p:sp>
      <p:sp>
        <p:nvSpPr>
          <p:cNvPr id="25" name="text-499"/>
          <p:cNvSpPr txBox="1"/>
          <p:nvPr/>
        </p:nvSpPr>
        <p:spPr>
          <a:xfrm>
            <a:off x="603504" y="50474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WHAT IS NEW</a:t>
            </a:r>
            <a:endParaRPr lang="en-US" sz="750" dirty="0"/>
          </a:p>
        </p:txBody>
      </p:sp>
      <p:sp>
        <p:nvSpPr>
          <p:cNvPr id="26" name="text-500"/>
          <p:cNvSpPr txBox="1"/>
          <p:nvPr/>
        </p:nvSpPr>
        <p:spPr>
          <a:xfrm>
            <a:off x="1618488"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Fusion machines are still experiments: ITER plans its first D-T plasma in 2039 [4], and the compact SPARC tokamak aims for first plasma around 2027 [5]. Our idea: put one inside a city, so its waste heat warms homes and melts snow for food.</a:t>
            </a:r>
            <a:endParaRPr lang="en-US" sz="800" dirty="0"/>
          </a:p>
        </p:txBody>
      </p:sp>
      <p:sp>
        <p:nvSpPr>
          <p:cNvPr id="27" name="text-501"/>
          <p:cNvSpPr txBox="1"/>
          <p:nvPr/>
        </p:nvSpPr>
        <p:spPr>
          <a:xfrm>
            <a:off x="3453384"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Each step exists alone: Solein protein from hydrogen-eating microbes has been made in Finland since 2024 [6], starch has been made from CO₂ in a lab [7], and direct air capture runs in Iceland [8]. Our idea: link them in one plant, run on heat that would be wasted.</a:t>
            </a:r>
            <a:endParaRPr lang="en-US" sz="800" dirty="0"/>
          </a:p>
        </p:txBody>
      </p:sp>
      <p:sp>
        <p:nvSpPr>
          <p:cNvPr id="28" name="text-502"/>
          <p:cNvSpPr txBox="1"/>
          <p:nvPr/>
        </p:nvSpPr>
        <p:spPr>
          <a:xfrm>
            <a:off x="5288280" y="5029200"/>
            <a:ext cx="1725168" cy="109728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Iceland’s Blue Lagoon bathes visitors in 37–39 °C water from a geothermal power plant [9], and Switzerland’s Therme Vals is built into a hillside [10]. Our idea: a whole spa inside a snow peak that doubles as a warm refuge for 1,000 people.</a:t>
            </a:r>
            <a:endParaRPr lang="en-US" sz="800" dirty="0"/>
          </a:p>
        </p:txBody>
      </p:sp>
      <p:sp>
        <p:nvSpPr>
          <p:cNvPr id="29" name="text-503"/>
          <p:cNvSpPr txBox="1"/>
          <p:nvPr/>
        </p:nvSpPr>
        <p:spPr>
          <a:xfrm>
            <a:off x="603504" y="623620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STEAM CHECK</a:t>
            </a:r>
            <a:endParaRPr lang="en-US" sz="750" dirty="0"/>
          </a:p>
        </p:txBody>
      </p:sp>
      <p:sp>
        <p:nvSpPr>
          <p:cNvPr id="30" name="text-504"/>
          <p:cNvSpPr txBox="1"/>
          <p:nvPr/>
        </p:nvSpPr>
        <p:spPr>
          <a:xfrm>
            <a:off x="1618488"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Maths: 800 MW for a day is 6.9 × 10¹³ J. One kilogram of D-T fuel releases about 3.4 × 10¹⁴ J, so the plasma burns about 0.2 kg a day; heat from the lithium blanket brings this close to our 170 g. Useful energy: (300 + 450) ÷ 800 ≈ 94%.</a:t>
            </a:r>
            <a:endParaRPr lang="en-US" sz="800" dirty="0"/>
          </a:p>
        </p:txBody>
      </p:sp>
      <p:sp>
        <p:nvSpPr>
          <p:cNvPr id="31" name="text-505"/>
          <p:cNvSpPr txBox="1"/>
          <p:nvPr/>
        </p:nvSpPr>
        <p:spPr>
          <a:xfrm>
            <a:off x="3453384"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Physics: melting ice takes 334 kJ/kg, so 3,000 t a day needs about 1.0 × 10¹² J, or 11.6 MW; warming the snow from −20 °C adds about 1.5 MW. Total ≈ 13 MW, inside the 14 MW of spare fusion heat. 2,500 m³ a day is 55 L per person.</a:t>
            </a:r>
            <a:endParaRPr lang="en-US" sz="800" dirty="0"/>
          </a:p>
        </p:txBody>
      </p:sp>
      <p:sp>
        <p:nvSpPr>
          <p:cNvPr id="32" name="text-506"/>
          <p:cNvSpPr txBox="1"/>
          <p:nvPr/>
        </p:nvSpPr>
        <p:spPr>
          <a:xfrm>
            <a:off x="5288280" y="6217920"/>
            <a:ext cx="1725168" cy="123444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Engineering: the shell holds a 73 °C difference, −45 °C outside and 28 °C inside. Science: the water is used twice, 40 °C in the lake, then 38 °C in the lagoon, before it returns to the geothermal loop. Arts: the peak’s shape comes from Nepal’s Ama Dablam.</a:t>
            </a:r>
            <a:endParaRPr lang="en-US" sz="800" dirty="0"/>
          </a:p>
        </p:txBody>
      </p:sp>
      <p:sp>
        <p:nvSpPr>
          <p:cNvPr id="33" name="row-band-507"/>
          <p:cNvSpPr/>
          <p:nvPr/>
        </p:nvSpPr>
        <p:spPr>
          <a:xfrm>
            <a:off x="548640" y="7498080"/>
            <a:ext cx="6464808" cy="1280160"/>
          </a:xfrm>
          <a:prstGeom prst="rect">
            <a:avLst/>
          </a:prstGeom>
          <a:solidFill>
            <a:schemeClr val="bg2"/>
          </a:solidFill>
          <a:ln w="12700">
            <a:solidFill>
              <a:schemeClr val="bg2"/>
            </a:solidFill>
            <a:prstDash val="solid"/>
          </a:ln>
        </p:spPr>
      </p:sp>
      <p:sp>
        <p:nvSpPr>
          <p:cNvPr id="34" name="text-508"/>
          <p:cNvSpPr txBox="1"/>
          <p:nvPr/>
        </p:nvSpPr>
        <p:spPr>
          <a:xfrm>
            <a:off x="603504" y="756208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FEASIBILITY &amp; LIMITS</a:t>
            </a:r>
            <a:endParaRPr lang="en-US" sz="750" dirty="0"/>
          </a:p>
        </p:txBody>
      </p:sp>
      <p:sp>
        <p:nvSpPr>
          <p:cNvPr id="35" name="text-509"/>
          <p:cNvSpPr txBox="1"/>
          <p:nvPr/>
        </p:nvSpPr>
        <p:spPr>
          <a:xfrm>
            <a:off x="1618488"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 future concept: no fusion plant sells power today, and breeding tritium at scale is still unproven [11]. Costs are huge: ITER alone is estimated at €18–22 billion to first plasma [12]. Plan B: the geothermal plant and a 12-hour heat tank.</a:t>
            </a:r>
            <a:endParaRPr lang="en-US" sz="800" dirty="0"/>
          </a:p>
        </p:txBody>
      </p:sp>
      <p:sp>
        <p:nvSpPr>
          <p:cNvPr id="36" name="text-510"/>
          <p:cNvSpPr txBox="1"/>
          <p:nvPr/>
        </p:nvSpPr>
        <p:spPr>
          <a:xfrm>
            <a:off x="3453384"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Possible in parts today, hard at city scale: Solar Foods’ first factory makes up to 160 t a year [6], CO₂-to-starch is still lab-scale, and direct air capture is energy-hungry and costly [13]. New foods need safety approval and people’s trust.</a:t>
            </a:r>
            <a:endParaRPr lang="en-US" sz="800" dirty="0"/>
          </a:p>
        </p:txBody>
      </p:sp>
      <p:sp>
        <p:nvSpPr>
          <p:cNvPr id="37" name="text-511"/>
          <p:cNvSpPr txBox="1"/>
          <p:nvPr/>
        </p:nvSpPr>
        <p:spPr>
          <a:xfrm>
            <a:off x="5288280" y="7543800"/>
            <a:ext cx="1725168" cy="118872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Needs a hot geothermal source under the site, to be confirmed by drilling. Building inside a frozen mountain is costly, and no heat may reach the permafrost: thermosyphons like those on the Trans-Alaska Pipeline [14] keep the ground frozen.</a:t>
            </a:r>
            <a:endParaRPr lang="en-US" sz="800" dirty="0"/>
          </a:p>
        </p:txBody>
      </p:sp>
      <p:sp>
        <p:nvSpPr>
          <p:cNvPr id="38" name="text-512"/>
          <p:cNvSpPr txBox="1"/>
          <p:nvPr/>
        </p:nvSpPr>
        <p:spPr>
          <a:xfrm>
            <a:off x="603504" y="8842248"/>
            <a:ext cx="868680" cy="457200"/>
          </a:xfrm>
          <a:prstGeom prst="rect">
            <a:avLst/>
          </a:prstGeom>
          <a:noFill/>
          <a:ln/>
        </p:spPr>
        <p:txBody>
          <a:bodyPr wrap="square" lIns="0" tIns="0" rIns="0" bIns="0" rtlCol="0" anchor="t"/>
          <a:lstStyle/>
          <a:p>
            <a:pPr indent="0" marL="0">
              <a:lnSpc>
                <a:spcPct val="105000"/>
              </a:lnSpc>
              <a:buNone/>
            </a:pPr>
            <a:r>
              <a:rPr lang="en-US" sz="750" b="1" spc="100" kern="0" dirty="0">
                <a:solidFill>
                  <a:schemeClr val="accent6"/>
                </a:solidFill>
              </a:rPr>
              <a:t>IMPACT</a:t>
            </a:r>
            <a:endParaRPr lang="en-US" sz="750" dirty="0"/>
          </a:p>
        </p:txBody>
      </p:sp>
      <p:sp>
        <p:nvSpPr>
          <p:cNvPr id="39" name="text-513"/>
          <p:cNvSpPr txBox="1"/>
          <p:nvPr/>
        </p:nvSpPr>
        <p:spPr>
          <a:xfrm>
            <a:off x="1618488"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Zero-carbon heat and power for 45,000 people, no fuel deliveries, helium for the hospital’s MRI scanners, and a converter that turns about 20 t of rubbish a day into gas and paving.</a:t>
            </a:r>
            <a:endParaRPr lang="en-US" sz="800" dirty="0"/>
          </a:p>
        </p:txBody>
      </p:sp>
      <p:sp>
        <p:nvSpPr>
          <p:cNvPr id="40" name="text-514"/>
          <p:cNvSpPr txBox="1"/>
          <p:nvPr/>
        </p:nvSpPr>
        <p:spPr>
          <a:xfrm>
            <a:off x="3453384"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All tap water and about half of the protein made locally, about 20 t of CO₂ taken from the air every day, fewer cargo flights, and a 30-day food reserve.</a:t>
            </a:r>
            <a:endParaRPr lang="en-US" sz="800" dirty="0"/>
          </a:p>
        </p:txBody>
      </p:sp>
      <p:sp>
        <p:nvSpPr>
          <p:cNvPr id="41" name="text-515"/>
          <p:cNvSpPr txBox="1"/>
          <p:nvPr/>
        </p:nvSpPr>
        <p:spPr>
          <a:xfrm>
            <a:off x="5288280" y="8823960"/>
            <a:ext cx="1725168" cy="822960"/>
          </a:xfrm>
          <a:prstGeom prst="rect">
            <a:avLst/>
          </a:prstGeom>
          <a:noFill/>
          <a:ln/>
        </p:spPr>
        <p:txBody>
          <a:bodyPr wrap="square" lIns="0" tIns="0" rIns="0" bIns="0" rtlCol="0" anchor="t"/>
          <a:lstStyle/>
          <a:p>
            <a:pPr indent="0" marL="0">
              <a:lnSpc>
                <a:spcPct val="100000"/>
              </a:lnSpc>
              <a:buNone/>
            </a:pPr>
            <a:r>
              <a:rPr lang="en-US" sz="800" dirty="0">
                <a:solidFill>
                  <a:schemeClr val="tx1"/>
                </a:solidFill>
              </a:rPr>
              <a:t>Rest and health through the polar night, tourism and jobs, cafés serving food from the plant, and shelter for up to 1,000 people in an emergency.</a:t>
            </a:r>
            <a:endParaRPr lang="en-US" sz="8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kicker-dot-516"/>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517"/>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THE BIG IDEA</a:t>
            </a:r>
            <a:endParaRPr lang="en-US" sz="900" dirty="0"/>
          </a:p>
        </p:txBody>
      </p:sp>
      <p:sp>
        <p:nvSpPr>
          <p:cNvPr id="4" name="title-518"/>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Three Districts, One Loop</a:t>
            </a:r>
            <a:endParaRPr lang="en-US" sz="3400" dirty="0"/>
          </a:p>
        </p:txBody>
      </p:sp>
      <p:sp>
        <p:nvSpPr>
          <p:cNvPr id="5" name="text-520"/>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bg2"/>
                </a:solidFill>
                <a:latin typeface="+mj-lt" pitchFamily="34" charset="0"/>
                <a:ea typeface="+mj-lt" pitchFamily="34" charset="-122"/>
                <a:cs typeface="+mj-lt" pitchFamily="34" charset="-120"/>
              </a:rPr>
              <a:t>The three signature districts do not work alone. Heat, water, oxygen and waste go round from one to the next instead of being thrown away.</a:t>
            </a:r>
            <a:endParaRPr lang="en-US" sz="1400" dirty="0"/>
          </a:p>
        </p:txBody>
      </p:sp>
      <p:sp>
        <p:nvSpPr>
          <p:cNvPr id="6" name="loop-node-521"/>
          <p:cNvSpPr/>
          <p:nvPr/>
        </p:nvSpPr>
        <p:spPr>
          <a:xfrm>
            <a:off x="640080" y="2514600"/>
            <a:ext cx="1920240" cy="1920240"/>
          </a:xfrm>
          <a:prstGeom prst="ellipse">
            <a:avLst/>
          </a:prstGeom>
          <a:solidFill>
            <a:schemeClr val="accent3"/>
          </a:solidFill>
          <a:ln w="25400">
            <a:solidFill>
              <a:schemeClr val="bg1"/>
            </a:solidFill>
            <a:prstDash val="solid"/>
          </a:ln>
        </p:spPr>
      </p:sp>
      <p:sp>
        <p:nvSpPr>
          <p:cNvPr id="7" name="text-522"/>
          <p:cNvSpPr txBox="1"/>
          <p:nvPr/>
        </p:nvSpPr>
        <p:spPr>
          <a:xfrm>
            <a:off x="777240"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Fusion Power Station</a:t>
            </a:r>
            <a:endParaRPr lang="en-US" sz="1500" dirty="0"/>
          </a:p>
        </p:txBody>
      </p:sp>
      <p:sp>
        <p:nvSpPr>
          <p:cNvPr id="8" name="text-523"/>
          <p:cNvSpPr txBox="1"/>
          <p:nvPr/>
        </p:nvSpPr>
        <p:spPr>
          <a:xfrm>
            <a:off x="777240"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heat · power · waste converter</a:t>
            </a:r>
            <a:endParaRPr lang="en-US" sz="900" dirty="0"/>
          </a:p>
        </p:txBody>
      </p:sp>
      <p:sp>
        <p:nvSpPr>
          <p:cNvPr id="9" name="loop-node-524"/>
          <p:cNvSpPr/>
          <p:nvPr/>
        </p:nvSpPr>
        <p:spPr>
          <a:xfrm>
            <a:off x="5001768" y="2514600"/>
            <a:ext cx="1920240" cy="1920240"/>
          </a:xfrm>
          <a:prstGeom prst="ellipse">
            <a:avLst/>
          </a:prstGeom>
          <a:solidFill>
            <a:schemeClr val="accent4"/>
          </a:solidFill>
          <a:ln w="25400">
            <a:solidFill>
              <a:schemeClr val="bg1"/>
            </a:solidFill>
            <a:prstDash val="solid"/>
          </a:ln>
        </p:spPr>
      </p:sp>
      <p:sp>
        <p:nvSpPr>
          <p:cNvPr id="10" name="text-525"/>
          <p:cNvSpPr txBox="1"/>
          <p:nvPr/>
        </p:nvSpPr>
        <p:spPr>
          <a:xfrm>
            <a:off x="5138928" y="3090672"/>
            <a:ext cx="164592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Snow-to-Food Plant</a:t>
            </a:r>
            <a:endParaRPr lang="en-US" sz="1500" dirty="0"/>
          </a:p>
        </p:txBody>
      </p:sp>
      <p:sp>
        <p:nvSpPr>
          <p:cNvPr id="11" name="text-526"/>
          <p:cNvSpPr txBox="1"/>
          <p:nvPr/>
        </p:nvSpPr>
        <p:spPr>
          <a:xfrm>
            <a:off x="5138928" y="3566160"/>
            <a:ext cx="1645920" cy="411480"/>
          </a:xfrm>
          <a:prstGeom prst="rect">
            <a:avLst/>
          </a:prstGeom>
          <a:noFill/>
          <a:ln/>
        </p:spPr>
        <p:txBody>
          <a:bodyPr wrap="square" lIns="0" tIns="0" rIns="0" bIns="0" rtlCol="0" anchor="t"/>
          <a:lstStyle/>
          <a:p>
            <a:pPr algn="ctr" indent="0" marL="0">
              <a:buNone/>
            </a:pPr>
            <a:r>
              <a:rPr lang="en-US" sz="900" dirty="0">
                <a:solidFill>
                  <a:schemeClr val="bg1"/>
                </a:solidFill>
              </a:rPr>
              <a:t>water · food · oxygen</a:t>
            </a:r>
            <a:endParaRPr lang="en-US" sz="900" dirty="0"/>
          </a:p>
        </p:txBody>
      </p:sp>
      <p:sp>
        <p:nvSpPr>
          <p:cNvPr id="12" name="loop-node-527"/>
          <p:cNvSpPr/>
          <p:nvPr/>
        </p:nvSpPr>
        <p:spPr>
          <a:xfrm>
            <a:off x="5161788" y="5623560"/>
            <a:ext cx="1600200" cy="1600200"/>
          </a:xfrm>
          <a:prstGeom prst="ellipse">
            <a:avLst/>
          </a:prstGeom>
          <a:solidFill>
            <a:schemeClr val="accent5"/>
          </a:solidFill>
          <a:ln w="25400">
            <a:solidFill>
              <a:schemeClr val="bg1"/>
            </a:solidFill>
            <a:prstDash val="solid"/>
          </a:ln>
        </p:spPr>
      </p:sp>
      <p:sp>
        <p:nvSpPr>
          <p:cNvPr id="13" name="text-528"/>
          <p:cNvSpPr txBox="1"/>
          <p:nvPr/>
        </p:nvSpPr>
        <p:spPr>
          <a:xfrm>
            <a:off x="5298948" y="6039612"/>
            <a:ext cx="1325880" cy="457200"/>
          </a:xfrm>
          <a:prstGeom prst="rect">
            <a:avLst/>
          </a:prstGeom>
          <a:noFill/>
          <a:ln/>
        </p:spPr>
        <p:txBody>
          <a:bodyPr wrap="square" lIns="0" tIns="0" rIns="0" bIns="0" rtlCol="0" anchor="b"/>
          <a:lstStyle/>
          <a:p>
            <a:pPr algn="ctr" indent="0" marL="0">
              <a:buNone/>
            </a:pPr>
            <a:r>
              <a:rPr lang="en-US" sz="1500" b="1" dirty="0">
                <a:solidFill>
                  <a:schemeClr val="bg1"/>
                </a:solidFill>
                <a:latin typeface="+mj-lt" pitchFamily="34" charset="0"/>
                <a:ea typeface="+mj-lt" pitchFamily="34" charset="-122"/>
                <a:cs typeface="+mj-lt" pitchFamily="34" charset="-120"/>
              </a:rPr>
              <a:t>Mount Aurora Spa</a:t>
            </a:r>
            <a:endParaRPr lang="en-US" sz="1500" dirty="0"/>
          </a:p>
        </p:txBody>
      </p:sp>
      <p:sp>
        <p:nvSpPr>
          <p:cNvPr id="14" name="text-529"/>
          <p:cNvSpPr txBox="1"/>
          <p:nvPr/>
        </p:nvSpPr>
        <p:spPr>
          <a:xfrm>
            <a:off x="5298948" y="6515100"/>
            <a:ext cx="1325880" cy="411480"/>
          </a:xfrm>
          <a:prstGeom prst="rect">
            <a:avLst/>
          </a:prstGeom>
          <a:noFill/>
          <a:ln/>
        </p:spPr>
        <p:txBody>
          <a:bodyPr wrap="square" lIns="0" tIns="0" rIns="0" bIns="0" rtlCol="0" anchor="t"/>
          <a:lstStyle/>
          <a:p>
            <a:pPr algn="ctr" indent="0" marL="0">
              <a:buNone/>
            </a:pPr>
            <a:r>
              <a:rPr lang="en-US" sz="900" dirty="0">
                <a:solidFill>
                  <a:schemeClr val="bg1"/>
                </a:solidFill>
              </a:rPr>
              <a:t>geothermal wellbeing</a:t>
            </a:r>
            <a:endParaRPr lang="en-US" sz="900" dirty="0"/>
          </a:p>
        </p:txBody>
      </p:sp>
      <p:sp>
        <p:nvSpPr>
          <p:cNvPr id="15" name="loop-node-city"/>
          <p:cNvSpPr/>
          <p:nvPr/>
        </p:nvSpPr>
        <p:spPr>
          <a:xfrm>
            <a:off x="640080" y="5760720"/>
            <a:ext cx="1920240" cy="1325880"/>
          </a:xfrm>
          <a:prstGeom prst="roundRect">
            <a:avLst>
              <a:gd name="adj" fmla="val 6897"/>
            </a:avLst>
          </a:prstGeom>
          <a:solidFill>
            <a:schemeClr val="tx1"/>
          </a:solidFill>
          <a:ln w="25400">
            <a:solidFill>
              <a:schemeClr val="bg1"/>
            </a:solidFill>
            <a:prstDash val="solid"/>
          </a:ln>
        </p:spPr>
      </p:sp>
      <p:sp>
        <p:nvSpPr>
          <p:cNvPr id="16" name="text-530"/>
          <p:cNvSpPr txBox="1"/>
          <p:nvPr/>
        </p:nvSpPr>
        <p:spPr>
          <a:xfrm>
            <a:off x="731520" y="5961888"/>
            <a:ext cx="1737360" cy="365760"/>
          </a:xfrm>
          <a:prstGeom prst="rect">
            <a:avLst/>
          </a:prstGeom>
          <a:noFill/>
          <a:ln/>
        </p:spPr>
        <p:txBody>
          <a:bodyPr wrap="square" lIns="0" tIns="0" rIns="0" bIns="0" rtlCol="0" anchor="t"/>
          <a:lstStyle/>
          <a:p>
            <a:pPr algn="ctr" indent="0" marL="0">
              <a:buNone/>
            </a:pPr>
            <a:r>
              <a:rPr lang="en-US" sz="1500" b="1" dirty="0">
                <a:solidFill>
                  <a:schemeClr val="bg1"/>
                </a:solidFill>
                <a:latin typeface="+mj-lt" pitchFamily="34" charset="0"/>
                <a:ea typeface="+mj-lt" pitchFamily="34" charset="-122"/>
                <a:cs typeface="+mj-lt" pitchFamily="34" charset="-120"/>
              </a:rPr>
              <a:t>The City</a:t>
            </a:r>
            <a:endParaRPr lang="en-US" sz="1500" dirty="0"/>
          </a:p>
        </p:txBody>
      </p:sp>
      <p:sp>
        <p:nvSpPr>
          <p:cNvPr id="17" name="text-531"/>
          <p:cNvSpPr txBox="1"/>
          <p:nvPr/>
        </p:nvSpPr>
        <p:spPr>
          <a:xfrm>
            <a:off x="777240" y="6382512"/>
            <a:ext cx="1645920" cy="548640"/>
          </a:xfrm>
          <a:prstGeom prst="rect">
            <a:avLst/>
          </a:prstGeom>
          <a:noFill/>
          <a:ln/>
        </p:spPr>
        <p:txBody>
          <a:bodyPr wrap="square" lIns="0" tIns="0" rIns="0" bIns="0" rtlCol="0" anchor="t"/>
          <a:lstStyle/>
          <a:p>
            <a:pPr algn="ctr" indent="0" marL="0">
              <a:buNone/>
            </a:pPr>
            <a:r>
              <a:rPr lang="en-US" sz="900" dirty="0">
                <a:solidFill>
                  <a:schemeClr val="bg2"/>
                </a:solidFill>
              </a:rPr>
              <a:t>45,000 people, every building and the hospital</a:t>
            </a:r>
            <a:endParaRPr lang="en-US" sz="900" dirty="0"/>
          </a:p>
        </p:txBody>
      </p:sp>
      <p:sp>
        <p:nvSpPr>
          <p:cNvPr id="18" name="arrow-532"/>
          <p:cNvSpPr/>
          <p:nvPr/>
        </p:nvSpPr>
        <p:spPr>
          <a:xfrm>
            <a:off x="2633472" y="3063240"/>
            <a:ext cx="2295144" cy="914"/>
          </a:xfrm>
          <a:prstGeom prst="line">
            <a:avLst/>
          </a:prstGeom>
          <a:noFill/>
          <a:ln w="28575">
            <a:solidFill>
              <a:schemeClr val="accent2"/>
            </a:solidFill>
            <a:prstDash val="solid"/>
            <a:tailEnd type="triangle"/>
          </a:ln>
        </p:spPr>
      </p:sp>
      <p:sp>
        <p:nvSpPr>
          <p:cNvPr id="19" name="text-533"/>
          <p:cNvSpPr txBox="1"/>
          <p:nvPr/>
        </p:nvSpPr>
        <p:spPr>
          <a:xfrm>
            <a:off x="2633472" y="2834640"/>
            <a:ext cx="2295144" cy="182880"/>
          </a:xfrm>
          <a:prstGeom prst="rect">
            <a:avLst/>
          </a:prstGeom>
          <a:noFill/>
          <a:ln/>
        </p:spPr>
        <p:txBody>
          <a:bodyPr wrap="square" lIns="0" tIns="0" rIns="0" bIns="0" rtlCol="0" anchor="t"/>
          <a:lstStyle/>
          <a:p>
            <a:pPr algn="ctr" indent="0" marL="0">
              <a:buNone/>
            </a:pPr>
            <a:r>
              <a:rPr lang="en-US" sz="850" b="1" dirty="0">
                <a:solidFill>
                  <a:schemeClr val="accent2"/>
                </a:solidFill>
              </a:rPr>
              <a:t>Spare heat melts the snow</a:t>
            </a:r>
            <a:endParaRPr lang="en-US" sz="850" dirty="0"/>
          </a:p>
        </p:txBody>
      </p:sp>
      <p:sp>
        <p:nvSpPr>
          <p:cNvPr id="20" name="arrow-534"/>
          <p:cNvSpPr/>
          <p:nvPr/>
        </p:nvSpPr>
        <p:spPr>
          <a:xfrm>
            <a:off x="2633472" y="3410712"/>
            <a:ext cx="2295144" cy="914"/>
          </a:xfrm>
          <a:prstGeom prst="line">
            <a:avLst/>
          </a:prstGeom>
          <a:noFill/>
          <a:ln w="28575">
            <a:solidFill>
              <a:schemeClr val="bg2"/>
            </a:solidFill>
            <a:prstDash val="solid"/>
            <a:tailEnd type="triangle"/>
          </a:ln>
        </p:spPr>
      </p:sp>
      <p:sp>
        <p:nvSpPr>
          <p:cNvPr id="21" name="text-535"/>
          <p:cNvSpPr txBox="1"/>
          <p:nvPr/>
        </p:nvSpPr>
        <p:spPr>
          <a:xfrm>
            <a:off x="2633472" y="3182112"/>
            <a:ext cx="2295144" cy="182880"/>
          </a:xfrm>
          <a:prstGeom prst="rect">
            <a:avLst/>
          </a:prstGeom>
          <a:noFill/>
          <a:ln/>
        </p:spPr>
        <p:txBody>
          <a:bodyPr wrap="square" lIns="0" tIns="0" rIns="0" bIns="0" rtlCol="0" anchor="t"/>
          <a:lstStyle/>
          <a:p>
            <a:pPr algn="ctr" indent="0" marL="0">
              <a:buNone/>
            </a:pPr>
            <a:r>
              <a:rPr lang="en-US" sz="850" b="1" dirty="0">
                <a:solidFill>
                  <a:schemeClr val="bg2"/>
                </a:solidFill>
              </a:rPr>
              <a:t>Hydrogen &amp; CO₂ made from rubbish</a:t>
            </a:r>
            <a:endParaRPr lang="en-US" sz="850" dirty="0"/>
          </a:p>
        </p:txBody>
      </p:sp>
      <p:sp>
        <p:nvSpPr>
          <p:cNvPr id="22" name="arrow-536"/>
          <p:cNvSpPr/>
          <p:nvPr/>
        </p:nvSpPr>
        <p:spPr>
          <a:xfrm flipH="1">
            <a:off x="2633472" y="3758184"/>
            <a:ext cx="2295144" cy="914"/>
          </a:xfrm>
          <a:prstGeom prst="line">
            <a:avLst/>
          </a:prstGeom>
          <a:noFill/>
          <a:ln w="28575">
            <a:solidFill>
              <a:schemeClr val="accent6"/>
            </a:solidFill>
            <a:prstDash val="solid"/>
            <a:tailEnd type="triangle"/>
          </a:ln>
        </p:spPr>
      </p:sp>
      <p:sp>
        <p:nvSpPr>
          <p:cNvPr id="23" name="text-537"/>
          <p:cNvSpPr txBox="1"/>
          <p:nvPr/>
        </p:nvSpPr>
        <p:spPr>
          <a:xfrm>
            <a:off x="2633472" y="3529584"/>
            <a:ext cx="2295144" cy="182880"/>
          </a:xfrm>
          <a:prstGeom prst="rect">
            <a:avLst/>
          </a:prstGeom>
          <a:noFill/>
          <a:ln/>
        </p:spPr>
        <p:txBody>
          <a:bodyPr wrap="square" lIns="0" tIns="0" rIns="0" bIns="0" rtlCol="0" anchor="t"/>
          <a:lstStyle/>
          <a:p>
            <a:pPr algn="ctr" indent="0" marL="0">
              <a:buNone/>
            </a:pPr>
            <a:r>
              <a:rPr lang="en-US" sz="850" b="1" dirty="0">
                <a:solidFill>
                  <a:schemeClr val="accent6"/>
                </a:solidFill>
              </a:rPr>
              <a:t>Deuterium-rich water returns as fuel</a:t>
            </a:r>
            <a:endParaRPr lang="en-US" sz="850" dirty="0"/>
          </a:p>
        </p:txBody>
      </p:sp>
      <p:sp>
        <p:nvSpPr>
          <p:cNvPr id="24" name="arrow-538"/>
          <p:cNvSpPr/>
          <p:nvPr/>
        </p:nvSpPr>
        <p:spPr>
          <a:xfrm flipH="1">
            <a:off x="2633472" y="4105656"/>
            <a:ext cx="2295144" cy="914"/>
          </a:xfrm>
          <a:prstGeom prst="line">
            <a:avLst/>
          </a:prstGeom>
          <a:noFill/>
          <a:ln w="28575">
            <a:solidFill>
              <a:schemeClr val="accent1"/>
            </a:solidFill>
            <a:prstDash val="solid"/>
            <a:tailEnd type="triangle"/>
          </a:ln>
        </p:spPr>
      </p:sp>
      <p:sp>
        <p:nvSpPr>
          <p:cNvPr id="25" name="text-539"/>
          <p:cNvSpPr txBox="1"/>
          <p:nvPr/>
        </p:nvSpPr>
        <p:spPr>
          <a:xfrm>
            <a:off x="2633472" y="3877056"/>
            <a:ext cx="2295144" cy="182880"/>
          </a:xfrm>
          <a:prstGeom prst="rect">
            <a:avLst/>
          </a:prstGeom>
          <a:noFill/>
          <a:ln/>
        </p:spPr>
        <p:txBody>
          <a:bodyPr wrap="square" lIns="0" tIns="0" rIns="0" bIns="0" rtlCol="0" anchor="t"/>
          <a:lstStyle/>
          <a:p>
            <a:pPr algn="ctr" indent="0" marL="0">
              <a:buNone/>
            </a:pPr>
            <a:r>
              <a:rPr lang="en-US" sz="850" b="1" dirty="0">
                <a:solidFill>
                  <a:schemeClr val="accent1"/>
                </a:solidFill>
              </a:rPr>
              <a:t>Oxygen for the waste converter</a:t>
            </a:r>
            <a:endParaRPr lang="en-US" sz="850" dirty="0"/>
          </a:p>
        </p:txBody>
      </p:sp>
      <p:sp>
        <p:nvSpPr>
          <p:cNvPr id="26" name="arrow-540"/>
          <p:cNvSpPr/>
          <p:nvPr/>
        </p:nvSpPr>
        <p:spPr>
          <a:xfrm>
            <a:off x="1325880" y="4507992"/>
            <a:ext cx="914" cy="1179576"/>
          </a:xfrm>
          <a:prstGeom prst="line">
            <a:avLst/>
          </a:prstGeom>
          <a:noFill/>
          <a:ln w="28575">
            <a:solidFill>
              <a:schemeClr val="accent2"/>
            </a:solidFill>
            <a:prstDash val="solid"/>
            <a:tailEnd type="triangle"/>
          </a:ln>
        </p:spPr>
      </p:sp>
      <p:sp>
        <p:nvSpPr>
          <p:cNvPr id="27" name="arrow-541"/>
          <p:cNvSpPr/>
          <p:nvPr/>
        </p:nvSpPr>
        <p:spPr>
          <a:xfrm flipV="1">
            <a:off x="1874520" y="4507992"/>
            <a:ext cx="914" cy="1179576"/>
          </a:xfrm>
          <a:prstGeom prst="line">
            <a:avLst/>
          </a:prstGeom>
          <a:noFill/>
          <a:ln w="28575">
            <a:solidFill>
              <a:schemeClr val="bg2"/>
            </a:solidFill>
            <a:prstDash val="solid"/>
            <a:tailEnd type="triangle"/>
          </a:ln>
        </p:spPr>
      </p:sp>
      <p:sp>
        <p:nvSpPr>
          <p:cNvPr id="28" name="text-542"/>
          <p:cNvSpPr txBox="1"/>
          <p:nvPr/>
        </p:nvSpPr>
        <p:spPr>
          <a:xfrm>
            <a:off x="2011680" y="4709160"/>
            <a:ext cx="1234440" cy="868680"/>
          </a:xfrm>
          <a:prstGeom prst="rect">
            <a:avLst/>
          </a:prstGeom>
          <a:noFill/>
          <a:ln/>
        </p:spPr>
        <p:txBody>
          <a:bodyPr wrap="square" lIns="0" tIns="0" rIns="0" bIns="0" rtlCol="0" anchor="t"/>
          <a:lstStyle/>
          <a:p>
            <a:pPr indent="0" marL="0">
              <a:spcAft>
                <a:spcPts val="600"/>
              </a:spcAft>
              <a:buNone/>
            </a:pPr>
            <a:r>
              <a:rPr lang="en-US" sz="850" b="1" dirty="0">
                <a:solidFill>
                  <a:schemeClr val="accent2"/>
                </a:solidFill>
              </a:rPr>
              <a:t>↓ Heat, power and MRI helium</a:t>
            </a:r>
            <a:endParaRPr lang="en-US" sz="850" dirty="0"/>
          </a:p>
          <a:p>
            <a:pPr indent="0" marL="0">
              <a:buNone/>
            </a:pPr>
            <a:r>
              <a:rPr lang="en-US" sz="850" b="1" dirty="0">
                <a:solidFill>
                  <a:schemeClr val="bg2"/>
                </a:solidFill>
              </a:rPr>
              <a:t>↑ Rubbish for the waste converter</a:t>
            </a:r>
            <a:endParaRPr lang="en-US" sz="850" dirty="0"/>
          </a:p>
        </p:txBody>
      </p:sp>
      <p:sp>
        <p:nvSpPr>
          <p:cNvPr id="29" name="arrow-543"/>
          <p:cNvSpPr/>
          <p:nvPr/>
        </p:nvSpPr>
        <p:spPr>
          <a:xfrm flipH="1">
            <a:off x="2633472" y="4114800"/>
            <a:ext cx="2596896" cy="2057400"/>
          </a:xfrm>
          <a:prstGeom prst="line">
            <a:avLst/>
          </a:prstGeom>
          <a:noFill/>
          <a:ln w="28575">
            <a:solidFill>
              <a:schemeClr val="accent4"/>
            </a:solidFill>
            <a:prstDash val="solid"/>
            <a:tailEnd type="triangle"/>
          </a:ln>
        </p:spPr>
      </p:sp>
      <p:sp>
        <p:nvSpPr>
          <p:cNvPr id="30" name="text-544"/>
          <p:cNvSpPr txBox="1"/>
          <p:nvPr/>
        </p:nvSpPr>
        <p:spPr>
          <a:xfrm>
            <a:off x="3977640" y="5303520"/>
            <a:ext cx="1280160" cy="411480"/>
          </a:xfrm>
          <a:prstGeom prst="rect">
            <a:avLst/>
          </a:prstGeom>
          <a:noFill/>
          <a:ln/>
        </p:spPr>
        <p:txBody>
          <a:bodyPr wrap="square" lIns="0" tIns="0" rIns="0" bIns="0" rtlCol="0" anchor="t"/>
          <a:lstStyle/>
          <a:p>
            <a:pPr indent="0" marL="0">
              <a:buNone/>
            </a:pPr>
            <a:r>
              <a:rPr lang="en-US" sz="850" b="1" dirty="0">
                <a:solidFill>
                  <a:schemeClr val="bg2"/>
                </a:solidFill>
              </a:rPr>
              <a:t>Drinking water, food and medical oxygen</a:t>
            </a:r>
            <a:endParaRPr lang="en-US" sz="850" dirty="0"/>
          </a:p>
        </p:txBody>
      </p:sp>
      <p:sp>
        <p:nvSpPr>
          <p:cNvPr id="31" name="arrow-545"/>
          <p:cNvSpPr/>
          <p:nvPr/>
        </p:nvSpPr>
        <p:spPr>
          <a:xfrm>
            <a:off x="6464808" y="4489704"/>
            <a:ext cx="914" cy="1078992"/>
          </a:xfrm>
          <a:prstGeom prst="line">
            <a:avLst/>
          </a:prstGeom>
          <a:noFill/>
          <a:ln w="28575">
            <a:solidFill>
              <a:schemeClr val="accent4"/>
            </a:solidFill>
            <a:prstDash val="solid"/>
            <a:tailEnd type="triangle"/>
          </a:ln>
        </p:spPr>
      </p:sp>
      <p:sp>
        <p:nvSpPr>
          <p:cNvPr id="32" name="text-546"/>
          <p:cNvSpPr txBox="1"/>
          <p:nvPr/>
        </p:nvSpPr>
        <p:spPr>
          <a:xfrm>
            <a:off x="6583680" y="4754880"/>
            <a:ext cx="429768" cy="411480"/>
          </a:xfrm>
          <a:prstGeom prst="rect">
            <a:avLst/>
          </a:prstGeom>
          <a:noFill/>
          <a:ln/>
        </p:spPr>
        <p:txBody>
          <a:bodyPr wrap="square" lIns="0" tIns="0" rIns="0" bIns="0" rtlCol="0" anchor="t"/>
          <a:lstStyle/>
          <a:p>
            <a:pPr indent="0" marL="0">
              <a:buNone/>
            </a:pPr>
            <a:r>
              <a:rPr lang="en-US" sz="850" b="1" dirty="0">
                <a:solidFill>
                  <a:schemeClr val="bg2"/>
                </a:solidFill>
              </a:rPr>
              <a:t>Food for the spa cafés</a:t>
            </a:r>
            <a:endParaRPr lang="en-US" sz="850" dirty="0"/>
          </a:p>
        </p:txBody>
      </p:sp>
      <p:sp>
        <p:nvSpPr>
          <p:cNvPr id="33" name="arrow-547"/>
          <p:cNvSpPr/>
          <p:nvPr/>
        </p:nvSpPr>
        <p:spPr>
          <a:xfrm flipV="1">
            <a:off x="4293108" y="6606540"/>
            <a:ext cx="813816" cy="434340"/>
          </a:xfrm>
          <a:prstGeom prst="line">
            <a:avLst/>
          </a:prstGeom>
          <a:noFill/>
          <a:ln w="28575">
            <a:solidFill>
              <a:schemeClr val="accent2"/>
            </a:solidFill>
            <a:prstDash val="solid"/>
            <a:tailEnd type="triangle"/>
          </a:ln>
        </p:spPr>
      </p:sp>
      <p:sp>
        <p:nvSpPr>
          <p:cNvPr id="34" name="text-548"/>
          <p:cNvSpPr txBox="1"/>
          <p:nvPr/>
        </p:nvSpPr>
        <p:spPr>
          <a:xfrm>
            <a:off x="3561588" y="7114032"/>
            <a:ext cx="1188720" cy="365760"/>
          </a:xfrm>
          <a:prstGeom prst="rect">
            <a:avLst/>
          </a:prstGeom>
          <a:noFill/>
          <a:ln/>
        </p:spPr>
        <p:txBody>
          <a:bodyPr wrap="square" lIns="0" tIns="0" rIns="0" bIns="0" rtlCol="0" anchor="t"/>
          <a:lstStyle/>
          <a:p>
            <a:pPr algn="r" indent="0" marL="0">
              <a:buNone/>
            </a:pPr>
            <a:r>
              <a:rPr lang="en-US" sz="850" b="1" dirty="0">
                <a:solidFill>
                  <a:schemeClr val="accent2"/>
                </a:solidFill>
              </a:rPr>
              <a:t>Geothermal springs</a:t>
            </a:r>
            <a:endParaRPr lang="en-US" sz="850" dirty="0"/>
          </a:p>
        </p:txBody>
      </p:sp>
      <p:sp>
        <p:nvSpPr>
          <p:cNvPr id="35" name="flow-dot-549"/>
          <p:cNvSpPr/>
          <p:nvPr/>
        </p:nvSpPr>
        <p:spPr>
          <a:xfrm>
            <a:off x="548640" y="7863840"/>
            <a:ext cx="128016" cy="128016"/>
          </a:xfrm>
          <a:prstGeom prst="ellipse">
            <a:avLst/>
          </a:prstGeom>
          <a:solidFill>
            <a:schemeClr val="accent2"/>
          </a:solidFill>
          <a:ln w="12700">
            <a:solidFill>
              <a:schemeClr val="accent2"/>
            </a:solidFill>
            <a:prstDash val="solid"/>
          </a:ln>
        </p:spPr>
      </p:sp>
      <p:sp>
        <p:nvSpPr>
          <p:cNvPr id="36" name="text-550"/>
          <p:cNvSpPr txBox="1"/>
          <p:nvPr/>
        </p:nvSpPr>
        <p:spPr>
          <a:xfrm>
            <a:off x="777240"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Heat</a:t>
            </a:r>
            <a:endParaRPr lang="en-US" sz="1000" dirty="0"/>
          </a:p>
        </p:txBody>
      </p:sp>
      <p:sp>
        <p:nvSpPr>
          <p:cNvPr id="37" name="text-551"/>
          <p:cNvSpPr txBox="1"/>
          <p:nvPr/>
        </p:nvSpPr>
        <p:spPr>
          <a:xfrm>
            <a:off x="777240"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Spare heat from the fusion station melts the snow at the food plant, so the snow does the job of a cooling tower.</a:t>
            </a:r>
            <a:endParaRPr lang="en-US" sz="900" dirty="0"/>
          </a:p>
        </p:txBody>
      </p:sp>
      <p:sp>
        <p:nvSpPr>
          <p:cNvPr id="38" name="flow-dot-552"/>
          <p:cNvSpPr/>
          <p:nvPr/>
        </p:nvSpPr>
        <p:spPr>
          <a:xfrm>
            <a:off x="3918204" y="7863840"/>
            <a:ext cx="128016" cy="128016"/>
          </a:xfrm>
          <a:prstGeom prst="ellipse">
            <a:avLst/>
          </a:prstGeom>
          <a:solidFill>
            <a:schemeClr val="accent6"/>
          </a:solidFill>
          <a:ln w="12700">
            <a:solidFill>
              <a:schemeClr val="accent6"/>
            </a:solidFill>
            <a:prstDash val="solid"/>
          </a:ln>
        </p:spPr>
      </p:sp>
      <p:sp>
        <p:nvSpPr>
          <p:cNvPr id="39" name="text-553"/>
          <p:cNvSpPr txBox="1"/>
          <p:nvPr/>
        </p:nvSpPr>
        <p:spPr>
          <a:xfrm>
            <a:off x="4146804" y="781812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Water</a:t>
            </a:r>
            <a:endParaRPr lang="en-US" sz="1000" dirty="0"/>
          </a:p>
        </p:txBody>
      </p:sp>
      <p:sp>
        <p:nvSpPr>
          <p:cNvPr id="40" name="text-554"/>
          <p:cNvSpPr txBox="1"/>
          <p:nvPr/>
        </p:nvSpPr>
        <p:spPr>
          <a:xfrm>
            <a:off x="4146804" y="803757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food plant’s electrolysers leave slightly deuterium-rich water, which goes back to the fusion station as fuel.</a:t>
            </a:r>
            <a:endParaRPr lang="en-US" sz="900" dirty="0"/>
          </a:p>
        </p:txBody>
      </p:sp>
      <p:sp>
        <p:nvSpPr>
          <p:cNvPr id="41" name="flow-dot-555"/>
          <p:cNvSpPr/>
          <p:nvPr/>
        </p:nvSpPr>
        <p:spPr>
          <a:xfrm>
            <a:off x="548640" y="8595360"/>
            <a:ext cx="128016" cy="128016"/>
          </a:xfrm>
          <a:prstGeom prst="ellipse">
            <a:avLst/>
          </a:prstGeom>
          <a:solidFill>
            <a:schemeClr val="accent1"/>
          </a:solidFill>
          <a:ln w="12700">
            <a:solidFill>
              <a:schemeClr val="accent1"/>
            </a:solidFill>
            <a:prstDash val="solid"/>
          </a:ln>
        </p:spPr>
      </p:sp>
      <p:sp>
        <p:nvSpPr>
          <p:cNvPr id="42" name="text-556"/>
          <p:cNvSpPr txBox="1"/>
          <p:nvPr/>
        </p:nvSpPr>
        <p:spPr>
          <a:xfrm>
            <a:off x="777240"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Oxygen</a:t>
            </a:r>
            <a:endParaRPr lang="en-US" sz="1000" dirty="0"/>
          </a:p>
        </p:txBody>
      </p:sp>
      <p:sp>
        <p:nvSpPr>
          <p:cNvPr id="43" name="text-557"/>
          <p:cNvSpPr txBox="1"/>
          <p:nvPr/>
        </p:nvSpPr>
        <p:spPr>
          <a:xfrm>
            <a:off x="777240"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same electrolysers supply oxygen to the plasma waste converter and the hospital.</a:t>
            </a:r>
            <a:endParaRPr lang="en-US" sz="900" dirty="0"/>
          </a:p>
        </p:txBody>
      </p:sp>
      <p:sp>
        <p:nvSpPr>
          <p:cNvPr id="44" name="flow-dot-558"/>
          <p:cNvSpPr/>
          <p:nvPr/>
        </p:nvSpPr>
        <p:spPr>
          <a:xfrm>
            <a:off x="3918204" y="8595360"/>
            <a:ext cx="128016" cy="128016"/>
          </a:xfrm>
          <a:prstGeom prst="ellipse">
            <a:avLst/>
          </a:prstGeom>
          <a:solidFill>
            <a:schemeClr val="bg2"/>
          </a:solidFill>
          <a:ln w="12700">
            <a:solidFill>
              <a:schemeClr val="bg2"/>
            </a:solidFill>
            <a:prstDash val="solid"/>
          </a:ln>
        </p:spPr>
      </p:sp>
      <p:sp>
        <p:nvSpPr>
          <p:cNvPr id="45" name="text-559"/>
          <p:cNvSpPr txBox="1"/>
          <p:nvPr/>
        </p:nvSpPr>
        <p:spPr>
          <a:xfrm>
            <a:off x="4146804" y="854964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Waste</a:t>
            </a:r>
            <a:endParaRPr lang="en-US" sz="1000" dirty="0"/>
          </a:p>
        </p:txBody>
      </p:sp>
      <p:sp>
        <p:nvSpPr>
          <p:cNvPr id="46" name="text-560"/>
          <p:cNvSpPr txBox="1"/>
          <p:nvPr/>
        </p:nvSpPr>
        <p:spPr>
          <a:xfrm>
            <a:off x="4146804" y="876909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converter turns rubbish into hydrogen and CO₂ for the food lines, and its slag becomes paving.</a:t>
            </a:r>
            <a:endParaRPr lang="en-US" sz="900" dirty="0"/>
          </a:p>
        </p:txBody>
      </p:sp>
      <p:sp>
        <p:nvSpPr>
          <p:cNvPr id="47" name="flow-dot-561"/>
          <p:cNvSpPr/>
          <p:nvPr/>
        </p:nvSpPr>
        <p:spPr>
          <a:xfrm>
            <a:off x="548640" y="9326880"/>
            <a:ext cx="128016" cy="128016"/>
          </a:xfrm>
          <a:prstGeom prst="ellipse">
            <a:avLst/>
          </a:prstGeom>
          <a:solidFill>
            <a:schemeClr val="accent5"/>
          </a:solidFill>
          <a:ln w="12700">
            <a:solidFill>
              <a:schemeClr val="accent5"/>
            </a:solidFill>
            <a:prstDash val="solid"/>
          </a:ln>
        </p:spPr>
      </p:sp>
      <p:sp>
        <p:nvSpPr>
          <p:cNvPr id="48" name="text-562"/>
          <p:cNvSpPr txBox="1"/>
          <p:nvPr/>
        </p:nvSpPr>
        <p:spPr>
          <a:xfrm>
            <a:off x="777240" y="9281160"/>
            <a:ext cx="2866644" cy="201168"/>
          </a:xfrm>
          <a:prstGeom prst="rect">
            <a:avLst/>
          </a:prstGeom>
          <a:noFill/>
          <a:ln/>
        </p:spPr>
        <p:txBody>
          <a:bodyPr wrap="square" lIns="0" tIns="0" rIns="0" bIns="0" rtlCol="0" anchor="t"/>
          <a:lstStyle/>
          <a:p>
            <a:pPr indent="0" marL="0">
              <a:buNone/>
            </a:pPr>
            <a:r>
              <a:rPr lang="en-US" sz="1000" b="1" dirty="0">
                <a:solidFill>
                  <a:schemeClr val="bg1"/>
                </a:solidFill>
              </a:rPr>
              <a:t>Wellbeing</a:t>
            </a:r>
            <a:endParaRPr lang="en-US" sz="1000" dirty="0"/>
          </a:p>
        </p:txBody>
      </p:sp>
      <p:sp>
        <p:nvSpPr>
          <p:cNvPr id="49" name="text-563"/>
          <p:cNvSpPr txBox="1"/>
          <p:nvPr/>
        </p:nvSpPr>
        <p:spPr>
          <a:xfrm>
            <a:off x="777240" y="9500616"/>
            <a:ext cx="2866644" cy="54864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The spa turns geothermal heat into rest and health, and its restaurants serve food from the plant.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l"/>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kicker-dot-564"/>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56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CLEAN ENERGY, DAY AND POLAR NIGHT</a:t>
            </a:r>
            <a:endParaRPr lang="en-US" sz="900" dirty="0"/>
          </a:p>
        </p:txBody>
      </p:sp>
      <p:sp>
        <p:nvSpPr>
          <p:cNvPr id="4" name="title-56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Energy for the Polar Night</a:t>
            </a:r>
            <a:endParaRPr lang="en-US" sz="3400" dirty="0"/>
          </a:p>
        </p:txBody>
      </p:sp>
      <p:pic>
        <p:nvPicPr>
          <p:cNvPr id="5" name="picture-568" descr="/home/user/chatbox-bi-n-o/magazine/assets/renders/renewable.jpg">    </p:cNvPr>
          <p:cNvPicPr>
            <a:picLocks noChangeAspect="1"/>
          </p:cNvPicPr>
          <p:nvPr/>
        </p:nvPicPr>
        <p:blipFill>
          <a:blip r:embed="rId1"/>
          <a:srcRect l="0" r="0" t="0" b="0"/>
          <a:stretch/>
        </p:blipFill>
        <p:spPr>
          <a:xfrm>
            <a:off x="0" y="1508760"/>
            <a:ext cx="7562088" cy="3429000"/>
          </a:xfrm>
          <a:prstGeom prst="rect">
            <a:avLst/>
          </a:prstGeom>
        </p:spPr>
      </p:pic>
      <p:sp>
        <p:nvSpPr>
          <p:cNvPr id="6" name="text-569"/>
          <p:cNvSpPr txBox="1"/>
          <p:nvPr/>
        </p:nvSpPr>
        <p:spPr>
          <a:xfrm>
            <a:off x="548640" y="4983480"/>
            <a:ext cx="6464808" cy="228600"/>
          </a:xfrm>
          <a:prstGeom prst="rect">
            <a:avLst/>
          </a:prstGeom>
          <a:noFill/>
          <a:ln/>
        </p:spPr>
        <p:txBody>
          <a:bodyPr wrap="square" lIns="0" tIns="0" rIns="0" bIns="0" rtlCol="0" anchor="t"/>
          <a:lstStyle/>
          <a:p>
            <a:pPr indent="0" marL="0">
              <a:buNone/>
            </a:pPr>
            <a:r>
              <a:rPr lang="en-US" sz="850" i="1" dirty="0">
                <a:solidFill>
                  <a:schemeClr val="tx2"/>
                </a:solidFill>
              </a:rPr>
              <a:t>Northern Renewable Park in the low sun: the Ice-Proof Wind Farm behind the Bifacial Solar Farm.</a:t>
            </a:r>
            <a:endParaRPr lang="en-US" sz="850" dirty="0"/>
          </a:p>
        </p:txBody>
      </p:sp>
      <p:sp>
        <p:nvSpPr>
          <p:cNvPr id="7" name="text-570"/>
          <p:cNvSpPr txBox="1"/>
          <p:nvPr/>
        </p:nvSpPr>
        <p:spPr>
          <a:xfrm>
            <a:off x="548640" y="5303520"/>
            <a:ext cx="6464808" cy="36576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The sun disappears for two months, so the city uses sources that cover for each other.</a:t>
            </a:r>
            <a:endParaRPr lang="en-US" sz="1400" dirty="0"/>
          </a:p>
        </p:txBody>
      </p:sp>
      <p:sp>
        <p:nvSpPr>
          <p:cNvPr id="8" name="card-571"/>
          <p:cNvSpPr/>
          <p:nvPr/>
        </p:nvSpPr>
        <p:spPr>
          <a:xfrm>
            <a:off x="548640" y="5852160"/>
            <a:ext cx="3140964" cy="1261872"/>
          </a:xfrm>
          <a:prstGeom prst="roundRect">
            <a:avLst>
              <a:gd name="adj" fmla="val 5797"/>
            </a:avLst>
          </a:prstGeom>
          <a:solidFill>
            <a:schemeClr val="bg2"/>
          </a:solidFill>
          <a:ln w="12700">
            <a:solidFill>
              <a:schemeClr val="bg2"/>
            </a:solidFill>
            <a:prstDash val="solid"/>
          </a:ln>
        </p:spPr>
      </p:sp>
      <p:sp>
        <p:nvSpPr>
          <p:cNvPr id="9" name="text-572"/>
          <p:cNvSpPr txBox="1"/>
          <p:nvPr/>
        </p:nvSpPr>
        <p:spPr>
          <a:xfrm>
            <a:off x="685800" y="5961888"/>
            <a:ext cx="1234440" cy="457200"/>
          </a:xfrm>
          <a:prstGeom prst="rect">
            <a:avLst/>
          </a:prstGeom>
          <a:noFill/>
          <a:ln/>
        </p:spPr>
        <p:txBody>
          <a:bodyPr wrap="square" lIns="0" tIns="0" rIns="0" bIns="0" rtlCol="0" anchor="ctr"/>
          <a:lstStyle/>
          <a:p>
            <a:pPr indent="0" marL="0">
              <a:buNone/>
            </a:pPr>
            <a:r>
              <a:rPr lang="en-US" sz="2100" b="1" dirty="0">
                <a:solidFill>
                  <a:schemeClr val="accent3"/>
                </a:solidFill>
                <a:latin typeface="+mj-lt" pitchFamily="34" charset="0"/>
                <a:ea typeface="+mj-lt" pitchFamily="34" charset="-122"/>
                <a:cs typeface="+mj-lt" pitchFamily="34" charset="-120"/>
              </a:rPr>
              <a:t>Steady</a:t>
            </a:r>
            <a:endParaRPr lang="en-US" sz="2100" dirty="0"/>
          </a:p>
        </p:txBody>
      </p:sp>
      <p:sp>
        <p:nvSpPr>
          <p:cNvPr id="10" name="text-573"/>
          <p:cNvSpPr txBox="1"/>
          <p:nvPr/>
        </p:nvSpPr>
        <p:spPr>
          <a:xfrm>
            <a:off x="1965960"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Fusion</a:t>
            </a:r>
            <a:endParaRPr lang="en-US" sz="1050" dirty="0"/>
          </a:p>
        </p:txBody>
      </p:sp>
      <p:sp>
        <p:nvSpPr>
          <p:cNvPr id="11" name="text-574"/>
          <p:cNvSpPr txBox="1"/>
          <p:nvPr/>
        </p:nvSpPr>
        <p:spPr>
          <a:xfrm>
            <a:off x="1965960"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Steady power and heat all year, even in total darkness.</a:t>
            </a:r>
            <a:endParaRPr lang="en-US" sz="950" dirty="0"/>
          </a:p>
        </p:txBody>
      </p:sp>
      <p:sp>
        <p:nvSpPr>
          <p:cNvPr id="12" name="card-575"/>
          <p:cNvSpPr/>
          <p:nvPr/>
        </p:nvSpPr>
        <p:spPr>
          <a:xfrm>
            <a:off x="3872484" y="5852160"/>
            <a:ext cx="3140964" cy="1261872"/>
          </a:xfrm>
          <a:prstGeom prst="roundRect">
            <a:avLst>
              <a:gd name="adj" fmla="val 5797"/>
            </a:avLst>
          </a:prstGeom>
          <a:solidFill>
            <a:schemeClr val="bg2"/>
          </a:solidFill>
          <a:ln w="12700">
            <a:solidFill>
              <a:schemeClr val="bg2"/>
            </a:solidFill>
            <a:prstDash val="solid"/>
          </a:ln>
        </p:spPr>
      </p:sp>
      <p:sp>
        <p:nvSpPr>
          <p:cNvPr id="13" name="text-576"/>
          <p:cNvSpPr txBox="1"/>
          <p:nvPr/>
        </p:nvSpPr>
        <p:spPr>
          <a:xfrm>
            <a:off x="4009644" y="5961888"/>
            <a:ext cx="1234440" cy="457200"/>
          </a:xfrm>
          <a:prstGeom prst="rect">
            <a:avLst/>
          </a:prstGeom>
          <a:noFill/>
          <a:ln/>
        </p:spPr>
        <p:txBody>
          <a:bodyPr wrap="square" lIns="0" tIns="0" rIns="0" bIns="0" rtlCol="0" anchor="ctr"/>
          <a:lstStyle/>
          <a:p>
            <a:pPr indent="0" marL="0">
              <a:buNone/>
            </a:pPr>
            <a:r>
              <a:rPr lang="en-US" sz="2100" b="1" dirty="0">
                <a:solidFill>
                  <a:schemeClr val="accent6"/>
                </a:solidFill>
                <a:latin typeface="+mj-lt" pitchFamily="34" charset="0"/>
                <a:ea typeface="+mj-lt" pitchFamily="34" charset="-122"/>
                <a:cs typeface="+mj-lt" pitchFamily="34" charset="-120"/>
              </a:rPr>
              <a:t>60 MW</a:t>
            </a:r>
            <a:endParaRPr lang="en-US" sz="2100" dirty="0"/>
          </a:p>
        </p:txBody>
      </p:sp>
      <p:sp>
        <p:nvSpPr>
          <p:cNvPr id="14" name="text-577"/>
          <p:cNvSpPr txBox="1"/>
          <p:nvPr/>
        </p:nvSpPr>
        <p:spPr>
          <a:xfrm>
            <a:off x="5289804" y="59801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Ice-proof wind farm</a:t>
            </a:r>
            <a:endParaRPr lang="en-US" sz="1050" dirty="0"/>
          </a:p>
        </p:txBody>
      </p:sp>
      <p:sp>
        <p:nvSpPr>
          <p:cNvPr id="15" name="text-578"/>
          <p:cNvSpPr txBox="1"/>
          <p:nvPr/>
        </p:nvSpPr>
        <p:spPr>
          <a:xfrm>
            <a:off x="5289804" y="62179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Heated blades keep turning in freezing fog; most power comes in stormy winter.</a:t>
            </a:r>
            <a:endParaRPr lang="en-US" sz="950" dirty="0"/>
          </a:p>
        </p:txBody>
      </p:sp>
      <p:sp>
        <p:nvSpPr>
          <p:cNvPr id="16" name="card-579"/>
          <p:cNvSpPr/>
          <p:nvPr/>
        </p:nvSpPr>
        <p:spPr>
          <a:xfrm>
            <a:off x="548640" y="7223760"/>
            <a:ext cx="3140964" cy="1261872"/>
          </a:xfrm>
          <a:prstGeom prst="roundRect">
            <a:avLst>
              <a:gd name="adj" fmla="val 5797"/>
            </a:avLst>
          </a:prstGeom>
          <a:solidFill>
            <a:schemeClr val="bg2"/>
          </a:solidFill>
          <a:ln w="12700">
            <a:solidFill>
              <a:schemeClr val="bg2"/>
            </a:solidFill>
            <a:prstDash val="solid"/>
          </a:ln>
        </p:spPr>
      </p:sp>
      <p:sp>
        <p:nvSpPr>
          <p:cNvPr id="17" name="text-580"/>
          <p:cNvSpPr txBox="1"/>
          <p:nvPr/>
        </p:nvSpPr>
        <p:spPr>
          <a:xfrm>
            <a:off x="685800" y="7333488"/>
            <a:ext cx="1234440" cy="457200"/>
          </a:xfrm>
          <a:prstGeom prst="rect">
            <a:avLst/>
          </a:prstGeom>
          <a:noFill/>
          <a:ln/>
        </p:spPr>
        <p:txBody>
          <a:bodyPr wrap="square" lIns="0" tIns="0" rIns="0" bIns="0" rtlCol="0" anchor="ctr"/>
          <a:lstStyle/>
          <a:p>
            <a:pPr indent="0" marL="0">
              <a:buNone/>
            </a:pPr>
            <a:r>
              <a:rPr lang="en-US" sz="2100" b="1" dirty="0">
                <a:solidFill>
                  <a:schemeClr val="accent2"/>
                </a:solidFill>
                <a:latin typeface="+mj-lt" pitchFamily="34" charset="0"/>
                <a:ea typeface="+mj-lt" pitchFamily="34" charset="-122"/>
                <a:cs typeface="+mj-lt" pitchFamily="34" charset="-120"/>
              </a:rPr>
              <a:t>+25%</a:t>
            </a:r>
            <a:endParaRPr lang="en-US" sz="2100" dirty="0"/>
          </a:p>
        </p:txBody>
      </p:sp>
      <p:sp>
        <p:nvSpPr>
          <p:cNvPr id="18" name="text-581"/>
          <p:cNvSpPr txBox="1"/>
          <p:nvPr/>
        </p:nvSpPr>
        <p:spPr>
          <a:xfrm>
            <a:off x="1965960"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Bifacial solar farm</a:t>
            </a:r>
            <a:endParaRPr lang="en-US" sz="1050" dirty="0"/>
          </a:p>
        </p:txBody>
      </p:sp>
      <p:sp>
        <p:nvSpPr>
          <p:cNvPr id="19" name="text-582"/>
          <p:cNvSpPr txBox="1"/>
          <p:nvPr/>
        </p:nvSpPr>
        <p:spPr>
          <a:xfrm>
            <a:off x="1965960"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Snow reflects light onto the panel backs. We plan for +25%; tests in snowy Canada measured about +19% [17].</a:t>
            </a:r>
            <a:endParaRPr lang="en-US" sz="950" dirty="0"/>
          </a:p>
        </p:txBody>
      </p:sp>
      <p:sp>
        <p:nvSpPr>
          <p:cNvPr id="20" name="card-583"/>
          <p:cNvSpPr/>
          <p:nvPr/>
        </p:nvSpPr>
        <p:spPr>
          <a:xfrm>
            <a:off x="3872484" y="7223760"/>
            <a:ext cx="3140964" cy="1261872"/>
          </a:xfrm>
          <a:prstGeom prst="roundRect">
            <a:avLst>
              <a:gd name="adj" fmla="val 5797"/>
            </a:avLst>
          </a:prstGeom>
          <a:solidFill>
            <a:schemeClr val="bg2"/>
          </a:solidFill>
          <a:ln w="12700">
            <a:solidFill>
              <a:schemeClr val="bg2"/>
            </a:solidFill>
            <a:prstDash val="solid"/>
          </a:ln>
        </p:spPr>
      </p:sp>
      <p:sp>
        <p:nvSpPr>
          <p:cNvPr id="21" name="text-584"/>
          <p:cNvSpPr txBox="1"/>
          <p:nvPr/>
        </p:nvSpPr>
        <p:spPr>
          <a:xfrm>
            <a:off x="4009644" y="7333488"/>
            <a:ext cx="1234440" cy="457200"/>
          </a:xfrm>
          <a:prstGeom prst="rect">
            <a:avLst/>
          </a:prstGeom>
          <a:noFill/>
          <a:ln/>
        </p:spPr>
        <p:txBody>
          <a:bodyPr wrap="square" lIns="0" tIns="0" rIns="0" bIns="0" rtlCol="0" anchor="ctr"/>
          <a:lstStyle/>
          <a:p>
            <a:pPr indent="0" marL="0">
              <a:buNone/>
            </a:pPr>
            <a:r>
              <a:rPr lang="en-US" sz="2100" b="1" dirty="0">
                <a:solidFill>
                  <a:schemeClr val="accent5"/>
                </a:solidFill>
                <a:latin typeface="+mj-lt" pitchFamily="34" charset="0"/>
                <a:ea typeface="+mj-lt" pitchFamily="34" charset="-122"/>
                <a:cs typeface="+mj-lt" pitchFamily="34" charset="-120"/>
              </a:rPr>
              <a:t>24/7</a:t>
            </a:r>
            <a:endParaRPr lang="en-US" sz="2100" dirty="0"/>
          </a:p>
        </p:txBody>
      </p:sp>
      <p:sp>
        <p:nvSpPr>
          <p:cNvPr id="22" name="text-585"/>
          <p:cNvSpPr txBox="1"/>
          <p:nvPr/>
        </p:nvSpPr>
        <p:spPr>
          <a:xfrm>
            <a:off x="5289804" y="73517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Geothermal plant</a:t>
            </a:r>
            <a:endParaRPr lang="en-US" sz="1050" dirty="0"/>
          </a:p>
        </p:txBody>
      </p:sp>
      <p:sp>
        <p:nvSpPr>
          <p:cNvPr id="23" name="text-586"/>
          <p:cNvSpPr txBox="1"/>
          <p:nvPr/>
        </p:nvSpPr>
        <p:spPr>
          <a:xfrm>
            <a:off x="5289804" y="75895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Clean electricity and hot water around the clock, and the second heat source.</a:t>
            </a:r>
            <a:endParaRPr lang="en-US" sz="950" dirty="0"/>
          </a:p>
        </p:txBody>
      </p:sp>
      <p:sp>
        <p:nvSpPr>
          <p:cNvPr id="24" name="card-587"/>
          <p:cNvSpPr/>
          <p:nvPr/>
        </p:nvSpPr>
        <p:spPr>
          <a:xfrm>
            <a:off x="548640" y="8595360"/>
            <a:ext cx="3140964" cy="1261872"/>
          </a:xfrm>
          <a:prstGeom prst="roundRect">
            <a:avLst>
              <a:gd name="adj" fmla="val 5797"/>
            </a:avLst>
          </a:prstGeom>
          <a:solidFill>
            <a:schemeClr val="bg2"/>
          </a:solidFill>
          <a:ln w="12700">
            <a:solidFill>
              <a:schemeClr val="bg2"/>
            </a:solidFill>
            <a:prstDash val="solid"/>
          </a:ln>
        </p:spPr>
      </p:sp>
      <p:sp>
        <p:nvSpPr>
          <p:cNvPr id="25" name="text-588"/>
          <p:cNvSpPr txBox="1"/>
          <p:nvPr/>
        </p:nvSpPr>
        <p:spPr>
          <a:xfrm>
            <a:off x="685800" y="8705088"/>
            <a:ext cx="1234440" cy="457200"/>
          </a:xfrm>
          <a:prstGeom prst="rect">
            <a:avLst/>
          </a:prstGeom>
          <a:noFill/>
          <a:ln/>
        </p:spPr>
        <p:txBody>
          <a:bodyPr wrap="square" lIns="0" tIns="0" rIns="0" bIns="0" rtlCol="0" anchor="ctr"/>
          <a:lstStyle/>
          <a:p>
            <a:pPr indent="0" marL="0">
              <a:buNone/>
            </a:pPr>
            <a:r>
              <a:rPr lang="en-US" sz="2100" b="1" dirty="0">
                <a:solidFill>
                  <a:schemeClr val="accent4"/>
                </a:solidFill>
                <a:latin typeface="+mj-lt" pitchFamily="34" charset="0"/>
                <a:ea typeface="+mj-lt" pitchFamily="34" charset="-122"/>
                <a:cs typeface="+mj-lt" pitchFamily="34" charset="-120"/>
              </a:rPr>
              <a:t>200 MWh</a:t>
            </a:r>
            <a:endParaRPr lang="en-US" sz="2100" dirty="0"/>
          </a:p>
        </p:txBody>
      </p:sp>
      <p:sp>
        <p:nvSpPr>
          <p:cNvPr id="26" name="text-589"/>
          <p:cNvSpPr txBox="1"/>
          <p:nvPr/>
        </p:nvSpPr>
        <p:spPr>
          <a:xfrm>
            <a:off x="1965960"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Battery bank</a:t>
            </a:r>
            <a:endParaRPr lang="en-US" sz="1050" dirty="0"/>
          </a:p>
        </p:txBody>
      </p:sp>
      <p:sp>
        <p:nvSpPr>
          <p:cNvPr id="27" name="text-590"/>
          <p:cNvSpPr txBox="1"/>
          <p:nvPr/>
        </p:nvSpPr>
        <p:spPr>
          <a:xfrm>
            <a:off x="1965960"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Recycled car batteries store spare wind and solar power for calm, dark days.</a:t>
            </a:r>
            <a:endParaRPr lang="en-US" sz="950" dirty="0"/>
          </a:p>
        </p:txBody>
      </p:sp>
      <p:sp>
        <p:nvSpPr>
          <p:cNvPr id="28" name="card-591"/>
          <p:cNvSpPr/>
          <p:nvPr/>
        </p:nvSpPr>
        <p:spPr>
          <a:xfrm>
            <a:off x="3872484" y="8595360"/>
            <a:ext cx="3140964" cy="1261872"/>
          </a:xfrm>
          <a:prstGeom prst="roundRect">
            <a:avLst>
              <a:gd name="adj" fmla="val 5797"/>
            </a:avLst>
          </a:prstGeom>
          <a:solidFill>
            <a:schemeClr val="bg2"/>
          </a:solidFill>
          <a:ln w="12700">
            <a:solidFill>
              <a:schemeClr val="bg2"/>
            </a:solidFill>
            <a:prstDash val="solid"/>
          </a:ln>
        </p:spPr>
      </p:sp>
      <p:sp>
        <p:nvSpPr>
          <p:cNvPr id="29" name="text-592"/>
          <p:cNvSpPr txBox="1"/>
          <p:nvPr/>
        </p:nvSpPr>
        <p:spPr>
          <a:xfrm>
            <a:off x="4009644" y="8705088"/>
            <a:ext cx="1234440" cy="457200"/>
          </a:xfrm>
          <a:prstGeom prst="rect">
            <a:avLst/>
          </a:prstGeom>
          <a:noFill/>
          <a:ln/>
        </p:spPr>
        <p:txBody>
          <a:bodyPr wrap="square" lIns="0" tIns="0" rIns="0" bIns="0" rtlCol="0" anchor="ctr"/>
          <a:lstStyle/>
          <a:p>
            <a:pPr indent="0" marL="0">
              <a:buNone/>
            </a:pPr>
            <a:r>
              <a:rPr lang="en-US" sz="2100" b="1" dirty="0">
                <a:solidFill>
                  <a:schemeClr val="accent1"/>
                </a:solidFill>
                <a:latin typeface="+mj-lt" pitchFamily="34" charset="0"/>
                <a:ea typeface="+mj-lt" pitchFamily="34" charset="-122"/>
                <a:cs typeface="+mj-lt" pitchFamily="34" charset="-120"/>
              </a:rPr>
              <a:t>12 h</a:t>
            </a:r>
            <a:endParaRPr lang="en-US" sz="2100" dirty="0"/>
          </a:p>
        </p:txBody>
      </p:sp>
      <p:sp>
        <p:nvSpPr>
          <p:cNvPr id="30" name="text-593"/>
          <p:cNvSpPr txBox="1"/>
          <p:nvPr/>
        </p:nvSpPr>
        <p:spPr>
          <a:xfrm>
            <a:off x="5289804" y="8723376"/>
            <a:ext cx="1586484" cy="219456"/>
          </a:xfrm>
          <a:prstGeom prst="rect">
            <a:avLst/>
          </a:prstGeom>
          <a:noFill/>
          <a:ln/>
        </p:spPr>
        <p:txBody>
          <a:bodyPr wrap="square" lIns="0" tIns="0" rIns="0" bIns="0" rtlCol="0" anchor="t"/>
          <a:lstStyle/>
          <a:p>
            <a:pPr indent="0" marL="0">
              <a:buNone/>
            </a:pPr>
            <a:r>
              <a:rPr lang="en-US" sz="1050" b="1" dirty="0">
                <a:solidFill>
                  <a:schemeClr val="tx1"/>
                </a:solidFill>
              </a:rPr>
              <a:t>Heat storage tank</a:t>
            </a:r>
            <a:endParaRPr lang="en-US" sz="1050" dirty="0"/>
          </a:p>
        </p:txBody>
      </p:sp>
      <p:sp>
        <p:nvSpPr>
          <p:cNvPr id="31" name="text-594"/>
          <p:cNvSpPr txBox="1"/>
          <p:nvPr/>
        </p:nvSpPr>
        <p:spPr>
          <a:xfrm>
            <a:off x="5289804" y="8961120"/>
            <a:ext cx="1586484" cy="822960"/>
          </a:xfrm>
          <a:prstGeom prst="rect">
            <a:avLst/>
          </a:prstGeom>
          <a:noFill/>
          <a:ln/>
        </p:spPr>
        <p:txBody>
          <a:bodyPr wrap="square" lIns="0" tIns="0" rIns="0" bIns="0" rtlCol="0" anchor="t"/>
          <a:lstStyle/>
          <a:p>
            <a:pPr indent="0" marL="0">
              <a:lnSpc>
                <a:spcPct val="105000"/>
              </a:lnSpc>
              <a:buNone/>
            </a:pPr>
            <a:r>
              <a:rPr lang="en-US" sz="950" dirty="0">
                <a:solidFill>
                  <a:schemeClr val="tx2"/>
                </a:solidFill>
              </a:rPr>
              <a:t>Keeps homes warm if a heat source stops, losing less than 1% of its heat a day.</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kicker-dot-595"/>
          <p:cNvSpPr/>
          <p:nvPr/>
        </p:nvSpPr>
        <p:spPr>
          <a:xfrm>
            <a:off x="548640" y="544068"/>
            <a:ext cx="100584" cy="100584"/>
          </a:xfrm>
          <a:prstGeom prst="ellipse">
            <a:avLst/>
          </a:prstGeom>
          <a:solidFill>
            <a:schemeClr val="accent4"/>
          </a:solidFill>
          <a:ln w="12700">
            <a:solidFill>
              <a:schemeClr val="accent4"/>
            </a:solidFill>
            <a:prstDash val="solid"/>
          </a:ln>
        </p:spPr>
      </p:sp>
      <p:sp>
        <p:nvSpPr>
          <p:cNvPr id="3" name="text-59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WATER AND WASTE</a:t>
            </a:r>
            <a:endParaRPr lang="en-US" sz="900" dirty="0"/>
          </a:p>
        </p:txBody>
      </p:sp>
      <p:sp>
        <p:nvSpPr>
          <p:cNvPr id="4" name="title-59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Nothing Is Wasted</a:t>
            </a:r>
            <a:endParaRPr lang="en-US" sz="3400" dirty="0"/>
          </a:p>
        </p:txBody>
      </p:sp>
      <p:pic>
        <p:nvPicPr>
          <p:cNvPr id="5" name="picture-599" descr="/home/user/chatbox-bi-n-o/magazine/assets/renders/water.jpg">    </p:cNvPr>
          <p:cNvPicPr>
            <a:picLocks noChangeAspect="1"/>
          </p:cNvPicPr>
          <p:nvPr/>
        </p:nvPicPr>
        <p:blipFill>
          <a:blip r:embed="rId1"/>
          <a:srcRect l="0" r="0" t="0" b="0"/>
          <a:stretch/>
        </p:blipFill>
        <p:spPr>
          <a:xfrm>
            <a:off x="0" y="1508760"/>
            <a:ext cx="7562088" cy="3657600"/>
          </a:xfrm>
          <a:prstGeom prst="rect">
            <a:avLst/>
          </a:prstGeom>
        </p:spPr>
      </p:pic>
      <p:sp>
        <p:nvSpPr>
          <p:cNvPr id="6" name="text-600"/>
          <p:cNvSpPr txBox="1"/>
          <p:nvPr/>
        </p:nvSpPr>
        <p:spPr>
          <a:xfrm>
            <a:off x="548640" y="521208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six-stage Water Recycling Line in the Northern Renewable Park, with the wind farm behind.</a:t>
            </a:r>
            <a:endParaRPr lang="en-US" sz="850" dirty="0"/>
          </a:p>
        </p:txBody>
      </p:sp>
      <p:sp>
        <p:nvSpPr>
          <p:cNvPr id="7" name="text-601"/>
          <p:cNvSpPr txBox="1"/>
          <p:nvPr/>
        </p:nvSpPr>
        <p:spPr>
          <a:xfrm>
            <a:off x="548640" y="5623560"/>
            <a:ext cx="6464808" cy="201168"/>
          </a:xfrm>
          <a:prstGeom prst="rect">
            <a:avLst/>
          </a:prstGeom>
          <a:noFill/>
          <a:ln/>
        </p:spPr>
        <p:txBody>
          <a:bodyPr wrap="square" lIns="0" tIns="0" rIns="0" bIns="0" rtlCol="0" anchor="t"/>
          <a:lstStyle/>
          <a:p>
            <a:pPr indent="0" marL="0">
              <a:buNone/>
            </a:pPr>
            <a:r>
              <a:rPr lang="en-US" sz="900" b="1" spc="300" kern="0" dirty="0">
                <a:solidFill>
                  <a:schemeClr val="accent4"/>
                </a:solidFill>
              </a:rPr>
              <a:t>THE SIX-STAGE WATER RECYCLING LINE</a:t>
            </a:r>
            <a:endParaRPr lang="en-US" sz="900" dirty="0"/>
          </a:p>
        </p:txBody>
      </p:sp>
      <p:sp>
        <p:nvSpPr>
          <p:cNvPr id="8" name="arrow-602"/>
          <p:cNvSpPr/>
          <p:nvPr/>
        </p:nvSpPr>
        <p:spPr>
          <a:xfrm>
            <a:off x="1315974" y="6153912"/>
            <a:ext cx="620268" cy="914"/>
          </a:xfrm>
          <a:prstGeom prst="line">
            <a:avLst/>
          </a:prstGeom>
          <a:noFill/>
          <a:ln w="22225">
            <a:solidFill>
              <a:schemeClr val="accent4"/>
            </a:solidFill>
            <a:prstDash val="solid"/>
            <a:tailEnd type="triangle"/>
          </a:ln>
        </p:spPr>
      </p:sp>
      <p:sp>
        <p:nvSpPr>
          <p:cNvPr id="9" name="marker-603"/>
          <p:cNvSpPr/>
          <p:nvPr/>
        </p:nvSpPr>
        <p:spPr>
          <a:xfrm>
            <a:off x="886206" y="5952744"/>
            <a:ext cx="402336" cy="402336"/>
          </a:xfrm>
          <a:prstGeom prst="ellipse">
            <a:avLst/>
          </a:prstGeom>
          <a:solidFill>
            <a:schemeClr val="accent4"/>
          </a:solidFill>
          <a:ln w="12700">
            <a:solidFill>
              <a:schemeClr val="accent4"/>
            </a:solidFill>
            <a:prstDash val="solid"/>
          </a:ln>
        </p:spPr>
      </p:sp>
      <p:sp>
        <p:nvSpPr>
          <p:cNvPr id="10" name="text-604"/>
          <p:cNvSpPr txBox="1"/>
          <p:nvPr/>
        </p:nvSpPr>
        <p:spPr>
          <a:xfrm>
            <a:off x="88620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11" name="text-605"/>
          <p:cNvSpPr txBox="1"/>
          <p:nvPr/>
        </p:nvSpPr>
        <p:spPr>
          <a:xfrm>
            <a:off x="57607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Snowmelt &amp; greywater intake</a:t>
            </a:r>
            <a:endParaRPr lang="en-US" sz="850" dirty="0"/>
          </a:p>
        </p:txBody>
      </p:sp>
      <p:sp>
        <p:nvSpPr>
          <p:cNvPr id="12" name="arrow-606"/>
          <p:cNvSpPr/>
          <p:nvPr/>
        </p:nvSpPr>
        <p:spPr>
          <a:xfrm>
            <a:off x="2393442" y="6153912"/>
            <a:ext cx="620268" cy="914"/>
          </a:xfrm>
          <a:prstGeom prst="line">
            <a:avLst/>
          </a:prstGeom>
          <a:noFill/>
          <a:ln w="22225">
            <a:solidFill>
              <a:schemeClr val="accent4"/>
            </a:solidFill>
            <a:prstDash val="solid"/>
            <a:tailEnd type="triangle"/>
          </a:ln>
        </p:spPr>
      </p:sp>
      <p:sp>
        <p:nvSpPr>
          <p:cNvPr id="13" name="marker-607"/>
          <p:cNvSpPr/>
          <p:nvPr/>
        </p:nvSpPr>
        <p:spPr>
          <a:xfrm>
            <a:off x="1963674" y="5952744"/>
            <a:ext cx="402336" cy="402336"/>
          </a:xfrm>
          <a:prstGeom prst="ellipse">
            <a:avLst/>
          </a:prstGeom>
          <a:solidFill>
            <a:schemeClr val="accent4"/>
          </a:solidFill>
          <a:ln w="12700">
            <a:solidFill>
              <a:schemeClr val="accent4"/>
            </a:solidFill>
            <a:prstDash val="solid"/>
          </a:ln>
        </p:spPr>
      </p:sp>
      <p:sp>
        <p:nvSpPr>
          <p:cNvPr id="14" name="text-608"/>
          <p:cNvSpPr txBox="1"/>
          <p:nvPr/>
        </p:nvSpPr>
        <p:spPr>
          <a:xfrm>
            <a:off x="1963674"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5" name="text-609"/>
          <p:cNvSpPr txBox="1"/>
          <p:nvPr/>
        </p:nvSpPr>
        <p:spPr>
          <a:xfrm>
            <a:off x="1653540"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Intake pumps &amp; bar screen</a:t>
            </a:r>
            <a:endParaRPr lang="en-US" sz="850" dirty="0"/>
          </a:p>
        </p:txBody>
      </p:sp>
      <p:sp>
        <p:nvSpPr>
          <p:cNvPr id="16" name="arrow-610"/>
          <p:cNvSpPr/>
          <p:nvPr/>
        </p:nvSpPr>
        <p:spPr>
          <a:xfrm>
            <a:off x="3470910" y="6153912"/>
            <a:ext cx="620268" cy="914"/>
          </a:xfrm>
          <a:prstGeom prst="line">
            <a:avLst/>
          </a:prstGeom>
          <a:noFill/>
          <a:ln w="22225">
            <a:solidFill>
              <a:schemeClr val="accent4"/>
            </a:solidFill>
            <a:prstDash val="solid"/>
            <a:tailEnd type="triangle"/>
          </a:ln>
        </p:spPr>
      </p:sp>
      <p:sp>
        <p:nvSpPr>
          <p:cNvPr id="17" name="marker-611"/>
          <p:cNvSpPr/>
          <p:nvPr/>
        </p:nvSpPr>
        <p:spPr>
          <a:xfrm>
            <a:off x="3041142" y="5952744"/>
            <a:ext cx="402336" cy="402336"/>
          </a:xfrm>
          <a:prstGeom prst="ellipse">
            <a:avLst/>
          </a:prstGeom>
          <a:solidFill>
            <a:schemeClr val="accent4"/>
          </a:solidFill>
          <a:ln w="12700">
            <a:solidFill>
              <a:schemeClr val="accent4"/>
            </a:solidFill>
            <a:prstDash val="solid"/>
          </a:ln>
        </p:spPr>
      </p:sp>
      <p:sp>
        <p:nvSpPr>
          <p:cNvPr id="18" name="text-612"/>
          <p:cNvSpPr txBox="1"/>
          <p:nvPr/>
        </p:nvSpPr>
        <p:spPr>
          <a:xfrm>
            <a:off x="3041142"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9" name="text-613"/>
          <p:cNvSpPr txBox="1"/>
          <p:nvPr/>
        </p:nvSpPr>
        <p:spPr>
          <a:xfrm>
            <a:off x="2731008"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Settling basins</a:t>
            </a:r>
            <a:endParaRPr lang="en-US" sz="850" dirty="0"/>
          </a:p>
        </p:txBody>
      </p:sp>
      <p:sp>
        <p:nvSpPr>
          <p:cNvPr id="20" name="arrow-614"/>
          <p:cNvSpPr/>
          <p:nvPr/>
        </p:nvSpPr>
        <p:spPr>
          <a:xfrm>
            <a:off x="4548378" y="6153912"/>
            <a:ext cx="620268" cy="914"/>
          </a:xfrm>
          <a:prstGeom prst="line">
            <a:avLst/>
          </a:prstGeom>
          <a:noFill/>
          <a:ln w="22225">
            <a:solidFill>
              <a:schemeClr val="accent4"/>
            </a:solidFill>
            <a:prstDash val="solid"/>
            <a:tailEnd type="triangle"/>
          </a:ln>
        </p:spPr>
      </p:sp>
      <p:sp>
        <p:nvSpPr>
          <p:cNvPr id="21" name="marker-615"/>
          <p:cNvSpPr/>
          <p:nvPr/>
        </p:nvSpPr>
        <p:spPr>
          <a:xfrm>
            <a:off x="4118610" y="5952744"/>
            <a:ext cx="402336" cy="402336"/>
          </a:xfrm>
          <a:prstGeom prst="ellipse">
            <a:avLst/>
          </a:prstGeom>
          <a:solidFill>
            <a:schemeClr val="accent4"/>
          </a:solidFill>
          <a:ln w="12700">
            <a:solidFill>
              <a:schemeClr val="accent4"/>
            </a:solidFill>
            <a:prstDash val="solid"/>
          </a:ln>
        </p:spPr>
      </p:sp>
      <p:sp>
        <p:nvSpPr>
          <p:cNvPr id="22" name="text-616"/>
          <p:cNvSpPr txBox="1"/>
          <p:nvPr/>
        </p:nvSpPr>
        <p:spPr>
          <a:xfrm>
            <a:off x="4118610"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23" name="text-617"/>
          <p:cNvSpPr txBox="1"/>
          <p:nvPr/>
        </p:nvSpPr>
        <p:spPr>
          <a:xfrm>
            <a:off x="3808476"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Sand &amp; membrane filters</a:t>
            </a:r>
            <a:endParaRPr lang="en-US" sz="850" dirty="0"/>
          </a:p>
        </p:txBody>
      </p:sp>
      <p:sp>
        <p:nvSpPr>
          <p:cNvPr id="24" name="arrow-618"/>
          <p:cNvSpPr/>
          <p:nvPr/>
        </p:nvSpPr>
        <p:spPr>
          <a:xfrm>
            <a:off x="5625846" y="6153912"/>
            <a:ext cx="620268" cy="914"/>
          </a:xfrm>
          <a:prstGeom prst="line">
            <a:avLst/>
          </a:prstGeom>
          <a:noFill/>
          <a:ln w="22225">
            <a:solidFill>
              <a:schemeClr val="accent4"/>
            </a:solidFill>
            <a:prstDash val="solid"/>
            <a:tailEnd type="triangle"/>
          </a:ln>
        </p:spPr>
      </p:sp>
      <p:sp>
        <p:nvSpPr>
          <p:cNvPr id="25" name="marker-619"/>
          <p:cNvSpPr/>
          <p:nvPr/>
        </p:nvSpPr>
        <p:spPr>
          <a:xfrm>
            <a:off x="5196078" y="5952744"/>
            <a:ext cx="402336" cy="402336"/>
          </a:xfrm>
          <a:prstGeom prst="ellipse">
            <a:avLst/>
          </a:prstGeom>
          <a:solidFill>
            <a:schemeClr val="accent4"/>
          </a:solidFill>
          <a:ln w="12700">
            <a:solidFill>
              <a:schemeClr val="accent4"/>
            </a:solidFill>
            <a:prstDash val="solid"/>
          </a:ln>
        </p:spPr>
      </p:sp>
      <p:sp>
        <p:nvSpPr>
          <p:cNvPr id="26" name="text-620"/>
          <p:cNvSpPr txBox="1"/>
          <p:nvPr/>
        </p:nvSpPr>
        <p:spPr>
          <a:xfrm>
            <a:off x="5196078"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7" name="text-621"/>
          <p:cNvSpPr txBox="1"/>
          <p:nvPr/>
        </p:nvSpPr>
        <p:spPr>
          <a:xfrm>
            <a:off x="4885944"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UV disinfection</a:t>
            </a:r>
            <a:endParaRPr lang="en-US" sz="850" dirty="0"/>
          </a:p>
        </p:txBody>
      </p:sp>
      <p:sp>
        <p:nvSpPr>
          <p:cNvPr id="28" name="marker-622"/>
          <p:cNvSpPr/>
          <p:nvPr/>
        </p:nvSpPr>
        <p:spPr>
          <a:xfrm>
            <a:off x="6273546" y="5952744"/>
            <a:ext cx="402336" cy="402336"/>
          </a:xfrm>
          <a:prstGeom prst="ellipse">
            <a:avLst/>
          </a:prstGeom>
          <a:solidFill>
            <a:schemeClr val="accent4"/>
          </a:solidFill>
          <a:ln w="12700">
            <a:solidFill>
              <a:schemeClr val="accent4"/>
            </a:solidFill>
            <a:prstDash val="solid"/>
          </a:ln>
        </p:spPr>
      </p:sp>
      <p:sp>
        <p:nvSpPr>
          <p:cNvPr id="29" name="text-623"/>
          <p:cNvSpPr txBox="1"/>
          <p:nvPr/>
        </p:nvSpPr>
        <p:spPr>
          <a:xfrm>
            <a:off x="6273546" y="59527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30" name="text-624"/>
          <p:cNvSpPr txBox="1"/>
          <p:nvPr/>
        </p:nvSpPr>
        <p:spPr>
          <a:xfrm>
            <a:off x="5963412" y="6446520"/>
            <a:ext cx="1022604" cy="411480"/>
          </a:xfrm>
          <a:prstGeom prst="rect">
            <a:avLst/>
          </a:prstGeom>
          <a:noFill/>
          <a:ln/>
        </p:spPr>
        <p:txBody>
          <a:bodyPr wrap="square" lIns="0" tIns="0" rIns="0" bIns="0" rtlCol="0" anchor="t"/>
          <a:lstStyle/>
          <a:p>
            <a:pPr algn="ctr" indent="0" marL="0">
              <a:lnSpc>
                <a:spcPct val="100000"/>
              </a:lnSpc>
              <a:buNone/>
            </a:pPr>
            <a:r>
              <a:rPr lang="en-US" sz="850" b="1" dirty="0">
                <a:solidFill>
                  <a:schemeClr val="tx1"/>
                </a:solidFill>
              </a:rPr>
              <a:t>Recycled water tower</a:t>
            </a:r>
            <a:endParaRPr lang="en-US" sz="850" dirty="0"/>
          </a:p>
        </p:txBody>
      </p:sp>
      <p:sp>
        <p:nvSpPr>
          <p:cNvPr id="31" name="text-625"/>
          <p:cNvSpPr txBox="1"/>
          <p:nvPr/>
        </p:nvSpPr>
        <p:spPr>
          <a:xfrm>
            <a:off x="548640"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Aurora Haven, water goes round and round. Clean snow becomes drinking water at the Snow-to-Food plant. Used greywater from homes flows to the Water Recycling Line: screens, settling basins, sand and membrane filters, UV light, and finally a tower that feeds toilets, laundries, greenhouses and fire hydrants.</a:t>
            </a:r>
            <a:endParaRPr lang="en-US" sz="1050" dirty="0"/>
          </a:p>
          <a:p>
            <a:pPr indent="0" marL="0">
              <a:lnSpc>
                <a:spcPct val="112000"/>
              </a:lnSpc>
              <a:spcAft>
                <a:spcPts val="700"/>
              </a:spcAft>
              <a:buNone/>
            </a:pPr>
            <a:r>
              <a:rPr lang="en-US" sz="1050" dirty="0">
                <a:solidFill>
                  <a:schemeClr val="tx1"/>
                </a:solidFill>
              </a:rPr>
              <a:t>Dirty street snow is melted separately and never reaches the taps.</a:t>
            </a:r>
            <a:endParaRPr lang="en-US" sz="1050" dirty="0"/>
          </a:p>
        </p:txBody>
      </p:sp>
      <p:sp>
        <p:nvSpPr>
          <p:cNvPr id="32" name="text-626"/>
          <p:cNvSpPr txBox="1"/>
          <p:nvPr/>
        </p:nvSpPr>
        <p:spPr>
          <a:xfrm>
            <a:off x="3918204" y="7086600"/>
            <a:ext cx="3095244" cy="182880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The Circular Recycling Center sorts about 30 tonnes of materials a day with AI optical sorters and robot arms. Food scraps become biogas, and the Plasma Waste Converter handles what is left, turning it into clean gas and building blocks.</a:t>
            </a:r>
            <a:endParaRPr lang="en-US" sz="1050" dirty="0"/>
          </a:p>
          <a:p>
            <a:pPr indent="0" marL="0">
              <a:lnSpc>
                <a:spcPct val="112000"/>
              </a:lnSpc>
              <a:spcAft>
                <a:spcPts val="700"/>
              </a:spcAft>
              <a:buNone/>
            </a:pPr>
            <a:r>
              <a:rPr lang="en-US" sz="1050" dirty="0">
                <a:solidFill>
                  <a:schemeClr val="tx1"/>
                </a:solidFill>
              </a:rPr>
              <a:t>Nothing goes to landfill in the permafrost.</a:t>
            </a:r>
            <a:endParaRPr lang="en-US" sz="1050" dirty="0"/>
          </a:p>
        </p:txBody>
      </p:sp>
      <p:sp>
        <p:nvSpPr>
          <p:cNvPr id="33" name="text-627"/>
          <p:cNvSpPr txBox="1"/>
          <p:nvPr/>
        </p:nvSpPr>
        <p:spPr>
          <a:xfrm>
            <a:off x="548640"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95%</a:t>
            </a:r>
            <a:endParaRPr lang="en-US" sz="2200" dirty="0"/>
          </a:p>
        </p:txBody>
      </p:sp>
      <p:sp>
        <p:nvSpPr>
          <p:cNvPr id="34" name="text-628"/>
          <p:cNvSpPr txBox="1"/>
          <p:nvPr/>
        </p:nvSpPr>
        <p:spPr>
          <a:xfrm>
            <a:off x="548640"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water recycled</a:t>
            </a:r>
            <a:endParaRPr lang="en-US" sz="900" dirty="0"/>
          </a:p>
        </p:txBody>
      </p:sp>
      <p:sp>
        <p:nvSpPr>
          <p:cNvPr id="35" name="text-629"/>
          <p:cNvSpPr txBox="1"/>
          <p:nvPr/>
        </p:nvSpPr>
        <p:spPr>
          <a:xfrm>
            <a:off x="2164842"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30 t</a:t>
            </a:r>
            <a:endParaRPr lang="en-US" sz="2200" dirty="0"/>
          </a:p>
        </p:txBody>
      </p:sp>
      <p:sp>
        <p:nvSpPr>
          <p:cNvPr id="36" name="text-630"/>
          <p:cNvSpPr txBox="1"/>
          <p:nvPr/>
        </p:nvSpPr>
        <p:spPr>
          <a:xfrm>
            <a:off x="2164842"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materials sorted a day</a:t>
            </a:r>
            <a:endParaRPr lang="en-US" sz="900" dirty="0"/>
          </a:p>
        </p:txBody>
      </p:sp>
      <p:sp>
        <p:nvSpPr>
          <p:cNvPr id="37" name="text-631"/>
          <p:cNvSpPr txBox="1"/>
          <p:nvPr/>
        </p:nvSpPr>
        <p:spPr>
          <a:xfrm>
            <a:off x="3781044"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20 t</a:t>
            </a:r>
            <a:endParaRPr lang="en-US" sz="2200" dirty="0"/>
          </a:p>
        </p:txBody>
      </p:sp>
      <p:sp>
        <p:nvSpPr>
          <p:cNvPr id="38" name="text-632"/>
          <p:cNvSpPr txBox="1"/>
          <p:nvPr/>
        </p:nvSpPr>
        <p:spPr>
          <a:xfrm>
            <a:off x="3781044"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rubbish a day turned into gas and blocks</a:t>
            </a:r>
            <a:endParaRPr lang="en-US" sz="900" dirty="0"/>
          </a:p>
        </p:txBody>
      </p:sp>
      <p:sp>
        <p:nvSpPr>
          <p:cNvPr id="39" name="text-633"/>
          <p:cNvSpPr txBox="1"/>
          <p:nvPr/>
        </p:nvSpPr>
        <p:spPr>
          <a:xfrm>
            <a:off x="5397246" y="9052560"/>
            <a:ext cx="1479042"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0</a:t>
            </a:r>
            <a:endParaRPr lang="en-US" sz="2200" dirty="0"/>
          </a:p>
        </p:txBody>
      </p:sp>
      <p:sp>
        <p:nvSpPr>
          <p:cNvPr id="40" name="text-634"/>
          <p:cNvSpPr txBox="1"/>
          <p:nvPr/>
        </p:nvSpPr>
        <p:spPr>
          <a:xfrm>
            <a:off x="5397246" y="9432544"/>
            <a:ext cx="1479042"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landfill in the permafrost</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picture-635" descr="/home/user/chatbox-bi-n-o/magazine/assets/renders/ecosystem.jpg">    </p:cNvPr>
          <p:cNvPicPr>
            <a:picLocks noChangeAspect="1"/>
          </p:cNvPicPr>
          <p:nvPr/>
        </p:nvPicPr>
        <p:blipFill>
          <a:blip r:embed="rId1"/>
          <a:srcRect l="0" r="0" t="0" b="0"/>
          <a:stretch/>
        </p:blipFill>
        <p:spPr>
          <a:xfrm>
            <a:off x="0" y="0"/>
            <a:ext cx="7562088" cy="3931920"/>
          </a:xfrm>
          <a:prstGeom prst="rect">
            <a:avLst/>
          </a:prstGeom>
        </p:spPr>
      </p:pic>
      <p:sp>
        <p:nvSpPr>
          <p:cNvPr id="3" name="text-636"/>
          <p:cNvSpPr txBox="1"/>
          <p:nvPr/>
        </p:nvSpPr>
        <p:spPr>
          <a:xfrm>
            <a:off x="548640" y="397764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eco-tour reindeer herd grazing on the tundra by the Snow Garden Park, with the foothill pines and Mount Aurora behind.</a:t>
            </a:r>
            <a:endParaRPr lang="en-US" sz="850" dirty="0"/>
          </a:p>
        </p:txBody>
      </p:sp>
      <p:sp>
        <p:nvSpPr>
          <p:cNvPr id="4" name="kicker-dot-637"/>
          <p:cNvSpPr/>
          <p:nvPr/>
        </p:nvSpPr>
        <p:spPr>
          <a:xfrm>
            <a:off x="548640" y="4384548"/>
            <a:ext cx="100584" cy="100584"/>
          </a:xfrm>
          <a:prstGeom prst="ellipse">
            <a:avLst/>
          </a:prstGeom>
          <a:solidFill>
            <a:schemeClr val="accent1"/>
          </a:solidFill>
          <a:ln w="12700">
            <a:solidFill>
              <a:schemeClr val="accent1"/>
            </a:solidFill>
            <a:prstDash val="solid"/>
          </a:ln>
        </p:spPr>
      </p:sp>
      <p:sp>
        <p:nvSpPr>
          <p:cNvPr id="5" name="text-638"/>
          <p:cNvSpPr txBox="1"/>
          <p:nvPr/>
        </p:nvSpPr>
        <p:spPr>
          <a:xfrm>
            <a:off x="731520" y="4343400"/>
            <a:ext cx="5486400" cy="201168"/>
          </a:xfrm>
          <a:prstGeom prst="rect">
            <a:avLst/>
          </a:prstGeom>
          <a:noFill/>
          <a:ln/>
        </p:spPr>
        <p:txBody>
          <a:bodyPr wrap="square" lIns="0" tIns="0" rIns="0" bIns="0" rtlCol="0" anchor="t"/>
          <a:lstStyle/>
          <a:p>
            <a:pPr indent="0" marL="0">
              <a:buNone/>
            </a:pPr>
            <a:r>
              <a:rPr lang="en-US" sz="900" b="1" spc="300" kern="0" dirty="0">
                <a:solidFill>
                  <a:schemeClr val="accent4"/>
                </a:solidFill>
              </a:rPr>
              <a:t>URBAN ECO-SYSTEM</a:t>
            </a:r>
            <a:endParaRPr lang="en-US" sz="900" dirty="0"/>
          </a:p>
        </p:txBody>
      </p:sp>
      <p:sp>
        <p:nvSpPr>
          <p:cNvPr id="6" name="title-639"/>
          <p:cNvSpPr txBox="1"/>
          <p:nvPr/>
        </p:nvSpPr>
        <p:spPr>
          <a:xfrm>
            <a:off x="548640" y="4590288"/>
            <a:ext cx="6464808" cy="640080"/>
          </a:xfrm>
          <a:prstGeom prst="rect">
            <a:avLst/>
          </a:prstGeom>
          <a:noFill/>
          <a:ln/>
        </p:spPr>
        <p:txBody>
          <a:bodyPr wrap="square" lIns="0" tIns="0" rIns="0" bIns="0" rtlCol="0" anchor="t"/>
          <a:lstStyle/>
          <a:p>
            <a:pPr indent="0" marL="0">
              <a:lnSpc>
                <a:spcPct val="92000"/>
              </a:lnSpc>
              <a:buNone/>
            </a:pPr>
            <a:r>
              <a:rPr lang="en-US" sz="3600" b="1" dirty="0">
                <a:solidFill>
                  <a:schemeClr val="tx1"/>
                </a:solidFill>
                <a:latin typeface="+mj-lt" pitchFamily="34" charset="0"/>
                <a:ea typeface="+mj-lt" pitchFamily="34" charset="-122"/>
                <a:cs typeface="+mj-lt" pitchFamily="34" charset="-120"/>
              </a:rPr>
              <a:t>Wild Neighbours</a:t>
            </a:r>
            <a:endParaRPr lang="en-US" sz="3600" dirty="0"/>
          </a:p>
        </p:txBody>
      </p:sp>
      <p:sp>
        <p:nvSpPr>
          <p:cNvPr id="7" name="text-641"/>
          <p:cNvSpPr txBox="1"/>
          <p:nvPr/>
        </p:nvSpPr>
        <p:spPr>
          <a:xfrm>
            <a:off x="548640" y="52578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Aurora Haven is built to share the tundra: animals can move through the city, plants work as snow fences, and farmed life closes the food loop.</a:t>
            </a:r>
            <a:endParaRPr lang="en-US" sz="1250" dirty="0"/>
          </a:p>
        </p:txBody>
      </p:sp>
      <p:sp>
        <p:nvSpPr>
          <p:cNvPr id="8" name="text-642"/>
          <p:cNvSpPr txBox="1"/>
          <p:nvPr/>
        </p:nvSpPr>
        <p:spPr>
          <a:xfrm>
            <a:off x="548640"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4"/>
                </a:solidFill>
              </a:rPr>
              <a:t>ANIMALS</a:t>
            </a:r>
            <a:endParaRPr lang="en-US" sz="900" dirty="0"/>
          </a:p>
        </p:txBody>
      </p:sp>
      <p:sp>
        <p:nvSpPr>
          <p:cNvPr id="9" name="text-643"/>
          <p:cNvSpPr txBox="1"/>
          <p:nvPr/>
        </p:nvSpPr>
        <p:spPr>
          <a:xfrm>
            <a:off x="548640"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Wildlife corridors. </a:t>
            </a:r>
            <a:pPr indent="0" marL="0">
              <a:lnSpc>
                <a:spcPct val="106000"/>
              </a:lnSpc>
              <a:spcAft>
                <a:spcPts val="500"/>
              </a:spcAft>
              <a:buNone/>
            </a:pPr>
            <a:r>
              <a:rPr lang="en-US" sz="1000" dirty="0">
                <a:solidFill>
                  <a:schemeClr val="tx1"/>
                </a:solidFill>
              </a:rPr>
              <a:t>Snow-laden trees on the eastern and western edges give snow buntings, ptarmigans, arctic foxes and hares cover between the open tundra and the parks. Roads beside them have dimmed lights and wildlife underpasses.</a:t>
            </a:r>
            <a:endParaRPr lang="en-US" sz="1000" dirty="0"/>
          </a:p>
          <a:p>
            <a:pPr indent="0" marL="0">
              <a:lnSpc>
                <a:spcPct val="106000"/>
              </a:lnSpc>
              <a:buNone/>
            </a:pPr>
            <a:r>
              <a:rPr lang="en-US" sz="1000" b="1" dirty="0">
                <a:solidFill>
                  <a:schemeClr val="tx1"/>
                </a:solidFill>
              </a:rPr>
              <a:t>Fences with gaps. </a:t>
            </a:r>
            <a:pPr indent="0" marL="0">
              <a:lnSpc>
                <a:spcPct val="106000"/>
              </a:lnSpc>
              <a:spcAft>
                <a:spcPts val="500"/>
              </a:spcAft>
              <a:buNone/>
            </a:pPr>
            <a:r>
              <a:rPr lang="en-US" sz="1000" dirty="0">
                <a:solidFill>
                  <a:schemeClr val="tx1"/>
                </a:solidFill>
              </a:rPr>
              <a:t>Park fences have open rails, so drifting snow blows through, and gaps at ground level, so foxes and hares pass freely.</a:t>
            </a:r>
            <a:endParaRPr lang="en-US" sz="1000" dirty="0"/>
          </a:p>
          <a:p>
            <a:pPr indent="0" marL="0">
              <a:lnSpc>
                <a:spcPct val="106000"/>
              </a:lnSpc>
              <a:buNone/>
            </a:pPr>
            <a:r>
              <a:rPr lang="en-US" sz="1000" b="1" dirty="0">
                <a:solidFill>
                  <a:schemeClr val="tx1"/>
                </a:solidFill>
              </a:rPr>
              <a:t>Reindeer. </a:t>
            </a:r>
            <a:pPr indent="0" marL="0">
              <a:lnSpc>
                <a:spcPct val="106000"/>
              </a:lnSpc>
              <a:spcAft>
                <a:spcPts val="500"/>
              </a:spcAft>
              <a:buNone/>
            </a:pPr>
            <a:r>
              <a:rPr lang="en-US" sz="1000" dirty="0">
                <a:solidFill>
                  <a:schemeClr val="tx1"/>
                </a:solidFill>
              </a:rPr>
              <a:t>The eco-tour herd is cared for by herders who follow Sámi traditions. Rides last only a few hours a day, and GPS collars help find animals grazing on the tundra.</a:t>
            </a:r>
            <a:endParaRPr lang="en-US" sz="1000" dirty="0"/>
          </a:p>
          <a:p>
            <a:pPr indent="0" marL="0">
              <a:lnSpc>
                <a:spcPct val="106000"/>
              </a:lnSpc>
              <a:buNone/>
            </a:pPr>
            <a:r>
              <a:rPr lang="en-US" sz="1000" b="1" dirty="0">
                <a:solidFill>
                  <a:schemeClr val="tx1"/>
                </a:solidFill>
              </a:rPr>
              <a:t>Polar bears. </a:t>
            </a:r>
            <a:pPr indent="0" marL="0">
              <a:lnSpc>
                <a:spcPct val="106000"/>
              </a:lnSpc>
              <a:spcAft>
                <a:spcPts val="500"/>
              </a:spcAft>
              <a:buNone/>
            </a:pPr>
            <a:r>
              <a:rPr lang="en-US" sz="1000" dirty="0">
                <a:solidFill>
                  <a:schemeClr val="tx1"/>
                </a:solidFill>
              </a:rPr>
              <a:t>Fibre-optic sensors in the air base fence alert a wildlife team when a bear comes close, so people and bears stay apart safely.</a:t>
            </a:r>
            <a:endParaRPr lang="en-US" sz="1000" dirty="0"/>
          </a:p>
        </p:txBody>
      </p:sp>
      <p:sp>
        <p:nvSpPr>
          <p:cNvPr id="10" name="text-644"/>
          <p:cNvSpPr txBox="1"/>
          <p:nvPr/>
        </p:nvSpPr>
        <p:spPr>
          <a:xfrm>
            <a:off x="3918204" y="5925312"/>
            <a:ext cx="3095244" cy="201168"/>
          </a:xfrm>
          <a:prstGeom prst="rect">
            <a:avLst/>
          </a:prstGeom>
          <a:noFill/>
          <a:ln/>
        </p:spPr>
        <p:txBody>
          <a:bodyPr wrap="square" lIns="0" tIns="0" rIns="0" bIns="0" rtlCol="0" anchor="t"/>
          <a:lstStyle/>
          <a:p>
            <a:pPr indent="0" marL="0">
              <a:buNone/>
            </a:pPr>
            <a:r>
              <a:rPr lang="en-US" sz="900" b="1" spc="300" kern="0" dirty="0">
                <a:solidFill>
                  <a:schemeClr val="accent1"/>
                </a:solidFill>
              </a:rPr>
              <a:t>PLANTS AND FARMED LIFE</a:t>
            </a:r>
            <a:endParaRPr lang="en-US" sz="900" dirty="0"/>
          </a:p>
        </p:txBody>
      </p:sp>
      <p:sp>
        <p:nvSpPr>
          <p:cNvPr id="11" name="text-645"/>
          <p:cNvSpPr txBox="1"/>
          <p:nvPr/>
        </p:nvSpPr>
        <p:spPr>
          <a:xfrm>
            <a:off x="3918204" y="6199632"/>
            <a:ext cx="3095244" cy="2788920"/>
          </a:xfrm>
          <a:prstGeom prst="rect">
            <a:avLst/>
          </a:prstGeom>
          <a:noFill/>
          <a:ln/>
        </p:spPr>
        <p:txBody>
          <a:bodyPr wrap="square" lIns="0" tIns="0" rIns="0" bIns="0" rtlCol="0" anchor="t"/>
          <a:lstStyle/>
          <a:p>
            <a:pPr indent="0" marL="0">
              <a:lnSpc>
                <a:spcPct val="106000"/>
              </a:lnSpc>
              <a:buNone/>
            </a:pPr>
            <a:r>
              <a:rPr lang="en-US" sz="1000" b="1" dirty="0">
                <a:solidFill>
                  <a:schemeClr val="tx1"/>
                </a:solidFill>
              </a:rPr>
              <a:t>Living snow fences. </a:t>
            </a:r>
            <a:pPr indent="0" marL="0">
              <a:lnSpc>
                <a:spcPct val="106000"/>
              </a:lnSpc>
              <a:spcAft>
                <a:spcPts val="500"/>
              </a:spcAft>
              <a:buNone/>
            </a:pPr>
            <a:r>
              <a:rPr lang="en-US" sz="1000" dirty="0">
                <a:solidFill>
                  <a:schemeClr val="tx1"/>
                </a:solidFill>
              </a:rPr>
              <a:t>Belts of snow spruces and arctic pines trap drifting snow before it reaches the streets; the clean snow is collected for the food plant.</a:t>
            </a:r>
            <a:endParaRPr lang="en-US" sz="1000" dirty="0"/>
          </a:p>
          <a:p>
            <a:pPr indent="0" marL="0">
              <a:lnSpc>
                <a:spcPct val="106000"/>
              </a:lnSpc>
              <a:buNone/>
            </a:pPr>
            <a:r>
              <a:rPr lang="en-US" sz="1000" b="1" dirty="0">
                <a:solidFill>
                  <a:schemeClr val="tx1"/>
                </a:solidFill>
              </a:rPr>
              <a:t>Green stepping stones. </a:t>
            </a:r>
            <a:pPr indent="0" marL="0">
              <a:lnSpc>
                <a:spcPct val="106000"/>
              </a:lnSpc>
              <a:spcAft>
                <a:spcPts val="500"/>
              </a:spcAft>
              <a:buNone/>
            </a:pPr>
            <a:r>
              <a:rPr lang="en-US" sz="1000" dirty="0">
                <a:solidFill>
                  <a:schemeClr val="tx1"/>
                </a:solidFill>
              </a:rPr>
              <a:t>Snow lindens line Liberty Mall, and dwarf pines in heated planters on the Aurora 81 Sky Garden give birds a stepping stone across the city.</a:t>
            </a:r>
            <a:endParaRPr lang="en-US" sz="1000" dirty="0"/>
          </a:p>
          <a:p>
            <a:pPr indent="0" marL="0">
              <a:lnSpc>
                <a:spcPct val="106000"/>
              </a:lnSpc>
              <a:buNone/>
            </a:pPr>
            <a:r>
              <a:rPr lang="en-US" sz="1000" b="1" dirty="0">
                <a:solidFill>
                  <a:schemeClr val="tx1"/>
                </a:solidFill>
              </a:rPr>
              <a:t>Aquaponics. </a:t>
            </a:r>
            <a:pPr indent="0" marL="0">
              <a:lnSpc>
                <a:spcPct val="106000"/>
              </a:lnSpc>
              <a:spcAft>
                <a:spcPts val="500"/>
              </a:spcAft>
              <a:buNone/>
            </a:pPr>
            <a:r>
              <a:rPr lang="en-US" sz="1000" dirty="0">
                <a:solidFill>
                  <a:schemeClr val="tx1"/>
                </a:solidFill>
              </a:rPr>
              <a:t>In the Evergreen Aquaponics Dome, Arctic char and rainbow trout feed beds of lettuce, herbs and strawberries; the loop loses under 2% of its water a day.</a:t>
            </a:r>
            <a:endParaRPr lang="en-US" sz="1000" dirty="0"/>
          </a:p>
          <a:p>
            <a:pPr indent="0" marL="0">
              <a:lnSpc>
                <a:spcPct val="106000"/>
              </a:lnSpc>
              <a:buNone/>
            </a:pPr>
            <a:r>
              <a:rPr lang="en-US" sz="1000" b="1" dirty="0">
                <a:solidFill>
                  <a:schemeClr val="tx1"/>
                </a:solidFill>
              </a:rPr>
              <a:t>Shelter and science. </a:t>
            </a:r>
            <a:pPr indent="0" marL="0">
              <a:lnSpc>
                <a:spcPct val="106000"/>
              </a:lnSpc>
              <a:spcAft>
                <a:spcPts val="500"/>
              </a:spcAft>
              <a:buNone/>
            </a:pPr>
            <a:r>
              <a:rPr lang="en-US" sz="1000" dirty="0">
                <a:solidFill>
                  <a:schemeClr val="tx1"/>
                </a:solidFill>
              </a:rPr>
              <a:t>Rock gardens and boulders shelter ptarmigans and hares; nest boxes and a camera let schoolchildren count visitors with the Polar Climate &amp; Ice Research Institute.</a:t>
            </a:r>
            <a:endParaRPr lang="en-US" sz="1000" dirty="0"/>
          </a:p>
        </p:txBody>
      </p:sp>
      <p:sp>
        <p:nvSpPr>
          <p:cNvPr id="12" name="card-646"/>
          <p:cNvSpPr/>
          <p:nvPr/>
        </p:nvSpPr>
        <p:spPr>
          <a:xfrm>
            <a:off x="548640" y="9098280"/>
            <a:ext cx="6464808" cy="868680"/>
          </a:xfrm>
          <a:prstGeom prst="roundRect">
            <a:avLst>
              <a:gd name="adj" fmla="val 8421"/>
            </a:avLst>
          </a:prstGeom>
          <a:solidFill>
            <a:schemeClr val="bg2"/>
          </a:solidFill>
          <a:ln w="12700">
            <a:solidFill>
              <a:schemeClr val="bg2"/>
            </a:solidFill>
            <a:prstDash val="solid"/>
          </a:ln>
        </p:spPr>
      </p:sp>
      <p:sp>
        <p:nvSpPr>
          <p:cNvPr id="13" name="text-647"/>
          <p:cNvSpPr txBox="1"/>
          <p:nvPr/>
        </p:nvSpPr>
        <p:spPr>
          <a:xfrm>
            <a:off x="685800" y="9171432"/>
            <a:ext cx="6190488" cy="731520"/>
          </a:xfrm>
          <a:prstGeom prst="rect">
            <a:avLst/>
          </a:prstGeom>
          <a:noFill/>
          <a:ln/>
        </p:spPr>
        <p:txBody>
          <a:bodyPr wrap="square" lIns="0" tIns="0" rIns="0" bIns="0" rtlCol="0" anchor="ctr"/>
          <a:lstStyle/>
          <a:p>
            <a:pPr indent="0" marL="0">
              <a:lnSpc>
                <a:spcPct val="104000"/>
              </a:lnSpc>
              <a:buNone/>
            </a:pPr>
            <a:r>
              <a:rPr lang="en-US" sz="950" b="1" spc="200" kern="0" dirty="0">
                <a:solidFill>
                  <a:schemeClr val="accent4"/>
                </a:solidFill>
              </a:rPr>
              <a:t>HOW THEY SURVIVE  </a:t>
            </a:r>
            <a:pPr indent="0" marL="0">
              <a:lnSpc>
                <a:spcPct val="104000"/>
              </a:lnSpc>
              <a:buNone/>
            </a:pPr>
            <a:r>
              <a:rPr lang="en-US" sz="950" dirty="0">
                <a:solidFill>
                  <a:schemeClr val="tx1"/>
                </a:solidFill>
              </a:rPr>
              <a:t>Arctic foxes grow a deep, pale winter coat that blends into the snow and keeps them warm down to about −50 °C [15]. The city helps them with cover, safe crossings and dark nights: outdoor lights switch on only when something moves.</a:t>
            </a:r>
            <a:endParaRPr lang="en-US" sz="9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kicker-dot-648"/>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649"/>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TRANSPORT</a:t>
            </a:r>
            <a:endParaRPr lang="en-US" sz="900" dirty="0"/>
          </a:p>
        </p:txBody>
      </p:sp>
      <p:sp>
        <p:nvSpPr>
          <p:cNvPr id="4" name="title-650"/>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Getting Around Fossil-Free</a:t>
            </a:r>
            <a:endParaRPr lang="en-US" sz="3400" dirty="0"/>
          </a:p>
        </p:txBody>
      </p:sp>
      <p:pic>
        <p:nvPicPr>
          <p:cNvPr id="5" name="picture-652" descr="/home/user/chatbox-bi-n-o/magazine/assets/renders/airport.jpg">    </p:cNvPr>
          <p:cNvPicPr>
            <a:picLocks noChangeAspect="1"/>
          </p:cNvPicPr>
          <p:nvPr/>
        </p:nvPicPr>
        <p:blipFill>
          <a:blip r:embed="rId1"/>
          <a:srcRect l="0" r="0" t="0" b="0"/>
          <a:stretch/>
        </p:blipFill>
        <p:spPr>
          <a:xfrm>
            <a:off x="0" y="1508760"/>
            <a:ext cx="7562088" cy="2743200"/>
          </a:xfrm>
          <a:prstGeom prst="rect">
            <a:avLst/>
          </a:prstGeom>
        </p:spPr>
      </p:pic>
      <p:sp>
        <p:nvSpPr>
          <p:cNvPr id="6" name="text-653"/>
          <p:cNvSpPr txBox="1"/>
          <p:nvPr/>
        </p:nvSpPr>
        <p:spPr>
          <a:xfrm>
            <a:off x="548640" y="4297680"/>
            <a:ext cx="6464808" cy="228600"/>
          </a:xfrm>
          <a:prstGeom prst="rect">
            <a:avLst/>
          </a:prstGeom>
          <a:noFill/>
          <a:ln/>
        </p:spPr>
        <p:txBody>
          <a:bodyPr wrap="square" lIns="0" tIns="0" rIns="0" bIns="0" rtlCol="0" anchor="t"/>
          <a:lstStyle/>
          <a:p>
            <a:pPr indent="0" marL="0">
              <a:buNone/>
            </a:pPr>
            <a:r>
              <a:rPr lang="en-US" sz="850" i="1" dirty="0">
                <a:solidFill>
                  <a:schemeClr val="tx2"/>
                </a:solidFill>
              </a:rPr>
              <a:t>Compact Polar Airport at dusk: the glass terminal, the control tower and Flight VN-81 climbing out.</a:t>
            </a:r>
            <a:endParaRPr lang="en-US" sz="850" dirty="0"/>
          </a:p>
        </p:txBody>
      </p:sp>
      <p:sp>
        <p:nvSpPr>
          <p:cNvPr id="7" name="text-654"/>
          <p:cNvSpPr txBox="1"/>
          <p:nvPr/>
        </p:nvSpPr>
        <p:spPr>
          <a:xfrm>
            <a:off x="548640" y="4663440"/>
            <a:ext cx="3611880" cy="274320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Transport in Aurora Haven is electric and built for the cold. The heart of it is the metro: the north–south Aurora Line and the deep east–west Glacier Line meet at the Central Interchange Station under Liberty Mall. The driverless four-car trains run underground, so blizzards never stop them.</a:t>
            </a:r>
            <a:endParaRPr lang="en-US" sz="1000" dirty="0"/>
          </a:p>
          <a:p>
            <a:pPr indent="0" marL="0">
              <a:lnSpc>
                <a:spcPct val="112000"/>
              </a:lnSpc>
              <a:spcAft>
                <a:spcPts val="700"/>
              </a:spcAft>
              <a:buNone/>
            </a:pPr>
            <a:r>
              <a:rPr lang="en-US" sz="1000" dirty="0">
                <a:solidFill>
                  <a:schemeClr val="tx1"/>
                </a:solidFill>
              </a:rPr>
              <a:t>On the streets there are electric trams, buses and shared robotaxis, and people wait in heated bus shelters. The roads are warmed from below, so no salt is needed, as in Reykjavík, where water returning from home heating melts the snow under streets [18].</a:t>
            </a:r>
            <a:endParaRPr lang="en-US" sz="1000" dirty="0"/>
          </a:p>
          <a:p>
            <a:pPr indent="0" marL="0">
              <a:lnSpc>
                <a:spcPct val="112000"/>
              </a:lnSpc>
              <a:spcAft>
                <a:spcPts val="700"/>
              </a:spcAft>
              <a:buNone/>
            </a:pPr>
            <a:r>
              <a:rPr lang="en-US" sz="1000" dirty="0">
                <a:solidFill>
                  <a:schemeClr val="tx1"/>
                </a:solidFill>
              </a:rPr>
              <a:t>The airport, with its heated runway and e-fuel planes, keeps the city supplied through deep winter.</a:t>
            </a:r>
            <a:endParaRPr lang="en-US" sz="1000" dirty="0"/>
          </a:p>
        </p:txBody>
      </p:sp>
      <p:sp>
        <p:nvSpPr>
          <p:cNvPr id="8" name="metro-aurora-line"/>
          <p:cNvSpPr/>
          <p:nvPr/>
        </p:nvSpPr>
        <p:spPr>
          <a:xfrm>
            <a:off x="5769864" y="4709160"/>
            <a:ext cx="0" cy="2514600"/>
          </a:xfrm>
          <a:prstGeom prst="line">
            <a:avLst/>
          </a:prstGeom>
          <a:noFill/>
          <a:ln w="88900">
            <a:solidFill>
              <a:schemeClr val="accent6"/>
            </a:solidFill>
            <a:prstDash val="solid"/>
          </a:ln>
        </p:spPr>
      </p:sp>
      <p:sp>
        <p:nvSpPr>
          <p:cNvPr id="9" name="metro-glacier-line"/>
          <p:cNvSpPr/>
          <p:nvPr/>
        </p:nvSpPr>
        <p:spPr>
          <a:xfrm>
            <a:off x="4526280" y="6035040"/>
            <a:ext cx="2487168" cy="0"/>
          </a:xfrm>
          <a:prstGeom prst="line">
            <a:avLst/>
          </a:prstGeom>
          <a:noFill/>
          <a:ln w="88900">
            <a:solidFill>
              <a:schemeClr val="accent4"/>
            </a:solidFill>
            <a:prstDash val="solid"/>
          </a:ln>
        </p:spPr>
      </p:sp>
      <p:sp>
        <p:nvSpPr>
          <p:cNvPr id="10" name="metro-interchange"/>
          <p:cNvSpPr/>
          <p:nvPr/>
        </p:nvSpPr>
        <p:spPr>
          <a:xfrm>
            <a:off x="5568696" y="5833872"/>
            <a:ext cx="402336" cy="402336"/>
          </a:xfrm>
          <a:prstGeom prst="ellipse">
            <a:avLst/>
          </a:prstGeom>
          <a:solidFill>
            <a:schemeClr val="bg1"/>
          </a:solidFill>
          <a:ln w="38100">
            <a:solidFill>
              <a:schemeClr val="tx1"/>
            </a:solidFill>
            <a:prstDash val="solid"/>
          </a:ln>
        </p:spPr>
      </p:sp>
      <p:sp>
        <p:nvSpPr>
          <p:cNvPr id="11" name="text-655"/>
          <p:cNvSpPr txBox="1"/>
          <p:nvPr/>
        </p:nvSpPr>
        <p:spPr>
          <a:xfrm>
            <a:off x="5897880" y="4709160"/>
            <a:ext cx="1188720" cy="365760"/>
          </a:xfrm>
          <a:prstGeom prst="rect">
            <a:avLst/>
          </a:prstGeom>
          <a:noFill/>
          <a:ln/>
        </p:spPr>
        <p:txBody>
          <a:bodyPr wrap="square" lIns="0" tIns="0" rIns="0" bIns="0" rtlCol="0" anchor="t"/>
          <a:lstStyle/>
          <a:p>
            <a:pPr indent="0" marL="0">
              <a:buNone/>
            </a:pPr>
            <a:r>
              <a:rPr lang="en-US" sz="900" b="1" dirty="0">
                <a:solidFill>
                  <a:schemeClr val="accent6"/>
                </a:solidFill>
              </a:rPr>
              <a:t>Aurora Line</a:t>
            </a:r>
            <a:endParaRPr lang="en-US" sz="900" dirty="0"/>
          </a:p>
          <a:p>
            <a:pPr indent="0" marL="0">
              <a:buNone/>
            </a:pPr>
            <a:r>
              <a:rPr lang="en-US" sz="900" b="1" dirty="0">
                <a:solidFill>
                  <a:schemeClr val="accent6"/>
                </a:solidFill>
              </a:rPr>
              <a:t>north–south</a:t>
            </a:r>
            <a:endParaRPr lang="en-US" sz="900" dirty="0"/>
          </a:p>
        </p:txBody>
      </p:sp>
      <p:sp>
        <p:nvSpPr>
          <p:cNvPr id="12" name="text-656"/>
          <p:cNvSpPr txBox="1"/>
          <p:nvPr/>
        </p:nvSpPr>
        <p:spPr>
          <a:xfrm>
            <a:off x="4526280" y="6181344"/>
            <a:ext cx="1005840" cy="365760"/>
          </a:xfrm>
          <a:prstGeom prst="rect">
            <a:avLst/>
          </a:prstGeom>
          <a:noFill/>
          <a:ln/>
        </p:spPr>
        <p:txBody>
          <a:bodyPr wrap="square" lIns="0" tIns="0" rIns="0" bIns="0" rtlCol="0" anchor="t"/>
          <a:lstStyle/>
          <a:p>
            <a:pPr indent="0" marL="0">
              <a:buNone/>
            </a:pPr>
            <a:r>
              <a:rPr lang="en-US" sz="900" b="1" dirty="0">
                <a:solidFill>
                  <a:schemeClr val="accent4"/>
                </a:solidFill>
              </a:rPr>
              <a:t>Glacier Line</a:t>
            </a:r>
            <a:endParaRPr lang="en-US" sz="900" dirty="0"/>
          </a:p>
          <a:p>
            <a:pPr indent="0" marL="0">
              <a:buNone/>
            </a:pPr>
            <a:r>
              <a:rPr lang="en-US" sz="900" b="1" dirty="0">
                <a:solidFill>
                  <a:schemeClr val="accent4"/>
                </a:solidFill>
              </a:rPr>
              <a:t>east–west</a:t>
            </a:r>
            <a:endParaRPr lang="en-US" sz="900" dirty="0"/>
          </a:p>
        </p:txBody>
      </p:sp>
      <p:sp>
        <p:nvSpPr>
          <p:cNvPr id="13" name="text-657"/>
          <p:cNvSpPr txBox="1"/>
          <p:nvPr/>
        </p:nvSpPr>
        <p:spPr>
          <a:xfrm>
            <a:off x="6044184" y="5468112"/>
            <a:ext cx="1051560" cy="502920"/>
          </a:xfrm>
          <a:prstGeom prst="rect">
            <a:avLst/>
          </a:prstGeom>
          <a:noFill/>
          <a:ln/>
        </p:spPr>
        <p:txBody>
          <a:bodyPr wrap="square" lIns="0" tIns="0" rIns="0" bIns="0" rtlCol="0" anchor="b"/>
          <a:lstStyle/>
          <a:p>
            <a:pPr indent="0" marL="0">
              <a:buNone/>
            </a:pPr>
            <a:r>
              <a:rPr lang="en-US" sz="850" b="1" dirty="0">
                <a:solidFill>
                  <a:schemeClr val="tx1"/>
                </a:solidFill>
              </a:rPr>
              <a:t>Central Interchange Station, under Liberty Mall</a:t>
            </a:r>
            <a:endParaRPr lang="en-US" sz="850" dirty="0"/>
          </a:p>
        </p:txBody>
      </p:sp>
      <p:sp>
        <p:nvSpPr>
          <p:cNvPr id="14" name="card-658"/>
          <p:cNvSpPr/>
          <p:nvPr/>
        </p:nvSpPr>
        <p:spPr>
          <a:xfrm>
            <a:off x="548640" y="7452360"/>
            <a:ext cx="1533906" cy="1536192"/>
          </a:xfrm>
          <a:prstGeom prst="roundRect">
            <a:avLst>
              <a:gd name="adj" fmla="val 4769"/>
            </a:avLst>
          </a:prstGeom>
          <a:solidFill>
            <a:schemeClr val="bg2"/>
          </a:solidFill>
          <a:ln w="12700">
            <a:solidFill>
              <a:schemeClr val="bg2"/>
            </a:solidFill>
            <a:prstDash val="solid"/>
          </a:ln>
        </p:spPr>
      </p:sp>
      <p:sp>
        <p:nvSpPr>
          <p:cNvPr id="15" name="text-659"/>
          <p:cNvSpPr txBox="1"/>
          <p:nvPr/>
        </p:nvSpPr>
        <p:spPr>
          <a:xfrm>
            <a:off x="640080"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Users</a:t>
            </a:r>
            <a:endParaRPr lang="en-US" sz="950" dirty="0"/>
          </a:p>
        </p:txBody>
      </p:sp>
      <p:sp>
        <p:nvSpPr>
          <p:cNvPr id="16" name="text-660"/>
          <p:cNvSpPr txBox="1"/>
          <p:nvPr/>
        </p:nvSpPr>
        <p:spPr>
          <a:xfrm>
            <a:off x="640080"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Commuters, students, shoppers and stadium fans. Heated cars have space for wheelchairs, prams and skis.</a:t>
            </a:r>
            <a:endParaRPr lang="en-US" sz="850" dirty="0"/>
          </a:p>
        </p:txBody>
      </p:sp>
      <p:sp>
        <p:nvSpPr>
          <p:cNvPr id="17" name="card-661"/>
          <p:cNvSpPr/>
          <p:nvPr/>
        </p:nvSpPr>
        <p:spPr>
          <a:xfrm>
            <a:off x="2192274" y="7452360"/>
            <a:ext cx="1533906" cy="1536192"/>
          </a:xfrm>
          <a:prstGeom prst="roundRect">
            <a:avLst>
              <a:gd name="adj" fmla="val 4769"/>
            </a:avLst>
          </a:prstGeom>
          <a:solidFill>
            <a:schemeClr val="bg2"/>
          </a:solidFill>
          <a:ln w="12700">
            <a:solidFill>
              <a:schemeClr val="bg2"/>
            </a:solidFill>
            <a:prstDash val="solid"/>
          </a:ln>
        </p:spPr>
      </p:sp>
      <p:sp>
        <p:nvSpPr>
          <p:cNvPr id="18" name="text-662"/>
          <p:cNvSpPr txBox="1"/>
          <p:nvPr/>
        </p:nvSpPr>
        <p:spPr>
          <a:xfrm>
            <a:off x="2283714"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Capacity</a:t>
            </a:r>
            <a:endParaRPr lang="en-US" sz="950" dirty="0"/>
          </a:p>
        </p:txBody>
      </p:sp>
      <p:sp>
        <p:nvSpPr>
          <p:cNvPr id="19" name="text-663"/>
          <p:cNvSpPr txBox="1"/>
          <p:nvPr/>
        </p:nvSpPr>
        <p:spPr>
          <a:xfrm>
            <a:off x="2283714"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Our estimate: if a four-car train carries about 400 people, a train every 3 min moves about 8,000 people an hour each way. After stadium events, trains every 90 s could clear the 8,000 seats in about 30 minutes.</a:t>
            </a:r>
            <a:endParaRPr lang="en-US" sz="850" dirty="0"/>
          </a:p>
        </p:txBody>
      </p:sp>
      <p:sp>
        <p:nvSpPr>
          <p:cNvPr id="20" name="card-664"/>
          <p:cNvSpPr/>
          <p:nvPr/>
        </p:nvSpPr>
        <p:spPr>
          <a:xfrm>
            <a:off x="3835908" y="7452360"/>
            <a:ext cx="1533906" cy="1536192"/>
          </a:xfrm>
          <a:prstGeom prst="roundRect">
            <a:avLst>
              <a:gd name="adj" fmla="val 4769"/>
            </a:avLst>
          </a:prstGeom>
          <a:solidFill>
            <a:schemeClr val="bg2"/>
          </a:solidFill>
          <a:ln w="12700">
            <a:solidFill>
              <a:schemeClr val="bg2"/>
            </a:solidFill>
            <a:prstDash val="solid"/>
          </a:ln>
        </p:spPr>
      </p:sp>
      <p:sp>
        <p:nvSpPr>
          <p:cNvPr id="21" name="text-665"/>
          <p:cNvSpPr txBox="1"/>
          <p:nvPr/>
        </p:nvSpPr>
        <p:spPr>
          <a:xfrm>
            <a:off x="3927348"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Safety</a:t>
            </a:r>
            <a:endParaRPr lang="en-US" sz="950" dirty="0"/>
          </a:p>
        </p:txBody>
      </p:sp>
      <p:sp>
        <p:nvSpPr>
          <p:cNvPr id="22" name="text-666"/>
          <p:cNvSpPr txBox="1"/>
          <p:nvPr/>
        </p:nvSpPr>
        <p:spPr>
          <a:xfrm>
            <a:off x="3927348"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Deep, insulated tunnels kept at about +5 °C, emergency walkways with glow strips, and doors straight into the four shelters.</a:t>
            </a:r>
            <a:endParaRPr lang="en-US" sz="850" dirty="0"/>
          </a:p>
        </p:txBody>
      </p:sp>
      <p:sp>
        <p:nvSpPr>
          <p:cNvPr id="23" name="card-667"/>
          <p:cNvSpPr/>
          <p:nvPr/>
        </p:nvSpPr>
        <p:spPr>
          <a:xfrm>
            <a:off x="5479542" y="7452360"/>
            <a:ext cx="1533906" cy="1536192"/>
          </a:xfrm>
          <a:prstGeom prst="roundRect">
            <a:avLst>
              <a:gd name="adj" fmla="val 4769"/>
            </a:avLst>
          </a:prstGeom>
          <a:solidFill>
            <a:schemeClr val="bg2"/>
          </a:solidFill>
          <a:ln w="12700">
            <a:solidFill>
              <a:schemeClr val="bg2"/>
            </a:solidFill>
            <a:prstDash val="solid"/>
          </a:ln>
        </p:spPr>
      </p:sp>
      <p:sp>
        <p:nvSpPr>
          <p:cNvPr id="24" name="text-668"/>
          <p:cNvSpPr txBox="1"/>
          <p:nvPr/>
        </p:nvSpPr>
        <p:spPr>
          <a:xfrm>
            <a:off x="5570982" y="7534656"/>
            <a:ext cx="1351026" cy="219456"/>
          </a:xfrm>
          <a:prstGeom prst="rect">
            <a:avLst/>
          </a:prstGeom>
          <a:noFill/>
          <a:ln/>
        </p:spPr>
        <p:txBody>
          <a:bodyPr wrap="square" lIns="0" tIns="0" rIns="0" bIns="0" rtlCol="0" anchor="t"/>
          <a:lstStyle/>
          <a:p>
            <a:pPr indent="0" marL="0">
              <a:buNone/>
            </a:pPr>
            <a:r>
              <a:rPr lang="en-US" sz="950" b="1" dirty="0">
                <a:solidFill>
                  <a:schemeClr val="accent6"/>
                </a:solidFill>
              </a:rPr>
              <a:t>Energy</a:t>
            </a:r>
            <a:endParaRPr lang="en-US" sz="950" dirty="0"/>
          </a:p>
        </p:txBody>
      </p:sp>
      <p:sp>
        <p:nvSpPr>
          <p:cNvPr id="25" name="text-669"/>
          <p:cNvSpPr txBox="1"/>
          <p:nvPr/>
        </p:nvSpPr>
        <p:spPr>
          <a:xfrm>
            <a:off x="5570982" y="7772400"/>
            <a:ext cx="1351026" cy="1188720"/>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All-electric and driverless. Braking returns about 30% of the energy, and insulation, not heaters, keeps the tunnels above freezing.</a:t>
            </a:r>
            <a:endParaRPr lang="en-US" sz="850" dirty="0"/>
          </a:p>
        </p:txBody>
      </p:sp>
      <p:sp>
        <p:nvSpPr>
          <p:cNvPr id="26" name="text-670"/>
          <p:cNvSpPr txBox="1"/>
          <p:nvPr/>
        </p:nvSpPr>
        <p:spPr>
          <a:xfrm>
            <a:off x="548640"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 min</a:t>
            </a:r>
            <a:endParaRPr lang="en-US" sz="1800" dirty="0"/>
          </a:p>
        </p:txBody>
      </p:sp>
      <p:sp>
        <p:nvSpPr>
          <p:cNvPr id="27" name="text-671"/>
          <p:cNvSpPr txBox="1"/>
          <p:nvPr/>
        </p:nvSpPr>
        <p:spPr>
          <a:xfrm>
            <a:off x="548640"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Aurora Line trains at rush hour</a:t>
            </a:r>
            <a:endParaRPr lang="en-US" sz="800" dirty="0"/>
          </a:p>
        </p:txBody>
      </p:sp>
      <p:sp>
        <p:nvSpPr>
          <p:cNvPr id="28" name="text-672"/>
          <p:cNvSpPr txBox="1"/>
          <p:nvPr/>
        </p:nvSpPr>
        <p:spPr>
          <a:xfrm>
            <a:off x="1841602"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90 s</a:t>
            </a:r>
            <a:endParaRPr lang="en-US" sz="1800" dirty="0"/>
          </a:p>
        </p:txBody>
      </p:sp>
      <p:sp>
        <p:nvSpPr>
          <p:cNvPr id="29" name="text-673"/>
          <p:cNvSpPr txBox="1"/>
          <p:nvPr/>
        </p:nvSpPr>
        <p:spPr>
          <a:xfrm>
            <a:off x="1841602"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Glacier Line after big stadium events</a:t>
            </a:r>
            <a:endParaRPr lang="en-US" sz="800" dirty="0"/>
          </a:p>
        </p:txBody>
      </p:sp>
      <p:sp>
        <p:nvSpPr>
          <p:cNvPr id="30" name="text-674"/>
          <p:cNvSpPr txBox="1"/>
          <p:nvPr/>
        </p:nvSpPr>
        <p:spPr>
          <a:xfrm>
            <a:off x="3134563"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30%</a:t>
            </a:r>
            <a:endParaRPr lang="en-US" sz="1800" dirty="0"/>
          </a:p>
        </p:txBody>
      </p:sp>
      <p:sp>
        <p:nvSpPr>
          <p:cNvPr id="31" name="text-675"/>
          <p:cNvSpPr txBox="1"/>
          <p:nvPr/>
        </p:nvSpPr>
        <p:spPr>
          <a:xfrm>
            <a:off x="3134563"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of train energy returned by braking</a:t>
            </a:r>
            <a:endParaRPr lang="en-US" sz="800" dirty="0"/>
          </a:p>
        </p:txBody>
      </p:sp>
      <p:sp>
        <p:nvSpPr>
          <p:cNvPr id="32" name="text-676"/>
          <p:cNvSpPr txBox="1"/>
          <p:nvPr/>
        </p:nvSpPr>
        <p:spPr>
          <a:xfrm>
            <a:off x="4427525"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2,800 m</a:t>
            </a:r>
            <a:endParaRPr lang="en-US" sz="1800" dirty="0"/>
          </a:p>
        </p:txBody>
      </p:sp>
      <p:sp>
        <p:nvSpPr>
          <p:cNvPr id="33" name="text-677"/>
          <p:cNvSpPr txBox="1"/>
          <p:nvPr/>
        </p:nvSpPr>
        <p:spPr>
          <a:xfrm>
            <a:off x="4427525"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heated airport runway</a:t>
            </a:r>
            <a:endParaRPr lang="en-US" sz="800" dirty="0"/>
          </a:p>
        </p:txBody>
      </p:sp>
      <p:sp>
        <p:nvSpPr>
          <p:cNvPr id="34" name="text-678"/>
          <p:cNvSpPr txBox="1"/>
          <p:nvPr/>
        </p:nvSpPr>
        <p:spPr>
          <a:xfrm>
            <a:off x="5720486" y="9116568"/>
            <a:ext cx="1183234" cy="301752"/>
          </a:xfrm>
          <a:prstGeom prst="rect">
            <a:avLst/>
          </a:prstGeom>
          <a:noFill/>
          <a:ln/>
        </p:spPr>
        <p:txBody>
          <a:bodyPr wrap="square" lIns="0" tIns="0" rIns="0" bIns="0" rtlCol="0" anchor="b"/>
          <a:lstStyle/>
          <a:p>
            <a:pPr indent="0" marL="0">
              <a:buNone/>
            </a:pPr>
            <a:r>
              <a:rPr lang="en-US" sz="1800" b="1" dirty="0">
                <a:solidFill>
                  <a:schemeClr val="accent6"/>
                </a:solidFill>
                <a:latin typeface="+mj-lt" pitchFamily="34" charset="0"/>
                <a:ea typeface="+mj-lt" pitchFamily="34" charset="-122"/>
                <a:cs typeface="+mj-lt" pitchFamily="34" charset="-120"/>
              </a:rPr>
              <a:t>20 km/h</a:t>
            </a:r>
            <a:endParaRPr lang="en-US" sz="1800" dirty="0"/>
          </a:p>
        </p:txBody>
      </p:sp>
      <p:sp>
        <p:nvSpPr>
          <p:cNvPr id="35" name="text-679"/>
          <p:cNvSpPr txBox="1"/>
          <p:nvPr/>
        </p:nvSpPr>
        <p:spPr>
          <a:xfrm>
            <a:off x="5720486" y="9445752"/>
            <a:ext cx="1183234" cy="365760"/>
          </a:xfrm>
          <a:prstGeom prst="rect">
            <a:avLst/>
          </a:prstGeom>
          <a:noFill/>
          <a:ln/>
        </p:spPr>
        <p:txBody>
          <a:bodyPr wrap="square" lIns="0" tIns="0" rIns="0" bIns="0" rtlCol="0" anchor="t"/>
          <a:lstStyle/>
          <a:p>
            <a:pPr indent="0" marL="0">
              <a:lnSpc>
                <a:spcPct val="105000"/>
              </a:lnSpc>
              <a:buNone/>
            </a:pPr>
            <a:r>
              <a:rPr lang="en-US" sz="800" dirty="0">
                <a:solidFill>
                  <a:schemeClr val="tx2"/>
                </a:solidFill>
              </a:rPr>
              <a:t>downtown speed limit</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picture-680" descr="/home/user/chatbox-bi-n-o/magazine/assets/renders/greenhouse.jpg">    </p:cNvPr>
          <p:cNvPicPr>
            <a:picLocks noChangeAspect="1"/>
          </p:cNvPicPr>
          <p:nvPr/>
        </p:nvPicPr>
        <p:blipFill>
          <a:blip r:embed="rId1"/>
          <a:srcRect l="0" r="0" t="0" b="0"/>
          <a:stretch/>
        </p:blipFill>
        <p:spPr>
          <a:xfrm>
            <a:off x="0" y="0"/>
            <a:ext cx="7562088" cy="10689336"/>
          </a:xfrm>
          <a:prstGeom prst="rect">
            <a:avLst/>
          </a:prstGeom>
        </p:spPr>
      </p:pic>
      <p:pic>
        <p:nvPicPr>
          <p:cNvPr id="3" name="shade-top-681" descr="/home/user/chatbox-bi-n-o/magazine/assets/ui/shade_top.png">    </p:cNvPr>
          <p:cNvPicPr>
            <a:picLocks noChangeAspect="1"/>
          </p:cNvPicPr>
          <p:nvPr/>
        </p:nvPicPr>
        <p:blipFill>
          <a:blip r:embed="rId2"/>
          <a:stretch>
            <a:fillRect/>
          </a:stretch>
        </p:blipFill>
        <p:spPr>
          <a:xfrm>
            <a:off x="0" y="0"/>
            <a:ext cx="7562088" cy="3566160"/>
          </a:xfrm>
          <a:prstGeom prst="rect">
            <a:avLst/>
          </a:prstGeom>
        </p:spPr>
      </p:pic>
      <p:pic>
        <p:nvPicPr>
          <p:cNvPr id="4" name="shade-bottom-682" descr="/home/user/chatbox-bi-n-o/magazine/assets/ui/shade_bottom.png">    </p:cNvPr>
          <p:cNvPicPr>
            <a:picLocks noChangeAspect="1"/>
          </p:cNvPicPr>
          <p:nvPr/>
        </p:nvPicPr>
        <p:blipFill>
          <a:blip r:embed="rId3"/>
          <a:stretch>
            <a:fillRect/>
          </a:stretch>
        </p:blipFill>
        <p:spPr>
          <a:xfrm>
            <a:off x="0" y="5852160"/>
            <a:ext cx="7562088" cy="4837176"/>
          </a:xfrm>
          <a:prstGeom prst="rect">
            <a:avLst/>
          </a:prstGeom>
        </p:spPr>
      </p:pic>
      <p:sp>
        <p:nvSpPr>
          <p:cNvPr id="5" name="kicker-dot-683"/>
          <p:cNvSpPr/>
          <p:nvPr/>
        </p:nvSpPr>
        <p:spPr>
          <a:xfrm>
            <a:off x="548640" y="589788"/>
            <a:ext cx="100584" cy="100584"/>
          </a:xfrm>
          <a:prstGeom prst="ellipse">
            <a:avLst/>
          </a:prstGeom>
          <a:solidFill>
            <a:schemeClr val="accent1"/>
          </a:solidFill>
          <a:ln w="12700">
            <a:solidFill>
              <a:schemeClr val="accent1"/>
            </a:solidFill>
            <a:prstDash val="solid"/>
          </a:ln>
        </p:spPr>
      </p:sp>
      <p:sp>
        <p:nvSpPr>
          <p:cNvPr id="6" name="text-684"/>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EVERGREEN GREENHOUSE DOME</a:t>
            </a:r>
            <a:endParaRPr lang="en-US" sz="900" dirty="0"/>
          </a:p>
        </p:txBody>
      </p:sp>
      <p:sp>
        <p:nvSpPr>
          <p:cNvPr id="7" name="title-685"/>
          <p:cNvSpPr txBox="1"/>
          <p:nvPr/>
        </p:nvSpPr>
        <p:spPr>
          <a:xfrm>
            <a:off x="548640" y="804672"/>
            <a:ext cx="6464808" cy="1463040"/>
          </a:xfrm>
          <a:prstGeom prst="rect">
            <a:avLst/>
          </a:prstGeom>
          <a:noFill/>
          <a:ln/>
        </p:spPr>
        <p:txBody>
          <a:bodyPr wrap="square" lIns="0" tIns="0" rIns="0" bIns="0" rtlCol="0" anchor="t"/>
          <a:lstStyle/>
          <a:p>
            <a:pPr indent="0" marL="0">
              <a:lnSpc>
                <a:spcPct val="92000"/>
              </a:lnSpc>
              <a:buNone/>
            </a:pPr>
            <a:r>
              <a:rPr lang="en-US" sz="4400" b="1" dirty="0">
                <a:solidFill>
                  <a:schemeClr val="bg1"/>
                </a:solidFill>
                <a:latin typeface="+mj-lt" pitchFamily="34" charset="0"/>
                <a:ea typeface="+mj-lt" pitchFamily="34" charset="-122"/>
                <a:cs typeface="+mj-lt" pitchFamily="34" charset="-120"/>
              </a:rPr>
              <a:t>Salad Under the Northern Lights</a:t>
            </a:r>
            <a:endParaRPr lang="en-US" sz="4400" dirty="0"/>
          </a:p>
        </p:txBody>
      </p:sp>
      <p:sp>
        <p:nvSpPr>
          <p:cNvPr id="8" name="text-687"/>
          <p:cNvSpPr txBox="1"/>
          <p:nvPr/>
        </p:nvSpPr>
        <p:spPr>
          <a:xfrm>
            <a:off x="548640" y="2286000"/>
            <a:ext cx="5669280" cy="731520"/>
          </a:xfrm>
          <a:prstGeom prst="rect">
            <a:avLst/>
          </a:prstGeom>
          <a:noFill/>
          <a:ln/>
        </p:spPr>
        <p:txBody>
          <a:bodyPr wrap="square" lIns="0" tIns="0" rIns="0" bIns="0" rtlCol="0" anchor="t"/>
          <a:lstStyle/>
          <a:p>
            <a:pPr indent="0" marL="0">
              <a:lnSpc>
                <a:spcPct val="110000"/>
              </a:lnSpc>
              <a:buNone/>
            </a:pPr>
            <a:r>
              <a:rPr lang="en-US" sz="1400" i="1" dirty="0">
                <a:solidFill>
                  <a:schemeClr val="bg1"/>
                </a:solidFill>
                <a:latin typeface="+mj-lt" pitchFamily="34" charset="0"/>
                <a:ea typeface="+mj-lt" pitchFamily="34" charset="-122"/>
                <a:cs typeface="+mj-lt" pitchFamily="34" charset="-120"/>
              </a:rPr>
              <a:t>Fresh salad, tomatoes, peppers, herbs and berries all year, even in the polar night and in winters when supplies can only arrive by air.</a:t>
            </a:r>
            <a:endParaRPr lang="en-US" sz="1400" dirty="0"/>
          </a:p>
        </p:txBody>
      </p:sp>
      <p:sp>
        <p:nvSpPr>
          <p:cNvPr id="9" name="text-688"/>
          <p:cNvSpPr txBox="1"/>
          <p:nvPr/>
        </p:nvSpPr>
        <p:spPr>
          <a:xfrm>
            <a:off x="548640" y="8503920"/>
            <a:ext cx="4023360" cy="146304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bg1"/>
                </a:solidFill>
              </a:rPr>
              <a:t>The dome is heated by the district-heating loop and wrapped in thermal curtains at night. LED grow lights give the plants 18-hour “days” on stacked hydroponic racks, and CO₂ from the biogas plant and the waste converter boosts growth.</a:t>
            </a:r>
            <a:endParaRPr lang="en-US" sz="1000" dirty="0"/>
          </a:p>
        </p:txBody>
      </p:sp>
      <p:sp>
        <p:nvSpPr>
          <p:cNvPr id="10" name="text-689"/>
          <p:cNvSpPr txBox="1"/>
          <p:nvPr/>
        </p:nvSpPr>
        <p:spPr>
          <a:xfrm>
            <a:off x="4937760" y="827532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18 h</a:t>
            </a:r>
            <a:endParaRPr lang="en-US" sz="2600" dirty="0"/>
          </a:p>
        </p:txBody>
      </p:sp>
      <p:sp>
        <p:nvSpPr>
          <p:cNvPr id="11" name="text-690"/>
          <p:cNvSpPr txBox="1"/>
          <p:nvPr/>
        </p:nvSpPr>
        <p:spPr>
          <a:xfrm>
            <a:off x="4937760" y="870610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LED “days” for the plants</a:t>
            </a:r>
            <a:endParaRPr lang="en-US" sz="900" dirty="0"/>
          </a:p>
        </p:txBody>
      </p:sp>
      <p:sp>
        <p:nvSpPr>
          <p:cNvPr id="12" name="text-691"/>
          <p:cNvSpPr txBox="1"/>
          <p:nvPr/>
        </p:nvSpPr>
        <p:spPr>
          <a:xfrm>
            <a:off x="4937760" y="9052560"/>
            <a:ext cx="2075688" cy="403352"/>
          </a:xfrm>
          <a:prstGeom prst="rect">
            <a:avLst/>
          </a:prstGeom>
          <a:noFill/>
          <a:ln/>
        </p:spPr>
        <p:txBody>
          <a:bodyPr wrap="square" lIns="0" tIns="0" rIns="0" bIns="0" rtlCol="0" anchor="b"/>
          <a:lstStyle/>
          <a:p>
            <a:pPr indent="0" marL="0">
              <a:buNone/>
            </a:pPr>
            <a:r>
              <a:rPr lang="en-US" sz="2600" b="1" dirty="0">
                <a:solidFill>
                  <a:schemeClr val="accent1"/>
                </a:solidFill>
                <a:latin typeface="+mj-lt" pitchFamily="34" charset="0"/>
                <a:ea typeface="+mj-lt" pitchFamily="34" charset="-122"/>
                <a:cs typeface="+mj-lt" pitchFamily="34" charset="-120"/>
              </a:rPr>
              <a:t>90%</a:t>
            </a:r>
            <a:endParaRPr lang="en-US" sz="2600" dirty="0"/>
          </a:p>
        </p:txBody>
      </p:sp>
      <p:sp>
        <p:nvSpPr>
          <p:cNvPr id="13" name="text-692"/>
          <p:cNvSpPr txBox="1"/>
          <p:nvPr/>
        </p:nvSpPr>
        <p:spPr>
          <a:xfrm>
            <a:off x="4937760" y="9483344"/>
            <a:ext cx="2075688" cy="228600"/>
          </a:xfrm>
          <a:prstGeom prst="rect">
            <a:avLst/>
          </a:prstGeom>
          <a:noFill/>
          <a:ln/>
        </p:spPr>
        <p:txBody>
          <a:bodyPr wrap="square" lIns="0" tIns="0" rIns="0" bIns="0" rtlCol="0" anchor="t"/>
          <a:lstStyle/>
          <a:p>
            <a:pPr indent="0" marL="0">
              <a:lnSpc>
                <a:spcPct val="105000"/>
              </a:lnSpc>
              <a:buNone/>
            </a:pPr>
            <a:r>
              <a:rPr lang="en-US" sz="900" dirty="0">
                <a:solidFill>
                  <a:schemeClr val="bg2"/>
                </a:solidFill>
              </a:rPr>
              <a:t>less water than fields [16]</a:t>
            </a:r>
            <a:endParaRPr lang="en-US" sz="900" dirty="0"/>
          </a:p>
        </p:txBody>
      </p:sp>
      <p:sp>
        <p:nvSpPr>
          <p:cNvPr id="14" name="text-693"/>
          <p:cNvSpPr txBox="1"/>
          <p:nvPr/>
        </p:nvSpPr>
        <p:spPr>
          <a:xfrm>
            <a:off x="548640" y="7909560"/>
            <a:ext cx="6464808" cy="411480"/>
          </a:xfrm>
          <a:prstGeom prst="rect">
            <a:avLst/>
          </a:prstGeom>
          <a:noFill/>
          <a:ln/>
        </p:spPr>
        <p:txBody>
          <a:bodyPr wrap="square" lIns="0" tIns="0" rIns="0" bIns="0" rtlCol="0" anchor="t"/>
          <a:lstStyle/>
          <a:p>
            <a:pPr indent="0" marL="0">
              <a:buNone/>
            </a:pPr>
            <a:r>
              <a:rPr lang="en-US" sz="850" i="1" dirty="0">
                <a:solidFill>
                  <a:schemeClr val="bg2"/>
                </a:solidFill>
              </a:rPr>
              <a:t>Inside the Evergreen Greenhouse Dome, where the flowers for the monument’s red and yellow beds are raised too.</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kicker-dot-694"/>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69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SAFETY</a:t>
            </a:r>
            <a:endParaRPr lang="en-US" sz="900" dirty="0"/>
          </a:p>
        </p:txBody>
      </p:sp>
      <p:sp>
        <p:nvSpPr>
          <p:cNvPr id="4" name="title-69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Safe and Ready for Any Storm</a:t>
            </a:r>
            <a:endParaRPr lang="en-US" sz="3400" dirty="0"/>
          </a:p>
        </p:txBody>
      </p:sp>
      <p:pic>
        <p:nvPicPr>
          <p:cNvPr id="5" name="picture-698" descr="/home/user/chatbox-bi-n-o/magazine/assets/renders/rescue.jpg">    </p:cNvPr>
          <p:cNvPicPr>
            <a:picLocks noChangeAspect="1"/>
          </p:cNvPicPr>
          <p:nvPr/>
        </p:nvPicPr>
        <p:blipFill>
          <a:blip r:embed="rId1"/>
          <a:srcRect l="0" r="0" t="0" b="0"/>
          <a:stretch/>
        </p:blipFill>
        <p:spPr>
          <a:xfrm>
            <a:off x="0" y="1508760"/>
            <a:ext cx="7562088" cy="3840480"/>
          </a:xfrm>
          <a:prstGeom prst="rect">
            <a:avLst/>
          </a:prstGeom>
        </p:spPr>
      </p:pic>
      <p:sp>
        <p:nvSpPr>
          <p:cNvPr id="6" name="text-699"/>
          <p:cNvSpPr txBox="1"/>
          <p:nvPr/>
        </p:nvSpPr>
        <p:spPr>
          <a:xfrm>
            <a:off x="548640" y="5394960"/>
            <a:ext cx="6464808" cy="228600"/>
          </a:xfrm>
          <a:prstGeom prst="rect">
            <a:avLst/>
          </a:prstGeom>
          <a:noFill/>
          <a:ln/>
        </p:spPr>
        <p:txBody>
          <a:bodyPr wrap="square" lIns="0" tIns="0" rIns="0" bIns="0" rtlCol="0" anchor="t"/>
          <a:lstStyle/>
          <a:p>
            <a:pPr indent="0" marL="0">
              <a:buNone/>
            </a:pPr>
            <a:r>
              <a:rPr lang="en-US" sz="850" i="1" dirty="0">
                <a:solidFill>
                  <a:schemeClr val="tx2"/>
                </a:solidFill>
              </a:rPr>
              <a:t>The Polar Rescue and Resilience Station in the Energy Hub, north of downtown, with its helipad.</a:t>
            </a:r>
            <a:endParaRPr lang="en-US" sz="850" dirty="0"/>
          </a:p>
        </p:txBody>
      </p:sp>
      <p:sp>
        <p:nvSpPr>
          <p:cNvPr id="7" name="text-700"/>
          <p:cNvSpPr txBox="1"/>
          <p:nvPr/>
        </p:nvSpPr>
        <p:spPr>
          <a:xfrm>
            <a:off x="548640"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In the polar night, safety comes first. The Polar Rescue and Resilience Station is home to the fire brigade, ambulances, ice rescue and the 112 emergency centre, and its vehicles leave within 60 seconds.</a:t>
            </a:r>
            <a:endParaRPr lang="en-US" sz="1050" dirty="0"/>
          </a:p>
          <a:p>
            <a:pPr indent="0" marL="0">
              <a:lnSpc>
                <a:spcPct val="112000"/>
              </a:lnSpc>
              <a:spcAft>
                <a:spcPts val="700"/>
              </a:spcAft>
              <a:buNone/>
            </a:pPr>
            <a:r>
              <a:rPr lang="en-US" sz="1050" dirty="0">
                <a:solidFill>
                  <a:schemeClr val="tx1"/>
                </a:solidFill>
              </a:rPr>
              <a:t>The West Market Fire &amp; Ambulance Station reaches any downtown address in about four minutes, and a rescue helicopter is ready day and night.</a:t>
            </a:r>
            <a:endParaRPr lang="en-US" sz="1050" dirty="0"/>
          </a:p>
        </p:txBody>
      </p:sp>
      <p:sp>
        <p:nvSpPr>
          <p:cNvPr id="8" name="text-701"/>
          <p:cNvSpPr txBox="1"/>
          <p:nvPr/>
        </p:nvSpPr>
        <p:spPr>
          <a:xfrm>
            <a:off x="3918204" y="5806440"/>
            <a:ext cx="3095244" cy="2011680"/>
          </a:xfrm>
          <a:prstGeom prst="rect">
            <a:avLst/>
          </a:prstGeom>
          <a:noFill/>
          <a:ln/>
        </p:spPr>
        <p:txBody>
          <a:bodyPr wrap="square" lIns="0" tIns="0" rIns="0" bIns="0" rtlCol="0" anchor="t"/>
          <a:lstStyle/>
          <a:p>
            <a:pPr indent="0" marL="0">
              <a:lnSpc>
                <a:spcPct val="112000"/>
              </a:lnSpc>
              <a:spcAft>
                <a:spcPts val="700"/>
              </a:spcAft>
              <a:buNone/>
            </a:pPr>
            <a:r>
              <a:rPr lang="en-US" sz="1050" dirty="0">
                <a:solidFill>
                  <a:schemeClr val="tx1"/>
                </a:solidFill>
              </a:rPr>
              <a:t>Under Liberty Mall, four underground shelters can keep every resident safe for 30 days. Aurora Core, the AI control tower, forecasts blizzards up to 48 hours ahead and alerts every phone.</a:t>
            </a:r>
            <a:endParaRPr lang="en-US" sz="1050" dirty="0"/>
          </a:p>
          <a:p>
            <a:pPr indent="0" marL="0">
              <a:lnSpc>
                <a:spcPct val="112000"/>
              </a:lnSpc>
              <a:spcAft>
                <a:spcPts val="700"/>
              </a:spcAft>
              <a:buNone/>
            </a:pPr>
            <a:r>
              <a:rPr lang="en-US" sz="1050" dirty="0">
                <a:solidFill>
                  <a:schemeClr val="tx1"/>
                </a:solidFill>
              </a:rPr>
              <a:t>Cafés and lobbies act as warm points, and the air base runway is a backup for supply flights.</a:t>
            </a:r>
            <a:endParaRPr lang="en-US" sz="1050" dirty="0"/>
          </a:p>
        </p:txBody>
      </p:sp>
      <p:sp>
        <p:nvSpPr>
          <p:cNvPr id="9" name="text-702"/>
          <p:cNvSpPr txBox="1"/>
          <p:nvPr/>
        </p:nvSpPr>
        <p:spPr>
          <a:xfrm>
            <a:off x="548640"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60 s</a:t>
            </a:r>
            <a:endParaRPr lang="en-US" sz="2400" dirty="0"/>
          </a:p>
        </p:txBody>
      </p:sp>
      <p:sp>
        <p:nvSpPr>
          <p:cNvPr id="10" name="text-703"/>
          <p:cNvSpPr txBox="1"/>
          <p:nvPr/>
        </p:nvSpPr>
        <p:spPr>
          <a:xfrm>
            <a:off x="548640"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rescue vehicles to leave</a:t>
            </a:r>
            <a:endParaRPr lang="en-US" sz="900" dirty="0"/>
          </a:p>
        </p:txBody>
      </p:sp>
      <p:sp>
        <p:nvSpPr>
          <p:cNvPr id="11" name="text-704"/>
          <p:cNvSpPr txBox="1"/>
          <p:nvPr/>
        </p:nvSpPr>
        <p:spPr>
          <a:xfrm>
            <a:off x="2703576"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 min</a:t>
            </a:r>
            <a:endParaRPr lang="en-US" sz="2400" dirty="0"/>
          </a:p>
        </p:txBody>
      </p:sp>
      <p:sp>
        <p:nvSpPr>
          <p:cNvPr id="12" name="text-705"/>
          <p:cNvSpPr txBox="1"/>
          <p:nvPr/>
        </p:nvSpPr>
        <p:spPr>
          <a:xfrm>
            <a:off x="2703576"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to any downtown address</a:t>
            </a:r>
            <a:endParaRPr lang="en-US" sz="900" dirty="0"/>
          </a:p>
        </p:txBody>
      </p:sp>
      <p:sp>
        <p:nvSpPr>
          <p:cNvPr id="13" name="text-706"/>
          <p:cNvSpPr txBox="1"/>
          <p:nvPr/>
        </p:nvSpPr>
        <p:spPr>
          <a:xfrm>
            <a:off x="4858512" y="790956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10 min</a:t>
            </a:r>
            <a:endParaRPr lang="en-US" sz="2400" dirty="0"/>
          </a:p>
        </p:txBody>
      </p:sp>
      <p:sp>
        <p:nvSpPr>
          <p:cNvPr id="14" name="text-707"/>
          <p:cNvSpPr txBox="1"/>
          <p:nvPr/>
        </p:nvSpPr>
        <p:spPr>
          <a:xfrm>
            <a:off x="4858512" y="831494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for the rescue helicopter to be airborne</a:t>
            </a:r>
            <a:endParaRPr lang="en-US" sz="900" dirty="0"/>
          </a:p>
        </p:txBody>
      </p:sp>
      <p:sp>
        <p:nvSpPr>
          <p:cNvPr id="15" name="text-708"/>
          <p:cNvSpPr txBox="1"/>
          <p:nvPr/>
        </p:nvSpPr>
        <p:spPr>
          <a:xfrm>
            <a:off x="548640"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a:t>
            </a:r>
            <a:endParaRPr lang="en-US" sz="2400" dirty="0"/>
          </a:p>
        </p:txBody>
      </p:sp>
      <p:sp>
        <p:nvSpPr>
          <p:cNvPr id="16" name="text-709"/>
          <p:cNvSpPr txBox="1"/>
          <p:nvPr/>
        </p:nvSpPr>
        <p:spPr>
          <a:xfrm>
            <a:off x="548640"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underground shelters</a:t>
            </a:r>
            <a:endParaRPr lang="en-US" sz="900" dirty="0"/>
          </a:p>
        </p:txBody>
      </p:sp>
      <p:sp>
        <p:nvSpPr>
          <p:cNvPr id="17" name="text-710"/>
          <p:cNvSpPr txBox="1"/>
          <p:nvPr/>
        </p:nvSpPr>
        <p:spPr>
          <a:xfrm>
            <a:off x="2703576"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30 days</a:t>
            </a:r>
            <a:endParaRPr lang="en-US" sz="2400" dirty="0"/>
          </a:p>
        </p:txBody>
      </p:sp>
      <p:sp>
        <p:nvSpPr>
          <p:cNvPr id="18" name="text-711"/>
          <p:cNvSpPr txBox="1"/>
          <p:nvPr/>
        </p:nvSpPr>
        <p:spPr>
          <a:xfrm>
            <a:off x="2703576"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of supplies for every resident</a:t>
            </a:r>
            <a:endParaRPr lang="en-US" sz="900" dirty="0"/>
          </a:p>
        </p:txBody>
      </p:sp>
      <p:sp>
        <p:nvSpPr>
          <p:cNvPr id="19" name="text-712"/>
          <p:cNvSpPr txBox="1"/>
          <p:nvPr/>
        </p:nvSpPr>
        <p:spPr>
          <a:xfrm>
            <a:off x="4858512" y="8915400"/>
            <a:ext cx="2017776" cy="377952"/>
          </a:xfrm>
          <a:prstGeom prst="rect">
            <a:avLst/>
          </a:prstGeom>
          <a:noFill/>
          <a:ln/>
        </p:spPr>
        <p:txBody>
          <a:bodyPr wrap="square" lIns="0" tIns="0" rIns="0" bIns="0" rtlCol="0" anchor="b"/>
          <a:lstStyle/>
          <a:p>
            <a:pPr indent="0" marL="0">
              <a:buNone/>
            </a:pPr>
            <a:r>
              <a:rPr lang="en-US" sz="2400" b="1" dirty="0">
                <a:solidFill>
                  <a:schemeClr val="accent2"/>
                </a:solidFill>
                <a:latin typeface="+mj-lt" pitchFamily="34" charset="0"/>
                <a:ea typeface="+mj-lt" pitchFamily="34" charset="-122"/>
                <a:cs typeface="+mj-lt" pitchFamily="34" charset="-120"/>
              </a:rPr>
              <a:t>48 h</a:t>
            </a:r>
            <a:endParaRPr lang="en-US" sz="2400" dirty="0"/>
          </a:p>
        </p:txBody>
      </p:sp>
      <p:sp>
        <p:nvSpPr>
          <p:cNvPr id="20" name="text-713"/>
          <p:cNvSpPr txBox="1"/>
          <p:nvPr/>
        </p:nvSpPr>
        <p:spPr>
          <a:xfrm>
            <a:off x="4858512" y="9320784"/>
            <a:ext cx="2017776" cy="365760"/>
          </a:xfrm>
          <a:prstGeom prst="rect">
            <a:avLst/>
          </a:prstGeom>
          <a:noFill/>
          <a:ln/>
        </p:spPr>
        <p:txBody>
          <a:bodyPr wrap="square" lIns="0" tIns="0" rIns="0" bIns="0" rtlCol="0" anchor="t"/>
          <a:lstStyle/>
          <a:p>
            <a:pPr indent="0" marL="0">
              <a:lnSpc>
                <a:spcPct val="105000"/>
              </a:lnSpc>
              <a:buNone/>
            </a:pPr>
            <a:r>
              <a:rPr lang="en-US" sz="900" dirty="0">
                <a:solidFill>
                  <a:schemeClr val="tx2"/>
                </a:solidFill>
              </a:rPr>
              <a:t>blizzard forecasts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kicker-dot-714"/>
          <p:cNvSpPr/>
          <p:nvPr/>
        </p:nvSpPr>
        <p:spPr>
          <a:xfrm>
            <a:off x="548640" y="544068"/>
            <a:ext cx="100584" cy="100584"/>
          </a:xfrm>
          <a:prstGeom prst="ellipse">
            <a:avLst/>
          </a:prstGeom>
          <a:solidFill>
            <a:schemeClr val="accent2"/>
          </a:solidFill>
          <a:ln w="12700">
            <a:solidFill>
              <a:schemeClr val="accent2"/>
            </a:solidFill>
            <a:prstDash val="solid"/>
          </a:ln>
        </p:spPr>
      </p:sp>
      <p:sp>
        <p:nvSpPr>
          <p:cNvPr id="3" name="text-715"/>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2"/>
                </a:solidFill>
              </a:rPr>
              <a:t>WEIGHING IT UP · AN HONEST BALANCE SHEET</a:t>
            </a:r>
            <a:endParaRPr lang="en-US" sz="900" dirty="0"/>
          </a:p>
        </p:txBody>
      </p:sp>
      <p:sp>
        <p:nvSpPr>
          <p:cNvPr id="4" name="title-716"/>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Pros &amp; Cons</a:t>
            </a:r>
            <a:endParaRPr lang="en-US" sz="3400" dirty="0"/>
          </a:p>
        </p:txBody>
      </p:sp>
      <p:sp>
        <p:nvSpPr>
          <p:cNvPr id="5" name="text-718"/>
          <p:cNvSpPr txBox="1"/>
          <p:nvPr/>
        </p:nvSpPr>
        <p:spPr>
          <a:xfrm>
            <a:off x="548640" y="1371600"/>
            <a:ext cx="6464808" cy="548640"/>
          </a:xfrm>
          <a:prstGeom prst="rect">
            <a:avLst/>
          </a:prstGeom>
          <a:noFill/>
          <a:ln/>
        </p:spPr>
        <p:txBody>
          <a:bodyPr wrap="square" lIns="0" tIns="0" rIns="0" bIns="0" rtlCol="0" anchor="t"/>
          <a:lstStyle/>
          <a:p>
            <a:pPr indent="0" marL="0">
              <a:lnSpc>
                <a:spcPct val="110000"/>
              </a:lnSpc>
              <a:buNone/>
            </a:pPr>
            <a:r>
              <a:rPr lang="en-US" sz="1250" i="1" dirty="0">
                <a:solidFill>
                  <a:schemeClr val="tx2"/>
                </a:solidFill>
                <a:latin typeface="+mj-lt" pitchFamily="34" charset="0"/>
                <a:ea typeface="+mj-lt" pitchFamily="34" charset="-122"/>
                <a:cs typeface="+mj-lt" pitchFamily="34" charset="-120"/>
              </a:rPr>
              <a:t>No city is perfect. Here is what Aurora Haven does well, where it could fail, what it costs and what we gave up to make it work.</a:t>
            </a:r>
            <a:endParaRPr lang="en-US" sz="1250" dirty="0"/>
          </a:p>
        </p:txBody>
      </p:sp>
      <p:sp>
        <p:nvSpPr>
          <p:cNvPr id="6" name="list-head-719"/>
          <p:cNvSpPr/>
          <p:nvPr/>
        </p:nvSpPr>
        <p:spPr>
          <a:xfrm>
            <a:off x="548640" y="2057400"/>
            <a:ext cx="3095244" cy="310896"/>
          </a:xfrm>
          <a:prstGeom prst="rect">
            <a:avLst/>
          </a:prstGeom>
          <a:solidFill>
            <a:schemeClr val="accent1"/>
          </a:solidFill>
          <a:ln w="12700">
            <a:solidFill>
              <a:schemeClr val="accent1"/>
            </a:solidFill>
            <a:prstDash val="solid"/>
          </a:ln>
        </p:spPr>
      </p:sp>
      <p:sp>
        <p:nvSpPr>
          <p:cNvPr id="7" name="text-720"/>
          <p:cNvSpPr txBox="1"/>
          <p:nvPr/>
        </p:nvSpPr>
        <p:spPr>
          <a:xfrm>
            <a:off x="658368"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ADVANTAGES</a:t>
            </a:r>
            <a:endParaRPr lang="en-US" sz="950" dirty="0"/>
          </a:p>
        </p:txBody>
      </p:sp>
      <p:sp>
        <p:nvSpPr>
          <p:cNvPr id="8" name="text-721"/>
          <p:cNvSpPr txBox="1"/>
          <p:nvPr/>
        </p:nvSpPr>
        <p:spPr>
          <a:xfrm>
            <a:off x="594360"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Zero carbon. </a:t>
            </a:r>
            <a:pPr indent="0" marL="0">
              <a:lnSpc>
                <a:spcPct val="105000"/>
              </a:lnSpc>
              <a:spcAft>
                <a:spcPts val="600"/>
              </a:spcAft>
              <a:buNone/>
            </a:pPr>
            <a:r>
              <a:rPr lang="en-US" sz="1000" dirty="0">
                <a:solidFill>
                  <a:schemeClr val="tx1"/>
                </a:solidFill>
              </a:rPr>
              <a:t>No fossil fuel burns anywhere; four clean energy sources cover for each other.</a:t>
            </a:r>
            <a:endParaRPr lang="en-US" sz="1000" dirty="0"/>
          </a:p>
          <a:p>
            <a:pPr indent="0" marL="0">
              <a:lnSpc>
                <a:spcPct val="105000"/>
              </a:lnSpc>
              <a:buNone/>
            </a:pPr>
            <a:r>
              <a:rPr lang="en-US" sz="1000" b="1" dirty="0">
                <a:solidFill>
                  <a:schemeClr val="tx1"/>
                </a:solidFill>
              </a:rPr>
              <a:t>Water and waste. </a:t>
            </a:r>
            <a:pPr indent="0" marL="0">
              <a:lnSpc>
                <a:spcPct val="105000"/>
              </a:lnSpc>
              <a:spcAft>
                <a:spcPts val="600"/>
              </a:spcAft>
              <a:buNone/>
            </a:pPr>
            <a:r>
              <a:rPr lang="en-US" sz="1000" dirty="0">
                <a:solidFill>
                  <a:schemeClr val="tx1"/>
                </a:solidFill>
              </a:rPr>
              <a:t>About 95% of water is recycled, and nothing goes to landfill in the permafrost.</a:t>
            </a:r>
            <a:endParaRPr lang="en-US" sz="1000" dirty="0"/>
          </a:p>
          <a:p>
            <a:pPr indent="0" marL="0">
              <a:lnSpc>
                <a:spcPct val="105000"/>
              </a:lnSpc>
              <a:buNone/>
            </a:pPr>
            <a:r>
              <a:rPr lang="en-US" sz="1000" b="1" dirty="0">
                <a:solidFill>
                  <a:schemeClr val="tx1"/>
                </a:solidFill>
              </a:rPr>
              <a:t>Food security. </a:t>
            </a:r>
            <a:pPr indent="0" marL="0">
              <a:lnSpc>
                <a:spcPct val="105000"/>
              </a:lnSpc>
              <a:spcAft>
                <a:spcPts val="600"/>
              </a:spcAft>
              <a:buNone/>
            </a:pPr>
            <a:r>
              <a:rPr lang="en-US" sz="1000" dirty="0">
                <a:solidFill>
                  <a:schemeClr val="tx1"/>
                </a:solidFill>
              </a:rPr>
              <a:t>All tap water and about half of the protein are made in the city.</a:t>
            </a:r>
            <a:endParaRPr lang="en-US" sz="1000" dirty="0"/>
          </a:p>
          <a:p>
            <a:pPr indent="0" marL="0">
              <a:lnSpc>
                <a:spcPct val="105000"/>
              </a:lnSpc>
              <a:buNone/>
            </a:pPr>
            <a:r>
              <a:rPr lang="en-US" sz="1000" b="1" dirty="0">
                <a:solidFill>
                  <a:schemeClr val="tx1"/>
                </a:solidFill>
              </a:rPr>
              <a:t>Safety. </a:t>
            </a:r>
            <a:pPr indent="0" marL="0">
              <a:lnSpc>
                <a:spcPct val="105000"/>
              </a:lnSpc>
              <a:spcAft>
                <a:spcPts val="600"/>
              </a:spcAft>
              <a:buNone/>
            </a:pPr>
            <a:r>
              <a:rPr lang="en-US" sz="1000" dirty="0">
                <a:solidFill>
                  <a:schemeClr val="tx1"/>
                </a:solidFill>
              </a:rPr>
              <a:t>Shelters for every resident for 30 days, 48-hour blizzard warnings and a metro that storms cannot stop.</a:t>
            </a:r>
            <a:endParaRPr lang="en-US" sz="1000" dirty="0"/>
          </a:p>
          <a:p>
            <a:pPr indent="0" marL="0">
              <a:lnSpc>
                <a:spcPct val="105000"/>
              </a:lnSpc>
              <a:buNone/>
            </a:pPr>
            <a:r>
              <a:rPr lang="en-US" sz="1000" b="1" dirty="0">
                <a:solidFill>
                  <a:schemeClr val="tx1"/>
                </a:solidFill>
              </a:rPr>
              <a:t>Wellbeing. </a:t>
            </a:r>
            <a:pPr indent="0" marL="0">
              <a:lnSpc>
                <a:spcPct val="105000"/>
              </a:lnSpc>
              <a:spcAft>
                <a:spcPts val="600"/>
              </a:spcAft>
              <a:buNone/>
            </a:pPr>
            <a:r>
              <a:rPr lang="en-US" sz="1000" dirty="0">
                <a:solidFill>
                  <a:schemeClr val="tx1"/>
                </a:solidFill>
              </a:rPr>
              <a:t>Daily needs within a 10-minute walk, plus a spa, a 24-hour library and parks for the polar night.</a:t>
            </a:r>
            <a:endParaRPr lang="en-US" sz="1000" dirty="0"/>
          </a:p>
        </p:txBody>
      </p:sp>
      <p:sp>
        <p:nvSpPr>
          <p:cNvPr id="9" name="list-head-722"/>
          <p:cNvSpPr/>
          <p:nvPr/>
        </p:nvSpPr>
        <p:spPr>
          <a:xfrm>
            <a:off x="3918204" y="2057400"/>
            <a:ext cx="3095244" cy="310896"/>
          </a:xfrm>
          <a:prstGeom prst="rect">
            <a:avLst/>
          </a:prstGeom>
          <a:solidFill>
            <a:schemeClr val="accent2"/>
          </a:solidFill>
          <a:ln w="12700">
            <a:solidFill>
              <a:schemeClr val="accent2"/>
            </a:solidFill>
            <a:prstDash val="solid"/>
          </a:ln>
        </p:spPr>
      </p:sp>
      <p:sp>
        <p:nvSpPr>
          <p:cNvPr id="10" name="text-723"/>
          <p:cNvSpPr txBox="1"/>
          <p:nvPr/>
        </p:nvSpPr>
        <p:spPr>
          <a:xfrm>
            <a:off x="4027932" y="2057400"/>
            <a:ext cx="2875788" cy="310896"/>
          </a:xfrm>
          <a:prstGeom prst="rect">
            <a:avLst/>
          </a:prstGeom>
          <a:noFill/>
          <a:ln/>
        </p:spPr>
        <p:txBody>
          <a:bodyPr wrap="square" lIns="0" tIns="0" rIns="0" bIns="0" rtlCol="0" anchor="ctr"/>
          <a:lstStyle/>
          <a:p>
            <a:pPr indent="0" marL="0">
              <a:buNone/>
            </a:pPr>
            <a:r>
              <a:rPr lang="en-US" sz="950" b="1" spc="200" kern="0" dirty="0">
                <a:solidFill>
                  <a:schemeClr val="bg1"/>
                </a:solidFill>
              </a:rPr>
              <a:t>LIMITATIONS AND RISKS</a:t>
            </a:r>
            <a:endParaRPr lang="en-US" sz="950" dirty="0"/>
          </a:p>
        </p:txBody>
      </p:sp>
      <p:sp>
        <p:nvSpPr>
          <p:cNvPr id="11" name="text-724"/>
          <p:cNvSpPr txBox="1"/>
          <p:nvPr/>
        </p:nvSpPr>
        <p:spPr>
          <a:xfrm>
            <a:off x="3963924" y="2478024"/>
            <a:ext cx="3003804" cy="2697480"/>
          </a:xfrm>
          <a:prstGeom prst="rect">
            <a:avLst/>
          </a:prstGeom>
          <a:noFill/>
          <a:ln/>
        </p:spPr>
        <p:txBody>
          <a:bodyPr wrap="square" lIns="0" tIns="0" rIns="0" bIns="0" rtlCol="0" anchor="t"/>
          <a:lstStyle/>
          <a:p>
            <a:pPr indent="0" marL="0">
              <a:lnSpc>
                <a:spcPct val="105000"/>
              </a:lnSpc>
              <a:buNone/>
            </a:pPr>
            <a:r>
              <a:rPr lang="en-US" sz="1000" b="1" dirty="0">
                <a:solidFill>
                  <a:schemeClr val="tx1"/>
                </a:solidFill>
              </a:rPr>
              <a:t>Fusion is not ready. </a:t>
            </a:r>
            <a:pPr indent="0" marL="0">
              <a:lnSpc>
                <a:spcPct val="105000"/>
              </a:lnSpc>
              <a:spcAft>
                <a:spcPts val="600"/>
              </a:spcAft>
              <a:buNone/>
            </a:pPr>
            <a:r>
              <a:rPr lang="en-US" sz="1000" dirty="0">
                <a:solidFill>
                  <a:schemeClr val="tx1"/>
                </a:solidFill>
              </a:rPr>
              <a:t>ITER plans deuterium-tritium operation only in 2039 [4]; until fusion works, the city depends on geothermal, wind, sun and storage.</a:t>
            </a:r>
            <a:endParaRPr lang="en-US" sz="1000" dirty="0"/>
          </a:p>
          <a:p>
            <a:pPr indent="0" marL="0">
              <a:lnSpc>
                <a:spcPct val="105000"/>
              </a:lnSpc>
              <a:buNone/>
            </a:pPr>
            <a:r>
              <a:rPr lang="en-US" sz="1000" b="1" dirty="0">
                <a:solidFill>
                  <a:schemeClr val="tx1"/>
                </a:solidFill>
              </a:rPr>
              <a:t>One heating loop. </a:t>
            </a:r>
            <a:pPr indent="0" marL="0">
              <a:lnSpc>
                <a:spcPct val="105000"/>
              </a:lnSpc>
              <a:spcAft>
                <a:spcPts val="600"/>
              </a:spcAft>
              <a:buNone/>
            </a:pPr>
            <a:r>
              <a:rPr lang="en-US" sz="1000" dirty="0">
                <a:solidFill>
                  <a:schemeClr val="tx1"/>
                </a:solidFill>
              </a:rPr>
              <a:t>If it fails at −45 °C, homes cool fast; the 12-hour heat tank and the geothermal plant are the safety net.</a:t>
            </a:r>
            <a:endParaRPr lang="en-US" sz="1000" dirty="0"/>
          </a:p>
          <a:p>
            <a:pPr indent="0" marL="0">
              <a:lnSpc>
                <a:spcPct val="105000"/>
              </a:lnSpc>
              <a:buNone/>
            </a:pPr>
            <a:r>
              <a:rPr lang="en-US" sz="1000" b="1" dirty="0">
                <a:solidFill>
                  <a:schemeClr val="tx1"/>
                </a:solidFill>
              </a:rPr>
              <a:t>Thawing ground. </a:t>
            </a:r>
            <a:pPr indent="0" marL="0">
              <a:lnSpc>
                <a:spcPct val="105000"/>
              </a:lnSpc>
              <a:spcAft>
                <a:spcPts val="600"/>
              </a:spcAft>
              <a:buNone/>
            </a:pPr>
            <a:r>
              <a:rPr lang="en-US" sz="1000" dirty="0">
                <a:solidFill>
                  <a:schemeClr val="tx1"/>
                </a:solidFill>
              </a:rPr>
              <a:t>Any heat leak could crack foundations, as thaw already threatens Arctic infrastructure [2]; sensors must watch it constantly.</a:t>
            </a:r>
            <a:endParaRPr lang="en-US" sz="1000" dirty="0"/>
          </a:p>
          <a:p>
            <a:pPr indent="0" marL="0">
              <a:lnSpc>
                <a:spcPct val="105000"/>
              </a:lnSpc>
              <a:buNone/>
            </a:pPr>
            <a:r>
              <a:rPr lang="en-US" sz="1000" b="1" dirty="0">
                <a:solidFill>
                  <a:schemeClr val="tx1"/>
                </a:solidFill>
              </a:rPr>
              <a:t>Cut off by storms. </a:t>
            </a:r>
            <a:pPr indent="0" marL="0">
              <a:lnSpc>
                <a:spcPct val="105000"/>
              </a:lnSpc>
              <a:spcAft>
                <a:spcPts val="600"/>
              </a:spcAft>
              <a:buNone/>
            </a:pPr>
            <a:r>
              <a:rPr lang="en-US" sz="1000" dirty="0">
                <a:solidFill>
                  <a:schemeClr val="tx1"/>
                </a:solidFill>
              </a:rPr>
              <a:t>In deep winter all supplies come by air.</a:t>
            </a:r>
            <a:endParaRPr lang="en-US" sz="1000" dirty="0"/>
          </a:p>
          <a:p>
            <a:pPr indent="0" marL="0">
              <a:lnSpc>
                <a:spcPct val="105000"/>
              </a:lnSpc>
              <a:buNone/>
            </a:pPr>
            <a:r>
              <a:rPr lang="en-US" sz="1000" b="1" dirty="0">
                <a:solidFill>
                  <a:schemeClr val="tx1"/>
                </a:solidFill>
              </a:rPr>
              <a:t>High-tech risks. </a:t>
            </a:r>
            <a:pPr indent="0" marL="0">
              <a:lnSpc>
                <a:spcPct val="105000"/>
              </a:lnSpc>
              <a:spcAft>
                <a:spcPts val="600"/>
              </a:spcAft>
              <a:buNone/>
            </a:pPr>
            <a:r>
              <a:rPr lang="en-US" sz="1000" dirty="0">
                <a:solidFill>
                  <a:schemeClr val="tx1"/>
                </a:solidFill>
              </a:rPr>
              <a:t>AI control systems need cyber-security and skilled staff, and new foods need people’s trust.</a:t>
            </a:r>
            <a:endParaRPr lang="en-US" sz="1000" dirty="0"/>
          </a:p>
        </p:txBody>
      </p:sp>
      <p:sp>
        <p:nvSpPr>
          <p:cNvPr id="12" name="text-725"/>
          <p:cNvSpPr txBox="1"/>
          <p:nvPr/>
        </p:nvSpPr>
        <p:spPr>
          <a:xfrm>
            <a:off x="548640" y="52303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COSTS</a:t>
            </a:r>
            <a:endParaRPr lang="en-US" sz="900" dirty="0"/>
          </a:p>
        </p:txBody>
      </p:sp>
      <p:sp>
        <p:nvSpPr>
          <p:cNvPr id="13" name="text-726"/>
          <p:cNvSpPr txBox="1"/>
          <p:nvPr/>
        </p:nvSpPr>
        <p:spPr>
          <a:xfrm>
            <a:off x="548640"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Building: a fusion plant is one of the most expensive machines ever made: ITER alone is estimated at €18–22 billion to first plasma [12]. Solar Foods’ first protein factory cost about €42 million for up to 160 t a year [6]. Heated streets, insulated tunnels and triple glazing all cost more than ordinary ones.</a:t>
            </a:r>
            <a:endParaRPr lang="en-US" sz="1000" dirty="0"/>
          </a:p>
        </p:txBody>
      </p:sp>
      <p:sp>
        <p:nvSpPr>
          <p:cNvPr id="14" name="text-727"/>
          <p:cNvSpPr txBox="1"/>
          <p:nvPr/>
        </p:nvSpPr>
        <p:spPr>
          <a:xfrm>
            <a:off x="3918204" y="5504688"/>
            <a:ext cx="3095244" cy="1417320"/>
          </a:xfrm>
          <a:prstGeom prst="rect">
            <a:avLst/>
          </a:prstGeom>
          <a:noFill/>
          <a:ln/>
        </p:spPr>
        <p:txBody>
          <a:bodyPr wrap="square" lIns="0" tIns="0" rIns="0" bIns="0" rtlCol="0" anchor="t"/>
          <a:lstStyle/>
          <a:p>
            <a:pPr indent="0" marL="0">
              <a:lnSpc>
                <a:spcPct val="112000"/>
              </a:lnSpc>
              <a:spcAft>
                <a:spcPts val="700"/>
              </a:spcAft>
              <a:buNone/>
            </a:pPr>
            <a:r>
              <a:rPr lang="en-US" sz="1000" dirty="0">
                <a:solidFill>
                  <a:schemeClr val="tx1"/>
                </a:solidFill>
              </a:rPr>
              <a:t>Running: direct air capture uses a lot of energy and still costs hundreds of dollars per tonne of CO₂ [13]. Hydroponic lettuce needs about 82 times more energy than field lettuce, but about 92% less water and 11 times less land [16].</a:t>
            </a:r>
            <a:endParaRPr lang="en-US" sz="1000" dirty="0"/>
          </a:p>
        </p:txBody>
      </p:sp>
      <p:sp>
        <p:nvSpPr>
          <p:cNvPr id="15" name="text-728"/>
          <p:cNvSpPr txBox="1"/>
          <p:nvPr/>
        </p:nvSpPr>
        <p:spPr>
          <a:xfrm>
            <a:off x="548640" y="7059168"/>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TRADE-OFFS: WHAT WE CHOSE, AND WHAT WE GAVE UP</a:t>
            </a:r>
            <a:endParaRPr lang="en-US" sz="900" dirty="0"/>
          </a:p>
        </p:txBody>
      </p:sp>
      <p:sp>
        <p:nvSpPr>
          <p:cNvPr id="16" name="row-band-729"/>
          <p:cNvSpPr/>
          <p:nvPr/>
        </p:nvSpPr>
        <p:spPr>
          <a:xfrm>
            <a:off x="548640" y="7333488"/>
            <a:ext cx="6464808" cy="365760"/>
          </a:xfrm>
          <a:prstGeom prst="rect">
            <a:avLst/>
          </a:prstGeom>
          <a:solidFill>
            <a:schemeClr val="bg2"/>
          </a:solidFill>
          <a:ln w="12700">
            <a:solidFill>
              <a:schemeClr val="bg2"/>
            </a:solidFill>
            <a:prstDash val="solid"/>
          </a:ln>
        </p:spPr>
      </p:sp>
      <p:sp>
        <p:nvSpPr>
          <p:cNvPr id="17" name="text-730"/>
          <p:cNvSpPr txBox="1"/>
          <p:nvPr/>
        </p:nvSpPr>
        <p:spPr>
          <a:xfrm>
            <a:off x="640080" y="733348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Compact blocks that save heat</a:t>
            </a:r>
            <a:endParaRPr lang="en-US" sz="1000" dirty="0"/>
          </a:p>
        </p:txBody>
      </p:sp>
      <p:sp>
        <p:nvSpPr>
          <p:cNvPr id="18" name="text-731"/>
          <p:cNvSpPr txBox="1"/>
          <p:nvPr/>
        </p:nvSpPr>
        <p:spPr>
          <a:xfrm>
            <a:off x="3703320" y="733348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19" name="text-732"/>
          <p:cNvSpPr txBox="1"/>
          <p:nvPr/>
        </p:nvSpPr>
        <p:spPr>
          <a:xfrm>
            <a:off x="4023360" y="7333488"/>
            <a:ext cx="2898648" cy="365760"/>
          </a:xfrm>
          <a:prstGeom prst="rect">
            <a:avLst/>
          </a:prstGeom>
          <a:noFill/>
          <a:ln/>
        </p:spPr>
        <p:txBody>
          <a:bodyPr wrap="square" lIns="0" tIns="0" rIns="0" bIns="0" rtlCol="0" anchor="ctr"/>
          <a:lstStyle/>
          <a:p>
            <a:pPr indent="0" marL="0">
              <a:buNone/>
            </a:pPr>
            <a:r>
              <a:rPr lang="en-US" sz="1000" dirty="0">
                <a:solidFill>
                  <a:schemeClr val="tx2"/>
                </a:solidFill>
              </a:rPr>
              <a:t>smaller homes and less private space</a:t>
            </a:r>
            <a:endParaRPr lang="en-US" sz="1000" dirty="0"/>
          </a:p>
        </p:txBody>
      </p:sp>
      <p:sp>
        <p:nvSpPr>
          <p:cNvPr id="20" name="text-733"/>
          <p:cNvSpPr txBox="1"/>
          <p:nvPr/>
        </p:nvSpPr>
        <p:spPr>
          <a:xfrm>
            <a:off x="640080" y="769924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Metro, trams and shared robotaxis</a:t>
            </a:r>
            <a:endParaRPr lang="en-US" sz="1000" dirty="0"/>
          </a:p>
        </p:txBody>
      </p:sp>
      <p:sp>
        <p:nvSpPr>
          <p:cNvPr id="21" name="text-734"/>
          <p:cNvSpPr txBox="1"/>
          <p:nvPr/>
        </p:nvSpPr>
        <p:spPr>
          <a:xfrm>
            <a:off x="3703320" y="769924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2" name="text-735"/>
          <p:cNvSpPr txBox="1"/>
          <p:nvPr/>
        </p:nvSpPr>
        <p:spPr>
          <a:xfrm>
            <a:off x="4023360" y="7699248"/>
            <a:ext cx="2898648" cy="365760"/>
          </a:xfrm>
          <a:prstGeom prst="rect">
            <a:avLst/>
          </a:prstGeom>
          <a:noFill/>
          <a:ln/>
        </p:spPr>
        <p:txBody>
          <a:bodyPr wrap="square" lIns="0" tIns="0" rIns="0" bIns="0" rtlCol="0" anchor="ctr"/>
          <a:lstStyle/>
          <a:p>
            <a:pPr indent="0" marL="0">
              <a:buNone/>
            </a:pPr>
            <a:r>
              <a:rPr lang="en-US" sz="1000" dirty="0">
                <a:solidFill>
                  <a:schemeClr val="tx2"/>
                </a:solidFill>
              </a:rPr>
              <a:t>fewer private cars and less freedom to drive</a:t>
            </a:r>
            <a:endParaRPr lang="en-US" sz="1000" dirty="0"/>
          </a:p>
        </p:txBody>
      </p:sp>
      <p:sp>
        <p:nvSpPr>
          <p:cNvPr id="23" name="row-band-736"/>
          <p:cNvSpPr/>
          <p:nvPr/>
        </p:nvSpPr>
        <p:spPr>
          <a:xfrm>
            <a:off x="548640" y="8065008"/>
            <a:ext cx="6464808" cy="365760"/>
          </a:xfrm>
          <a:prstGeom prst="rect">
            <a:avLst/>
          </a:prstGeom>
          <a:solidFill>
            <a:schemeClr val="bg2"/>
          </a:solidFill>
          <a:ln w="12700">
            <a:solidFill>
              <a:schemeClr val="bg2"/>
            </a:solidFill>
            <a:prstDash val="solid"/>
          </a:ln>
        </p:spPr>
      </p:sp>
      <p:sp>
        <p:nvSpPr>
          <p:cNvPr id="24" name="text-737"/>
          <p:cNvSpPr txBox="1"/>
          <p:nvPr/>
        </p:nvSpPr>
        <p:spPr>
          <a:xfrm>
            <a:off x="640080" y="806500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Lights that switch on only when needed</a:t>
            </a:r>
            <a:endParaRPr lang="en-US" sz="1000" dirty="0"/>
          </a:p>
        </p:txBody>
      </p:sp>
      <p:sp>
        <p:nvSpPr>
          <p:cNvPr id="25" name="text-738"/>
          <p:cNvSpPr txBox="1"/>
          <p:nvPr/>
        </p:nvSpPr>
        <p:spPr>
          <a:xfrm>
            <a:off x="3703320" y="806500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6" name="text-739"/>
          <p:cNvSpPr txBox="1"/>
          <p:nvPr/>
        </p:nvSpPr>
        <p:spPr>
          <a:xfrm>
            <a:off x="4023360" y="8065008"/>
            <a:ext cx="2898648" cy="365760"/>
          </a:xfrm>
          <a:prstGeom prst="rect">
            <a:avLst/>
          </a:prstGeom>
          <a:noFill/>
          <a:ln/>
        </p:spPr>
        <p:txBody>
          <a:bodyPr wrap="square" lIns="0" tIns="0" rIns="0" bIns="0" rtlCol="0" anchor="ctr"/>
          <a:lstStyle/>
          <a:p>
            <a:pPr indent="0" marL="0">
              <a:buNone/>
            </a:pPr>
            <a:r>
              <a:rPr lang="en-US" sz="1000" dirty="0">
                <a:solidFill>
                  <a:schemeClr val="tx2"/>
                </a:solidFill>
              </a:rPr>
              <a:t>darker streets, for the aurora and the wildlife</a:t>
            </a:r>
            <a:endParaRPr lang="en-US" sz="1000" dirty="0"/>
          </a:p>
        </p:txBody>
      </p:sp>
      <p:sp>
        <p:nvSpPr>
          <p:cNvPr id="27" name="text-740"/>
          <p:cNvSpPr txBox="1"/>
          <p:nvPr/>
        </p:nvSpPr>
        <p:spPr>
          <a:xfrm>
            <a:off x="640080" y="843076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Limited reindeer rides, protected corridors</a:t>
            </a:r>
            <a:endParaRPr lang="en-US" sz="1000" dirty="0"/>
          </a:p>
        </p:txBody>
      </p:sp>
      <p:sp>
        <p:nvSpPr>
          <p:cNvPr id="28" name="text-741"/>
          <p:cNvSpPr txBox="1"/>
          <p:nvPr/>
        </p:nvSpPr>
        <p:spPr>
          <a:xfrm>
            <a:off x="3703320" y="843076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29" name="text-742"/>
          <p:cNvSpPr txBox="1"/>
          <p:nvPr/>
        </p:nvSpPr>
        <p:spPr>
          <a:xfrm>
            <a:off x="4023360" y="8430768"/>
            <a:ext cx="2898648" cy="365760"/>
          </a:xfrm>
          <a:prstGeom prst="rect">
            <a:avLst/>
          </a:prstGeom>
          <a:noFill/>
          <a:ln/>
        </p:spPr>
        <p:txBody>
          <a:bodyPr wrap="square" lIns="0" tIns="0" rIns="0" bIns="0" rtlCol="0" anchor="ctr"/>
          <a:lstStyle/>
          <a:p>
            <a:pPr indent="0" marL="0">
              <a:buNone/>
            </a:pPr>
            <a:r>
              <a:rPr lang="en-US" sz="1000" dirty="0">
                <a:solidFill>
                  <a:schemeClr val="tx2"/>
                </a:solidFill>
              </a:rPr>
              <a:t>less tourist income, healthier animals</a:t>
            </a:r>
            <a:endParaRPr lang="en-US" sz="1000" dirty="0"/>
          </a:p>
        </p:txBody>
      </p:sp>
      <p:sp>
        <p:nvSpPr>
          <p:cNvPr id="30" name="row-band-743"/>
          <p:cNvSpPr/>
          <p:nvPr/>
        </p:nvSpPr>
        <p:spPr>
          <a:xfrm>
            <a:off x="548640" y="8796528"/>
            <a:ext cx="6464808" cy="365760"/>
          </a:xfrm>
          <a:prstGeom prst="rect">
            <a:avLst/>
          </a:prstGeom>
          <a:solidFill>
            <a:schemeClr val="bg2"/>
          </a:solidFill>
          <a:ln w="12700">
            <a:solidFill>
              <a:schemeClr val="bg2"/>
            </a:solidFill>
            <a:prstDash val="solid"/>
          </a:ln>
        </p:spPr>
      </p:sp>
      <p:sp>
        <p:nvSpPr>
          <p:cNvPr id="31" name="text-744"/>
          <p:cNvSpPr txBox="1"/>
          <p:nvPr/>
        </p:nvSpPr>
        <p:spPr>
          <a:xfrm>
            <a:off x="640080" y="8796528"/>
            <a:ext cx="3017520" cy="365760"/>
          </a:xfrm>
          <a:prstGeom prst="rect">
            <a:avLst/>
          </a:prstGeom>
          <a:noFill/>
          <a:ln/>
        </p:spPr>
        <p:txBody>
          <a:bodyPr wrap="square" lIns="0" tIns="0" rIns="0" bIns="0" rtlCol="0" anchor="ctr"/>
          <a:lstStyle/>
          <a:p>
            <a:pPr indent="0" marL="0">
              <a:buNone/>
            </a:pPr>
            <a:r>
              <a:rPr lang="en-US" sz="1000" b="1" dirty="0">
                <a:solidFill>
                  <a:schemeClr val="tx1"/>
                </a:solidFill>
              </a:rPr>
              <a:t>Factory-made food</a:t>
            </a:r>
            <a:endParaRPr lang="en-US" sz="1000" dirty="0"/>
          </a:p>
        </p:txBody>
      </p:sp>
      <p:sp>
        <p:nvSpPr>
          <p:cNvPr id="32" name="text-745"/>
          <p:cNvSpPr txBox="1"/>
          <p:nvPr/>
        </p:nvSpPr>
        <p:spPr>
          <a:xfrm>
            <a:off x="3703320" y="8796528"/>
            <a:ext cx="274320" cy="365760"/>
          </a:xfrm>
          <a:prstGeom prst="rect">
            <a:avLst/>
          </a:prstGeom>
          <a:noFill/>
          <a:ln/>
        </p:spPr>
        <p:txBody>
          <a:bodyPr wrap="square" lIns="0" tIns="0" rIns="0" bIns="0" rtlCol="0" anchor="ctr"/>
          <a:lstStyle/>
          <a:p>
            <a:pPr indent="0" marL="0">
              <a:buNone/>
            </a:pPr>
            <a:r>
              <a:rPr lang="en-US" sz="1100" b="1" dirty="0">
                <a:solidFill>
                  <a:schemeClr val="accent2"/>
                </a:solidFill>
              </a:rPr>
              <a:t>→</a:t>
            </a:r>
            <a:endParaRPr lang="en-US" sz="1100" dirty="0"/>
          </a:p>
        </p:txBody>
      </p:sp>
      <p:sp>
        <p:nvSpPr>
          <p:cNvPr id="33" name="text-746"/>
          <p:cNvSpPr txBox="1"/>
          <p:nvPr/>
        </p:nvSpPr>
        <p:spPr>
          <a:xfrm>
            <a:off x="4023360" y="8796528"/>
            <a:ext cx="2898648" cy="365760"/>
          </a:xfrm>
          <a:prstGeom prst="rect">
            <a:avLst/>
          </a:prstGeom>
          <a:noFill/>
          <a:ln/>
        </p:spPr>
        <p:txBody>
          <a:bodyPr wrap="square" lIns="0" tIns="0" rIns="0" bIns="0" rtlCol="0" anchor="ctr"/>
          <a:lstStyle/>
          <a:p>
            <a:pPr indent="0" marL="0">
              <a:buNone/>
            </a:pPr>
            <a:r>
              <a:rPr lang="en-US" sz="1000" dirty="0">
                <a:solidFill>
                  <a:schemeClr val="tx2"/>
                </a:solidFill>
              </a:rPr>
              <a:t>no farmland needed, but more electricity and new tastes</a:t>
            </a:r>
            <a:endParaRPr lang="en-US" sz="1000" dirty="0"/>
          </a:p>
        </p:txBody>
      </p:sp>
      <p:sp>
        <p:nvSpPr>
          <p:cNvPr id="34" name="card-747"/>
          <p:cNvSpPr/>
          <p:nvPr/>
        </p:nvSpPr>
        <p:spPr>
          <a:xfrm>
            <a:off x="548640" y="9281160"/>
            <a:ext cx="6464808" cy="685800"/>
          </a:xfrm>
          <a:prstGeom prst="roundRect">
            <a:avLst>
              <a:gd name="adj" fmla="val 10667"/>
            </a:avLst>
          </a:prstGeom>
          <a:solidFill>
            <a:schemeClr val="tx1"/>
          </a:solidFill>
          <a:ln w="12700">
            <a:solidFill>
              <a:schemeClr val="tx1"/>
            </a:solidFill>
            <a:prstDash val="solid"/>
          </a:ln>
        </p:spPr>
      </p:sp>
      <p:sp>
        <p:nvSpPr>
          <p:cNvPr id="35" name="text-748"/>
          <p:cNvSpPr txBox="1"/>
          <p:nvPr/>
        </p:nvSpPr>
        <p:spPr>
          <a:xfrm>
            <a:off x="685800" y="9326880"/>
            <a:ext cx="6190488" cy="594360"/>
          </a:xfrm>
          <a:prstGeom prst="rect">
            <a:avLst/>
          </a:prstGeom>
          <a:noFill/>
          <a:ln/>
        </p:spPr>
        <p:txBody>
          <a:bodyPr wrap="square" lIns="0" tIns="0" rIns="0" bIns="0" rtlCol="0" anchor="ctr"/>
          <a:lstStyle/>
          <a:p>
            <a:pPr indent="0" marL="0">
              <a:buNone/>
            </a:pPr>
            <a:r>
              <a:rPr lang="en-US" sz="1000" b="1" spc="200" kern="0" dirty="0">
                <a:solidFill>
                  <a:schemeClr val="accent1"/>
                </a:solidFill>
              </a:rPr>
              <a:t>OUR PLAN B  </a:t>
            </a:r>
            <a:pPr indent="0" marL="0">
              <a:buNone/>
            </a:pPr>
            <a:r>
              <a:rPr lang="en-US" sz="1000" dirty="0">
                <a:solidFill>
                  <a:schemeClr val="bg1"/>
                </a:solidFill>
              </a:rPr>
              <a:t>Build in stages: first the geothermal plant, the wind and solar farms, the battery bank and the heat tank; add the fusion station when the technology is proven. Until then, the city grows more slowly.</a:t>
            </a:r>
            <a:endParaRPr lang="en-US" sz="100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picture-749" descr="/home/user/chatbox-bi-n-o/magazine/assets/renders/approach_dusk.jpg">    </p:cNvPr>
          <p:cNvPicPr>
            <a:picLocks noChangeAspect="1"/>
          </p:cNvPicPr>
          <p:nvPr/>
        </p:nvPicPr>
        <p:blipFill>
          <a:blip r:embed="rId1"/>
          <a:srcRect l="0" r="0" t="0" b="0"/>
          <a:stretch/>
        </p:blipFill>
        <p:spPr>
          <a:xfrm>
            <a:off x="0" y="0"/>
            <a:ext cx="7562088" cy="3017520"/>
          </a:xfrm>
          <a:prstGeom prst="rect">
            <a:avLst/>
          </a:prstGeom>
        </p:spPr>
      </p:pic>
      <p:pic>
        <p:nvPicPr>
          <p:cNvPr id="3" name="shade-bottom-750" descr="/home/user/chatbox-bi-n-o/magazine/assets/ui/shade_bottom.png">    </p:cNvPr>
          <p:cNvPicPr>
            <a:picLocks noChangeAspect="1"/>
          </p:cNvPicPr>
          <p:nvPr/>
        </p:nvPicPr>
        <p:blipFill>
          <a:blip r:embed="rId2"/>
          <a:stretch>
            <a:fillRect/>
          </a:stretch>
        </p:blipFill>
        <p:spPr>
          <a:xfrm>
            <a:off x="0" y="1097280"/>
            <a:ext cx="7562088" cy="1920240"/>
          </a:xfrm>
          <a:prstGeom prst="rect">
            <a:avLst/>
          </a:prstGeom>
        </p:spPr>
      </p:pic>
      <p:sp>
        <p:nvSpPr>
          <p:cNvPr id="4" name="kicker-dot-751"/>
          <p:cNvSpPr/>
          <p:nvPr/>
        </p:nvSpPr>
        <p:spPr>
          <a:xfrm>
            <a:off x="548640" y="1979676"/>
            <a:ext cx="100584" cy="100584"/>
          </a:xfrm>
          <a:prstGeom prst="ellipse">
            <a:avLst/>
          </a:prstGeom>
          <a:solidFill>
            <a:schemeClr val="accent1"/>
          </a:solidFill>
          <a:ln w="12700">
            <a:solidFill>
              <a:schemeClr val="accent1"/>
            </a:solidFill>
            <a:prstDash val="solid"/>
          </a:ln>
        </p:spPr>
      </p:sp>
      <p:sp>
        <p:nvSpPr>
          <p:cNvPr id="5" name="text-752"/>
          <p:cNvSpPr txBox="1"/>
          <p:nvPr/>
        </p:nvSpPr>
        <p:spPr>
          <a:xfrm>
            <a:off x="731520" y="1938528"/>
            <a:ext cx="5486400" cy="201168"/>
          </a:xfrm>
          <a:prstGeom prst="rect">
            <a:avLst/>
          </a:prstGeom>
          <a:noFill/>
          <a:ln/>
        </p:spPr>
        <p:txBody>
          <a:bodyPr wrap="square" lIns="0" tIns="0" rIns="0" bIns="0" rtlCol="0" anchor="t"/>
          <a:lstStyle/>
          <a:p>
            <a:pPr indent="0" marL="0">
              <a:buNone/>
            </a:pPr>
            <a:r>
              <a:rPr lang="en-US" sz="900" b="1" spc="300" kern="0" dirty="0">
                <a:solidFill>
                  <a:schemeClr val="bg1"/>
                </a:solidFill>
              </a:rPr>
              <a:t>INVESTMENT OPPORTUNITY</a:t>
            </a:r>
            <a:endParaRPr lang="en-US" sz="900" dirty="0"/>
          </a:p>
        </p:txBody>
      </p:sp>
      <p:sp>
        <p:nvSpPr>
          <p:cNvPr id="6" name="title-753"/>
          <p:cNvSpPr txBox="1"/>
          <p:nvPr/>
        </p:nvSpPr>
        <p:spPr>
          <a:xfrm>
            <a:off x="548640" y="2194560"/>
            <a:ext cx="6464808" cy="731520"/>
          </a:xfrm>
          <a:prstGeom prst="rect">
            <a:avLst/>
          </a:prstGeom>
          <a:noFill/>
          <a:ln/>
        </p:spPr>
        <p:txBody>
          <a:bodyPr wrap="square" lIns="0" tIns="0" rIns="0" bIns="0" rtlCol="0" anchor="t"/>
          <a:lstStyle/>
          <a:p>
            <a:pPr indent="0" marL="0">
              <a:lnSpc>
                <a:spcPct val="92000"/>
              </a:lnSpc>
              <a:buNone/>
            </a:pPr>
            <a:r>
              <a:rPr lang="en-US" sz="3800" b="1" dirty="0">
                <a:solidFill>
                  <a:schemeClr val="bg1"/>
                </a:solidFill>
                <a:latin typeface="+mj-lt" pitchFamily="34" charset="0"/>
                <a:ea typeface="+mj-lt" pitchFamily="34" charset="-122"/>
                <a:cs typeface="+mj-lt" pitchFamily="34" charset="-120"/>
              </a:rPr>
              <a:t>Invest in Aurora Haven</a:t>
            </a:r>
            <a:endParaRPr lang="en-US" sz="3800" dirty="0"/>
          </a:p>
        </p:txBody>
      </p:sp>
      <p:sp>
        <p:nvSpPr>
          <p:cNvPr id="7" name="text-755"/>
          <p:cNvSpPr txBox="1"/>
          <p:nvPr/>
        </p:nvSpPr>
        <p:spPr>
          <a:xfrm>
            <a:off x="548640" y="3072384"/>
            <a:ext cx="6464808" cy="201168"/>
          </a:xfrm>
          <a:prstGeom prst="rect">
            <a:avLst/>
          </a:prstGeom>
          <a:noFill/>
          <a:ln/>
        </p:spPr>
        <p:txBody>
          <a:bodyPr wrap="square" lIns="0" tIns="0" rIns="0" bIns="0" rtlCol="0" anchor="t"/>
          <a:lstStyle/>
          <a:p>
            <a:pPr indent="0" marL="0">
              <a:buNone/>
            </a:pPr>
            <a:r>
              <a:rPr lang="en-US" sz="850" i="1" dirty="0">
                <a:solidFill>
                  <a:schemeClr val="tx2"/>
                </a:solidFill>
              </a:rPr>
              <a:t>The Mount Aurora Approach at dusk: the street from downtown to the spa.</a:t>
            </a:r>
            <a:endParaRPr lang="en-US" sz="850" dirty="0"/>
          </a:p>
        </p:txBody>
      </p:sp>
      <p:sp>
        <p:nvSpPr>
          <p:cNvPr id="8" name="text-756"/>
          <p:cNvSpPr txBox="1"/>
          <p:nvPr/>
        </p:nvSpPr>
        <p:spPr>
          <a:xfrm>
            <a:off x="548640" y="3364992"/>
            <a:ext cx="6464808" cy="640080"/>
          </a:xfrm>
          <a:prstGeom prst="rect">
            <a:avLst/>
          </a:prstGeom>
          <a:noFill/>
          <a:ln/>
        </p:spPr>
        <p:txBody>
          <a:bodyPr wrap="square" lIns="0" tIns="0" rIns="0" bIns="0" rtlCol="0" anchor="t"/>
          <a:lstStyle/>
          <a:p>
            <a:pPr indent="0" marL="0">
              <a:lnSpc>
                <a:spcPct val="110000"/>
              </a:lnSpc>
              <a:buNone/>
            </a:pPr>
            <a:r>
              <a:rPr lang="en-US" sz="1300" i="1" dirty="0">
                <a:solidFill>
                  <a:schemeClr val="tx2"/>
                </a:solidFill>
                <a:latin typeface="+mj-lt" pitchFamily="34" charset="0"/>
                <a:ea typeface="+mj-lt" pitchFamily="34" charset="-122"/>
                <a:cs typeface="+mj-lt" pitchFamily="34" charset="-120"/>
              </a:rPr>
              <a:t>Aurora Haven needs partners to build it. We are looking for investors who want a share in a zero-carbon city, built step by step, starting with technology that already works today.</a:t>
            </a:r>
            <a:endParaRPr lang="en-US" sz="1300" dirty="0"/>
          </a:p>
        </p:txBody>
      </p:sp>
      <p:sp>
        <p:nvSpPr>
          <p:cNvPr id="9" name="text-757"/>
          <p:cNvSpPr txBox="1"/>
          <p:nvPr/>
        </p:nvSpPr>
        <p:spPr>
          <a:xfrm>
            <a:off x="548640" y="4114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THREE WAYS TO INVEST</a:t>
            </a:r>
            <a:endParaRPr lang="en-US" sz="900" dirty="0"/>
          </a:p>
        </p:txBody>
      </p:sp>
      <p:sp>
        <p:nvSpPr>
          <p:cNvPr id="10" name="card-758"/>
          <p:cNvSpPr/>
          <p:nvPr/>
        </p:nvSpPr>
        <p:spPr>
          <a:xfrm>
            <a:off x="548640" y="4370832"/>
            <a:ext cx="2063496" cy="1572768"/>
          </a:xfrm>
          <a:prstGeom prst="roundRect">
            <a:avLst>
              <a:gd name="adj" fmla="val 4651"/>
            </a:avLst>
          </a:prstGeom>
          <a:solidFill>
            <a:schemeClr val="bg2"/>
          </a:solidFill>
          <a:ln w="12700">
            <a:solidFill>
              <a:schemeClr val="bg2"/>
            </a:solidFill>
            <a:prstDash val="solid"/>
          </a:ln>
        </p:spPr>
      </p:sp>
      <p:sp>
        <p:nvSpPr>
          <p:cNvPr id="11" name="marker-759"/>
          <p:cNvSpPr/>
          <p:nvPr/>
        </p:nvSpPr>
        <p:spPr>
          <a:xfrm>
            <a:off x="658368" y="4480560"/>
            <a:ext cx="329184" cy="329184"/>
          </a:xfrm>
          <a:prstGeom prst="ellipse">
            <a:avLst/>
          </a:prstGeom>
          <a:solidFill>
            <a:schemeClr val="accent1"/>
          </a:solidFill>
          <a:ln w="12700">
            <a:solidFill>
              <a:schemeClr val="accent1"/>
            </a:solidFill>
            <a:prstDash val="solid"/>
          </a:ln>
        </p:spPr>
      </p:sp>
      <p:sp>
        <p:nvSpPr>
          <p:cNvPr id="12" name="text-760"/>
          <p:cNvSpPr txBox="1"/>
          <p:nvPr/>
        </p:nvSpPr>
        <p:spPr>
          <a:xfrm>
            <a:off x="658368"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1</a:t>
            </a:r>
            <a:endParaRPr lang="en-US" sz="1200" dirty="0"/>
          </a:p>
        </p:txBody>
      </p:sp>
      <p:sp>
        <p:nvSpPr>
          <p:cNvPr id="13" name="text-761"/>
          <p:cNvSpPr txBox="1"/>
          <p:nvPr/>
        </p:nvSpPr>
        <p:spPr>
          <a:xfrm>
            <a:off x="1078992"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Green city bonds</a:t>
            </a:r>
            <a:endParaRPr lang="en-US" sz="1050" dirty="0"/>
          </a:p>
        </p:txBody>
      </p:sp>
      <p:sp>
        <p:nvSpPr>
          <p:cNvPr id="14" name="text-762"/>
          <p:cNvSpPr txBox="1"/>
          <p:nvPr/>
        </p:nvSpPr>
        <p:spPr>
          <a:xfrm>
            <a:off x="658368"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Fund Stage 1: the geothermal plant, the wind and solar farms, the battery bank and the heat tank, paid back from selling heat and power to the city.</a:t>
            </a:r>
            <a:endParaRPr lang="en-US" sz="900" dirty="0"/>
          </a:p>
        </p:txBody>
      </p:sp>
      <p:sp>
        <p:nvSpPr>
          <p:cNvPr id="15" name="card-763"/>
          <p:cNvSpPr/>
          <p:nvPr/>
        </p:nvSpPr>
        <p:spPr>
          <a:xfrm>
            <a:off x="2749296" y="4370832"/>
            <a:ext cx="2063496" cy="1572768"/>
          </a:xfrm>
          <a:prstGeom prst="roundRect">
            <a:avLst>
              <a:gd name="adj" fmla="val 4651"/>
            </a:avLst>
          </a:prstGeom>
          <a:solidFill>
            <a:schemeClr val="bg2"/>
          </a:solidFill>
          <a:ln w="12700">
            <a:solidFill>
              <a:schemeClr val="bg2"/>
            </a:solidFill>
            <a:prstDash val="solid"/>
          </a:ln>
        </p:spPr>
      </p:sp>
      <p:sp>
        <p:nvSpPr>
          <p:cNvPr id="16" name="marker-764"/>
          <p:cNvSpPr/>
          <p:nvPr/>
        </p:nvSpPr>
        <p:spPr>
          <a:xfrm>
            <a:off x="2859024" y="4480560"/>
            <a:ext cx="329184" cy="329184"/>
          </a:xfrm>
          <a:prstGeom prst="ellipse">
            <a:avLst/>
          </a:prstGeom>
          <a:solidFill>
            <a:schemeClr val="accent1"/>
          </a:solidFill>
          <a:ln w="12700">
            <a:solidFill>
              <a:schemeClr val="accent1"/>
            </a:solidFill>
            <a:prstDash val="solid"/>
          </a:ln>
        </p:spPr>
      </p:sp>
      <p:sp>
        <p:nvSpPr>
          <p:cNvPr id="17" name="text-765"/>
          <p:cNvSpPr txBox="1"/>
          <p:nvPr/>
        </p:nvSpPr>
        <p:spPr>
          <a:xfrm>
            <a:off x="2859024"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2</a:t>
            </a:r>
            <a:endParaRPr lang="en-US" sz="1200" dirty="0"/>
          </a:p>
        </p:txBody>
      </p:sp>
      <p:sp>
        <p:nvSpPr>
          <p:cNvPr id="18" name="text-766"/>
          <p:cNvSpPr txBox="1"/>
          <p:nvPr/>
        </p:nvSpPr>
        <p:spPr>
          <a:xfrm>
            <a:off x="3279648"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Community shares</a:t>
            </a:r>
            <a:endParaRPr lang="en-US" sz="1050" dirty="0"/>
          </a:p>
        </p:txBody>
      </p:sp>
      <p:sp>
        <p:nvSpPr>
          <p:cNvPr id="19" name="text-767"/>
          <p:cNvSpPr txBox="1"/>
          <p:nvPr/>
        </p:nvSpPr>
        <p:spPr>
          <a:xfrm>
            <a:off x="2859024"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Residents and visitors buy shares in the wind and solar farms through the Aurora Green Finance Hall and share in the income they make.</a:t>
            </a:r>
            <a:endParaRPr lang="en-US" sz="900" dirty="0"/>
          </a:p>
        </p:txBody>
      </p:sp>
      <p:sp>
        <p:nvSpPr>
          <p:cNvPr id="20" name="card-768"/>
          <p:cNvSpPr/>
          <p:nvPr/>
        </p:nvSpPr>
        <p:spPr>
          <a:xfrm>
            <a:off x="4949952" y="4370832"/>
            <a:ext cx="2063496" cy="1572768"/>
          </a:xfrm>
          <a:prstGeom prst="roundRect">
            <a:avLst>
              <a:gd name="adj" fmla="val 4651"/>
            </a:avLst>
          </a:prstGeom>
          <a:solidFill>
            <a:schemeClr val="bg2"/>
          </a:solidFill>
          <a:ln w="12700">
            <a:solidFill>
              <a:schemeClr val="bg2"/>
            </a:solidFill>
            <a:prstDash val="solid"/>
          </a:ln>
        </p:spPr>
      </p:sp>
      <p:sp>
        <p:nvSpPr>
          <p:cNvPr id="21" name="marker-769"/>
          <p:cNvSpPr/>
          <p:nvPr/>
        </p:nvSpPr>
        <p:spPr>
          <a:xfrm>
            <a:off x="5059680" y="4480560"/>
            <a:ext cx="329184" cy="329184"/>
          </a:xfrm>
          <a:prstGeom prst="ellipse">
            <a:avLst/>
          </a:prstGeom>
          <a:solidFill>
            <a:schemeClr val="accent1"/>
          </a:solidFill>
          <a:ln w="12700">
            <a:solidFill>
              <a:schemeClr val="accent1"/>
            </a:solidFill>
            <a:prstDash val="solid"/>
          </a:ln>
        </p:spPr>
      </p:sp>
      <p:sp>
        <p:nvSpPr>
          <p:cNvPr id="22" name="text-770"/>
          <p:cNvSpPr txBox="1"/>
          <p:nvPr/>
        </p:nvSpPr>
        <p:spPr>
          <a:xfrm>
            <a:off x="5059680" y="4480560"/>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latin typeface="+mj-lt" pitchFamily="34" charset="0"/>
                <a:ea typeface="+mj-lt" pitchFamily="34" charset="-122"/>
                <a:cs typeface="+mj-lt" pitchFamily="34" charset="-120"/>
              </a:rPr>
              <a:t>3</a:t>
            </a:r>
            <a:endParaRPr lang="en-US" sz="1200" dirty="0"/>
          </a:p>
        </p:txBody>
      </p:sp>
      <p:sp>
        <p:nvSpPr>
          <p:cNvPr id="23" name="text-771"/>
          <p:cNvSpPr txBox="1"/>
          <p:nvPr/>
        </p:nvSpPr>
        <p:spPr>
          <a:xfrm>
            <a:off x="5480304" y="4526280"/>
            <a:ext cx="1441704" cy="237744"/>
          </a:xfrm>
          <a:prstGeom prst="rect">
            <a:avLst/>
          </a:prstGeom>
          <a:noFill/>
          <a:ln/>
        </p:spPr>
        <p:txBody>
          <a:bodyPr wrap="square" lIns="0" tIns="0" rIns="0" bIns="0" rtlCol="0" anchor="t"/>
          <a:lstStyle/>
          <a:p>
            <a:pPr indent="0" marL="0">
              <a:buNone/>
            </a:pPr>
            <a:r>
              <a:rPr lang="en-US" sz="1050" b="1" dirty="0">
                <a:solidFill>
                  <a:schemeClr val="tx1"/>
                </a:solidFill>
              </a:rPr>
              <a:t>Research partnerships</a:t>
            </a:r>
            <a:endParaRPr lang="en-US" sz="1050" dirty="0"/>
          </a:p>
        </p:txBody>
      </p:sp>
      <p:sp>
        <p:nvSpPr>
          <p:cNvPr id="24" name="text-772"/>
          <p:cNvSpPr txBox="1"/>
          <p:nvPr/>
        </p:nvSpPr>
        <p:spPr>
          <a:xfrm>
            <a:off x="5059680" y="4901184"/>
            <a:ext cx="1844040" cy="987552"/>
          </a:xfrm>
          <a:prstGeom prst="rect">
            <a:avLst/>
          </a:prstGeom>
          <a:noFill/>
          <a:ln/>
        </p:spPr>
        <p:txBody>
          <a:bodyPr wrap="square" lIns="0" tIns="0" rIns="0" bIns="0" rtlCol="0" anchor="t"/>
          <a:lstStyle/>
          <a:p>
            <a:pPr indent="0" marL="0">
              <a:lnSpc>
                <a:spcPct val="104000"/>
              </a:lnSpc>
              <a:buNone/>
            </a:pPr>
            <a:r>
              <a:rPr lang="en-US" sz="900" dirty="0">
                <a:solidFill>
                  <a:schemeClr val="tx2"/>
                </a:solidFill>
              </a:rPr>
              <a:t>Companies and universities test new food, energy and building ideas with Arctic University and the Polar Climate &amp; Ice Research Institute.</a:t>
            </a:r>
            <a:endParaRPr lang="en-US" sz="900" dirty="0"/>
          </a:p>
        </p:txBody>
      </p:sp>
      <p:sp>
        <p:nvSpPr>
          <p:cNvPr id="25" name="text-773"/>
          <p:cNvSpPr txBox="1"/>
          <p:nvPr/>
        </p:nvSpPr>
        <p:spPr>
          <a:xfrm>
            <a:off x="548640" y="6108192"/>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YOUR MONEY BUILDS, STAGE BY STAGE</a:t>
            </a:r>
            <a:endParaRPr lang="en-US" sz="900" dirty="0"/>
          </a:p>
        </p:txBody>
      </p:sp>
      <p:sp>
        <p:nvSpPr>
          <p:cNvPr id="26" name="stage-line"/>
          <p:cNvSpPr/>
          <p:nvPr/>
        </p:nvSpPr>
        <p:spPr>
          <a:xfrm>
            <a:off x="731520" y="6510528"/>
            <a:ext cx="0" cy="1188720"/>
          </a:xfrm>
          <a:prstGeom prst="line">
            <a:avLst/>
          </a:prstGeom>
          <a:noFill/>
          <a:ln w="25400">
            <a:solidFill>
              <a:schemeClr val="accent1"/>
            </a:solidFill>
            <a:prstDash val="solid"/>
          </a:ln>
        </p:spPr>
      </p:sp>
      <p:sp>
        <p:nvSpPr>
          <p:cNvPr id="27" name="marker-774"/>
          <p:cNvSpPr/>
          <p:nvPr/>
        </p:nvSpPr>
        <p:spPr>
          <a:xfrm>
            <a:off x="548640" y="6382512"/>
            <a:ext cx="365760" cy="365760"/>
          </a:xfrm>
          <a:prstGeom prst="ellipse">
            <a:avLst/>
          </a:prstGeom>
          <a:solidFill>
            <a:schemeClr val="accent1"/>
          </a:solidFill>
          <a:ln w="12700">
            <a:solidFill>
              <a:schemeClr val="accent1"/>
            </a:solidFill>
            <a:prstDash val="solid"/>
          </a:ln>
        </p:spPr>
      </p:sp>
      <p:sp>
        <p:nvSpPr>
          <p:cNvPr id="28" name="text-775"/>
          <p:cNvSpPr txBox="1"/>
          <p:nvPr/>
        </p:nvSpPr>
        <p:spPr>
          <a:xfrm>
            <a:off x="548640" y="63825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1</a:t>
            </a:r>
            <a:endParaRPr lang="en-US" sz="1300" dirty="0"/>
          </a:p>
        </p:txBody>
      </p:sp>
      <p:sp>
        <p:nvSpPr>
          <p:cNvPr id="29" name="text-776"/>
          <p:cNvSpPr txBox="1"/>
          <p:nvPr/>
        </p:nvSpPr>
        <p:spPr>
          <a:xfrm>
            <a:off x="1051560" y="6391656"/>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1 · A clean base. </a:t>
            </a:r>
            <a:pPr indent="0" marL="0">
              <a:lnSpc>
                <a:spcPct val="104000"/>
              </a:lnSpc>
              <a:buNone/>
            </a:pPr>
            <a:r>
              <a:rPr lang="en-US" sz="950" dirty="0">
                <a:solidFill>
                  <a:schemeClr val="tx1"/>
                </a:solidFill>
              </a:rPr>
              <a:t>Technology that works today: the geothermal plant, the wind and solar farms, the battery bank, the heat tank, heated streets and the metro.</a:t>
            </a:r>
            <a:endParaRPr lang="en-US" sz="950" dirty="0"/>
          </a:p>
        </p:txBody>
      </p:sp>
      <p:sp>
        <p:nvSpPr>
          <p:cNvPr id="30" name="marker-777"/>
          <p:cNvSpPr/>
          <p:nvPr/>
        </p:nvSpPr>
        <p:spPr>
          <a:xfrm>
            <a:off x="548640" y="6949440"/>
            <a:ext cx="365760" cy="365760"/>
          </a:xfrm>
          <a:prstGeom prst="ellipse">
            <a:avLst/>
          </a:prstGeom>
          <a:solidFill>
            <a:schemeClr val="accent1"/>
          </a:solidFill>
          <a:ln w="12700">
            <a:solidFill>
              <a:schemeClr val="accent1"/>
            </a:solidFill>
            <a:prstDash val="solid"/>
          </a:ln>
        </p:spPr>
      </p:sp>
      <p:sp>
        <p:nvSpPr>
          <p:cNvPr id="31" name="text-778"/>
          <p:cNvSpPr txBox="1"/>
          <p:nvPr/>
        </p:nvSpPr>
        <p:spPr>
          <a:xfrm>
            <a:off x="548640" y="69494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2</a:t>
            </a:r>
            <a:endParaRPr lang="en-US" sz="1300" dirty="0"/>
          </a:p>
        </p:txBody>
      </p:sp>
      <p:sp>
        <p:nvSpPr>
          <p:cNvPr id="32" name="text-779"/>
          <p:cNvSpPr txBox="1"/>
          <p:nvPr/>
        </p:nvSpPr>
        <p:spPr>
          <a:xfrm>
            <a:off x="1051560" y="6958584"/>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2 · Food and water. </a:t>
            </a:r>
            <a:pPr indent="0" marL="0">
              <a:lnSpc>
                <a:spcPct val="104000"/>
              </a:lnSpc>
              <a:buNone/>
            </a:pPr>
            <a:r>
              <a:rPr lang="en-US" sz="950" dirty="0">
                <a:solidFill>
                  <a:schemeClr val="tx1"/>
                </a:solidFill>
              </a:rPr>
              <a:t>The Snow-to-Food &amp; Water Plant, starting small. For scale, Solar Foods’ first protein factory in Finland cost about €42 million for up to 160 t a year [6].</a:t>
            </a:r>
            <a:endParaRPr lang="en-US" sz="950" dirty="0"/>
          </a:p>
        </p:txBody>
      </p:sp>
      <p:sp>
        <p:nvSpPr>
          <p:cNvPr id="33" name="marker-780"/>
          <p:cNvSpPr/>
          <p:nvPr/>
        </p:nvSpPr>
        <p:spPr>
          <a:xfrm>
            <a:off x="548640" y="7516368"/>
            <a:ext cx="365760" cy="365760"/>
          </a:xfrm>
          <a:prstGeom prst="ellipse">
            <a:avLst/>
          </a:prstGeom>
          <a:solidFill>
            <a:schemeClr val="accent1"/>
          </a:solidFill>
          <a:ln w="12700">
            <a:solidFill>
              <a:schemeClr val="accent1"/>
            </a:solidFill>
            <a:prstDash val="solid"/>
          </a:ln>
        </p:spPr>
      </p:sp>
      <p:sp>
        <p:nvSpPr>
          <p:cNvPr id="34" name="text-781"/>
          <p:cNvSpPr txBox="1"/>
          <p:nvPr/>
        </p:nvSpPr>
        <p:spPr>
          <a:xfrm>
            <a:off x="548640" y="75163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latin typeface="+mj-lt" pitchFamily="34" charset="0"/>
                <a:ea typeface="+mj-lt" pitchFamily="34" charset="-122"/>
                <a:cs typeface="+mj-lt" pitchFamily="34" charset="-120"/>
              </a:rPr>
              <a:t>3</a:t>
            </a:r>
            <a:endParaRPr lang="en-US" sz="1300" dirty="0"/>
          </a:p>
        </p:txBody>
      </p:sp>
      <p:sp>
        <p:nvSpPr>
          <p:cNvPr id="35" name="text-782"/>
          <p:cNvSpPr txBox="1"/>
          <p:nvPr/>
        </p:nvSpPr>
        <p:spPr>
          <a:xfrm>
            <a:off x="1051560" y="7525512"/>
            <a:ext cx="5961888" cy="512064"/>
          </a:xfrm>
          <a:prstGeom prst="rect">
            <a:avLst/>
          </a:prstGeom>
          <a:noFill/>
          <a:ln/>
        </p:spPr>
        <p:txBody>
          <a:bodyPr wrap="square" lIns="0" tIns="0" rIns="0" bIns="0" rtlCol="0" anchor="t"/>
          <a:lstStyle/>
          <a:p>
            <a:pPr indent="0" marL="0">
              <a:lnSpc>
                <a:spcPct val="104000"/>
              </a:lnSpc>
              <a:buNone/>
            </a:pPr>
            <a:r>
              <a:rPr lang="en-US" sz="950" b="1" dirty="0">
                <a:solidFill>
                  <a:schemeClr val="tx1"/>
                </a:solidFill>
              </a:rPr>
              <a:t>Stage 3 · Fusion. </a:t>
            </a:r>
            <a:pPr indent="0" marL="0">
              <a:lnSpc>
                <a:spcPct val="104000"/>
              </a:lnSpc>
              <a:buNone/>
            </a:pPr>
            <a:r>
              <a:rPr lang="en-US" sz="950" dirty="0">
                <a:solidFill>
                  <a:schemeClr val="tx1"/>
                </a:solidFill>
              </a:rPr>
              <a:t>Built only when fusion power is proven. It is the most expensive part: ITER alone is estimated at €18–22 billion to first plasma [12], which is why it comes last.</a:t>
            </a:r>
            <a:endParaRPr lang="en-US" sz="950" dirty="0"/>
          </a:p>
        </p:txBody>
      </p:sp>
      <p:sp>
        <p:nvSpPr>
          <p:cNvPr id="36" name="text-783"/>
          <p:cNvSpPr txBox="1"/>
          <p:nvPr/>
        </p:nvSpPr>
        <p:spPr>
          <a:xfrm>
            <a:off x="548640" y="818388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WHAT INVESTORS GET BACK</a:t>
            </a:r>
            <a:endParaRPr lang="en-US" sz="900" dirty="0"/>
          </a:p>
        </p:txBody>
      </p:sp>
      <p:sp>
        <p:nvSpPr>
          <p:cNvPr id="37" name="gain-rule-784"/>
          <p:cNvSpPr/>
          <p:nvPr/>
        </p:nvSpPr>
        <p:spPr>
          <a:xfrm>
            <a:off x="548640" y="8449056"/>
            <a:ext cx="45720" cy="548640"/>
          </a:xfrm>
          <a:prstGeom prst="rect">
            <a:avLst/>
          </a:prstGeom>
          <a:solidFill>
            <a:schemeClr val="accent1"/>
          </a:solidFill>
          <a:ln w="12700">
            <a:solidFill>
              <a:schemeClr val="accent1"/>
            </a:solidFill>
            <a:prstDash val="solid"/>
          </a:ln>
        </p:spPr>
      </p:sp>
      <p:sp>
        <p:nvSpPr>
          <p:cNvPr id="38" name="text-785"/>
          <p:cNvSpPr txBox="1"/>
          <p:nvPr/>
        </p:nvSpPr>
        <p:spPr>
          <a:xfrm>
            <a:off x="667512"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Steady income from heat, power, water and food sold to 45,000 residents</a:t>
            </a:r>
            <a:endParaRPr lang="en-US" sz="850" dirty="0"/>
          </a:p>
        </p:txBody>
      </p:sp>
      <p:sp>
        <p:nvSpPr>
          <p:cNvPr id="39" name="gain-rule-786"/>
          <p:cNvSpPr/>
          <p:nvPr/>
        </p:nvSpPr>
        <p:spPr>
          <a:xfrm>
            <a:off x="2192274" y="8449056"/>
            <a:ext cx="45720" cy="548640"/>
          </a:xfrm>
          <a:prstGeom prst="rect">
            <a:avLst/>
          </a:prstGeom>
          <a:solidFill>
            <a:schemeClr val="accent1"/>
          </a:solidFill>
          <a:ln w="12700">
            <a:solidFill>
              <a:schemeClr val="accent1"/>
            </a:solidFill>
            <a:prstDash val="solid"/>
          </a:ln>
        </p:spPr>
      </p:sp>
      <p:sp>
        <p:nvSpPr>
          <p:cNvPr id="40" name="text-787"/>
          <p:cNvSpPr txBox="1"/>
          <p:nvPr/>
        </p:nvSpPr>
        <p:spPr>
          <a:xfrm>
            <a:off x="2311146"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Visitors to the Mount Aurora spa and the Snow Stadium all year</a:t>
            </a:r>
            <a:endParaRPr lang="en-US" sz="850" dirty="0"/>
          </a:p>
        </p:txBody>
      </p:sp>
      <p:sp>
        <p:nvSpPr>
          <p:cNvPr id="41" name="gain-rule-788"/>
          <p:cNvSpPr/>
          <p:nvPr/>
        </p:nvSpPr>
        <p:spPr>
          <a:xfrm>
            <a:off x="3835908" y="8449056"/>
            <a:ext cx="45720" cy="548640"/>
          </a:xfrm>
          <a:prstGeom prst="rect">
            <a:avLst/>
          </a:prstGeom>
          <a:solidFill>
            <a:schemeClr val="accent1"/>
          </a:solidFill>
          <a:ln w="12700">
            <a:solidFill>
              <a:schemeClr val="accent1"/>
            </a:solidFill>
            <a:prstDash val="solid"/>
          </a:ln>
        </p:spPr>
      </p:sp>
      <p:sp>
        <p:nvSpPr>
          <p:cNvPr id="42" name="text-789"/>
          <p:cNvSpPr txBox="1"/>
          <p:nvPr/>
        </p:nvSpPr>
        <p:spPr>
          <a:xfrm>
            <a:off x="3954780"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Know-how other Arctic towns can use: about 4 million people live in the Arctic [3]</a:t>
            </a:r>
            <a:endParaRPr lang="en-US" sz="850" dirty="0"/>
          </a:p>
        </p:txBody>
      </p:sp>
      <p:sp>
        <p:nvSpPr>
          <p:cNvPr id="43" name="gain-rule-790"/>
          <p:cNvSpPr/>
          <p:nvPr/>
        </p:nvSpPr>
        <p:spPr>
          <a:xfrm>
            <a:off x="5479542" y="8449056"/>
            <a:ext cx="45720" cy="548640"/>
          </a:xfrm>
          <a:prstGeom prst="rect">
            <a:avLst/>
          </a:prstGeom>
          <a:solidFill>
            <a:schemeClr val="accent1"/>
          </a:solidFill>
          <a:ln w="12700">
            <a:solidFill>
              <a:schemeClr val="accent1"/>
            </a:solidFill>
            <a:prstDash val="solid"/>
          </a:ln>
        </p:spPr>
      </p:sp>
      <p:sp>
        <p:nvSpPr>
          <p:cNvPr id="44" name="text-791"/>
          <p:cNvSpPr txBox="1"/>
          <p:nvPr/>
        </p:nvSpPr>
        <p:spPr>
          <a:xfrm>
            <a:off x="5598414" y="8430768"/>
            <a:ext cx="1396746" cy="603504"/>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A city with no fuel to import and no carbon to pay for</a:t>
            </a:r>
            <a:endParaRPr lang="en-US" sz="850" dirty="0"/>
          </a:p>
        </p:txBody>
      </p:sp>
      <p:sp>
        <p:nvSpPr>
          <p:cNvPr id="45" name="text-792"/>
          <p:cNvSpPr txBox="1"/>
          <p:nvPr/>
        </p:nvSpPr>
        <p:spPr>
          <a:xfrm>
            <a:off x="548640" y="9070848"/>
            <a:ext cx="6464808" cy="329184"/>
          </a:xfrm>
          <a:prstGeom prst="rect">
            <a:avLst/>
          </a:prstGeom>
          <a:noFill/>
          <a:ln/>
        </p:spPr>
        <p:txBody>
          <a:bodyPr wrap="square" lIns="0" tIns="0" rIns="0" bIns="0" rtlCol="0" anchor="t"/>
          <a:lstStyle/>
          <a:p>
            <a:pPr indent="0" marL="0">
              <a:buNone/>
            </a:pPr>
            <a:r>
              <a:rPr lang="en-US" sz="850" i="1" dirty="0">
                <a:solidFill>
                  <a:schemeClr val="tx2"/>
                </a:solidFill>
              </a:rPr>
              <a:t>Please note: these are future concepts, not tested projects. Costs and returns still have to be worked out in a full business plan, and no return is guaranteed. The risks are on page 33.</a:t>
            </a:r>
            <a:endParaRPr lang="en-US" sz="850" dirty="0"/>
          </a:p>
        </p:txBody>
      </p:sp>
      <p:sp>
        <p:nvSpPr>
          <p:cNvPr id="46" name="card-793"/>
          <p:cNvSpPr/>
          <p:nvPr/>
        </p:nvSpPr>
        <p:spPr>
          <a:xfrm>
            <a:off x="548640" y="9445752"/>
            <a:ext cx="6464808" cy="521208"/>
          </a:xfrm>
          <a:prstGeom prst="roundRect">
            <a:avLst>
              <a:gd name="adj" fmla="val 14035"/>
            </a:avLst>
          </a:prstGeom>
          <a:solidFill>
            <a:schemeClr val="tx1"/>
          </a:solidFill>
          <a:ln w="12700">
            <a:solidFill>
              <a:schemeClr val="tx1"/>
            </a:solidFill>
            <a:prstDash val="solid"/>
          </a:ln>
        </p:spPr>
      </p:sp>
      <p:sp>
        <p:nvSpPr>
          <p:cNvPr id="47" name="text-794"/>
          <p:cNvSpPr txBox="1"/>
          <p:nvPr/>
        </p:nvSpPr>
        <p:spPr>
          <a:xfrm>
            <a:off x="685800" y="9473184"/>
            <a:ext cx="6190488" cy="466344"/>
          </a:xfrm>
          <a:prstGeom prst="rect">
            <a:avLst/>
          </a:prstGeom>
          <a:noFill/>
          <a:ln/>
        </p:spPr>
        <p:txBody>
          <a:bodyPr wrap="square" lIns="0" tIns="0" rIns="0" bIns="0" rtlCol="0" anchor="ctr"/>
          <a:lstStyle/>
          <a:p>
            <a:pPr indent="0" marL="0">
              <a:buNone/>
            </a:pPr>
            <a:r>
              <a:rPr lang="en-US" sz="950" b="1" spc="200" kern="0" dirty="0">
                <a:solidFill>
                  <a:schemeClr val="accent1"/>
                </a:solidFill>
              </a:rPr>
              <a:t>READY TO BUILD THE FUTURE?  </a:t>
            </a:r>
            <a:pPr indent="0" marL="0">
              <a:buNone/>
            </a:pPr>
            <a:r>
              <a:rPr lang="en-US" sz="950" dirty="0">
                <a:solidFill>
                  <a:schemeClr val="bg1"/>
                </a:solidFill>
              </a:rPr>
              <a:t>Contact us at [Team email] or visit the Aurora Green Finance Hall in the Financial District.</a:t>
            </a:r>
            <a:endParaRPr lang="en-US" sz="95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kicker-dot-79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79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EXPLORE</a:t>
            </a:r>
            <a:endParaRPr lang="en-US" sz="900" dirty="0"/>
          </a:p>
        </p:txBody>
      </p:sp>
      <p:sp>
        <p:nvSpPr>
          <p:cNvPr id="4" name="title-79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Take the Tour: Eight Stops</a:t>
            </a:r>
            <a:endParaRPr lang="en-US" sz="3400" dirty="0"/>
          </a:p>
        </p:txBody>
      </p:sp>
      <p:sp>
        <p:nvSpPr>
          <p:cNvPr id="5" name="text-799"/>
          <p:cNvSpPr txBox="1"/>
          <p:nvPr/>
        </p:nvSpPr>
        <p:spPr>
          <a:xfrm>
            <a:off x="548640" y="1463040"/>
            <a:ext cx="6464808" cy="685800"/>
          </a:xfrm>
          <a:prstGeom prst="rect">
            <a:avLst/>
          </a:prstGeom>
          <a:noFill/>
          <a:ln/>
        </p:spPr>
        <p:txBody>
          <a:bodyPr wrap="square" lIns="0" tIns="0" rIns="0" bIns="0" rtlCol="0" anchor="t"/>
          <a:lstStyle/>
          <a:p>
            <a:pPr indent="0" marL="0">
              <a:lnSpc>
                <a:spcPct val="110000"/>
              </a:lnSpc>
              <a:buNone/>
            </a:pPr>
            <a:r>
              <a:rPr lang="en-US" sz="1400" i="1" dirty="0">
                <a:solidFill>
                  <a:schemeClr val="tx2"/>
                </a:solidFill>
                <a:latin typeface="+mj-lt" pitchFamily="34" charset="0"/>
                <a:ea typeface="+mj-lt" pitchFamily="34" charset="-122"/>
                <a:cs typeface="+mj-lt" pitchFamily="34" charset="-120"/>
              </a:rPr>
              <a:t>A walk around Aurora Haven in eight stops, from the civic heart of downtown out to the plants, the snow peak and the windy northern edge.</a:t>
            </a:r>
            <a:endParaRPr lang="en-US" sz="1400" dirty="0"/>
          </a:p>
        </p:txBody>
      </p:sp>
      <p:sp>
        <p:nvSpPr>
          <p:cNvPr id="6" name="tour-route"/>
          <p:cNvSpPr/>
          <p:nvPr/>
        </p:nvSpPr>
        <p:spPr>
          <a:xfrm>
            <a:off x="749808" y="2606040"/>
            <a:ext cx="0" cy="5504688"/>
          </a:xfrm>
          <a:prstGeom prst="line">
            <a:avLst/>
          </a:prstGeom>
          <a:noFill/>
          <a:ln w="25400">
            <a:solidFill>
              <a:schemeClr val="accent6"/>
            </a:solidFill>
            <a:prstDash val="dash"/>
          </a:ln>
        </p:spPr>
      </p:sp>
      <p:sp>
        <p:nvSpPr>
          <p:cNvPr id="7" name="marker-800"/>
          <p:cNvSpPr/>
          <p:nvPr/>
        </p:nvSpPr>
        <p:spPr>
          <a:xfrm>
            <a:off x="548640" y="2423160"/>
            <a:ext cx="402336" cy="402336"/>
          </a:xfrm>
          <a:prstGeom prst="ellipse">
            <a:avLst/>
          </a:prstGeom>
          <a:solidFill>
            <a:schemeClr val="accent6"/>
          </a:solidFill>
          <a:ln w="12700">
            <a:solidFill>
              <a:schemeClr val="accent6"/>
            </a:solidFill>
            <a:prstDash val="solid"/>
          </a:ln>
        </p:spPr>
      </p:sp>
      <p:sp>
        <p:nvSpPr>
          <p:cNvPr id="8" name="text-801"/>
          <p:cNvSpPr txBox="1"/>
          <p:nvPr/>
        </p:nvSpPr>
        <p:spPr>
          <a:xfrm>
            <a:off x="548640" y="242316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1</a:t>
            </a:r>
            <a:endParaRPr lang="en-US" sz="1400" dirty="0"/>
          </a:p>
        </p:txBody>
      </p:sp>
      <p:sp>
        <p:nvSpPr>
          <p:cNvPr id="9" name="text-802"/>
          <p:cNvSpPr txBox="1"/>
          <p:nvPr/>
        </p:nvSpPr>
        <p:spPr>
          <a:xfrm>
            <a:off x="1097280" y="244144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President Ho Chi Minh Monument</a:t>
            </a:r>
            <a:endParaRPr lang="en-US" sz="1050" dirty="0"/>
          </a:p>
          <a:p>
            <a:pPr indent="0" marL="0">
              <a:lnSpc>
                <a:spcPct val="100000"/>
              </a:lnSpc>
              <a:buNone/>
            </a:pPr>
            <a:r>
              <a:rPr lang="en-US" sz="900" dirty="0">
                <a:solidFill>
                  <a:schemeClr val="tx2"/>
                </a:solidFill>
              </a:rPr>
              <a:t>The civic heart of the city on the Aurora Roundabout.</a:t>
            </a:r>
            <a:endParaRPr lang="en-US" sz="1050" dirty="0"/>
          </a:p>
        </p:txBody>
      </p:sp>
      <p:sp>
        <p:nvSpPr>
          <p:cNvPr id="10" name="marker-803"/>
          <p:cNvSpPr/>
          <p:nvPr/>
        </p:nvSpPr>
        <p:spPr>
          <a:xfrm>
            <a:off x="548640" y="3209544"/>
            <a:ext cx="402336" cy="402336"/>
          </a:xfrm>
          <a:prstGeom prst="ellipse">
            <a:avLst/>
          </a:prstGeom>
          <a:solidFill>
            <a:schemeClr val="accent6"/>
          </a:solidFill>
          <a:ln w="12700">
            <a:solidFill>
              <a:schemeClr val="accent6"/>
            </a:solidFill>
            <a:prstDash val="solid"/>
          </a:ln>
        </p:spPr>
      </p:sp>
      <p:sp>
        <p:nvSpPr>
          <p:cNvPr id="11" name="text-804"/>
          <p:cNvSpPr txBox="1"/>
          <p:nvPr/>
        </p:nvSpPr>
        <p:spPr>
          <a:xfrm>
            <a:off x="548640" y="320954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2</a:t>
            </a:r>
            <a:endParaRPr lang="en-US" sz="1400" dirty="0"/>
          </a:p>
        </p:txBody>
      </p:sp>
      <p:sp>
        <p:nvSpPr>
          <p:cNvPr id="12" name="text-805"/>
          <p:cNvSpPr txBox="1"/>
          <p:nvPr/>
        </p:nvSpPr>
        <p:spPr>
          <a:xfrm>
            <a:off x="1097280" y="322783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Metro Entrance – Central Interchange Station</a:t>
            </a:r>
            <a:endParaRPr lang="en-US" sz="1050" dirty="0"/>
          </a:p>
          <a:p>
            <a:pPr indent="0" marL="0">
              <a:lnSpc>
                <a:spcPct val="100000"/>
              </a:lnSpc>
              <a:buNone/>
            </a:pPr>
            <a:r>
              <a:rPr lang="en-US" sz="900" dirty="0">
                <a:solidFill>
                  <a:schemeClr val="tx2"/>
                </a:solidFill>
              </a:rPr>
              <a:t>Escalators down to the metro and the shelters.</a:t>
            </a:r>
            <a:endParaRPr lang="en-US" sz="1050" dirty="0"/>
          </a:p>
        </p:txBody>
      </p:sp>
      <p:sp>
        <p:nvSpPr>
          <p:cNvPr id="13" name="marker-806"/>
          <p:cNvSpPr/>
          <p:nvPr/>
        </p:nvSpPr>
        <p:spPr>
          <a:xfrm>
            <a:off x="548640" y="3995928"/>
            <a:ext cx="402336" cy="402336"/>
          </a:xfrm>
          <a:prstGeom prst="ellipse">
            <a:avLst/>
          </a:prstGeom>
          <a:solidFill>
            <a:schemeClr val="accent6"/>
          </a:solidFill>
          <a:ln w="12700">
            <a:solidFill>
              <a:schemeClr val="accent6"/>
            </a:solidFill>
            <a:prstDash val="solid"/>
          </a:ln>
        </p:spPr>
      </p:sp>
      <p:sp>
        <p:nvSpPr>
          <p:cNvPr id="14" name="text-807"/>
          <p:cNvSpPr txBox="1"/>
          <p:nvPr/>
        </p:nvSpPr>
        <p:spPr>
          <a:xfrm>
            <a:off x="548640" y="399592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3</a:t>
            </a:r>
            <a:endParaRPr lang="en-US" sz="1400" dirty="0"/>
          </a:p>
        </p:txBody>
      </p:sp>
      <p:sp>
        <p:nvSpPr>
          <p:cNvPr id="15" name="text-808"/>
          <p:cNvSpPr txBox="1"/>
          <p:nvPr/>
        </p:nvSpPr>
        <p:spPr>
          <a:xfrm>
            <a:off x="1097280" y="401421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Snowflake General Hospital</a:t>
            </a:r>
            <a:endParaRPr lang="en-US" sz="1050" dirty="0"/>
          </a:p>
          <a:p>
            <a:pPr indent="0" marL="0">
              <a:lnSpc>
                <a:spcPct val="100000"/>
              </a:lnSpc>
              <a:buNone/>
            </a:pPr>
            <a:r>
              <a:rPr lang="en-US" sz="900" dirty="0">
                <a:solidFill>
                  <a:schemeClr val="tx2"/>
                </a:solidFill>
              </a:rPr>
              <a:t>About 250 beds and a 24-hour emergency department.</a:t>
            </a:r>
            <a:endParaRPr lang="en-US" sz="1050" dirty="0"/>
          </a:p>
        </p:txBody>
      </p:sp>
      <p:sp>
        <p:nvSpPr>
          <p:cNvPr id="16" name="marker-809"/>
          <p:cNvSpPr/>
          <p:nvPr/>
        </p:nvSpPr>
        <p:spPr>
          <a:xfrm>
            <a:off x="548640" y="4782312"/>
            <a:ext cx="402336" cy="402336"/>
          </a:xfrm>
          <a:prstGeom prst="ellipse">
            <a:avLst/>
          </a:prstGeom>
          <a:solidFill>
            <a:schemeClr val="accent6"/>
          </a:solidFill>
          <a:ln w="12700">
            <a:solidFill>
              <a:schemeClr val="accent6"/>
            </a:solidFill>
            <a:prstDash val="solid"/>
          </a:ln>
        </p:spPr>
      </p:sp>
      <p:sp>
        <p:nvSpPr>
          <p:cNvPr id="17" name="text-810"/>
          <p:cNvSpPr txBox="1"/>
          <p:nvPr/>
        </p:nvSpPr>
        <p:spPr>
          <a:xfrm>
            <a:off x="548640" y="478231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4</a:t>
            </a:r>
            <a:endParaRPr lang="en-US" sz="1400" dirty="0"/>
          </a:p>
        </p:txBody>
      </p:sp>
      <p:sp>
        <p:nvSpPr>
          <p:cNvPr id="18" name="text-811"/>
          <p:cNvSpPr txBox="1"/>
          <p:nvPr/>
        </p:nvSpPr>
        <p:spPr>
          <a:xfrm>
            <a:off x="1097280" y="4800600"/>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Fusion Core – Compact D-T Tokamak</a:t>
            </a:r>
            <a:endParaRPr lang="en-US" sz="1050" dirty="0"/>
          </a:p>
          <a:p>
            <a:pPr indent="0" marL="0">
              <a:lnSpc>
                <a:spcPct val="100000"/>
              </a:lnSpc>
              <a:buNone/>
            </a:pPr>
            <a:r>
              <a:rPr lang="en-US" sz="900" dirty="0">
                <a:solidFill>
                  <a:schemeClr val="tx2"/>
                </a:solidFill>
              </a:rPr>
              <a:t>The city’s own sun.</a:t>
            </a:r>
            <a:endParaRPr lang="en-US" sz="1050" dirty="0"/>
          </a:p>
        </p:txBody>
      </p:sp>
      <p:sp>
        <p:nvSpPr>
          <p:cNvPr id="19" name="marker-812"/>
          <p:cNvSpPr/>
          <p:nvPr/>
        </p:nvSpPr>
        <p:spPr>
          <a:xfrm>
            <a:off x="548640" y="5568696"/>
            <a:ext cx="402336" cy="402336"/>
          </a:xfrm>
          <a:prstGeom prst="ellipse">
            <a:avLst/>
          </a:prstGeom>
          <a:solidFill>
            <a:schemeClr val="accent6"/>
          </a:solidFill>
          <a:ln w="12700">
            <a:solidFill>
              <a:schemeClr val="accent6"/>
            </a:solidFill>
            <a:prstDash val="solid"/>
          </a:ln>
        </p:spPr>
      </p:sp>
      <p:sp>
        <p:nvSpPr>
          <p:cNvPr id="20" name="text-813"/>
          <p:cNvSpPr txBox="1"/>
          <p:nvPr/>
        </p:nvSpPr>
        <p:spPr>
          <a:xfrm>
            <a:off x="548640" y="55686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5</a:t>
            </a:r>
            <a:endParaRPr lang="en-US" sz="1400" dirty="0"/>
          </a:p>
        </p:txBody>
      </p:sp>
      <p:sp>
        <p:nvSpPr>
          <p:cNvPr id="21" name="text-814"/>
          <p:cNvSpPr txBox="1"/>
          <p:nvPr/>
        </p:nvSpPr>
        <p:spPr>
          <a:xfrm>
            <a:off x="1097280" y="5586984"/>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Snow Harvest &amp; Melt Hall</a:t>
            </a:r>
            <a:endParaRPr lang="en-US" sz="1050" dirty="0"/>
          </a:p>
          <a:p>
            <a:pPr indent="0" marL="0">
              <a:lnSpc>
                <a:spcPct val="100000"/>
              </a:lnSpc>
              <a:buNone/>
            </a:pPr>
            <a:r>
              <a:rPr lang="en-US" sz="900" dirty="0">
                <a:solidFill>
                  <a:schemeClr val="tx2"/>
                </a:solidFill>
              </a:rPr>
              <a:t>Melts about 3,000 t of snow a day with spare fusion heat.</a:t>
            </a:r>
            <a:endParaRPr lang="en-US" sz="1050" dirty="0"/>
          </a:p>
        </p:txBody>
      </p:sp>
      <p:sp>
        <p:nvSpPr>
          <p:cNvPr id="22" name="marker-815"/>
          <p:cNvSpPr/>
          <p:nvPr/>
        </p:nvSpPr>
        <p:spPr>
          <a:xfrm>
            <a:off x="548640" y="6355080"/>
            <a:ext cx="402336" cy="402336"/>
          </a:xfrm>
          <a:prstGeom prst="ellipse">
            <a:avLst/>
          </a:prstGeom>
          <a:solidFill>
            <a:schemeClr val="accent6"/>
          </a:solidFill>
          <a:ln w="12700">
            <a:solidFill>
              <a:schemeClr val="accent6"/>
            </a:solidFill>
            <a:prstDash val="solid"/>
          </a:ln>
        </p:spPr>
      </p:sp>
      <p:sp>
        <p:nvSpPr>
          <p:cNvPr id="23" name="text-816"/>
          <p:cNvSpPr txBox="1"/>
          <p:nvPr/>
        </p:nvSpPr>
        <p:spPr>
          <a:xfrm>
            <a:off x="548640" y="63550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6</a:t>
            </a:r>
            <a:endParaRPr lang="en-US" sz="1400" dirty="0"/>
          </a:p>
        </p:txBody>
      </p:sp>
      <p:sp>
        <p:nvSpPr>
          <p:cNvPr id="24" name="text-817"/>
          <p:cNvSpPr txBox="1"/>
          <p:nvPr/>
        </p:nvSpPr>
        <p:spPr>
          <a:xfrm>
            <a:off x="1097280" y="6373368"/>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Mount Aurora – Snow Peak &amp; Hanging Glacier</a:t>
            </a:r>
            <a:endParaRPr lang="en-US" sz="1050" dirty="0"/>
          </a:p>
          <a:p>
            <a:pPr indent="0" marL="0">
              <a:lnSpc>
                <a:spcPct val="100000"/>
              </a:lnSpc>
              <a:buNone/>
            </a:pPr>
            <a:r>
              <a:rPr lang="en-US" sz="900" dirty="0">
                <a:solidFill>
                  <a:schemeClr val="tx2"/>
                </a:solidFill>
              </a:rPr>
              <a:t>The 35 m peak with the spa inside.</a:t>
            </a:r>
            <a:endParaRPr lang="en-US" sz="1050" dirty="0"/>
          </a:p>
        </p:txBody>
      </p:sp>
      <p:sp>
        <p:nvSpPr>
          <p:cNvPr id="25" name="marker-818"/>
          <p:cNvSpPr/>
          <p:nvPr/>
        </p:nvSpPr>
        <p:spPr>
          <a:xfrm>
            <a:off x="548640" y="7141464"/>
            <a:ext cx="402336" cy="402336"/>
          </a:xfrm>
          <a:prstGeom prst="ellipse">
            <a:avLst/>
          </a:prstGeom>
          <a:solidFill>
            <a:schemeClr val="accent6"/>
          </a:solidFill>
          <a:ln w="12700">
            <a:solidFill>
              <a:schemeClr val="accent6"/>
            </a:solidFill>
            <a:prstDash val="solid"/>
          </a:ln>
        </p:spPr>
      </p:sp>
      <p:sp>
        <p:nvSpPr>
          <p:cNvPr id="26" name="text-819"/>
          <p:cNvSpPr txBox="1"/>
          <p:nvPr/>
        </p:nvSpPr>
        <p:spPr>
          <a:xfrm>
            <a:off x="548640" y="71414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7</a:t>
            </a:r>
            <a:endParaRPr lang="en-US" sz="1400" dirty="0"/>
          </a:p>
        </p:txBody>
      </p:sp>
      <p:sp>
        <p:nvSpPr>
          <p:cNvPr id="27" name="text-820"/>
          <p:cNvSpPr txBox="1"/>
          <p:nvPr/>
        </p:nvSpPr>
        <p:spPr>
          <a:xfrm>
            <a:off x="1097280" y="7159752"/>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Ice-Proof Wind Farm</a:t>
            </a:r>
            <a:endParaRPr lang="en-US" sz="1050" dirty="0"/>
          </a:p>
          <a:p>
            <a:pPr indent="0" marL="0">
              <a:lnSpc>
                <a:spcPct val="100000"/>
              </a:lnSpc>
              <a:buNone/>
            </a:pPr>
            <a:r>
              <a:rPr lang="en-US" sz="900" dirty="0">
                <a:solidFill>
                  <a:schemeClr val="tx2"/>
                </a:solidFill>
              </a:rPr>
              <a:t>Two rows of turbines making about 60 MW.</a:t>
            </a:r>
            <a:endParaRPr lang="en-US" sz="1050" dirty="0"/>
          </a:p>
        </p:txBody>
      </p:sp>
      <p:sp>
        <p:nvSpPr>
          <p:cNvPr id="28" name="marker-821"/>
          <p:cNvSpPr/>
          <p:nvPr/>
        </p:nvSpPr>
        <p:spPr>
          <a:xfrm>
            <a:off x="548640" y="7927848"/>
            <a:ext cx="402336" cy="402336"/>
          </a:xfrm>
          <a:prstGeom prst="ellipse">
            <a:avLst/>
          </a:prstGeom>
          <a:solidFill>
            <a:schemeClr val="accent6"/>
          </a:solidFill>
          <a:ln w="12700">
            <a:solidFill>
              <a:schemeClr val="accent6"/>
            </a:solidFill>
            <a:prstDash val="solid"/>
          </a:ln>
        </p:spPr>
      </p:sp>
      <p:sp>
        <p:nvSpPr>
          <p:cNvPr id="29" name="text-822"/>
          <p:cNvSpPr txBox="1"/>
          <p:nvPr/>
        </p:nvSpPr>
        <p:spPr>
          <a:xfrm>
            <a:off x="548640" y="792784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8</a:t>
            </a:r>
            <a:endParaRPr lang="en-US" sz="1400" dirty="0"/>
          </a:p>
        </p:txBody>
      </p:sp>
      <p:sp>
        <p:nvSpPr>
          <p:cNvPr id="30" name="text-823"/>
          <p:cNvSpPr txBox="1"/>
          <p:nvPr/>
        </p:nvSpPr>
        <p:spPr>
          <a:xfrm>
            <a:off x="1097280" y="7946136"/>
            <a:ext cx="3429000" cy="713232"/>
          </a:xfrm>
          <a:prstGeom prst="rect">
            <a:avLst/>
          </a:prstGeom>
          <a:noFill/>
          <a:ln/>
        </p:spPr>
        <p:txBody>
          <a:bodyPr wrap="square" lIns="0" tIns="0" rIns="0" bIns="0" rtlCol="0" anchor="t"/>
          <a:lstStyle/>
          <a:p>
            <a:pPr indent="0" marL="0">
              <a:lnSpc>
                <a:spcPct val="100000"/>
              </a:lnSpc>
              <a:spcAft>
                <a:spcPts val="200"/>
              </a:spcAft>
              <a:buNone/>
            </a:pPr>
            <a:r>
              <a:rPr lang="en-US" sz="1000" b="1" dirty="0">
                <a:solidFill>
                  <a:schemeClr val="tx1"/>
                </a:solidFill>
              </a:rPr>
              <a:t>Polar Rescue and Resilience Station</a:t>
            </a:r>
            <a:endParaRPr lang="en-US" sz="1050" dirty="0"/>
          </a:p>
          <a:p>
            <a:pPr indent="0" marL="0">
              <a:lnSpc>
                <a:spcPct val="100000"/>
              </a:lnSpc>
              <a:buNone/>
            </a:pPr>
            <a:r>
              <a:rPr lang="en-US" sz="900" dirty="0">
                <a:solidFill>
                  <a:schemeClr val="tx2"/>
                </a:solidFill>
              </a:rPr>
              <a:t>Home of the 112 emergency centre.</a:t>
            </a:r>
            <a:endParaRPr lang="en-US" sz="1050" dirty="0"/>
          </a:p>
        </p:txBody>
      </p:sp>
      <p:sp>
        <p:nvSpPr>
          <p:cNvPr id="31" name="text-824"/>
          <p:cNvSpPr txBox="1"/>
          <p:nvPr/>
        </p:nvSpPr>
        <p:spPr>
          <a:xfrm>
            <a:off x="548640" y="8668512"/>
            <a:ext cx="3977640" cy="411480"/>
          </a:xfrm>
          <a:prstGeom prst="rect">
            <a:avLst/>
          </a:prstGeom>
          <a:noFill/>
          <a:ln/>
        </p:spPr>
        <p:txBody>
          <a:bodyPr wrap="square" lIns="0" tIns="0" rIns="0" bIns="0" rtlCol="0" anchor="t"/>
          <a:lstStyle/>
          <a:p>
            <a:pPr indent="0" marL="0">
              <a:buNone/>
            </a:pPr>
            <a:r>
              <a:rPr lang="en-US" sz="900" i="1" dirty="0">
                <a:solidFill>
                  <a:schemeClr val="tx2"/>
                </a:solidFill>
              </a:rPr>
              <a:t>If there is time: the Aurora Lagoon, the Bifacial Solar Farm and the Recycled Water Tower.</a:t>
            </a:r>
            <a:endParaRPr lang="en-US" sz="900" dirty="0"/>
          </a:p>
        </p:txBody>
      </p:sp>
      <p:sp>
        <p:nvSpPr>
          <p:cNvPr id="32" name="card-825"/>
          <p:cNvSpPr/>
          <p:nvPr/>
        </p:nvSpPr>
        <p:spPr>
          <a:xfrm>
            <a:off x="4800600" y="2423160"/>
            <a:ext cx="2212848" cy="7498080"/>
          </a:xfrm>
          <a:prstGeom prst="roundRect">
            <a:avLst>
              <a:gd name="adj" fmla="val 3306"/>
            </a:avLst>
          </a:prstGeom>
          <a:solidFill>
            <a:schemeClr val="bg1"/>
          </a:solidFill>
          <a:ln w="12700">
            <a:solidFill>
              <a:schemeClr val="bg1"/>
            </a:solidFill>
            <a:prstDash val="solid"/>
          </a:ln>
        </p:spPr>
      </p:sp>
      <p:pic>
        <p:nvPicPr>
          <p:cNvPr id="33" name="picture-826" descr="/home/user/chatbox-bi-n-o/magazine/assets/renders/stadium.jpg">    </p:cNvPr>
          <p:cNvPicPr>
            <a:picLocks noChangeAspect="1"/>
          </p:cNvPicPr>
          <p:nvPr/>
        </p:nvPicPr>
        <p:blipFill>
          <a:blip r:embed="rId1"/>
          <a:srcRect l="0" r="0" t="0" b="0"/>
          <a:stretch/>
        </p:blipFill>
        <p:spPr>
          <a:xfrm>
            <a:off x="4800600" y="2423160"/>
            <a:ext cx="2212848" cy="1600200"/>
          </a:xfrm>
          <a:prstGeom prst="rect">
            <a:avLst/>
          </a:prstGeom>
        </p:spPr>
      </p:pic>
      <p:sp>
        <p:nvSpPr>
          <p:cNvPr id="34" name="text-827"/>
          <p:cNvSpPr txBox="1"/>
          <p:nvPr/>
        </p:nvSpPr>
        <p:spPr>
          <a:xfrm>
            <a:off x="4965192" y="4087368"/>
            <a:ext cx="1883664" cy="201168"/>
          </a:xfrm>
          <a:prstGeom prst="rect">
            <a:avLst/>
          </a:prstGeom>
          <a:noFill/>
          <a:ln/>
        </p:spPr>
        <p:txBody>
          <a:bodyPr wrap="square" lIns="0" tIns="0" rIns="0" bIns="0" rtlCol="0" anchor="t"/>
          <a:lstStyle/>
          <a:p>
            <a:pPr indent="0" marL="0">
              <a:buNone/>
            </a:pPr>
            <a:r>
              <a:rPr lang="en-US" sz="850" i="1" dirty="0">
                <a:solidFill>
                  <a:schemeClr val="tx2"/>
                </a:solidFill>
              </a:rPr>
              <a:t>Aurora Snow Stadium at dusk.</a:t>
            </a:r>
            <a:endParaRPr lang="en-US" sz="850" dirty="0"/>
          </a:p>
        </p:txBody>
      </p:sp>
      <p:sp>
        <p:nvSpPr>
          <p:cNvPr id="35" name="kicker-dot-828"/>
          <p:cNvSpPr/>
          <p:nvPr/>
        </p:nvSpPr>
        <p:spPr>
          <a:xfrm>
            <a:off x="4965192" y="4475988"/>
            <a:ext cx="100584" cy="100584"/>
          </a:xfrm>
          <a:prstGeom prst="ellipse">
            <a:avLst/>
          </a:prstGeom>
          <a:solidFill>
            <a:schemeClr val="accent6"/>
          </a:solidFill>
          <a:ln w="12700">
            <a:solidFill>
              <a:schemeClr val="accent6"/>
            </a:solidFill>
            <a:prstDash val="solid"/>
          </a:ln>
        </p:spPr>
      </p:sp>
      <p:sp>
        <p:nvSpPr>
          <p:cNvPr id="36" name="text-829"/>
          <p:cNvSpPr txBox="1"/>
          <p:nvPr/>
        </p:nvSpPr>
        <p:spPr>
          <a:xfrm>
            <a:off x="5148072" y="4434840"/>
            <a:ext cx="1847088" cy="201168"/>
          </a:xfrm>
          <a:prstGeom prst="rect">
            <a:avLst/>
          </a:prstGeom>
          <a:noFill/>
          <a:ln/>
        </p:spPr>
        <p:txBody>
          <a:bodyPr wrap="square" lIns="0" tIns="0" rIns="0" bIns="0" rtlCol="0" anchor="t"/>
          <a:lstStyle/>
          <a:p>
            <a:pPr indent="0" marL="0">
              <a:buNone/>
            </a:pPr>
            <a:r>
              <a:rPr lang="en-US" sz="900" b="1" spc="300" kern="0" dirty="0">
                <a:solidFill>
                  <a:schemeClr val="accent6"/>
                </a:solidFill>
              </a:rPr>
              <a:t>BEHIND THE BUILD</a:t>
            </a:r>
            <a:endParaRPr lang="en-US" sz="900" dirty="0"/>
          </a:p>
        </p:txBody>
      </p:sp>
      <p:sp>
        <p:nvSpPr>
          <p:cNvPr id="37" name="text-830"/>
          <p:cNvSpPr txBox="1"/>
          <p:nvPr/>
        </p:nvSpPr>
        <p:spPr>
          <a:xfrm>
            <a:off x="4965192" y="4709160"/>
            <a:ext cx="188366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35</a:t>
            </a:r>
            <a:endParaRPr lang="en-US" sz="2000" dirty="0"/>
          </a:p>
        </p:txBody>
      </p:sp>
      <p:sp>
        <p:nvSpPr>
          <p:cNvPr id="38" name="text-831"/>
          <p:cNvSpPr txBox="1"/>
          <p:nvPr/>
        </p:nvSpPr>
        <p:spPr>
          <a:xfrm>
            <a:off x="4965192" y="5063744"/>
            <a:ext cx="1883664"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key places, numbered on the master plan</a:t>
            </a:r>
            <a:endParaRPr lang="en-US" sz="850" dirty="0"/>
          </a:p>
        </p:txBody>
      </p:sp>
      <p:sp>
        <p:nvSpPr>
          <p:cNvPr id="39" name="text-832"/>
          <p:cNvSpPr txBox="1"/>
          <p:nvPr/>
        </p:nvSpPr>
        <p:spPr>
          <a:xfrm>
            <a:off x="4965192" y="5486400"/>
            <a:ext cx="188366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9</a:t>
            </a:r>
            <a:endParaRPr lang="en-US" sz="2000" dirty="0"/>
          </a:p>
        </p:txBody>
      </p:sp>
      <p:sp>
        <p:nvSpPr>
          <p:cNvPr id="40" name="text-833"/>
          <p:cNvSpPr txBox="1"/>
          <p:nvPr/>
        </p:nvSpPr>
        <p:spPr>
          <a:xfrm>
            <a:off x="4965192" y="5840984"/>
            <a:ext cx="1883664"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downtown blocks around the Aurora Roundabout</a:t>
            </a:r>
            <a:endParaRPr lang="en-US" sz="850" dirty="0"/>
          </a:p>
        </p:txBody>
      </p:sp>
      <p:sp>
        <p:nvSpPr>
          <p:cNvPr id="41" name="text-834"/>
          <p:cNvSpPr txBox="1"/>
          <p:nvPr/>
        </p:nvSpPr>
        <p:spPr>
          <a:xfrm>
            <a:off x="4965192" y="6263640"/>
            <a:ext cx="1883664" cy="327152"/>
          </a:xfrm>
          <a:prstGeom prst="rect">
            <a:avLst/>
          </a:prstGeom>
          <a:noFill/>
          <a:ln/>
        </p:spPr>
        <p:txBody>
          <a:bodyPr wrap="square" lIns="0" tIns="0" rIns="0" bIns="0" rtlCol="0" anchor="b"/>
          <a:lstStyle/>
          <a:p>
            <a:pPr indent="0" marL="0">
              <a:buNone/>
            </a:pPr>
            <a:r>
              <a:rPr lang="en-US" sz="2000" b="1" dirty="0">
                <a:solidFill>
                  <a:schemeClr val="accent6"/>
                </a:solidFill>
                <a:latin typeface="+mj-lt" pitchFamily="34" charset="0"/>
                <a:ea typeface="+mj-lt" pitchFamily="34" charset="-122"/>
                <a:cs typeface="+mj-lt" pitchFamily="34" charset="-120"/>
              </a:rPr>
              <a:t>1 m</a:t>
            </a:r>
            <a:endParaRPr lang="en-US" sz="2000" dirty="0"/>
          </a:p>
        </p:txBody>
      </p:sp>
      <p:sp>
        <p:nvSpPr>
          <p:cNvPr id="42" name="text-835"/>
          <p:cNvSpPr txBox="1"/>
          <p:nvPr/>
        </p:nvSpPr>
        <p:spPr>
          <a:xfrm>
            <a:off x="4965192" y="6618224"/>
            <a:ext cx="1883664" cy="365760"/>
          </a:xfrm>
          <a:prstGeom prst="rect">
            <a:avLst/>
          </a:prstGeom>
          <a:noFill/>
          <a:ln/>
        </p:spPr>
        <p:txBody>
          <a:bodyPr wrap="square" lIns="0" tIns="0" rIns="0" bIns="0" rtlCol="0" anchor="t"/>
          <a:lstStyle/>
          <a:p>
            <a:pPr indent="0" marL="0">
              <a:lnSpc>
                <a:spcPct val="105000"/>
              </a:lnSpc>
              <a:buNone/>
            </a:pPr>
            <a:r>
              <a:rPr lang="en-US" sz="850" dirty="0">
                <a:solidFill>
                  <a:schemeClr val="tx2"/>
                </a:solidFill>
              </a:rPr>
              <a:t>per unit on every plan, drawn from the 3D model</a:t>
            </a:r>
            <a:endParaRPr lang="en-US" sz="850" dirty="0"/>
          </a:p>
        </p:txBody>
      </p:sp>
      <p:sp>
        <p:nvSpPr>
          <p:cNvPr id="43" name="card-836"/>
          <p:cNvSpPr/>
          <p:nvPr/>
        </p:nvSpPr>
        <p:spPr>
          <a:xfrm>
            <a:off x="4910328" y="7086600"/>
            <a:ext cx="1993392" cy="2697480"/>
          </a:xfrm>
          <a:prstGeom prst="roundRect">
            <a:avLst>
              <a:gd name="adj" fmla="val 3670"/>
            </a:avLst>
          </a:prstGeom>
          <a:solidFill>
            <a:schemeClr val="bg2"/>
          </a:solidFill>
          <a:ln w="12700">
            <a:solidFill>
              <a:schemeClr val="bg2"/>
            </a:solidFill>
            <a:prstDash val="solid"/>
          </a:ln>
        </p:spPr>
      </p:sp>
      <p:pic>
        <p:nvPicPr>
          <p:cNvPr id="44" name="qr-interview-837" descr="/home/user/chatbox-bi-n-o/magazine/assets/ui/qr_interview.png">
            <a:hlinkClick r:id="rId3" tooltip="Watch our real-world interview"/>
          </p:cNvPr>
          <p:cNvPicPr>
            <a:picLocks noChangeAspect="1"/>
          </p:cNvPicPr>
          <p:nvPr/>
        </p:nvPicPr>
        <p:blipFill>
          <a:blip r:embed="rId2"/>
          <a:stretch>
            <a:fillRect/>
          </a:stretch>
        </p:blipFill>
        <p:spPr>
          <a:xfrm>
            <a:off x="5138928" y="7269480"/>
            <a:ext cx="1536192" cy="1536192"/>
          </a:xfrm>
          <a:prstGeom prst="rect">
            <a:avLst/>
          </a:prstGeom>
        </p:spPr>
      </p:pic>
      <p:sp>
        <p:nvSpPr>
          <p:cNvPr id="45" name="text-838"/>
          <p:cNvSpPr txBox="1"/>
          <p:nvPr/>
        </p:nvSpPr>
        <p:spPr>
          <a:xfrm>
            <a:off x="5001768" y="8897112"/>
            <a:ext cx="1810512" cy="795528"/>
          </a:xfrm>
          <a:prstGeom prst="rect">
            <a:avLst/>
          </a:prstGeom>
          <a:noFill/>
          <a:ln/>
        </p:spPr>
        <p:txBody>
          <a:bodyPr wrap="square" lIns="0" tIns="0" rIns="0" bIns="0" rtlCol="0" anchor="t"/>
          <a:lstStyle/>
          <a:p>
            <a:pPr algn="ctr" indent="0" marL="0">
              <a:lnSpc>
                <a:spcPct val="100000"/>
              </a:lnSpc>
              <a:spcAft>
                <a:spcPts val="300"/>
              </a:spcAft>
              <a:buNone/>
            </a:pPr>
            <a:r>
              <a:rPr lang="en-US" sz="800" b="1" spc="150" kern="0" dirty="0">
                <a:solidFill>
                  <a:schemeClr val="accent4"/>
                </a:solidFill>
              </a:rPr>
              <a:t>SCAN TO WATCH</a:t>
            </a:r>
            <a:endParaRPr lang="en-US" sz="1050" dirty="0"/>
          </a:p>
          <a:p>
            <a:pPr algn="ctr" indent="0" marL="0">
              <a:lnSpc>
                <a:spcPct val="100000"/>
              </a:lnSpc>
              <a:spcAft>
                <a:spcPts val="300"/>
              </a:spcAft>
              <a:buNone/>
            </a:pPr>
            <a:r>
              <a:rPr lang="en-US" sz="1400" b="1" dirty="0">
                <a:solidFill>
                  <a:schemeClr val="tx1"/>
                </a:solidFill>
                <a:latin typeface="+mj-lt" pitchFamily="34" charset="0"/>
                <a:ea typeface="+mj-lt" pitchFamily="34" charset="-122"/>
                <a:cs typeface="+mj-lt" pitchFamily="34" charset="-120"/>
              </a:rPr>
              <a:t>Our real-world interview</a:t>
            </a:r>
            <a:endParaRPr lang="en-US" sz="1050" dirty="0"/>
          </a:p>
          <a:p>
            <a:pPr algn="ctr" indent="0" marL="0">
              <a:lnSpc>
                <a:spcPct val="100000"/>
              </a:lnSpc>
              <a:buNone/>
            </a:pPr>
            <a:r>
              <a:rPr lang="en-US" sz="850" dirty="0">
                <a:solidFill>
                  <a:schemeClr val="tx2"/>
                </a:solidFill>
              </a:rPr>
              <a:t>Video on YouTube</a:t>
            </a:r>
            <a:endParaRPr lang="en-US" sz="1050" dirty="0"/>
          </a:p>
          <a:p>
            <a:pPr algn="ctr" indent="0" marL="0">
              <a:lnSpc>
                <a:spcPct val="100000"/>
              </a:lnSpc>
              <a:buNone/>
            </a:pPr>
            <a:r>
              <a:rPr lang="en-US" sz="850" b="1" u="sng" dirty="0">
                <a:solidFill>
                  <a:schemeClr val="accent6"/>
                </a:solidFill>
                <a:hlinkClick r:id="rId3"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kicker-dot-839"/>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84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GUIDE · 35 KEY PLACES</a:t>
            </a:r>
            <a:endParaRPr lang="en-US" sz="900" dirty="0"/>
          </a:p>
        </p:txBody>
      </p:sp>
      <p:sp>
        <p:nvSpPr>
          <p:cNvPr id="4" name="title-84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Places to Visit</a:t>
            </a:r>
            <a:endParaRPr lang="en-US" sz="3400" dirty="0"/>
          </a:p>
        </p:txBody>
      </p:sp>
      <p:sp>
        <p:nvSpPr>
          <p:cNvPr id="5" name="text-843"/>
          <p:cNvSpPr txBox="1"/>
          <p:nvPr/>
        </p:nvSpPr>
        <p:spPr>
          <a:xfrm>
            <a:off x="548640" y="1444752"/>
            <a:ext cx="6464808" cy="228600"/>
          </a:xfrm>
          <a:prstGeom prst="rect">
            <a:avLst/>
          </a:prstGeom>
          <a:noFill/>
          <a:ln/>
        </p:spPr>
        <p:txBody>
          <a:bodyPr wrap="square" lIns="0" tIns="0" rIns="0" bIns="0" rtlCol="0" anchor="t"/>
          <a:lstStyle/>
          <a:p>
            <a:pPr indent="0" marL="0">
              <a:buNone/>
            </a:pPr>
            <a:r>
              <a:rPr lang="en-US" sz="950" i="1" dirty="0">
                <a:solidFill>
                  <a:schemeClr val="tx2"/>
                </a:solidFill>
              </a:rPr>
              <a:t>The numbers match the markers on the city master plan on pages 10–11.</a:t>
            </a:r>
            <a:endParaRPr lang="en-US" sz="950" dirty="0"/>
          </a:p>
        </p:txBody>
      </p:sp>
      <p:sp>
        <p:nvSpPr>
          <p:cNvPr id="6" name="text-844"/>
          <p:cNvSpPr txBox="1"/>
          <p:nvPr/>
        </p:nvSpPr>
        <p:spPr>
          <a:xfrm>
            <a:off x="548640"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a:t>
            </a:r>
            <a:endParaRPr lang="en-US" sz="1100" dirty="0"/>
          </a:p>
        </p:txBody>
      </p:sp>
      <p:sp>
        <p:nvSpPr>
          <p:cNvPr id="7" name="text-845"/>
          <p:cNvSpPr txBox="1"/>
          <p:nvPr/>
        </p:nvSpPr>
        <p:spPr>
          <a:xfrm>
            <a:off x="896112"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President Ho Chi Minh Monument</a:t>
            </a:r>
            <a:endParaRPr lang="en-US" sz="900" dirty="0"/>
          </a:p>
        </p:txBody>
      </p:sp>
      <p:sp>
        <p:nvSpPr>
          <p:cNvPr id="8" name="text-846"/>
          <p:cNvSpPr txBox="1"/>
          <p:nvPr/>
        </p:nvSpPr>
        <p:spPr>
          <a:xfrm>
            <a:off x="896112"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The city’s civic heart on Aurora Roundabout: ceremonies, national holidays and walking tours.</a:t>
            </a:r>
            <a:endParaRPr lang="en-US" sz="800" dirty="0"/>
          </a:p>
        </p:txBody>
      </p:sp>
      <p:sp>
        <p:nvSpPr>
          <p:cNvPr id="9" name="text-847"/>
          <p:cNvSpPr txBox="1"/>
          <p:nvPr/>
        </p:nvSpPr>
        <p:spPr>
          <a:xfrm>
            <a:off x="548640"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a:t>
            </a:r>
            <a:endParaRPr lang="en-US" sz="1100" dirty="0"/>
          </a:p>
        </p:txBody>
      </p:sp>
      <p:sp>
        <p:nvSpPr>
          <p:cNvPr id="10" name="text-848"/>
          <p:cNvSpPr txBox="1"/>
          <p:nvPr/>
        </p:nvSpPr>
        <p:spPr>
          <a:xfrm>
            <a:off x="896112"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Civic Center &amp; Municipal Hall</a:t>
            </a:r>
            <a:endParaRPr lang="en-US" sz="900" dirty="0"/>
          </a:p>
        </p:txBody>
      </p:sp>
      <p:sp>
        <p:nvSpPr>
          <p:cNvPr id="11" name="text-849"/>
          <p:cNvSpPr txBox="1"/>
          <p:nvPr/>
        </p:nvSpPr>
        <p:spPr>
          <a:xfrm>
            <a:off x="896112"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Town hall for the city council, ID cards, permits, housing and family services.</a:t>
            </a:r>
            <a:endParaRPr lang="en-US" sz="800" dirty="0"/>
          </a:p>
        </p:txBody>
      </p:sp>
      <p:sp>
        <p:nvSpPr>
          <p:cNvPr id="12" name="text-850"/>
          <p:cNvSpPr txBox="1"/>
          <p:nvPr/>
        </p:nvSpPr>
        <p:spPr>
          <a:xfrm>
            <a:off x="548640"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a:t>
            </a:r>
            <a:endParaRPr lang="en-US" sz="1100" dirty="0"/>
          </a:p>
        </p:txBody>
      </p:sp>
      <p:sp>
        <p:nvSpPr>
          <p:cNvPr id="13" name="text-851"/>
          <p:cNvSpPr txBox="1"/>
          <p:nvPr/>
        </p:nvSpPr>
        <p:spPr>
          <a:xfrm>
            <a:off x="896112"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Snowflake General Hospital</a:t>
            </a:r>
            <a:endParaRPr lang="en-US" sz="900" dirty="0"/>
          </a:p>
        </p:txBody>
      </p:sp>
      <p:sp>
        <p:nvSpPr>
          <p:cNvPr id="14" name="text-852"/>
          <p:cNvSpPr txBox="1"/>
          <p:nvPr/>
        </p:nvSpPr>
        <p:spPr>
          <a:xfrm>
            <a:off x="896112"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Main hospital with about 250 beds and a 24-hour emergency department.</a:t>
            </a:r>
            <a:endParaRPr lang="en-US" sz="800" dirty="0"/>
          </a:p>
        </p:txBody>
      </p:sp>
      <p:sp>
        <p:nvSpPr>
          <p:cNvPr id="15" name="text-853"/>
          <p:cNvSpPr txBox="1"/>
          <p:nvPr/>
        </p:nvSpPr>
        <p:spPr>
          <a:xfrm>
            <a:off x="548640"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4</a:t>
            </a:r>
            <a:endParaRPr lang="en-US" sz="1100" dirty="0"/>
          </a:p>
        </p:txBody>
      </p:sp>
      <p:sp>
        <p:nvSpPr>
          <p:cNvPr id="16" name="text-854"/>
          <p:cNvSpPr txBox="1"/>
          <p:nvPr/>
        </p:nvSpPr>
        <p:spPr>
          <a:xfrm>
            <a:off x="896112"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Northern Lights School &amp; Botanical Conservatory</a:t>
            </a:r>
            <a:endParaRPr lang="en-US" sz="900" dirty="0"/>
          </a:p>
        </p:txBody>
      </p:sp>
      <p:sp>
        <p:nvSpPr>
          <p:cNvPr id="17" name="text-855"/>
          <p:cNvSpPr txBox="1"/>
          <p:nvPr/>
        </p:nvSpPr>
        <p:spPr>
          <a:xfrm>
            <a:off x="896112"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and secondary school for about 900 pupils aged 6–18.</a:t>
            </a:r>
            <a:endParaRPr lang="en-US" sz="800" dirty="0"/>
          </a:p>
        </p:txBody>
      </p:sp>
      <p:sp>
        <p:nvSpPr>
          <p:cNvPr id="18" name="text-856"/>
          <p:cNvSpPr txBox="1"/>
          <p:nvPr/>
        </p:nvSpPr>
        <p:spPr>
          <a:xfrm>
            <a:off x="548640"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5</a:t>
            </a:r>
            <a:endParaRPr lang="en-US" sz="1100" dirty="0"/>
          </a:p>
        </p:txBody>
      </p:sp>
      <p:sp>
        <p:nvSpPr>
          <p:cNvPr id="19" name="text-857"/>
          <p:cNvSpPr txBox="1"/>
          <p:nvPr/>
        </p:nvSpPr>
        <p:spPr>
          <a:xfrm>
            <a:off x="896112"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Igloo Fresh Supermarket &amp; Food Hall</a:t>
            </a:r>
            <a:endParaRPr lang="en-US" sz="900" dirty="0"/>
          </a:p>
        </p:txBody>
      </p:sp>
      <p:sp>
        <p:nvSpPr>
          <p:cNvPr id="20" name="text-858"/>
          <p:cNvSpPr txBox="1"/>
          <p:nvPr/>
        </p:nvSpPr>
        <p:spPr>
          <a:xfrm>
            <a:off x="896112"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Downtown’s main supermarket and food court; about half its food is made in the city.</a:t>
            </a:r>
            <a:endParaRPr lang="en-US" sz="800" dirty="0"/>
          </a:p>
        </p:txBody>
      </p:sp>
      <p:sp>
        <p:nvSpPr>
          <p:cNvPr id="21" name="text-859"/>
          <p:cNvSpPr txBox="1"/>
          <p:nvPr/>
        </p:nvSpPr>
        <p:spPr>
          <a:xfrm>
            <a:off x="548640"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6</a:t>
            </a:r>
            <a:endParaRPr lang="en-US" sz="1100" dirty="0"/>
          </a:p>
        </p:txBody>
      </p:sp>
      <p:sp>
        <p:nvSpPr>
          <p:cNvPr id="22" name="text-860"/>
          <p:cNvSpPr txBox="1"/>
          <p:nvPr/>
        </p:nvSpPr>
        <p:spPr>
          <a:xfrm>
            <a:off x="896112"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Cinema &amp; Performing Arts Center</a:t>
            </a:r>
            <a:endParaRPr lang="en-US" sz="900" dirty="0"/>
          </a:p>
        </p:txBody>
      </p:sp>
      <p:sp>
        <p:nvSpPr>
          <p:cNvPr id="23" name="text-861"/>
          <p:cNvSpPr txBox="1"/>
          <p:nvPr/>
        </p:nvSpPr>
        <p:spPr>
          <a:xfrm>
            <a:off x="896112"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Cinema and theatre for films, concerts, ballet and school shows.</a:t>
            </a:r>
            <a:endParaRPr lang="en-US" sz="800" dirty="0"/>
          </a:p>
        </p:txBody>
      </p:sp>
      <p:sp>
        <p:nvSpPr>
          <p:cNvPr id="24" name="text-862"/>
          <p:cNvSpPr txBox="1"/>
          <p:nvPr/>
        </p:nvSpPr>
        <p:spPr>
          <a:xfrm>
            <a:off x="548640"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7</a:t>
            </a:r>
            <a:endParaRPr lang="en-US" sz="1100" dirty="0"/>
          </a:p>
        </p:txBody>
      </p:sp>
      <p:sp>
        <p:nvSpPr>
          <p:cNvPr id="25" name="text-863"/>
          <p:cNvSpPr txBox="1"/>
          <p:nvPr/>
        </p:nvSpPr>
        <p:spPr>
          <a:xfrm>
            <a:off x="896112"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Underground Metro &amp; Emergency Shelters</a:t>
            </a:r>
            <a:endParaRPr lang="en-US" sz="900" dirty="0"/>
          </a:p>
        </p:txBody>
      </p:sp>
      <p:sp>
        <p:nvSpPr>
          <p:cNvPr id="26" name="text-864"/>
          <p:cNvSpPr txBox="1"/>
          <p:nvPr/>
        </p:nvSpPr>
        <p:spPr>
          <a:xfrm>
            <a:off x="896112"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Metro interchange linked to four shelters that last 30 days.</a:t>
            </a:r>
            <a:endParaRPr lang="en-US" sz="800" dirty="0"/>
          </a:p>
        </p:txBody>
      </p:sp>
      <p:sp>
        <p:nvSpPr>
          <p:cNvPr id="27" name="text-865"/>
          <p:cNvSpPr txBox="1"/>
          <p:nvPr/>
        </p:nvSpPr>
        <p:spPr>
          <a:xfrm>
            <a:off x="548640"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8</a:t>
            </a:r>
            <a:endParaRPr lang="en-US" sz="1100" dirty="0"/>
          </a:p>
        </p:txBody>
      </p:sp>
      <p:sp>
        <p:nvSpPr>
          <p:cNvPr id="28" name="text-866"/>
          <p:cNvSpPr txBox="1"/>
          <p:nvPr/>
        </p:nvSpPr>
        <p:spPr>
          <a:xfrm>
            <a:off x="896112"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Core – AI Control Tower</a:t>
            </a:r>
            <a:endParaRPr lang="en-US" sz="900" dirty="0"/>
          </a:p>
        </p:txBody>
      </p:sp>
      <p:sp>
        <p:nvSpPr>
          <p:cNvPr id="29" name="text-867"/>
          <p:cNvSpPr txBox="1"/>
          <p:nvPr/>
        </p:nvSpPr>
        <p:spPr>
          <a:xfrm>
            <a:off x="896112"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Operations centre where an AI digital twin runs traffic, heat, power and alerts.</a:t>
            </a:r>
            <a:endParaRPr lang="en-US" sz="800" dirty="0"/>
          </a:p>
        </p:txBody>
      </p:sp>
      <p:sp>
        <p:nvSpPr>
          <p:cNvPr id="30" name="text-868"/>
          <p:cNvSpPr txBox="1"/>
          <p:nvPr/>
        </p:nvSpPr>
        <p:spPr>
          <a:xfrm>
            <a:off x="548640"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9</a:t>
            </a:r>
            <a:endParaRPr lang="en-US" sz="1100" dirty="0"/>
          </a:p>
        </p:txBody>
      </p:sp>
      <p:sp>
        <p:nvSpPr>
          <p:cNvPr id="31" name="text-869"/>
          <p:cNvSpPr txBox="1"/>
          <p:nvPr/>
        </p:nvSpPr>
        <p:spPr>
          <a:xfrm>
            <a:off x="896112"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Haven Police Headquarters</a:t>
            </a:r>
            <a:endParaRPr lang="en-US" sz="900" dirty="0"/>
          </a:p>
        </p:txBody>
      </p:sp>
      <p:sp>
        <p:nvSpPr>
          <p:cNvPr id="32" name="text-870"/>
          <p:cNvSpPr txBox="1"/>
          <p:nvPr/>
        </p:nvSpPr>
        <p:spPr>
          <a:xfrm>
            <a:off x="896112"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Central police station with a 24-hour police control room.</a:t>
            </a:r>
            <a:endParaRPr lang="en-US" sz="800" dirty="0"/>
          </a:p>
        </p:txBody>
      </p:sp>
      <p:sp>
        <p:nvSpPr>
          <p:cNvPr id="33" name="text-871"/>
          <p:cNvSpPr txBox="1"/>
          <p:nvPr/>
        </p:nvSpPr>
        <p:spPr>
          <a:xfrm>
            <a:off x="548640"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10</a:t>
            </a:r>
            <a:endParaRPr lang="en-US" sz="1100" dirty="0"/>
          </a:p>
        </p:txBody>
      </p:sp>
      <p:sp>
        <p:nvSpPr>
          <p:cNvPr id="34" name="text-872"/>
          <p:cNvSpPr txBox="1"/>
          <p:nvPr/>
        </p:nvSpPr>
        <p:spPr>
          <a:xfrm>
            <a:off x="896112"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Arctic University – Main Hall</a:t>
            </a:r>
            <a:endParaRPr lang="en-US" sz="900" dirty="0"/>
          </a:p>
        </p:txBody>
      </p:sp>
      <p:sp>
        <p:nvSpPr>
          <p:cNvPr id="35" name="text-873"/>
          <p:cNvSpPr txBox="1"/>
          <p:nvPr/>
        </p:nvSpPr>
        <p:spPr>
          <a:xfrm>
            <a:off x="896112"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Lecture halls for about 5,000 students of polar engineering, fusion, food science, medicine and climate.</a:t>
            </a:r>
            <a:endParaRPr lang="en-US" sz="800" dirty="0"/>
          </a:p>
        </p:txBody>
      </p:sp>
      <p:sp>
        <p:nvSpPr>
          <p:cNvPr id="36" name="text-874"/>
          <p:cNvSpPr txBox="1"/>
          <p:nvPr/>
        </p:nvSpPr>
        <p:spPr>
          <a:xfrm>
            <a:off x="548640"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11</a:t>
            </a:r>
            <a:endParaRPr lang="en-US" sz="1100" dirty="0"/>
          </a:p>
        </p:txBody>
      </p:sp>
      <p:sp>
        <p:nvSpPr>
          <p:cNvPr id="37" name="text-875"/>
          <p:cNvSpPr txBox="1"/>
          <p:nvPr/>
        </p:nvSpPr>
        <p:spPr>
          <a:xfrm>
            <a:off x="896112"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Public Library</a:t>
            </a:r>
            <a:endParaRPr lang="en-US" sz="900" dirty="0"/>
          </a:p>
        </p:txBody>
      </p:sp>
      <p:sp>
        <p:nvSpPr>
          <p:cNvPr id="38" name="text-876"/>
          <p:cNvSpPr txBox="1"/>
          <p:nvPr/>
        </p:nvSpPr>
        <p:spPr>
          <a:xfrm>
            <a:off x="896112"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Free library, open 24 hours in the polar night; lends skis, telescopes and light-therapy lamps.</a:t>
            </a:r>
            <a:endParaRPr lang="en-US" sz="800" dirty="0"/>
          </a:p>
        </p:txBody>
      </p:sp>
      <p:sp>
        <p:nvSpPr>
          <p:cNvPr id="39" name="text-877"/>
          <p:cNvSpPr txBox="1"/>
          <p:nvPr/>
        </p:nvSpPr>
        <p:spPr>
          <a:xfrm>
            <a:off x="548640"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12</a:t>
            </a:r>
            <a:endParaRPr lang="en-US" sz="1100" dirty="0"/>
          </a:p>
        </p:txBody>
      </p:sp>
      <p:sp>
        <p:nvSpPr>
          <p:cNvPr id="40" name="text-878"/>
          <p:cNvSpPr txBox="1"/>
          <p:nvPr/>
        </p:nvSpPr>
        <p:spPr>
          <a:xfrm>
            <a:off x="896112"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West Market Fire &amp; Ambulance Station</a:t>
            </a:r>
            <a:endParaRPr lang="en-US" sz="900" dirty="0"/>
          </a:p>
        </p:txBody>
      </p:sp>
      <p:sp>
        <p:nvSpPr>
          <p:cNvPr id="41" name="text-879"/>
          <p:cNvSpPr txBox="1"/>
          <p:nvPr/>
        </p:nvSpPr>
        <p:spPr>
          <a:xfrm>
            <a:off x="896112"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Downtown fire and ambulance branch that reaches any downtown address in about 4 minutes.</a:t>
            </a:r>
            <a:endParaRPr lang="en-US" sz="800" dirty="0"/>
          </a:p>
        </p:txBody>
      </p:sp>
      <p:sp>
        <p:nvSpPr>
          <p:cNvPr id="42" name="text-880"/>
          <p:cNvSpPr txBox="1"/>
          <p:nvPr/>
        </p:nvSpPr>
        <p:spPr>
          <a:xfrm>
            <a:off x="548640"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13</a:t>
            </a:r>
            <a:endParaRPr lang="en-US" sz="1100" dirty="0"/>
          </a:p>
        </p:txBody>
      </p:sp>
      <p:sp>
        <p:nvSpPr>
          <p:cNvPr id="43" name="text-881"/>
          <p:cNvSpPr txBox="1"/>
          <p:nvPr/>
        </p:nvSpPr>
        <p:spPr>
          <a:xfrm>
            <a:off x="896112"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Glacier Mall &amp; Crystal Atrium</a:t>
            </a:r>
            <a:endParaRPr lang="en-US" sz="900" dirty="0"/>
          </a:p>
        </p:txBody>
      </p:sp>
      <p:sp>
        <p:nvSpPr>
          <p:cNvPr id="44" name="text-882"/>
          <p:cNvSpPr txBox="1"/>
          <p:nvPr/>
        </p:nvSpPr>
        <p:spPr>
          <a:xfrm>
            <a:off x="896112"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Largest downtown mall, with an indoor atrium park of real trees.</a:t>
            </a:r>
            <a:endParaRPr lang="en-US" sz="800" dirty="0"/>
          </a:p>
        </p:txBody>
      </p:sp>
      <p:sp>
        <p:nvSpPr>
          <p:cNvPr id="45" name="text-883"/>
          <p:cNvSpPr txBox="1"/>
          <p:nvPr/>
        </p:nvSpPr>
        <p:spPr>
          <a:xfrm>
            <a:off x="548640"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14</a:t>
            </a:r>
            <a:endParaRPr lang="en-US" sz="1100" dirty="0"/>
          </a:p>
        </p:txBody>
      </p:sp>
      <p:sp>
        <p:nvSpPr>
          <p:cNvPr id="46" name="text-884"/>
          <p:cNvSpPr txBox="1"/>
          <p:nvPr/>
        </p:nvSpPr>
        <p:spPr>
          <a:xfrm>
            <a:off x="896112"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Lantern Primary School</a:t>
            </a:r>
            <a:endParaRPr lang="en-US" sz="900" dirty="0"/>
          </a:p>
        </p:txBody>
      </p:sp>
      <p:sp>
        <p:nvSpPr>
          <p:cNvPr id="47" name="text-885"/>
          <p:cNvSpPr txBox="1"/>
          <p:nvPr/>
        </p:nvSpPr>
        <p:spPr>
          <a:xfrm>
            <a:off x="896112"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Primary school for about 450 children aged 6–11 from the southern districts.</a:t>
            </a:r>
            <a:endParaRPr lang="en-US" sz="800" dirty="0"/>
          </a:p>
        </p:txBody>
      </p:sp>
      <p:sp>
        <p:nvSpPr>
          <p:cNvPr id="48" name="text-886"/>
          <p:cNvSpPr txBox="1"/>
          <p:nvPr/>
        </p:nvSpPr>
        <p:spPr>
          <a:xfrm>
            <a:off x="548640"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15</a:t>
            </a:r>
            <a:endParaRPr lang="en-US" sz="1100" dirty="0"/>
          </a:p>
        </p:txBody>
      </p:sp>
      <p:sp>
        <p:nvSpPr>
          <p:cNvPr id="49" name="text-887"/>
          <p:cNvSpPr txBox="1"/>
          <p:nvPr/>
        </p:nvSpPr>
        <p:spPr>
          <a:xfrm>
            <a:off x="896112"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Pinecone Kindergarten</a:t>
            </a:r>
            <a:endParaRPr lang="en-US" sz="900" dirty="0"/>
          </a:p>
        </p:txBody>
      </p:sp>
      <p:sp>
        <p:nvSpPr>
          <p:cNvPr id="50" name="text-888"/>
          <p:cNvSpPr txBox="1"/>
          <p:nvPr/>
        </p:nvSpPr>
        <p:spPr>
          <a:xfrm>
            <a:off x="896112"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Kindergarten and day nursery for about 40 children aged 1–6.</a:t>
            </a:r>
            <a:endParaRPr lang="en-US" sz="800" dirty="0"/>
          </a:p>
        </p:txBody>
      </p:sp>
      <p:sp>
        <p:nvSpPr>
          <p:cNvPr id="51" name="text-889"/>
          <p:cNvSpPr txBox="1"/>
          <p:nvPr/>
        </p:nvSpPr>
        <p:spPr>
          <a:xfrm>
            <a:off x="548640"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16</a:t>
            </a:r>
            <a:endParaRPr lang="en-US" sz="1100" dirty="0"/>
          </a:p>
        </p:txBody>
      </p:sp>
      <p:sp>
        <p:nvSpPr>
          <p:cNvPr id="52" name="text-890"/>
          <p:cNvSpPr txBox="1"/>
          <p:nvPr/>
        </p:nvSpPr>
        <p:spPr>
          <a:xfrm>
            <a:off x="896112"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81 – Polar Landmark Tower</a:t>
            </a:r>
            <a:endParaRPr lang="en-US" sz="900" dirty="0"/>
          </a:p>
        </p:txBody>
      </p:sp>
      <p:sp>
        <p:nvSpPr>
          <p:cNvPr id="53" name="text-891"/>
          <p:cNvSpPr txBox="1"/>
          <p:nvPr/>
        </p:nvSpPr>
        <p:spPr>
          <a:xfrm>
            <a:off x="896112"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Tallest tower and skyline symbol: offices, hotel and sky apartments, net-zero energy.</a:t>
            </a:r>
            <a:endParaRPr lang="en-US" sz="800" dirty="0"/>
          </a:p>
        </p:txBody>
      </p:sp>
      <p:sp>
        <p:nvSpPr>
          <p:cNvPr id="54" name="text-892"/>
          <p:cNvSpPr txBox="1"/>
          <p:nvPr/>
        </p:nvSpPr>
        <p:spPr>
          <a:xfrm>
            <a:off x="548640"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17</a:t>
            </a:r>
            <a:endParaRPr lang="en-US" sz="1100" dirty="0"/>
          </a:p>
        </p:txBody>
      </p:sp>
      <p:sp>
        <p:nvSpPr>
          <p:cNvPr id="55" name="text-893"/>
          <p:cNvSpPr txBox="1"/>
          <p:nvPr/>
        </p:nvSpPr>
        <p:spPr>
          <a:xfrm>
            <a:off x="896112"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Garden Park</a:t>
            </a:r>
            <a:endParaRPr lang="en-US" sz="900" dirty="0"/>
          </a:p>
        </p:txBody>
      </p:sp>
      <p:sp>
        <p:nvSpPr>
          <p:cNvPr id="56" name="text-894"/>
          <p:cNvSpPr txBox="1"/>
          <p:nvPr/>
        </p:nvSpPr>
        <p:spPr>
          <a:xfrm>
            <a:off x="896112"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Public park with heated benches, a sledging slope and a snow-sculpture trail.</a:t>
            </a:r>
            <a:endParaRPr lang="en-US" sz="800" dirty="0"/>
          </a:p>
        </p:txBody>
      </p:sp>
      <p:sp>
        <p:nvSpPr>
          <p:cNvPr id="57" name="text-895"/>
          <p:cNvSpPr txBox="1"/>
          <p:nvPr/>
        </p:nvSpPr>
        <p:spPr>
          <a:xfrm>
            <a:off x="548640" y="9555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18</a:t>
            </a:r>
            <a:endParaRPr lang="en-US" sz="1100" dirty="0"/>
          </a:p>
        </p:txBody>
      </p:sp>
      <p:sp>
        <p:nvSpPr>
          <p:cNvPr id="58" name="text-896"/>
          <p:cNvSpPr txBox="1"/>
          <p:nvPr/>
        </p:nvSpPr>
        <p:spPr>
          <a:xfrm>
            <a:off x="896112" y="9555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Mount Aurora – Snow Peak &amp; Hanging Glacier</a:t>
            </a:r>
            <a:endParaRPr lang="en-US" sz="900" dirty="0"/>
          </a:p>
        </p:txBody>
      </p:sp>
      <p:sp>
        <p:nvSpPr>
          <p:cNvPr id="59" name="text-897"/>
          <p:cNvSpPr txBox="1"/>
          <p:nvPr/>
        </p:nvSpPr>
        <p:spPr>
          <a:xfrm>
            <a:off x="896112" y="9729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35 m landmark peak with the four-level spa inside.</a:t>
            </a:r>
            <a:endParaRPr lang="en-US" sz="800" dirty="0"/>
          </a:p>
        </p:txBody>
      </p:sp>
      <p:sp>
        <p:nvSpPr>
          <p:cNvPr id="60" name="text-898"/>
          <p:cNvSpPr txBox="1"/>
          <p:nvPr/>
        </p:nvSpPr>
        <p:spPr>
          <a:xfrm>
            <a:off x="3918204" y="1783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19</a:t>
            </a:r>
            <a:endParaRPr lang="en-US" sz="1100" dirty="0"/>
          </a:p>
        </p:txBody>
      </p:sp>
      <p:sp>
        <p:nvSpPr>
          <p:cNvPr id="61" name="text-899"/>
          <p:cNvSpPr txBox="1"/>
          <p:nvPr/>
        </p:nvSpPr>
        <p:spPr>
          <a:xfrm>
            <a:off x="4265676" y="1783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Summit Sanctuary &amp; Aurora Eye</a:t>
            </a:r>
            <a:endParaRPr lang="en-US" sz="900" dirty="0"/>
          </a:p>
        </p:txBody>
      </p:sp>
      <p:sp>
        <p:nvSpPr>
          <p:cNvPr id="62" name="text-900"/>
          <p:cNvSpPr txBox="1"/>
          <p:nvPr/>
        </p:nvSpPr>
        <p:spPr>
          <a:xfrm>
            <a:off x="4265676" y="1956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Float pool, meditation circle and the Aurora Eye viewing bubble for the northern lights.</a:t>
            </a:r>
            <a:endParaRPr lang="en-US" sz="800" dirty="0"/>
          </a:p>
        </p:txBody>
      </p:sp>
      <p:sp>
        <p:nvSpPr>
          <p:cNvPr id="63" name="text-901"/>
          <p:cNvSpPr txBox="1"/>
          <p:nvPr/>
        </p:nvSpPr>
        <p:spPr>
          <a:xfrm>
            <a:off x="3918204" y="2240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20</a:t>
            </a:r>
            <a:endParaRPr lang="en-US" sz="1100" dirty="0"/>
          </a:p>
        </p:txBody>
      </p:sp>
      <p:sp>
        <p:nvSpPr>
          <p:cNvPr id="64" name="text-902"/>
          <p:cNvSpPr txBox="1"/>
          <p:nvPr/>
        </p:nvSpPr>
        <p:spPr>
          <a:xfrm>
            <a:off x="4265676" y="2240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Lagoon – Outdoor Geothermal Mineral Pool</a:t>
            </a:r>
            <a:endParaRPr lang="en-US" sz="900" dirty="0"/>
          </a:p>
        </p:txBody>
      </p:sp>
      <p:sp>
        <p:nvSpPr>
          <p:cNvPr id="65" name="text-903"/>
          <p:cNvSpPr txBox="1"/>
          <p:nvPr/>
        </p:nvSpPr>
        <p:spPr>
          <a:xfrm>
            <a:off x="4265676" y="2414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38 °C open-air silica pool for bathing under the northern lights.</a:t>
            </a:r>
            <a:endParaRPr lang="en-US" sz="800" dirty="0"/>
          </a:p>
        </p:txBody>
      </p:sp>
      <p:sp>
        <p:nvSpPr>
          <p:cNvPr id="66" name="text-904"/>
          <p:cNvSpPr txBox="1"/>
          <p:nvPr/>
        </p:nvSpPr>
        <p:spPr>
          <a:xfrm>
            <a:off x="3918204" y="2697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21</a:t>
            </a:r>
            <a:endParaRPr lang="en-US" sz="1100" dirty="0"/>
          </a:p>
        </p:txBody>
      </p:sp>
      <p:sp>
        <p:nvSpPr>
          <p:cNvPr id="67" name="text-905"/>
          <p:cNvSpPr txBox="1"/>
          <p:nvPr/>
        </p:nvSpPr>
        <p:spPr>
          <a:xfrm>
            <a:off x="4265676" y="2697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Fusion Core – Compact D-T Tokamak</a:t>
            </a:r>
            <a:endParaRPr lang="en-US" sz="900" dirty="0"/>
          </a:p>
        </p:txBody>
      </p:sp>
      <p:sp>
        <p:nvSpPr>
          <p:cNvPr id="68" name="text-906"/>
          <p:cNvSpPr txBox="1"/>
          <p:nvPr/>
        </p:nvSpPr>
        <p:spPr>
          <a:xfrm>
            <a:off x="4265676" y="2871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150-million-degree plasma giving about 800 MW of heat; it cannot melt down.</a:t>
            </a:r>
            <a:endParaRPr lang="en-US" sz="800" dirty="0"/>
          </a:p>
        </p:txBody>
      </p:sp>
      <p:sp>
        <p:nvSpPr>
          <p:cNvPr id="69" name="text-907"/>
          <p:cNvSpPr txBox="1"/>
          <p:nvPr/>
        </p:nvSpPr>
        <p:spPr>
          <a:xfrm>
            <a:off x="3918204" y="3154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22</a:t>
            </a:r>
            <a:endParaRPr lang="en-US" sz="1100" dirty="0"/>
          </a:p>
        </p:txBody>
      </p:sp>
      <p:sp>
        <p:nvSpPr>
          <p:cNvPr id="70" name="text-908"/>
          <p:cNvSpPr txBox="1"/>
          <p:nvPr/>
        </p:nvSpPr>
        <p:spPr>
          <a:xfrm>
            <a:off x="4265676" y="3154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Power Conversion &amp; Heat Export Hall</a:t>
            </a:r>
            <a:endParaRPr lang="en-US" sz="900" dirty="0"/>
          </a:p>
        </p:txBody>
      </p:sp>
      <p:sp>
        <p:nvSpPr>
          <p:cNvPr id="71" name="text-909"/>
          <p:cNvSpPr txBox="1"/>
          <p:nvPr/>
        </p:nvSpPr>
        <p:spPr>
          <a:xfrm>
            <a:off x="4265676" y="3328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300 MW of electricity and sends about 450 MW of heat to the city.</a:t>
            </a:r>
            <a:endParaRPr lang="en-US" sz="800" dirty="0"/>
          </a:p>
        </p:txBody>
      </p:sp>
      <p:sp>
        <p:nvSpPr>
          <p:cNvPr id="72" name="text-910"/>
          <p:cNvSpPr txBox="1"/>
          <p:nvPr/>
        </p:nvSpPr>
        <p:spPr>
          <a:xfrm>
            <a:off x="3918204" y="3611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23</a:t>
            </a:r>
            <a:endParaRPr lang="en-US" sz="1100" dirty="0"/>
          </a:p>
        </p:txBody>
      </p:sp>
      <p:sp>
        <p:nvSpPr>
          <p:cNvPr id="73" name="text-911"/>
          <p:cNvSpPr txBox="1"/>
          <p:nvPr/>
        </p:nvSpPr>
        <p:spPr>
          <a:xfrm>
            <a:off x="4265676" y="3611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Plasma Waste Converter</a:t>
            </a:r>
            <a:endParaRPr lang="en-US" sz="900" dirty="0"/>
          </a:p>
        </p:txBody>
      </p:sp>
      <p:sp>
        <p:nvSpPr>
          <p:cNvPr id="74" name="text-912"/>
          <p:cNvSpPr txBox="1"/>
          <p:nvPr/>
        </p:nvSpPr>
        <p:spPr>
          <a:xfrm>
            <a:off x="4265676" y="3785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Turns about 20 t of rubbish a day into clean gas, recovered metals and building blocks.</a:t>
            </a:r>
            <a:endParaRPr lang="en-US" sz="800" dirty="0"/>
          </a:p>
        </p:txBody>
      </p:sp>
      <p:sp>
        <p:nvSpPr>
          <p:cNvPr id="75" name="text-913"/>
          <p:cNvSpPr txBox="1"/>
          <p:nvPr/>
        </p:nvSpPr>
        <p:spPr>
          <a:xfrm>
            <a:off x="3918204" y="4069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24</a:t>
            </a:r>
            <a:endParaRPr lang="en-US" sz="1100" dirty="0"/>
          </a:p>
        </p:txBody>
      </p:sp>
      <p:sp>
        <p:nvSpPr>
          <p:cNvPr id="76" name="text-914"/>
          <p:cNvSpPr txBox="1"/>
          <p:nvPr/>
        </p:nvSpPr>
        <p:spPr>
          <a:xfrm>
            <a:off x="4265676" y="4069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Snow Harvest &amp; Melt Hall</a:t>
            </a:r>
            <a:endParaRPr lang="en-US" sz="900" dirty="0"/>
          </a:p>
        </p:txBody>
      </p:sp>
      <p:sp>
        <p:nvSpPr>
          <p:cNvPr id="77" name="text-915"/>
          <p:cNvSpPr txBox="1"/>
          <p:nvPr/>
        </p:nvSpPr>
        <p:spPr>
          <a:xfrm>
            <a:off x="4265676" y="4242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Melts about 3,000 t of clean snow a day with spare fusion heat.</a:t>
            </a:r>
            <a:endParaRPr lang="en-US" sz="800" dirty="0"/>
          </a:p>
        </p:txBody>
      </p:sp>
      <p:sp>
        <p:nvSpPr>
          <p:cNvPr id="78" name="text-916"/>
          <p:cNvSpPr txBox="1"/>
          <p:nvPr/>
        </p:nvSpPr>
        <p:spPr>
          <a:xfrm>
            <a:off x="3918204" y="4526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25</a:t>
            </a:r>
            <a:endParaRPr lang="en-US" sz="1100" dirty="0"/>
          </a:p>
        </p:txBody>
      </p:sp>
      <p:sp>
        <p:nvSpPr>
          <p:cNvPr id="79" name="text-917"/>
          <p:cNvSpPr txBox="1"/>
          <p:nvPr/>
        </p:nvSpPr>
        <p:spPr>
          <a:xfrm>
            <a:off x="4265676" y="4526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Drinking-Water &amp; Mineral Works</a:t>
            </a:r>
            <a:endParaRPr lang="en-US" sz="900" dirty="0"/>
          </a:p>
        </p:txBody>
      </p:sp>
      <p:sp>
        <p:nvSpPr>
          <p:cNvPr id="80" name="text-918"/>
          <p:cNvSpPr txBox="1"/>
          <p:nvPr/>
        </p:nvSpPr>
        <p:spPr>
          <a:xfrm>
            <a:off x="4265676" y="4700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Makes about 2,500 m³ of drinking water a day, all of the city’s tap water.</a:t>
            </a:r>
            <a:endParaRPr lang="en-US" sz="800" dirty="0"/>
          </a:p>
        </p:txBody>
      </p:sp>
      <p:sp>
        <p:nvSpPr>
          <p:cNvPr id="81" name="text-919"/>
          <p:cNvSpPr txBox="1"/>
          <p:nvPr/>
        </p:nvSpPr>
        <p:spPr>
          <a:xfrm>
            <a:off x="3918204" y="4983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26</a:t>
            </a:r>
            <a:endParaRPr lang="en-US" sz="1100" dirty="0"/>
          </a:p>
        </p:txBody>
      </p:sp>
      <p:sp>
        <p:nvSpPr>
          <p:cNvPr id="82" name="text-920"/>
          <p:cNvSpPr txBox="1"/>
          <p:nvPr/>
        </p:nvSpPr>
        <p:spPr>
          <a:xfrm>
            <a:off x="4265676" y="4983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Bioreactor Silos</a:t>
            </a:r>
            <a:endParaRPr lang="en-US" sz="900" dirty="0"/>
          </a:p>
        </p:txBody>
      </p:sp>
      <p:sp>
        <p:nvSpPr>
          <p:cNvPr id="83" name="text-921"/>
          <p:cNvSpPr txBox="1"/>
          <p:nvPr/>
        </p:nvSpPr>
        <p:spPr>
          <a:xfrm>
            <a:off x="4265676" y="5157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Six silos where microbes make about 2.5 t of protein flour a day.</a:t>
            </a:r>
            <a:endParaRPr lang="en-US" sz="800" dirty="0"/>
          </a:p>
        </p:txBody>
      </p:sp>
      <p:sp>
        <p:nvSpPr>
          <p:cNvPr id="84" name="text-922"/>
          <p:cNvSpPr txBox="1"/>
          <p:nvPr/>
        </p:nvSpPr>
        <p:spPr>
          <a:xfrm>
            <a:off x="3918204" y="5440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27</a:t>
            </a:r>
            <a:endParaRPr lang="en-US" sz="1100" dirty="0"/>
          </a:p>
        </p:txBody>
      </p:sp>
      <p:sp>
        <p:nvSpPr>
          <p:cNvPr id="85" name="text-923"/>
          <p:cNvSpPr txBox="1"/>
          <p:nvPr/>
        </p:nvSpPr>
        <p:spPr>
          <a:xfrm>
            <a:off x="4265676" y="5440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Ice-Proof Wind Farm</a:t>
            </a:r>
            <a:endParaRPr lang="en-US" sz="900" dirty="0"/>
          </a:p>
        </p:txBody>
      </p:sp>
      <p:sp>
        <p:nvSpPr>
          <p:cNvPr id="86" name="text-924"/>
          <p:cNvSpPr txBox="1"/>
          <p:nvPr/>
        </p:nvSpPr>
        <p:spPr>
          <a:xfrm>
            <a:off x="4265676" y="5614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Two rows of ice-proof turbines making about 60 MW.</a:t>
            </a:r>
            <a:endParaRPr lang="en-US" sz="800" dirty="0"/>
          </a:p>
        </p:txBody>
      </p:sp>
      <p:sp>
        <p:nvSpPr>
          <p:cNvPr id="87" name="text-925"/>
          <p:cNvSpPr txBox="1"/>
          <p:nvPr/>
        </p:nvSpPr>
        <p:spPr>
          <a:xfrm>
            <a:off x="3918204" y="5897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28</a:t>
            </a:r>
            <a:endParaRPr lang="en-US" sz="1100" dirty="0"/>
          </a:p>
        </p:txBody>
      </p:sp>
      <p:sp>
        <p:nvSpPr>
          <p:cNvPr id="88" name="text-926"/>
          <p:cNvSpPr txBox="1"/>
          <p:nvPr/>
        </p:nvSpPr>
        <p:spPr>
          <a:xfrm>
            <a:off x="4265676" y="5897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Bifacial Solar Farm</a:t>
            </a:r>
            <a:endParaRPr lang="en-US" sz="900" dirty="0"/>
          </a:p>
        </p:txBody>
      </p:sp>
      <p:sp>
        <p:nvSpPr>
          <p:cNvPr id="89" name="text-927"/>
          <p:cNvSpPr txBox="1"/>
          <p:nvPr/>
        </p:nvSpPr>
        <p:spPr>
          <a:xfrm>
            <a:off x="4265676" y="6071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Double-sided panels that make power 24 hours a day in the midnight-sun months.</a:t>
            </a:r>
            <a:endParaRPr lang="en-US" sz="800" dirty="0"/>
          </a:p>
        </p:txBody>
      </p:sp>
      <p:sp>
        <p:nvSpPr>
          <p:cNvPr id="90" name="text-928"/>
          <p:cNvSpPr txBox="1"/>
          <p:nvPr/>
        </p:nvSpPr>
        <p:spPr>
          <a:xfrm>
            <a:off x="3918204" y="6355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29</a:t>
            </a:r>
            <a:endParaRPr lang="en-US" sz="1100" dirty="0"/>
          </a:p>
        </p:txBody>
      </p:sp>
      <p:sp>
        <p:nvSpPr>
          <p:cNvPr id="91" name="text-929"/>
          <p:cNvSpPr txBox="1"/>
          <p:nvPr/>
        </p:nvSpPr>
        <p:spPr>
          <a:xfrm>
            <a:off x="4265676" y="6355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Water Recycling Line – Recycled Water Tower</a:t>
            </a:r>
            <a:endParaRPr lang="en-US" sz="900" dirty="0"/>
          </a:p>
        </p:txBody>
      </p:sp>
      <p:sp>
        <p:nvSpPr>
          <p:cNvPr id="92" name="text-930"/>
          <p:cNvSpPr txBox="1"/>
          <p:nvPr/>
        </p:nvSpPr>
        <p:spPr>
          <a:xfrm>
            <a:off x="4265676" y="6528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Stores recycled water for toilets, laundries, street cleaning, irrigation and hydrants.</a:t>
            </a:r>
            <a:endParaRPr lang="en-US" sz="800" dirty="0"/>
          </a:p>
        </p:txBody>
      </p:sp>
      <p:sp>
        <p:nvSpPr>
          <p:cNvPr id="93" name="text-931"/>
          <p:cNvSpPr txBox="1"/>
          <p:nvPr/>
        </p:nvSpPr>
        <p:spPr>
          <a:xfrm>
            <a:off x="3918204" y="6812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30</a:t>
            </a:r>
            <a:endParaRPr lang="en-US" sz="1100" dirty="0"/>
          </a:p>
        </p:txBody>
      </p:sp>
      <p:sp>
        <p:nvSpPr>
          <p:cNvPr id="94" name="text-932"/>
          <p:cNvSpPr txBox="1"/>
          <p:nvPr/>
        </p:nvSpPr>
        <p:spPr>
          <a:xfrm>
            <a:off x="4265676" y="6812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Geothermal Power Plant</a:t>
            </a:r>
            <a:endParaRPr lang="en-US" sz="900" dirty="0"/>
          </a:p>
        </p:txBody>
      </p:sp>
      <p:sp>
        <p:nvSpPr>
          <p:cNvPr id="95" name="text-933"/>
          <p:cNvSpPr txBox="1"/>
          <p:nvPr/>
        </p:nvSpPr>
        <p:spPr>
          <a:xfrm>
            <a:off x="4265676" y="6986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Clean electricity and hot water around the clock; the second heat source.</a:t>
            </a:r>
            <a:endParaRPr lang="en-US" sz="800" dirty="0"/>
          </a:p>
        </p:txBody>
      </p:sp>
      <p:sp>
        <p:nvSpPr>
          <p:cNvPr id="96" name="text-934"/>
          <p:cNvSpPr txBox="1"/>
          <p:nvPr/>
        </p:nvSpPr>
        <p:spPr>
          <a:xfrm>
            <a:off x="3918204" y="72694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31</a:t>
            </a:r>
            <a:endParaRPr lang="en-US" sz="1100" dirty="0"/>
          </a:p>
        </p:txBody>
      </p:sp>
      <p:sp>
        <p:nvSpPr>
          <p:cNvPr id="97" name="text-935"/>
          <p:cNvSpPr txBox="1"/>
          <p:nvPr/>
        </p:nvSpPr>
        <p:spPr>
          <a:xfrm>
            <a:off x="4265676" y="7269480"/>
            <a:ext cx="2747772" cy="182880"/>
          </a:xfrm>
          <a:prstGeom prst="rect">
            <a:avLst/>
          </a:prstGeom>
          <a:noFill/>
          <a:ln/>
        </p:spPr>
        <p:txBody>
          <a:bodyPr wrap="square" lIns="0" tIns="0" rIns="0" bIns="0" rtlCol="0" anchor="t"/>
          <a:lstStyle/>
          <a:p>
            <a:pPr indent="0" marL="0">
              <a:buNone/>
            </a:pPr>
            <a:r>
              <a:rPr lang="en-US" sz="900" b="1" dirty="0">
                <a:solidFill>
                  <a:schemeClr val="tx1"/>
                </a:solidFill>
              </a:rPr>
              <a:t>Polar Rescue and Resilience Station</a:t>
            </a:r>
            <a:endParaRPr lang="en-US" sz="900" dirty="0"/>
          </a:p>
        </p:txBody>
      </p:sp>
      <p:sp>
        <p:nvSpPr>
          <p:cNvPr id="98" name="text-936"/>
          <p:cNvSpPr txBox="1"/>
          <p:nvPr/>
        </p:nvSpPr>
        <p:spPr>
          <a:xfrm>
            <a:off x="4265676" y="74432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Fire, ambulance and ice-rescue headquarters, home of the 112 emergency centre.</a:t>
            </a:r>
            <a:endParaRPr lang="en-US" sz="800" dirty="0"/>
          </a:p>
        </p:txBody>
      </p:sp>
      <p:sp>
        <p:nvSpPr>
          <p:cNvPr id="99" name="text-937"/>
          <p:cNvSpPr txBox="1"/>
          <p:nvPr/>
        </p:nvSpPr>
        <p:spPr>
          <a:xfrm>
            <a:off x="3918204" y="77266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32</a:t>
            </a:r>
            <a:endParaRPr lang="en-US" sz="1100" dirty="0"/>
          </a:p>
        </p:txBody>
      </p:sp>
      <p:sp>
        <p:nvSpPr>
          <p:cNvPr id="100" name="text-938"/>
          <p:cNvSpPr txBox="1"/>
          <p:nvPr/>
        </p:nvSpPr>
        <p:spPr>
          <a:xfrm>
            <a:off x="4265676" y="7726680"/>
            <a:ext cx="2747772" cy="182880"/>
          </a:xfrm>
          <a:prstGeom prst="rect">
            <a:avLst/>
          </a:prstGeom>
          <a:noFill/>
          <a:ln/>
        </p:spPr>
        <p:txBody>
          <a:bodyPr wrap="square" lIns="0" tIns="0" rIns="0" bIns="0" rtlCol="0" anchor="t"/>
          <a:lstStyle/>
          <a:p>
            <a:pPr indent="0" marL="0">
              <a:buNone/>
            </a:pPr>
            <a:r>
              <a:rPr lang="en-US" sz="900" b="1" dirty="0">
                <a:solidFill>
                  <a:schemeClr val="tx1"/>
                </a:solidFill>
              </a:rPr>
              <a:t>Glass Terminal, Control Tower &amp; Gate 1 Dreamliner</a:t>
            </a:r>
            <a:endParaRPr lang="en-US" sz="900" dirty="0"/>
          </a:p>
        </p:txBody>
      </p:sp>
      <p:sp>
        <p:nvSpPr>
          <p:cNvPr id="101" name="text-939"/>
          <p:cNvSpPr txBox="1"/>
          <p:nvPr/>
        </p:nvSpPr>
        <p:spPr>
          <a:xfrm>
            <a:off x="4265676" y="79004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Passenger and cargo airport; the city’s supply link in deep winter.</a:t>
            </a:r>
            <a:endParaRPr lang="en-US" sz="800" dirty="0"/>
          </a:p>
        </p:txBody>
      </p:sp>
      <p:sp>
        <p:nvSpPr>
          <p:cNvPr id="102" name="text-940"/>
          <p:cNvSpPr txBox="1"/>
          <p:nvPr/>
        </p:nvSpPr>
        <p:spPr>
          <a:xfrm>
            <a:off x="3918204" y="81838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33</a:t>
            </a:r>
            <a:endParaRPr lang="en-US" sz="1100" dirty="0"/>
          </a:p>
        </p:txBody>
      </p:sp>
      <p:sp>
        <p:nvSpPr>
          <p:cNvPr id="103" name="text-941"/>
          <p:cNvSpPr txBox="1"/>
          <p:nvPr/>
        </p:nvSpPr>
        <p:spPr>
          <a:xfrm>
            <a:off x="4265676" y="8183880"/>
            <a:ext cx="2747772" cy="182880"/>
          </a:xfrm>
          <a:prstGeom prst="rect">
            <a:avLst/>
          </a:prstGeom>
          <a:noFill/>
          <a:ln/>
        </p:spPr>
        <p:txBody>
          <a:bodyPr wrap="square" lIns="0" tIns="0" rIns="0" bIns="0" rtlCol="0" anchor="t"/>
          <a:lstStyle/>
          <a:p>
            <a:pPr indent="0" marL="0">
              <a:buNone/>
            </a:pPr>
            <a:r>
              <a:rPr lang="en-US" sz="900" b="1" dirty="0">
                <a:solidFill>
                  <a:schemeClr val="tx1"/>
                </a:solidFill>
              </a:rPr>
              <a:t>Evergreen Greenhouse Dome</a:t>
            </a:r>
            <a:endParaRPr lang="en-US" sz="900" dirty="0"/>
          </a:p>
        </p:txBody>
      </p:sp>
      <p:sp>
        <p:nvSpPr>
          <p:cNvPr id="104" name="text-942"/>
          <p:cNvSpPr txBox="1"/>
          <p:nvPr/>
        </p:nvSpPr>
        <p:spPr>
          <a:xfrm>
            <a:off x="4265676" y="83576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Grows fresh vegetables and berries all year under LED light.</a:t>
            </a:r>
            <a:endParaRPr lang="en-US" sz="800" dirty="0"/>
          </a:p>
        </p:txBody>
      </p:sp>
      <p:sp>
        <p:nvSpPr>
          <p:cNvPr id="105" name="text-943"/>
          <p:cNvSpPr txBox="1"/>
          <p:nvPr/>
        </p:nvSpPr>
        <p:spPr>
          <a:xfrm>
            <a:off x="3918204" y="86410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34</a:t>
            </a:r>
            <a:endParaRPr lang="en-US" sz="1100" dirty="0"/>
          </a:p>
        </p:txBody>
      </p:sp>
      <p:sp>
        <p:nvSpPr>
          <p:cNvPr id="106" name="text-944"/>
          <p:cNvSpPr txBox="1"/>
          <p:nvPr/>
        </p:nvSpPr>
        <p:spPr>
          <a:xfrm>
            <a:off x="4265676" y="8641080"/>
            <a:ext cx="2747772" cy="182880"/>
          </a:xfrm>
          <a:prstGeom prst="rect">
            <a:avLst/>
          </a:prstGeom>
          <a:noFill/>
          <a:ln/>
        </p:spPr>
        <p:txBody>
          <a:bodyPr wrap="square" lIns="0" tIns="0" rIns="0" bIns="0" rtlCol="0" anchor="t"/>
          <a:lstStyle/>
          <a:p>
            <a:pPr indent="0" marL="0">
              <a:buNone/>
            </a:pPr>
            <a:r>
              <a:rPr lang="en-US" sz="900" b="1" dirty="0">
                <a:solidFill>
                  <a:schemeClr val="tx1"/>
                </a:solidFill>
              </a:rPr>
              <a:t>Circular Recycling Center</a:t>
            </a:r>
            <a:endParaRPr lang="en-US" sz="900" dirty="0"/>
          </a:p>
        </p:txBody>
      </p:sp>
      <p:sp>
        <p:nvSpPr>
          <p:cNvPr id="107" name="text-945"/>
          <p:cNvSpPr txBox="1"/>
          <p:nvPr/>
        </p:nvSpPr>
        <p:spPr>
          <a:xfrm>
            <a:off x="4265676" y="88148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Sorts, repairs and recycles about 30 t of materials a day.</a:t>
            </a:r>
            <a:endParaRPr lang="en-US" sz="800" dirty="0"/>
          </a:p>
        </p:txBody>
      </p:sp>
      <p:sp>
        <p:nvSpPr>
          <p:cNvPr id="108" name="text-946"/>
          <p:cNvSpPr txBox="1"/>
          <p:nvPr/>
        </p:nvSpPr>
        <p:spPr>
          <a:xfrm>
            <a:off x="3918204" y="9098280"/>
            <a:ext cx="329184" cy="228600"/>
          </a:xfrm>
          <a:prstGeom prst="rect">
            <a:avLst/>
          </a:prstGeom>
          <a:noFill/>
          <a:ln/>
        </p:spPr>
        <p:txBody>
          <a:bodyPr wrap="square" lIns="0" tIns="0" rIns="0" bIns="0" rtlCol="0" anchor="t"/>
          <a:lstStyle/>
          <a:p>
            <a:pPr indent="0" marL="0">
              <a:buNone/>
            </a:pPr>
            <a:r>
              <a:rPr lang="en-US" sz="1100" b="1" dirty="0">
                <a:solidFill>
                  <a:schemeClr val="accent6"/>
                </a:solidFill>
                <a:latin typeface="+mj-lt" pitchFamily="34" charset="0"/>
                <a:ea typeface="+mj-lt" pitchFamily="34" charset="-122"/>
                <a:cs typeface="+mj-lt" pitchFamily="34" charset="-120"/>
              </a:rPr>
              <a:t>35</a:t>
            </a:r>
            <a:endParaRPr lang="en-US" sz="1100" dirty="0"/>
          </a:p>
        </p:txBody>
      </p:sp>
      <p:sp>
        <p:nvSpPr>
          <p:cNvPr id="109" name="text-947"/>
          <p:cNvSpPr txBox="1"/>
          <p:nvPr/>
        </p:nvSpPr>
        <p:spPr>
          <a:xfrm>
            <a:off x="4265676" y="9098280"/>
            <a:ext cx="2747772" cy="182880"/>
          </a:xfrm>
          <a:prstGeom prst="rect">
            <a:avLst/>
          </a:prstGeom>
          <a:noFill/>
          <a:ln/>
        </p:spPr>
        <p:txBody>
          <a:bodyPr wrap="square" lIns="0" tIns="0" rIns="0" bIns="0" rtlCol="0" anchor="t"/>
          <a:lstStyle/>
          <a:p>
            <a:pPr indent="0" marL="0">
              <a:buNone/>
            </a:pPr>
            <a:r>
              <a:rPr lang="en-US" sz="900" b="1" dirty="0">
                <a:solidFill>
                  <a:schemeClr val="tx1"/>
                </a:solidFill>
              </a:rPr>
              <a:t>Aurora Snow Stadium</a:t>
            </a:r>
            <a:endParaRPr lang="en-US" sz="900" dirty="0"/>
          </a:p>
        </p:txBody>
      </p:sp>
      <p:sp>
        <p:nvSpPr>
          <p:cNvPr id="110" name="text-948"/>
          <p:cNvSpPr txBox="1"/>
          <p:nvPr/>
        </p:nvSpPr>
        <p:spPr>
          <a:xfrm>
            <a:off x="4265676" y="9272016"/>
            <a:ext cx="2747772" cy="274320"/>
          </a:xfrm>
          <a:prstGeom prst="rect">
            <a:avLst/>
          </a:prstGeom>
          <a:noFill/>
          <a:ln/>
        </p:spPr>
        <p:txBody>
          <a:bodyPr wrap="square" lIns="0" tIns="0" rIns="0" bIns="0" rtlCol="0" anchor="t"/>
          <a:lstStyle/>
          <a:p>
            <a:pPr indent="0" marL="0">
              <a:lnSpc>
                <a:spcPct val="100000"/>
              </a:lnSpc>
              <a:buNone/>
            </a:pPr>
            <a:r>
              <a:rPr lang="en-US" sz="800" dirty="0">
                <a:solidFill>
                  <a:schemeClr val="tx2"/>
                </a:solidFill>
              </a:rPr>
              <a:t>About 8,000 seats for snow sports, school sports days and the Midwinter Aurora Festival.</a:t>
            </a:r>
            <a:endParaRPr lang="en-US" sz="8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kicker-dot-949"/>
          <p:cNvSpPr/>
          <p:nvPr/>
        </p:nvSpPr>
        <p:spPr>
          <a:xfrm>
            <a:off x="548640" y="544068"/>
            <a:ext cx="100584" cy="100584"/>
          </a:xfrm>
          <a:prstGeom prst="ellipse">
            <a:avLst/>
          </a:prstGeom>
          <a:solidFill>
            <a:schemeClr val="accent1"/>
          </a:solidFill>
          <a:ln w="12700">
            <a:solidFill>
              <a:schemeClr val="accent1"/>
            </a:solidFill>
            <a:prstDash val="solid"/>
          </a:ln>
        </p:spPr>
      </p:sp>
      <p:sp>
        <p:nvSpPr>
          <p:cNvPr id="3" name="text-950"/>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KEY FIGURES</a:t>
            </a:r>
            <a:endParaRPr lang="en-US" sz="900" dirty="0"/>
          </a:p>
        </p:txBody>
      </p:sp>
      <p:sp>
        <p:nvSpPr>
          <p:cNvPr id="4" name="title-951"/>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bg1"/>
                </a:solidFill>
                <a:latin typeface="+mj-lt" pitchFamily="34" charset="0"/>
                <a:ea typeface="+mj-lt" pitchFamily="34" charset="-122"/>
                <a:cs typeface="+mj-lt" pitchFamily="34" charset="-120"/>
              </a:rPr>
              <a:t>Aurora Haven by the Numbers</a:t>
            </a:r>
            <a:endParaRPr lang="en-US" sz="3400" dirty="0"/>
          </a:p>
        </p:txBody>
      </p:sp>
      <p:sp>
        <p:nvSpPr>
          <p:cNvPr id="5" name="kicker-dot-953"/>
          <p:cNvSpPr/>
          <p:nvPr/>
        </p:nvSpPr>
        <p:spPr>
          <a:xfrm>
            <a:off x="548640" y="1801368"/>
            <a:ext cx="100584" cy="100584"/>
          </a:xfrm>
          <a:prstGeom prst="ellipse">
            <a:avLst/>
          </a:prstGeom>
          <a:solidFill>
            <a:schemeClr val="accent1"/>
          </a:solidFill>
          <a:ln w="12700">
            <a:solidFill>
              <a:schemeClr val="accent1"/>
            </a:solidFill>
            <a:prstDash val="solid"/>
          </a:ln>
        </p:spPr>
      </p:sp>
      <p:sp>
        <p:nvSpPr>
          <p:cNvPr id="6" name="text-954"/>
          <p:cNvSpPr txBox="1"/>
          <p:nvPr/>
        </p:nvSpPr>
        <p:spPr>
          <a:xfrm>
            <a:off x="731520" y="17465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THE CITY</a:t>
            </a:r>
            <a:endParaRPr lang="en-US" sz="900" dirty="0"/>
          </a:p>
        </p:txBody>
      </p:sp>
      <p:sp>
        <p:nvSpPr>
          <p:cNvPr id="7" name="text-955"/>
          <p:cNvSpPr txBox="1"/>
          <p:nvPr/>
        </p:nvSpPr>
        <p:spPr>
          <a:xfrm>
            <a:off x="2331720"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45,000</a:t>
            </a:r>
            <a:endParaRPr lang="en-US" sz="2200" dirty="0"/>
          </a:p>
        </p:txBody>
      </p:sp>
      <p:sp>
        <p:nvSpPr>
          <p:cNvPr id="8" name="text-956"/>
          <p:cNvSpPr txBox="1"/>
          <p:nvPr/>
        </p:nvSpPr>
        <p:spPr>
          <a:xfrm>
            <a:off x="2331720"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residents</a:t>
            </a:r>
            <a:endParaRPr lang="en-US" sz="850" dirty="0"/>
          </a:p>
        </p:txBody>
      </p:sp>
      <p:sp>
        <p:nvSpPr>
          <p:cNvPr id="9" name="text-957"/>
          <p:cNvSpPr txBox="1"/>
          <p:nvPr/>
        </p:nvSpPr>
        <p:spPr>
          <a:xfrm>
            <a:off x="3892296"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9</a:t>
            </a:r>
            <a:endParaRPr lang="en-US" sz="2200" dirty="0"/>
          </a:p>
        </p:txBody>
      </p:sp>
      <p:sp>
        <p:nvSpPr>
          <p:cNvPr id="10" name="text-958"/>
          <p:cNvSpPr txBox="1"/>
          <p:nvPr/>
        </p:nvSpPr>
        <p:spPr>
          <a:xfrm>
            <a:off x="3892296"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downtown blocks</a:t>
            </a:r>
            <a:endParaRPr lang="en-US" sz="850" dirty="0"/>
          </a:p>
        </p:txBody>
      </p:sp>
      <p:sp>
        <p:nvSpPr>
          <p:cNvPr id="11" name="text-959"/>
          <p:cNvSpPr txBox="1"/>
          <p:nvPr/>
        </p:nvSpPr>
        <p:spPr>
          <a:xfrm>
            <a:off x="5452872" y="164592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35</a:t>
            </a:r>
            <a:endParaRPr lang="en-US" sz="2200" dirty="0"/>
          </a:p>
        </p:txBody>
      </p:sp>
      <p:sp>
        <p:nvSpPr>
          <p:cNvPr id="12" name="text-960"/>
          <p:cNvSpPr txBox="1"/>
          <p:nvPr/>
        </p:nvSpPr>
        <p:spPr>
          <a:xfrm>
            <a:off x="5452872" y="20259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key places</a:t>
            </a:r>
            <a:endParaRPr lang="en-US" sz="850" dirty="0"/>
          </a:p>
        </p:txBody>
      </p:sp>
      <p:sp>
        <p:nvSpPr>
          <p:cNvPr id="13" name="rule-961"/>
          <p:cNvSpPr/>
          <p:nvPr/>
        </p:nvSpPr>
        <p:spPr>
          <a:xfrm>
            <a:off x="548640" y="2560320"/>
            <a:ext cx="6464808" cy="0"/>
          </a:xfrm>
          <a:prstGeom prst="line">
            <a:avLst/>
          </a:prstGeom>
          <a:noFill/>
          <a:ln w="9525">
            <a:solidFill>
              <a:schemeClr val="tx2"/>
            </a:solidFill>
            <a:prstDash val="solid"/>
          </a:ln>
        </p:spPr>
      </p:sp>
      <p:sp>
        <p:nvSpPr>
          <p:cNvPr id="14" name="kicker-dot-962"/>
          <p:cNvSpPr/>
          <p:nvPr/>
        </p:nvSpPr>
        <p:spPr>
          <a:xfrm>
            <a:off x="548640" y="2807208"/>
            <a:ext cx="100584" cy="100584"/>
          </a:xfrm>
          <a:prstGeom prst="ellipse">
            <a:avLst/>
          </a:prstGeom>
          <a:solidFill>
            <a:schemeClr val="accent6"/>
          </a:solidFill>
          <a:ln w="12700">
            <a:solidFill>
              <a:schemeClr val="accent6"/>
            </a:solidFill>
            <a:prstDash val="solid"/>
          </a:ln>
        </p:spPr>
      </p:sp>
      <p:sp>
        <p:nvSpPr>
          <p:cNvPr id="15" name="text-963"/>
          <p:cNvSpPr txBox="1"/>
          <p:nvPr/>
        </p:nvSpPr>
        <p:spPr>
          <a:xfrm>
            <a:off x="731520" y="27523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CLIMATE</a:t>
            </a:r>
            <a:endParaRPr lang="en-US" sz="900" dirty="0"/>
          </a:p>
        </p:txBody>
      </p:sp>
      <p:sp>
        <p:nvSpPr>
          <p:cNvPr id="16" name="text-964"/>
          <p:cNvSpPr txBox="1"/>
          <p:nvPr/>
        </p:nvSpPr>
        <p:spPr>
          <a:xfrm>
            <a:off x="2331720"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−45 °C</a:t>
            </a:r>
            <a:endParaRPr lang="en-US" sz="2200" dirty="0"/>
          </a:p>
        </p:txBody>
      </p:sp>
      <p:sp>
        <p:nvSpPr>
          <p:cNvPr id="17" name="text-965"/>
          <p:cNvSpPr txBox="1"/>
          <p:nvPr/>
        </p:nvSpPr>
        <p:spPr>
          <a:xfrm>
            <a:off x="2331720"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winter lows</a:t>
            </a:r>
            <a:endParaRPr lang="en-US" sz="850" dirty="0"/>
          </a:p>
        </p:txBody>
      </p:sp>
      <p:sp>
        <p:nvSpPr>
          <p:cNvPr id="18" name="text-966"/>
          <p:cNvSpPr txBox="1"/>
          <p:nvPr/>
        </p:nvSpPr>
        <p:spPr>
          <a:xfrm>
            <a:off x="3892296"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 months</a:t>
            </a:r>
            <a:endParaRPr lang="en-US" sz="2200" dirty="0"/>
          </a:p>
        </p:txBody>
      </p:sp>
      <p:sp>
        <p:nvSpPr>
          <p:cNvPr id="19" name="text-967"/>
          <p:cNvSpPr txBox="1"/>
          <p:nvPr/>
        </p:nvSpPr>
        <p:spPr>
          <a:xfrm>
            <a:off x="3892296"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of polar night</a:t>
            </a:r>
            <a:endParaRPr lang="en-US" sz="850" dirty="0"/>
          </a:p>
        </p:txBody>
      </p:sp>
      <p:sp>
        <p:nvSpPr>
          <p:cNvPr id="20" name="text-968"/>
          <p:cNvSpPr txBox="1"/>
          <p:nvPr/>
        </p:nvSpPr>
        <p:spPr>
          <a:xfrm>
            <a:off x="5452872" y="265176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120 km/h</a:t>
            </a:r>
            <a:endParaRPr lang="en-US" sz="2200" dirty="0"/>
          </a:p>
        </p:txBody>
      </p:sp>
      <p:sp>
        <p:nvSpPr>
          <p:cNvPr id="21" name="text-969"/>
          <p:cNvSpPr txBox="1"/>
          <p:nvPr/>
        </p:nvSpPr>
        <p:spPr>
          <a:xfrm>
            <a:off x="5452872" y="30317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blizzards</a:t>
            </a:r>
            <a:endParaRPr lang="en-US" sz="850" dirty="0"/>
          </a:p>
        </p:txBody>
      </p:sp>
      <p:sp>
        <p:nvSpPr>
          <p:cNvPr id="22" name="rule-970"/>
          <p:cNvSpPr/>
          <p:nvPr/>
        </p:nvSpPr>
        <p:spPr>
          <a:xfrm>
            <a:off x="548640" y="3566160"/>
            <a:ext cx="6464808" cy="0"/>
          </a:xfrm>
          <a:prstGeom prst="line">
            <a:avLst/>
          </a:prstGeom>
          <a:noFill/>
          <a:ln w="9525">
            <a:solidFill>
              <a:schemeClr val="tx2"/>
            </a:solidFill>
            <a:prstDash val="solid"/>
          </a:ln>
        </p:spPr>
      </p:sp>
      <p:sp>
        <p:nvSpPr>
          <p:cNvPr id="23" name="kicker-dot-971"/>
          <p:cNvSpPr/>
          <p:nvPr/>
        </p:nvSpPr>
        <p:spPr>
          <a:xfrm>
            <a:off x="548640" y="3813048"/>
            <a:ext cx="100584" cy="100584"/>
          </a:xfrm>
          <a:prstGeom prst="ellipse">
            <a:avLst/>
          </a:prstGeom>
          <a:solidFill>
            <a:schemeClr val="accent3"/>
          </a:solidFill>
          <a:ln w="12700">
            <a:solidFill>
              <a:schemeClr val="accent3"/>
            </a:solidFill>
            <a:prstDash val="solid"/>
          </a:ln>
        </p:spPr>
      </p:sp>
      <p:sp>
        <p:nvSpPr>
          <p:cNvPr id="24" name="text-972"/>
          <p:cNvSpPr txBox="1"/>
          <p:nvPr/>
        </p:nvSpPr>
        <p:spPr>
          <a:xfrm>
            <a:off x="731520" y="37581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FUSION POWER STATION</a:t>
            </a:r>
            <a:endParaRPr lang="en-US" sz="900" dirty="0"/>
          </a:p>
        </p:txBody>
      </p:sp>
      <p:sp>
        <p:nvSpPr>
          <p:cNvPr id="25" name="text-973"/>
          <p:cNvSpPr txBox="1"/>
          <p:nvPr/>
        </p:nvSpPr>
        <p:spPr>
          <a:xfrm>
            <a:off x="2331720"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300 MW</a:t>
            </a:r>
            <a:endParaRPr lang="en-US" sz="2200" dirty="0"/>
          </a:p>
        </p:txBody>
      </p:sp>
      <p:sp>
        <p:nvSpPr>
          <p:cNvPr id="26" name="text-974"/>
          <p:cNvSpPr txBox="1"/>
          <p:nvPr/>
        </p:nvSpPr>
        <p:spPr>
          <a:xfrm>
            <a:off x="2331720"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electricity</a:t>
            </a:r>
            <a:endParaRPr lang="en-US" sz="850" dirty="0"/>
          </a:p>
        </p:txBody>
      </p:sp>
      <p:sp>
        <p:nvSpPr>
          <p:cNvPr id="27" name="text-975"/>
          <p:cNvSpPr txBox="1"/>
          <p:nvPr/>
        </p:nvSpPr>
        <p:spPr>
          <a:xfrm>
            <a:off x="3892296"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450 MW</a:t>
            </a:r>
            <a:endParaRPr lang="en-US" sz="2200" dirty="0"/>
          </a:p>
        </p:txBody>
      </p:sp>
      <p:sp>
        <p:nvSpPr>
          <p:cNvPr id="28" name="text-976"/>
          <p:cNvSpPr txBox="1"/>
          <p:nvPr/>
        </p:nvSpPr>
        <p:spPr>
          <a:xfrm>
            <a:off x="3892296"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district heat</a:t>
            </a:r>
            <a:endParaRPr lang="en-US" sz="850" dirty="0"/>
          </a:p>
        </p:txBody>
      </p:sp>
      <p:sp>
        <p:nvSpPr>
          <p:cNvPr id="29" name="text-977"/>
          <p:cNvSpPr txBox="1"/>
          <p:nvPr/>
        </p:nvSpPr>
        <p:spPr>
          <a:xfrm>
            <a:off x="5452872" y="3657600"/>
            <a:ext cx="1423416" cy="352552"/>
          </a:xfrm>
          <a:prstGeom prst="rect">
            <a:avLst/>
          </a:prstGeom>
          <a:noFill/>
          <a:ln/>
        </p:spPr>
        <p:txBody>
          <a:bodyPr wrap="square" lIns="0" tIns="0" rIns="0" bIns="0" rtlCol="0" anchor="b"/>
          <a:lstStyle/>
          <a:p>
            <a:pPr indent="0" marL="0">
              <a:buNone/>
            </a:pPr>
            <a:r>
              <a:rPr lang="en-US" sz="2200" b="1" dirty="0">
                <a:solidFill>
                  <a:schemeClr val="accent3"/>
                </a:solidFill>
                <a:latin typeface="+mj-lt" pitchFamily="34" charset="0"/>
                <a:ea typeface="+mj-lt" pitchFamily="34" charset="-122"/>
                <a:cs typeface="+mj-lt" pitchFamily="34" charset="-120"/>
              </a:rPr>
              <a:t>99.8%</a:t>
            </a:r>
            <a:endParaRPr lang="en-US" sz="2200" dirty="0"/>
          </a:p>
        </p:txBody>
      </p:sp>
      <p:sp>
        <p:nvSpPr>
          <p:cNvPr id="30" name="text-978"/>
          <p:cNvSpPr txBox="1"/>
          <p:nvPr/>
        </p:nvSpPr>
        <p:spPr>
          <a:xfrm>
            <a:off x="5452872" y="40375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heavy-water purity</a:t>
            </a:r>
            <a:endParaRPr lang="en-US" sz="850" dirty="0"/>
          </a:p>
        </p:txBody>
      </p:sp>
      <p:sp>
        <p:nvSpPr>
          <p:cNvPr id="31" name="rule-979"/>
          <p:cNvSpPr/>
          <p:nvPr/>
        </p:nvSpPr>
        <p:spPr>
          <a:xfrm>
            <a:off x="548640" y="4572000"/>
            <a:ext cx="6464808" cy="0"/>
          </a:xfrm>
          <a:prstGeom prst="line">
            <a:avLst/>
          </a:prstGeom>
          <a:noFill/>
          <a:ln w="9525">
            <a:solidFill>
              <a:schemeClr val="tx2"/>
            </a:solidFill>
            <a:prstDash val="solid"/>
          </a:ln>
        </p:spPr>
      </p:sp>
      <p:sp>
        <p:nvSpPr>
          <p:cNvPr id="32" name="kicker-dot-980"/>
          <p:cNvSpPr/>
          <p:nvPr/>
        </p:nvSpPr>
        <p:spPr>
          <a:xfrm>
            <a:off x="548640" y="4818888"/>
            <a:ext cx="100584" cy="100584"/>
          </a:xfrm>
          <a:prstGeom prst="ellipse">
            <a:avLst/>
          </a:prstGeom>
          <a:solidFill>
            <a:schemeClr val="accent4"/>
          </a:solidFill>
          <a:ln w="12700">
            <a:solidFill>
              <a:schemeClr val="accent4"/>
            </a:solidFill>
            <a:prstDash val="solid"/>
          </a:ln>
        </p:spPr>
      </p:sp>
      <p:sp>
        <p:nvSpPr>
          <p:cNvPr id="33" name="text-981"/>
          <p:cNvSpPr txBox="1"/>
          <p:nvPr/>
        </p:nvSpPr>
        <p:spPr>
          <a:xfrm>
            <a:off x="731520" y="476402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SNOW-TO-FOOD &amp; WATER PLANT</a:t>
            </a:r>
            <a:endParaRPr lang="en-US" sz="900" dirty="0"/>
          </a:p>
        </p:txBody>
      </p:sp>
      <p:sp>
        <p:nvSpPr>
          <p:cNvPr id="34" name="text-982"/>
          <p:cNvSpPr txBox="1"/>
          <p:nvPr/>
        </p:nvSpPr>
        <p:spPr>
          <a:xfrm>
            <a:off x="2331720"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5 t</a:t>
            </a:r>
            <a:endParaRPr lang="en-US" sz="2200" dirty="0"/>
          </a:p>
        </p:txBody>
      </p:sp>
      <p:sp>
        <p:nvSpPr>
          <p:cNvPr id="35" name="text-983"/>
          <p:cNvSpPr txBox="1"/>
          <p:nvPr/>
        </p:nvSpPr>
        <p:spPr>
          <a:xfrm>
            <a:off x="2331720"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hydrogen a day</a:t>
            </a:r>
            <a:endParaRPr lang="en-US" sz="850" dirty="0"/>
          </a:p>
        </p:txBody>
      </p:sp>
      <p:sp>
        <p:nvSpPr>
          <p:cNvPr id="36" name="text-984"/>
          <p:cNvSpPr txBox="1"/>
          <p:nvPr/>
        </p:nvSpPr>
        <p:spPr>
          <a:xfrm>
            <a:off x="3892296"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4 t</a:t>
            </a:r>
            <a:endParaRPr lang="en-US" sz="2200" dirty="0"/>
          </a:p>
        </p:txBody>
      </p:sp>
      <p:sp>
        <p:nvSpPr>
          <p:cNvPr id="37" name="text-985"/>
          <p:cNvSpPr txBox="1"/>
          <p:nvPr/>
        </p:nvSpPr>
        <p:spPr>
          <a:xfrm>
            <a:off x="3892296"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starch a day</a:t>
            </a:r>
            <a:endParaRPr lang="en-US" sz="850" dirty="0"/>
          </a:p>
        </p:txBody>
      </p:sp>
      <p:sp>
        <p:nvSpPr>
          <p:cNvPr id="38" name="text-986"/>
          <p:cNvSpPr txBox="1"/>
          <p:nvPr/>
        </p:nvSpPr>
        <p:spPr>
          <a:xfrm>
            <a:off x="5452872" y="4663440"/>
            <a:ext cx="1423416" cy="352552"/>
          </a:xfrm>
          <a:prstGeom prst="rect">
            <a:avLst/>
          </a:prstGeom>
          <a:noFill/>
          <a:ln/>
        </p:spPr>
        <p:txBody>
          <a:bodyPr wrap="square" lIns="0" tIns="0" rIns="0" bIns="0" rtlCol="0" anchor="b"/>
          <a:lstStyle/>
          <a:p>
            <a:pPr indent="0" marL="0">
              <a:buNone/>
            </a:pPr>
            <a:r>
              <a:rPr lang="en-US" sz="2200" b="1" dirty="0">
                <a:solidFill>
                  <a:schemeClr val="accent4"/>
                </a:solidFill>
                <a:latin typeface="+mj-lt" pitchFamily="34" charset="0"/>
                <a:ea typeface="+mj-lt" pitchFamily="34" charset="-122"/>
                <a:cs typeface="+mj-lt" pitchFamily="34" charset="-120"/>
              </a:rPr>
              <a:t>1 t</a:t>
            </a:r>
            <a:endParaRPr lang="en-US" sz="2200" dirty="0"/>
          </a:p>
        </p:txBody>
      </p:sp>
      <p:sp>
        <p:nvSpPr>
          <p:cNvPr id="39" name="text-987"/>
          <p:cNvSpPr txBox="1"/>
          <p:nvPr/>
        </p:nvSpPr>
        <p:spPr>
          <a:xfrm>
            <a:off x="5452872" y="504342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fat a day</a:t>
            </a:r>
            <a:endParaRPr lang="en-US" sz="850" dirty="0"/>
          </a:p>
        </p:txBody>
      </p:sp>
      <p:sp>
        <p:nvSpPr>
          <p:cNvPr id="40" name="rule-988"/>
          <p:cNvSpPr/>
          <p:nvPr/>
        </p:nvSpPr>
        <p:spPr>
          <a:xfrm>
            <a:off x="548640" y="5577840"/>
            <a:ext cx="6464808" cy="0"/>
          </a:xfrm>
          <a:prstGeom prst="line">
            <a:avLst/>
          </a:prstGeom>
          <a:noFill/>
          <a:ln w="9525">
            <a:solidFill>
              <a:schemeClr val="tx2"/>
            </a:solidFill>
            <a:prstDash val="solid"/>
          </a:ln>
        </p:spPr>
      </p:sp>
      <p:sp>
        <p:nvSpPr>
          <p:cNvPr id="41" name="kicker-dot-989"/>
          <p:cNvSpPr/>
          <p:nvPr/>
        </p:nvSpPr>
        <p:spPr>
          <a:xfrm>
            <a:off x="548640" y="5824728"/>
            <a:ext cx="100584" cy="100584"/>
          </a:xfrm>
          <a:prstGeom prst="ellipse">
            <a:avLst/>
          </a:prstGeom>
          <a:solidFill>
            <a:schemeClr val="accent2"/>
          </a:solidFill>
          <a:ln w="12700">
            <a:solidFill>
              <a:schemeClr val="accent2"/>
            </a:solidFill>
            <a:prstDash val="solid"/>
          </a:ln>
        </p:spPr>
      </p:sp>
      <p:sp>
        <p:nvSpPr>
          <p:cNvPr id="42" name="text-990"/>
          <p:cNvSpPr txBox="1"/>
          <p:nvPr/>
        </p:nvSpPr>
        <p:spPr>
          <a:xfrm>
            <a:off x="731520" y="576986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ENERGY AND STORAGE</a:t>
            </a:r>
            <a:endParaRPr lang="en-US" sz="900" dirty="0"/>
          </a:p>
        </p:txBody>
      </p:sp>
      <p:sp>
        <p:nvSpPr>
          <p:cNvPr id="43" name="text-991"/>
          <p:cNvSpPr txBox="1"/>
          <p:nvPr/>
        </p:nvSpPr>
        <p:spPr>
          <a:xfrm>
            <a:off x="2331720"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60 MW</a:t>
            </a:r>
            <a:endParaRPr lang="en-US" sz="2200" dirty="0"/>
          </a:p>
        </p:txBody>
      </p:sp>
      <p:sp>
        <p:nvSpPr>
          <p:cNvPr id="44" name="text-992"/>
          <p:cNvSpPr txBox="1"/>
          <p:nvPr/>
        </p:nvSpPr>
        <p:spPr>
          <a:xfrm>
            <a:off x="2331720"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wind farm</a:t>
            </a:r>
            <a:endParaRPr lang="en-US" sz="850" dirty="0"/>
          </a:p>
        </p:txBody>
      </p:sp>
      <p:sp>
        <p:nvSpPr>
          <p:cNvPr id="45" name="text-993"/>
          <p:cNvSpPr txBox="1"/>
          <p:nvPr/>
        </p:nvSpPr>
        <p:spPr>
          <a:xfrm>
            <a:off x="3892296"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200 MWh</a:t>
            </a:r>
            <a:endParaRPr lang="en-US" sz="2200" dirty="0"/>
          </a:p>
        </p:txBody>
      </p:sp>
      <p:sp>
        <p:nvSpPr>
          <p:cNvPr id="46" name="text-994"/>
          <p:cNvSpPr txBox="1"/>
          <p:nvPr/>
        </p:nvSpPr>
        <p:spPr>
          <a:xfrm>
            <a:off x="3892296"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battery bank</a:t>
            </a:r>
            <a:endParaRPr lang="en-US" sz="850" dirty="0"/>
          </a:p>
        </p:txBody>
      </p:sp>
      <p:sp>
        <p:nvSpPr>
          <p:cNvPr id="47" name="text-995"/>
          <p:cNvSpPr txBox="1"/>
          <p:nvPr/>
        </p:nvSpPr>
        <p:spPr>
          <a:xfrm>
            <a:off x="5452872" y="5669280"/>
            <a:ext cx="1423416" cy="352552"/>
          </a:xfrm>
          <a:prstGeom prst="rect">
            <a:avLst/>
          </a:prstGeom>
          <a:noFill/>
          <a:ln/>
        </p:spPr>
        <p:txBody>
          <a:bodyPr wrap="square" lIns="0" tIns="0" rIns="0" bIns="0" rtlCol="0" anchor="b"/>
          <a:lstStyle/>
          <a:p>
            <a:pPr indent="0" marL="0">
              <a:buNone/>
            </a:pPr>
            <a:r>
              <a:rPr lang="en-US" sz="2200" b="1" dirty="0">
                <a:solidFill>
                  <a:schemeClr val="accent2"/>
                </a:solidFill>
                <a:latin typeface="+mj-lt" pitchFamily="34" charset="0"/>
                <a:ea typeface="+mj-lt" pitchFamily="34" charset="-122"/>
                <a:cs typeface="+mj-lt" pitchFamily="34" charset="-120"/>
              </a:rPr>
              <a:t>&lt;1%</a:t>
            </a:r>
            <a:endParaRPr lang="en-US" sz="2200" dirty="0"/>
          </a:p>
        </p:txBody>
      </p:sp>
      <p:sp>
        <p:nvSpPr>
          <p:cNvPr id="48" name="text-996"/>
          <p:cNvSpPr txBox="1"/>
          <p:nvPr/>
        </p:nvSpPr>
        <p:spPr>
          <a:xfrm>
            <a:off x="5452872" y="604926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heat lost a day by the heat tank</a:t>
            </a:r>
            <a:endParaRPr lang="en-US" sz="850" dirty="0"/>
          </a:p>
        </p:txBody>
      </p:sp>
      <p:sp>
        <p:nvSpPr>
          <p:cNvPr id="49" name="rule-997"/>
          <p:cNvSpPr/>
          <p:nvPr/>
        </p:nvSpPr>
        <p:spPr>
          <a:xfrm>
            <a:off x="548640" y="6583680"/>
            <a:ext cx="6464808" cy="0"/>
          </a:xfrm>
          <a:prstGeom prst="line">
            <a:avLst/>
          </a:prstGeom>
          <a:noFill/>
          <a:ln w="9525">
            <a:solidFill>
              <a:schemeClr val="tx2"/>
            </a:solidFill>
            <a:prstDash val="solid"/>
          </a:ln>
        </p:spPr>
      </p:sp>
      <p:sp>
        <p:nvSpPr>
          <p:cNvPr id="50" name="kicker-dot-998"/>
          <p:cNvSpPr/>
          <p:nvPr/>
        </p:nvSpPr>
        <p:spPr>
          <a:xfrm>
            <a:off x="548640" y="6830568"/>
            <a:ext cx="100584" cy="100584"/>
          </a:xfrm>
          <a:prstGeom prst="ellipse">
            <a:avLst/>
          </a:prstGeom>
          <a:solidFill>
            <a:schemeClr val="accent5"/>
          </a:solidFill>
          <a:ln w="12700">
            <a:solidFill>
              <a:schemeClr val="accent5"/>
            </a:solidFill>
            <a:prstDash val="solid"/>
          </a:ln>
        </p:spPr>
      </p:sp>
      <p:sp>
        <p:nvSpPr>
          <p:cNvPr id="51" name="text-999"/>
          <p:cNvSpPr txBox="1"/>
          <p:nvPr/>
        </p:nvSpPr>
        <p:spPr>
          <a:xfrm>
            <a:off x="731520" y="677570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MOUNT AURORA SPA</a:t>
            </a:r>
            <a:endParaRPr lang="en-US" sz="900" dirty="0"/>
          </a:p>
        </p:txBody>
      </p:sp>
      <p:sp>
        <p:nvSpPr>
          <p:cNvPr id="52" name="text-1000"/>
          <p:cNvSpPr txBox="1"/>
          <p:nvPr/>
        </p:nvSpPr>
        <p:spPr>
          <a:xfrm>
            <a:off x="2331720"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4</a:t>
            </a:r>
            <a:endParaRPr lang="en-US" sz="2200" dirty="0"/>
          </a:p>
        </p:txBody>
      </p:sp>
      <p:sp>
        <p:nvSpPr>
          <p:cNvPr id="53" name="text-1001"/>
          <p:cNvSpPr txBox="1"/>
          <p:nvPr/>
        </p:nvSpPr>
        <p:spPr>
          <a:xfrm>
            <a:off x="2331720"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levels, 0 to 13.5 m</a:t>
            </a:r>
            <a:endParaRPr lang="en-US" sz="850" dirty="0"/>
          </a:p>
        </p:txBody>
      </p:sp>
      <p:sp>
        <p:nvSpPr>
          <p:cNvPr id="54" name="text-1002"/>
          <p:cNvSpPr txBox="1"/>
          <p:nvPr/>
        </p:nvSpPr>
        <p:spPr>
          <a:xfrm>
            <a:off x="3892296"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28 °C</a:t>
            </a:r>
            <a:endParaRPr lang="en-US" sz="2200" dirty="0"/>
          </a:p>
        </p:txBody>
      </p:sp>
      <p:sp>
        <p:nvSpPr>
          <p:cNvPr id="55" name="text-1003"/>
          <p:cNvSpPr txBox="1"/>
          <p:nvPr/>
        </p:nvSpPr>
        <p:spPr>
          <a:xfrm>
            <a:off x="3892296"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all winter</a:t>
            </a:r>
            <a:endParaRPr lang="en-US" sz="850" dirty="0"/>
          </a:p>
        </p:txBody>
      </p:sp>
      <p:sp>
        <p:nvSpPr>
          <p:cNvPr id="56" name="text-1004"/>
          <p:cNvSpPr txBox="1"/>
          <p:nvPr/>
        </p:nvSpPr>
        <p:spPr>
          <a:xfrm>
            <a:off x="5452872" y="6675120"/>
            <a:ext cx="1423416" cy="352552"/>
          </a:xfrm>
          <a:prstGeom prst="rect">
            <a:avLst/>
          </a:prstGeom>
          <a:noFill/>
          <a:ln/>
        </p:spPr>
        <p:txBody>
          <a:bodyPr wrap="square" lIns="0" tIns="0" rIns="0" bIns="0" rtlCol="0" anchor="b"/>
          <a:lstStyle/>
          <a:p>
            <a:pPr indent="0" marL="0">
              <a:buNone/>
            </a:pPr>
            <a:r>
              <a:rPr lang="en-US" sz="2200" b="1" dirty="0">
                <a:solidFill>
                  <a:schemeClr val="accent5"/>
                </a:solidFill>
                <a:latin typeface="+mj-lt" pitchFamily="34" charset="0"/>
                <a:ea typeface="+mj-lt" pitchFamily="34" charset="-122"/>
                <a:cs typeface="+mj-lt" pitchFamily="34" charset="-120"/>
              </a:rPr>
              <a:t>1,000</a:t>
            </a:r>
            <a:endParaRPr lang="en-US" sz="2200" dirty="0"/>
          </a:p>
        </p:txBody>
      </p:sp>
      <p:sp>
        <p:nvSpPr>
          <p:cNvPr id="57" name="text-1005"/>
          <p:cNvSpPr txBox="1"/>
          <p:nvPr/>
        </p:nvSpPr>
        <p:spPr>
          <a:xfrm>
            <a:off x="5452872" y="705510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people sheltered in an emergency</a:t>
            </a:r>
            <a:endParaRPr lang="en-US" sz="850" dirty="0"/>
          </a:p>
        </p:txBody>
      </p:sp>
      <p:sp>
        <p:nvSpPr>
          <p:cNvPr id="58" name="rule-1006"/>
          <p:cNvSpPr/>
          <p:nvPr/>
        </p:nvSpPr>
        <p:spPr>
          <a:xfrm>
            <a:off x="548640" y="7589520"/>
            <a:ext cx="6464808" cy="0"/>
          </a:xfrm>
          <a:prstGeom prst="line">
            <a:avLst/>
          </a:prstGeom>
          <a:noFill/>
          <a:ln w="9525">
            <a:solidFill>
              <a:schemeClr val="tx2"/>
            </a:solidFill>
            <a:prstDash val="solid"/>
          </a:ln>
        </p:spPr>
      </p:sp>
      <p:sp>
        <p:nvSpPr>
          <p:cNvPr id="59" name="kicker-dot-1007"/>
          <p:cNvSpPr/>
          <p:nvPr/>
        </p:nvSpPr>
        <p:spPr>
          <a:xfrm>
            <a:off x="548640" y="7836408"/>
            <a:ext cx="100584" cy="100584"/>
          </a:xfrm>
          <a:prstGeom prst="ellipse">
            <a:avLst/>
          </a:prstGeom>
          <a:solidFill>
            <a:schemeClr val="accent1"/>
          </a:solidFill>
          <a:ln w="12700">
            <a:solidFill>
              <a:schemeClr val="accent1"/>
            </a:solidFill>
            <a:prstDash val="solid"/>
          </a:ln>
        </p:spPr>
      </p:sp>
      <p:sp>
        <p:nvSpPr>
          <p:cNvPr id="60" name="text-1008"/>
          <p:cNvSpPr txBox="1"/>
          <p:nvPr/>
        </p:nvSpPr>
        <p:spPr>
          <a:xfrm>
            <a:off x="731520" y="778154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LIVABILITY</a:t>
            </a:r>
            <a:endParaRPr lang="en-US" sz="900" dirty="0"/>
          </a:p>
        </p:txBody>
      </p:sp>
      <p:sp>
        <p:nvSpPr>
          <p:cNvPr id="61" name="text-1009"/>
          <p:cNvSpPr txBox="1"/>
          <p:nvPr/>
        </p:nvSpPr>
        <p:spPr>
          <a:xfrm>
            <a:off x="2331720"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600</a:t>
            </a:r>
            <a:endParaRPr lang="en-US" sz="2200" dirty="0"/>
          </a:p>
        </p:txBody>
      </p:sp>
      <p:sp>
        <p:nvSpPr>
          <p:cNvPr id="62" name="text-1010"/>
          <p:cNvSpPr txBox="1"/>
          <p:nvPr/>
        </p:nvSpPr>
        <p:spPr>
          <a:xfrm>
            <a:off x="2331720"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Aurora 81 apartments</a:t>
            </a:r>
            <a:endParaRPr lang="en-US" sz="850" dirty="0"/>
          </a:p>
        </p:txBody>
      </p:sp>
      <p:sp>
        <p:nvSpPr>
          <p:cNvPr id="63" name="text-1011"/>
          <p:cNvSpPr txBox="1"/>
          <p:nvPr/>
        </p:nvSpPr>
        <p:spPr>
          <a:xfrm>
            <a:off x="3892296"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450</a:t>
            </a:r>
            <a:endParaRPr lang="en-US" sz="2200" dirty="0"/>
          </a:p>
        </p:txBody>
      </p:sp>
      <p:sp>
        <p:nvSpPr>
          <p:cNvPr id="64" name="text-1012"/>
          <p:cNvSpPr txBox="1"/>
          <p:nvPr/>
        </p:nvSpPr>
        <p:spPr>
          <a:xfrm>
            <a:off x="3892296"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pupils at Snow Lantern Primary</a:t>
            </a:r>
            <a:endParaRPr lang="en-US" sz="850" dirty="0"/>
          </a:p>
        </p:txBody>
      </p:sp>
      <p:sp>
        <p:nvSpPr>
          <p:cNvPr id="65" name="text-1013"/>
          <p:cNvSpPr txBox="1"/>
          <p:nvPr/>
        </p:nvSpPr>
        <p:spPr>
          <a:xfrm>
            <a:off x="5452872" y="7680960"/>
            <a:ext cx="1423416" cy="352552"/>
          </a:xfrm>
          <a:prstGeom prst="rect">
            <a:avLst/>
          </a:prstGeom>
          <a:noFill/>
          <a:ln/>
        </p:spPr>
        <p:txBody>
          <a:bodyPr wrap="square" lIns="0" tIns="0" rIns="0" bIns="0" rtlCol="0" anchor="b"/>
          <a:lstStyle/>
          <a:p>
            <a:pPr indent="0" marL="0">
              <a:buNone/>
            </a:pPr>
            <a:r>
              <a:rPr lang="en-US" sz="2200" b="1" dirty="0">
                <a:solidFill>
                  <a:schemeClr val="accent1"/>
                </a:solidFill>
                <a:latin typeface="+mj-lt" pitchFamily="34" charset="0"/>
                <a:ea typeface="+mj-lt" pitchFamily="34" charset="-122"/>
                <a:cs typeface="+mj-lt" pitchFamily="34" charset="-120"/>
              </a:rPr>
              <a:t>3</a:t>
            </a:r>
            <a:endParaRPr lang="en-US" sz="2200" dirty="0"/>
          </a:p>
        </p:txBody>
      </p:sp>
      <p:sp>
        <p:nvSpPr>
          <p:cNvPr id="66" name="text-1014"/>
          <p:cNvSpPr txBox="1"/>
          <p:nvPr/>
        </p:nvSpPr>
        <p:spPr>
          <a:xfrm>
            <a:off x="5452872" y="806094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kindergartens</a:t>
            </a:r>
            <a:endParaRPr lang="en-US" sz="850" dirty="0"/>
          </a:p>
        </p:txBody>
      </p:sp>
      <p:sp>
        <p:nvSpPr>
          <p:cNvPr id="67" name="rule-1015"/>
          <p:cNvSpPr/>
          <p:nvPr/>
        </p:nvSpPr>
        <p:spPr>
          <a:xfrm>
            <a:off x="548640" y="8595360"/>
            <a:ext cx="6464808" cy="0"/>
          </a:xfrm>
          <a:prstGeom prst="line">
            <a:avLst/>
          </a:prstGeom>
          <a:noFill/>
          <a:ln w="9525">
            <a:solidFill>
              <a:schemeClr val="tx2"/>
            </a:solidFill>
            <a:prstDash val="solid"/>
          </a:ln>
        </p:spPr>
      </p:sp>
      <p:sp>
        <p:nvSpPr>
          <p:cNvPr id="68" name="kicker-dot-1016"/>
          <p:cNvSpPr/>
          <p:nvPr/>
        </p:nvSpPr>
        <p:spPr>
          <a:xfrm>
            <a:off x="548640" y="8842248"/>
            <a:ext cx="100584" cy="100584"/>
          </a:xfrm>
          <a:prstGeom prst="ellipse">
            <a:avLst/>
          </a:prstGeom>
          <a:solidFill>
            <a:schemeClr val="accent6"/>
          </a:solidFill>
          <a:ln w="12700">
            <a:solidFill>
              <a:schemeClr val="accent6"/>
            </a:solidFill>
            <a:prstDash val="solid"/>
          </a:ln>
        </p:spPr>
      </p:sp>
      <p:sp>
        <p:nvSpPr>
          <p:cNvPr id="69" name="text-1017"/>
          <p:cNvSpPr txBox="1"/>
          <p:nvPr/>
        </p:nvSpPr>
        <p:spPr>
          <a:xfrm>
            <a:off x="731520" y="8787384"/>
            <a:ext cx="1508760" cy="457200"/>
          </a:xfrm>
          <a:prstGeom prst="rect">
            <a:avLst/>
          </a:prstGeom>
          <a:noFill/>
          <a:ln/>
        </p:spPr>
        <p:txBody>
          <a:bodyPr wrap="square" lIns="0" tIns="0" rIns="0" bIns="0" rtlCol="0" anchor="t"/>
          <a:lstStyle/>
          <a:p>
            <a:pPr indent="0" marL="0">
              <a:lnSpc>
                <a:spcPct val="110000"/>
              </a:lnSpc>
              <a:buNone/>
            </a:pPr>
            <a:r>
              <a:rPr lang="en-US" sz="900" b="1" spc="200" kern="0" dirty="0">
                <a:solidFill>
                  <a:schemeClr val="bg1"/>
                </a:solidFill>
              </a:rPr>
              <a:t>TRANSPORT</a:t>
            </a:r>
            <a:endParaRPr lang="en-US" sz="900" dirty="0"/>
          </a:p>
        </p:txBody>
      </p:sp>
      <p:sp>
        <p:nvSpPr>
          <p:cNvPr id="70" name="text-1018"/>
          <p:cNvSpPr txBox="1"/>
          <p:nvPr/>
        </p:nvSpPr>
        <p:spPr>
          <a:xfrm>
            <a:off x="2331720"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a:t>
            </a:r>
            <a:endParaRPr lang="en-US" sz="2200" dirty="0"/>
          </a:p>
        </p:txBody>
      </p:sp>
      <p:sp>
        <p:nvSpPr>
          <p:cNvPr id="71" name="text-1019"/>
          <p:cNvSpPr txBox="1"/>
          <p:nvPr/>
        </p:nvSpPr>
        <p:spPr>
          <a:xfrm>
            <a:off x="2331720"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metro lines</a:t>
            </a:r>
            <a:endParaRPr lang="en-US" sz="850" dirty="0"/>
          </a:p>
        </p:txBody>
      </p:sp>
      <p:sp>
        <p:nvSpPr>
          <p:cNvPr id="72" name="text-1020"/>
          <p:cNvSpPr txBox="1"/>
          <p:nvPr/>
        </p:nvSpPr>
        <p:spPr>
          <a:xfrm>
            <a:off x="3892296"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5 min</a:t>
            </a:r>
            <a:endParaRPr lang="en-US" sz="2200" dirty="0"/>
          </a:p>
        </p:txBody>
      </p:sp>
      <p:sp>
        <p:nvSpPr>
          <p:cNvPr id="73" name="text-1021"/>
          <p:cNvSpPr txBox="1"/>
          <p:nvPr/>
        </p:nvSpPr>
        <p:spPr>
          <a:xfrm>
            <a:off x="3892296"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spa shuttle</a:t>
            </a:r>
            <a:endParaRPr lang="en-US" sz="850" dirty="0"/>
          </a:p>
        </p:txBody>
      </p:sp>
      <p:sp>
        <p:nvSpPr>
          <p:cNvPr id="74" name="text-1022"/>
          <p:cNvSpPr txBox="1"/>
          <p:nvPr/>
        </p:nvSpPr>
        <p:spPr>
          <a:xfrm>
            <a:off x="5452872" y="8686800"/>
            <a:ext cx="1423416" cy="352552"/>
          </a:xfrm>
          <a:prstGeom prst="rect">
            <a:avLst/>
          </a:prstGeom>
          <a:noFill/>
          <a:ln/>
        </p:spPr>
        <p:txBody>
          <a:bodyPr wrap="square" lIns="0" tIns="0" rIns="0" bIns="0" rtlCol="0" anchor="b"/>
          <a:lstStyle/>
          <a:p>
            <a:pPr indent="0" marL="0">
              <a:buNone/>
            </a:pPr>
            <a:r>
              <a:rPr lang="en-US" sz="2200" b="1" dirty="0">
                <a:solidFill>
                  <a:schemeClr val="accent6"/>
                </a:solidFill>
                <a:latin typeface="+mj-lt" pitchFamily="34" charset="0"/>
                <a:ea typeface="+mj-lt" pitchFamily="34" charset="-122"/>
                <a:cs typeface="+mj-lt" pitchFamily="34" charset="-120"/>
              </a:rPr>
              <a:t>20 min</a:t>
            </a:r>
            <a:endParaRPr lang="en-US" sz="2200" dirty="0"/>
          </a:p>
        </p:txBody>
      </p:sp>
      <p:sp>
        <p:nvSpPr>
          <p:cNvPr id="75" name="text-1023"/>
          <p:cNvSpPr txBox="1"/>
          <p:nvPr/>
        </p:nvSpPr>
        <p:spPr>
          <a:xfrm>
            <a:off x="5452872" y="9066784"/>
            <a:ext cx="1423416" cy="365760"/>
          </a:xfrm>
          <a:prstGeom prst="rect">
            <a:avLst/>
          </a:prstGeom>
          <a:noFill/>
          <a:ln/>
        </p:spPr>
        <p:txBody>
          <a:bodyPr wrap="square" lIns="0" tIns="0" rIns="0" bIns="0" rtlCol="0" anchor="t"/>
          <a:lstStyle/>
          <a:p>
            <a:pPr indent="0" marL="0">
              <a:lnSpc>
                <a:spcPct val="105000"/>
              </a:lnSpc>
              <a:buNone/>
            </a:pPr>
            <a:r>
              <a:rPr lang="en-US" sz="850" dirty="0">
                <a:solidFill>
                  <a:schemeClr val="bg2"/>
                </a:solidFill>
              </a:rPr>
              <a:t>airport shuttle</a:t>
            </a:r>
            <a:endParaRPr lang="en-US" sz="850" dirty="0"/>
          </a:p>
        </p:txBody>
      </p:sp>
      <p:sp>
        <p:nvSpPr>
          <p:cNvPr id="76" name="text-1024"/>
          <p:cNvSpPr txBox="1"/>
          <p:nvPr/>
        </p:nvSpPr>
        <p:spPr>
          <a:xfrm>
            <a:off x="548640" y="9829800"/>
            <a:ext cx="6464808" cy="201168"/>
          </a:xfrm>
          <a:prstGeom prst="rect">
            <a:avLst/>
          </a:prstGeom>
          <a:noFill/>
          <a:ln/>
        </p:spPr>
        <p:txBody>
          <a:bodyPr wrap="square" lIns="0" tIns="0" rIns="0" bIns="0" rtlCol="0" anchor="t"/>
          <a:lstStyle/>
          <a:p>
            <a:pPr indent="0" marL="0">
              <a:buNone/>
            </a:pPr>
            <a:r>
              <a:rPr lang="en-US" sz="850" i="1" dirty="0">
                <a:solidFill>
                  <a:schemeClr val="bg2"/>
                </a:solidFill>
              </a:rPr>
              <a:t>All figures are design values for the Aurora Haven city project; page 38 explains how to read our numbers.</a:t>
            </a:r>
            <a:endParaRPr lang="en-US" sz="850" dirty="0"/>
          </a:p>
        </p:txBody>
      </p:sp>
      <p:sp>
        <p:nvSpPr>
          <p:cNvPr id="25" name="Slide Number Placeholder 0"/>
          <p:cNvSpPr>
            <a:spLocks noGrp="1"/>
          </p:cNvSpPr>
          <p:nvPr>
            <p:ph type="sldNum" sz="quarter" idx="4294967295"/>
          </p:nvPr>
        </p:nvSpPr>
        <p:spPr>
          <a:xfrm>
            <a:off x="6601968"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bg1"/>
                </a:solidFill>
              </a:defRPr>
            </a:lvl1pPr>
          </a:lstStyle>
          <a:p>
            <a:pPr algn="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kicker-dot-1025"/>
          <p:cNvSpPr/>
          <p:nvPr/>
        </p:nvSpPr>
        <p:spPr>
          <a:xfrm>
            <a:off x="548640" y="544068"/>
            <a:ext cx="100584" cy="100584"/>
          </a:xfrm>
          <a:prstGeom prst="ellipse">
            <a:avLst/>
          </a:prstGeom>
          <a:solidFill>
            <a:schemeClr val="accent6"/>
          </a:solidFill>
          <a:ln w="12700">
            <a:solidFill>
              <a:schemeClr val="accent6"/>
            </a:solidFill>
            <a:prstDash val="solid"/>
          </a:ln>
        </p:spPr>
      </p:sp>
      <p:sp>
        <p:nvSpPr>
          <p:cNvPr id="3" name="text-1026"/>
          <p:cNvSpPr txBox="1"/>
          <p:nvPr/>
        </p:nvSpPr>
        <p:spPr>
          <a:xfrm>
            <a:off x="731520" y="502920"/>
            <a:ext cx="5486400" cy="201168"/>
          </a:xfrm>
          <a:prstGeom prst="rect">
            <a:avLst/>
          </a:prstGeom>
          <a:noFill/>
          <a:ln/>
        </p:spPr>
        <p:txBody>
          <a:bodyPr wrap="square" lIns="0" tIns="0" rIns="0" bIns="0" rtlCol="0" anchor="t"/>
          <a:lstStyle/>
          <a:p>
            <a:pPr indent="0" marL="0">
              <a:buNone/>
            </a:pPr>
            <a:r>
              <a:rPr lang="en-US" sz="900" b="1" spc="300" kern="0" dirty="0">
                <a:solidFill>
                  <a:schemeClr val="accent6"/>
                </a:solidFill>
              </a:rPr>
              <a:t>RESEARCH INTEGRITY</a:t>
            </a:r>
            <a:endParaRPr lang="en-US" sz="900" dirty="0"/>
          </a:p>
        </p:txBody>
      </p:sp>
      <p:sp>
        <p:nvSpPr>
          <p:cNvPr id="4" name="title-1027"/>
          <p:cNvSpPr txBox="1"/>
          <p:nvPr/>
        </p:nvSpPr>
        <p:spPr>
          <a:xfrm>
            <a:off x="548640" y="758952"/>
            <a:ext cx="6464808" cy="685800"/>
          </a:xfrm>
          <a:prstGeom prst="rect">
            <a:avLst/>
          </a:prstGeom>
          <a:noFill/>
          <a:ln/>
        </p:spPr>
        <p:txBody>
          <a:bodyPr wrap="square" lIns="0" tIns="0" rIns="0" bIns="0" rtlCol="0" anchor="t"/>
          <a:lstStyle/>
          <a:p>
            <a:pPr indent="0" marL="0">
              <a:lnSpc>
                <a:spcPct val="92000"/>
              </a:lnSpc>
              <a:buNone/>
            </a:pPr>
            <a:r>
              <a:rPr lang="en-US" sz="3400" b="1" dirty="0">
                <a:solidFill>
                  <a:schemeClr val="tx1"/>
                </a:solidFill>
                <a:latin typeface="+mj-lt" pitchFamily="34" charset="0"/>
                <a:ea typeface="+mj-lt" pitchFamily="34" charset="-122"/>
                <a:cs typeface="+mj-lt" pitchFamily="34" charset="-120"/>
              </a:rPr>
              <a:t>Sources &amp; Assumptions</a:t>
            </a:r>
            <a:endParaRPr lang="en-US" sz="3400" dirty="0"/>
          </a:p>
        </p:txBody>
      </p:sp>
      <p:sp>
        <p:nvSpPr>
          <p:cNvPr id="5" name="text-1029"/>
          <p:cNvSpPr txBox="1"/>
          <p:nvPr/>
        </p:nvSpPr>
        <p:spPr>
          <a:xfrm>
            <a:off x="548640" y="141732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HOW TO READ OUR NUMBERS</a:t>
            </a:r>
            <a:endParaRPr lang="en-US" sz="900" dirty="0"/>
          </a:p>
        </p:txBody>
      </p:sp>
      <p:sp>
        <p:nvSpPr>
          <p:cNvPr id="6" name="card-1030"/>
          <p:cNvSpPr/>
          <p:nvPr/>
        </p:nvSpPr>
        <p:spPr>
          <a:xfrm>
            <a:off x="548640" y="1691640"/>
            <a:ext cx="2063496" cy="1051560"/>
          </a:xfrm>
          <a:prstGeom prst="roundRect">
            <a:avLst>
              <a:gd name="adj" fmla="val 6957"/>
            </a:avLst>
          </a:prstGeom>
          <a:solidFill>
            <a:schemeClr val="bg2"/>
          </a:solidFill>
          <a:ln w="12700">
            <a:solidFill>
              <a:schemeClr val="bg2"/>
            </a:solidFill>
            <a:prstDash val="solid"/>
          </a:ln>
        </p:spPr>
      </p:sp>
      <p:sp>
        <p:nvSpPr>
          <p:cNvPr id="7" name="text-1031"/>
          <p:cNvSpPr txBox="1"/>
          <p:nvPr/>
        </p:nvSpPr>
        <p:spPr>
          <a:xfrm>
            <a:off x="658368"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Design values</a:t>
            </a:r>
            <a:endParaRPr lang="en-US" sz="1000" dirty="0"/>
          </a:p>
        </p:txBody>
      </p:sp>
      <p:sp>
        <p:nvSpPr>
          <p:cNvPr id="8" name="text-1032"/>
          <p:cNvSpPr txBox="1"/>
          <p:nvPr/>
        </p:nvSpPr>
        <p:spPr>
          <a:xfrm>
            <a:off x="658368"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Figures for our own city plan, such as 300 MW of electricity or 3,000 t of snow a day. They come from our design, not from a real city.</a:t>
            </a:r>
            <a:endParaRPr lang="en-US" sz="850" dirty="0"/>
          </a:p>
        </p:txBody>
      </p:sp>
      <p:sp>
        <p:nvSpPr>
          <p:cNvPr id="9" name="card-1033"/>
          <p:cNvSpPr/>
          <p:nvPr/>
        </p:nvSpPr>
        <p:spPr>
          <a:xfrm>
            <a:off x="2749296" y="1691640"/>
            <a:ext cx="2063496" cy="1051560"/>
          </a:xfrm>
          <a:prstGeom prst="roundRect">
            <a:avLst>
              <a:gd name="adj" fmla="val 6957"/>
            </a:avLst>
          </a:prstGeom>
          <a:solidFill>
            <a:schemeClr val="bg2"/>
          </a:solidFill>
          <a:ln w="12700">
            <a:solidFill>
              <a:schemeClr val="bg2"/>
            </a:solidFill>
            <a:prstDash val="solid"/>
          </a:ln>
        </p:spPr>
      </p:sp>
      <p:sp>
        <p:nvSpPr>
          <p:cNvPr id="10" name="text-1034"/>
          <p:cNvSpPr txBox="1"/>
          <p:nvPr/>
        </p:nvSpPr>
        <p:spPr>
          <a:xfrm>
            <a:off x="2859024"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Our estimates</a:t>
            </a:r>
            <a:endParaRPr lang="en-US" sz="1000" dirty="0"/>
          </a:p>
        </p:txBody>
      </p:sp>
      <p:sp>
        <p:nvSpPr>
          <p:cNvPr id="11" name="text-1035"/>
          <p:cNvSpPr txBox="1"/>
          <p:nvPr/>
        </p:nvSpPr>
        <p:spPr>
          <a:xfrm>
            <a:off x="2859024"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Calculations we made ourselves and marked “our estimate”, such as the metro capacity, or worked out on page 25. They show an idea is reasonable, not exact.</a:t>
            </a:r>
            <a:endParaRPr lang="en-US" sz="850" dirty="0"/>
          </a:p>
        </p:txBody>
      </p:sp>
      <p:sp>
        <p:nvSpPr>
          <p:cNvPr id="12" name="card-1036"/>
          <p:cNvSpPr/>
          <p:nvPr/>
        </p:nvSpPr>
        <p:spPr>
          <a:xfrm>
            <a:off x="4949952" y="1691640"/>
            <a:ext cx="2063496" cy="1051560"/>
          </a:xfrm>
          <a:prstGeom prst="roundRect">
            <a:avLst>
              <a:gd name="adj" fmla="val 6957"/>
            </a:avLst>
          </a:prstGeom>
          <a:solidFill>
            <a:schemeClr val="bg2"/>
          </a:solidFill>
          <a:ln w="12700">
            <a:solidFill>
              <a:schemeClr val="bg2"/>
            </a:solidFill>
            <a:prstDash val="solid"/>
          </a:ln>
        </p:spPr>
      </p:sp>
      <p:sp>
        <p:nvSpPr>
          <p:cNvPr id="13" name="text-1037"/>
          <p:cNvSpPr txBox="1"/>
          <p:nvPr/>
        </p:nvSpPr>
        <p:spPr>
          <a:xfrm>
            <a:off x="5059680" y="1764792"/>
            <a:ext cx="1844040" cy="219456"/>
          </a:xfrm>
          <a:prstGeom prst="rect">
            <a:avLst/>
          </a:prstGeom>
          <a:noFill/>
          <a:ln/>
        </p:spPr>
        <p:txBody>
          <a:bodyPr wrap="square" lIns="0" tIns="0" rIns="0" bIns="0" rtlCol="0" anchor="t"/>
          <a:lstStyle/>
          <a:p>
            <a:pPr indent="0" marL="0">
              <a:buNone/>
            </a:pPr>
            <a:r>
              <a:rPr lang="en-US" sz="1000" b="1" dirty="0">
                <a:solidFill>
                  <a:schemeClr val="accent6"/>
                </a:solidFill>
              </a:rPr>
              <a:t>Future concepts</a:t>
            </a:r>
            <a:endParaRPr lang="en-US" sz="1000" dirty="0"/>
          </a:p>
        </p:txBody>
      </p:sp>
      <p:sp>
        <p:nvSpPr>
          <p:cNvPr id="14" name="text-1038"/>
          <p:cNvSpPr txBox="1"/>
          <p:nvPr/>
        </p:nvSpPr>
        <p:spPr>
          <a:xfrm>
            <a:off x="5059680" y="2011680"/>
            <a:ext cx="1844040" cy="713232"/>
          </a:xfrm>
          <a:prstGeom prst="rect">
            <a:avLst/>
          </a:prstGeom>
          <a:noFill/>
          <a:ln/>
        </p:spPr>
        <p:txBody>
          <a:bodyPr wrap="square" lIns="0" tIns="0" rIns="0" bIns="0" rtlCol="0" anchor="t"/>
          <a:lstStyle/>
          <a:p>
            <a:pPr indent="0" marL="0">
              <a:lnSpc>
                <a:spcPct val="102000"/>
              </a:lnSpc>
              <a:buNone/>
            </a:pPr>
            <a:r>
              <a:rPr lang="en-US" sz="850" dirty="0">
                <a:solidFill>
                  <a:schemeClr val="tx1"/>
                </a:solidFill>
              </a:rPr>
              <a:t>The fusion station and the snow-to-food plant do not exist at this size today. They are our team’s ideas for the future; no prototype has been tested.</a:t>
            </a:r>
            <a:endParaRPr lang="en-US" sz="850" dirty="0"/>
          </a:p>
        </p:txBody>
      </p:sp>
      <p:sp>
        <p:nvSpPr>
          <p:cNvPr id="15" name="text-1039"/>
          <p:cNvSpPr txBox="1"/>
          <p:nvPr/>
        </p:nvSpPr>
        <p:spPr>
          <a:xfrm>
            <a:off x="548640" y="2971800"/>
            <a:ext cx="6464808" cy="201168"/>
          </a:xfrm>
          <a:prstGeom prst="rect">
            <a:avLst/>
          </a:prstGeom>
          <a:noFill/>
          <a:ln/>
        </p:spPr>
        <p:txBody>
          <a:bodyPr wrap="square" lIns="0" tIns="0" rIns="0" bIns="0" rtlCol="0" anchor="t"/>
          <a:lstStyle/>
          <a:p>
            <a:pPr indent="0" marL="0">
              <a:buNone/>
            </a:pPr>
            <a:r>
              <a:rPr lang="en-US" sz="900" b="1" spc="300" kern="0" dirty="0">
                <a:solidFill>
                  <a:schemeClr val="tx2"/>
                </a:solidFill>
              </a:rPr>
              <a:t>REFERENCES</a:t>
            </a:r>
            <a:endParaRPr lang="en-US" sz="900" dirty="0"/>
          </a:p>
        </p:txBody>
      </p:sp>
      <p:sp>
        <p:nvSpPr>
          <p:cNvPr id="16" name="text-1040"/>
          <p:cNvSpPr txBox="1"/>
          <p:nvPr/>
        </p:nvSpPr>
        <p:spPr>
          <a:xfrm>
            <a:off x="548640"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  </a:t>
            </a:r>
            <a:pPr indent="0" marL="0">
              <a:lnSpc>
                <a:spcPct val="104000"/>
              </a:lnSpc>
              <a:spcAft>
                <a:spcPts val="600"/>
              </a:spcAft>
              <a:buNone/>
            </a:pPr>
            <a:r>
              <a:rPr lang="en-US" sz="950" dirty="0">
                <a:solidFill>
                  <a:schemeClr val="tx1"/>
                </a:solidFill>
              </a:rPr>
              <a:t>Rantanen, M. et al. (2022). The Arctic has warmed nearly four times faster than the globe since 1979. Communications Earth &amp; Environment, 3, 168. doi.org/10.1038/s43247-022-00498-3</a:t>
            </a:r>
            <a:endParaRPr lang="en-US" sz="950" dirty="0"/>
          </a:p>
          <a:p>
            <a:pPr indent="0" marL="0">
              <a:lnSpc>
                <a:spcPct val="104000"/>
              </a:lnSpc>
              <a:buNone/>
            </a:pPr>
            <a:r>
              <a:rPr lang="en-US" sz="950" b="1" dirty="0">
                <a:solidFill>
                  <a:schemeClr val="accent6"/>
                </a:solidFill>
              </a:rPr>
              <a:t>[2]  </a:t>
            </a:r>
            <a:pPr indent="0" marL="0">
              <a:lnSpc>
                <a:spcPct val="104000"/>
              </a:lnSpc>
              <a:spcAft>
                <a:spcPts val="600"/>
              </a:spcAft>
              <a:buNone/>
            </a:pPr>
            <a:r>
              <a:rPr lang="en-US" sz="950" dirty="0">
                <a:solidFill>
                  <a:schemeClr val="tx1"/>
                </a:solidFill>
              </a:rPr>
              <a:t>Hjort, J. et al. (2018). Degrading permafrost puts Arctic infrastructure at risk by mid-century. Nature Communications, 9, 5147. doi.org/10.1038/s41467-018-07557-4</a:t>
            </a:r>
            <a:endParaRPr lang="en-US" sz="950" dirty="0"/>
          </a:p>
          <a:p>
            <a:pPr indent="0" marL="0">
              <a:lnSpc>
                <a:spcPct val="104000"/>
              </a:lnSpc>
              <a:buNone/>
            </a:pPr>
            <a:r>
              <a:rPr lang="en-US" sz="950" b="1" dirty="0">
                <a:solidFill>
                  <a:schemeClr val="accent6"/>
                </a:solidFill>
              </a:rPr>
              <a:t>[3]  </a:t>
            </a:r>
            <a:pPr indent="0" marL="0">
              <a:lnSpc>
                <a:spcPct val="104000"/>
              </a:lnSpc>
              <a:spcAft>
                <a:spcPts val="600"/>
              </a:spcAft>
              <a:buNone/>
            </a:pPr>
            <a:r>
              <a:rPr lang="en-US" sz="950" dirty="0">
                <a:solidFill>
                  <a:schemeClr val="tx1"/>
                </a:solidFill>
              </a:rPr>
              <a:t>Arctic Human Development Report (2004). Stefansson Arctic Institute for the Arctic Council: about 4 million people live in the Arctic.</a:t>
            </a:r>
            <a:endParaRPr lang="en-US" sz="950" dirty="0"/>
          </a:p>
          <a:p>
            <a:pPr indent="0" marL="0">
              <a:lnSpc>
                <a:spcPct val="104000"/>
              </a:lnSpc>
              <a:buNone/>
            </a:pPr>
            <a:r>
              <a:rPr lang="en-US" sz="950" b="1" dirty="0">
                <a:solidFill>
                  <a:schemeClr val="accent6"/>
                </a:solidFill>
              </a:rPr>
              <a:t>[4]  </a:t>
            </a:r>
            <a:pPr indent="0" marL="0">
              <a:lnSpc>
                <a:spcPct val="104000"/>
              </a:lnSpc>
              <a:spcAft>
                <a:spcPts val="600"/>
              </a:spcAft>
              <a:buNone/>
            </a:pPr>
            <a:r>
              <a:rPr lang="en-US" sz="950" dirty="0">
                <a:solidFill>
                  <a:schemeClr val="tx1"/>
                </a:solidFill>
              </a:rPr>
              <a:t>ITER Organization (2024). Baseline 2024: press conference summary, July 2024. iter.org</a:t>
            </a:r>
            <a:endParaRPr lang="en-US" sz="950" dirty="0"/>
          </a:p>
          <a:p>
            <a:pPr indent="0" marL="0">
              <a:lnSpc>
                <a:spcPct val="104000"/>
              </a:lnSpc>
              <a:buNone/>
            </a:pPr>
            <a:r>
              <a:rPr lang="en-US" sz="950" b="1" dirty="0">
                <a:solidFill>
                  <a:schemeClr val="accent6"/>
                </a:solidFill>
              </a:rPr>
              <a:t>[5]  </a:t>
            </a:r>
            <a:pPr indent="0" marL="0">
              <a:lnSpc>
                <a:spcPct val="104000"/>
              </a:lnSpc>
              <a:spcAft>
                <a:spcPts val="600"/>
              </a:spcAft>
              <a:buNone/>
            </a:pPr>
            <a:r>
              <a:rPr lang="en-US" sz="950" dirty="0">
                <a:solidFill>
                  <a:schemeClr val="tx1"/>
                </a:solidFill>
              </a:rPr>
              <a:t>SPARC (tokamak). Wikipedia, accessed October 2026. en.wikipedia.org/wiki/SPARC_(tokamak)</a:t>
            </a:r>
            <a:endParaRPr lang="en-US" sz="950" dirty="0"/>
          </a:p>
          <a:p>
            <a:pPr indent="0" marL="0">
              <a:lnSpc>
                <a:spcPct val="104000"/>
              </a:lnSpc>
              <a:buNone/>
            </a:pPr>
            <a:r>
              <a:rPr lang="en-US" sz="950" b="1" dirty="0">
                <a:solidFill>
                  <a:schemeClr val="accent6"/>
                </a:solidFill>
              </a:rPr>
              <a:t>[6]  </a:t>
            </a:r>
            <a:pPr indent="0" marL="0">
              <a:lnSpc>
                <a:spcPct val="104000"/>
              </a:lnSpc>
              <a:spcAft>
                <a:spcPts val="600"/>
              </a:spcAft>
              <a:buNone/>
            </a:pPr>
            <a:r>
              <a:rPr lang="en-US" sz="950" dirty="0">
                <a:solidFill>
                  <a:schemeClr val="tx1"/>
                </a:solidFill>
              </a:rPr>
              <a:t>Solar Foods (2024). Factory 01 starts production of Solein in Vantaa, Finland (press release, 15 April 2024) and Factory 01 press kit. solarfoods.com</a:t>
            </a:r>
            <a:endParaRPr lang="en-US" sz="950" dirty="0"/>
          </a:p>
          <a:p>
            <a:pPr indent="0" marL="0">
              <a:lnSpc>
                <a:spcPct val="104000"/>
              </a:lnSpc>
              <a:buNone/>
            </a:pPr>
            <a:r>
              <a:rPr lang="en-US" sz="950" b="1" dirty="0">
                <a:solidFill>
                  <a:schemeClr val="accent6"/>
                </a:solidFill>
              </a:rPr>
              <a:t>[7]  </a:t>
            </a:r>
            <a:pPr indent="0" marL="0">
              <a:lnSpc>
                <a:spcPct val="104000"/>
              </a:lnSpc>
              <a:spcAft>
                <a:spcPts val="600"/>
              </a:spcAft>
              <a:buNone/>
            </a:pPr>
            <a:r>
              <a:rPr lang="en-US" sz="950" dirty="0">
                <a:solidFill>
                  <a:schemeClr val="tx1"/>
                </a:solidFill>
              </a:rPr>
              <a:t>Cai, T. et al. (2021). Cell-free chemoenzymatic starch synthesis from carbon dioxide. Science, 373, 1523–1527. doi.org/10.1126/science.abh4049</a:t>
            </a:r>
            <a:endParaRPr lang="en-US" sz="950" dirty="0"/>
          </a:p>
          <a:p>
            <a:pPr indent="0" marL="0">
              <a:lnSpc>
                <a:spcPct val="104000"/>
              </a:lnSpc>
              <a:buNone/>
            </a:pPr>
            <a:r>
              <a:rPr lang="en-US" sz="950" b="1" dirty="0">
                <a:solidFill>
                  <a:schemeClr val="accent6"/>
                </a:solidFill>
              </a:rPr>
              <a:t>[8]  </a:t>
            </a:r>
            <a:pPr indent="0" marL="0">
              <a:lnSpc>
                <a:spcPct val="104000"/>
              </a:lnSpc>
              <a:spcAft>
                <a:spcPts val="600"/>
              </a:spcAft>
              <a:buNone/>
            </a:pPr>
            <a:r>
              <a:rPr lang="en-US" sz="950" dirty="0">
                <a:solidFill>
                  <a:schemeClr val="tx1"/>
                </a:solidFill>
              </a:rPr>
              <a:t>Dezeen (9 September 2021). Climeworks opens Orca, a direct air capture plant in Iceland. dezeen.com</a:t>
            </a:r>
            <a:endParaRPr lang="en-US" sz="950" dirty="0"/>
          </a:p>
          <a:p>
            <a:pPr indent="0" marL="0">
              <a:lnSpc>
                <a:spcPct val="104000"/>
              </a:lnSpc>
              <a:buNone/>
            </a:pPr>
            <a:r>
              <a:rPr lang="en-US" sz="950" b="1" dirty="0">
                <a:solidFill>
                  <a:schemeClr val="accent6"/>
                </a:solidFill>
              </a:rPr>
              <a:t>[9]  </a:t>
            </a:r>
            <a:pPr indent="0" marL="0">
              <a:lnSpc>
                <a:spcPct val="104000"/>
              </a:lnSpc>
              <a:spcAft>
                <a:spcPts val="600"/>
              </a:spcAft>
              <a:buNone/>
            </a:pPr>
            <a:r>
              <a:rPr lang="en-US" sz="950" dirty="0">
                <a:solidFill>
                  <a:schemeClr val="tx1"/>
                </a:solidFill>
              </a:rPr>
              <a:t>Blue Lagoon (geothermal spa). Wikipedia, accessed October 2026. en.wikipedia.org/wiki/Blue_Lagoon_(geothermal_spa)</a:t>
            </a:r>
            <a:endParaRPr lang="en-US" sz="950" dirty="0"/>
          </a:p>
          <a:p>
            <a:pPr indent="0" marL="0">
              <a:lnSpc>
                <a:spcPct val="104000"/>
              </a:lnSpc>
              <a:buNone/>
            </a:pPr>
            <a:r>
              <a:rPr lang="en-US" sz="950" b="1" dirty="0">
                <a:solidFill>
                  <a:schemeClr val="accent6"/>
                </a:solidFill>
              </a:rPr>
              <a:t>[10]  </a:t>
            </a:r>
            <a:pPr indent="0" marL="0">
              <a:lnSpc>
                <a:spcPct val="104000"/>
              </a:lnSpc>
              <a:spcAft>
                <a:spcPts val="600"/>
              </a:spcAft>
              <a:buNone/>
            </a:pPr>
            <a:r>
              <a:rPr lang="en-US" sz="950" dirty="0">
                <a:solidFill>
                  <a:schemeClr val="tx1"/>
                </a:solidFill>
              </a:rPr>
              <a:t>Swissinfo. Stone and water temple delights the senses (the Therme Vals by Peter Zumthor). swissinfo.ch</a:t>
            </a:r>
            <a:endParaRPr lang="en-US" sz="950" dirty="0"/>
          </a:p>
        </p:txBody>
      </p:sp>
      <p:sp>
        <p:nvSpPr>
          <p:cNvPr id="17" name="text-1041"/>
          <p:cNvSpPr txBox="1"/>
          <p:nvPr/>
        </p:nvSpPr>
        <p:spPr>
          <a:xfrm>
            <a:off x="3918204" y="3246120"/>
            <a:ext cx="3095244" cy="5623560"/>
          </a:xfrm>
          <a:prstGeom prst="rect">
            <a:avLst/>
          </a:prstGeom>
          <a:noFill/>
          <a:ln/>
        </p:spPr>
        <p:txBody>
          <a:bodyPr wrap="square" lIns="0" tIns="0" rIns="0" bIns="0" rtlCol="0" anchor="t"/>
          <a:lstStyle/>
          <a:p>
            <a:pPr indent="0" marL="0">
              <a:lnSpc>
                <a:spcPct val="104000"/>
              </a:lnSpc>
              <a:buNone/>
            </a:pPr>
            <a:r>
              <a:rPr lang="en-US" sz="950" b="1" dirty="0">
                <a:solidFill>
                  <a:schemeClr val="accent6"/>
                </a:solidFill>
              </a:rPr>
              <a:t>[11]  </a:t>
            </a:r>
            <a:pPr indent="0" marL="0">
              <a:lnSpc>
                <a:spcPct val="104000"/>
              </a:lnSpc>
              <a:spcAft>
                <a:spcPts val="600"/>
              </a:spcAft>
              <a:buNone/>
            </a:pPr>
            <a:r>
              <a:rPr lang="en-US" sz="950" dirty="0">
                <a:solidFill>
                  <a:schemeClr val="tx1"/>
                </a:solidFill>
              </a:rPr>
              <a:t>ITER Organization. Tritium breeding. iter.org</a:t>
            </a:r>
            <a:endParaRPr lang="en-US" sz="950" dirty="0"/>
          </a:p>
          <a:p>
            <a:pPr indent="0" marL="0">
              <a:lnSpc>
                <a:spcPct val="104000"/>
              </a:lnSpc>
              <a:buNone/>
            </a:pPr>
            <a:r>
              <a:rPr lang="en-US" sz="950" b="1" dirty="0">
                <a:solidFill>
                  <a:schemeClr val="accent6"/>
                </a:solidFill>
              </a:rPr>
              <a:t>[12]  </a:t>
            </a:r>
            <a:pPr indent="0" marL="0">
              <a:lnSpc>
                <a:spcPct val="104000"/>
              </a:lnSpc>
              <a:spcAft>
                <a:spcPts val="600"/>
              </a:spcAft>
              <a:buNone/>
            </a:pPr>
            <a:r>
              <a:rPr lang="en-US" sz="950" dirty="0">
                <a:solidFill>
                  <a:schemeClr val="tx1"/>
                </a:solidFill>
              </a:rPr>
              <a:t>Kramer, D. (29 April 2016). ITER costs are pinned down, with caveats. Physics Today. physicstoday.aip.org</a:t>
            </a:r>
            <a:endParaRPr lang="en-US" sz="950" dirty="0"/>
          </a:p>
          <a:p>
            <a:pPr indent="0" marL="0">
              <a:lnSpc>
                <a:spcPct val="104000"/>
              </a:lnSpc>
              <a:buNone/>
            </a:pPr>
            <a:r>
              <a:rPr lang="en-US" sz="950" b="1" dirty="0">
                <a:solidFill>
                  <a:schemeClr val="accent6"/>
                </a:solidFill>
              </a:rPr>
              <a:t>[13]  </a:t>
            </a:r>
            <a:pPr indent="0" marL="0">
              <a:lnSpc>
                <a:spcPct val="104000"/>
              </a:lnSpc>
              <a:spcAft>
                <a:spcPts val="600"/>
              </a:spcAft>
              <a:buNone/>
            </a:pPr>
            <a:r>
              <a:rPr lang="en-US" sz="950" dirty="0">
                <a:solidFill>
                  <a:schemeClr val="tx1"/>
                </a:solidFill>
              </a:rPr>
              <a:t>Sendi, M., Bui, M., Mac Dowell, N. &amp; Fennell, P. (2024). Geospatial techno-economic and environmental assessment of different energy options for solid sorbent direct air capture. Cell Reports Sustainability, 1(8), 100151.</a:t>
            </a:r>
            <a:endParaRPr lang="en-US" sz="950" dirty="0"/>
          </a:p>
          <a:p>
            <a:pPr indent="0" marL="0">
              <a:lnSpc>
                <a:spcPct val="104000"/>
              </a:lnSpc>
              <a:buNone/>
            </a:pPr>
            <a:r>
              <a:rPr lang="en-US" sz="950" b="1" dirty="0">
                <a:solidFill>
                  <a:schemeClr val="accent6"/>
                </a:solidFill>
              </a:rPr>
              <a:t>[14]  </a:t>
            </a:r>
            <a:pPr indent="0" marL="0">
              <a:lnSpc>
                <a:spcPct val="104000"/>
              </a:lnSpc>
              <a:spcAft>
                <a:spcPts val="600"/>
              </a:spcAft>
              <a:buNone/>
            </a:pPr>
            <a:r>
              <a:rPr lang="en-US" sz="950" dirty="0">
                <a:solidFill>
                  <a:schemeClr val="tx1"/>
                </a:solidFill>
              </a:rPr>
              <a:t>Hasemyer, D. (17 July 2021). Thawing permafrost is artificially chilled to stabilize Alaska oil pipeline. Scientific American / Inside Climate News.</a:t>
            </a:r>
            <a:endParaRPr lang="en-US" sz="950" dirty="0"/>
          </a:p>
          <a:p>
            <a:pPr indent="0" marL="0">
              <a:lnSpc>
                <a:spcPct val="104000"/>
              </a:lnSpc>
              <a:buNone/>
            </a:pPr>
            <a:r>
              <a:rPr lang="en-US" sz="950" b="1" dirty="0">
                <a:solidFill>
                  <a:schemeClr val="accent6"/>
                </a:solidFill>
              </a:rPr>
              <a:t>[15]  </a:t>
            </a:r>
            <a:pPr indent="0" marL="0">
              <a:lnSpc>
                <a:spcPct val="104000"/>
              </a:lnSpc>
              <a:spcAft>
                <a:spcPts val="600"/>
              </a:spcAft>
              <a:buNone/>
            </a:pPr>
            <a:r>
              <a:rPr lang="en-US" sz="950" dirty="0">
                <a:solidFill>
                  <a:schemeClr val="tx1"/>
                </a:solidFill>
              </a:rPr>
              <a:t>AECO. Arctic fox: wildlife guidelines. aeco.no/guideline/wildlife/arctic-fox</a:t>
            </a:r>
            <a:endParaRPr lang="en-US" sz="950" dirty="0"/>
          </a:p>
          <a:p>
            <a:pPr indent="0" marL="0">
              <a:lnSpc>
                <a:spcPct val="104000"/>
              </a:lnSpc>
              <a:buNone/>
            </a:pPr>
            <a:r>
              <a:rPr lang="en-US" sz="950" b="1" dirty="0">
                <a:solidFill>
                  <a:schemeClr val="accent6"/>
                </a:solidFill>
              </a:rPr>
              <a:t>[16]  </a:t>
            </a:r>
            <a:pPr indent="0" marL="0">
              <a:lnSpc>
                <a:spcPct val="104000"/>
              </a:lnSpc>
              <a:spcAft>
                <a:spcPts val="600"/>
              </a:spcAft>
              <a:buNone/>
            </a:pPr>
            <a:r>
              <a:rPr lang="en-US" sz="950" dirty="0">
                <a:solidFill>
                  <a:schemeClr val="tx1"/>
                </a:solidFill>
              </a:rPr>
              <a:t>Barbosa, G. L. et al. (2015). Comparison of land, water, and energy requirements of lettuce grown using hydroponic vs. conventional agricultural methods. Int. J. Environ. Res. Public Health, 12(6), 6879–6891.</a:t>
            </a:r>
            <a:endParaRPr lang="en-US" sz="950" dirty="0"/>
          </a:p>
          <a:p>
            <a:pPr indent="0" marL="0">
              <a:lnSpc>
                <a:spcPct val="104000"/>
              </a:lnSpc>
              <a:buNone/>
            </a:pPr>
            <a:r>
              <a:rPr lang="en-US" sz="950" b="1" dirty="0">
                <a:solidFill>
                  <a:schemeClr val="accent6"/>
                </a:solidFill>
              </a:rPr>
              <a:t>[17]  </a:t>
            </a:r>
            <a:pPr indent="0" marL="0">
              <a:lnSpc>
                <a:spcPct val="104000"/>
              </a:lnSpc>
              <a:spcAft>
                <a:spcPts val="600"/>
              </a:spcAft>
              <a:buNone/>
            </a:pPr>
            <a:r>
              <a:rPr lang="en-US" sz="950" dirty="0">
                <a:solidFill>
                  <a:schemeClr val="tx1"/>
                </a:solidFill>
              </a:rPr>
              <a:t>pv magazine (23 May 2022). Bifacial solar modules shine in snowy environments. pv-magazine.com</a:t>
            </a:r>
            <a:endParaRPr lang="en-US" sz="950" dirty="0"/>
          </a:p>
          <a:p>
            <a:pPr indent="0" marL="0">
              <a:lnSpc>
                <a:spcPct val="104000"/>
              </a:lnSpc>
              <a:buNone/>
            </a:pPr>
            <a:r>
              <a:rPr lang="en-US" sz="950" b="1" dirty="0">
                <a:solidFill>
                  <a:schemeClr val="accent6"/>
                </a:solidFill>
              </a:rPr>
              <a:t>[18]  </a:t>
            </a:r>
            <a:pPr indent="0" marL="0">
              <a:lnSpc>
                <a:spcPct val="104000"/>
              </a:lnSpc>
              <a:spcAft>
                <a:spcPts val="600"/>
              </a:spcAft>
              <a:buNone/>
            </a:pPr>
            <a:r>
              <a:rPr lang="en-US" sz="950" dirty="0">
                <a:solidFill>
                  <a:schemeClr val="tx1"/>
                </a:solidFill>
              </a:rPr>
              <a:t>Iceland Review. Does Reykjavík have heated sidewalks? icelandreview.com</a:t>
            </a:r>
            <a:endParaRPr lang="en-US" sz="950" dirty="0"/>
          </a:p>
          <a:p>
            <a:pPr indent="0" marL="0">
              <a:lnSpc>
                <a:spcPct val="104000"/>
              </a:lnSpc>
              <a:buNone/>
            </a:pPr>
            <a:r>
              <a:rPr lang="en-US" sz="950" b="1" dirty="0">
                <a:solidFill>
                  <a:schemeClr val="accent6"/>
                </a:solidFill>
              </a:rPr>
              <a:t>[19]  </a:t>
            </a:r>
            <a:pPr indent="0" marL="0">
              <a:lnSpc>
                <a:spcPct val="104000"/>
              </a:lnSpc>
              <a:spcAft>
                <a:spcPts val="600"/>
              </a:spcAft>
              <a:buNone/>
            </a:pPr>
            <a:r>
              <a:rPr lang="en-US" sz="950" dirty="0">
                <a:solidFill>
                  <a:schemeClr val="tx1"/>
                </a:solidFill>
              </a:rPr>
              <a:t>Visit Tromsø. Winter in Tromsø: the polar night. visittromso.no</a:t>
            </a:r>
            <a:endParaRPr lang="en-US" sz="950" dirty="0"/>
          </a:p>
        </p:txBody>
      </p:sp>
      <p:sp>
        <p:nvSpPr>
          <p:cNvPr id="18" name="card-1042"/>
          <p:cNvSpPr/>
          <p:nvPr/>
        </p:nvSpPr>
        <p:spPr>
          <a:xfrm>
            <a:off x="548640" y="9006840"/>
            <a:ext cx="6464808" cy="960120"/>
          </a:xfrm>
          <a:prstGeom prst="roundRect">
            <a:avLst>
              <a:gd name="adj" fmla="val 7619"/>
            </a:avLst>
          </a:prstGeom>
          <a:solidFill>
            <a:schemeClr val="bg2"/>
          </a:solidFill>
          <a:ln w="12700">
            <a:solidFill>
              <a:schemeClr val="bg2"/>
            </a:solidFill>
            <a:prstDash val="solid"/>
          </a:ln>
        </p:spPr>
      </p:sp>
      <p:sp>
        <p:nvSpPr>
          <p:cNvPr id="19" name="text-1043"/>
          <p:cNvSpPr txBox="1"/>
          <p:nvPr/>
        </p:nvSpPr>
        <p:spPr>
          <a:xfrm>
            <a:off x="685800" y="9079992"/>
            <a:ext cx="6190488" cy="822960"/>
          </a:xfrm>
          <a:prstGeom prst="rect">
            <a:avLst/>
          </a:prstGeom>
          <a:noFill/>
          <a:ln/>
        </p:spPr>
        <p:txBody>
          <a:bodyPr wrap="square" lIns="0" tIns="0" rIns="0" bIns="0" rtlCol="0" anchor="ctr"/>
          <a:lstStyle/>
          <a:p>
            <a:pPr indent="0" marL="0">
              <a:lnSpc>
                <a:spcPct val="104000"/>
              </a:lnSpc>
              <a:buNone/>
            </a:pPr>
            <a:r>
              <a:rPr lang="en-US" sz="900" b="1" spc="200" kern="0" dirty="0">
                <a:solidFill>
                  <a:schemeClr val="accent6"/>
                </a:solidFill>
              </a:rPr>
              <a:t>PICTURES  </a:t>
            </a:r>
            <a:pPr indent="0" marL="0">
              <a:lnSpc>
                <a:spcPct val="104000"/>
              </a:lnSpc>
              <a:spcAft>
                <a:spcPts val="400"/>
              </a:spcAft>
              <a:buNone/>
            </a:pPr>
            <a:r>
              <a:rPr lang="en-US" sz="900" dirty="0">
                <a:solidFill>
                  <a:schemeClr val="tx1"/>
                </a:solidFill>
              </a:rPr>
              <a:t>Every picture, plan and diagram in this magazine was made from our own 3D model of Aurora Haven (built with three.js). Text facts about the city come from our city plan and its place cards.</a:t>
            </a:r>
            <a:endParaRPr lang="en-US" sz="900" dirty="0"/>
          </a:p>
          <a:p>
            <a:pPr indent="0" marL="0">
              <a:lnSpc>
                <a:spcPct val="104000"/>
              </a:lnSpc>
              <a:buNone/>
            </a:pPr>
            <a:r>
              <a:rPr lang="en-US" sz="900" b="1" spc="200" kern="0" dirty="0">
                <a:solidFill>
                  <a:schemeClr val="accent6"/>
                </a:solidFill>
              </a:rPr>
              <a:t>AI USE  </a:t>
            </a:r>
            <a:pPr indent="0" marL="0">
              <a:lnSpc>
                <a:spcPct val="104000"/>
              </a:lnSpc>
              <a:buNone/>
            </a:pPr>
            <a:r>
              <a:rPr lang="en-US" sz="900" dirty="0">
                <a:solidFill>
                  <a:schemeClr val="tx1"/>
                </a:solidFill>
              </a:rPr>
              <a:t>[Describe how your team used AI tools, for example for brainstorming, layout and language checks.]</a:t>
            </a:r>
            <a:endParaRPr lang="en-US" sz="900" dirty="0"/>
          </a:p>
        </p:txBody>
      </p:sp>
      <p:sp>
        <p:nvSpPr>
          <p:cNvPr id="25" name="Slide Number Placeholder 0"/>
          <p:cNvSpPr>
            <a:spLocks noGrp="1"/>
          </p:cNvSpPr>
          <p:nvPr>
            <p:ph type="sldNum" sz="quarter" idx="4294967295"/>
          </p:nvPr>
        </p:nvSpPr>
        <p:spPr>
          <a:xfrm>
            <a:off x="548640" y="10177272"/>
            <a:ext cx="411480" cy="219456"/>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tx1"/>
                </a:solidFill>
              </a:defRPr>
            </a:lvl1pPr>
          </a:lstStyle>
          <a:p>
            <a:pPr algn="l"/>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back-picture" descr="/home/user/chatbox-bi-n-o/magazine/assets/renders/back.jpg">    </p:cNvPr>
          <p:cNvPicPr>
            <a:picLocks noChangeAspect="1"/>
          </p:cNvPicPr>
          <p:nvPr/>
        </p:nvPicPr>
        <p:blipFill>
          <a:blip r:embed="rId1"/>
          <a:stretch>
            <a:fillRect/>
          </a:stretch>
        </p:blipFill>
        <p:spPr>
          <a:xfrm>
            <a:off x="0" y="0"/>
            <a:ext cx="7562088" cy="10689336"/>
          </a:xfrm>
          <a:prstGeom prst="rect">
            <a:avLst/>
          </a:prstGeom>
        </p:spPr>
      </p:pic>
      <p:sp>
        <p:nvSpPr>
          <p:cNvPr id="3" name="kicker-dot-1044"/>
          <p:cNvSpPr/>
          <p:nvPr/>
        </p:nvSpPr>
        <p:spPr>
          <a:xfrm>
            <a:off x="548640" y="589788"/>
            <a:ext cx="100584" cy="100584"/>
          </a:xfrm>
          <a:prstGeom prst="ellipse">
            <a:avLst/>
          </a:prstGeom>
          <a:solidFill>
            <a:schemeClr val="accent1"/>
          </a:solidFill>
          <a:ln w="12700">
            <a:solidFill>
              <a:schemeClr val="accent1"/>
            </a:solidFill>
            <a:prstDash val="solid"/>
          </a:ln>
        </p:spPr>
      </p:sp>
      <p:sp>
        <p:nvSpPr>
          <p:cNvPr id="4" name="text-1045"/>
          <p:cNvSpPr txBox="1"/>
          <p:nvPr/>
        </p:nvSpPr>
        <p:spPr>
          <a:xfrm>
            <a:off x="731520" y="548640"/>
            <a:ext cx="5486400" cy="201168"/>
          </a:xfrm>
          <a:prstGeom prst="rect">
            <a:avLst/>
          </a:prstGeom>
          <a:noFill/>
          <a:ln/>
        </p:spPr>
        <p:txBody>
          <a:bodyPr wrap="square" lIns="0" tIns="0" rIns="0" bIns="0" rtlCol="0" anchor="t"/>
          <a:lstStyle/>
          <a:p>
            <a:pPr indent="0" marL="0">
              <a:buNone/>
            </a:pPr>
            <a:r>
              <a:rPr lang="en-US" sz="900" b="1" spc="300" kern="0" dirty="0">
                <a:solidFill>
                  <a:schemeClr val="accent1"/>
                </a:solidFill>
              </a:rPr>
              <a:t>JOIN US</a:t>
            </a:r>
            <a:endParaRPr lang="en-US" sz="900" dirty="0"/>
          </a:p>
        </p:txBody>
      </p:sp>
      <p:sp>
        <p:nvSpPr>
          <p:cNvPr id="5" name="text-1046"/>
          <p:cNvSpPr txBox="1"/>
          <p:nvPr/>
        </p:nvSpPr>
        <p:spPr>
          <a:xfrm>
            <a:off x="548640" y="777240"/>
            <a:ext cx="3200400" cy="1188720"/>
          </a:xfrm>
          <a:prstGeom prst="rect">
            <a:avLst/>
          </a:prstGeom>
          <a:noFill/>
          <a:ln/>
          <a:effectLst>
            <a:outerShdw sx="100000" sy="100000" kx="0" ky="0" algn="bl" rotWithShape="0" blurRad="76200" dist="12700" dir="5400000">
              <a:srgbClr val="06102A">
                <a:alpha val="60000"/>
              </a:srgbClr>
            </a:outerShdw>
          </a:effectLst>
        </p:spPr>
        <p:txBody>
          <a:bodyPr wrap="square" lIns="0" tIns="0" rIns="0" bIns="0" rtlCol="0" anchor="t"/>
          <a:lstStyle/>
          <a:p>
            <a:pPr indent="0" marL="0">
              <a:lnSpc>
                <a:spcPct val="92000"/>
              </a:lnSpc>
              <a:buNone/>
            </a:pPr>
            <a:r>
              <a:rPr lang="en-US" sz="3600" b="1" dirty="0">
                <a:solidFill>
                  <a:schemeClr val="bg1"/>
                </a:solidFill>
                <a:latin typeface="+mj-lt" pitchFamily="34" charset="0"/>
                <a:ea typeface="+mj-lt" pitchFamily="34" charset="-122"/>
                <a:cs typeface="+mj-lt" pitchFamily="34" charset="-120"/>
              </a:rPr>
              <a:t>Warm, Green and Ready</a:t>
            </a:r>
            <a:endParaRPr lang="en-US" sz="3600" dirty="0"/>
          </a:p>
        </p:txBody>
      </p:sp>
      <p:sp>
        <p:nvSpPr>
          <p:cNvPr id="6" name="panel-1047"/>
          <p:cNvSpPr/>
          <p:nvPr/>
        </p:nvSpPr>
        <p:spPr>
          <a:xfrm>
            <a:off x="365760" y="1965960"/>
            <a:ext cx="3246120" cy="3108960"/>
          </a:xfrm>
          <a:prstGeom prst="rect">
            <a:avLst/>
          </a:prstGeom>
          <a:solidFill>
            <a:schemeClr val="tx1">
              <a:alpha val="72000"/>
            </a:schemeClr>
          </a:solidFill>
          <a:ln w="12700">
            <a:solidFill>
              <a:schemeClr val="tx1">
                <a:alpha val="0"/>
              </a:schemeClr>
            </a:solidFill>
            <a:prstDash val="solid"/>
          </a:ln>
        </p:spPr>
      </p:sp>
      <p:sp>
        <p:nvSpPr>
          <p:cNvPr id="7" name="text-1048"/>
          <p:cNvSpPr txBox="1"/>
          <p:nvPr/>
        </p:nvSpPr>
        <p:spPr>
          <a:xfrm>
            <a:off x="548640" y="2103120"/>
            <a:ext cx="2880360" cy="2194560"/>
          </a:xfrm>
          <a:prstGeom prst="rect">
            <a:avLst/>
          </a:prstGeom>
          <a:noFill/>
          <a:ln/>
        </p:spPr>
        <p:txBody>
          <a:bodyPr wrap="square" lIns="0" tIns="0" rIns="0" bIns="0" rtlCol="0" anchor="t"/>
          <a:lstStyle/>
          <a:p>
            <a:pPr indent="0" marL="0">
              <a:lnSpc>
                <a:spcPct val="108000"/>
              </a:lnSpc>
              <a:buNone/>
            </a:pPr>
            <a:r>
              <a:rPr lang="en-US" sz="950" dirty="0">
                <a:solidFill>
                  <a:schemeClr val="bg1"/>
                </a:solidFill>
              </a:rPr>
              <a:t>As we conclude this feature on Aurora Haven, we are left with more than just an impression of futuristic design – we are reminded of our shared responsibility toward the planet. The project clearly demonstrates that advanced technology and nature can coexist in harmony when guided by vision and innovation. Aurora Haven not only sets a precedent for resilient urban planning in extreme climates, but also serves as a powerful inspiration for a sustainable future where human communities are built to endure. May the concepts presented here spark further dialog and inspire bold solutions for generations to come.</a:t>
            </a:r>
            <a:endParaRPr lang="en-US" sz="950" dirty="0"/>
          </a:p>
        </p:txBody>
      </p:sp>
      <p:sp>
        <p:nvSpPr>
          <p:cNvPr id="8" name="text-1049"/>
          <p:cNvSpPr txBox="1"/>
          <p:nvPr/>
        </p:nvSpPr>
        <p:spPr>
          <a:xfrm>
            <a:off x="548640" y="4114800"/>
            <a:ext cx="2880360" cy="868680"/>
          </a:xfrm>
          <a:prstGeom prst="rect">
            <a:avLst/>
          </a:prstGeom>
          <a:noFill/>
          <a:ln/>
        </p:spPr>
        <p:txBody>
          <a:bodyPr wrap="square" lIns="0" tIns="0" rIns="0" bIns="0" rtlCol="0" anchor="t"/>
          <a:lstStyle/>
          <a:p>
            <a:pPr indent="0" marL="0">
              <a:lnSpc>
                <a:spcPct val="108000"/>
              </a:lnSpc>
              <a:buNone/>
            </a:pPr>
            <a:r>
              <a:rPr lang="en-US" sz="950" b="1" dirty="0">
                <a:solidFill>
                  <a:schemeClr val="accent1"/>
                </a:solidFill>
              </a:rPr>
              <a:t>Be one of the first polar citizens. </a:t>
            </a:r>
            <a:pPr indent="0" marL="0">
              <a:lnSpc>
                <a:spcPct val="108000"/>
              </a:lnSpc>
              <a:buNone/>
            </a:pPr>
            <a:r>
              <a:rPr lang="en-US" sz="950" dirty="0">
                <a:solidFill>
                  <a:schemeClr val="bg1"/>
                </a:solidFill>
              </a:rPr>
              <a:t>Buy a community share in our wind and solar farms through the Aurora Green Finance Hall, study polar science at Arctic University, or come for a night at the Mount Aurora spa.</a:t>
            </a:r>
            <a:endParaRPr lang="en-US" sz="950" dirty="0"/>
          </a:p>
        </p:txBody>
      </p:sp>
      <p:sp>
        <p:nvSpPr>
          <p:cNvPr id="9" name="panel-1050"/>
          <p:cNvSpPr/>
          <p:nvPr/>
        </p:nvSpPr>
        <p:spPr>
          <a:xfrm>
            <a:off x="3794760" y="502920"/>
            <a:ext cx="3218688" cy="4572000"/>
          </a:xfrm>
          <a:prstGeom prst="rect">
            <a:avLst/>
          </a:prstGeom>
          <a:solidFill>
            <a:schemeClr val="tx1">
              <a:alpha val="72000"/>
            </a:schemeClr>
          </a:solidFill>
          <a:ln w="12700">
            <a:solidFill>
              <a:schemeClr val="tx1">
                <a:alpha val="0"/>
              </a:schemeClr>
            </a:solidFill>
            <a:prstDash val="solid"/>
          </a:ln>
        </p:spPr>
      </p:sp>
      <p:pic>
        <p:nvPicPr>
          <p:cNvPr id="10" name="city-logo" descr="/home/user/chatbox-bi-n-o/magazine/assets/ui/logo.png">    </p:cNvPr>
          <p:cNvPicPr>
            <a:picLocks noChangeAspect="1"/>
          </p:cNvPicPr>
          <p:nvPr/>
        </p:nvPicPr>
        <p:blipFill>
          <a:blip r:embed="rId2"/>
          <a:stretch>
            <a:fillRect/>
          </a:stretch>
        </p:blipFill>
        <p:spPr>
          <a:xfrm>
            <a:off x="3977640" y="685800"/>
            <a:ext cx="960120" cy="960120"/>
          </a:xfrm>
          <a:prstGeom prst="rect">
            <a:avLst/>
          </a:prstGeom>
        </p:spPr>
      </p:pic>
      <p:sp>
        <p:nvSpPr>
          <p:cNvPr id="11" name="text-1051"/>
          <p:cNvSpPr txBox="1"/>
          <p:nvPr/>
        </p:nvSpPr>
        <p:spPr>
          <a:xfrm>
            <a:off x="5074920" y="841248"/>
            <a:ext cx="1801368" cy="292608"/>
          </a:xfrm>
          <a:prstGeom prst="rect">
            <a:avLst/>
          </a:prstGeom>
          <a:noFill/>
          <a:ln/>
        </p:spPr>
        <p:txBody>
          <a:bodyPr wrap="square" lIns="0" tIns="0" rIns="0" bIns="0" rtlCol="0" anchor="t"/>
          <a:lstStyle/>
          <a:p>
            <a:pPr indent="0" marL="0">
              <a:buNone/>
            </a:pPr>
            <a:r>
              <a:rPr lang="en-US" sz="1600" b="1" spc="100" kern="0" dirty="0">
                <a:solidFill>
                  <a:schemeClr val="bg1"/>
                </a:solidFill>
                <a:latin typeface="+mj-lt" pitchFamily="34" charset="0"/>
                <a:ea typeface="+mj-lt" pitchFamily="34" charset="-122"/>
                <a:cs typeface="+mj-lt" pitchFamily="34" charset="-120"/>
              </a:rPr>
              <a:t>AURORA HAVEN</a:t>
            </a:r>
            <a:endParaRPr lang="en-US" sz="1600" dirty="0"/>
          </a:p>
        </p:txBody>
      </p:sp>
      <p:sp>
        <p:nvSpPr>
          <p:cNvPr id="12" name="text-1052"/>
          <p:cNvSpPr txBox="1"/>
          <p:nvPr/>
        </p:nvSpPr>
        <p:spPr>
          <a:xfrm>
            <a:off x="5074920" y="1143000"/>
            <a:ext cx="1801368" cy="274320"/>
          </a:xfrm>
          <a:prstGeom prst="rect">
            <a:avLst/>
          </a:prstGeom>
          <a:noFill/>
          <a:ln/>
        </p:spPr>
        <p:txBody>
          <a:bodyPr wrap="square" lIns="0" tIns="0" rIns="0" bIns="0" rtlCol="0" anchor="t"/>
          <a:lstStyle/>
          <a:p>
            <a:pPr indent="0" marL="0">
              <a:buNone/>
            </a:pPr>
            <a:r>
              <a:rPr lang="en-US" sz="1100" i="1" dirty="0">
                <a:solidFill>
                  <a:schemeClr val="bg2"/>
                </a:solidFill>
                <a:latin typeface="+mj-lt" pitchFamily="34" charset="0"/>
                <a:ea typeface="+mj-lt" pitchFamily="34" charset="-122"/>
                <a:cs typeface="+mj-lt" pitchFamily="34" charset="-120"/>
              </a:rPr>
              <a:t>A polar city that thrives</a:t>
            </a:r>
            <a:endParaRPr lang="en-US" sz="1100" dirty="0"/>
          </a:p>
        </p:txBody>
      </p:sp>
      <p:sp>
        <p:nvSpPr>
          <p:cNvPr id="13" name="text-1053"/>
          <p:cNvSpPr txBox="1"/>
          <p:nvPr/>
        </p:nvSpPr>
        <p:spPr>
          <a:xfrm>
            <a:off x="3977640" y="1874520"/>
            <a:ext cx="1801368" cy="1097280"/>
          </a:xfrm>
          <a:prstGeom prst="rect">
            <a:avLst/>
          </a:prstGeom>
          <a:noFill/>
          <a:ln/>
        </p:spPr>
        <p:txBody>
          <a:bodyPr wrap="square" lIns="0" tIns="0" rIns="0" bIns="0" rtlCol="0" anchor="t"/>
          <a:lstStyle/>
          <a:p>
            <a:pPr indent="0" marL="0">
              <a:lnSpc>
                <a:spcPct val="108000"/>
              </a:lnSpc>
              <a:spcAft>
                <a:spcPts val="400"/>
              </a:spcAft>
              <a:buNone/>
            </a:pPr>
            <a:r>
              <a:rPr lang="en-US" sz="950" b="1" spc="200" kern="0" dirty="0">
                <a:solidFill>
                  <a:schemeClr val="accent1"/>
                </a:solidFill>
              </a:rPr>
              <a:t>CONTACT THE TEAM</a:t>
            </a:r>
            <a:endParaRPr lang="en-US" sz="950" dirty="0"/>
          </a:p>
          <a:p>
            <a:pPr indent="0" marL="0">
              <a:lnSpc>
                <a:spcPct val="108000"/>
              </a:lnSpc>
              <a:buNone/>
            </a:pPr>
            <a:r>
              <a:rPr lang="en-US" sz="950" b="1" dirty="0">
                <a:solidFill>
                  <a:schemeClr val="bg1"/>
                </a:solidFill>
              </a:rPr>
              <a:t>[Group name]</a:t>
            </a:r>
            <a:endParaRPr lang="en-US" sz="950" dirty="0"/>
          </a:p>
          <a:p>
            <a:pPr indent="0" marL="0">
              <a:lnSpc>
                <a:spcPct val="108000"/>
              </a:lnSpc>
              <a:buNone/>
            </a:pPr>
            <a:r>
              <a:rPr lang="en-US" sz="950" dirty="0">
                <a:solidFill>
                  <a:schemeClr val="bg1"/>
                </a:solidFill>
              </a:rPr>
              <a:t>[Member names]</a:t>
            </a:r>
            <a:endParaRPr lang="en-US" sz="950" dirty="0"/>
          </a:p>
          <a:p>
            <a:pPr indent="0" marL="0">
              <a:lnSpc>
                <a:spcPct val="108000"/>
              </a:lnSpc>
              <a:buNone/>
            </a:pPr>
            <a:r>
              <a:rPr lang="en-US" sz="950" dirty="0">
                <a:solidFill>
                  <a:schemeClr val="bg1"/>
                </a:solidFill>
              </a:rPr>
              <a:t>[Class] · [School]</a:t>
            </a:r>
            <a:endParaRPr lang="en-US" sz="950" dirty="0"/>
          </a:p>
          <a:p>
            <a:pPr indent="0" marL="0">
              <a:lnSpc>
                <a:spcPct val="108000"/>
              </a:lnSpc>
              <a:buNone/>
            </a:pPr>
            <a:r>
              <a:rPr lang="en-US" sz="950" dirty="0">
                <a:solidFill>
                  <a:schemeClr val="bg1"/>
                </a:solidFill>
              </a:rPr>
              <a:t>[Team email]</a:t>
            </a:r>
            <a:endParaRPr lang="en-US" sz="950" dirty="0"/>
          </a:p>
        </p:txBody>
      </p:sp>
      <p:sp>
        <p:nvSpPr>
          <p:cNvPr id="14" name="school-logo-space"/>
          <p:cNvSpPr/>
          <p:nvPr/>
        </p:nvSpPr>
        <p:spPr>
          <a:xfrm>
            <a:off x="5870448" y="1920240"/>
            <a:ext cx="960120" cy="960120"/>
          </a:xfrm>
          <a:prstGeom prst="roundRect">
            <a:avLst>
              <a:gd name="adj" fmla="val 7619"/>
            </a:avLst>
          </a:prstGeom>
          <a:solidFill>
            <a:schemeClr val="tx1">
              <a:alpha val="0"/>
            </a:schemeClr>
          </a:solidFill>
          <a:ln w="12700">
            <a:solidFill>
              <a:schemeClr val="bg2"/>
            </a:solidFill>
            <a:prstDash val="dash"/>
          </a:ln>
        </p:spPr>
      </p:sp>
      <p:sp>
        <p:nvSpPr>
          <p:cNvPr id="15" name="text-1054"/>
          <p:cNvSpPr txBox="1"/>
          <p:nvPr/>
        </p:nvSpPr>
        <p:spPr>
          <a:xfrm>
            <a:off x="5916168" y="1920240"/>
            <a:ext cx="868680" cy="960120"/>
          </a:xfrm>
          <a:prstGeom prst="rect">
            <a:avLst/>
          </a:prstGeom>
          <a:noFill/>
          <a:ln/>
        </p:spPr>
        <p:txBody>
          <a:bodyPr wrap="square" lIns="0" tIns="0" rIns="0" bIns="0" rtlCol="0" anchor="ctr"/>
          <a:lstStyle/>
          <a:p>
            <a:pPr algn="ctr" indent="0" marL="0">
              <a:buNone/>
            </a:pPr>
            <a:r>
              <a:rPr lang="en-US" sz="800" dirty="0">
                <a:solidFill>
                  <a:schemeClr val="bg2"/>
                </a:solidFill>
              </a:rPr>
              <a:t>[School or team logo]</a:t>
            </a:r>
            <a:endParaRPr lang="en-US" sz="800" dirty="0"/>
          </a:p>
        </p:txBody>
      </p:sp>
      <p:sp>
        <p:nvSpPr>
          <p:cNvPr id="16" name="card-1055"/>
          <p:cNvSpPr/>
          <p:nvPr/>
        </p:nvSpPr>
        <p:spPr>
          <a:xfrm>
            <a:off x="3931920" y="3108960"/>
            <a:ext cx="2944368" cy="1783080"/>
          </a:xfrm>
          <a:prstGeom prst="roundRect">
            <a:avLst>
              <a:gd name="adj" fmla="val 4103"/>
            </a:avLst>
          </a:prstGeom>
          <a:solidFill>
            <a:schemeClr val="bg1"/>
          </a:solidFill>
          <a:ln w="12700">
            <a:solidFill>
              <a:schemeClr val="bg1"/>
            </a:solidFill>
            <a:prstDash val="solid"/>
          </a:ln>
        </p:spPr>
      </p:sp>
      <p:pic>
        <p:nvPicPr>
          <p:cNvPr id="17" name="qr-interview-1056" descr="/home/user/chatbox-bi-n-o/magazine/assets/ui/qr_interview.png">
            <a:hlinkClick r:id="rId4" tooltip="Watch our real-world interview"/>
          </p:cNvPr>
          <p:cNvPicPr>
            <a:picLocks noChangeAspect="1"/>
          </p:cNvPicPr>
          <p:nvPr/>
        </p:nvPicPr>
        <p:blipFill>
          <a:blip r:embed="rId3"/>
          <a:stretch>
            <a:fillRect/>
          </a:stretch>
        </p:blipFill>
        <p:spPr>
          <a:xfrm>
            <a:off x="4069080" y="3411626"/>
            <a:ext cx="1177747" cy="1177747"/>
          </a:xfrm>
          <a:prstGeom prst="rect">
            <a:avLst/>
          </a:prstGeom>
        </p:spPr>
      </p:pic>
      <p:sp>
        <p:nvSpPr>
          <p:cNvPr id="18" name="text-1057"/>
          <p:cNvSpPr txBox="1"/>
          <p:nvPr/>
        </p:nvSpPr>
        <p:spPr>
          <a:xfrm>
            <a:off x="5429707" y="3246120"/>
            <a:ext cx="1309421" cy="1508760"/>
          </a:xfrm>
          <a:prstGeom prst="rect">
            <a:avLst/>
          </a:prstGeom>
          <a:noFill/>
          <a:ln/>
        </p:spPr>
        <p:txBody>
          <a:bodyPr wrap="square" lIns="0" tIns="0" rIns="0" bIns="0" rtlCol="0" anchor="ctr"/>
          <a:lstStyle/>
          <a:p>
            <a:pPr indent="0" marL="0">
              <a:lnSpc>
                <a:spcPct val="100000"/>
              </a:lnSpc>
              <a:spcAft>
                <a:spcPts val="300"/>
              </a:spcAft>
              <a:buNone/>
            </a:pPr>
            <a:r>
              <a:rPr lang="en-US" sz="800" b="1" spc="150" kern="0" dirty="0">
                <a:solidFill>
                  <a:schemeClr val="accent4"/>
                </a:solidFill>
              </a:rPr>
              <a:t>SCAN TO WATCH</a:t>
            </a:r>
            <a:endParaRPr lang="en-US" sz="1050" dirty="0"/>
          </a:p>
          <a:p>
            <a:pPr indent="0" marL="0">
              <a:lnSpc>
                <a:spcPct val="100000"/>
              </a:lnSpc>
              <a:spcAft>
                <a:spcPts val="300"/>
              </a:spcAft>
              <a:buNone/>
            </a:pPr>
            <a:r>
              <a:rPr lang="en-US" sz="1200" b="1" dirty="0">
                <a:solidFill>
                  <a:schemeClr val="tx1"/>
                </a:solidFill>
                <a:latin typeface="+mj-lt" pitchFamily="34" charset="0"/>
                <a:ea typeface="+mj-lt" pitchFamily="34" charset="-122"/>
                <a:cs typeface="+mj-lt" pitchFamily="34" charset="-120"/>
              </a:rPr>
              <a:t>Our real-world interview</a:t>
            </a:r>
            <a:endParaRPr lang="en-US" sz="1050" dirty="0"/>
          </a:p>
          <a:p>
            <a:pPr indent="0" marL="0">
              <a:lnSpc>
                <a:spcPct val="100000"/>
              </a:lnSpc>
              <a:buNone/>
            </a:pPr>
            <a:r>
              <a:rPr lang="en-US" sz="850" dirty="0">
                <a:solidFill>
                  <a:schemeClr val="tx2"/>
                </a:solidFill>
              </a:rPr>
              <a:t>Video on YouTube</a:t>
            </a:r>
            <a:endParaRPr lang="en-US" sz="1050" dirty="0"/>
          </a:p>
          <a:p>
            <a:pPr indent="0" marL="0">
              <a:lnSpc>
                <a:spcPct val="100000"/>
              </a:lnSpc>
              <a:buNone/>
            </a:pPr>
            <a:r>
              <a:rPr lang="en-US" sz="850" b="1" u="sng" dirty="0">
                <a:solidFill>
                  <a:schemeClr val="accent6"/>
                </a:solidFill>
                <a:hlinkClick r:id="rId4" invalidUrl="" action="" tgtFrame="" tooltip="Watch our real-world interview" history="1" highlightClick="0" endSnd="0">
                  <a:extLst>
                    <a:ext uri="{A12FA001-AC4F-418D-AE19-62706E023703}">
                      <ahyp:hlinkClr xmlns:ahyp="http://schemas.microsoft.com/office/drawing/2018/hyperlinkcolor" val="tx"/>
                    </a:ext>
                  </a:extLst>
                </a:hlinkClick>
              </a:rPr>
              <a:t>youtu.be/QwcP_2Q3Esc</a:t>
            </a:r>
            <a:endParaRPr lang="en-US" sz="1050" dirty="0"/>
          </a:p>
        </p:txBody>
      </p:sp>
    </p:spTree>
  </p:cSld>
  <p:clrMapOvr>
    <a:masterClrMapping/>
  </p:clrMapOvr>
</p:sld>
</file>

<file path=ppt/theme/theme1.xml><?xml version="1.0" encoding="utf-8"?>
<a:theme xmlns:a="http://schemas.openxmlformats.org/drawingml/2006/main" name="Aurora Haven">
  <a:themeElements>
    <a:clrScheme name="Aurora Haven">
      <a:dk1>
        <a:srgbClr val="0E1A36"/>
      </a:dk1>
      <a:lt1>
        <a:srgbClr val="FFFFFF"/>
      </a:lt1>
      <a:dk2>
        <a:srgbClr val="4A5A75"/>
      </a:dk2>
      <a:lt2>
        <a:srgbClr val="EEF3F8"/>
      </a:lt2>
      <a:accent1>
        <a:srgbClr val="1FB58F"/>
      </a:accent1>
      <a:accent2>
        <a:srgbClr val="E06A2E"/>
      </a:accent2>
      <a:accent3>
        <a:srgbClr val="7B4FD6"/>
      </a:accent3>
      <a:accent4>
        <a:srgbClr val="0E8379"/>
      </a:accent4>
      <a:accent5>
        <a:srgbClr val="C9456F"/>
      </a:accent5>
      <a:accent6>
        <a:srgbClr val="4A7FC1"/>
      </a:accent6>
      <a:hlink>
        <a:srgbClr val="4A7FC1"/>
      </a:hlink>
      <a:folHlink>
        <a:srgbClr val="7B4FD6"/>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Aurora Haven – Issue 01</dc:title>
  <dc:subject>A polar city that thrives</dc:subject>
  <dc:creator>[Group name]</dc:creator>
  <cp:lastModifiedBy>[Group name]</cp:lastModifiedBy>
  <cp:revision>1</cp:revision>
  <dcterms:created xsi:type="dcterms:W3CDTF">2026-10-28T02:53:52Z</dcterms:created>
  <dcterms:modified xsi:type="dcterms:W3CDTF">2026-10-28T02:53:52Z</dcterms:modified>
</cp:coreProperties>
</file>