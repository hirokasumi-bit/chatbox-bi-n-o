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0fcb0334-c71e-7580-8548-99ed1cc3cb0c}">
          <p14:sldIdLst>
            <p14:sldId id="256"/>
          </p14:sldIdLst>
        </p14:section>
        <p14:section name="Welcome" id="{e63f704c-9aef-4f38-478e-0681237fe441}">
          <p14:sldIdLst>
            <p14:sldId id="257"/>
            <p14:sldId id="258"/>
            <p14:sldId id="259"/>
            <p14:sldId id="260"/>
          </p14:sldIdLst>
        </p14:section>
        <p14:section name="The City" id="{21ae8bdd-bcbe-d39e-f681-3a61e2770598}">
          <p14:sldIdLst>
            <p14:sldId id="261"/>
            <p14:sldId id="262"/>
            <p14:sldId id="263"/>
            <p14:sldId id="264"/>
            <p14:sldId id="265"/>
            <p14:sldId id="266"/>
            <p14:sldId id="267"/>
            <p14:sldId id="268"/>
          </p14:sldIdLst>
        </p14:section>
        <p14:section name="Signature Districts" id="{0df409cb-677f-18b3-1208-f5e309ad53ee}">
          <p14:sldIdLst>
            <p14:sldId id="269"/>
            <p14:sldId id="270"/>
            <p14:sldId id="271"/>
            <p14:sldId id="272"/>
            <p14:sldId id="273"/>
            <p14:sldId id="274"/>
            <p14:sldId id="275"/>
            <p14:sldId id="276"/>
            <p14:sldId id="277"/>
            <p14:sldId id="278"/>
          </p14:sldIdLst>
        </p14:section>
        <p14:section name="Living in Aurora Haven" id="{90bbcfa5-228c-cb88-8430-522ab4357703}">
          <p14:sldIdLst>
            <p14:sldId id="279"/>
            <p14:sldId id="280"/>
            <p14:sldId id="281"/>
            <p14:sldId id="282"/>
            <p14:sldId id="283"/>
          </p14:sldIdLst>
        </p14:section>
        <p14:section name="Guide" id="{0e90a67c-378e-cbf8-c242-1b29a4cc9c1b}">
          <p14:sldIdLst>
            <p14:sldId id="284"/>
            <p14:sldId id="285"/>
            <p14:sldId id="286"/>
          </p14:sldIdLst>
        </p14:section>
        <p14:section name="Back Cover" id="{0865c938-a919-ccb4-f44e-886b50b71d8e}">
          <p14:sldIdLst>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_ICE">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L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bg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R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R_ICE">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R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bg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1008</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slideLayout" Target="../slideLayouts/slideLayout6.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slideLayout" Target="../slideLayouts/slideLayout6.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5.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6.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7.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5.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slideLayout" Target="../slideLayouts/slideLayout8.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6.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slideLayout" Target="../slideLayouts/slideLayout5.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8.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8.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8.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slideLayout" Target="../slideLayouts/slideLayout5.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8.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6.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8.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7.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picture" descr="/home/user/chatbox-bi-n-o/magazine/assets/renders/cover.jpg">    </p:cNvPr>
          <p:cNvPicPr>
            <a:picLocks noChangeAspect="1"/>
          </p:cNvPicPr>
          <p:nvPr/>
        </p:nvPicPr>
        <p:blipFill>
          <a:blip r:embed="rId1"/>
          <a:stretch>
            <a:fillRect/>
          </a:stretch>
        </p:blipFill>
        <p:spPr>
          <a:xfrm>
            <a:off x="0" y="0"/>
            <a:ext cx="7562088" cy="10689336"/>
          </a:xfrm>
          <a:prstGeom prst="rect">
            <a:avLst/>
          </a:prstGeom>
        </p:spPr>
      </p:pic>
      <p:pic>
        <p:nvPicPr>
          <p:cNvPr id="3" name="shade-bottom-1" descr="/home/user/chatbox-bi-n-o/magazine/assets/ui/shade_bottom.png">    </p:cNvPr>
          <p:cNvPicPr>
            <a:picLocks noChangeAspect="1"/>
          </p:cNvPicPr>
          <p:nvPr/>
        </p:nvPicPr>
        <p:blipFill>
          <a:blip r:embed="rId2"/>
          <a:stretch>
            <a:fillRect/>
          </a:stretch>
        </p:blipFill>
        <p:spPr>
          <a:xfrm>
            <a:off x="0" y="7223760"/>
            <a:ext cx="7562088" cy="3465576"/>
          </a:xfrm>
          <a:prstGeom prst="rect">
            <a:avLst/>
          </a:prstGeom>
        </p:spPr>
      </p:pic>
      <p:sp>
        <p:nvSpPr>
          <p:cNvPr id="4" name="text-2"/>
          <p:cNvSpPr txBox="1"/>
          <p:nvPr/>
        </p:nvSpPr>
        <p:spPr>
          <a:xfrm>
            <a:off x="548640" y="347472"/>
            <a:ext cx="6464808" cy="201168"/>
          </a:xfrm>
          <a:prstGeom prst="rect">
            <a:avLst/>
          </a:prstGeom>
          <a:noFill/>
          <a:ln/>
        </p:spPr>
        <p:txBody>
          <a:bodyPr wrap="square" lIns="0" tIns="0" rIns="0" bIns="0" rtlCol="0" anchor="t"/>
          <a:lstStyle/>
          <a:p>
            <a:pPr algn="ctr" indent="0" marL="0">
              <a:buNone/>
            </a:pPr>
            <a:r>
              <a:rPr lang="en-US" sz="850" b="1" spc="300" kern="0" dirty="0">
                <a:solidFill>
                  <a:schemeClr val="bg1"/>
                </a:solidFill>
              </a:rPr>
              <a:t>ISSUE 01   ·   POLAR / ICE CITY   ·   A CITY BUILT IN 3D</a:t>
            </a:r>
            <a:endParaRPr lang="en-US" sz="850" dirty="0"/>
          </a:p>
        </p:txBody>
      </p:sp>
      <p:sp>
        <p:nvSpPr>
          <p:cNvPr id="5" name="text-3"/>
          <p:cNvSpPr txBox="1"/>
          <p:nvPr/>
        </p:nvSpPr>
        <p:spPr>
          <a:xfrm>
            <a:off x="182880" y="548640"/>
            <a:ext cx="7196328" cy="1051560"/>
          </a:xfrm>
          <a:prstGeom prst="rect">
            <a:avLst/>
          </a:prstGeom>
          <a:noFill/>
          <a:ln/>
        </p:spPr>
        <p:txBody>
          <a:bodyPr wrap="square" lIns="0" tIns="0" rIns="0" bIns="0" rtlCol="0" anchor="t"/>
          <a:lstStyle/>
          <a:p>
            <a:pPr algn="ctr" indent="0" marL="0">
              <a:buNone/>
            </a:pPr>
            <a:r>
              <a:rPr lang="en-US" sz="6400" b="1" spc="100" kern="0" dirty="0">
                <a:solidFill>
                  <a:schemeClr val="bg1"/>
                </a:solidFill>
                <a:latin typeface="+mj-lt" pitchFamily="34" charset="0"/>
                <a:ea typeface="+mj-lt" pitchFamily="34" charset="-122"/>
                <a:cs typeface="+mj-lt" pitchFamily="34" charset="-120"/>
              </a:rPr>
              <a:t>AURORA HAVEN</a:t>
            </a:r>
            <a:endParaRPr lang="en-US" sz="6400" dirty="0"/>
          </a:p>
        </p:txBody>
      </p:sp>
      <p:pic>
        <p:nvPicPr>
          <p:cNvPr id="6" name="cover-tower-overlay" descr="/home/user/chatbox-bi-n-o/magazine/assets/renders/cover_tower_top.png">    </p:cNvPr>
          <p:cNvPicPr>
            <a:picLocks noChangeAspect="1"/>
          </p:cNvPicPr>
          <p:nvPr/>
        </p:nvPicPr>
        <p:blipFill>
          <a:blip r:embed="rId3"/>
          <a:stretch>
            <a:fillRect/>
          </a:stretch>
        </p:blipFill>
        <p:spPr>
          <a:xfrm>
            <a:off x="0" y="0"/>
            <a:ext cx="7562088" cy="2139626"/>
          </a:xfrm>
          <a:prstGeom prst="rect">
            <a:avLst/>
          </a:prstGeom>
        </p:spPr>
      </p:pic>
      <p:sp>
        <p:nvSpPr>
          <p:cNvPr id="7" name="text-4"/>
          <p:cNvSpPr txBox="1"/>
          <p:nvPr/>
        </p:nvSpPr>
        <p:spPr>
          <a:xfrm>
            <a:off x="182880" y="1627632"/>
            <a:ext cx="7196328" cy="320040"/>
          </a:xfrm>
          <a:prstGeom prst="rect">
            <a:avLst/>
          </a:prstGeom>
          <a:noFill/>
          <a:ln/>
        </p:spPr>
        <p:txBody>
          <a:bodyPr wrap="square" lIns="0" tIns="0" rIns="0" bIns="0" rtlCol="0" anchor="t"/>
          <a:lstStyle/>
          <a:p>
            <a:pPr algn="ctr" indent="0" marL="0">
              <a:buNone/>
            </a:pPr>
            <a:r>
              <a:rPr lang="en-US" sz="1500" i="1" dirty="0">
                <a:solidFill>
                  <a:schemeClr val="bg1"/>
                </a:solidFill>
                <a:latin typeface="+mj-lt" pitchFamily="34" charset="0"/>
                <a:ea typeface="+mj-lt" pitchFamily="34" charset="-122"/>
                <a:cs typeface="+mj-lt" pitchFamily="34" charset="-120"/>
              </a:rPr>
              <a:t>A polar city that thrives</a:t>
            </a:r>
            <a:endParaRPr lang="en-US" sz="1500" dirty="0"/>
          </a:p>
        </p:txBody>
      </p:sp>
      <p:sp>
        <p:nvSpPr>
          <p:cNvPr id="8" name="text-5"/>
          <p:cNvSpPr txBox="1"/>
          <p:nvPr/>
        </p:nvSpPr>
        <p:spPr>
          <a:xfrm>
            <a:off x="4864608" y="201168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The city's own sun</a:t>
            </a:r>
            <a:endParaRPr lang="en-US" sz="1050" dirty="0"/>
          </a:p>
          <a:p>
            <a:pPr algn="r" indent="0" marL="0">
              <a:lnSpc>
                <a:spcPct val="105000"/>
              </a:lnSpc>
              <a:spcAft>
                <a:spcPts val="300"/>
              </a:spcAft>
              <a:buNone/>
            </a:pPr>
            <a:r>
              <a:rPr lang="en-US" sz="1050" dirty="0">
                <a:solidFill>
                  <a:schemeClr val="bg2"/>
                </a:solidFill>
              </a:rPr>
              <a:t>A compact fusion station keeps 45,000 people warm through the polar night</a:t>
            </a:r>
            <a:endParaRPr lang="en-US" sz="1050" dirty="0"/>
          </a:p>
          <a:p>
            <a:pPr algn="r" indent="0" marL="0">
              <a:lnSpc>
                <a:spcPct val="105000"/>
              </a:lnSpc>
              <a:buNone/>
            </a:pPr>
            <a:r>
              <a:rPr lang="en-US" sz="800" b="1" spc="200" kern="0" dirty="0">
                <a:solidFill>
                  <a:schemeClr val="accent1"/>
                </a:solidFill>
              </a:rPr>
              <a:t>PAGE 14</a:t>
            </a:r>
            <a:endParaRPr lang="en-US" sz="1050" dirty="0"/>
          </a:p>
        </p:txBody>
      </p:sp>
      <p:sp>
        <p:nvSpPr>
          <p:cNvPr id="9" name="text-6"/>
          <p:cNvSpPr txBox="1"/>
          <p:nvPr/>
        </p:nvSpPr>
        <p:spPr>
          <a:xfrm>
            <a:off x="4864608" y="315468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A warm heart</a:t>
            </a:r>
            <a:endParaRPr lang="en-US" sz="1050" dirty="0"/>
          </a:p>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inside the ice</a:t>
            </a:r>
            <a:endParaRPr lang="en-US" sz="1050" dirty="0"/>
          </a:p>
          <a:p>
            <a:pPr algn="r" indent="0" marL="0">
              <a:lnSpc>
                <a:spcPct val="105000"/>
              </a:lnSpc>
              <a:spcAft>
                <a:spcPts val="300"/>
              </a:spcAft>
              <a:buNone/>
            </a:pPr>
            <a:r>
              <a:rPr lang="en-US" sz="1050" dirty="0">
                <a:solidFill>
                  <a:schemeClr val="bg2"/>
                </a:solidFill>
              </a:rPr>
              <a:t>Four geothermal spa levels hidden in a 35-metre snow peak</a:t>
            </a:r>
            <a:endParaRPr lang="en-US" sz="1050" dirty="0"/>
          </a:p>
          <a:p>
            <a:pPr algn="r" indent="0" marL="0">
              <a:lnSpc>
                <a:spcPct val="105000"/>
              </a:lnSpc>
              <a:buNone/>
            </a:pPr>
            <a:r>
              <a:rPr lang="en-US" sz="800" b="1" spc="200" kern="0" dirty="0">
                <a:solidFill>
                  <a:schemeClr val="accent1"/>
                </a:solidFill>
              </a:rPr>
              <a:t>PAGE 19</a:t>
            </a:r>
            <a:endParaRPr lang="en-US" sz="1050" dirty="0"/>
          </a:p>
        </p:txBody>
      </p:sp>
      <p:sp>
        <p:nvSpPr>
          <p:cNvPr id="10" name="text-7"/>
          <p:cNvSpPr txBox="1"/>
          <p:nvPr/>
        </p:nvSpPr>
        <p:spPr>
          <a:xfrm>
            <a:off x="548640" y="8915400"/>
            <a:ext cx="30175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l"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Bread and water from snow and air</a:t>
            </a:r>
            <a:endParaRPr lang="en-US" sz="1050" dirty="0"/>
          </a:p>
          <a:p>
            <a:pPr algn="l" indent="0" marL="0">
              <a:lnSpc>
                <a:spcPct val="105000"/>
              </a:lnSpc>
              <a:spcAft>
                <a:spcPts val="300"/>
              </a:spcAft>
              <a:buNone/>
            </a:pPr>
            <a:r>
              <a:rPr lang="en-US" sz="1050" dirty="0">
                <a:solidFill>
                  <a:schemeClr val="bg2"/>
                </a:solidFill>
              </a:rPr>
              <a:t>Inside the plant that feeds a city with no farmland</a:t>
            </a:r>
            <a:endParaRPr lang="en-US" sz="1050" dirty="0"/>
          </a:p>
          <a:p>
            <a:pPr algn="l" indent="0" marL="0">
              <a:lnSpc>
                <a:spcPct val="105000"/>
              </a:lnSpc>
              <a:buNone/>
            </a:pPr>
            <a:r>
              <a:rPr lang="en-US" sz="800" b="1" spc="200" kern="0" dirty="0">
                <a:solidFill>
                  <a:schemeClr val="accent1"/>
                </a:solidFill>
              </a:rPr>
              <a:t>PAGE 17</a:t>
            </a:r>
            <a:endParaRPr lang="en-US" sz="1050" dirty="0"/>
          </a:p>
        </p:txBody>
      </p:sp>
      <p:sp>
        <p:nvSpPr>
          <p:cNvPr id="11" name="text-8"/>
          <p:cNvSpPr txBox="1"/>
          <p:nvPr/>
        </p:nvSpPr>
        <p:spPr>
          <a:xfrm>
            <a:off x="3995928" y="8915400"/>
            <a:ext cx="30175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−45 °C. 120 km/h. No sun.</a:t>
            </a:r>
            <a:endParaRPr lang="en-US" sz="1050" dirty="0"/>
          </a:p>
          <a:p>
            <a:pPr algn="r" indent="0" marL="0">
              <a:lnSpc>
                <a:spcPct val="105000"/>
              </a:lnSpc>
              <a:spcAft>
                <a:spcPts val="300"/>
              </a:spcAft>
              <a:buNone/>
            </a:pPr>
            <a:r>
              <a:rPr lang="en-US" sz="1050" dirty="0">
                <a:solidFill>
                  <a:schemeClr val="bg2"/>
                </a:solidFill>
              </a:rPr>
              <a:t>The polar challenge, and the five ideas that answer it</a:t>
            </a:r>
            <a:endParaRPr lang="en-US" sz="1050" dirty="0"/>
          </a:p>
          <a:p>
            <a:pPr algn="r" indent="0" marL="0">
              <a:lnSpc>
                <a:spcPct val="105000"/>
              </a:lnSpc>
              <a:buNone/>
            </a:pPr>
            <a:r>
              <a:rPr lang="en-US" sz="800" b="1" spc="200" kern="0" dirty="0">
                <a:solidFill>
                  <a:schemeClr val="accent1"/>
                </a:solidFill>
              </a:rPr>
              <a:t>PAGE 6</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picture-9" descr="/home/user/chatbox-bi-n-o/magazine/assets/renders/street_dusk.jpg">    </p:cNvPr>
          <p:cNvPicPr>
            <a:picLocks noChangeAspect="1"/>
          </p:cNvPicPr>
          <p:nvPr/>
        </p:nvPicPr>
        <p:blipFill>
          <a:blip r:embed="rId1"/>
          <a:srcRect l="0" r="0" t="0" b="0"/>
          <a:stretch/>
        </p:blipFill>
        <p:spPr>
          <a:xfrm>
            <a:off x="0" y="0"/>
            <a:ext cx="7562088" cy="4343400"/>
          </a:xfrm>
          <a:prstGeom prst="rect">
            <a:avLst/>
          </a:prstGeom>
        </p:spPr>
      </p:pic>
      <p:pic>
        <p:nvPicPr>
          <p:cNvPr id="3" name="shade-bottom-10" descr="/home/user/chatbox-bi-n-o/magazine/assets/ui/shade_bottom.png">    </p:cNvPr>
          <p:cNvPicPr>
            <a:picLocks noChangeAspect="1"/>
          </p:cNvPicPr>
          <p:nvPr/>
        </p:nvPicPr>
        <p:blipFill>
          <a:blip r:embed="rId2"/>
          <a:stretch>
            <a:fillRect/>
          </a:stretch>
        </p:blipFill>
        <p:spPr>
          <a:xfrm>
            <a:off x="0" y="2011680"/>
            <a:ext cx="7562088" cy="2331720"/>
          </a:xfrm>
          <a:prstGeom prst="rect">
            <a:avLst/>
          </a:prstGeom>
        </p:spPr>
      </p:pic>
      <p:sp>
        <p:nvSpPr>
          <p:cNvPr id="4" name="kicker-dot-11"/>
          <p:cNvSpPr/>
          <p:nvPr/>
        </p:nvSpPr>
        <p:spPr>
          <a:xfrm>
            <a:off x="548640" y="3168396"/>
            <a:ext cx="100584" cy="100584"/>
          </a:xfrm>
          <a:prstGeom prst="ellipse">
            <a:avLst/>
          </a:prstGeom>
          <a:solidFill>
            <a:schemeClr val="accent1"/>
          </a:solidFill>
          <a:ln w="12700">
            <a:solidFill>
              <a:schemeClr val="accent1"/>
            </a:solidFill>
            <a:prstDash val="solid"/>
          </a:ln>
        </p:spPr>
      </p:sp>
      <p:sp>
        <p:nvSpPr>
          <p:cNvPr id="5" name="text-12"/>
          <p:cNvSpPr txBox="1"/>
          <p:nvPr/>
        </p:nvSpPr>
        <p:spPr>
          <a:xfrm>
            <a:off x="731520" y="3127248"/>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INSIDE THIS ISSUE</a:t>
            </a:r>
            <a:endParaRPr lang="en-US" sz="900" dirty="0"/>
          </a:p>
        </p:txBody>
      </p:sp>
      <p:sp>
        <p:nvSpPr>
          <p:cNvPr id="6" name="title-13"/>
          <p:cNvSpPr txBox="1"/>
          <p:nvPr/>
        </p:nvSpPr>
        <p:spPr>
          <a:xfrm>
            <a:off x="548640" y="3383280"/>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Contents</a:t>
            </a:r>
            <a:endParaRPr lang="en-US" sz="4400" dirty="0"/>
          </a:p>
        </p:txBody>
      </p:sp>
      <p:sp>
        <p:nvSpPr>
          <p:cNvPr id="7" name="text-15"/>
          <p:cNvSpPr txBox="1"/>
          <p:nvPr/>
        </p:nvSpPr>
        <p:spPr>
          <a:xfrm>
            <a:off x="548640" y="4434840"/>
            <a:ext cx="6464808" cy="274320"/>
          </a:xfrm>
          <a:prstGeom prst="rect">
            <a:avLst/>
          </a:prstGeom>
          <a:noFill/>
          <a:ln/>
        </p:spPr>
        <p:txBody>
          <a:bodyPr wrap="square" lIns="0" tIns="0" rIns="0" bIns="0" rtlCol="0" anchor="t"/>
          <a:lstStyle/>
          <a:p>
            <a:pPr indent="0" marL="0">
              <a:buNone/>
            </a:pPr>
            <a:r>
              <a:rPr lang="en-US" sz="850" i="1" dirty="0">
                <a:solidFill>
                  <a:schemeClr val="tx2"/>
                </a:solidFill>
              </a:rPr>
              <a:t>Shops and cafés on a downtown street at dusk. The streets are warmed from below, so they stay clear of ice without salt.</a:t>
            </a:r>
            <a:endParaRPr lang="en-US" sz="850" dirty="0"/>
          </a:p>
        </p:txBody>
      </p:sp>
      <p:sp>
        <p:nvSpPr>
          <p:cNvPr id="8" name="text-16"/>
          <p:cNvSpPr txBox="1"/>
          <p:nvPr/>
        </p:nvSpPr>
        <p:spPr>
          <a:xfrm>
            <a:off x="548640" y="4892040"/>
            <a:ext cx="457200" cy="365760"/>
          </a:xfrm>
          <a:prstGeom prst="rect">
            <a:avLst/>
          </a:prstGeom>
          <a:noFill/>
          <a:ln/>
        </p:spPr>
        <p:txBody>
          <a:bodyPr wrap="square" lIns="0" tIns="0" rIns="0" bIns="0" rtlCol="0" anchor="t"/>
          <a:lstStyle/>
          <a:p>
            <a:pPr indent="0" marL="0">
              <a:buNone/>
            </a:pPr>
            <a:r>
              <a:rPr lang="en-US" sz="1800" b="1" dirty="0">
                <a:solidFill>
                  <a:schemeClr val="accent6"/>
                </a:solidFill>
                <a:latin typeface="+mj-lt" pitchFamily="34" charset="0"/>
                <a:ea typeface="+mj-lt" pitchFamily="34" charset="-122"/>
                <a:cs typeface="+mj-lt" pitchFamily="34" charset="-120"/>
              </a:rPr>
              <a:t>4</a:t>
            </a:r>
            <a:endParaRPr lang="en-US" sz="1800" dirty="0"/>
          </a:p>
        </p:txBody>
      </p:sp>
      <p:sp>
        <p:nvSpPr>
          <p:cNvPr id="9" name="text-17"/>
          <p:cNvSpPr txBox="1"/>
          <p:nvPr/>
        </p:nvSpPr>
        <p:spPr>
          <a:xfrm>
            <a:off x="1051560" y="4919472"/>
            <a:ext cx="2592324" cy="201168"/>
          </a:xfrm>
          <a:prstGeom prst="rect">
            <a:avLst/>
          </a:prstGeom>
          <a:noFill/>
          <a:ln/>
        </p:spPr>
        <p:txBody>
          <a:bodyPr wrap="square" lIns="0" tIns="0" rIns="0" bIns="0" rtlCol="0" anchor="t"/>
          <a:lstStyle/>
          <a:p>
            <a:pPr indent="0" marL="0">
              <a:buNone/>
            </a:pPr>
            <a:r>
              <a:rPr lang="en-US" sz="1050" b="1" dirty="0">
                <a:solidFill>
                  <a:schemeClr val="tx1"/>
                </a:solidFill>
              </a:rPr>
              <a:t>Welcome to Aurora Haven</a:t>
            </a:r>
            <a:endParaRPr lang="en-US" sz="1050" dirty="0"/>
          </a:p>
        </p:txBody>
      </p:sp>
      <p:sp>
        <p:nvSpPr>
          <p:cNvPr id="10" name="text-18"/>
          <p:cNvSpPr txBox="1"/>
          <p:nvPr/>
        </p:nvSpPr>
        <p:spPr>
          <a:xfrm>
            <a:off x="1051560" y="5120640"/>
            <a:ext cx="2592324" cy="201168"/>
          </a:xfrm>
          <a:prstGeom prst="rect">
            <a:avLst/>
          </a:prstGeom>
          <a:noFill/>
          <a:ln/>
        </p:spPr>
        <p:txBody>
          <a:bodyPr wrap="square" lIns="0" tIns="0" rIns="0" bIns="0" rtlCol="0" anchor="t"/>
          <a:lstStyle/>
          <a:p>
            <a:pPr indent="0" marL="0">
              <a:buNone/>
            </a:pPr>
            <a:r>
              <a:rPr lang="en-US" sz="900" dirty="0">
                <a:solidFill>
                  <a:schemeClr val="tx2"/>
                </a:solidFill>
              </a:rPr>
              <a:t>A compact city of 45,000 under a snow peak</a:t>
            </a:r>
            <a:endParaRPr lang="en-US" sz="900" dirty="0"/>
          </a:p>
        </p:txBody>
      </p:sp>
      <p:sp>
        <p:nvSpPr>
          <p:cNvPr id="11" name="text-19"/>
          <p:cNvSpPr txBox="1"/>
          <p:nvPr/>
        </p:nvSpPr>
        <p:spPr>
          <a:xfrm>
            <a:off x="548640" y="5458968"/>
            <a:ext cx="457200" cy="365760"/>
          </a:xfrm>
          <a:prstGeom prst="rect">
            <a:avLst/>
          </a:prstGeom>
          <a:noFill/>
          <a:ln/>
        </p:spPr>
        <p:txBody>
          <a:bodyPr wrap="square" lIns="0" tIns="0" rIns="0" bIns="0" rtlCol="0" anchor="t"/>
          <a:lstStyle/>
          <a:p>
            <a:pPr indent="0" marL="0">
              <a:buNone/>
            </a:pPr>
            <a:r>
              <a:rPr lang="en-US" sz="1800" b="1" dirty="0">
                <a:solidFill>
                  <a:schemeClr val="accent6"/>
                </a:solidFill>
                <a:latin typeface="+mj-lt" pitchFamily="34" charset="0"/>
                <a:ea typeface="+mj-lt" pitchFamily="34" charset="-122"/>
                <a:cs typeface="+mj-lt" pitchFamily="34" charset="-120"/>
              </a:rPr>
              <a:t>6</a:t>
            </a:r>
            <a:endParaRPr lang="en-US" sz="1800" dirty="0"/>
          </a:p>
        </p:txBody>
      </p:sp>
      <p:sp>
        <p:nvSpPr>
          <p:cNvPr id="12" name="text-20"/>
          <p:cNvSpPr txBox="1"/>
          <p:nvPr/>
        </p:nvSpPr>
        <p:spPr>
          <a:xfrm>
            <a:off x="1051560" y="5486400"/>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Polar Challenge</a:t>
            </a:r>
            <a:endParaRPr lang="en-US" sz="1050" dirty="0"/>
          </a:p>
        </p:txBody>
      </p:sp>
      <p:sp>
        <p:nvSpPr>
          <p:cNvPr id="13" name="text-21"/>
          <p:cNvSpPr txBox="1"/>
          <p:nvPr/>
        </p:nvSpPr>
        <p:spPr>
          <a:xfrm>
            <a:off x="1051560" y="5687568"/>
            <a:ext cx="2592324" cy="201168"/>
          </a:xfrm>
          <a:prstGeom prst="rect">
            <a:avLst/>
          </a:prstGeom>
          <a:noFill/>
          <a:ln/>
        </p:spPr>
        <p:txBody>
          <a:bodyPr wrap="square" lIns="0" tIns="0" rIns="0" bIns="0" rtlCol="0" anchor="t"/>
          <a:lstStyle/>
          <a:p>
            <a:pPr indent="0" marL="0">
              <a:buNone/>
            </a:pPr>
            <a:r>
              <a:rPr lang="en-US" sz="900" dirty="0">
                <a:solidFill>
                  <a:schemeClr val="tx2"/>
                </a:solidFill>
              </a:rPr>
              <a:t>Cold, darkness, wind and permafrost</a:t>
            </a:r>
            <a:endParaRPr lang="en-US" sz="900" dirty="0"/>
          </a:p>
        </p:txBody>
      </p:sp>
      <p:sp>
        <p:nvSpPr>
          <p:cNvPr id="14" name="text-22"/>
          <p:cNvSpPr txBox="1"/>
          <p:nvPr/>
        </p:nvSpPr>
        <p:spPr>
          <a:xfrm>
            <a:off x="548640" y="6025896"/>
            <a:ext cx="457200" cy="365760"/>
          </a:xfrm>
          <a:prstGeom prst="rect">
            <a:avLst/>
          </a:prstGeom>
          <a:noFill/>
          <a:ln/>
        </p:spPr>
        <p:txBody>
          <a:bodyPr wrap="square" lIns="0" tIns="0" rIns="0" bIns="0" rtlCol="0" anchor="t"/>
          <a:lstStyle/>
          <a:p>
            <a:pPr indent="0" marL="0">
              <a:buNone/>
            </a:pPr>
            <a:r>
              <a:rPr lang="en-US" sz="1800" b="1" dirty="0">
                <a:solidFill>
                  <a:schemeClr val="accent6"/>
                </a:solidFill>
                <a:latin typeface="+mj-lt" pitchFamily="34" charset="0"/>
                <a:ea typeface="+mj-lt" pitchFamily="34" charset="-122"/>
                <a:cs typeface="+mj-lt" pitchFamily="34" charset="-120"/>
              </a:rPr>
              <a:t>7</a:t>
            </a:r>
            <a:endParaRPr lang="en-US" sz="1800" dirty="0"/>
          </a:p>
        </p:txBody>
      </p:sp>
      <p:sp>
        <p:nvSpPr>
          <p:cNvPr id="15" name="text-23"/>
          <p:cNvSpPr txBox="1"/>
          <p:nvPr/>
        </p:nvSpPr>
        <p:spPr>
          <a:xfrm>
            <a:off x="1051560" y="6053328"/>
            <a:ext cx="2592324" cy="201168"/>
          </a:xfrm>
          <a:prstGeom prst="rect">
            <a:avLst/>
          </a:prstGeom>
          <a:noFill/>
          <a:ln/>
        </p:spPr>
        <p:txBody>
          <a:bodyPr wrap="square" lIns="0" tIns="0" rIns="0" bIns="0" rtlCol="0" anchor="t"/>
          <a:lstStyle/>
          <a:p>
            <a:pPr indent="0" marL="0">
              <a:buNone/>
            </a:pPr>
            <a:r>
              <a:rPr lang="en-US" sz="1050" b="1" dirty="0">
                <a:solidFill>
                  <a:schemeClr val="tx1"/>
                </a:solidFill>
              </a:rPr>
              <a:t>Five Design Principles</a:t>
            </a:r>
            <a:endParaRPr lang="en-US" sz="1050" dirty="0"/>
          </a:p>
        </p:txBody>
      </p:sp>
      <p:sp>
        <p:nvSpPr>
          <p:cNvPr id="16" name="text-24"/>
          <p:cNvSpPr txBox="1"/>
          <p:nvPr/>
        </p:nvSpPr>
        <p:spPr>
          <a:xfrm>
            <a:off x="1051560" y="6254496"/>
            <a:ext cx="2592324" cy="201168"/>
          </a:xfrm>
          <a:prstGeom prst="rect">
            <a:avLst/>
          </a:prstGeom>
          <a:noFill/>
          <a:ln/>
        </p:spPr>
        <p:txBody>
          <a:bodyPr wrap="square" lIns="0" tIns="0" rIns="0" bIns="0" rtlCol="0" anchor="t"/>
          <a:lstStyle/>
          <a:p>
            <a:pPr indent="0" marL="0">
              <a:buNone/>
            </a:pPr>
            <a:r>
              <a:rPr lang="en-US" sz="900" dirty="0">
                <a:solidFill>
                  <a:schemeClr val="tx2"/>
                </a:solidFill>
              </a:rPr>
              <a:t>The ideas behind every building</a:t>
            </a:r>
            <a:endParaRPr lang="en-US" sz="900" dirty="0"/>
          </a:p>
        </p:txBody>
      </p:sp>
      <p:sp>
        <p:nvSpPr>
          <p:cNvPr id="17" name="text-25"/>
          <p:cNvSpPr txBox="1"/>
          <p:nvPr/>
        </p:nvSpPr>
        <p:spPr>
          <a:xfrm>
            <a:off x="548640" y="6592824"/>
            <a:ext cx="457200" cy="365760"/>
          </a:xfrm>
          <a:prstGeom prst="rect">
            <a:avLst/>
          </a:prstGeom>
          <a:noFill/>
          <a:ln/>
        </p:spPr>
        <p:txBody>
          <a:bodyPr wrap="square" lIns="0" tIns="0" rIns="0" bIns="0" rtlCol="0" anchor="t"/>
          <a:lstStyle/>
          <a:p>
            <a:pPr indent="0" marL="0">
              <a:buNone/>
            </a:pPr>
            <a:r>
              <a:rPr lang="en-US" sz="1800" b="1" dirty="0">
                <a:solidFill>
                  <a:schemeClr val="accent6"/>
                </a:solidFill>
                <a:latin typeface="+mj-lt" pitchFamily="34" charset="0"/>
                <a:ea typeface="+mj-lt" pitchFamily="34" charset="-122"/>
                <a:cs typeface="+mj-lt" pitchFamily="34" charset="-120"/>
              </a:rPr>
              <a:t>8</a:t>
            </a:r>
            <a:endParaRPr lang="en-US" sz="1800" dirty="0"/>
          </a:p>
        </p:txBody>
      </p:sp>
      <p:sp>
        <p:nvSpPr>
          <p:cNvPr id="18" name="text-26"/>
          <p:cNvSpPr txBox="1"/>
          <p:nvPr/>
        </p:nvSpPr>
        <p:spPr>
          <a:xfrm>
            <a:off x="1051560" y="6620256"/>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Whole City Plan</a:t>
            </a:r>
            <a:endParaRPr lang="en-US" sz="1050" dirty="0"/>
          </a:p>
        </p:txBody>
      </p:sp>
      <p:sp>
        <p:nvSpPr>
          <p:cNvPr id="19" name="text-27"/>
          <p:cNvSpPr txBox="1"/>
          <p:nvPr/>
        </p:nvSpPr>
        <p:spPr>
          <a:xfrm>
            <a:off x="1051560" y="6821424"/>
            <a:ext cx="2592324" cy="201168"/>
          </a:xfrm>
          <a:prstGeom prst="rect">
            <a:avLst/>
          </a:prstGeom>
          <a:noFill/>
          <a:ln/>
        </p:spPr>
        <p:txBody>
          <a:bodyPr wrap="square" lIns="0" tIns="0" rIns="0" bIns="0" rtlCol="0" anchor="t"/>
          <a:lstStyle/>
          <a:p>
            <a:pPr indent="0" marL="0">
              <a:buNone/>
            </a:pPr>
            <a:r>
              <a:rPr lang="en-US" sz="900" dirty="0">
                <a:solidFill>
                  <a:schemeClr val="tx2"/>
                </a:solidFill>
              </a:rPr>
              <a:t>From the wind farm to Mount Aurora</a:t>
            </a:r>
            <a:endParaRPr lang="en-US" sz="900" dirty="0"/>
          </a:p>
        </p:txBody>
      </p:sp>
      <p:sp>
        <p:nvSpPr>
          <p:cNvPr id="20" name="text-28"/>
          <p:cNvSpPr txBox="1"/>
          <p:nvPr/>
        </p:nvSpPr>
        <p:spPr>
          <a:xfrm>
            <a:off x="548640" y="7159752"/>
            <a:ext cx="457200" cy="365760"/>
          </a:xfrm>
          <a:prstGeom prst="rect">
            <a:avLst/>
          </a:prstGeom>
          <a:noFill/>
          <a:ln/>
        </p:spPr>
        <p:txBody>
          <a:bodyPr wrap="square" lIns="0" tIns="0" rIns="0" bIns="0" rtlCol="0" anchor="t"/>
          <a:lstStyle/>
          <a:p>
            <a:pPr indent="0" marL="0">
              <a:buNone/>
            </a:pPr>
            <a:r>
              <a:rPr lang="en-US" sz="1800" b="1" dirty="0">
                <a:solidFill>
                  <a:schemeClr val="accent6"/>
                </a:solidFill>
                <a:latin typeface="+mj-lt" pitchFamily="34" charset="0"/>
                <a:ea typeface="+mj-lt" pitchFamily="34" charset="-122"/>
                <a:cs typeface="+mj-lt" pitchFamily="34" charset="-120"/>
              </a:rPr>
              <a:t>10</a:t>
            </a:r>
            <a:endParaRPr lang="en-US" sz="1800" dirty="0"/>
          </a:p>
        </p:txBody>
      </p:sp>
      <p:sp>
        <p:nvSpPr>
          <p:cNvPr id="21" name="text-29"/>
          <p:cNvSpPr txBox="1"/>
          <p:nvPr/>
        </p:nvSpPr>
        <p:spPr>
          <a:xfrm>
            <a:off x="1051560" y="7187184"/>
            <a:ext cx="2592324" cy="201168"/>
          </a:xfrm>
          <a:prstGeom prst="rect">
            <a:avLst/>
          </a:prstGeom>
          <a:noFill/>
          <a:ln/>
        </p:spPr>
        <p:txBody>
          <a:bodyPr wrap="square" lIns="0" tIns="0" rIns="0" bIns="0" rtlCol="0" anchor="t"/>
          <a:lstStyle/>
          <a:p>
            <a:pPr indent="0" marL="0">
              <a:buNone/>
            </a:pPr>
            <a:r>
              <a:rPr lang="en-US" sz="1050" b="1" dirty="0">
                <a:solidFill>
                  <a:schemeClr val="tx1"/>
                </a:solidFill>
              </a:rPr>
              <a:t>Nine Blocks, One Short Walk</a:t>
            </a:r>
            <a:endParaRPr lang="en-US" sz="1050" dirty="0"/>
          </a:p>
        </p:txBody>
      </p:sp>
      <p:sp>
        <p:nvSpPr>
          <p:cNvPr id="22" name="text-30"/>
          <p:cNvSpPr txBox="1"/>
          <p:nvPr/>
        </p:nvSpPr>
        <p:spPr>
          <a:xfrm>
            <a:off x="1051560" y="7388352"/>
            <a:ext cx="2592324" cy="201168"/>
          </a:xfrm>
          <a:prstGeom prst="rect">
            <a:avLst/>
          </a:prstGeom>
          <a:noFill/>
          <a:ln/>
        </p:spPr>
        <p:txBody>
          <a:bodyPr wrap="square" lIns="0" tIns="0" rIns="0" bIns="0" rtlCol="0" anchor="t"/>
          <a:lstStyle/>
          <a:p>
            <a:pPr indent="0" marL="0">
              <a:buNone/>
            </a:pPr>
            <a:r>
              <a:rPr lang="en-US" sz="900" dirty="0">
                <a:solidFill>
                  <a:schemeClr val="tx2"/>
                </a:solidFill>
              </a:rPr>
              <a:t>Downtown around the Aurora Roundabout</a:t>
            </a:r>
            <a:endParaRPr lang="en-US" sz="900" dirty="0"/>
          </a:p>
        </p:txBody>
      </p:sp>
      <p:sp>
        <p:nvSpPr>
          <p:cNvPr id="23" name="text-31"/>
          <p:cNvSpPr txBox="1"/>
          <p:nvPr/>
        </p:nvSpPr>
        <p:spPr>
          <a:xfrm>
            <a:off x="548640" y="7726680"/>
            <a:ext cx="457200" cy="365760"/>
          </a:xfrm>
          <a:prstGeom prst="rect">
            <a:avLst/>
          </a:prstGeom>
          <a:noFill/>
          <a:ln/>
        </p:spPr>
        <p:txBody>
          <a:bodyPr wrap="square" lIns="0" tIns="0" rIns="0" bIns="0" rtlCol="0" anchor="t"/>
          <a:lstStyle/>
          <a:p>
            <a:pPr indent="0" marL="0">
              <a:buNone/>
            </a:pPr>
            <a:r>
              <a:rPr lang="en-US" sz="1800" b="1" dirty="0">
                <a:solidFill>
                  <a:schemeClr val="accent6"/>
                </a:solidFill>
                <a:latin typeface="+mj-lt" pitchFamily="34" charset="0"/>
                <a:ea typeface="+mj-lt" pitchFamily="34" charset="-122"/>
                <a:cs typeface="+mj-lt" pitchFamily="34" charset="-120"/>
              </a:rPr>
              <a:t>13</a:t>
            </a:r>
            <a:endParaRPr lang="en-US" sz="1800" dirty="0"/>
          </a:p>
        </p:txBody>
      </p:sp>
      <p:sp>
        <p:nvSpPr>
          <p:cNvPr id="24" name="text-32"/>
          <p:cNvSpPr txBox="1"/>
          <p:nvPr/>
        </p:nvSpPr>
        <p:spPr>
          <a:xfrm>
            <a:off x="1051560" y="7754112"/>
            <a:ext cx="2592324" cy="201168"/>
          </a:xfrm>
          <a:prstGeom prst="rect">
            <a:avLst/>
          </a:prstGeom>
          <a:noFill/>
          <a:ln/>
        </p:spPr>
        <p:txBody>
          <a:bodyPr wrap="square" lIns="0" tIns="0" rIns="0" bIns="0" rtlCol="0" anchor="t"/>
          <a:lstStyle/>
          <a:p>
            <a:pPr indent="0" marL="0">
              <a:buNone/>
            </a:pPr>
            <a:r>
              <a:rPr lang="en-US" sz="1050" b="1" dirty="0">
                <a:solidFill>
                  <a:schemeClr val="tx1"/>
                </a:solidFill>
              </a:rPr>
              <a:t>A Livable City Every Day</a:t>
            </a:r>
            <a:endParaRPr lang="en-US" sz="1050" dirty="0"/>
          </a:p>
        </p:txBody>
      </p:sp>
      <p:sp>
        <p:nvSpPr>
          <p:cNvPr id="25" name="text-33"/>
          <p:cNvSpPr txBox="1"/>
          <p:nvPr/>
        </p:nvSpPr>
        <p:spPr>
          <a:xfrm>
            <a:off x="1051560" y="7955280"/>
            <a:ext cx="2592324" cy="201168"/>
          </a:xfrm>
          <a:prstGeom prst="rect">
            <a:avLst/>
          </a:prstGeom>
          <a:noFill/>
          <a:ln/>
        </p:spPr>
        <p:txBody>
          <a:bodyPr wrap="square" lIns="0" tIns="0" rIns="0" bIns="0" rtlCol="0" anchor="t"/>
          <a:lstStyle/>
          <a:p>
            <a:pPr indent="0" marL="0">
              <a:buNone/>
            </a:pPr>
            <a:r>
              <a:rPr lang="en-US" sz="900" dirty="0">
                <a:solidFill>
                  <a:schemeClr val="tx2"/>
                </a:solidFill>
              </a:rPr>
              <a:t>Homes, schools, health, shops and culture</a:t>
            </a:r>
            <a:endParaRPr lang="en-US" sz="900" dirty="0"/>
          </a:p>
        </p:txBody>
      </p:sp>
      <p:sp>
        <p:nvSpPr>
          <p:cNvPr id="26" name="text-34"/>
          <p:cNvSpPr txBox="1"/>
          <p:nvPr/>
        </p:nvSpPr>
        <p:spPr>
          <a:xfrm>
            <a:off x="548640" y="8293608"/>
            <a:ext cx="457200" cy="365760"/>
          </a:xfrm>
          <a:prstGeom prst="rect">
            <a:avLst/>
          </a:prstGeom>
          <a:noFill/>
          <a:ln/>
        </p:spPr>
        <p:txBody>
          <a:bodyPr wrap="square" lIns="0" tIns="0" rIns="0" bIns="0" rtlCol="0" anchor="t"/>
          <a:lstStyle/>
          <a:p>
            <a:pPr indent="0" marL="0">
              <a:buNone/>
            </a:pPr>
            <a:r>
              <a:rPr lang="en-US" sz="1800" b="1" dirty="0">
                <a:solidFill>
                  <a:schemeClr val="accent6"/>
                </a:solidFill>
                <a:latin typeface="+mj-lt" pitchFamily="34" charset="0"/>
                <a:ea typeface="+mj-lt" pitchFamily="34" charset="-122"/>
                <a:cs typeface="+mj-lt" pitchFamily="34" charset="-120"/>
              </a:rPr>
              <a:t>14</a:t>
            </a:r>
            <a:endParaRPr lang="en-US" sz="1800" dirty="0"/>
          </a:p>
        </p:txBody>
      </p:sp>
      <p:sp>
        <p:nvSpPr>
          <p:cNvPr id="27" name="text-35"/>
          <p:cNvSpPr txBox="1"/>
          <p:nvPr/>
        </p:nvSpPr>
        <p:spPr>
          <a:xfrm>
            <a:off x="1051560" y="8321040"/>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City's Own Sun</a:t>
            </a:r>
            <a:endParaRPr lang="en-US" sz="1050" dirty="0"/>
          </a:p>
        </p:txBody>
      </p:sp>
      <p:sp>
        <p:nvSpPr>
          <p:cNvPr id="28" name="text-36"/>
          <p:cNvSpPr txBox="1"/>
          <p:nvPr/>
        </p:nvSpPr>
        <p:spPr>
          <a:xfrm>
            <a:off x="1051560" y="8522208"/>
            <a:ext cx="2592324" cy="201168"/>
          </a:xfrm>
          <a:prstGeom prst="rect">
            <a:avLst/>
          </a:prstGeom>
          <a:noFill/>
          <a:ln/>
        </p:spPr>
        <p:txBody>
          <a:bodyPr wrap="square" lIns="0" tIns="0" rIns="0" bIns="0" rtlCol="0" anchor="t"/>
          <a:lstStyle/>
          <a:p>
            <a:pPr indent="0" marL="0">
              <a:buNone/>
            </a:pPr>
            <a:r>
              <a:rPr lang="en-US" sz="900" dirty="0">
                <a:solidFill>
                  <a:schemeClr val="tx2"/>
                </a:solidFill>
              </a:rPr>
              <a:t>Fusion Power Station</a:t>
            </a:r>
            <a:endParaRPr lang="en-US" sz="900" dirty="0"/>
          </a:p>
        </p:txBody>
      </p:sp>
      <p:sp>
        <p:nvSpPr>
          <p:cNvPr id="29" name="text-37"/>
          <p:cNvSpPr txBox="1"/>
          <p:nvPr/>
        </p:nvSpPr>
        <p:spPr>
          <a:xfrm>
            <a:off x="548640" y="8860536"/>
            <a:ext cx="457200" cy="365760"/>
          </a:xfrm>
          <a:prstGeom prst="rect">
            <a:avLst/>
          </a:prstGeom>
          <a:noFill/>
          <a:ln/>
        </p:spPr>
        <p:txBody>
          <a:bodyPr wrap="square" lIns="0" tIns="0" rIns="0" bIns="0" rtlCol="0" anchor="t"/>
          <a:lstStyle/>
          <a:p>
            <a:pPr indent="0" marL="0">
              <a:buNone/>
            </a:pPr>
            <a:r>
              <a:rPr lang="en-US" sz="1800" b="1" dirty="0">
                <a:solidFill>
                  <a:schemeClr val="accent6"/>
                </a:solidFill>
                <a:latin typeface="+mj-lt" pitchFamily="34" charset="0"/>
                <a:ea typeface="+mj-lt" pitchFamily="34" charset="-122"/>
                <a:cs typeface="+mj-lt" pitchFamily="34" charset="-120"/>
              </a:rPr>
              <a:t>17</a:t>
            </a:r>
            <a:endParaRPr lang="en-US" sz="1800" dirty="0"/>
          </a:p>
        </p:txBody>
      </p:sp>
      <p:sp>
        <p:nvSpPr>
          <p:cNvPr id="30" name="text-38"/>
          <p:cNvSpPr txBox="1"/>
          <p:nvPr/>
        </p:nvSpPr>
        <p:spPr>
          <a:xfrm>
            <a:off x="1051560" y="8887968"/>
            <a:ext cx="2592324" cy="201168"/>
          </a:xfrm>
          <a:prstGeom prst="rect">
            <a:avLst/>
          </a:prstGeom>
          <a:noFill/>
          <a:ln/>
        </p:spPr>
        <p:txBody>
          <a:bodyPr wrap="square" lIns="0" tIns="0" rIns="0" bIns="0" rtlCol="0" anchor="t"/>
          <a:lstStyle/>
          <a:p>
            <a:pPr indent="0" marL="0">
              <a:buNone/>
            </a:pPr>
            <a:r>
              <a:rPr lang="en-US" sz="1050" b="1" dirty="0">
                <a:solidFill>
                  <a:schemeClr val="tx1"/>
                </a:solidFill>
              </a:rPr>
              <a:t>Bread and Water from Snow and Air</a:t>
            </a:r>
            <a:endParaRPr lang="en-US" sz="1050" dirty="0"/>
          </a:p>
        </p:txBody>
      </p:sp>
      <p:sp>
        <p:nvSpPr>
          <p:cNvPr id="31" name="text-39"/>
          <p:cNvSpPr txBox="1"/>
          <p:nvPr/>
        </p:nvSpPr>
        <p:spPr>
          <a:xfrm>
            <a:off x="1051560" y="9089136"/>
            <a:ext cx="2592324" cy="201168"/>
          </a:xfrm>
          <a:prstGeom prst="rect">
            <a:avLst/>
          </a:prstGeom>
          <a:noFill/>
          <a:ln/>
        </p:spPr>
        <p:txBody>
          <a:bodyPr wrap="square" lIns="0" tIns="0" rIns="0" bIns="0" rtlCol="0" anchor="t"/>
          <a:lstStyle/>
          <a:p>
            <a:pPr indent="0" marL="0">
              <a:buNone/>
            </a:pPr>
            <a:r>
              <a:rPr lang="en-US" sz="900" dirty="0">
                <a:solidFill>
                  <a:schemeClr val="tx2"/>
                </a:solidFill>
              </a:rPr>
              <a:t>Snow-to-Food &amp; Water Plant</a:t>
            </a:r>
            <a:endParaRPr lang="en-US" sz="900" dirty="0"/>
          </a:p>
        </p:txBody>
      </p:sp>
      <p:sp>
        <p:nvSpPr>
          <p:cNvPr id="32" name="text-40"/>
          <p:cNvSpPr txBox="1"/>
          <p:nvPr/>
        </p:nvSpPr>
        <p:spPr>
          <a:xfrm>
            <a:off x="548640" y="9427464"/>
            <a:ext cx="457200" cy="365760"/>
          </a:xfrm>
          <a:prstGeom prst="rect">
            <a:avLst/>
          </a:prstGeom>
          <a:noFill/>
          <a:ln/>
        </p:spPr>
        <p:txBody>
          <a:bodyPr wrap="square" lIns="0" tIns="0" rIns="0" bIns="0" rtlCol="0" anchor="t"/>
          <a:lstStyle/>
          <a:p>
            <a:pPr indent="0" marL="0">
              <a:buNone/>
            </a:pPr>
            <a:r>
              <a:rPr lang="en-US" sz="1800" b="1" dirty="0">
                <a:solidFill>
                  <a:schemeClr val="accent6"/>
                </a:solidFill>
                <a:latin typeface="+mj-lt" pitchFamily="34" charset="0"/>
                <a:ea typeface="+mj-lt" pitchFamily="34" charset="-122"/>
                <a:cs typeface="+mj-lt" pitchFamily="34" charset="-120"/>
              </a:rPr>
              <a:t>19</a:t>
            </a:r>
            <a:endParaRPr lang="en-US" sz="1800" dirty="0"/>
          </a:p>
        </p:txBody>
      </p:sp>
      <p:sp>
        <p:nvSpPr>
          <p:cNvPr id="33" name="text-41"/>
          <p:cNvSpPr txBox="1"/>
          <p:nvPr/>
        </p:nvSpPr>
        <p:spPr>
          <a:xfrm>
            <a:off x="1051560" y="9454896"/>
            <a:ext cx="2592324" cy="201168"/>
          </a:xfrm>
          <a:prstGeom prst="rect">
            <a:avLst/>
          </a:prstGeom>
          <a:noFill/>
          <a:ln/>
        </p:spPr>
        <p:txBody>
          <a:bodyPr wrap="square" lIns="0" tIns="0" rIns="0" bIns="0" rtlCol="0" anchor="t"/>
          <a:lstStyle/>
          <a:p>
            <a:pPr indent="0" marL="0">
              <a:buNone/>
            </a:pPr>
            <a:r>
              <a:rPr lang="en-US" sz="1050" b="1" dirty="0">
                <a:solidFill>
                  <a:schemeClr val="tx1"/>
                </a:solidFill>
              </a:rPr>
              <a:t>A Warm Heart Inside the Ice</a:t>
            </a:r>
            <a:endParaRPr lang="en-US" sz="1050" dirty="0"/>
          </a:p>
        </p:txBody>
      </p:sp>
      <p:sp>
        <p:nvSpPr>
          <p:cNvPr id="34" name="text-42"/>
          <p:cNvSpPr txBox="1"/>
          <p:nvPr/>
        </p:nvSpPr>
        <p:spPr>
          <a:xfrm>
            <a:off x="1051560" y="9656064"/>
            <a:ext cx="2592324" cy="201168"/>
          </a:xfrm>
          <a:prstGeom prst="rect">
            <a:avLst/>
          </a:prstGeom>
          <a:noFill/>
          <a:ln/>
        </p:spPr>
        <p:txBody>
          <a:bodyPr wrap="square" lIns="0" tIns="0" rIns="0" bIns="0" rtlCol="0" anchor="t"/>
          <a:lstStyle/>
          <a:p>
            <a:pPr indent="0" marL="0">
              <a:buNone/>
            </a:pPr>
            <a:r>
              <a:rPr lang="en-US" sz="900" dirty="0">
                <a:solidFill>
                  <a:schemeClr val="tx2"/>
                </a:solidFill>
              </a:rPr>
              <a:t>Mount Aurora Geothermal Spa Resort</a:t>
            </a:r>
            <a:endParaRPr lang="en-US" sz="900" dirty="0"/>
          </a:p>
        </p:txBody>
      </p:sp>
      <p:sp>
        <p:nvSpPr>
          <p:cNvPr id="35" name="text-43"/>
          <p:cNvSpPr txBox="1"/>
          <p:nvPr/>
        </p:nvSpPr>
        <p:spPr>
          <a:xfrm>
            <a:off x="3918204" y="4892040"/>
            <a:ext cx="457200" cy="365760"/>
          </a:xfrm>
          <a:prstGeom prst="rect">
            <a:avLst/>
          </a:prstGeom>
          <a:noFill/>
          <a:ln/>
        </p:spPr>
        <p:txBody>
          <a:bodyPr wrap="square" lIns="0" tIns="0" rIns="0" bIns="0" rtlCol="0" anchor="t"/>
          <a:lstStyle/>
          <a:p>
            <a:pPr indent="0" marL="0">
              <a:buNone/>
            </a:pPr>
            <a:r>
              <a:rPr lang="en-US" sz="1800" b="1" dirty="0">
                <a:solidFill>
                  <a:schemeClr val="accent6"/>
                </a:solidFill>
                <a:latin typeface="+mj-lt" pitchFamily="34" charset="0"/>
                <a:ea typeface="+mj-lt" pitchFamily="34" charset="-122"/>
                <a:cs typeface="+mj-lt" pitchFamily="34" charset="-120"/>
              </a:rPr>
              <a:t>23</a:t>
            </a:r>
            <a:endParaRPr lang="en-US" sz="1800" dirty="0"/>
          </a:p>
        </p:txBody>
      </p:sp>
      <p:sp>
        <p:nvSpPr>
          <p:cNvPr id="36" name="text-44"/>
          <p:cNvSpPr txBox="1"/>
          <p:nvPr/>
        </p:nvSpPr>
        <p:spPr>
          <a:xfrm>
            <a:off x="4421124" y="4919472"/>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Three Districts, One Loop</a:t>
            </a:r>
            <a:endParaRPr lang="en-US" sz="1050" dirty="0"/>
          </a:p>
        </p:txBody>
      </p:sp>
      <p:sp>
        <p:nvSpPr>
          <p:cNvPr id="37" name="text-45"/>
          <p:cNvSpPr txBox="1"/>
          <p:nvPr/>
        </p:nvSpPr>
        <p:spPr>
          <a:xfrm>
            <a:off x="4421124" y="5120640"/>
            <a:ext cx="2592324" cy="201168"/>
          </a:xfrm>
          <a:prstGeom prst="rect">
            <a:avLst/>
          </a:prstGeom>
          <a:noFill/>
          <a:ln/>
        </p:spPr>
        <p:txBody>
          <a:bodyPr wrap="square" lIns="0" tIns="0" rIns="0" bIns="0" rtlCol="0" anchor="t"/>
          <a:lstStyle/>
          <a:p>
            <a:pPr indent="0" marL="0">
              <a:buNone/>
            </a:pPr>
            <a:r>
              <a:rPr lang="en-US" sz="900" dirty="0">
                <a:solidFill>
                  <a:schemeClr val="tx2"/>
                </a:solidFill>
              </a:rPr>
              <a:t>How heat, water, oxygen and waste go round</a:t>
            </a:r>
            <a:endParaRPr lang="en-US" sz="900" dirty="0"/>
          </a:p>
        </p:txBody>
      </p:sp>
      <p:sp>
        <p:nvSpPr>
          <p:cNvPr id="38" name="text-46"/>
          <p:cNvSpPr txBox="1"/>
          <p:nvPr/>
        </p:nvSpPr>
        <p:spPr>
          <a:xfrm>
            <a:off x="3918204" y="5458968"/>
            <a:ext cx="457200" cy="365760"/>
          </a:xfrm>
          <a:prstGeom prst="rect">
            <a:avLst/>
          </a:prstGeom>
          <a:noFill/>
          <a:ln/>
        </p:spPr>
        <p:txBody>
          <a:bodyPr wrap="square" lIns="0" tIns="0" rIns="0" bIns="0" rtlCol="0" anchor="t"/>
          <a:lstStyle/>
          <a:p>
            <a:pPr indent="0" marL="0">
              <a:buNone/>
            </a:pPr>
            <a:r>
              <a:rPr lang="en-US" sz="1800" b="1" dirty="0">
                <a:solidFill>
                  <a:schemeClr val="accent6"/>
                </a:solidFill>
                <a:latin typeface="+mj-lt" pitchFamily="34" charset="0"/>
                <a:ea typeface="+mj-lt" pitchFamily="34" charset="-122"/>
                <a:cs typeface="+mj-lt" pitchFamily="34" charset="-120"/>
              </a:rPr>
              <a:t>24</a:t>
            </a:r>
            <a:endParaRPr lang="en-US" sz="1800" dirty="0"/>
          </a:p>
        </p:txBody>
      </p:sp>
      <p:sp>
        <p:nvSpPr>
          <p:cNvPr id="39" name="text-47"/>
          <p:cNvSpPr txBox="1"/>
          <p:nvPr/>
        </p:nvSpPr>
        <p:spPr>
          <a:xfrm>
            <a:off x="4421124" y="5486400"/>
            <a:ext cx="2592324" cy="201168"/>
          </a:xfrm>
          <a:prstGeom prst="rect">
            <a:avLst/>
          </a:prstGeom>
          <a:noFill/>
          <a:ln/>
        </p:spPr>
        <p:txBody>
          <a:bodyPr wrap="square" lIns="0" tIns="0" rIns="0" bIns="0" rtlCol="0" anchor="t"/>
          <a:lstStyle/>
          <a:p>
            <a:pPr indent="0" marL="0">
              <a:buNone/>
            </a:pPr>
            <a:r>
              <a:rPr lang="en-US" sz="1050" b="1" dirty="0">
                <a:solidFill>
                  <a:schemeClr val="tx1"/>
                </a:solidFill>
              </a:rPr>
              <a:t>Energy for the Polar Night</a:t>
            </a:r>
            <a:endParaRPr lang="en-US" sz="1050" dirty="0"/>
          </a:p>
        </p:txBody>
      </p:sp>
      <p:sp>
        <p:nvSpPr>
          <p:cNvPr id="40" name="text-48"/>
          <p:cNvSpPr txBox="1"/>
          <p:nvPr/>
        </p:nvSpPr>
        <p:spPr>
          <a:xfrm>
            <a:off x="4421124" y="5687568"/>
            <a:ext cx="2592324" cy="201168"/>
          </a:xfrm>
          <a:prstGeom prst="rect">
            <a:avLst/>
          </a:prstGeom>
          <a:noFill/>
          <a:ln/>
        </p:spPr>
        <p:txBody>
          <a:bodyPr wrap="square" lIns="0" tIns="0" rIns="0" bIns="0" rtlCol="0" anchor="t"/>
          <a:lstStyle/>
          <a:p>
            <a:pPr indent="0" marL="0">
              <a:buNone/>
            </a:pPr>
            <a:r>
              <a:rPr lang="en-US" sz="900" dirty="0">
                <a:solidFill>
                  <a:schemeClr val="tx2"/>
                </a:solidFill>
              </a:rPr>
              <a:t>Fusion, wind, sun, geothermal and storage</a:t>
            </a:r>
            <a:endParaRPr lang="en-US" sz="900" dirty="0"/>
          </a:p>
        </p:txBody>
      </p:sp>
      <p:sp>
        <p:nvSpPr>
          <p:cNvPr id="41" name="text-49"/>
          <p:cNvSpPr txBox="1"/>
          <p:nvPr/>
        </p:nvSpPr>
        <p:spPr>
          <a:xfrm>
            <a:off x="3918204" y="6025896"/>
            <a:ext cx="457200" cy="365760"/>
          </a:xfrm>
          <a:prstGeom prst="rect">
            <a:avLst/>
          </a:prstGeom>
          <a:noFill/>
          <a:ln/>
        </p:spPr>
        <p:txBody>
          <a:bodyPr wrap="square" lIns="0" tIns="0" rIns="0" bIns="0" rtlCol="0" anchor="t"/>
          <a:lstStyle/>
          <a:p>
            <a:pPr indent="0" marL="0">
              <a:buNone/>
            </a:pPr>
            <a:r>
              <a:rPr lang="en-US" sz="1800" b="1" dirty="0">
                <a:solidFill>
                  <a:schemeClr val="accent6"/>
                </a:solidFill>
                <a:latin typeface="+mj-lt" pitchFamily="34" charset="0"/>
                <a:ea typeface="+mj-lt" pitchFamily="34" charset="-122"/>
                <a:cs typeface="+mj-lt" pitchFamily="34" charset="-120"/>
              </a:rPr>
              <a:t>25</a:t>
            </a:r>
            <a:endParaRPr lang="en-US" sz="1800" dirty="0"/>
          </a:p>
        </p:txBody>
      </p:sp>
      <p:sp>
        <p:nvSpPr>
          <p:cNvPr id="42" name="text-50"/>
          <p:cNvSpPr txBox="1"/>
          <p:nvPr/>
        </p:nvSpPr>
        <p:spPr>
          <a:xfrm>
            <a:off x="4421124" y="6053328"/>
            <a:ext cx="2592324" cy="201168"/>
          </a:xfrm>
          <a:prstGeom prst="rect">
            <a:avLst/>
          </a:prstGeom>
          <a:noFill/>
          <a:ln/>
        </p:spPr>
        <p:txBody>
          <a:bodyPr wrap="square" lIns="0" tIns="0" rIns="0" bIns="0" rtlCol="0" anchor="t"/>
          <a:lstStyle/>
          <a:p>
            <a:pPr indent="0" marL="0">
              <a:buNone/>
            </a:pPr>
            <a:r>
              <a:rPr lang="en-US" sz="1050" b="1" dirty="0">
                <a:solidFill>
                  <a:schemeClr val="tx1"/>
                </a:solidFill>
              </a:rPr>
              <a:t>Nothing Is Wasted</a:t>
            </a:r>
            <a:endParaRPr lang="en-US" sz="1050" dirty="0"/>
          </a:p>
        </p:txBody>
      </p:sp>
      <p:sp>
        <p:nvSpPr>
          <p:cNvPr id="43" name="text-51"/>
          <p:cNvSpPr txBox="1"/>
          <p:nvPr/>
        </p:nvSpPr>
        <p:spPr>
          <a:xfrm>
            <a:off x="4421124" y="6254496"/>
            <a:ext cx="2592324" cy="201168"/>
          </a:xfrm>
          <a:prstGeom prst="rect">
            <a:avLst/>
          </a:prstGeom>
          <a:noFill/>
          <a:ln/>
        </p:spPr>
        <p:txBody>
          <a:bodyPr wrap="square" lIns="0" tIns="0" rIns="0" bIns="0" rtlCol="0" anchor="t"/>
          <a:lstStyle/>
          <a:p>
            <a:pPr indent="0" marL="0">
              <a:buNone/>
            </a:pPr>
            <a:r>
              <a:rPr lang="en-US" sz="900" dirty="0">
                <a:solidFill>
                  <a:schemeClr val="tx2"/>
                </a:solidFill>
              </a:rPr>
              <a:t>Water and waste in closed loops</a:t>
            </a:r>
            <a:endParaRPr lang="en-US" sz="900" dirty="0"/>
          </a:p>
        </p:txBody>
      </p:sp>
      <p:sp>
        <p:nvSpPr>
          <p:cNvPr id="44" name="text-52"/>
          <p:cNvSpPr txBox="1"/>
          <p:nvPr/>
        </p:nvSpPr>
        <p:spPr>
          <a:xfrm>
            <a:off x="3918204" y="6592824"/>
            <a:ext cx="457200" cy="365760"/>
          </a:xfrm>
          <a:prstGeom prst="rect">
            <a:avLst/>
          </a:prstGeom>
          <a:noFill/>
          <a:ln/>
        </p:spPr>
        <p:txBody>
          <a:bodyPr wrap="square" lIns="0" tIns="0" rIns="0" bIns="0" rtlCol="0" anchor="t"/>
          <a:lstStyle/>
          <a:p>
            <a:pPr indent="0" marL="0">
              <a:buNone/>
            </a:pPr>
            <a:r>
              <a:rPr lang="en-US" sz="1800" b="1" dirty="0">
                <a:solidFill>
                  <a:schemeClr val="accent6"/>
                </a:solidFill>
                <a:latin typeface="+mj-lt" pitchFamily="34" charset="0"/>
                <a:ea typeface="+mj-lt" pitchFamily="34" charset="-122"/>
                <a:cs typeface="+mj-lt" pitchFamily="34" charset="-120"/>
              </a:rPr>
              <a:t>26</a:t>
            </a:r>
            <a:endParaRPr lang="en-US" sz="1800" dirty="0"/>
          </a:p>
        </p:txBody>
      </p:sp>
      <p:sp>
        <p:nvSpPr>
          <p:cNvPr id="45" name="text-53"/>
          <p:cNvSpPr txBox="1"/>
          <p:nvPr/>
        </p:nvSpPr>
        <p:spPr>
          <a:xfrm>
            <a:off x="4421124" y="6620256"/>
            <a:ext cx="2592324" cy="201168"/>
          </a:xfrm>
          <a:prstGeom prst="rect">
            <a:avLst/>
          </a:prstGeom>
          <a:noFill/>
          <a:ln/>
        </p:spPr>
        <p:txBody>
          <a:bodyPr wrap="square" lIns="0" tIns="0" rIns="0" bIns="0" rtlCol="0" anchor="t"/>
          <a:lstStyle/>
          <a:p>
            <a:pPr indent="0" marL="0">
              <a:buNone/>
            </a:pPr>
            <a:r>
              <a:rPr lang="en-US" sz="1050" b="1" dirty="0">
                <a:solidFill>
                  <a:schemeClr val="tx1"/>
                </a:solidFill>
              </a:rPr>
              <a:t>Getting Around Fossil-Free</a:t>
            </a:r>
            <a:endParaRPr lang="en-US" sz="1050" dirty="0"/>
          </a:p>
        </p:txBody>
      </p:sp>
      <p:sp>
        <p:nvSpPr>
          <p:cNvPr id="46" name="text-54"/>
          <p:cNvSpPr txBox="1"/>
          <p:nvPr/>
        </p:nvSpPr>
        <p:spPr>
          <a:xfrm>
            <a:off x="4421124" y="6821424"/>
            <a:ext cx="2592324" cy="201168"/>
          </a:xfrm>
          <a:prstGeom prst="rect">
            <a:avLst/>
          </a:prstGeom>
          <a:noFill/>
          <a:ln/>
        </p:spPr>
        <p:txBody>
          <a:bodyPr wrap="square" lIns="0" tIns="0" rIns="0" bIns="0" rtlCol="0" anchor="t"/>
          <a:lstStyle/>
          <a:p>
            <a:pPr indent="0" marL="0">
              <a:buNone/>
            </a:pPr>
            <a:r>
              <a:rPr lang="en-US" sz="900" dirty="0">
                <a:solidFill>
                  <a:schemeClr val="tx2"/>
                </a:solidFill>
              </a:rPr>
              <a:t>Metro, trams, heated roads and the airport</a:t>
            </a:r>
            <a:endParaRPr lang="en-US" sz="900" dirty="0"/>
          </a:p>
        </p:txBody>
      </p:sp>
      <p:sp>
        <p:nvSpPr>
          <p:cNvPr id="47" name="text-55"/>
          <p:cNvSpPr txBox="1"/>
          <p:nvPr/>
        </p:nvSpPr>
        <p:spPr>
          <a:xfrm>
            <a:off x="3918204" y="7159752"/>
            <a:ext cx="457200" cy="365760"/>
          </a:xfrm>
          <a:prstGeom prst="rect">
            <a:avLst/>
          </a:prstGeom>
          <a:noFill/>
          <a:ln/>
        </p:spPr>
        <p:txBody>
          <a:bodyPr wrap="square" lIns="0" tIns="0" rIns="0" bIns="0" rtlCol="0" anchor="t"/>
          <a:lstStyle/>
          <a:p>
            <a:pPr indent="0" marL="0">
              <a:buNone/>
            </a:pPr>
            <a:r>
              <a:rPr lang="en-US" sz="1800" b="1" dirty="0">
                <a:solidFill>
                  <a:schemeClr val="accent6"/>
                </a:solidFill>
                <a:latin typeface="+mj-lt" pitchFamily="34" charset="0"/>
                <a:ea typeface="+mj-lt" pitchFamily="34" charset="-122"/>
                <a:cs typeface="+mj-lt" pitchFamily="34" charset="-120"/>
              </a:rPr>
              <a:t>27</a:t>
            </a:r>
            <a:endParaRPr lang="en-US" sz="1800" dirty="0"/>
          </a:p>
        </p:txBody>
      </p:sp>
      <p:sp>
        <p:nvSpPr>
          <p:cNvPr id="48" name="text-56"/>
          <p:cNvSpPr txBox="1"/>
          <p:nvPr/>
        </p:nvSpPr>
        <p:spPr>
          <a:xfrm>
            <a:off x="4421124" y="7187184"/>
            <a:ext cx="2592324" cy="201168"/>
          </a:xfrm>
          <a:prstGeom prst="rect">
            <a:avLst/>
          </a:prstGeom>
          <a:noFill/>
          <a:ln/>
        </p:spPr>
        <p:txBody>
          <a:bodyPr wrap="square" lIns="0" tIns="0" rIns="0" bIns="0" rtlCol="0" anchor="t"/>
          <a:lstStyle/>
          <a:p>
            <a:pPr indent="0" marL="0">
              <a:buNone/>
            </a:pPr>
            <a:r>
              <a:rPr lang="en-US" sz="1050" b="1" dirty="0">
                <a:solidFill>
                  <a:schemeClr val="tx1"/>
                </a:solidFill>
              </a:rPr>
              <a:t>Salad Under the Northern Lights</a:t>
            </a:r>
            <a:endParaRPr lang="en-US" sz="1050" dirty="0"/>
          </a:p>
        </p:txBody>
      </p:sp>
      <p:sp>
        <p:nvSpPr>
          <p:cNvPr id="49" name="text-57"/>
          <p:cNvSpPr txBox="1"/>
          <p:nvPr/>
        </p:nvSpPr>
        <p:spPr>
          <a:xfrm>
            <a:off x="4421124" y="7388352"/>
            <a:ext cx="2592324" cy="201168"/>
          </a:xfrm>
          <a:prstGeom prst="rect">
            <a:avLst/>
          </a:prstGeom>
          <a:noFill/>
          <a:ln/>
        </p:spPr>
        <p:txBody>
          <a:bodyPr wrap="square" lIns="0" tIns="0" rIns="0" bIns="0" rtlCol="0" anchor="t"/>
          <a:lstStyle/>
          <a:p>
            <a:pPr indent="0" marL="0">
              <a:buNone/>
            </a:pPr>
            <a:r>
              <a:rPr lang="en-US" sz="900" dirty="0">
                <a:solidFill>
                  <a:schemeClr val="tx2"/>
                </a:solidFill>
              </a:rPr>
              <a:t>Inside the Evergreen Greenhouse Dome</a:t>
            </a:r>
            <a:endParaRPr lang="en-US" sz="900" dirty="0"/>
          </a:p>
        </p:txBody>
      </p:sp>
      <p:sp>
        <p:nvSpPr>
          <p:cNvPr id="50" name="text-58"/>
          <p:cNvSpPr txBox="1"/>
          <p:nvPr/>
        </p:nvSpPr>
        <p:spPr>
          <a:xfrm>
            <a:off x="3918204" y="7726680"/>
            <a:ext cx="457200" cy="365760"/>
          </a:xfrm>
          <a:prstGeom prst="rect">
            <a:avLst/>
          </a:prstGeom>
          <a:noFill/>
          <a:ln/>
        </p:spPr>
        <p:txBody>
          <a:bodyPr wrap="square" lIns="0" tIns="0" rIns="0" bIns="0" rtlCol="0" anchor="t"/>
          <a:lstStyle/>
          <a:p>
            <a:pPr indent="0" marL="0">
              <a:buNone/>
            </a:pPr>
            <a:r>
              <a:rPr lang="en-US" sz="1800" b="1" dirty="0">
                <a:solidFill>
                  <a:schemeClr val="accent6"/>
                </a:solidFill>
                <a:latin typeface="+mj-lt" pitchFamily="34" charset="0"/>
                <a:ea typeface="+mj-lt" pitchFamily="34" charset="-122"/>
                <a:cs typeface="+mj-lt" pitchFamily="34" charset="-120"/>
              </a:rPr>
              <a:t>28</a:t>
            </a:r>
            <a:endParaRPr lang="en-US" sz="1800" dirty="0"/>
          </a:p>
        </p:txBody>
      </p:sp>
      <p:sp>
        <p:nvSpPr>
          <p:cNvPr id="51" name="text-59"/>
          <p:cNvSpPr txBox="1"/>
          <p:nvPr/>
        </p:nvSpPr>
        <p:spPr>
          <a:xfrm>
            <a:off x="4421124" y="7754112"/>
            <a:ext cx="2592324" cy="201168"/>
          </a:xfrm>
          <a:prstGeom prst="rect">
            <a:avLst/>
          </a:prstGeom>
          <a:noFill/>
          <a:ln/>
        </p:spPr>
        <p:txBody>
          <a:bodyPr wrap="square" lIns="0" tIns="0" rIns="0" bIns="0" rtlCol="0" anchor="t"/>
          <a:lstStyle/>
          <a:p>
            <a:pPr indent="0" marL="0">
              <a:buNone/>
            </a:pPr>
            <a:r>
              <a:rPr lang="en-US" sz="1050" b="1" dirty="0">
                <a:solidFill>
                  <a:schemeClr val="tx1"/>
                </a:solidFill>
              </a:rPr>
              <a:t>Safe and Ready for Any Storm</a:t>
            </a:r>
            <a:endParaRPr lang="en-US" sz="1050" dirty="0"/>
          </a:p>
        </p:txBody>
      </p:sp>
      <p:sp>
        <p:nvSpPr>
          <p:cNvPr id="52" name="text-60"/>
          <p:cNvSpPr txBox="1"/>
          <p:nvPr/>
        </p:nvSpPr>
        <p:spPr>
          <a:xfrm>
            <a:off x="4421124" y="7955280"/>
            <a:ext cx="2592324" cy="201168"/>
          </a:xfrm>
          <a:prstGeom prst="rect">
            <a:avLst/>
          </a:prstGeom>
          <a:noFill/>
          <a:ln/>
        </p:spPr>
        <p:txBody>
          <a:bodyPr wrap="square" lIns="0" tIns="0" rIns="0" bIns="0" rtlCol="0" anchor="t"/>
          <a:lstStyle/>
          <a:p>
            <a:pPr indent="0" marL="0">
              <a:buNone/>
            </a:pPr>
            <a:r>
              <a:rPr lang="en-US" sz="900" dirty="0">
                <a:solidFill>
                  <a:schemeClr val="tx2"/>
                </a:solidFill>
              </a:rPr>
              <a:t>Rescue, shelters and blizzard forecasts</a:t>
            </a:r>
            <a:endParaRPr lang="en-US" sz="900" dirty="0"/>
          </a:p>
        </p:txBody>
      </p:sp>
      <p:sp>
        <p:nvSpPr>
          <p:cNvPr id="53" name="text-61"/>
          <p:cNvSpPr txBox="1"/>
          <p:nvPr/>
        </p:nvSpPr>
        <p:spPr>
          <a:xfrm>
            <a:off x="3918204" y="8293608"/>
            <a:ext cx="457200" cy="365760"/>
          </a:xfrm>
          <a:prstGeom prst="rect">
            <a:avLst/>
          </a:prstGeom>
          <a:noFill/>
          <a:ln/>
        </p:spPr>
        <p:txBody>
          <a:bodyPr wrap="square" lIns="0" tIns="0" rIns="0" bIns="0" rtlCol="0" anchor="t"/>
          <a:lstStyle/>
          <a:p>
            <a:pPr indent="0" marL="0">
              <a:buNone/>
            </a:pPr>
            <a:r>
              <a:rPr lang="en-US" sz="1800" b="1" dirty="0">
                <a:solidFill>
                  <a:schemeClr val="accent6"/>
                </a:solidFill>
                <a:latin typeface="+mj-lt" pitchFamily="34" charset="0"/>
                <a:ea typeface="+mj-lt" pitchFamily="34" charset="-122"/>
                <a:cs typeface="+mj-lt" pitchFamily="34" charset="-120"/>
              </a:rPr>
              <a:t>29</a:t>
            </a:r>
            <a:endParaRPr lang="en-US" sz="1800" dirty="0"/>
          </a:p>
        </p:txBody>
      </p:sp>
      <p:sp>
        <p:nvSpPr>
          <p:cNvPr id="54" name="text-62"/>
          <p:cNvSpPr txBox="1"/>
          <p:nvPr/>
        </p:nvSpPr>
        <p:spPr>
          <a:xfrm>
            <a:off x="4421124" y="8321040"/>
            <a:ext cx="2592324" cy="201168"/>
          </a:xfrm>
          <a:prstGeom prst="rect">
            <a:avLst/>
          </a:prstGeom>
          <a:noFill/>
          <a:ln/>
        </p:spPr>
        <p:txBody>
          <a:bodyPr wrap="square" lIns="0" tIns="0" rIns="0" bIns="0" rtlCol="0" anchor="t"/>
          <a:lstStyle/>
          <a:p>
            <a:pPr indent="0" marL="0">
              <a:buNone/>
            </a:pPr>
            <a:r>
              <a:rPr lang="en-US" sz="1050" b="1" dirty="0">
                <a:solidFill>
                  <a:schemeClr val="tx1"/>
                </a:solidFill>
              </a:rPr>
              <a:t>Take the Tour</a:t>
            </a:r>
            <a:endParaRPr lang="en-US" sz="1050" dirty="0"/>
          </a:p>
        </p:txBody>
      </p:sp>
      <p:sp>
        <p:nvSpPr>
          <p:cNvPr id="55" name="text-63"/>
          <p:cNvSpPr txBox="1"/>
          <p:nvPr/>
        </p:nvSpPr>
        <p:spPr>
          <a:xfrm>
            <a:off x="4421124" y="8522208"/>
            <a:ext cx="2592324" cy="201168"/>
          </a:xfrm>
          <a:prstGeom prst="rect">
            <a:avLst/>
          </a:prstGeom>
          <a:noFill/>
          <a:ln/>
        </p:spPr>
        <p:txBody>
          <a:bodyPr wrap="square" lIns="0" tIns="0" rIns="0" bIns="0" rtlCol="0" anchor="t"/>
          <a:lstStyle/>
          <a:p>
            <a:pPr indent="0" marL="0">
              <a:buNone/>
            </a:pPr>
            <a:r>
              <a:rPr lang="en-US" sz="900" dirty="0">
                <a:solidFill>
                  <a:schemeClr val="tx2"/>
                </a:solidFill>
              </a:rPr>
              <a:t>Eight stops around the city</a:t>
            </a:r>
            <a:endParaRPr lang="en-US" sz="900" dirty="0"/>
          </a:p>
        </p:txBody>
      </p:sp>
      <p:sp>
        <p:nvSpPr>
          <p:cNvPr id="56" name="text-64"/>
          <p:cNvSpPr txBox="1"/>
          <p:nvPr/>
        </p:nvSpPr>
        <p:spPr>
          <a:xfrm>
            <a:off x="3918204" y="8860536"/>
            <a:ext cx="457200" cy="365760"/>
          </a:xfrm>
          <a:prstGeom prst="rect">
            <a:avLst/>
          </a:prstGeom>
          <a:noFill/>
          <a:ln/>
        </p:spPr>
        <p:txBody>
          <a:bodyPr wrap="square" lIns="0" tIns="0" rIns="0" bIns="0" rtlCol="0" anchor="t"/>
          <a:lstStyle/>
          <a:p>
            <a:pPr indent="0" marL="0">
              <a:buNone/>
            </a:pPr>
            <a:r>
              <a:rPr lang="en-US" sz="1800" b="1" dirty="0">
                <a:solidFill>
                  <a:schemeClr val="accent6"/>
                </a:solidFill>
                <a:latin typeface="+mj-lt" pitchFamily="34" charset="0"/>
                <a:ea typeface="+mj-lt" pitchFamily="34" charset="-122"/>
                <a:cs typeface="+mj-lt" pitchFamily="34" charset="-120"/>
              </a:rPr>
              <a:t>30</a:t>
            </a:r>
            <a:endParaRPr lang="en-US" sz="1800" dirty="0"/>
          </a:p>
        </p:txBody>
      </p:sp>
      <p:sp>
        <p:nvSpPr>
          <p:cNvPr id="57" name="text-65"/>
          <p:cNvSpPr txBox="1"/>
          <p:nvPr/>
        </p:nvSpPr>
        <p:spPr>
          <a:xfrm>
            <a:off x="4421124" y="8887968"/>
            <a:ext cx="2592324" cy="201168"/>
          </a:xfrm>
          <a:prstGeom prst="rect">
            <a:avLst/>
          </a:prstGeom>
          <a:noFill/>
          <a:ln/>
        </p:spPr>
        <p:txBody>
          <a:bodyPr wrap="square" lIns="0" tIns="0" rIns="0" bIns="0" rtlCol="0" anchor="t"/>
          <a:lstStyle/>
          <a:p>
            <a:pPr indent="0" marL="0">
              <a:buNone/>
            </a:pPr>
            <a:r>
              <a:rPr lang="en-US" sz="1050" b="1" dirty="0">
                <a:solidFill>
                  <a:schemeClr val="tx1"/>
                </a:solidFill>
              </a:rPr>
              <a:t>Places to Visit</a:t>
            </a:r>
            <a:endParaRPr lang="en-US" sz="1050" dirty="0"/>
          </a:p>
        </p:txBody>
      </p:sp>
      <p:sp>
        <p:nvSpPr>
          <p:cNvPr id="58" name="text-66"/>
          <p:cNvSpPr txBox="1"/>
          <p:nvPr/>
        </p:nvSpPr>
        <p:spPr>
          <a:xfrm>
            <a:off x="4421124" y="9089136"/>
            <a:ext cx="2592324" cy="201168"/>
          </a:xfrm>
          <a:prstGeom prst="rect">
            <a:avLst/>
          </a:prstGeom>
          <a:noFill/>
          <a:ln/>
        </p:spPr>
        <p:txBody>
          <a:bodyPr wrap="square" lIns="0" tIns="0" rIns="0" bIns="0" rtlCol="0" anchor="t"/>
          <a:lstStyle/>
          <a:p>
            <a:pPr indent="0" marL="0">
              <a:buNone/>
            </a:pPr>
            <a:r>
              <a:rPr lang="en-US" sz="900" dirty="0">
                <a:solidFill>
                  <a:schemeClr val="tx2"/>
                </a:solidFill>
              </a:rPr>
              <a:t>35 key places and what they do</a:t>
            </a:r>
            <a:endParaRPr lang="en-US" sz="900" dirty="0"/>
          </a:p>
        </p:txBody>
      </p:sp>
      <p:sp>
        <p:nvSpPr>
          <p:cNvPr id="59" name="text-67"/>
          <p:cNvSpPr txBox="1"/>
          <p:nvPr/>
        </p:nvSpPr>
        <p:spPr>
          <a:xfrm>
            <a:off x="3918204" y="9427464"/>
            <a:ext cx="457200" cy="365760"/>
          </a:xfrm>
          <a:prstGeom prst="rect">
            <a:avLst/>
          </a:prstGeom>
          <a:noFill/>
          <a:ln/>
        </p:spPr>
        <p:txBody>
          <a:bodyPr wrap="square" lIns="0" tIns="0" rIns="0" bIns="0" rtlCol="0" anchor="t"/>
          <a:lstStyle/>
          <a:p>
            <a:pPr indent="0" marL="0">
              <a:buNone/>
            </a:pPr>
            <a:r>
              <a:rPr lang="en-US" sz="1800" b="1" dirty="0">
                <a:solidFill>
                  <a:schemeClr val="accent6"/>
                </a:solidFill>
                <a:latin typeface="+mj-lt" pitchFamily="34" charset="0"/>
                <a:ea typeface="+mj-lt" pitchFamily="34" charset="-122"/>
                <a:cs typeface="+mj-lt" pitchFamily="34" charset="-120"/>
              </a:rPr>
              <a:t>31</a:t>
            </a:r>
            <a:endParaRPr lang="en-US" sz="1800" dirty="0"/>
          </a:p>
        </p:txBody>
      </p:sp>
      <p:sp>
        <p:nvSpPr>
          <p:cNvPr id="60" name="text-68"/>
          <p:cNvSpPr txBox="1"/>
          <p:nvPr/>
        </p:nvSpPr>
        <p:spPr>
          <a:xfrm>
            <a:off x="4421124" y="9454896"/>
            <a:ext cx="2592324" cy="201168"/>
          </a:xfrm>
          <a:prstGeom prst="rect">
            <a:avLst/>
          </a:prstGeom>
          <a:noFill/>
          <a:ln/>
        </p:spPr>
        <p:txBody>
          <a:bodyPr wrap="square" lIns="0" tIns="0" rIns="0" bIns="0" rtlCol="0" anchor="t"/>
          <a:lstStyle/>
          <a:p>
            <a:pPr indent="0" marL="0">
              <a:buNone/>
            </a:pPr>
            <a:r>
              <a:rPr lang="en-US" sz="1050" b="1" dirty="0">
                <a:solidFill>
                  <a:schemeClr val="tx1"/>
                </a:solidFill>
              </a:rPr>
              <a:t>Aurora Haven by the Numbers</a:t>
            </a:r>
            <a:endParaRPr lang="en-US" sz="1050" dirty="0"/>
          </a:p>
        </p:txBody>
      </p:sp>
      <p:sp>
        <p:nvSpPr>
          <p:cNvPr id="61" name="text-69"/>
          <p:cNvSpPr txBox="1"/>
          <p:nvPr/>
        </p:nvSpPr>
        <p:spPr>
          <a:xfrm>
            <a:off x="4421124" y="9656064"/>
            <a:ext cx="2592324" cy="201168"/>
          </a:xfrm>
          <a:prstGeom prst="rect">
            <a:avLst/>
          </a:prstGeom>
          <a:noFill/>
          <a:ln/>
        </p:spPr>
        <p:txBody>
          <a:bodyPr wrap="square" lIns="0" tIns="0" rIns="0" bIns="0" rtlCol="0" anchor="t"/>
          <a:lstStyle/>
          <a:p>
            <a:pPr indent="0" marL="0">
              <a:buNone/>
            </a:pPr>
            <a:r>
              <a:rPr lang="en-US" sz="900" dirty="0">
                <a:solidFill>
                  <a:schemeClr val="tx2"/>
                </a:solidFill>
              </a:rPr>
              <a:t>The key figures in one place</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dot-70"/>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71"/>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FROM THE EDITORS</a:t>
            </a:r>
            <a:endParaRPr lang="en-US" sz="900" dirty="0"/>
          </a:p>
        </p:txBody>
      </p:sp>
      <p:sp>
        <p:nvSpPr>
          <p:cNvPr id="4" name="quote-rule-72"/>
          <p:cNvSpPr/>
          <p:nvPr/>
        </p:nvSpPr>
        <p:spPr>
          <a:xfrm>
            <a:off x="548640" y="868680"/>
            <a:ext cx="548640" cy="45720"/>
          </a:xfrm>
          <a:prstGeom prst="rect">
            <a:avLst/>
          </a:prstGeom>
          <a:solidFill>
            <a:schemeClr val="tx1"/>
          </a:solidFill>
          <a:ln w="12700">
            <a:solidFill>
              <a:schemeClr val="tx1"/>
            </a:solidFill>
            <a:prstDash val="solid"/>
          </a:ln>
        </p:spPr>
      </p:sp>
      <p:sp>
        <p:nvSpPr>
          <p:cNvPr id="5" name="text-73"/>
          <p:cNvSpPr txBox="1"/>
          <p:nvPr/>
        </p:nvSpPr>
        <p:spPr>
          <a:xfrm>
            <a:off x="548640" y="1033272"/>
            <a:ext cx="6464808" cy="1097280"/>
          </a:xfrm>
          <a:prstGeom prst="rect">
            <a:avLst/>
          </a:prstGeom>
          <a:noFill/>
          <a:ln/>
        </p:spPr>
        <p:txBody>
          <a:bodyPr wrap="square" lIns="0" tIns="0" rIns="0" bIns="0" rtlCol="0" anchor="t"/>
          <a:lstStyle/>
          <a:p>
            <a:pPr indent="0" marL="0">
              <a:lnSpc>
                <a:spcPct val="102000"/>
              </a:lnSpc>
              <a:buNone/>
            </a:pPr>
            <a:r>
              <a:rPr lang="en-US" sz="2300" b="1" i="1" dirty="0">
                <a:solidFill>
                  <a:schemeClr val="tx1"/>
                </a:solidFill>
                <a:latin typeface="+mj-lt" pitchFamily="34" charset="0"/>
                <a:ea typeface="+mj-lt" pitchFamily="34" charset="-122"/>
                <a:cs typeface="+mj-lt" pitchFamily="34" charset="-120"/>
              </a:rPr>
              <a:t>“Our goal was not only to survive the cold but to build a city where people really want to live.”</a:t>
            </a:r>
            <a:endParaRPr lang="en-US" sz="2300" dirty="0"/>
          </a:p>
        </p:txBody>
      </p:sp>
      <p:pic>
        <p:nvPicPr>
          <p:cNvPr id="6" name="picture-74" descr="/home/user/chatbox-bi-n-o/magazine/assets/renders/lagoon.jpg">    </p:cNvPr>
          <p:cNvPicPr>
            <a:picLocks noChangeAspect="1"/>
          </p:cNvPicPr>
          <p:nvPr/>
        </p:nvPicPr>
        <p:blipFill>
          <a:blip r:embed="rId1"/>
          <a:srcRect l="0" r="0" t="0" b="0"/>
          <a:stretch/>
        </p:blipFill>
        <p:spPr>
          <a:xfrm>
            <a:off x="0" y="2331720"/>
            <a:ext cx="7562088" cy="3429000"/>
          </a:xfrm>
          <a:prstGeom prst="rect">
            <a:avLst/>
          </a:prstGeom>
        </p:spPr>
      </p:pic>
      <p:sp>
        <p:nvSpPr>
          <p:cNvPr id="7" name="text-75"/>
          <p:cNvSpPr txBox="1"/>
          <p:nvPr/>
        </p:nvSpPr>
        <p:spPr>
          <a:xfrm>
            <a:off x="548640" y="5833872"/>
            <a:ext cx="6464808" cy="274320"/>
          </a:xfrm>
          <a:prstGeom prst="rect">
            <a:avLst/>
          </a:prstGeom>
          <a:noFill/>
          <a:ln/>
        </p:spPr>
        <p:txBody>
          <a:bodyPr wrap="square" lIns="0" tIns="0" rIns="0" bIns="0" rtlCol="0" anchor="t"/>
          <a:lstStyle/>
          <a:p>
            <a:pPr indent="0" marL="0">
              <a:buNone/>
            </a:pPr>
            <a:r>
              <a:rPr lang="en-US" sz="850" i="1" dirty="0">
                <a:solidFill>
                  <a:schemeClr val="tx2"/>
                </a:solidFill>
              </a:rPr>
              <a:t>The Aurora Lagoon, a 38 °C open-air mineral pool at the foot of Mount Aurora, under the northern lights.</a:t>
            </a:r>
            <a:endParaRPr lang="en-US" sz="850" dirty="0"/>
          </a:p>
        </p:txBody>
      </p:sp>
      <p:sp>
        <p:nvSpPr>
          <p:cNvPr id="8" name="text-76"/>
          <p:cNvSpPr txBox="1"/>
          <p:nvPr/>
        </p:nvSpPr>
        <p:spPr>
          <a:xfrm>
            <a:off x="548640" y="6263640"/>
            <a:ext cx="3095244" cy="2377440"/>
          </a:xfrm>
          <a:prstGeom prst="rect">
            <a:avLst/>
          </a:prstGeom>
          <a:noFill/>
          <a:ln/>
        </p:spPr>
        <p:txBody>
          <a:bodyPr wrap="square" lIns="0" tIns="0" rIns="0" bIns="0" rtlCol="0" anchor="t"/>
          <a:lstStyle/>
          <a:p>
            <a:pPr indent="0" marL="0">
              <a:lnSpc>
                <a:spcPct val="112000"/>
              </a:lnSpc>
              <a:buNone/>
            </a:pPr>
            <a:r>
              <a:rPr lang="en-US" sz="1050" b="1" spc="100" kern="0" dirty="0">
                <a:solidFill>
                  <a:schemeClr val="tx1"/>
                </a:solidFill>
              </a:rPr>
              <a:t>WELCOME TO THE FIRST ISSUE </a:t>
            </a:r>
            <a:pPr indent="0" marL="0">
              <a:lnSpc>
                <a:spcPct val="112000"/>
              </a:lnSpc>
              <a:spcAft>
                <a:spcPts val="700"/>
              </a:spcAft>
              <a:buNone/>
            </a:pPr>
            <a:r>
              <a:rPr lang="en-US" sz="1050" dirty="0">
                <a:solidFill>
                  <a:schemeClr val="tx1"/>
                </a:solidFill>
              </a:rPr>
              <a:t>of Aurora Haven, a magazine about our city for the Polar / Ice environment.</a:t>
            </a:r>
            <a:endParaRPr lang="en-US" sz="1050" dirty="0"/>
          </a:p>
          <a:p>
            <a:pPr indent="0" marL="0">
              <a:lnSpc>
                <a:spcPct val="112000"/>
              </a:lnSpc>
              <a:spcAft>
                <a:spcPts val="700"/>
              </a:spcAft>
              <a:buNone/>
            </a:pPr>
            <a:r>
              <a:rPr lang="en-US" sz="1050" dirty="0">
                <a:solidFill>
                  <a:schemeClr val="tx1"/>
                </a:solidFill>
              </a:rPr>
              <a:t>Aurora Haven is a compact city of about 45,000 people on a frozen tundra plateau, below a 35-metre snow peak called Mount Aurora. Our goal was not only to survive the cold but to build a city where people really want to live.</a:t>
            </a:r>
            <a:endParaRPr lang="en-US" sz="1050" dirty="0"/>
          </a:p>
        </p:txBody>
      </p:sp>
      <p:sp>
        <p:nvSpPr>
          <p:cNvPr id="9" name="text-77"/>
          <p:cNvSpPr txBox="1"/>
          <p:nvPr/>
        </p:nvSpPr>
        <p:spPr>
          <a:xfrm>
            <a:off x="3918204" y="626364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these pages you will find the challenge we faced, our design ideas, our three signature districts and everyday life in the city.</a:t>
            </a:r>
            <a:endParaRPr lang="en-US" sz="1050" dirty="0"/>
          </a:p>
          <a:p>
            <a:pPr indent="0" marL="0">
              <a:lnSpc>
                <a:spcPct val="112000"/>
              </a:lnSpc>
              <a:spcAft>
                <a:spcPts val="700"/>
              </a:spcAft>
              <a:buNone/>
            </a:pPr>
            <a:r>
              <a:rPr lang="en-US" sz="1050" dirty="0">
                <a:solidFill>
                  <a:schemeClr val="tx1"/>
                </a:solidFill>
              </a:rPr>
              <a:t>Every picture in this issue was rendered from a 3D model of the city. At the back, a self-guided tour takes you around the city, from the monument to the rescue station.</a:t>
            </a:r>
            <a:endParaRPr lang="en-US" sz="1050" dirty="0"/>
          </a:p>
        </p:txBody>
      </p:sp>
      <p:sp>
        <p:nvSpPr>
          <p:cNvPr id="10" name="text-78"/>
          <p:cNvSpPr txBox="1"/>
          <p:nvPr/>
        </p:nvSpPr>
        <p:spPr>
          <a:xfrm>
            <a:off x="3918204" y="8001000"/>
            <a:ext cx="3095244" cy="228600"/>
          </a:xfrm>
          <a:prstGeom prst="rect">
            <a:avLst/>
          </a:prstGeom>
          <a:noFill/>
          <a:ln/>
        </p:spPr>
        <p:txBody>
          <a:bodyPr wrap="square" lIns="0" tIns="0" rIns="0" bIns="0" rtlCol="0" anchor="t"/>
          <a:lstStyle/>
          <a:p>
            <a:pPr indent="0" marL="0">
              <a:buNone/>
            </a:pPr>
            <a:r>
              <a:rPr lang="en-US" sz="1200" b="1" i="1" dirty="0">
                <a:solidFill>
                  <a:schemeClr val="tx1"/>
                </a:solidFill>
                <a:latin typeface="+mj-lt" pitchFamily="34" charset="0"/>
                <a:ea typeface="+mj-lt" pitchFamily="34" charset="-122"/>
                <a:cs typeface="+mj-lt" pitchFamily="34" charset="-120"/>
              </a:rPr>
              <a:t>[Group name]</a:t>
            </a:r>
            <a:endParaRPr lang="en-US" sz="1200" dirty="0"/>
          </a:p>
        </p:txBody>
      </p:sp>
      <p:sp>
        <p:nvSpPr>
          <p:cNvPr id="11" name="text-79"/>
          <p:cNvSpPr txBox="1"/>
          <p:nvPr/>
        </p:nvSpPr>
        <p:spPr>
          <a:xfrm>
            <a:off x="3918204" y="8247888"/>
            <a:ext cx="3095244" cy="274320"/>
          </a:xfrm>
          <a:prstGeom prst="rect">
            <a:avLst/>
          </a:prstGeom>
          <a:noFill/>
          <a:ln/>
        </p:spPr>
        <p:txBody>
          <a:bodyPr wrap="square" lIns="0" tIns="0" rIns="0" bIns="0" rtlCol="0" anchor="t"/>
          <a:lstStyle/>
          <a:p>
            <a:pPr indent="0" marL="0">
              <a:buNone/>
            </a:pPr>
            <a:r>
              <a:rPr lang="en-US" sz="900" dirty="0">
                <a:solidFill>
                  <a:schemeClr val="tx2"/>
                </a:solidFill>
              </a:rPr>
              <a:t>[Member names] · [Class] · [Date]</a:t>
            </a:r>
            <a:endParaRPr lang="en-US" sz="900" dirty="0"/>
          </a:p>
        </p:txBody>
      </p:sp>
      <p:sp>
        <p:nvSpPr>
          <p:cNvPr id="12" name="card-80"/>
          <p:cNvSpPr/>
          <p:nvPr/>
        </p:nvSpPr>
        <p:spPr>
          <a:xfrm>
            <a:off x="548640" y="8732520"/>
            <a:ext cx="6464808" cy="1234440"/>
          </a:xfrm>
          <a:prstGeom prst="roundRect">
            <a:avLst>
              <a:gd name="adj" fmla="val 5926"/>
            </a:avLst>
          </a:prstGeom>
          <a:solidFill>
            <a:schemeClr val="bg2"/>
          </a:solidFill>
          <a:ln w="12700">
            <a:solidFill>
              <a:schemeClr val="bg2"/>
            </a:solidFill>
            <a:prstDash val="solid"/>
          </a:ln>
        </p:spPr>
      </p:sp>
      <p:pic>
        <p:nvPicPr>
          <p:cNvPr id="13" name="picture-81" descr="/home/user/chatbox-bi-n-o/magazine/assets/renders/cover.jpg">    </p:cNvPr>
          <p:cNvPicPr>
            <a:picLocks noChangeAspect="1"/>
          </p:cNvPicPr>
          <p:nvPr/>
        </p:nvPicPr>
        <p:blipFill>
          <a:blip r:embed="rId2"/>
          <a:srcRect l="0" r="0" t="0" b="0"/>
          <a:stretch/>
        </p:blipFill>
        <p:spPr>
          <a:xfrm>
            <a:off x="685800" y="8869680"/>
            <a:ext cx="685800" cy="960120"/>
          </a:xfrm>
          <a:prstGeom prst="rect">
            <a:avLst/>
          </a:prstGeom>
        </p:spPr>
      </p:pic>
      <p:sp>
        <p:nvSpPr>
          <p:cNvPr id="14" name="kicker-dot-82"/>
          <p:cNvSpPr/>
          <p:nvPr/>
        </p:nvSpPr>
        <p:spPr>
          <a:xfrm>
            <a:off x="1554480" y="8929116"/>
            <a:ext cx="100584" cy="100584"/>
          </a:xfrm>
          <a:prstGeom prst="ellipse">
            <a:avLst/>
          </a:prstGeom>
          <a:solidFill>
            <a:schemeClr val="accent6"/>
          </a:solidFill>
          <a:ln w="12700">
            <a:solidFill>
              <a:schemeClr val="accent6"/>
            </a:solidFill>
            <a:prstDash val="solid"/>
          </a:ln>
        </p:spPr>
      </p:sp>
      <p:sp>
        <p:nvSpPr>
          <p:cNvPr id="15" name="text-83"/>
          <p:cNvSpPr txBox="1"/>
          <p:nvPr/>
        </p:nvSpPr>
        <p:spPr>
          <a:xfrm>
            <a:off x="1737360" y="8887968"/>
            <a:ext cx="527608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ON THE COVER</a:t>
            </a:r>
            <a:endParaRPr lang="en-US" sz="900" dirty="0"/>
          </a:p>
        </p:txBody>
      </p:sp>
      <p:sp>
        <p:nvSpPr>
          <p:cNvPr id="16" name="text-84"/>
          <p:cNvSpPr txBox="1"/>
          <p:nvPr/>
        </p:nvSpPr>
        <p:spPr>
          <a:xfrm>
            <a:off x="1554480" y="9125712"/>
            <a:ext cx="5321808" cy="777240"/>
          </a:xfrm>
          <a:prstGeom prst="rect">
            <a:avLst/>
          </a:prstGeom>
          <a:noFill/>
          <a:ln/>
        </p:spPr>
        <p:txBody>
          <a:bodyPr wrap="square" lIns="0" tIns="0" rIns="0" bIns="0" rtlCol="0" anchor="t"/>
          <a:lstStyle/>
          <a:p>
            <a:pPr indent="0" marL="0">
              <a:lnSpc>
                <a:spcPct val="105000"/>
              </a:lnSpc>
              <a:buNone/>
            </a:pPr>
            <a:r>
              <a:rPr lang="en-US" sz="900" dirty="0">
                <a:solidFill>
                  <a:schemeClr val="tx1"/>
                </a:solidFill>
              </a:rPr>
              <a:t>Aurora 81 – Polar Landmark Tower, named in honour of Landmark 81 in Ho Chi Minh City, beside the street that leads to the glowing terraces of the Mount Aurora spa, under the northern lights. Its nine bundled glass tubes step back like bamboo stalks and cut blizzard wind load by about 25%.</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picture-85" descr="/home/user/chatbox-bi-n-o/magazine/assets/renders/welcome_pano_L.jpg">    </p:cNvPr>
          <p:cNvPicPr>
            <a:picLocks noChangeAspect="1"/>
          </p:cNvPicPr>
          <p:nvPr/>
        </p:nvPicPr>
        <p:blipFill>
          <a:blip r:embed="rId1"/>
          <a:srcRect l="0" r="0" t="0" b="0"/>
          <a:stretch/>
        </p:blipFill>
        <p:spPr>
          <a:xfrm>
            <a:off x="0" y="0"/>
            <a:ext cx="7562088" cy="6400800"/>
          </a:xfrm>
          <a:prstGeom prst="rect">
            <a:avLst/>
          </a:prstGeom>
        </p:spPr>
      </p:pic>
      <p:pic>
        <p:nvPicPr>
          <p:cNvPr id="3" name="shade-bottom-86" descr="/home/user/chatbox-bi-n-o/magazine/assets/ui/shade_bottom.png">    </p:cNvPr>
          <p:cNvPicPr>
            <a:picLocks noChangeAspect="1"/>
          </p:cNvPicPr>
          <p:nvPr/>
        </p:nvPicPr>
        <p:blipFill>
          <a:blip r:embed="rId2"/>
          <a:stretch>
            <a:fillRect/>
          </a:stretch>
        </p:blipFill>
        <p:spPr>
          <a:xfrm>
            <a:off x="0" y="3474720"/>
            <a:ext cx="7562088" cy="2926080"/>
          </a:xfrm>
          <a:prstGeom prst="rect">
            <a:avLst/>
          </a:prstGeom>
        </p:spPr>
      </p:pic>
      <p:sp>
        <p:nvSpPr>
          <p:cNvPr id="4" name="kicker-dot-87"/>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88"/>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CITY OVERVIEW</a:t>
            </a:r>
            <a:endParaRPr lang="en-US" sz="900" dirty="0"/>
          </a:p>
        </p:txBody>
      </p:sp>
      <p:sp>
        <p:nvSpPr>
          <p:cNvPr id="6" name="title-89"/>
          <p:cNvSpPr txBox="1"/>
          <p:nvPr/>
        </p:nvSpPr>
        <p:spPr>
          <a:xfrm>
            <a:off x="548640" y="4892040"/>
            <a:ext cx="6464808" cy="12801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Welcome to Aurora Haven</a:t>
            </a:r>
            <a:endParaRPr lang="en-US" sz="4600" dirty="0"/>
          </a:p>
        </p:txBody>
      </p:sp>
      <p:sp>
        <p:nvSpPr>
          <p:cNvPr id="7" name="text-91"/>
          <p:cNvSpPr txBox="1"/>
          <p:nvPr/>
        </p:nvSpPr>
        <p:spPr>
          <a:xfrm>
            <a:off x="548640" y="6720840"/>
            <a:ext cx="6464808" cy="640080"/>
          </a:xfrm>
          <a:prstGeom prst="rect">
            <a:avLst/>
          </a:prstGeom>
          <a:noFill/>
          <a:ln/>
        </p:spPr>
        <p:txBody>
          <a:bodyPr wrap="square" lIns="0" tIns="0" rIns="0" bIns="0" rtlCol="0" anchor="t"/>
          <a:lstStyle/>
          <a:p>
            <a:pPr indent="0" marL="0">
              <a:lnSpc>
                <a:spcPct val="110000"/>
              </a:lnSpc>
              <a:buNone/>
            </a:pPr>
            <a:r>
              <a:rPr lang="en-US" sz="1500" i="1" dirty="0">
                <a:solidFill>
                  <a:schemeClr val="tx1"/>
                </a:solidFill>
                <a:latin typeface="+mj-lt" pitchFamily="34" charset="0"/>
                <a:ea typeface="+mj-lt" pitchFamily="34" charset="-122"/>
                <a:cs typeface="+mj-lt" pitchFamily="34" charset="-120"/>
              </a:rPr>
              <a:t>Designed not just to survive the polar night, but to make life here warm, healthy and sustainable.</a:t>
            </a:r>
            <a:endParaRPr lang="en-US" sz="1500" dirty="0"/>
          </a:p>
        </p:txBody>
      </p:sp>
      <p:sp>
        <p:nvSpPr>
          <p:cNvPr id="8" name="text-92"/>
          <p:cNvSpPr txBox="1"/>
          <p:nvPr/>
        </p:nvSpPr>
        <p:spPr>
          <a:xfrm>
            <a:off x="548640" y="7543800"/>
            <a:ext cx="3095244" cy="2468880"/>
          </a:xfrm>
          <a:prstGeom prst="rect">
            <a:avLst/>
          </a:prstGeom>
          <a:noFill/>
          <a:ln/>
        </p:spPr>
        <p:txBody>
          <a:bodyPr wrap="square" lIns="0" tIns="0" rIns="0" bIns="0" rtlCol="0" anchor="t"/>
          <a:lstStyle/>
          <a:p>
            <a:pPr indent="0" marL="0">
              <a:lnSpc>
                <a:spcPct val="112000"/>
              </a:lnSpc>
              <a:buNone/>
            </a:pPr>
            <a:r>
              <a:rPr lang="en-US" sz="1050" b="1" spc="100" kern="0" dirty="0">
                <a:solidFill>
                  <a:schemeClr val="tx1"/>
                </a:solidFill>
              </a:rPr>
              <a:t>AURORA HAVEN IS </a:t>
            </a:r>
            <a:pPr indent="0" marL="0">
              <a:lnSpc>
                <a:spcPct val="112000"/>
              </a:lnSpc>
              <a:spcAft>
                <a:spcPts val="700"/>
              </a:spcAft>
              <a:buNone/>
            </a:pPr>
            <a:r>
              <a:rPr lang="en-US" sz="1050" dirty="0">
                <a:solidFill>
                  <a:schemeClr val="tx1"/>
                </a:solidFill>
              </a:rPr>
              <a:t>a compact polar city of around 45,000 people, built on a frozen tundra plateau beneath the snow peak of Mount Aurora. Winters fall to −45 °C, the sun disappears for two months of polar night, and almost nothing can grow.</a:t>
            </a:r>
            <a:endParaRPr lang="en-US" sz="1050" dirty="0"/>
          </a:p>
        </p:txBody>
      </p:sp>
      <p:sp>
        <p:nvSpPr>
          <p:cNvPr id="9" name="text-93"/>
          <p:cNvSpPr txBox="1"/>
          <p:nvPr/>
        </p:nvSpPr>
        <p:spPr>
          <a:xfrm>
            <a:off x="3918204" y="7543800"/>
            <a:ext cx="3095244" cy="25146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whole city is shaped around one idea: heat, energy, water and food should never be wasted. Every building shares a single heating network, the city runs on zero-carbon energy, and nearly all of its water and waste is recycled.</a:t>
            </a:r>
            <a:endParaRPr lang="en-US" sz="1050" dirty="0"/>
          </a:p>
          <a:p>
            <a:pPr indent="0" marL="0">
              <a:lnSpc>
                <a:spcPct val="112000"/>
              </a:lnSpc>
              <a:spcAft>
                <a:spcPts val="700"/>
              </a:spcAft>
              <a:buNone/>
            </a:pPr>
            <a:r>
              <a:rPr lang="en-US" sz="1050" dirty="0">
                <a:solidFill>
                  <a:schemeClr val="tx1"/>
                </a:solidFill>
              </a:rPr>
              <a:t>Homes, schools, healthcare, shops and parks sit within a short walk of each other, connected by a downtown metro, electric trams and heated streets.</a:t>
            </a:r>
            <a:endParaRPr lang="en-US" sz="10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picture-94" descr="/home/user/chatbox-bi-n-o/magazine/assets/renders/welcome_pano_R.jpg">    </p:cNvPr>
          <p:cNvPicPr>
            <a:picLocks noChangeAspect="1"/>
          </p:cNvPicPr>
          <p:nvPr/>
        </p:nvPicPr>
        <p:blipFill>
          <a:blip r:embed="rId1"/>
          <a:srcRect l="0" r="0" t="0" b="0"/>
          <a:stretch/>
        </p:blipFill>
        <p:spPr>
          <a:xfrm>
            <a:off x="0" y="0"/>
            <a:ext cx="7562088" cy="6400800"/>
          </a:xfrm>
          <a:prstGeom prst="rect">
            <a:avLst/>
          </a:prstGeom>
        </p:spPr>
      </p:pic>
      <p:pic>
        <p:nvPicPr>
          <p:cNvPr id="3" name="shade-bottom-95" descr="/home/user/chatbox-bi-n-o/magazine/assets/ui/shade_bottom.png">    </p:cNvPr>
          <p:cNvPicPr>
            <a:picLocks noChangeAspect="1"/>
          </p:cNvPicPr>
          <p:nvPr/>
        </p:nvPicPr>
        <p:blipFill>
          <a:blip r:embed="rId2"/>
          <a:stretch>
            <a:fillRect/>
          </a:stretch>
        </p:blipFill>
        <p:spPr>
          <a:xfrm>
            <a:off x="0" y="5212080"/>
            <a:ext cx="7562088" cy="1188720"/>
          </a:xfrm>
          <a:prstGeom prst="rect">
            <a:avLst/>
          </a:prstGeom>
        </p:spPr>
      </p:pic>
      <p:sp>
        <p:nvSpPr>
          <p:cNvPr id="4" name="text-96"/>
          <p:cNvSpPr txBox="1"/>
          <p:nvPr/>
        </p:nvSpPr>
        <p:spPr>
          <a:xfrm>
            <a:off x="3172968" y="5833872"/>
            <a:ext cx="3840480" cy="411480"/>
          </a:xfrm>
          <a:prstGeom prst="rect">
            <a:avLst/>
          </a:prstGeom>
          <a:noFill/>
          <a:ln/>
        </p:spPr>
        <p:txBody>
          <a:bodyPr wrap="square" lIns="0" tIns="0" rIns="0" bIns="0" rtlCol="0" anchor="t"/>
          <a:lstStyle/>
          <a:p>
            <a:pPr algn="r" indent="0" marL="0">
              <a:buNone/>
            </a:pPr>
            <a:r>
              <a:rPr lang="en-US" sz="850" i="1" dirty="0">
                <a:solidFill>
                  <a:schemeClr val="bg1"/>
                </a:solidFill>
              </a:rPr>
              <a:t>Aurora Haven at dusk, seen from the south-east: the fusion station in front, downtown and Aurora 81 in the middle, the wind farm on the windy northern edge.</a:t>
            </a:r>
            <a:endParaRPr lang="en-US" sz="850" dirty="0"/>
          </a:p>
        </p:txBody>
      </p:sp>
      <p:sp>
        <p:nvSpPr>
          <p:cNvPr id="5" name="text-97"/>
          <p:cNvSpPr txBox="1"/>
          <p:nvPr/>
        </p:nvSpPr>
        <p:spPr>
          <a:xfrm>
            <a:off x="548640" y="6766560"/>
            <a:ext cx="3461004" cy="329184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What makes Aurora Haven unique is its three signature districts. A fusion power station acts as the city’s own sun, giving steady power and heat even through the polar night. A Snow-to-Food &amp; Water Plant turns snow and air into clean drinking water and food, so the city can feed itself without farmland.</a:t>
            </a:r>
            <a:endParaRPr lang="en-US" sz="1050" dirty="0"/>
          </a:p>
          <a:p>
            <a:pPr indent="0" marL="0">
              <a:lnSpc>
                <a:spcPct val="112000"/>
              </a:lnSpc>
              <a:spcAft>
                <a:spcPts val="700"/>
              </a:spcAft>
              <a:buNone/>
            </a:pPr>
            <a:r>
              <a:rPr lang="en-US" sz="1050" dirty="0">
                <a:solidFill>
                  <a:schemeClr val="tx1"/>
                </a:solidFill>
              </a:rPr>
              <a:t>And inside Mount Aurora, a geothermal spa resort offers warmth, rest and a view of the northern lights. Together they form one closed loop that keeps the city powered, fed and happy in one of the harshest places on Earth.</a:t>
            </a:r>
            <a:endParaRPr lang="en-US" sz="1050" dirty="0"/>
          </a:p>
        </p:txBody>
      </p:sp>
      <p:sp>
        <p:nvSpPr>
          <p:cNvPr id="6" name="text-98"/>
          <p:cNvSpPr txBox="1"/>
          <p:nvPr/>
        </p:nvSpPr>
        <p:spPr>
          <a:xfrm>
            <a:off x="4421124" y="6675120"/>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45,000</a:t>
            </a:r>
            <a:endParaRPr lang="en-US" sz="2600" dirty="0"/>
          </a:p>
        </p:txBody>
      </p:sp>
      <p:sp>
        <p:nvSpPr>
          <p:cNvPr id="7" name="text-99"/>
          <p:cNvSpPr txBox="1"/>
          <p:nvPr/>
        </p:nvSpPr>
        <p:spPr>
          <a:xfrm>
            <a:off x="4421124" y="7105904"/>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residents</a:t>
            </a:r>
            <a:endParaRPr lang="en-US" sz="900" dirty="0"/>
          </a:p>
        </p:txBody>
      </p:sp>
      <p:sp>
        <p:nvSpPr>
          <p:cNvPr id="8" name="text-100"/>
          <p:cNvSpPr txBox="1"/>
          <p:nvPr/>
        </p:nvSpPr>
        <p:spPr>
          <a:xfrm>
            <a:off x="4421124" y="7516368"/>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−45 °C</a:t>
            </a:r>
            <a:endParaRPr lang="en-US" sz="2600" dirty="0"/>
          </a:p>
        </p:txBody>
      </p:sp>
      <p:sp>
        <p:nvSpPr>
          <p:cNvPr id="9" name="text-101"/>
          <p:cNvSpPr txBox="1"/>
          <p:nvPr/>
        </p:nvSpPr>
        <p:spPr>
          <a:xfrm>
            <a:off x="4421124" y="7947152"/>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winter lows</a:t>
            </a:r>
            <a:endParaRPr lang="en-US" sz="900" dirty="0"/>
          </a:p>
        </p:txBody>
      </p:sp>
      <p:sp>
        <p:nvSpPr>
          <p:cNvPr id="10" name="text-102"/>
          <p:cNvSpPr txBox="1"/>
          <p:nvPr/>
        </p:nvSpPr>
        <p:spPr>
          <a:xfrm>
            <a:off x="4421124" y="8357616"/>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35 m</a:t>
            </a:r>
            <a:endParaRPr lang="en-US" sz="2600" dirty="0"/>
          </a:p>
        </p:txBody>
      </p:sp>
      <p:sp>
        <p:nvSpPr>
          <p:cNvPr id="11" name="text-103"/>
          <p:cNvSpPr txBox="1"/>
          <p:nvPr/>
        </p:nvSpPr>
        <p:spPr>
          <a:xfrm>
            <a:off x="4421124" y="8788400"/>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Mount Aurora, the snow peak</a:t>
            </a:r>
            <a:endParaRPr lang="en-US" sz="900" dirty="0"/>
          </a:p>
        </p:txBody>
      </p:sp>
      <p:sp>
        <p:nvSpPr>
          <p:cNvPr id="12" name="text-104"/>
          <p:cNvSpPr txBox="1"/>
          <p:nvPr/>
        </p:nvSpPr>
        <p:spPr>
          <a:xfrm>
            <a:off x="4421124" y="9198864"/>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10 min</a:t>
            </a:r>
            <a:endParaRPr lang="en-US" sz="2600" dirty="0"/>
          </a:p>
        </p:txBody>
      </p:sp>
      <p:sp>
        <p:nvSpPr>
          <p:cNvPr id="13" name="text-105"/>
          <p:cNvSpPr txBox="1"/>
          <p:nvPr/>
        </p:nvSpPr>
        <p:spPr>
          <a:xfrm>
            <a:off x="4421124" y="9629648"/>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walk to daily needs</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picture-106" descr="/home/user/chatbox-bi-n-o/magazine/assets/renders/storm.jpg">    </p:cNvPr>
          <p:cNvPicPr>
            <a:picLocks noChangeAspect="1"/>
          </p:cNvPicPr>
          <p:nvPr/>
        </p:nvPicPr>
        <p:blipFill>
          <a:blip r:embed="rId1"/>
          <a:srcRect l="0" r="0" t="0" b="0"/>
          <a:stretch/>
        </p:blipFill>
        <p:spPr>
          <a:xfrm>
            <a:off x="0" y="0"/>
            <a:ext cx="7562088" cy="5760720"/>
          </a:xfrm>
          <a:prstGeom prst="rect">
            <a:avLst/>
          </a:prstGeom>
        </p:spPr>
      </p:pic>
      <p:pic>
        <p:nvPicPr>
          <p:cNvPr id="3" name="shade-fade-107" descr="/home/user/chatbox-bi-n-o/magazine/assets/ui/fade_bottom.png">    </p:cNvPr>
          <p:cNvPicPr>
            <a:picLocks noChangeAspect="1"/>
          </p:cNvPicPr>
          <p:nvPr/>
        </p:nvPicPr>
        <p:blipFill>
          <a:blip r:embed="rId2"/>
          <a:stretch>
            <a:fillRect/>
          </a:stretch>
        </p:blipFill>
        <p:spPr>
          <a:xfrm>
            <a:off x="0" y="3566160"/>
            <a:ext cx="7562088" cy="2240280"/>
          </a:xfrm>
          <a:prstGeom prst="rect">
            <a:avLst/>
          </a:prstGeom>
        </p:spPr>
      </p:pic>
      <p:sp>
        <p:nvSpPr>
          <p:cNvPr id="4" name="kicker-dot-108"/>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109"/>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THE PLACE</a:t>
            </a:r>
            <a:endParaRPr lang="en-US" sz="900" dirty="0"/>
          </a:p>
        </p:txBody>
      </p:sp>
      <p:sp>
        <p:nvSpPr>
          <p:cNvPr id="6" name="title-110"/>
          <p:cNvSpPr txBox="1"/>
          <p:nvPr/>
        </p:nvSpPr>
        <p:spPr>
          <a:xfrm>
            <a:off x="548640" y="4873752"/>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The Polar Challenge</a:t>
            </a:r>
            <a:endParaRPr lang="en-US" sz="4400" dirty="0"/>
          </a:p>
        </p:txBody>
      </p:sp>
      <p:sp>
        <p:nvSpPr>
          <p:cNvPr id="7" name="text-112"/>
          <p:cNvSpPr txBox="1"/>
          <p:nvPr/>
        </p:nvSpPr>
        <p:spPr>
          <a:xfrm>
            <a:off x="548640" y="5669280"/>
            <a:ext cx="6464808" cy="594360"/>
          </a:xfrm>
          <a:prstGeom prst="rect">
            <a:avLst/>
          </a:prstGeom>
          <a:noFill/>
          <a:ln/>
        </p:spPr>
        <p:txBody>
          <a:bodyPr wrap="square" lIns="0" tIns="0" rIns="0" bIns="0" rtlCol="0" anchor="t"/>
          <a:lstStyle/>
          <a:p>
            <a:pPr indent="0" marL="0">
              <a:lnSpc>
                <a:spcPct val="110000"/>
              </a:lnSpc>
              <a:buNone/>
            </a:pPr>
            <a:r>
              <a:rPr lang="en-US" sz="1500" i="1" dirty="0">
                <a:solidFill>
                  <a:schemeClr val="bg2"/>
                </a:solidFill>
                <a:latin typeface="+mj-lt" pitchFamily="34" charset="0"/>
                <a:ea typeface="+mj-lt" pitchFamily="34" charset="-122"/>
                <a:cs typeface="+mj-lt" pitchFamily="34" charset="-120"/>
              </a:rPr>
              <a:t>One of the hardest places on Earth to build a city, so every building had to answer one question.</a:t>
            </a:r>
            <a:endParaRPr lang="en-US" sz="1500" dirty="0"/>
          </a:p>
        </p:txBody>
      </p:sp>
      <p:sp>
        <p:nvSpPr>
          <p:cNvPr id="8" name="text-113"/>
          <p:cNvSpPr txBox="1"/>
          <p:nvPr/>
        </p:nvSpPr>
        <p:spPr>
          <a:xfrm>
            <a:off x="548640" y="6446520"/>
            <a:ext cx="3840480" cy="237744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bg1"/>
                </a:solidFill>
              </a:rPr>
              <a:t>Aurora Haven sits in one of the hardest environments on Earth. In winter the temperature falls to minus 45 degrees. For about two months the sun never rises, and for two months in summer it never sets. Blizzards can reach 120 kilometres per hour.</a:t>
            </a:r>
            <a:endParaRPr lang="en-US" sz="1050" dirty="0"/>
          </a:p>
          <a:p>
            <a:pPr indent="0" marL="0">
              <a:lnSpc>
                <a:spcPct val="112000"/>
              </a:lnSpc>
              <a:spcAft>
                <a:spcPts val="700"/>
              </a:spcAft>
              <a:buNone/>
            </a:pPr>
            <a:r>
              <a:rPr lang="en-US" sz="1050" dirty="0">
                <a:solidFill>
                  <a:schemeClr val="bg1"/>
                </a:solidFill>
              </a:rPr>
              <a:t>The ground is permafrost, so a warm building can thaw it and crack its own foundations. There is almost no farmland, and in deep winter supplies can only arrive by air.</a:t>
            </a:r>
            <a:endParaRPr lang="en-US" sz="1050" dirty="0"/>
          </a:p>
          <a:p>
            <a:pPr indent="0" marL="0">
              <a:lnSpc>
                <a:spcPct val="112000"/>
              </a:lnSpc>
              <a:spcAft>
                <a:spcPts val="700"/>
              </a:spcAft>
              <a:buNone/>
            </a:pPr>
            <a:r>
              <a:rPr lang="en-US" sz="1050" dirty="0">
                <a:solidFill>
                  <a:schemeClr val="bg1"/>
                </a:solidFill>
              </a:rPr>
              <a:t>So the designers asked one question about every building in the city:</a:t>
            </a:r>
            <a:endParaRPr lang="en-US" sz="1050" dirty="0"/>
          </a:p>
        </p:txBody>
      </p:sp>
      <p:sp>
        <p:nvSpPr>
          <p:cNvPr id="9" name="quote-rule-114"/>
          <p:cNvSpPr/>
          <p:nvPr/>
        </p:nvSpPr>
        <p:spPr>
          <a:xfrm>
            <a:off x="548640" y="8823960"/>
            <a:ext cx="548640" cy="45720"/>
          </a:xfrm>
          <a:prstGeom prst="rect">
            <a:avLst/>
          </a:prstGeom>
          <a:solidFill>
            <a:schemeClr val="accent1"/>
          </a:solidFill>
          <a:ln w="12700">
            <a:solidFill>
              <a:schemeClr val="accent1"/>
            </a:solidFill>
            <a:prstDash val="solid"/>
          </a:ln>
        </p:spPr>
      </p:sp>
      <p:sp>
        <p:nvSpPr>
          <p:cNvPr id="10" name="text-115"/>
          <p:cNvSpPr txBox="1"/>
          <p:nvPr/>
        </p:nvSpPr>
        <p:spPr>
          <a:xfrm>
            <a:off x="548640" y="8988552"/>
            <a:ext cx="3840480" cy="914400"/>
          </a:xfrm>
          <a:prstGeom prst="rect">
            <a:avLst/>
          </a:prstGeom>
          <a:noFill/>
          <a:ln/>
        </p:spPr>
        <p:txBody>
          <a:bodyPr wrap="square" lIns="0" tIns="0" rIns="0" bIns="0" rtlCol="0" anchor="t"/>
          <a:lstStyle/>
          <a:p>
            <a:pPr indent="0" marL="0">
              <a:lnSpc>
                <a:spcPct val="102000"/>
              </a:lnSpc>
              <a:buNone/>
            </a:pPr>
            <a:r>
              <a:rPr lang="en-US" sz="1800" b="1" i="1" dirty="0">
                <a:solidFill>
                  <a:schemeClr val="accent1"/>
                </a:solidFill>
                <a:latin typeface="+mj-lt" pitchFamily="34" charset="0"/>
                <a:ea typeface="+mj-lt" pitchFamily="34" charset="-122"/>
                <a:cs typeface="+mj-lt" pitchFamily="34" charset="-120"/>
              </a:rPr>
              <a:t>“How does it help people stay warm, fed, safe and happy here?”</a:t>
            </a:r>
            <a:endParaRPr lang="en-US" sz="1800" dirty="0"/>
          </a:p>
        </p:txBody>
      </p:sp>
      <p:sp>
        <p:nvSpPr>
          <p:cNvPr id="11" name="text-116"/>
          <p:cNvSpPr txBox="1"/>
          <p:nvPr/>
        </p:nvSpPr>
        <p:spPr>
          <a:xfrm>
            <a:off x="4846320" y="6355080"/>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−45 °C</a:t>
            </a:r>
            <a:endParaRPr lang="en-US" sz="2400" dirty="0"/>
          </a:p>
        </p:txBody>
      </p:sp>
      <p:sp>
        <p:nvSpPr>
          <p:cNvPr id="12" name="text-117"/>
          <p:cNvSpPr txBox="1"/>
          <p:nvPr/>
        </p:nvSpPr>
        <p:spPr>
          <a:xfrm>
            <a:off x="4846320" y="6760464"/>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winter temperatures</a:t>
            </a:r>
            <a:endParaRPr lang="en-US" sz="900" dirty="0"/>
          </a:p>
        </p:txBody>
      </p:sp>
      <p:sp>
        <p:nvSpPr>
          <p:cNvPr id="13" name="text-118"/>
          <p:cNvSpPr txBox="1"/>
          <p:nvPr/>
        </p:nvSpPr>
        <p:spPr>
          <a:xfrm>
            <a:off x="4846320" y="7196328"/>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2 months</a:t>
            </a:r>
            <a:endParaRPr lang="en-US" sz="2400" dirty="0"/>
          </a:p>
        </p:txBody>
      </p:sp>
      <p:sp>
        <p:nvSpPr>
          <p:cNvPr id="14" name="text-119"/>
          <p:cNvSpPr txBox="1"/>
          <p:nvPr/>
        </p:nvSpPr>
        <p:spPr>
          <a:xfrm>
            <a:off x="4846320" y="7601712"/>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of polar night, and two of midnight sun</a:t>
            </a:r>
            <a:endParaRPr lang="en-US" sz="900" dirty="0"/>
          </a:p>
        </p:txBody>
      </p:sp>
      <p:sp>
        <p:nvSpPr>
          <p:cNvPr id="15" name="text-120"/>
          <p:cNvSpPr txBox="1"/>
          <p:nvPr/>
        </p:nvSpPr>
        <p:spPr>
          <a:xfrm>
            <a:off x="4846320" y="8037576"/>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120 km/h</a:t>
            </a:r>
            <a:endParaRPr lang="en-US" sz="2400" dirty="0"/>
          </a:p>
        </p:txBody>
      </p:sp>
      <p:sp>
        <p:nvSpPr>
          <p:cNvPr id="16" name="text-121"/>
          <p:cNvSpPr txBox="1"/>
          <p:nvPr/>
        </p:nvSpPr>
        <p:spPr>
          <a:xfrm>
            <a:off x="4846320" y="8442960"/>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blizzards</a:t>
            </a:r>
            <a:endParaRPr lang="en-US" sz="900" dirty="0"/>
          </a:p>
        </p:txBody>
      </p:sp>
      <p:sp>
        <p:nvSpPr>
          <p:cNvPr id="17" name="text-122"/>
          <p:cNvSpPr txBox="1"/>
          <p:nvPr/>
        </p:nvSpPr>
        <p:spPr>
          <a:xfrm>
            <a:off x="4846320" y="8878824"/>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Permafrost</a:t>
            </a:r>
            <a:endParaRPr lang="en-US" sz="2400" dirty="0"/>
          </a:p>
        </p:txBody>
      </p:sp>
      <p:sp>
        <p:nvSpPr>
          <p:cNvPr id="18" name="text-123"/>
          <p:cNvSpPr txBox="1"/>
          <p:nvPr/>
        </p:nvSpPr>
        <p:spPr>
          <a:xfrm>
            <a:off x="4846320" y="9284208"/>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frozen ground that heaves under heat</a:t>
            </a:r>
            <a:endParaRPr lang="en-US" sz="900" dirty="0"/>
          </a:p>
        </p:txBody>
      </p:sp>
      <p:sp>
        <p:nvSpPr>
          <p:cNvPr id="19" name="text-124"/>
          <p:cNvSpPr txBox="1"/>
          <p:nvPr/>
        </p:nvSpPr>
        <p:spPr>
          <a:xfrm>
            <a:off x="4846320" y="9738360"/>
            <a:ext cx="2167128" cy="411480"/>
          </a:xfrm>
          <a:prstGeom prst="rect">
            <a:avLst/>
          </a:prstGeom>
          <a:noFill/>
          <a:ln/>
        </p:spPr>
        <p:txBody>
          <a:bodyPr wrap="square" lIns="0" tIns="0" rIns="0" bIns="0" rtlCol="0" anchor="t"/>
          <a:lstStyle/>
          <a:p>
            <a:pPr indent="0" marL="0">
              <a:buNone/>
            </a:pPr>
            <a:r>
              <a:rPr lang="en-US" sz="850" i="1" dirty="0">
                <a:solidFill>
                  <a:schemeClr val="bg2"/>
                </a:solidFill>
              </a:rPr>
              <a:t>A blizzard sweeps past the snowbreak pines towards the Ice-Proof Wind Farm on the windy northern edge.</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picture-125" descr="/home/user/chatbox-bi-n-o/magazine/assets/renders/principles.jpg">    </p:cNvPr>
          <p:cNvPicPr>
            <a:picLocks noChangeAspect="1"/>
          </p:cNvPicPr>
          <p:nvPr/>
        </p:nvPicPr>
        <p:blipFill>
          <a:blip r:embed="rId1"/>
          <a:srcRect l="0" r="0" t="0" b="0"/>
          <a:stretch/>
        </p:blipFill>
        <p:spPr>
          <a:xfrm>
            <a:off x="0" y="0"/>
            <a:ext cx="7562088" cy="3931920"/>
          </a:xfrm>
          <a:prstGeom prst="rect">
            <a:avLst/>
          </a:prstGeom>
        </p:spPr>
      </p:pic>
      <p:sp>
        <p:nvSpPr>
          <p:cNvPr id="3" name="text-126"/>
          <p:cNvSpPr txBox="1"/>
          <p:nvPr/>
        </p:nvSpPr>
        <p:spPr>
          <a:xfrm>
            <a:off x="548640" y="3986784"/>
            <a:ext cx="6464808" cy="228600"/>
          </a:xfrm>
          <a:prstGeom prst="rect">
            <a:avLst/>
          </a:prstGeom>
          <a:noFill/>
          <a:ln/>
        </p:spPr>
        <p:txBody>
          <a:bodyPr wrap="square" lIns="0" tIns="0" rIns="0" bIns="0" rtlCol="0" anchor="t"/>
          <a:lstStyle/>
          <a:p>
            <a:pPr indent="0" marL="0">
              <a:buNone/>
            </a:pPr>
            <a:r>
              <a:rPr lang="en-US" sz="850" i="1" dirty="0">
                <a:solidFill>
                  <a:schemeClr val="tx2"/>
                </a:solidFill>
              </a:rPr>
              <a:t>Downtown in the low sun, with Aurora 81, the food plant silos and Mount Aurora behind.</a:t>
            </a:r>
            <a:endParaRPr lang="en-US" sz="850" dirty="0"/>
          </a:p>
        </p:txBody>
      </p:sp>
      <p:sp>
        <p:nvSpPr>
          <p:cNvPr id="4" name="kicker-dot-127"/>
          <p:cNvSpPr/>
          <p:nvPr/>
        </p:nvSpPr>
        <p:spPr>
          <a:xfrm>
            <a:off x="548640" y="4475988"/>
            <a:ext cx="100584" cy="100584"/>
          </a:xfrm>
          <a:prstGeom prst="ellipse">
            <a:avLst/>
          </a:prstGeom>
          <a:solidFill>
            <a:schemeClr val="accent6"/>
          </a:solidFill>
          <a:ln w="12700">
            <a:solidFill>
              <a:schemeClr val="accent6"/>
            </a:solidFill>
            <a:prstDash val="solid"/>
          </a:ln>
        </p:spPr>
      </p:sp>
      <p:sp>
        <p:nvSpPr>
          <p:cNvPr id="5" name="text-128"/>
          <p:cNvSpPr txBox="1"/>
          <p:nvPr/>
        </p:nvSpPr>
        <p:spPr>
          <a:xfrm>
            <a:off x="731520" y="443484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IDEAS</a:t>
            </a:r>
            <a:endParaRPr lang="en-US" sz="900" dirty="0"/>
          </a:p>
        </p:txBody>
      </p:sp>
      <p:sp>
        <p:nvSpPr>
          <p:cNvPr id="6" name="title-129"/>
          <p:cNvSpPr txBox="1"/>
          <p:nvPr/>
        </p:nvSpPr>
        <p:spPr>
          <a:xfrm>
            <a:off x="548640" y="4681728"/>
            <a:ext cx="6464808" cy="6858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Five Design Principles</a:t>
            </a:r>
            <a:endParaRPr lang="en-US" sz="3600" dirty="0"/>
          </a:p>
        </p:txBody>
      </p:sp>
      <p:sp>
        <p:nvSpPr>
          <p:cNvPr id="7" name="text-131"/>
          <p:cNvSpPr txBox="1"/>
          <p:nvPr/>
        </p:nvSpPr>
        <p:spPr>
          <a:xfrm>
            <a:off x="548640" y="5376672"/>
            <a:ext cx="6464808" cy="36576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Heat, energy, water and food should never be wasted.</a:t>
            </a:r>
            <a:endParaRPr lang="en-US" sz="1400" dirty="0"/>
          </a:p>
        </p:txBody>
      </p:sp>
      <p:sp>
        <p:nvSpPr>
          <p:cNvPr id="8" name="text-132"/>
          <p:cNvSpPr txBox="1"/>
          <p:nvPr/>
        </p:nvSpPr>
        <p:spPr>
          <a:xfrm>
            <a:off x="548640" y="5888736"/>
            <a:ext cx="685800" cy="457200"/>
          </a:xfrm>
          <a:prstGeom prst="rect">
            <a:avLst/>
          </a:prstGeom>
          <a:noFill/>
          <a:ln/>
        </p:spPr>
        <p:txBody>
          <a:bodyPr wrap="square" lIns="0" tIns="0" rIns="0" bIns="0" rtlCol="0" anchor="t"/>
          <a:lstStyle/>
          <a:p>
            <a:pPr indent="0" marL="0">
              <a:buNone/>
            </a:pPr>
            <a:r>
              <a:rPr lang="en-US" sz="2600" b="1" dirty="0">
                <a:solidFill>
                  <a:schemeClr val="accent6"/>
                </a:solidFill>
                <a:latin typeface="+mj-lt" pitchFamily="34" charset="0"/>
                <a:ea typeface="+mj-lt" pitchFamily="34" charset="-122"/>
                <a:cs typeface="+mj-lt" pitchFamily="34" charset="-120"/>
              </a:rPr>
              <a:t>01</a:t>
            </a:r>
            <a:endParaRPr lang="en-US" sz="2600" dirty="0"/>
          </a:p>
        </p:txBody>
      </p:sp>
      <p:sp>
        <p:nvSpPr>
          <p:cNvPr id="9" name="text-133"/>
          <p:cNvSpPr txBox="1"/>
          <p:nvPr/>
        </p:nvSpPr>
        <p:spPr>
          <a:xfrm>
            <a:off x="1325880" y="5925312"/>
            <a:ext cx="5687568" cy="246888"/>
          </a:xfrm>
          <a:prstGeom prst="rect">
            <a:avLst/>
          </a:prstGeom>
          <a:noFill/>
          <a:ln/>
        </p:spPr>
        <p:txBody>
          <a:bodyPr wrap="square" lIns="0" tIns="0" rIns="0" bIns="0" rtlCol="0" anchor="t"/>
          <a:lstStyle/>
          <a:p>
            <a:pPr indent="0" marL="0">
              <a:buNone/>
            </a:pPr>
            <a:r>
              <a:rPr lang="en-US" sz="1350" b="1" dirty="0">
                <a:solidFill>
                  <a:schemeClr val="tx1"/>
                </a:solidFill>
                <a:latin typeface="+mj-lt" pitchFamily="34" charset="0"/>
                <a:ea typeface="+mj-lt" pitchFamily="34" charset="-122"/>
                <a:cs typeface="+mj-lt" pitchFamily="34" charset="-120"/>
              </a:rPr>
              <a:t>Heat is life</a:t>
            </a:r>
            <a:endParaRPr lang="en-US" sz="1350" dirty="0"/>
          </a:p>
        </p:txBody>
      </p:sp>
      <p:sp>
        <p:nvSpPr>
          <p:cNvPr id="10" name="text-134"/>
          <p:cNvSpPr txBox="1"/>
          <p:nvPr/>
        </p:nvSpPr>
        <p:spPr>
          <a:xfrm>
            <a:off x="1325880" y="6181344"/>
            <a:ext cx="5687568" cy="530352"/>
          </a:xfrm>
          <a:prstGeom prst="rect">
            <a:avLst/>
          </a:prstGeom>
          <a:noFill/>
          <a:ln/>
        </p:spPr>
        <p:txBody>
          <a:bodyPr wrap="square" lIns="0" tIns="0" rIns="0" bIns="0" rtlCol="0" anchor="t"/>
          <a:lstStyle/>
          <a:p>
            <a:pPr indent="0" marL="0">
              <a:lnSpc>
                <a:spcPct val="106000"/>
              </a:lnSpc>
              <a:buNone/>
            </a:pPr>
            <a:r>
              <a:rPr lang="en-US" sz="1000" dirty="0">
                <a:solidFill>
                  <a:schemeClr val="tx2"/>
                </a:solidFill>
              </a:rPr>
              <a:t>One district-heating loop, fed by the fusion station and the geothermal plant, warms every building. Triple-glazed buildings on insulated piles do not thaw the permafrost.</a:t>
            </a:r>
            <a:endParaRPr lang="en-US" sz="1000" dirty="0"/>
          </a:p>
        </p:txBody>
      </p:sp>
      <p:sp>
        <p:nvSpPr>
          <p:cNvPr id="11" name="text-135"/>
          <p:cNvSpPr txBox="1"/>
          <p:nvPr/>
        </p:nvSpPr>
        <p:spPr>
          <a:xfrm>
            <a:off x="548640" y="6693408"/>
            <a:ext cx="685800" cy="457200"/>
          </a:xfrm>
          <a:prstGeom prst="rect">
            <a:avLst/>
          </a:prstGeom>
          <a:noFill/>
          <a:ln/>
        </p:spPr>
        <p:txBody>
          <a:bodyPr wrap="square" lIns="0" tIns="0" rIns="0" bIns="0" rtlCol="0" anchor="t"/>
          <a:lstStyle/>
          <a:p>
            <a:pPr indent="0" marL="0">
              <a:buNone/>
            </a:pPr>
            <a:r>
              <a:rPr lang="en-US" sz="2600" b="1" dirty="0">
                <a:solidFill>
                  <a:schemeClr val="accent6"/>
                </a:solidFill>
                <a:latin typeface="+mj-lt" pitchFamily="34" charset="0"/>
                <a:ea typeface="+mj-lt" pitchFamily="34" charset="-122"/>
                <a:cs typeface="+mj-lt" pitchFamily="34" charset="-120"/>
              </a:rPr>
              <a:t>02</a:t>
            </a:r>
            <a:endParaRPr lang="en-US" sz="2600" dirty="0"/>
          </a:p>
        </p:txBody>
      </p:sp>
      <p:sp>
        <p:nvSpPr>
          <p:cNvPr id="12" name="text-136"/>
          <p:cNvSpPr txBox="1"/>
          <p:nvPr/>
        </p:nvSpPr>
        <p:spPr>
          <a:xfrm>
            <a:off x="1325880" y="6729984"/>
            <a:ext cx="5687568" cy="246888"/>
          </a:xfrm>
          <a:prstGeom prst="rect">
            <a:avLst/>
          </a:prstGeom>
          <a:noFill/>
          <a:ln/>
        </p:spPr>
        <p:txBody>
          <a:bodyPr wrap="square" lIns="0" tIns="0" rIns="0" bIns="0" rtlCol="0" anchor="t"/>
          <a:lstStyle/>
          <a:p>
            <a:pPr indent="0" marL="0">
              <a:buNone/>
            </a:pPr>
            <a:r>
              <a:rPr lang="en-US" sz="1350" b="1" dirty="0">
                <a:solidFill>
                  <a:schemeClr val="tx1"/>
                </a:solidFill>
                <a:latin typeface="+mj-lt" pitchFamily="34" charset="0"/>
                <a:ea typeface="+mj-lt" pitchFamily="34" charset="-122"/>
                <a:cs typeface="+mj-lt" pitchFamily="34" charset="-120"/>
              </a:rPr>
              <a:t>Zero carbon</a:t>
            </a:r>
            <a:endParaRPr lang="en-US" sz="1350" dirty="0"/>
          </a:p>
        </p:txBody>
      </p:sp>
      <p:sp>
        <p:nvSpPr>
          <p:cNvPr id="13" name="text-137"/>
          <p:cNvSpPr txBox="1"/>
          <p:nvPr/>
        </p:nvSpPr>
        <p:spPr>
          <a:xfrm>
            <a:off x="1325880" y="6986016"/>
            <a:ext cx="5687568" cy="530352"/>
          </a:xfrm>
          <a:prstGeom prst="rect">
            <a:avLst/>
          </a:prstGeom>
          <a:noFill/>
          <a:ln/>
        </p:spPr>
        <p:txBody>
          <a:bodyPr wrap="square" lIns="0" tIns="0" rIns="0" bIns="0" rtlCol="0" anchor="t"/>
          <a:lstStyle/>
          <a:p>
            <a:pPr indent="0" marL="0">
              <a:lnSpc>
                <a:spcPct val="106000"/>
              </a:lnSpc>
              <a:buNone/>
            </a:pPr>
            <a:r>
              <a:rPr lang="en-US" sz="1000" dirty="0">
                <a:solidFill>
                  <a:schemeClr val="tx2"/>
                </a:solidFill>
              </a:rPr>
              <a:t>No fossil fuel burns anywhere in the city. Power comes from fusion, wind, sun and geothermal heat.</a:t>
            </a:r>
            <a:endParaRPr lang="en-US" sz="1000" dirty="0"/>
          </a:p>
        </p:txBody>
      </p:sp>
      <p:sp>
        <p:nvSpPr>
          <p:cNvPr id="14" name="text-138"/>
          <p:cNvSpPr txBox="1"/>
          <p:nvPr/>
        </p:nvSpPr>
        <p:spPr>
          <a:xfrm>
            <a:off x="548640" y="7498080"/>
            <a:ext cx="685800" cy="457200"/>
          </a:xfrm>
          <a:prstGeom prst="rect">
            <a:avLst/>
          </a:prstGeom>
          <a:noFill/>
          <a:ln/>
        </p:spPr>
        <p:txBody>
          <a:bodyPr wrap="square" lIns="0" tIns="0" rIns="0" bIns="0" rtlCol="0" anchor="t"/>
          <a:lstStyle/>
          <a:p>
            <a:pPr indent="0" marL="0">
              <a:buNone/>
            </a:pPr>
            <a:r>
              <a:rPr lang="en-US" sz="2600" b="1" dirty="0">
                <a:solidFill>
                  <a:schemeClr val="accent6"/>
                </a:solidFill>
                <a:latin typeface="+mj-lt" pitchFamily="34" charset="0"/>
                <a:ea typeface="+mj-lt" pitchFamily="34" charset="-122"/>
                <a:cs typeface="+mj-lt" pitchFamily="34" charset="-120"/>
              </a:rPr>
              <a:t>03</a:t>
            </a:r>
            <a:endParaRPr lang="en-US" sz="2600" dirty="0"/>
          </a:p>
        </p:txBody>
      </p:sp>
      <p:sp>
        <p:nvSpPr>
          <p:cNvPr id="15" name="text-139"/>
          <p:cNvSpPr txBox="1"/>
          <p:nvPr/>
        </p:nvSpPr>
        <p:spPr>
          <a:xfrm>
            <a:off x="1325880" y="7534656"/>
            <a:ext cx="5687568" cy="246888"/>
          </a:xfrm>
          <a:prstGeom prst="rect">
            <a:avLst/>
          </a:prstGeom>
          <a:noFill/>
          <a:ln/>
        </p:spPr>
        <p:txBody>
          <a:bodyPr wrap="square" lIns="0" tIns="0" rIns="0" bIns="0" rtlCol="0" anchor="t"/>
          <a:lstStyle/>
          <a:p>
            <a:pPr indent="0" marL="0">
              <a:buNone/>
            </a:pPr>
            <a:r>
              <a:rPr lang="en-US" sz="1350" b="1" dirty="0">
                <a:solidFill>
                  <a:schemeClr val="tx1"/>
                </a:solidFill>
                <a:latin typeface="+mj-lt" pitchFamily="34" charset="0"/>
                <a:ea typeface="+mj-lt" pitchFamily="34" charset="-122"/>
                <a:cs typeface="+mj-lt" pitchFamily="34" charset="-120"/>
              </a:rPr>
              <a:t>Closed loops</a:t>
            </a:r>
            <a:endParaRPr lang="en-US" sz="1350" dirty="0"/>
          </a:p>
        </p:txBody>
      </p:sp>
      <p:sp>
        <p:nvSpPr>
          <p:cNvPr id="16" name="text-140"/>
          <p:cNvSpPr txBox="1"/>
          <p:nvPr/>
        </p:nvSpPr>
        <p:spPr>
          <a:xfrm>
            <a:off x="1325880" y="7790688"/>
            <a:ext cx="5687568" cy="530352"/>
          </a:xfrm>
          <a:prstGeom prst="rect">
            <a:avLst/>
          </a:prstGeom>
          <a:noFill/>
          <a:ln/>
        </p:spPr>
        <p:txBody>
          <a:bodyPr wrap="square" lIns="0" tIns="0" rIns="0" bIns="0" rtlCol="0" anchor="t"/>
          <a:lstStyle/>
          <a:p>
            <a:pPr indent="0" marL="0">
              <a:lnSpc>
                <a:spcPct val="106000"/>
              </a:lnSpc>
              <a:buNone/>
            </a:pPr>
            <a:r>
              <a:rPr lang="en-US" sz="1000" dirty="0">
                <a:solidFill>
                  <a:schemeClr val="tx2"/>
                </a:solidFill>
              </a:rPr>
              <a:t>About 95% of water is recycled and rubbish is reused, so water, food and waste go round instead of being thrown away.</a:t>
            </a:r>
            <a:endParaRPr lang="en-US" sz="1000" dirty="0"/>
          </a:p>
        </p:txBody>
      </p:sp>
      <p:sp>
        <p:nvSpPr>
          <p:cNvPr id="17" name="text-141"/>
          <p:cNvSpPr txBox="1"/>
          <p:nvPr/>
        </p:nvSpPr>
        <p:spPr>
          <a:xfrm>
            <a:off x="548640" y="8302752"/>
            <a:ext cx="685800" cy="457200"/>
          </a:xfrm>
          <a:prstGeom prst="rect">
            <a:avLst/>
          </a:prstGeom>
          <a:noFill/>
          <a:ln/>
        </p:spPr>
        <p:txBody>
          <a:bodyPr wrap="square" lIns="0" tIns="0" rIns="0" bIns="0" rtlCol="0" anchor="t"/>
          <a:lstStyle/>
          <a:p>
            <a:pPr indent="0" marL="0">
              <a:buNone/>
            </a:pPr>
            <a:r>
              <a:rPr lang="en-US" sz="2600" b="1" dirty="0">
                <a:solidFill>
                  <a:schemeClr val="accent6"/>
                </a:solidFill>
                <a:latin typeface="+mj-lt" pitchFamily="34" charset="0"/>
                <a:ea typeface="+mj-lt" pitchFamily="34" charset="-122"/>
                <a:cs typeface="+mj-lt" pitchFamily="34" charset="-120"/>
              </a:rPr>
              <a:t>04</a:t>
            </a:r>
            <a:endParaRPr lang="en-US" sz="2600" dirty="0"/>
          </a:p>
        </p:txBody>
      </p:sp>
      <p:sp>
        <p:nvSpPr>
          <p:cNvPr id="18" name="text-142"/>
          <p:cNvSpPr txBox="1"/>
          <p:nvPr/>
        </p:nvSpPr>
        <p:spPr>
          <a:xfrm>
            <a:off x="1325880" y="8339328"/>
            <a:ext cx="5687568" cy="246888"/>
          </a:xfrm>
          <a:prstGeom prst="rect">
            <a:avLst/>
          </a:prstGeom>
          <a:noFill/>
          <a:ln/>
        </p:spPr>
        <p:txBody>
          <a:bodyPr wrap="square" lIns="0" tIns="0" rIns="0" bIns="0" rtlCol="0" anchor="t"/>
          <a:lstStyle/>
          <a:p>
            <a:pPr indent="0" marL="0">
              <a:buNone/>
            </a:pPr>
            <a:r>
              <a:rPr lang="en-US" sz="1350" b="1" dirty="0">
                <a:solidFill>
                  <a:schemeClr val="tx1"/>
                </a:solidFill>
                <a:latin typeface="+mj-lt" pitchFamily="34" charset="0"/>
                <a:ea typeface="+mj-lt" pitchFamily="34" charset="-122"/>
                <a:cs typeface="+mj-lt" pitchFamily="34" charset="-120"/>
              </a:rPr>
              <a:t>Compact and car-light</a:t>
            </a:r>
            <a:endParaRPr lang="en-US" sz="1350" dirty="0"/>
          </a:p>
        </p:txBody>
      </p:sp>
      <p:sp>
        <p:nvSpPr>
          <p:cNvPr id="19" name="text-143"/>
          <p:cNvSpPr txBox="1"/>
          <p:nvPr/>
        </p:nvSpPr>
        <p:spPr>
          <a:xfrm>
            <a:off x="1325880" y="8595360"/>
            <a:ext cx="5687568" cy="530352"/>
          </a:xfrm>
          <a:prstGeom prst="rect">
            <a:avLst/>
          </a:prstGeom>
          <a:noFill/>
          <a:ln/>
        </p:spPr>
        <p:txBody>
          <a:bodyPr wrap="square" lIns="0" tIns="0" rIns="0" bIns="0" rtlCol="0" anchor="t"/>
          <a:lstStyle/>
          <a:p>
            <a:pPr indent="0" marL="0">
              <a:lnSpc>
                <a:spcPct val="106000"/>
              </a:lnSpc>
              <a:buNone/>
            </a:pPr>
            <a:r>
              <a:rPr lang="en-US" sz="1000" dirty="0">
                <a:solidFill>
                  <a:schemeClr val="tx2"/>
                </a:solidFill>
              </a:rPr>
              <a:t>Daily needs are within a 10-minute walk, and the few cars are electric.</a:t>
            </a:r>
            <a:endParaRPr lang="en-US" sz="1000" dirty="0"/>
          </a:p>
        </p:txBody>
      </p:sp>
      <p:sp>
        <p:nvSpPr>
          <p:cNvPr id="20" name="text-144"/>
          <p:cNvSpPr txBox="1"/>
          <p:nvPr/>
        </p:nvSpPr>
        <p:spPr>
          <a:xfrm>
            <a:off x="548640" y="9107424"/>
            <a:ext cx="685800" cy="457200"/>
          </a:xfrm>
          <a:prstGeom prst="rect">
            <a:avLst/>
          </a:prstGeom>
          <a:noFill/>
          <a:ln/>
        </p:spPr>
        <p:txBody>
          <a:bodyPr wrap="square" lIns="0" tIns="0" rIns="0" bIns="0" rtlCol="0" anchor="t"/>
          <a:lstStyle/>
          <a:p>
            <a:pPr indent="0" marL="0">
              <a:buNone/>
            </a:pPr>
            <a:r>
              <a:rPr lang="en-US" sz="2600" b="1" dirty="0">
                <a:solidFill>
                  <a:schemeClr val="accent6"/>
                </a:solidFill>
                <a:latin typeface="+mj-lt" pitchFamily="34" charset="0"/>
                <a:ea typeface="+mj-lt" pitchFamily="34" charset="-122"/>
                <a:cs typeface="+mj-lt" pitchFamily="34" charset="-120"/>
              </a:rPr>
              <a:t>05</a:t>
            </a:r>
            <a:endParaRPr lang="en-US" sz="2600" dirty="0"/>
          </a:p>
        </p:txBody>
      </p:sp>
      <p:sp>
        <p:nvSpPr>
          <p:cNvPr id="21" name="text-145"/>
          <p:cNvSpPr txBox="1"/>
          <p:nvPr/>
        </p:nvSpPr>
        <p:spPr>
          <a:xfrm>
            <a:off x="1325880" y="9144000"/>
            <a:ext cx="5687568" cy="246888"/>
          </a:xfrm>
          <a:prstGeom prst="rect">
            <a:avLst/>
          </a:prstGeom>
          <a:noFill/>
          <a:ln/>
        </p:spPr>
        <p:txBody>
          <a:bodyPr wrap="square" lIns="0" tIns="0" rIns="0" bIns="0" rtlCol="0" anchor="t"/>
          <a:lstStyle/>
          <a:p>
            <a:pPr indent="0" marL="0">
              <a:buNone/>
            </a:pPr>
            <a:r>
              <a:rPr lang="en-US" sz="1350" b="1" dirty="0">
                <a:solidFill>
                  <a:schemeClr val="tx1"/>
                </a:solidFill>
                <a:latin typeface="+mj-lt" pitchFamily="34" charset="0"/>
                <a:ea typeface="+mj-lt" pitchFamily="34" charset="-122"/>
                <a:cs typeface="+mj-lt" pitchFamily="34" charset="-120"/>
              </a:rPr>
              <a:t>Resilient and healthy</a:t>
            </a:r>
            <a:endParaRPr lang="en-US" sz="1350" dirty="0"/>
          </a:p>
        </p:txBody>
      </p:sp>
      <p:sp>
        <p:nvSpPr>
          <p:cNvPr id="22" name="text-146"/>
          <p:cNvSpPr txBox="1"/>
          <p:nvPr/>
        </p:nvSpPr>
        <p:spPr>
          <a:xfrm>
            <a:off x="1325880" y="9400032"/>
            <a:ext cx="5687568" cy="530352"/>
          </a:xfrm>
          <a:prstGeom prst="rect">
            <a:avLst/>
          </a:prstGeom>
          <a:noFill/>
          <a:ln/>
        </p:spPr>
        <p:txBody>
          <a:bodyPr wrap="square" lIns="0" tIns="0" rIns="0" bIns="0" rtlCol="0" anchor="t"/>
          <a:lstStyle/>
          <a:p>
            <a:pPr indent="0" marL="0">
              <a:lnSpc>
                <a:spcPct val="106000"/>
              </a:lnSpc>
              <a:buNone/>
            </a:pPr>
            <a:r>
              <a:rPr lang="en-US" sz="1000" dirty="0">
                <a:solidFill>
                  <a:schemeClr val="tx2"/>
                </a:solidFill>
              </a:rPr>
              <a:t>Shelters keep every resident safe for 30 days, while light, parks, culture and a spa carry people through the polar night.</a:t>
            </a:r>
            <a:endParaRPr lang="en-US" sz="10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kicker-dot-147"/>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148"/>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MAP</a:t>
            </a:r>
            <a:endParaRPr lang="en-US" sz="900" dirty="0"/>
          </a:p>
        </p:txBody>
      </p:sp>
      <p:sp>
        <p:nvSpPr>
          <p:cNvPr id="4" name="title-149"/>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The Whole City Plan</a:t>
            </a:r>
            <a:endParaRPr lang="en-US" sz="3600" dirty="0"/>
          </a:p>
        </p:txBody>
      </p:sp>
      <p:sp>
        <p:nvSpPr>
          <p:cNvPr id="5" name="kicker-dot-151"/>
          <p:cNvSpPr/>
          <p:nvPr/>
        </p:nvSpPr>
        <p:spPr>
          <a:xfrm>
            <a:off x="548640" y="1613916"/>
            <a:ext cx="100584" cy="100584"/>
          </a:xfrm>
          <a:prstGeom prst="ellipse">
            <a:avLst/>
          </a:prstGeom>
          <a:solidFill>
            <a:schemeClr val="tx1"/>
          </a:solidFill>
          <a:ln w="12700">
            <a:solidFill>
              <a:schemeClr val="tx1"/>
            </a:solidFill>
            <a:prstDash val="solid"/>
          </a:ln>
        </p:spPr>
      </p:sp>
      <p:sp>
        <p:nvSpPr>
          <p:cNvPr id="6" name="text-152"/>
          <p:cNvSpPr txBox="1"/>
          <p:nvPr/>
        </p:nvSpPr>
        <p:spPr>
          <a:xfrm>
            <a:off x="731520" y="1572768"/>
            <a:ext cx="2912364" cy="201168"/>
          </a:xfrm>
          <a:prstGeom prst="rect">
            <a:avLst/>
          </a:prstGeom>
          <a:noFill/>
          <a:ln/>
        </p:spPr>
        <p:txBody>
          <a:bodyPr wrap="square" lIns="0" tIns="0" rIns="0" bIns="0" rtlCol="0" anchor="t"/>
          <a:lstStyle/>
          <a:p>
            <a:pPr indent="0" marL="0">
              <a:buNone/>
            </a:pPr>
            <a:r>
              <a:rPr lang="en-US" sz="900" b="1" spc="300" kern="0" dirty="0">
                <a:solidFill>
                  <a:schemeClr val="tx1"/>
                </a:solidFill>
              </a:rPr>
              <a:t>DOWNTOWN</a:t>
            </a:r>
            <a:endParaRPr lang="en-US" sz="900" dirty="0"/>
          </a:p>
        </p:txBody>
      </p:sp>
      <p:sp>
        <p:nvSpPr>
          <p:cNvPr id="7" name="text-153"/>
          <p:cNvSpPr txBox="1"/>
          <p:nvPr/>
        </p:nvSpPr>
        <p:spPr>
          <a:xfrm>
            <a:off x="548640" y="1828800"/>
            <a:ext cx="30952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Nine blocks around the Aurora Roundabout and the President Ho Chi Minh Monument, with the hospital, schools, shops and the metro interchange.</a:t>
            </a:r>
            <a:endParaRPr lang="en-US" sz="900" dirty="0"/>
          </a:p>
        </p:txBody>
      </p:sp>
      <p:sp>
        <p:nvSpPr>
          <p:cNvPr id="8" name="kicker-dot-154"/>
          <p:cNvSpPr/>
          <p:nvPr/>
        </p:nvSpPr>
        <p:spPr>
          <a:xfrm>
            <a:off x="3918204" y="1613916"/>
            <a:ext cx="100584" cy="100584"/>
          </a:xfrm>
          <a:prstGeom prst="ellipse">
            <a:avLst/>
          </a:prstGeom>
          <a:solidFill>
            <a:schemeClr val="accent6"/>
          </a:solidFill>
          <a:ln w="12700">
            <a:solidFill>
              <a:schemeClr val="accent6"/>
            </a:solidFill>
            <a:prstDash val="solid"/>
          </a:ln>
        </p:spPr>
      </p:sp>
      <p:sp>
        <p:nvSpPr>
          <p:cNvPr id="9" name="text-155"/>
          <p:cNvSpPr txBox="1"/>
          <p:nvPr/>
        </p:nvSpPr>
        <p:spPr>
          <a:xfrm>
            <a:off x="4101084" y="1572768"/>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NORTH</a:t>
            </a:r>
            <a:endParaRPr lang="en-US" sz="900" dirty="0"/>
          </a:p>
        </p:txBody>
      </p:sp>
      <p:sp>
        <p:nvSpPr>
          <p:cNvPr id="10" name="text-156"/>
          <p:cNvSpPr txBox="1"/>
          <p:nvPr/>
        </p:nvSpPr>
        <p:spPr>
          <a:xfrm>
            <a:off x="3918204" y="1828800"/>
            <a:ext cx="30952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The windy north holds the Northern Renewable Park, the energy hub, the Polar Rescue and Resilience Station and the airport.</a:t>
            </a:r>
            <a:endParaRPr lang="en-US" sz="900" dirty="0"/>
          </a:p>
        </p:txBody>
      </p:sp>
      <p:pic>
        <p:nvPicPr>
          <p:cNvPr id="11" name="master-plan-left" descr="/home/user/chatbox-bi-n-o/magazine/assets/plans/01_city_master_plan_L.png">    </p:cNvPr>
          <p:cNvPicPr>
            <a:picLocks noChangeAspect="1"/>
          </p:cNvPicPr>
          <p:nvPr/>
        </p:nvPicPr>
        <p:blipFill>
          <a:blip r:embed="rId1"/>
          <a:stretch>
            <a:fillRect/>
          </a:stretch>
        </p:blipFill>
        <p:spPr>
          <a:xfrm>
            <a:off x="1935011" y="2514600"/>
            <a:ext cx="5627077" cy="7315200"/>
          </a:xfrm>
          <a:prstGeom prst="rect">
            <a:avLst/>
          </a:prstGeom>
        </p:spPr>
      </p:pic>
      <p:sp>
        <p:nvSpPr>
          <p:cNvPr id="12" name="text-157"/>
          <p:cNvSpPr txBox="1"/>
          <p:nvPr/>
        </p:nvSpPr>
        <p:spPr>
          <a:xfrm>
            <a:off x="548640" y="8092440"/>
            <a:ext cx="1249211" cy="1737360"/>
          </a:xfrm>
          <a:prstGeom prst="rect">
            <a:avLst/>
          </a:prstGeom>
          <a:noFill/>
          <a:ln/>
        </p:spPr>
        <p:txBody>
          <a:bodyPr wrap="square" lIns="0" tIns="0" rIns="0" bIns="0" rtlCol="0" anchor="b"/>
          <a:lstStyle/>
          <a:p>
            <a:pPr indent="0" marL="0">
              <a:buNone/>
            </a:pPr>
            <a:r>
              <a:rPr lang="en-US" sz="850" i="1" dirty="0">
                <a:solidFill>
                  <a:schemeClr val="tx2"/>
                </a:solidFill>
              </a:rPr>
              <a:t>Aurora Haven – City Master Plan. North is up; one unit is one metre. Drawn from the 3D model; the numbers are the 35 places listed on page 30.</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master-plan-right" descr="/home/user/chatbox-bi-n-o/magazine/assets/plans/01_city_master_plan_R.png">    </p:cNvPr>
          <p:cNvPicPr>
            <a:picLocks noChangeAspect="1"/>
          </p:cNvPicPr>
          <p:nvPr/>
        </p:nvPicPr>
        <p:blipFill>
          <a:blip r:embed="rId1"/>
          <a:stretch>
            <a:fillRect/>
          </a:stretch>
        </p:blipFill>
        <p:spPr>
          <a:xfrm>
            <a:off x="0" y="2514600"/>
            <a:ext cx="5627077" cy="7315200"/>
          </a:xfrm>
          <a:prstGeom prst="rect">
            <a:avLst/>
          </a:prstGeom>
        </p:spPr>
      </p:pic>
      <p:sp>
        <p:nvSpPr>
          <p:cNvPr id="3" name="kicker-dot-158"/>
          <p:cNvSpPr/>
          <p:nvPr/>
        </p:nvSpPr>
        <p:spPr>
          <a:xfrm>
            <a:off x="548640" y="1613916"/>
            <a:ext cx="100584" cy="100584"/>
          </a:xfrm>
          <a:prstGeom prst="ellipse">
            <a:avLst/>
          </a:prstGeom>
          <a:solidFill>
            <a:schemeClr val="tx2"/>
          </a:solidFill>
          <a:ln w="12700">
            <a:solidFill>
              <a:schemeClr val="tx2"/>
            </a:solidFill>
            <a:prstDash val="solid"/>
          </a:ln>
        </p:spPr>
      </p:sp>
      <p:sp>
        <p:nvSpPr>
          <p:cNvPr id="4" name="text-159"/>
          <p:cNvSpPr txBox="1"/>
          <p:nvPr/>
        </p:nvSpPr>
        <p:spPr>
          <a:xfrm>
            <a:off x="731520" y="1572768"/>
            <a:ext cx="1850136" cy="201168"/>
          </a:xfrm>
          <a:prstGeom prst="rect">
            <a:avLst/>
          </a:prstGeom>
          <a:noFill/>
          <a:ln/>
        </p:spPr>
        <p:txBody>
          <a:bodyPr wrap="square" lIns="0" tIns="0" rIns="0" bIns="0" rtlCol="0" anchor="t"/>
          <a:lstStyle/>
          <a:p>
            <a:pPr indent="0" marL="0">
              <a:buNone/>
            </a:pPr>
            <a:r>
              <a:rPr lang="en-US" sz="900" b="1" spc="300" kern="0" dirty="0">
                <a:solidFill>
                  <a:schemeClr val="tx2"/>
                </a:solidFill>
              </a:rPr>
              <a:t>WEST</a:t>
            </a:r>
            <a:endParaRPr lang="en-US" sz="900" dirty="0"/>
          </a:p>
        </p:txBody>
      </p:sp>
      <p:sp>
        <p:nvSpPr>
          <p:cNvPr id="5" name="text-160"/>
          <p:cNvSpPr txBox="1"/>
          <p:nvPr/>
        </p:nvSpPr>
        <p:spPr>
          <a:xfrm>
            <a:off x="548640" y="1828800"/>
            <a:ext cx="2033016"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The air base and garrison, behind a belt of trees that screens the eco-homes.</a:t>
            </a:r>
            <a:endParaRPr lang="en-US" sz="900" dirty="0"/>
          </a:p>
        </p:txBody>
      </p:sp>
      <p:sp>
        <p:nvSpPr>
          <p:cNvPr id="6" name="kicker-dot-161"/>
          <p:cNvSpPr/>
          <p:nvPr/>
        </p:nvSpPr>
        <p:spPr>
          <a:xfrm>
            <a:off x="2764536" y="1613916"/>
            <a:ext cx="100584" cy="100584"/>
          </a:xfrm>
          <a:prstGeom prst="ellipse">
            <a:avLst/>
          </a:prstGeom>
          <a:solidFill>
            <a:schemeClr val="accent4"/>
          </a:solidFill>
          <a:ln w="12700">
            <a:solidFill>
              <a:schemeClr val="accent4"/>
            </a:solidFill>
            <a:prstDash val="solid"/>
          </a:ln>
        </p:spPr>
      </p:sp>
      <p:sp>
        <p:nvSpPr>
          <p:cNvPr id="7" name="text-162"/>
          <p:cNvSpPr txBox="1"/>
          <p:nvPr/>
        </p:nvSpPr>
        <p:spPr>
          <a:xfrm>
            <a:off x="2947416" y="1572768"/>
            <a:ext cx="1850136" cy="201168"/>
          </a:xfrm>
          <a:prstGeom prst="rect">
            <a:avLst/>
          </a:prstGeom>
          <a:noFill/>
          <a:ln/>
        </p:spPr>
        <p:txBody>
          <a:bodyPr wrap="square" lIns="0" tIns="0" rIns="0" bIns="0" rtlCol="0" anchor="t"/>
          <a:lstStyle/>
          <a:p>
            <a:pPr indent="0" marL="0">
              <a:buNone/>
            </a:pPr>
            <a:r>
              <a:rPr lang="en-US" sz="900" b="1" spc="300" kern="0" dirty="0">
                <a:solidFill>
                  <a:schemeClr val="accent4"/>
                </a:solidFill>
              </a:rPr>
              <a:t>EAST</a:t>
            </a:r>
            <a:endParaRPr lang="en-US" sz="900" dirty="0"/>
          </a:p>
        </p:txBody>
      </p:sp>
      <p:sp>
        <p:nvSpPr>
          <p:cNvPr id="8" name="text-163"/>
          <p:cNvSpPr txBox="1"/>
          <p:nvPr/>
        </p:nvSpPr>
        <p:spPr>
          <a:xfrm>
            <a:off x="2764536" y="1828800"/>
            <a:ext cx="2033016"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Greenhouses, the snow stadium, the fusion station and the Snow-to-Food plant, linked by pipe bridges and heat mains.</a:t>
            </a:r>
            <a:endParaRPr lang="en-US" sz="900" dirty="0"/>
          </a:p>
        </p:txBody>
      </p:sp>
      <p:sp>
        <p:nvSpPr>
          <p:cNvPr id="9" name="kicker-dot-164"/>
          <p:cNvSpPr/>
          <p:nvPr/>
        </p:nvSpPr>
        <p:spPr>
          <a:xfrm>
            <a:off x="4980432" y="1613916"/>
            <a:ext cx="100584" cy="100584"/>
          </a:xfrm>
          <a:prstGeom prst="ellipse">
            <a:avLst/>
          </a:prstGeom>
          <a:solidFill>
            <a:schemeClr val="accent5"/>
          </a:solidFill>
          <a:ln w="12700">
            <a:solidFill>
              <a:schemeClr val="accent5"/>
            </a:solidFill>
            <a:prstDash val="solid"/>
          </a:ln>
        </p:spPr>
      </p:sp>
      <p:sp>
        <p:nvSpPr>
          <p:cNvPr id="10" name="text-165"/>
          <p:cNvSpPr txBox="1"/>
          <p:nvPr/>
        </p:nvSpPr>
        <p:spPr>
          <a:xfrm>
            <a:off x="5163312" y="1572768"/>
            <a:ext cx="1850136" cy="201168"/>
          </a:xfrm>
          <a:prstGeom prst="rect">
            <a:avLst/>
          </a:prstGeom>
          <a:noFill/>
          <a:ln/>
        </p:spPr>
        <p:txBody>
          <a:bodyPr wrap="square" lIns="0" tIns="0" rIns="0" bIns="0" rtlCol="0" anchor="t"/>
          <a:lstStyle/>
          <a:p>
            <a:pPr indent="0" marL="0">
              <a:buNone/>
            </a:pPr>
            <a:r>
              <a:rPr lang="en-US" sz="900" b="1" spc="300" kern="0" dirty="0">
                <a:solidFill>
                  <a:schemeClr val="accent5"/>
                </a:solidFill>
              </a:rPr>
              <a:t>SOUTH</a:t>
            </a:r>
            <a:endParaRPr lang="en-US" sz="900" dirty="0"/>
          </a:p>
        </p:txBody>
      </p:sp>
      <p:sp>
        <p:nvSpPr>
          <p:cNvPr id="11" name="text-166"/>
          <p:cNvSpPr txBox="1"/>
          <p:nvPr/>
        </p:nvSpPr>
        <p:spPr>
          <a:xfrm>
            <a:off x="4980432" y="1828800"/>
            <a:ext cx="2033016"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Framed by Liberty Mall, Mount Aurora rises with its geothermal spa resort inside.</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picture-167" descr="/home/user/chatbox-bi-n-o/magazine/assets/renders/liberty_dusk_L.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168" descr="/home/user/chatbox-bi-n-o/magazine/assets/ui/shade_bottom.png">    </p:cNvPr>
          <p:cNvPicPr>
            <a:picLocks noChangeAspect="1"/>
          </p:cNvPicPr>
          <p:nvPr/>
        </p:nvPicPr>
        <p:blipFill>
          <a:blip r:embed="rId2"/>
          <a:stretch>
            <a:fillRect/>
          </a:stretch>
        </p:blipFill>
        <p:spPr>
          <a:xfrm>
            <a:off x="0" y="5120640"/>
            <a:ext cx="7562088" cy="5568696"/>
          </a:xfrm>
          <a:prstGeom prst="rect">
            <a:avLst/>
          </a:prstGeom>
        </p:spPr>
      </p:pic>
      <p:sp>
        <p:nvSpPr>
          <p:cNvPr id="4" name="kicker-dot-169"/>
          <p:cNvSpPr/>
          <p:nvPr/>
        </p:nvSpPr>
        <p:spPr>
          <a:xfrm>
            <a:off x="548640" y="6944868"/>
            <a:ext cx="100584" cy="100584"/>
          </a:xfrm>
          <a:prstGeom prst="ellipse">
            <a:avLst/>
          </a:prstGeom>
          <a:solidFill>
            <a:schemeClr val="accent1"/>
          </a:solidFill>
          <a:ln w="12700">
            <a:solidFill>
              <a:schemeClr val="accent1"/>
            </a:solidFill>
            <a:prstDash val="solid"/>
          </a:ln>
        </p:spPr>
      </p:sp>
      <p:sp>
        <p:nvSpPr>
          <p:cNvPr id="5" name="text-170"/>
          <p:cNvSpPr txBox="1"/>
          <p:nvPr/>
        </p:nvSpPr>
        <p:spPr>
          <a:xfrm>
            <a:off x="731520" y="6903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DOWNTOWN</a:t>
            </a:r>
            <a:endParaRPr lang="en-US" sz="900" dirty="0"/>
          </a:p>
        </p:txBody>
      </p:sp>
      <p:sp>
        <p:nvSpPr>
          <p:cNvPr id="6" name="title-171"/>
          <p:cNvSpPr txBox="1"/>
          <p:nvPr/>
        </p:nvSpPr>
        <p:spPr>
          <a:xfrm>
            <a:off x="548640" y="7159752"/>
            <a:ext cx="6464808" cy="137160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Nine Blocks, One Short Walk</a:t>
            </a:r>
            <a:endParaRPr lang="en-US" sz="4400" dirty="0"/>
          </a:p>
        </p:txBody>
      </p:sp>
      <p:sp>
        <p:nvSpPr>
          <p:cNvPr id="7" name="text-173"/>
          <p:cNvSpPr txBox="1"/>
          <p:nvPr/>
        </p:nvSpPr>
        <p:spPr>
          <a:xfrm>
            <a:off x="548640" y="8503920"/>
            <a:ext cx="6464808" cy="59436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Shops, schools, healthcare and homes within a short walk of each other, around the Aurora Roundabout.</a:t>
            </a:r>
            <a:endParaRPr lang="en-US" sz="1400" dirty="0"/>
          </a:p>
        </p:txBody>
      </p:sp>
      <p:sp>
        <p:nvSpPr>
          <p:cNvPr id="8" name="text-174"/>
          <p:cNvSpPr txBox="1"/>
          <p:nvPr/>
        </p:nvSpPr>
        <p:spPr>
          <a:xfrm>
            <a:off x="548640" y="9189720"/>
            <a:ext cx="6464808" cy="868680"/>
          </a:xfrm>
          <a:prstGeom prst="rect">
            <a:avLst/>
          </a:prstGeom>
          <a:noFill/>
          <a:ln/>
        </p:spPr>
        <p:txBody>
          <a:bodyPr wrap="square" lIns="0" tIns="0" rIns="0" bIns="0" rtlCol="0" anchor="t"/>
          <a:lstStyle/>
          <a:p>
            <a:pPr indent="0" marL="0">
              <a:lnSpc>
                <a:spcPct val="110000"/>
              </a:lnSpc>
              <a:buNone/>
            </a:pPr>
            <a:r>
              <a:rPr lang="en-US" sz="1000" dirty="0">
                <a:solidFill>
                  <a:schemeClr val="bg1"/>
                </a:solidFill>
              </a:rPr>
              <a:t>Downtown is laid out in nine blocks around the Aurora Roundabout and the President Ho Chi Minh Monument. The metro interchange lies under Liberty Mall, the tree-lined promenade through the four central blocks, which hosts festivals, markets and parades.</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picture-175" descr="/home/user/chatbox-bi-n-o/magazine/assets/renders/liberty_dusk_R.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176" descr="/home/user/chatbox-bi-n-o/magazine/assets/ui/shade_bottom.png">    </p:cNvPr>
          <p:cNvPicPr>
            <a:picLocks noChangeAspect="1"/>
          </p:cNvPicPr>
          <p:nvPr/>
        </p:nvPicPr>
        <p:blipFill>
          <a:blip r:embed="rId2"/>
          <a:stretch>
            <a:fillRect/>
          </a:stretch>
        </p:blipFill>
        <p:spPr>
          <a:xfrm>
            <a:off x="0" y="8229600"/>
            <a:ext cx="7562088" cy="2459736"/>
          </a:xfrm>
          <a:prstGeom prst="rect">
            <a:avLst/>
          </a:prstGeom>
        </p:spPr>
      </p:pic>
      <p:sp>
        <p:nvSpPr>
          <p:cNvPr id="4" name="text-177"/>
          <p:cNvSpPr txBox="1"/>
          <p:nvPr/>
        </p:nvSpPr>
        <p:spPr>
          <a:xfrm>
            <a:off x="2990088" y="9372600"/>
            <a:ext cx="4023360" cy="548640"/>
          </a:xfrm>
          <a:prstGeom prst="rect">
            <a:avLst/>
          </a:prstGeom>
          <a:noFill/>
          <a:ln/>
        </p:spPr>
        <p:txBody>
          <a:bodyPr wrap="square" lIns="0" tIns="0" rIns="0" bIns="0" rtlCol="0" anchor="t"/>
          <a:lstStyle/>
          <a:p>
            <a:pPr algn="r" indent="0" marL="0">
              <a:buNone/>
            </a:pPr>
            <a:r>
              <a:rPr lang="en-US" sz="850" i="1" dirty="0">
                <a:solidFill>
                  <a:schemeClr val="bg1"/>
                </a:solidFill>
              </a:rPr>
              <a:t>Liberty Mall at dusk, looking north to the President Ho Chi Minh Monument. Its granite plaza is warmed from below by the heating loop and never ices, and twin lanterns line the way.</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icker-dot-178"/>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17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DOWNTOWN</a:t>
            </a:r>
            <a:endParaRPr lang="en-US" sz="900" dirty="0"/>
          </a:p>
        </p:txBody>
      </p:sp>
      <p:sp>
        <p:nvSpPr>
          <p:cNvPr id="4" name="title-18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The Nine Blocks</a:t>
            </a:r>
            <a:endParaRPr lang="en-US" sz="3400" dirty="0"/>
          </a:p>
        </p:txBody>
      </p:sp>
      <p:pic>
        <p:nvPicPr>
          <p:cNvPr id="5" name="picture-182" descr="/home/user/chatbox-bi-n-o/magazine/assets/renders/downtown_aerial.jpg">    </p:cNvPr>
          <p:cNvPicPr>
            <a:picLocks noChangeAspect="1"/>
          </p:cNvPicPr>
          <p:nvPr/>
        </p:nvPicPr>
        <p:blipFill>
          <a:blip r:embed="rId1"/>
          <a:srcRect l="0" r="0" t="0" b="0"/>
          <a:stretch/>
        </p:blipFill>
        <p:spPr>
          <a:xfrm>
            <a:off x="0" y="1508760"/>
            <a:ext cx="7562088" cy="3794760"/>
          </a:xfrm>
          <a:prstGeom prst="rect">
            <a:avLst/>
          </a:prstGeom>
        </p:spPr>
      </p:pic>
      <p:sp>
        <p:nvSpPr>
          <p:cNvPr id="6" name="text-183"/>
          <p:cNvSpPr txBox="1"/>
          <p:nvPr/>
        </p:nvSpPr>
        <p:spPr>
          <a:xfrm>
            <a:off x="548640" y="5367528"/>
            <a:ext cx="6464808" cy="228600"/>
          </a:xfrm>
          <a:prstGeom prst="rect">
            <a:avLst/>
          </a:prstGeom>
          <a:noFill/>
          <a:ln/>
        </p:spPr>
        <p:txBody>
          <a:bodyPr wrap="square" lIns="0" tIns="0" rIns="0" bIns="0" rtlCol="0" anchor="t"/>
          <a:lstStyle/>
          <a:p>
            <a:pPr indent="0" marL="0">
              <a:buNone/>
            </a:pPr>
            <a:r>
              <a:rPr lang="en-US" sz="850" i="1" dirty="0">
                <a:solidFill>
                  <a:schemeClr val="tx2"/>
                </a:solidFill>
              </a:rPr>
              <a:t>Downtown from the south-east. The map below follows the city plan, with north at the top.</a:t>
            </a:r>
            <a:endParaRPr lang="en-US" sz="850" dirty="0"/>
          </a:p>
        </p:txBody>
      </p:sp>
      <p:sp>
        <p:nvSpPr>
          <p:cNvPr id="7" name="card-184"/>
          <p:cNvSpPr/>
          <p:nvPr/>
        </p:nvSpPr>
        <p:spPr>
          <a:xfrm>
            <a:off x="548640" y="5760720"/>
            <a:ext cx="2093976" cy="1344168"/>
          </a:xfrm>
          <a:prstGeom prst="roundRect">
            <a:avLst>
              <a:gd name="adj" fmla="val 5442"/>
            </a:avLst>
          </a:prstGeom>
          <a:solidFill>
            <a:schemeClr val="bg2"/>
          </a:solidFill>
          <a:ln w="12700">
            <a:solidFill>
              <a:schemeClr val="bg2"/>
            </a:solidFill>
            <a:prstDash val="solid"/>
          </a:ln>
        </p:spPr>
      </p:sp>
      <p:sp>
        <p:nvSpPr>
          <p:cNvPr id="8" name="text-185"/>
          <p:cNvSpPr txBox="1"/>
          <p:nvPr/>
        </p:nvSpPr>
        <p:spPr>
          <a:xfrm>
            <a:off x="667512" y="587044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Polaris Quarter</a:t>
            </a:r>
            <a:endParaRPr lang="en-US" sz="1050" dirty="0"/>
          </a:p>
        </p:txBody>
      </p:sp>
      <p:sp>
        <p:nvSpPr>
          <p:cNvPr id="9" name="text-186"/>
          <p:cNvSpPr txBox="1"/>
          <p:nvPr/>
        </p:nvSpPr>
        <p:spPr>
          <a:xfrm>
            <a:off x="667512" y="6144768"/>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Core – AI Control Tower · Aurora Haven Police Headquarters · Polaris Green Office Tower</a:t>
            </a:r>
            <a:endParaRPr lang="en-US" sz="950" dirty="0"/>
          </a:p>
        </p:txBody>
      </p:sp>
      <p:sp>
        <p:nvSpPr>
          <p:cNvPr id="10" name="card-187"/>
          <p:cNvSpPr/>
          <p:nvPr/>
        </p:nvSpPr>
        <p:spPr>
          <a:xfrm>
            <a:off x="2734056" y="5760720"/>
            <a:ext cx="2093976" cy="1344168"/>
          </a:xfrm>
          <a:prstGeom prst="roundRect">
            <a:avLst>
              <a:gd name="adj" fmla="val 5442"/>
            </a:avLst>
          </a:prstGeom>
          <a:solidFill>
            <a:schemeClr val="bg2"/>
          </a:solidFill>
          <a:ln w="12700">
            <a:solidFill>
              <a:schemeClr val="bg2"/>
            </a:solidFill>
            <a:prstDash val="solid"/>
          </a:ln>
        </p:spPr>
      </p:sp>
      <p:sp>
        <p:nvSpPr>
          <p:cNvPr id="11" name="text-188"/>
          <p:cNvSpPr txBox="1"/>
          <p:nvPr/>
        </p:nvSpPr>
        <p:spPr>
          <a:xfrm>
            <a:off x="2852928" y="587044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Knowledge Quarter</a:t>
            </a:r>
            <a:endParaRPr lang="en-US" sz="1050" dirty="0"/>
          </a:p>
        </p:txBody>
      </p:sp>
      <p:sp>
        <p:nvSpPr>
          <p:cNvPr id="12" name="text-189"/>
          <p:cNvSpPr txBox="1"/>
          <p:nvPr/>
        </p:nvSpPr>
        <p:spPr>
          <a:xfrm>
            <a:off x="2852928" y="6144768"/>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Arctic University – Main Hall · Aurora Public Library</a:t>
            </a:r>
            <a:endParaRPr lang="en-US" sz="950" dirty="0"/>
          </a:p>
        </p:txBody>
      </p:sp>
      <p:sp>
        <p:nvSpPr>
          <p:cNvPr id="13" name="card-190"/>
          <p:cNvSpPr/>
          <p:nvPr/>
        </p:nvSpPr>
        <p:spPr>
          <a:xfrm>
            <a:off x="4919472" y="5760720"/>
            <a:ext cx="2093976" cy="1344168"/>
          </a:xfrm>
          <a:prstGeom prst="roundRect">
            <a:avLst>
              <a:gd name="adj" fmla="val 5442"/>
            </a:avLst>
          </a:prstGeom>
          <a:solidFill>
            <a:schemeClr val="bg2"/>
          </a:solidFill>
          <a:ln w="12700">
            <a:solidFill>
              <a:schemeClr val="bg2"/>
            </a:solidFill>
            <a:prstDash val="solid"/>
          </a:ln>
        </p:spPr>
      </p:sp>
      <p:sp>
        <p:nvSpPr>
          <p:cNvPr id="14" name="text-191"/>
          <p:cNvSpPr txBox="1"/>
          <p:nvPr/>
        </p:nvSpPr>
        <p:spPr>
          <a:xfrm>
            <a:off x="5038344" y="587044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Financial District</a:t>
            </a:r>
            <a:endParaRPr lang="en-US" sz="1050" dirty="0"/>
          </a:p>
        </p:txBody>
      </p:sp>
      <p:sp>
        <p:nvSpPr>
          <p:cNvPr id="15" name="text-192"/>
          <p:cNvSpPr txBox="1"/>
          <p:nvPr/>
        </p:nvSpPr>
        <p:spPr>
          <a:xfrm>
            <a:off x="5038344" y="6144768"/>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Arctic Stock Exchange · Aurora Green Finance Hall · Snowline Courthouse · Aurora Business Hotel</a:t>
            </a:r>
            <a:endParaRPr lang="en-US" sz="950" dirty="0"/>
          </a:p>
        </p:txBody>
      </p:sp>
      <p:sp>
        <p:nvSpPr>
          <p:cNvPr id="16" name="card-193"/>
          <p:cNvSpPr/>
          <p:nvPr/>
        </p:nvSpPr>
        <p:spPr>
          <a:xfrm>
            <a:off x="548640" y="7196328"/>
            <a:ext cx="2093976" cy="1344168"/>
          </a:xfrm>
          <a:prstGeom prst="roundRect">
            <a:avLst>
              <a:gd name="adj" fmla="val 5442"/>
            </a:avLst>
          </a:prstGeom>
          <a:solidFill>
            <a:schemeClr val="bg2"/>
          </a:solidFill>
          <a:ln w="12700">
            <a:solidFill>
              <a:schemeClr val="bg2"/>
            </a:solidFill>
            <a:prstDash val="solid"/>
          </a:ln>
        </p:spPr>
      </p:sp>
      <p:sp>
        <p:nvSpPr>
          <p:cNvPr id="17" name="text-194"/>
          <p:cNvSpPr txBox="1"/>
          <p:nvPr/>
        </p:nvSpPr>
        <p:spPr>
          <a:xfrm>
            <a:off x="667512" y="7306056"/>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West Market Street</a:t>
            </a:r>
            <a:endParaRPr lang="en-US" sz="1050" dirty="0"/>
          </a:p>
        </p:txBody>
      </p:sp>
      <p:sp>
        <p:nvSpPr>
          <p:cNvPr id="18" name="text-195"/>
          <p:cNvSpPr txBox="1"/>
          <p:nvPr/>
        </p:nvSpPr>
        <p:spPr>
          <a:xfrm>
            <a:off x="667512" y="7580376"/>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West Market Fire &amp; Ambulance Station · Aurora Night Market Hall · Polar Pharmacy</a:t>
            </a:r>
            <a:endParaRPr lang="en-US" sz="950" dirty="0"/>
          </a:p>
        </p:txBody>
      </p:sp>
      <p:sp>
        <p:nvSpPr>
          <p:cNvPr id="19" name="card-196"/>
          <p:cNvSpPr/>
          <p:nvPr/>
        </p:nvSpPr>
        <p:spPr>
          <a:xfrm>
            <a:off x="2734056" y="7196328"/>
            <a:ext cx="2093976" cy="1344168"/>
          </a:xfrm>
          <a:prstGeom prst="roundRect">
            <a:avLst>
              <a:gd name="adj" fmla="val 5442"/>
            </a:avLst>
          </a:prstGeom>
          <a:solidFill>
            <a:schemeClr val="tx1"/>
          </a:solidFill>
          <a:ln w="12700">
            <a:solidFill>
              <a:schemeClr val="tx1"/>
            </a:solidFill>
            <a:prstDash val="solid"/>
          </a:ln>
        </p:spPr>
      </p:sp>
      <p:sp>
        <p:nvSpPr>
          <p:cNvPr id="20" name="text-197"/>
          <p:cNvSpPr txBox="1"/>
          <p:nvPr/>
        </p:nvSpPr>
        <p:spPr>
          <a:xfrm>
            <a:off x="2852928" y="7306056"/>
            <a:ext cx="1856232" cy="219456"/>
          </a:xfrm>
          <a:prstGeom prst="rect">
            <a:avLst/>
          </a:prstGeom>
          <a:noFill/>
          <a:ln/>
        </p:spPr>
        <p:txBody>
          <a:bodyPr wrap="square" lIns="0" tIns="0" rIns="0" bIns="0" rtlCol="0" anchor="t"/>
          <a:lstStyle/>
          <a:p>
            <a:pPr indent="0" marL="0">
              <a:buNone/>
            </a:pPr>
            <a:r>
              <a:rPr lang="en-US" sz="1050" b="1" dirty="0">
                <a:solidFill>
                  <a:schemeClr val="accent1"/>
                </a:solidFill>
              </a:rPr>
              <a:t>Civic Core &amp; Liberty Mall</a:t>
            </a:r>
            <a:endParaRPr lang="en-US" sz="1050" dirty="0"/>
          </a:p>
        </p:txBody>
      </p:sp>
      <p:sp>
        <p:nvSpPr>
          <p:cNvPr id="21" name="text-198"/>
          <p:cNvSpPr txBox="1"/>
          <p:nvPr/>
        </p:nvSpPr>
        <p:spPr>
          <a:xfrm>
            <a:off x="2852928" y="7580376"/>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President Ho Chi Minh Monument · Civic Center · Snowflake General Hospital · Northern Lights School · Igloo Fresh · Aurora Cinema · Metro</a:t>
            </a:r>
            <a:endParaRPr lang="en-US" sz="950" dirty="0"/>
          </a:p>
        </p:txBody>
      </p:sp>
      <p:sp>
        <p:nvSpPr>
          <p:cNvPr id="22" name="card-199"/>
          <p:cNvSpPr/>
          <p:nvPr/>
        </p:nvSpPr>
        <p:spPr>
          <a:xfrm>
            <a:off x="4919472" y="7196328"/>
            <a:ext cx="2093976" cy="1344168"/>
          </a:xfrm>
          <a:prstGeom prst="roundRect">
            <a:avLst>
              <a:gd name="adj" fmla="val 5442"/>
            </a:avLst>
          </a:prstGeom>
          <a:solidFill>
            <a:schemeClr val="bg2"/>
          </a:solidFill>
          <a:ln w="12700">
            <a:solidFill>
              <a:schemeClr val="bg2"/>
            </a:solidFill>
            <a:prstDash val="solid"/>
          </a:ln>
        </p:spPr>
      </p:sp>
      <p:sp>
        <p:nvSpPr>
          <p:cNvPr id="23" name="text-200"/>
          <p:cNvSpPr txBox="1"/>
          <p:nvPr/>
        </p:nvSpPr>
        <p:spPr>
          <a:xfrm>
            <a:off x="5038344" y="7306056"/>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East Gallery Avenue</a:t>
            </a:r>
            <a:endParaRPr lang="en-US" sz="1050" dirty="0"/>
          </a:p>
        </p:txBody>
      </p:sp>
      <p:sp>
        <p:nvSpPr>
          <p:cNvPr id="24" name="text-201"/>
          <p:cNvSpPr txBox="1"/>
          <p:nvPr/>
        </p:nvSpPr>
        <p:spPr>
          <a:xfrm>
            <a:off x="5038344" y="7580376"/>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Glacier Mall &amp; Crystal Atrium · Snow Lantern Primary School · Northern Lights Music Hall</a:t>
            </a:r>
            <a:endParaRPr lang="en-US" sz="950" dirty="0"/>
          </a:p>
        </p:txBody>
      </p:sp>
      <p:sp>
        <p:nvSpPr>
          <p:cNvPr id="25" name="card-202"/>
          <p:cNvSpPr/>
          <p:nvPr/>
        </p:nvSpPr>
        <p:spPr>
          <a:xfrm>
            <a:off x="548640" y="8631936"/>
            <a:ext cx="2093976" cy="1344168"/>
          </a:xfrm>
          <a:prstGeom prst="roundRect">
            <a:avLst>
              <a:gd name="adj" fmla="val 5442"/>
            </a:avLst>
          </a:prstGeom>
          <a:solidFill>
            <a:schemeClr val="bg2"/>
          </a:solidFill>
          <a:ln w="12700">
            <a:solidFill>
              <a:schemeClr val="bg2"/>
            </a:solidFill>
            <a:prstDash val="solid"/>
          </a:ln>
        </p:spPr>
      </p:sp>
      <p:sp>
        <p:nvSpPr>
          <p:cNvPr id="26" name="text-203"/>
          <p:cNvSpPr txBox="1"/>
          <p:nvPr/>
        </p:nvSpPr>
        <p:spPr>
          <a:xfrm>
            <a:off x="667512" y="874166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Snowpine Residences</a:t>
            </a:r>
            <a:endParaRPr lang="en-US" sz="1050" dirty="0"/>
          </a:p>
        </p:txBody>
      </p:sp>
      <p:sp>
        <p:nvSpPr>
          <p:cNvPr id="27" name="text-204"/>
          <p:cNvSpPr txBox="1"/>
          <p:nvPr/>
        </p:nvSpPr>
        <p:spPr>
          <a:xfrm>
            <a:off x="667512" y="9015984"/>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Family homes · Pinecone Kindergarten · Snowpine Senior Care Home</a:t>
            </a:r>
            <a:endParaRPr lang="en-US" sz="950" dirty="0"/>
          </a:p>
        </p:txBody>
      </p:sp>
      <p:sp>
        <p:nvSpPr>
          <p:cNvPr id="28" name="card-205"/>
          <p:cNvSpPr/>
          <p:nvPr/>
        </p:nvSpPr>
        <p:spPr>
          <a:xfrm>
            <a:off x="2734056" y="8631936"/>
            <a:ext cx="2093976" cy="1344168"/>
          </a:xfrm>
          <a:prstGeom prst="roundRect">
            <a:avLst>
              <a:gd name="adj" fmla="val 5442"/>
            </a:avLst>
          </a:prstGeom>
          <a:solidFill>
            <a:schemeClr val="bg2"/>
          </a:solidFill>
          <a:ln w="12700">
            <a:solidFill>
              <a:schemeClr val="bg2"/>
            </a:solidFill>
            <a:prstDash val="solid"/>
          </a:ln>
        </p:spPr>
      </p:sp>
      <p:sp>
        <p:nvSpPr>
          <p:cNvPr id="29" name="text-206"/>
          <p:cNvSpPr txBox="1"/>
          <p:nvPr/>
        </p:nvSpPr>
        <p:spPr>
          <a:xfrm>
            <a:off x="2852928" y="874166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Mount Aurora Approach</a:t>
            </a:r>
            <a:endParaRPr lang="en-US" sz="1050" dirty="0"/>
          </a:p>
        </p:txBody>
      </p:sp>
      <p:sp>
        <p:nvSpPr>
          <p:cNvPr id="30" name="text-207"/>
          <p:cNvSpPr txBox="1"/>
          <p:nvPr/>
        </p:nvSpPr>
        <p:spPr>
          <a:xfrm>
            <a:off x="2852928" y="9015984"/>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Mount Aurora Guesthouse · Southside Police &amp; Mountain Rescue Post · spa shuttle street</a:t>
            </a:r>
            <a:endParaRPr lang="en-US" sz="950" dirty="0"/>
          </a:p>
        </p:txBody>
      </p:sp>
      <p:sp>
        <p:nvSpPr>
          <p:cNvPr id="31" name="card-208"/>
          <p:cNvSpPr/>
          <p:nvPr/>
        </p:nvSpPr>
        <p:spPr>
          <a:xfrm>
            <a:off x="4919472" y="8631936"/>
            <a:ext cx="2093976" cy="1344168"/>
          </a:xfrm>
          <a:prstGeom prst="roundRect">
            <a:avLst>
              <a:gd name="adj" fmla="val 5442"/>
            </a:avLst>
          </a:prstGeom>
          <a:solidFill>
            <a:schemeClr val="bg2"/>
          </a:solidFill>
          <a:ln w="12700">
            <a:solidFill>
              <a:schemeClr val="bg2"/>
            </a:solidFill>
            <a:prstDash val="solid"/>
          </a:ln>
        </p:spPr>
      </p:sp>
      <p:sp>
        <p:nvSpPr>
          <p:cNvPr id="32" name="text-209"/>
          <p:cNvSpPr txBox="1"/>
          <p:nvPr/>
        </p:nvSpPr>
        <p:spPr>
          <a:xfrm>
            <a:off x="5038344" y="874166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Aurora 81 District</a:t>
            </a:r>
            <a:endParaRPr lang="en-US" sz="1050" dirty="0"/>
          </a:p>
        </p:txBody>
      </p:sp>
      <p:sp>
        <p:nvSpPr>
          <p:cNvPr id="33" name="text-210"/>
          <p:cNvSpPr txBox="1"/>
          <p:nvPr/>
        </p:nvSpPr>
        <p:spPr>
          <a:xfrm>
            <a:off x="5038344" y="9015984"/>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81 – Polar Landmark Tower · Aurora 81 Residences (Twin Towers)</a:t>
            </a:r>
            <a:endParaRPr lang="en-US" sz="9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dot-211"/>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12"/>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EVERYDAY LIFE</a:t>
            </a:r>
            <a:endParaRPr lang="en-US" sz="900" dirty="0"/>
          </a:p>
        </p:txBody>
      </p:sp>
      <p:sp>
        <p:nvSpPr>
          <p:cNvPr id="4" name="title-213"/>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A Livable City Every Day</a:t>
            </a:r>
            <a:endParaRPr lang="en-US" sz="3400" dirty="0"/>
          </a:p>
        </p:txBody>
      </p:sp>
      <p:pic>
        <p:nvPicPr>
          <p:cNvPr id="5" name="picture-215" descr="/home/user/chatbox-bi-n-o/magazine/assets/renders/houses_dusk.jpg">    </p:cNvPr>
          <p:cNvPicPr>
            <a:picLocks noChangeAspect="1"/>
          </p:cNvPicPr>
          <p:nvPr/>
        </p:nvPicPr>
        <p:blipFill>
          <a:blip r:embed="rId1"/>
          <a:srcRect l="0" r="0" t="0" b="0"/>
          <a:stretch/>
        </p:blipFill>
        <p:spPr>
          <a:xfrm>
            <a:off x="0" y="1508760"/>
            <a:ext cx="7562088" cy="3657600"/>
          </a:xfrm>
          <a:prstGeom prst="rect">
            <a:avLst/>
          </a:prstGeom>
        </p:spPr>
      </p:pic>
      <p:sp>
        <p:nvSpPr>
          <p:cNvPr id="6" name="text-216"/>
          <p:cNvSpPr txBox="1"/>
          <p:nvPr/>
        </p:nvSpPr>
        <p:spPr>
          <a:xfrm>
            <a:off x="548640" y="5230368"/>
            <a:ext cx="6464808" cy="365760"/>
          </a:xfrm>
          <a:prstGeom prst="rect">
            <a:avLst/>
          </a:prstGeom>
          <a:noFill/>
          <a:ln/>
        </p:spPr>
        <p:txBody>
          <a:bodyPr wrap="square" lIns="0" tIns="0" rIns="0" bIns="0" rtlCol="0" anchor="t"/>
          <a:lstStyle/>
          <a:p>
            <a:pPr indent="0" marL="0">
              <a:buNone/>
            </a:pPr>
            <a:r>
              <a:rPr lang="en-US" sz="850" i="1" dirty="0">
                <a:solidFill>
                  <a:schemeClr val="tx2"/>
                </a:solidFill>
              </a:rPr>
              <a:t>Snowpine Residences at dusk. Sidewalks warmed by district-heating return water stay snow-free, and spruces shelter the courtyards from the wind.</a:t>
            </a:r>
            <a:endParaRPr lang="en-US" sz="850" dirty="0"/>
          </a:p>
        </p:txBody>
      </p:sp>
      <p:sp>
        <p:nvSpPr>
          <p:cNvPr id="7" name="kicker-dot-217"/>
          <p:cNvSpPr/>
          <p:nvPr/>
        </p:nvSpPr>
        <p:spPr>
          <a:xfrm>
            <a:off x="548640" y="5801868"/>
            <a:ext cx="100584" cy="100584"/>
          </a:xfrm>
          <a:prstGeom prst="ellipse">
            <a:avLst/>
          </a:prstGeom>
          <a:solidFill>
            <a:schemeClr val="accent6"/>
          </a:solidFill>
          <a:ln w="12700">
            <a:solidFill>
              <a:schemeClr val="accent6"/>
            </a:solidFill>
            <a:prstDash val="solid"/>
          </a:ln>
        </p:spPr>
      </p:sp>
      <p:sp>
        <p:nvSpPr>
          <p:cNvPr id="8" name="text-218"/>
          <p:cNvSpPr txBox="1"/>
          <p:nvPr/>
        </p:nvSpPr>
        <p:spPr>
          <a:xfrm>
            <a:off x="731520" y="576072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HOMES</a:t>
            </a:r>
            <a:endParaRPr lang="en-US" sz="900" dirty="0"/>
          </a:p>
        </p:txBody>
      </p:sp>
      <p:sp>
        <p:nvSpPr>
          <p:cNvPr id="9" name="text-219"/>
          <p:cNvSpPr txBox="1"/>
          <p:nvPr/>
        </p:nvSpPr>
        <p:spPr>
          <a:xfrm>
            <a:off x="548640" y="6007608"/>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Family houses in Snowpine Residences, the western eco-homes, towers such as the Aurora 81 Residences and Ice Crystal Apartments, co-living, student and senior housing.</a:t>
            </a:r>
            <a:endParaRPr lang="en-US" sz="950" dirty="0"/>
          </a:p>
        </p:txBody>
      </p:sp>
      <p:sp>
        <p:nvSpPr>
          <p:cNvPr id="10" name="kicker-dot-220"/>
          <p:cNvSpPr/>
          <p:nvPr/>
        </p:nvSpPr>
        <p:spPr>
          <a:xfrm>
            <a:off x="548640" y="6652260"/>
            <a:ext cx="100584" cy="100584"/>
          </a:xfrm>
          <a:prstGeom prst="ellipse">
            <a:avLst/>
          </a:prstGeom>
          <a:solidFill>
            <a:schemeClr val="accent6"/>
          </a:solidFill>
          <a:ln w="12700">
            <a:solidFill>
              <a:schemeClr val="accent6"/>
            </a:solidFill>
            <a:prstDash val="solid"/>
          </a:ln>
        </p:spPr>
      </p:sp>
      <p:sp>
        <p:nvSpPr>
          <p:cNvPr id="11" name="text-221"/>
          <p:cNvSpPr txBox="1"/>
          <p:nvPr/>
        </p:nvSpPr>
        <p:spPr>
          <a:xfrm>
            <a:off x="731520" y="6611112"/>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LEARNING</a:t>
            </a:r>
            <a:endParaRPr lang="en-US" sz="900" dirty="0"/>
          </a:p>
        </p:txBody>
      </p:sp>
      <p:sp>
        <p:nvSpPr>
          <p:cNvPr id="12" name="text-222"/>
          <p:cNvSpPr txBox="1"/>
          <p:nvPr/>
        </p:nvSpPr>
        <p:spPr>
          <a:xfrm>
            <a:off x="548640" y="6858000"/>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Three kindergartens, Snow Lantern Primary School, the Northern Lights School for ages 6 to 18, and Arctic University.</a:t>
            </a:r>
            <a:endParaRPr lang="en-US" sz="950" dirty="0"/>
          </a:p>
        </p:txBody>
      </p:sp>
      <p:sp>
        <p:nvSpPr>
          <p:cNvPr id="13" name="kicker-dot-223"/>
          <p:cNvSpPr/>
          <p:nvPr/>
        </p:nvSpPr>
        <p:spPr>
          <a:xfrm>
            <a:off x="548640" y="7502652"/>
            <a:ext cx="100584" cy="100584"/>
          </a:xfrm>
          <a:prstGeom prst="ellipse">
            <a:avLst/>
          </a:prstGeom>
          <a:solidFill>
            <a:schemeClr val="accent6"/>
          </a:solidFill>
          <a:ln w="12700">
            <a:solidFill>
              <a:schemeClr val="accent6"/>
            </a:solidFill>
            <a:prstDash val="solid"/>
          </a:ln>
        </p:spPr>
      </p:sp>
      <p:sp>
        <p:nvSpPr>
          <p:cNvPr id="14" name="text-224"/>
          <p:cNvSpPr txBox="1"/>
          <p:nvPr/>
        </p:nvSpPr>
        <p:spPr>
          <a:xfrm>
            <a:off x="731520" y="7461504"/>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HEALTH</a:t>
            </a:r>
            <a:endParaRPr lang="en-US" sz="900" dirty="0"/>
          </a:p>
        </p:txBody>
      </p:sp>
      <p:sp>
        <p:nvSpPr>
          <p:cNvPr id="15" name="text-225"/>
          <p:cNvSpPr txBox="1"/>
          <p:nvPr/>
        </p:nvSpPr>
        <p:spPr>
          <a:xfrm>
            <a:off x="548640" y="7708392"/>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Snowflake General Hospital with about 250 beds and a 24-hour emergency department, a campus clinic and a 24-hour pharmacy.</a:t>
            </a:r>
            <a:endParaRPr lang="en-US" sz="950" dirty="0"/>
          </a:p>
        </p:txBody>
      </p:sp>
      <p:sp>
        <p:nvSpPr>
          <p:cNvPr id="16" name="kicker-dot-226"/>
          <p:cNvSpPr/>
          <p:nvPr/>
        </p:nvSpPr>
        <p:spPr>
          <a:xfrm>
            <a:off x="548640" y="8353044"/>
            <a:ext cx="100584" cy="100584"/>
          </a:xfrm>
          <a:prstGeom prst="ellipse">
            <a:avLst/>
          </a:prstGeom>
          <a:solidFill>
            <a:schemeClr val="accent6"/>
          </a:solidFill>
          <a:ln w="12700">
            <a:solidFill>
              <a:schemeClr val="accent6"/>
            </a:solidFill>
            <a:prstDash val="solid"/>
          </a:ln>
        </p:spPr>
      </p:sp>
      <p:sp>
        <p:nvSpPr>
          <p:cNvPr id="17" name="text-227"/>
          <p:cNvSpPr txBox="1"/>
          <p:nvPr/>
        </p:nvSpPr>
        <p:spPr>
          <a:xfrm>
            <a:off x="731520" y="8311896"/>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SHOPPING</a:t>
            </a:r>
            <a:endParaRPr lang="en-US" sz="900" dirty="0"/>
          </a:p>
        </p:txBody>
      </p:sp>
      <p:sp>
        <p:nvSpPr>
          <p:cNvPr id="18" name="text-228"/>
          <p:cNvSpPr txBox="1"/>
          <p:nvPr/>
        </p:nvSpPr>
        <p:spPr>
          <a:xfrm>
            <a:off x="548640" y="8558784"/>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Igloo Fresh Supermarket, Tundra Grocery, the night and fish markets and the Aurora Glacier Mall with its indoor atrium park.</a:t>
            </a:r>
            <a:endParaRPr lang="en-US" sz="950" dirty="0"/>
          </a:p>
        </p:txBody>
      </p:sp>
      <p:sp>
        <p:nvSpPr>
          <p:cNvPr id="19" name="kicker-dot-229"/>
          <p:cNvSpPr/>
          <p:nvPr/>
        </p:nvSpPr>
        <p:spPr>
          <a:xfrm>
            <a:off x="548640" y="9203436"/>
            <a:ext cx="100584" cy="100584"/>
          </a:xfrm>
          <a:prstGeom prst="ellipse">
            <a:avLst/>
          </a:prstGeom>
          <a:solidFill>
            <a:schemeClr val="accent6"/>
          </a:solidFill>
          <a:ln w="12700">
            <a:solidFill>
              <a:schemeClr val="accent6"/>
            </a:solidFill>
            <a:prstDash val="solid"/>
          </a:ln>
        </p:spPr>
      </p:sp>
      <p:sp>
        <p:nvSpPr>
          <p:cNvPr id="20" name="text-230"/>
          <p:cNvSpPr txBox="1"/>
          <p:nvPr/>
        </p:nvSpPr>
        <p:spPr>
          <a:xfrm>
            <a:off x="731520" y="9162288"/>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CULTURE AND PARKS</a:t>
            </a:r>
            <a:endParaRPr lang="en-US" sz="900" dirty="0"/>
          </a:p>
        </p:txBody>
      </p:sp>
      <p:sp>
        <p:nvSpPr>
          <p:cNvPr id="21" name="text-231"/>
          <p:cNvSpPr txBox="1"/>
          <p:nvPr/>
        </p:nvSpPr>
        <p:spPr>
          <a:xfrm>
            <a:off x="548640" y="9409176"/>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Cinema, a music hall, a library open 24 hours in the polar night, the Snow Stadium and parks with heated benches.</a:t>
            </a:r>
            <a:endParaRPr lang="en-US" sz="950" dirty="0"/>
          </a:p>
        </p:txBody>
      </p:sp>
      <p:pic>
        <p:nvPicPr>
          <p:cNvPr id="22" name="picture-232" descr="/home/user/chatbox-bi-n-o/magazine/assets/renders/approach_dusk.jpg">    </p:cNvPr>
          <p:cNvPicPr>
            <a:picLocks noChangeAspect="1"/>
          </p:cNvPicPr>
          <p:nvPr/>
        </p:nvPicPr>
        <p:blipFill>
          <a:blip r:embed="rId2"/>
          <a:srcRect l="0" r="0" t="0" b="0"/>
          <a:stretch/>
        </p:blipFill>
        <p:spPr>
          <a:xfrm>
            <a:off x="4055364" y="5760720"/>
            <a:ext cx="2958084" cy="2057400"/>
          </a:xfrm>
          <a:prstGeom prst="rect">
            <a:avLst/>
          </a:prstGeom>
        </p:spPr>
      </p:pic>
      <p:sp>
        <p:nvSpPr>
          <p:cNvPr id="23" name="text-233"/>
          <p:cNvSpPr txBox="1"/>
          <p:nvPr/>
        </p:nvSpPr>
        <p:spPr>
          <a:xfrm>
            <a:off x="4055364" y="7863840"/>
            <a:ext cx="2958084" cy="548640"/>
          </a:xfrm>
          <a:prstGeom prst="rect">
            <a:avLst/>
          </a:prstGeom>
          <a:noFill/>
          <a:ln/>
        </p:spPr>
        <p:txBody>
          <a:bodyPr wrap="square" lIns="0" tIns="0" rIns="0" bIns="0" rtlCol="0" anchor="t"/>
          <a:lstStyle/>
          <a:p>
            <a:pPr indent="0" marL="0">
              <a:buNone/>
            </a:pPr>
            <a:r>
              <a:rPr lang="en-US" sz="850" i="1" dirty="0">
                <a:solidFill>
                  <a:schemeClr val="tx2"/>
                </a:solidFill>
              </a:rPr>
              <a:t>The Mount Aurora Approach: low buildings keep the summit in view, and warm, low-glare lanterns do not hide the aurora.</a:t>
            </a:r>
            <a:endParaRPr lang="en-US" sz="850" dirty="0"/>
          </a:p>
        </p:txBody>
      </p:sp>
      <p:sp>
        <p:nvSpPr>
          <p:cNvPr id="24" name="text-234"/>
          <p:cNvSpPr txBox="1"/>
          <p:nvPr/>
        </p:nvSpPr>
        <p:spPr>
          <a:xfrm>
            <a:off x="4055364" y="8503920"/>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250</a:t>
            </a:r>
            <a:endParaRPr lang="en-US" sz="2000" dirty="0"/>
          </a:p>
        </p:txBody>
      </p:sp>
      <p:sp>
        <p:nvSpPr>
          <p:cNvPr id="25" name="text-235"/>
          <p:cNvSpPr txBox="1"/>
          <p:nvPr/>
        </p:nvSpPr>
        <p:spPr>
          <a:xfrm>
            <a:off x="4055364" y="8858504"/>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hospital beds</a:t>
            </a:r>
            <a:endParaRPr lang="en-US" sz="850" dirty="0"/>
          </a:p>
        </p:txBody>
      </p:sp>
      <p:sp>
        <p:nvSpPr>
          <p:cNvPr id="26" name="text-236"/>
          <p:cNvSpPr txBox="1"/>
          <p:nvPr/>
        </p:nvSpPr>
        <p:spPr>
          <a:xfrm>
            <a:off x="5534406" y="8503920"/>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900</a:t>
            </a:r>
            <a:endParaRPr lang="en-US" sz="2000" dirty="0"/>
          </a:p>
        </p:txBody>
      </p:sp>
      <p:sp>
        <p:nvSpPr>
          <p:cNvPr id="27" name="text-237"/>
          <p:cNvSpPr txBox="1"/>
          <p:nvPr/>
        </p:nvSpPr>
        <p:spPr>
          <a:xfrm>
            <a:off x="5534406" y="8858504"/>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pupils at Northern Lights School</a:t>
            </a:r>
            <a:endParaRPr lang="en-US" sz="850" dirty="0"/>
          </a:p>
        </p:txBody>
      </p:sp>
      <p:sp>
        <p:nvSpPr>
          <p:cNvPr id="28" name="text-238"/>
          <p:cNvSpPr txBox="1"/>
          <p:nvPr/>
        </p:nvSpPr>
        <p:spPr>
          <a:xfrm>
            <a:off x="4055364" y="9253728"/>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5,000</a:t>
            </a:r>
            <a:endParaRPr lang="en-US" sz="2000" dirty="0"/>
          </a:p>
        </p:txBody>
      </p:sp>
      <p:sp>
        <p:nvSpPr>
          <p:cNvPr id="29" name="text-239"/>
          <p:cNvSpPr txBox="1"/>
          <p:nvPr/>
        </p:nvSpPr>
        <p:spPr>
          <a:xfrm>
            <a:off x="4055364" y="9608312"/>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students at Arctic University</a:t>
            </a:r>
            <a:endParaRPr lang="en-US" sz="850" dirty="0"/>
          </a:p>
        </p:txBody>
      </p:sp>
      <p:sp>
        <p:nvSpPr>
          <p:cNvPr id="30" name="text-240"/>
          <p:cNvSpPr txBox="1"/>
          <p:nvPr/>
        </p:nvSpPr>
        <p:spPr>
          <a:xfrm>
            <a:off x="5534406" y="9253728"/>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8,000</a:t>
            </a:r>
            <a:endParaRPr lang="en-US" sz="2000" dirty="0"/>
          </a:p>
        </p:txBody>
      </p:sp>
      <p:sp>
        <p:nvSpPr>
          <p:cNvPr id="31" name="text-241"/>
          <p:cNvSpPr txBox="1"/>
          <p:nvPr/>
        </p:nvSpPr>
        <p:spPr>
          <a:xfrm>
            <a:off x="5534406" y="9608312"/>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seats in the Snow Stadium</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picture-242" descr="/home/user/chatbox-bi-n-o/magazine/assets/renders/fusion_spread_L.jpg">    </p:cNvPr>
          <p:cNvPicPr>
            <a:picLocks noChangeAspect="1"/>
          </p:cNvPicPr>
          <p:nvPr/>
        </p:nvPicPr>
        <p:blipFill>
          <a:blip r:embed="rId1"/>
          <a:srcRect l="0" r="0" t="0" b="0"/>
          <a:stretch/>
        </p:blipFill>
        <p:spPr>
          <a:xfrm>
            <a:off x="0" y="0"/>
            <a:ext cx="7562088" cy="10689336"/>
          </a:xfrm>
          <a:prstGeom prst="rect">
            <a:avLst/>
          </a:prstGeom>
        </p:spPr>
      </p:pic>
      <p:pic>
        <p:nvPicPr>
          <p:cNvPr id="3" name="shade-top-243" descr="/home/user/chatbox-bi-n-o/magazine/assets/ui/shade_top.png">    </p:cNvPr>
          <p:cNvPicPr>
            <a:picLocks noChangeAspect="1"/>
          </p:cNvPicPr>
          <p:nvPr/>
        </p:nvPicPr>
        <p:blipFill>
          <a:blip r:embed="rId2"/>
          <a:stretch>
            <a:fillRect/>
          </a:stretch>
        </p:blipFill>
        <p:spPr>
          <a:xfrm>
            <a:off x="0" y="0"/>
            <a:ext cx="7562088" cy="4206240"/>
          </a:xfrm>
          <a:prstGeom prst="rect">
            <a:avLst/>
          </a:prstGeom>
        </p:spPr>
      </p:pic>
      <p:sp>
        <p:nvSpPr>
          <p:cNvPr id="4" name="marker-244"/>
          <p:cNvSpPr/>
          <p:nvPr/>
        </p:nvSpPr>
        <p:spPr>
          <a:xfrm>
            <a:off x="548640" y="548640"/>
            <a:ext cx="731520" cy="731520"/>
          </a:xfrm>
          <a:prstGeom prst="ellipse">
            <a:avLst/>
          </a:prstGeom>
          <a:solidFill>
            <a:schemeClr val="accent3"/>
          </a:solidFill>
          <a:ln w="19050">
            <a:solidFill>
              <a:schemeClr val="bg1"/>
            </a:solidFill>
            <a:prstDash val="solid"/>
          </a:ln>
        </p:spPr>
      </p:sp>
      <p:sp>
        <p:nvSpPr>
          <p:cNvPr id="5" name="text-245"/>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1</a:t>
            </a:r>
            <a:endParaRPr lang="en-US" sz="2800" dirty="0"/>
          </a:p>
        </p:txBody>
      </p:sp>
      <p:sp>
        <p:nvSpPr>
          <p:cNvPr id="6" name="kicker-dot-246"/>
          <p:cNvSpPr/>
          <p:nvPr/>
        </p:nvSpPr>
        <p:spPr>
          <a:xfrm>
            <a:off x="548640" y="1549908"/>
            <a:ext cx="100584" cy="100584"/>
          </a:xfrm>
          <a:prstGeom prst="ellipse">
            <a:avLst/>
          </a:prstGeom>
          <a:solidFill>
            <a:schemeClr val="accent3"/>
          </a:solidFill>
          <a:ln w="12700">
            <a:solidFill>
              <a:schemeClr val="accent3"/>
            </a:solidFill>
            <a:prstDash val="solid"/>
          </a:ln>
        </p:spPr>
      </p:sp>
      <p:sp>
        <p:nvSpPr>
          <p:cNvPr id="7" name="text-247"/>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1 · FUSION POWER STATION</a:t>
            </a:r>
            <a:endParaRPr lang="en-US" sz="900" dirty="0"/>
          </a:p>
        </p:txBody>
      </p:sp>
      <p:sp>
        <p:nvSpPr>
          <p:cNvPr id="8" name="title-248"/>
          <p:cNvSpPr txBox="1"/>
          <p:nvPr/>
        </p:nvSpPr>
        <p:spPr>
          <a:xfrm>
            <a:off x="548640" y="1764792"/>
            <a:ext cx="6464808" cy="868680"/>
          </a:xfrm>
          <a:prstGeom prst="rect">
            <a:avLst/>
          </a:prstGeom>
          <a:noFill/>
          <a:ln/>
        </p:spPr>
        <p:txBody>
          <a:bodyPr wrap="square" lIns="0" tIns="0" rIns="0" bIns="0" rtlCol="0" anchor="t"/>
          <a:lstStyle/>
          <a:p>
            <a:pPr indent="0" marL="0">
              <a:lnSpc>
                <a:spcPct val="92000"/>
              </a:lnSpc>
              <a:buNone/>
            </a:pPr>
            <a:r>
              <a:rPr lang="en-US" sz="5000" b="1" dirty="0">
                <a:solidFill>
                  <a:schemeClr val="bg1"/>
                </a:solidFill>
                <a:latin typeface="+mj-lt" pitchFamily="34" charset="0"/>
                <a:ea typeface="+mj-lt" pitchFamily="34" charset="-122"/>
                <a:cs typeface="+mj-lt" pitchFamily="34" charset="-120"/>
              </a:rPr>
              <a:t>The City's Own Sun</a:t>
            </a:r>
            <a:endParaRPr lang="en-US" sz="5000" dirty="0"/>
          </a:p>
        </p:txBody>
      </p:sp>
      <p:sp>
        <p:nvSpPr>
          <p:cNvPr id="9" name="text-250"/>
          <p:cNvSpPr txBox="1"/>
          <p:nvPr/>
        </p:nvSpPr>
        <p:spPr>
          <a:xfrm>
            <a:off x="548640" y="2697480"/>
            <a:ext cx="4937760" cy="914400"/>
          </a:xfrm>
          <a:prstGeom prst="rect">
            <a:avLst/>
          </a:prstGeom>
          <a:noFill/>
          <a:ln/>
        </p:spPr>
        <p:txBody>
          <a:bodyPr wrap="square" lIns="0" tIns="0" rIns="0" bIns="0" rtlCol="0" anchor="t"/>
          <a:lstStyle/>
          <a:p>
            <a:pPr indent="0" marL="0">
              <a:lnSpc>
                <a:spcPct val="110000"/>
              </a:lnSpc>
              <a:buNone/>
            </a:pPr>
            <a:r>
              <a:rPr lang="en-US" sz="1450" i="1" dirty="0">
                <a:solidFill>
                  <a:schemeClr val="bg1"/>
                </a:solidFill>
                <a:latin typeface="+mj-lt" pitchFamily="34" charset="0"/>
                <a:ea typeface="+mj-lt" pitchFamily="34" charset="-122"/>
                <a:cs typeface="+mj-lt" pitchFamily="34" charset="-120"/>
              </a:rPr>
              <a:t>A compact tokamak gives Aurora Haven about 300 MW of electricity and 450 MW of district heat, steady through the polar night, with no CO₂ and no meltdown.</a:t>
            </a:r>
            <a:endParaRPr lang="en-US" sz="1450" dirty="0"/>
          </a:p>
        </p:txBody>
      </p:sp>
      <p:sp>
        <p:nvSpPr>
          <p:cNvPr id="10" name="panel-251"/>
          <p:cNvSpPr/>
          <p:nvPr/>
        </p:nvSpPr>
        <p:spPr>
          <a:xfrm>
            <a:off x="320040" y="6903720"/>
            <a:ext cx="3474720" cy="2651760"/>
          </a:xfrm>
          <a:prstGeom prst="rect">
            <a:avLst/>
          </a:prstGeom>
          <a:solidFill>
            <a:schemeClr val="tx1">
              <a:alpha val="78000"/>
            </a:schemeClr>
          </a:solidFill>
          <a:ln w="12700">
            <a:solidFill>
              <a:schemeClr val="tx1">
                <a:alpha val="0"/>
              </a:schemeClr>
            </a:solidFill>
            <a:prstDash val="solid"/>
          </a:ln>
        </p:spPr>
      </p:sp>
      <p:sp>
        <p:nvSpPr>
          <p:cNvPr id="11" name="text-252"/>
          <p:cNvSpPr txBox="1"/>
          <p:nvPr/>
        </p:nvSpPr>
        <p:spPr>
          <a:xfrm>
            <a:off x="548640" y="7132320"/>
            <a:ext cx="3017520" cy="269748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Our first signature district is the city’s own sun. Stage 1 takes deuterium from snowmelt water, so the fuel literally falls from the sky as snow. Stage 2 breeds tritium in a lithium blanket, so none is imported.</a:t>
            </a:r>
            <a:endParaRPr lang="en-US" sz="1000" dirty="0"/>
          </a:p>
          <a:p>
            <a:pPr indent="0" marL="0">
              <a:lnSpc>
                <a:spcPct val="112000"/>
              </a:lnSpc>
              <a:spcAft>
                <a:spcPts val="700"/>
              </a:spcAft>
              <a:buNone/>
            </a:pPr>
            <a:r>
              <a:rPr lang="en-US" sz="1000" dirty="0">
                <a:solidFill>
                  <a:schemeClr val="bg1"/>
                </a:solidFill>
              </a:rPr>
              <a:t>Stage 3 is the tokamak, where superconducting magnets hold a 150-million-degree plasma that makes about 800 megawatts of heat. Stage 4 turns that heat into about 300 megawatts of electricity and sends 450 megawatts into the district-heating loop.</a:t>
            </a:r>
            <a:endParaRPr lang="en-US" sz="1000" dirty="0"/>
          </a:p>
          <a:p>
            <a:pPr indent="0" marL="0">
              <a:lnSpc>
                <a:spcPct val="112000"/>
              </a:lnSpc>
              <a:spcAft>
                <a:spcPts val="700"/>
              </a:spcAft>
              <a:buNone/>
            </a:pPr>
            <a:r>
              <a:rPr lang="en-US" sz="1000" dirty="0">
                <a:solidFill>
                  <a:schemeClr val="bg1"/>
                </a:solidFill>
              </a:rPr>
              <a:t>The reactor runs on about 170 grams of fuel a day. If anything fails, the plasma simply goes out in a split second, so it cannot melt down or run away.</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picture-253" descr="/home/user/chatbox-bi-n-o/magazine/assets/renders/fusion_spread_R.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54" descr="/home/user/chatbox-bi-n-o/magazine/assets/ui/shade_bottom.png">    </p:cNvPr>
          <p:cNvPicPr>
            <a:picLocks noChangeAspect="1"/>
          </p:cNvPicPr>
          <p:nvPr/>
        </p:nvPicPr>
        <p:blipFill>
          <a:blip r:embed="rId2"/>
          <a:stretch>
            <a:fillRect/>
          </a:stretch>
        </p:blipFill>
        <p:spPr>
          <a:xfrm>
            <a:off x="0" y="8595360"/>
            <a:ext cx="7562088" cy="2093976"/>
          </a:xfrm>
          <a:prstGeom prst="rect">
            <a:avLst/>
          </a:prstGeom>
        </p:spPr>
      </p:pic>
      <p:sp>
        <p:nvSpPr>
          <p:cNvPr id="4" name="text-255"/>
          <p:cNvSpPr txBox="1"/>
          <p:nvPr/>
        </p:nvSpPr>
        <p:spPr>
          <a:xfrm>
            <a:off x="3355848" y="9555480"/>
            <a:ext cx="3657600" cy="365760"/>
          </a:xfrm>
          <a:prstGeom prst="rect">
            <a:avLst/>
          </a:prstGeom>
          <a:noFill/>
          <a:ln/>
        </p:spPr>
        <p:txBody>
          <a:bodyPr wrap="square" lIns="0" tIns="0" rIns="0" bIns="0" rtlCol="0" anchor="t"/>
          <a:lstStyle/>
          <a:p>
            <a:pPr algn="r" indent="0" marL="0">
              <a:buNone/>
            </a:pPr>
            <a:r>
              <a:rPr lang="en-US" sz="850" i="1" dirty="0">
                <a:solidFill>
                  <a:schemeClr val="bg1"/>
                </a:solidFill>
              </a:rPr>
              <a:t>The Fusion Core, a compact D-T tokamak, glowing violet under the northern lights.</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kicker-dot-256"/>
          <p:cNvSpPr/>
          <p:nvPr/>
        </p:nvSpPr>
        <p:spPr>
          <a:xfrm>
            <a:off x="548640" y="544068"/>
            <a:ext cx="100584" cy="100584"/>
          </a:xfrm>
          <a:prstGeom prst="ellipse">
            <a:avLst/>
          </a:prstGeom>
          <a:solidFill>
            <a:schemeClr val="accent3"/>
          </a:solidFill>
          <a:ln w="12700">
            <a:solidFill>
              <a:schemeClr val="accent3"/>
            </a:solidFill>
            <a:prstDash val="solid"/>
          </a:ln>
        </p:spPr>
      </p:sp>
      <p:sp>
        <p:nvSpPr>
          <p:cNvPr id="3" name="text-257"/>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3"/>
                </a:solidFill>
              </a:rPr>
              <a:t>FUSION POWER STATION · HOW IT WORKS</a:t>
            </a:r>
            <a:endParaRPr lang="en-US" sz="900" dirty="0"/>
          </a:p>
        </p:txBody>
      </p:sp>
      <p:sp>
        <p:nvSpPr>
          <p:cNvPr id="4" name="title-258"/>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Five Stages, One Sun</a:t>
            </a:r>
            <a:endParaRPr lang="en-US" sz="3400" dirty="0"/>
          </a:p>
        </p:txBody>
      </p:sp>
      <p:pic>
        <p:nvPicPr>
          <p:cNvPr id="5" name="fusion-plan" descr="/home/user/chatbox-bi-n-o/magazine/assets/plans/02_fusion_power_station_plan.png">    </p:cNvPr>
          <p:cNvPicPr>
            <a:picLocks noChangeAspect="1"/>
          </p:cNvPicPr>
          <p:nvPr/>
        </p:nvPicPr>
        <p:blipFill>
          <a:blip r:embed="rId1"/>
          <a:stretch>
            <a:fillRect/>
          </a:stretch>
        </p:blipFill>
        <p:spPr>
          <a:xfrm>
            <a:off x="548640" y="1554480"/>
            <a:ext cx="6464808" cy="3448975"/>
          </a:xfrm>
          <a:prstGeom prst="rect">
            <a:avLst/>
          </a:prstGeom>
        </p:spPr>
      </p:pic>
      <p:sp>
        <p:nvSpPr>
          <p:cNvPr id="6" name="text-260"/>
          <p:cNvSpPr txBox="1"/>
          <p:nvPr/>
        </p:nvSpPr>
        <p:spPr>
          <a:xfrm>
            <a:off x="548640" y="5049175"/>
            <a:ext cx="6464808" cy="228600"/>
          </a:xfrm>
          <a:prstGeom prst="rect">
            <a:avLst/>
          </a:prstGeom>
          <a:noFill/>
          <a:ln/>
        </p:spPr>
        <p:txBody>
          <a:bodyPr wrap="square" lIns="0" tIns="0" rIns="0" bIns="0" rtlCol="0" anchor="t"/>
          <a:lstStyle/>
          <a:p>
            <a:pPr indent="0" marL="0">
              <a:buNone/>
            </a:pPr>
            <a:r>
              <a:rPr lang="en-US" sz="850" i="1" dirty="0">
                <a:solidFill>
                  <a:schemeClr val="tx2"/>
                </a:solidFill>
              </a:rPr>
              <a:t>Fusion Power Station – District Plan. Signature district 1: a compact D-T tokamak.</a:t>
            </a:r>
            <a:endParaRPr lang="en-US" sz="850" dirty="0"/>
          </a:p>
        </p:txBody>
      </p:sp>
      <p:sp>
        <p:nvSpPr>
          <p:cNvPr id="7" name="marker-261"/>
          <p:cNvSpPr/>
          <p:nvPr/>
        </p:nvSpPr>
        <p:spPr>
          <a:xfrm>
            <a:off x="548640" y="5414935"/>
            <a:ext cx="329184" cy="329184"/>
          </a:xfrm>
          <a:prstGeom prst="ellipse">
            <a:avLst/>
          </a:prstGeom>
          <a:solidFill>
            <a:schemeClr val="accent3"/>
          </a:solidFill>
          <a:ln w="12700">
            <a:solidFill>
              <a:schemeClr val="accent3"/>
            </a:solidFill>
            <a:prstDash val="solid"/>
          </a:ln>
        </p:spPr>
      </p:sp>
      <p:sp>
        <p:nvSpPr>
          <p:cNvPr id="8" name="text-262"/>
          <p:cNvSpPr txBox="1"/>
          <p:nvPr/>
        </p:nvSpPr>
        <p:spPr>
          <a:xfrm>
            <a:off x="548640" y="54149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263"/>
          <p:cNvSpPr txBox="1"/>
          <p:nvPr/>
        </p:nvSpPr>
        <p:spPr>
          <a:xfrm>
            <a:off x="1005840" y="5405791"/>
            <a:ext cx="3703320" cy="201168"/>
          </a:xfrm>
          <a:prstGeom prst="rect">
            <a:avLst/>
          </a:prstGeom>
          <a:noFill/>
          <a:ln/>
        </p:spPr>
        <p:txBody>
          <a:bodyPr wrap="square" lIns="0" tIns="0" rIns="0" bIns="0" rtlCol="0" anchor="t"/>
          <a:lstStyle/>
          <a:p>
            <a:pPr indent="0" marL="0">
              <a:buNone/>
            </a:pPr>
            <a:r>
              <a:rPr lang="en-US" sz="1050" b="1" dirty="0">
                <a:solidFill>
                  <a:schemeClr val="tx1"/>
                </a:solidFill>
              </a:rPr>
              <a:t>Heavy-water separation</a:t>
            </a:r>
            <a:endParaRPr lang="en-US" sz="1050" dirty="0"/>
          </a:p>
        </p:txBody>
      </p:sp>
      <p:sp>
        <p:nvSpPr>
          <p:cNvPr id="10" name="text-264"/>
          <p:cNvSpPr txBox="1"/>
          <p:nvPr/>
        </p:nvSpPr>
        <p:spPr>
          <a:xfrm>
            <a:off x="1005840" y="5616103"/>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Takes deuterium from the deuterium-rich water left by the food plant’s electrolysers and purifies it to 99.8% heavy water.</a:t>
            </a:r>
            <a:endParaRPr lang="en-US" sz="950" dirty="0"/>
          </a:p>
        </p:txBody>
      </p:sp>
      <p:sp>
        <p:nvSpPr>
          <p:cNvPr id="11" name="marker-265"/>
          <p:cNvSpPr/>
          <p:nvPr/>
        </p:nvSpPr>
        <p:spPr>
          <a:xfrm>
            <a:off x="548640" y="6181226"/>
            <a:ext cx="329184" cy="329184"/>
          </a:xfrm>
          <a:prstGeom prst="ellipse">
            <a:avLst/>
          </a:prstGeom>
          <a:solidFill>
            <a:schemeClr val="accent3"/>
          </a:solidFill>
          <a:ln w="12700">
            <a:solidFill>
              <a:schemeClr val="accent3"/>
            </a:solidFill>
            <a:prstDash val="solid"/>
          </a:ln>
        </p:spPr>
      </p:sp>
      <p:sp>
        <p:nvSpPr>
          <p:cNvPr id="12" name="text-266"/>
          <p:cNvSpPr txBox="1"/>
          <p:nvPr/>
        </p:nvSpPr>
        <p:spPr>
          <a:xfrm>
            <a:off x="548640" y="618122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267"/>
          <p:cNvSpPr txBox="1"/>
          <p:nvPr/>
        </p:nvSpPr>
        <p:spPr>
          <a:xfrm>
            <a:off x="1005840" y="6172082"/>
            <a:ext cx="3703320" cy="201168"/>
          </a:xfrm>
          <a:prstGeom prst="rect">
            <a:avLst/>
          </a:prstGeom>
          <a:noFill/>
          <a:ln/>
        </p:spPr>
        <p:txBody>
          <a:bodyPr wrap="square" lIns="0" tIns="0" rIns="0" bIns="0" rtlCol="0" anchor="t"/>
          <a:lstStyle/>
          <a:p>
            <a:pPr indent="0" marL="0">
              <a:buNone/>
            </a:pPr>
            <a:r>
              <a:rPr lang="en-US" sz="1050" b="1" dirty="0">
                <a:solidFill>
                  <a:schemeClr val="tx1"/>
                </a:solidFill>
              </a:rPr>
              <a:t>Lithium blanket &amp; tritium fuel cycle</a:t>
            </a:r>
            <a:endParaRPr lang="en-US" sz="1050" dirty="0"/>
          </a:p>
        </p:txBody>
      </p:sp>
      <p:sp>
        <p:nvSpPr>
          <p:cNvPr id="14" name="text-268"/>
          <p:cNvSpPr txBox="1"/>
          <p:nvPr/>
        </p:nvSpPr>
        <p:spPr>
          <a:xfrm>
            <a:off x="1005840" y="6382394"/>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Breeds slightly more tritium than the reactor burns, so none is imported. Recovered helium cools the hospital’s MRI scanners.</a:t>
            </a:r>
            <a:endParaRPr lang="en-US" sz="950" dirty="0"/>
          </a:p>
        </p:txBody>
      </p:sp>
      <p:sp>
        <p:nvSpPr>
          <p:cNvPr id="15" name="marker-269"/>
          <p:cNvSpPr/>
          <p:nvPr/>
        </p:nvSpPr>
        <p:spPr>
          <a:xfrm>
            <a:off x="548640" y="6947517"/>
            <a:ext cx="329184" cy="329184"/>
          </a:xfrm>
          <a:prstGeom prst="ellipse">
            <a:avLst/>
          </a:prstGeom>
          <a:solidFill>
            <a:schemeClr val="accent3"/>
          </a:solidFill>
          <a:ln w="12700">
            <a:solidFill>
              <a:schemeClr val="accent3"/>
            </a:solidFill>
            <a:prstDash val="solid"/>
          </a:ln>
        </p:spPr>
      </p:sp>
      <p:sp>
        <p:nvSpPr>
          <p:cNvPr id="16" name="text-270"/>
          <p:cNvSpPr txBox="1"/>
          <p:nvPr/>
        </p:nvSpPr>
        <p:spPr>
          <a:xfrm>
            <a:off x="548640" y="6947517"/>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271"/>
          <p:cNvSpPr txBox="1"/>
          <p:nvPr/>
        </p:nvSpPr>
        <p:spPr>
          <a:xfrm>
            <a:off x="1005840" y="6938373"/>
            <a:ext cx="3703320" cy="201168"/>
          </a:xfrm>
          <a:prstGeom prst="rect">
            <a:avLst/>
          </a:prstGeom>
          <a:noFill/>
          <a:ln/>
        </p:spPr>
        <p:txBody>
          <a:bodyPr wrap="square" lIns="0" tIns="0" rIns="0" bIns="0" rtlCol="0" anchor="t"/>
          <a:lstStyle/>
          <a:p>
            <a:pPr indent="0" marL="0">
              <a:buNone/>
            </a:pPr>
            <a:r>
              <a:rPr lang="en-US" sz="1050" b="1" dirty="0">
                <a:solidFill>
                  <a:schemeClr val="tx1"/>
                </a:solidFill>
              </a:rPr>
              <a:t>Fusion core: compact D-T tokamak</a:t>
            </a:r>
            <a:endParaRPr lang="en-US" sz="1050" dirty="0"/>
          </a:p>
        </p:txBody>
      </p:sp>
      <p:sp>
        <p:nvSpPr>
          <p:cNvPr id="18" name="text-272"/>
          <p:cNvSpPr txBox="1"/>
          <p:nvPr/>
        </p:nvSpPr>
        <p:spPr>
          <a:xfrm>
            <a:off x="1005840" y="7148685"/>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Superconducting magnets hold a 150-million-degree plasma. No CO₂, no long-lived waste, no meltdown.</a:t>
            </a:r>
            <a:endParaRPr lang="en-US" sz="950" dirty="0"/>
          </a:p>
        </p:txBody>
      </p:sp>
      <p:sp>
        <p:nvSpPr>
          <p:cNvPr id="19" name="marker-273"/>
          <p:cNvSpPr/>
          <p:nvPr/>
        </p:nvSpPr>
        <p:spPr>
          <a:xfrm>
            <a:off x="548640" y="7713808"/>
            <a:ext cx="329184" cy="329184"/>
          </a:xfrm>
          <a:prstGeom prst="ellipse">
            <a:avLst/>
          </a:prstGeom>
          <a:solidFill>
            <a:schemeClr val="accent3"/>
          </a:solidFill>
          <a:ln w="12700">
            <a:solidFill>
              <a:schemeClr val="accent3"/>
            </a:solidFill>
            <a:prstDash val="solid"/>
          </a:ln>
        </p:spPr>
      </p:sp>
      <p:sp>
        <p:nvSpPr>
          <p:cNvPr id="20" name="text-274"/>
          <p:cNvSpPr txBox="1"/>
          <p:nvPr/>
        </p:nvSpPr>
        <p:spPr>
          <a:xfrm>
            <a:off x="548640" y="77138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275"/>
          <p:cNvSpPr txBox="1"/>
          <p:nvPr/>
        </p:nvSpPr>
        <p:spPr>
          <a:xfrm>
            <a:off x="1005840" y="7704664"/>
            <a:ext cx="3703320" cy="201168"/>
          </a:xfrm>
          <a:prstGeom prst="rect">
            <a:avLst/>
          </a:prstGeom>
          <a:noFill/>
          <a:ln/>
        </p:spPr>
        <p:txBody>
          <a:bodyPr wrap="square" lIns="0" tIns="0" rIns="0" bIns="0" rtlCol="0" anchor="t"/>
          <a:lstStyle/>
          <a:p>
            <a:pPr indent="0" marL="0">
              <a:buNone/>
            </a:pPr>
            <a:r>
              <a:rPr lang="en-US" sz="1050" b="1" dirty="0">
                <a:solidFill>
                  <a:schemeClr val="tx1"/>
                </a:solidFill>
              </a:rPr>
              <a:t>Power conversion &amp; heat export</a:t>
            </a:r>
            <a:endParaRPr lang="en-US" sz="1050" dirty="0"/>
          </a:p>
        </p:txBody>
      </p:sp>
      <p:sp>
        <p:nvSpPr>
          <p:cNvPr id="22" name="text-276"/>
          <p:cNvSpPr txBox="1"/>
          <p:nvPr/>
        </p:nvSpPr>
        <p:spPr>
          <a:xfrm>
            <a:off x="1005840" y="7914976"/>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Supercritical-CO₂ turbines make about 300 MW of electricity and send about 450 MW of heat to the city.</a:t>
            </a:r>
            <a:endParaRPr lang="en-US" sz="950" dirty="0"/>
          </a:p>
        </p:txBody>
      </p:sp>
      <p:sp>
        <p:nvSpPr>
          <p:cNvPr id="23" name="marker-277"/>
          <p:cNvSpPr/>
          <p:nvPr/>
        </p:nvSpPr>
        <p:spPr>
          <a:xfrm>
            <a:off x="548640" y="8480098"/>
            <a:ext cx="329184" cy="329184"/>
          </a:xfrm>
          <a:prstGeom prst="ellipse">
            <a:avLst/>
          </a:prstGeom>
          <a:solidFill>
            <a:schemeClr val="accent3"/>
          </a:solidFill>
          <a:ln w="12700">
            <a:solidFill>
              <a:schemeClr val="accent3"/>
            </a:solidFill>
            <a:prstDash val="solid"/>
          </a:ln>
        </p:spPr>
      </p:sp>
      <p:sp>
        <p:nvSpPr>
          <p:cNvPr id="24" name="text-278"/>
          <p:cNvSpPr txBox="1"/>
          <p:nvPr/>
        </p:nvSpPr>
        <p:spPr>
          <a:xfrm>
            <a:off x="548640" y="848009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279"/>
          <p:cNvSpPr txBox="1"/>
          <p:nvPr/>
        </p:nvSpPr>
        <p:spPr>
          <a:xfrm>
            <a:off x="1005840" y="8470954"/>
            <a:ext cx="3703320" cy="201168"/>
          </a:xfrm>
          <a:prstGeom prst="rect">
            <a:avLst/>
          </a:prstGeom>
          <a:noFill/>
          <a:ln/>
        </p:spPr>
        <p:txBody>
          <a:bodyPr wrap="square" lIns="0" tIns="0" rIns="0" bIns="0" rtlCol="0" anchor="t"/>
          <a:lstStyle/>
          <a:p>
            <a:pPr indent="0" marL="0">
              <a:buNone/>
            </a:pPr>
            <a:r>
              <a:rPr lang="en-US" sz="1050" b="1" dirty="0">
                <a:solidFill>
                  <a:schemeClr val="tx1"/>
                </a:solidFill>
              </a:rPr>
              <a:t>Plasma waste converter</a:t>
            </a:r>
            <a:endParaRPr lang="en-US" sz="1050" dirty="0"/>
          </a:p>
        </p:txBody>
      </p:sp>
      <p:sp>
        <p:nvSpPr>
          <p:cNvPr id="26" name="text-280"/>
          <p:cNvSpPr txBox="1"/>
          <p:nvPr/>
        </p:nvSpPr>
        <p:spPr>
          <a:xfrm>
            <a:off x="1005840" y="8681266"/>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Torches hotter than 5,000 °C turn about 20 t of rubbish a day into clean gas, metals and paving blocks.</a:t>
            </a:r>
            <a:endParaRPr lang="en-US" sz="950" dirty="0"/>
          </a:p>
        </p:txBody>
      </p:sp>
      <p:sp>
        <p:nvSpPr>
          <p:cNvPr id="27" name="marker-281"/>
          <p:cNvSpPr/>
          <p:nvPr/>
        </p:nvSpPr>
        <p:spPr>
          <a:xfrm>
            <a:off x="548640" y="9246389"/>
            <a:ext cx="329184" cy="329184"/>
          </a:xfrm>
          <a:prstGeom prst="ellipse">
            <a:avLst/>
          </a:prstGeom>
          <a:solidFill>
            <a:schemeClr val="tx1"/>
          </a:solidFill>
          <a:ln w="12700">
            <a:solidFill>
              <a:schemeClr val="tx1"/>
            </a:solidFill>
            <a:prstDash val="solid"/>
          </a:ln>
        </p:spPr>
      </p:sp>
      <p:sp>
        <p:nvSpPr>
          <p:cNvPr id="28" name="text-282"/>
          <p:cNvSpPr txBox="1"/>
          <p:nvPr/>
        </p:nvSpPr>
        <p:spPr>
          <a:xfrm>
            <a:off x="548640" y="9246389"/>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C</a:t>
            </a:r>
            <a:endParaRPr lang="en-US" sz="1200" dirty="0"/>
          </a:p>
        </p:txBody>
      </p:sp>
      <p:sp>
        <p:nvSpPr>
          <p:cNvPr id="29" name="text-283"/>
          <p:cNvSpPr txBox="1"/>
          <p:nvPr/>
        </p:nvSpPr>
        <p:spPr>
          <a:xfrm>
            <a:off x="1005840" y="9237245"/>
            <a:ext cx="3703320" cy="201168"/>
          </a:xfrm>
          <a:prstGeom prst="rect">
            <a:avLst/>
          </a:prstGeom>
          <a:noFill/>
          <a:ln/>
        </p:spPr>
        <p:txBody>
          <a:bodyPr wrap="square" lIns="0" tIns="0" rIns="0" bIns="0" rtlCol="0" anchor="t"/>
          <a:lstStyle/>
          <a:p>
            <a:pPr indent="0" marL="0">
              <a:buNone/>
            </a:pPr>
            <a:r>
              <a:rPr lang="en-US" sz="1050" b="1" dirty="0">
                <a:solidFill>
                  <a:schemeClr val="tx1"/>
                </a:solidFill>
              </a:rPr>
              <a:t>Control &amp; visitor centre</a:t>
            </a:r>
            <a:endParaRPr lang="en-US" sz="1050" dirty="0"/>
          </a:p>
        </p:txBody>
      </p:sp>
      <p:sp>
        <p:nvSpPr>
          <p:cNvPr id="30" name="text-284"/>
          <p:cNvSpPr txBox="1"/>
          <p:nvPr/>
        </p:nvSpPr>
        <p:spPr>
          <a:xfrm>
            <a:off x="1005840" y="9447557"/>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Operators and an AI digital twin can stop the plasma in milliseconds; a public gallery faces the reactor.</a:t>
            </a:r>
            <a:endParaRPr lang="en-US" sz="950" dirty="0"/>
          </a:p>
        </p:txBody>
      </p:sp>
      <p:sp>
        <p:nvSpPr>
          <p:cNvPr id="31" name="text-285"/>
          <p:cNvSpPr txBox="1"/>
          <p:nvPr/>
        </p:nvSpPr>
        <p:spPr>
          <a:xfrm>
            <a:off x="5074920" y="5323495"/>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800 MW</a:t>
            </a:r>
            <a:endParaRPr lang="en-US" sz="2400" dirty="0"/>
          </a:p>
        </p:txBody>
      </p:sp>
      <p:sp>
        <p:nvSpPr>
          <p:cNvPr id="32" name="text-286"/>
          <p:cNvSpPr txBox="1"/>
          <p:nvPr/>
        </p:nvSpPr>
        <p:spPr>
          <a:xfrm>
            <a:off x="5074920" y="5728879"/>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heat from the plasma</a:t>
            </a:r>
            <a:endParaRPr lang="en-US" sz="900" dirty="0"/>
          </a:p>
        </p:txBody>
      </p:sp>
      <p:sp>
        <p:nvSpPr>
          <p:cNvPr id="33" name="text-287"/>
          <p:cNvSpPr txBox="1"/>
          <p:nvPr/>
        </p:nvSpPr>
        <p:spPr>
          <a:xfrm>
            <a:off x="5074920" y="6243044"/>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300 MW</a:t>
            </a:r>
            <a:endParaRPr lang="en-US" sz="2400" dirty="0"/>
          </a:p>
        </p:txBody>
      </p:sp>
      <p:sp>
        <p:nvSpPr>
          <p:cNvPr id="34" name="text-288"/>
          <p:cNvSpPr txBox="1"/>
          <p:nvPr/>
        </p:nvSpPr>
        <p:spPr>
          <a:xfrm>
            <a:off x="5074920" y="6648428"/>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electricity</a:t>
            </a:r>
            <a:endParaRPr lang="en-US" sz="900" dirty="0"/>
          </a:p>
        </p:txBody>
      </p:sp>
      <p:sp>
        <p:nvSpPr>
          <p:cNvPr id="35" name="text-289"/>
          <p:cNvSpPr txBox="1"/>
          <p:nvPr/>
        </p:nvSpPr>
        <p:spPr>
          <a:xfrm>
            <a:off x="5074920" y="7162593"/>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450 MW</a:t>
            </a:r>
            <a:endParaRPr lang="en-US" sz="2400" dirty="0"/>
          </a:p>
        </p:txBody>
      </p:sp>
      <p:sp>
        <p:nvSpPr>
          <p:cNvPr id="36" name="text-290"/>
          <p:cNvSpPr txBox="1"/>
          <p:nvPr/>
        </p:nvSpPr>
        <p:spPr>
          <a:xfrm>
            <a:off x="5074920" y="7567977"/>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district heat for the city</a:t>
            </a:r>
            <a:endParaRPr lang="en-US" sz="900" dirty="0"/>
          </a:p>
        </p:txBody>
      </p:sp>
      <p:sp>
        <p:nvSpPr>
          <p:cNvPr id="37" name="text-291"/>
          <p:cNvSpPr txBox="1"/>
          <p:nvPr/>
        </p:nvSpPr>
        <p:spPr>
          <a:xfrm>
            <a:off x="5074920" y="8082142"/>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170 g</a:t>
            </a:r>
            <a:endParaRPr lang="en-US" sz="2400" dirty="0"/>
          </a:p>
        </p:txBody>
      </p:sp>
      <p:sp>
        <p:nvSpPr>
          <p:cNvPr id="38" name="text-292"/>
          <p:cNvSpPr txBox="1"/>
          <p:nvPr/>
        </p:nvSpPr>
        <p:spPr>
          <a:xfrm>
            <a:off x="5074920" y="8487526"/>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fuel a day, about 70 g of it deuterium</a:t>
            </a:r>
            <a:endParaRPr lang="en-US" sz="900" dirty="0"/>
          </a:p>
        </p:txBody>
      </p:sp>
      <p:sp>
        <p:nvSpPr>
          <p:cNvPr id="39" name="text-293"/>
          <p:cNvSpPr txBox="1"/>
          <p:nvPr/>
        </p:nvSpPr>
        <p:spPr>
          <a:xfrm>
            <a:off x="5074920" y="9001691"/>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1 litre</a:t>
            </a:r>
            <a:endParaRPr lang="en-US" sz="2400" dirty="0"/>
          </a:p>
        </p:txBody>
      </p:sp>
      <p:sp>
        <p:nvSpPr>
          <p:cNvPr id="40" name="text-294"/>
          <p:cNvSpPr txBox="1"/>
          <p:nvPr/>
        </p:nvSpPr>
        <p:spPr>
          <a:xfrm>
            <a:off x="5074920" y="9407075"/>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liquid helium a day for MRI scanners</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picture-295" descr="/home/user/chatbox-bi-n-o/magazine/assets/renders/food.jpg">    </p:cNvPr>
          <p:cNvPicPr>
            <a:picLocks noChangeAspect="1"/>
          </p:cNvPicPr>
          <p:nvPr/>
        </p:nvPicPr>
        <p:blipFill>
          <a:blip r:embed="rId1"/>
          <a:srcRect l="0" r="0" t="0" b="0"/>
          <a:stretch/>
        </p:blipFill>
        <p:spPr>
          <a:xfrm>
            <a:off x="0" y="0"/>
            <a:ext cx="7562088" cy="10689336"/>
          </a:xfrm>
          <a:prstGeom prst="rect">
            <a:avLst/>
          </a:prstGeom>
        </p:spPr>
      </p:pic>
      <p:pic>
        <p:nvPicPr>
          <p:cNvPr id="3" name="shade-topStrong-296" descr="/home/user/chatbox-bi-n-o/magazine/assets/ui/shade_top_strong.png">    </p:cNvPr>
          <p:cNvPicPr>
            <a:picLocks noChangeAspect="1"/>
          </p:cNvPicPr>
          <p:nvPr/>
        </p:nvPicPr>
        <p:blipFill>
          <a:blip r:embed="rId2"/>
          <a:stretch>
            <a:fillRect/>
          </a:stretch>
        </p:blipFill>
        <p:spPr>
          <a:xfrm>
            <a:off x="0" y="0"/>
            <a:ext cx="7562088" cy="5120640"/>
          </a:xfrm>
          <a:prstGeom prst="rect">
            <a:avLst/>
          </a:prstGeom>
        </p:spPr>
      </p:pic>
      <p:pic>
        <p:nvPicPr>
          <p:cNvPr id="4" name="shade-bottom-297" descr="/home/user/chatbox-bi-n-o/magazine/assets/ui/shade_bottom.png">    </p:cNvPr>
          <p:cNvPicPr>
            <a:picLocks noChangeAspect="1"/>
          </p:cNvPicPr>
          <p:nvPr/>
        </p:nvPicPr>
        <p:blipFill>
          <a:blip r:embed="rId3"/>
          <a:stretch>
            <a:fillRect/>
          </a:stretch>
        </p:blipFill>
        <p:spPr>
          <a:xfrm>
            <a:off x="0" y="6766560"/>
            <a:ext cx="7562088" cy="3922776"/>
          </a:xfrm>
          <a:prstGeom prst="rect">
            <a:avLst/>
          </a:prstGeom>
        </p:spPr>
      </p:pic>
      <p:sp>
        <p:nvSpPr>
          <p:cNvPr id="5" name="marker-298"/>
          <p:cNvSpPr/>
          <p:nvPr/>
        </p:nvSpPr>
        <p:spPr>
          <a:xfrm>
            <a:off x="548640" y="548640"/>
            <a:ext cx="731520" cy="731520"/>
          </a:xfrm>
          <a:prstGeom prst="ellipse">
            <a:avLst/>
          </a:prstGeom>
          <a:solidFill>
            <a:schemeClr val="accent4"/>
          </a:solidFill>
          <a:ln w="19050">
            <a:solidFill>
              <a:schemeClr val="bg1"/>
            </a:solidFill>
            <a:prstDash val="solid"/>
          </a:ln>
        </p:spPr>
      </p:sp>
      <p:sp>
        <p:nvSpPr>
          <p:cNvPr id="6" name="text-299"/>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2</a:t>
            </a:r>
            <a:endParaRPr lang="en-US" sz="2800" dirty="0"/>
          </a:p>
        </p:txBody>
      </p:sp>
      <p:sp>
        <p:nvSpPr>
          <p:cNvPr id="7" name="kicker-dot-300"/>
          <p:cNvSpPr/>
          <p:nvPr/>
        </p:nvSpPr>
        <p:spPr>
          <a:xfrm>
            <a:off x="548640" y="1549908"/>
            <a:ext cx="100584" cy="100584"/>
          </a:xfrm>
          <a:prstGeom prst="ellipse">
            <a:avLst/>
          </a:prstGeom>
          <a:solidFill>
            <a:schemeClr val="accent1"/>
          </a:solidFill>
          <a:ln w="12700">
            <a:solidFill>
              <a:schemeClr val="accent1"/>
            </a:solidFill>
            <a:prstDash val="solid"/>
          </a:ln>
        </p:spPr>
      </p:sp>
      <p:sp>
        <p:nvSpPr>
          <p:cNvPr id="8" name="text-301"/>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2 · SNOW-TO-FOOD &amp; WATER PLANT</a:t>
            </a:r>
            <a:endParaRPr lang="en-US" sz="900" dirty="0"/>
          </a:p>
        </p:txBody>
      </p:sp>
      <p:sp>
        <p:nvSpPr>
          <p:cNvPr id="9" name="title-302"/>
          <p:cNvSpPr txBox="1"/>
          <p:nvPr/>
        </p:nvSpPr>
        <p:spPr>
          <a:xfrm>
            <a:off x="548640" y="176479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Bread and Water from Snow and Air</a:t>
            </a:r>
            <a:endParaRPr lang="en-US" sz="4400" dirty="0"/>
          </a:p>
        </p:txBody>
      </p:sp>
      <p:sp>
        <p:nvSpPr>
          <p:cNvPr id="10" name="text-304"/>
          <p:cNvSpPr txBox="1"/>
          <p:nvPr/>
        </p:nvSpPr>
        <p:spPr>
          <a:xfrm>
            <a:off x="548640" y="3246120"/>
            <a:ext cx="548640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Six stages turn tundra snow and air into all of the city’s drinking water and about half of its protein, with no farmland at all.</a:t>
            </a:r>
            <a:endParaRPr lang="en-US" sz="1400" dirty="0"/>
          </a:p>
        </p:txBody>
      </p:sp>
      <p:sp>
        <p:nvSpPr>
          <p:cNvPr id="11" name="text-305"/>
          <p:cNvSpPr txBox="1"/>
          <p:nvPr/>
        </p:nvSpPr>
        <p:spPr>
          <a:xfrm>
            <a:off x="548640" y="8412480"/>
            <a:ext cx="3095244" cy="16459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What do you eat where nothing grows? Stage 1 melts about 3,000 tonnes of clean tundra snow a day with spare heat from the fusion station, so the snow does the job of a cooling tower. Stage 2 turns the meltwater into all the city’s drinking water.</a:t>
            </a:r>
            <a:endParaRPr lang="en-US" sz="1000" dirty="0"/>
          </a:p>
        </p:txBody>
      </p:sp>
      <p:sp>
        <p:nvSpPr>
          <p:cNvPr id="12" name="text-306"/>
          <p:cNvSpPr txBox="1"/>
          <p:nvPr/>
        </p:nvSpPr>
        <p:spPr>
          <a:xfrm>
            <a:off x="3918204" y="8412480"/>
            <a:ext cx="3095244" cy="16459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Stage 3 splits water into hydrogen and oxygen and captures CO₂ from the air; Stage 4 turns them into starch and fats. In Stage 5, microbes in six silos make about 2.5 tonnes of protein flour a day. Stage 6 cooks bread, noodles and drinks for the city.</a:t>
            </a:r>
            <a:endParaRPr lang="en-US" sz="1000" dirty="0"/>
          </a:p>
        </p:txBody>
      </p:sp>
      <p:sp>
        <p:nvSpPr>
          <p:cNvPr id="13" name="text-307"/>
          <p:cNvSpPr txBox="1"/>
          <p:nvPr/>
        </p:nvSpPr>
        <p:spPr>
          <a:xfrm>
            <a:off x="548640" y="8092440"/>
            <a:ext cx="6464808" cy="228600"/>
          </a:xfrm>
          <a:prstGeom prst="rect">
            <a:avLst/>
          </a:prstGeom>
          <a:noFill/>
          <a:ln/>
        </p:spPr>
        <p:txBody>
          <a:bodyPr wrap="square" lIns="0" tIns="0" rIns="0" bIns="0" rtlCol="0" anchor="t"/>
          <a:lstStyle/>
          <a:p>
            <a:pPr indent="0" marL="0">
              <a:buNone/>
            </a:pPr>
            <a:r>
              <a:rPr lang="en-US" sz="850" i="1" dirty="0">
                <a:solidFill>
                  <a:schemeClr val="bg2"/>
                </a:solidFill>
              </a:rPr>
              <a:t>The six Bioreactor Silos in the low sun.</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kicker-dot-308"/>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30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SNOW-TO-FOOD &amp; WATER PLANT · HOW IT WORKS</a:t>
            </a:r>
            <a:endParaRPr lang="en-US" sz="900" dirty="0"/>
          </a:p>
        </p:txBody>
      </p:sp>
      <p:sp>
        <p:nvSpPr>
          <p:cNvPr id="4" name="title-31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Six Stages from Snow to Supper</a:t>
            </a:r>
            <a:endParaRPr lang="en-US" sz="3400" dirty="0"/>
          </a:p>
        </p:txBody>
      </p:sp>
      <p:pic>
        <p:nvPicPr>
          <p:cNvPr id="5" name="food-plan" descr="/home/user/chatbox-bi-n-o/magazine/assets/plans/03_snow_to_food_water_plant_plan.png">    </p:cNvPr>
          <p:cNvPicPr>
            <a:picLocks noChangeAspect="1"/>
          </p:cNvPicPr>
          <p:nvPr/>
        </p:nvPicPr>
        <p:blipFill>
          <a:blip r:embed="rId1"/>
          <a:stretch>
            <a:fillRect/>
          </a:stretch>
        </p:blipFill>
        <p:spPr>
          <a:xfrm>
            <a:off x="548640" y="1554480"/>
            <a:ext cx="6464808" cy="3128967"/>
          </a:xfrm>
          <a:prstGeom prst="rect">
            <a:avLst/>
          </a:prstGeom>
        </p:spPr>
      </p:pic>
      <p:sp>
        <p:nvSpPr>
          <p:cNvPr id="6" name="text-312"/>
          <p:cNvSpPr txBox="1"/>
          <p:nvPr/>
        </p:nvSpPr>
        <p:spPr>
          <a:xfrm>
            <a:off x="548640" y="4729167"/>
            <a:ext cx="6464808" cy="228600"/>
          </a:xfrm>
          <a:prstGeom prst="rect">
            <a:avLst/>
          </a:prstGeom>
          <a:noFill/>
          <a:ln/>
        </p:spPr>
        <p:txBody>
          <a:bodyPr wrap="square" lIns="0" tIns="0" rIns="0" bIns="0" rtlCol="0" anchor="t"/>
          <a:lstStyle/>
          <a:p>
            <a:pPr indent="0" marL="0">
              <a:buNone/>
            </a:pPr>
            <a:r>
              <a:rPr lang="en-US" sz="850" i="1" dirty="0">
                <a:solidFill>
                  <a:schemeClr val="tx2"/>
                </a:solidFill>
              </a:rPr>
              <a:t>Snow-to-Food &amp; Water Plant – District Plan. All drinking water and about half of the city’s protein, from snow and air.</a:t>
            </a:r>
            <a:endParaRPr lang="en-US" sz="850" dirty="0"/>
          </a:p>
        </p:txBody>
      </p:sp>
      <p:sp>
        <p:nvSpPr>
          <p:cNvPr id="7" name="marker-313"/>
          <p:cNvSpPr/>
          <p:nvPr/>
        </p:nvSpPr>
        <p:spPr>
          <a:xfrm>
            <a:off x="548640" y="5303520"/>
            <a:ext cx="329184" cy="329184"/>
          </a:xfrm>
          <a:prstGeom prst="ellipse">
            <a:avLst/>
          </a:prstGeom>
          <a:solidFill>
            <a:schemeClr val="accent4"/>
          </a:solidFill>
          <a:ln w="12700">
            <a:solidFill>
              <a:schemeClr val="accent4"/>
            </a:solidFill>
            <a:prstDash val="solid"/>
          </a:ln>
        </p:spPr>
      </p:sp>
      <p:sp>
        <p:nvSpPr>
          <p:cNvPr id="8" name="text-314"/>
          <p:cNvSpPr txBox="1"/>
          <p:nvPr/>
        </p:nvSpPr>
        <p:spPr>
          <a:xfrm>
            <a:off x="548640" y="53035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315"/>
          <p:cNvSpPr txBox="1"/>
          <p:nvPr/>
        </p:nvSpPr>
        <p:spPr>
          <a:xfrm>
            <a:off x="1005840" y="52943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Snow harvest &amp; melt hall</a:t>
            </a:r>
            <a:endParaRPr lang="en-US" sz="1050" dirty="0"/>
          </a:p>
        </p:txBody>
      </p:sp>
      <p:sp>
        <p:nvSpPr>
          <p:cNvPr id="10" name="text-316"/>
          <p:cNvSpPr txBox="1"/>
          <p:nvPr/>
        </p:nvSpPr>
        <p:spPr>
          <a:xfrm>
            <a:off x="1005840" y="550468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Electric harvesters gather wind-packed snow upwind of the city; about 14 MW of spare fusion heat melts it.</a:t>
            </a:r>
            <a:endParaRPr lang="en-US" sz="950" dirty="0"/>
          </a:p>
        </p:txBody>
      </p:sp>
      <p:sp>
        <p:nvSpPr>
          <p:cNvPr id="11" name="marker-317"/>
          <p:cNvSpPr/>
          <p:nvPr/>
        </p:nvSpPr>
        <p:spPr>
          <a:xfrm>
            <a:off x="548640" y="6088380"/>
            <a:ext cx="329184" cy="329184"/>
          </a:xfrm>
          <a:prstGeom prst="ellipse">
            <a:avLst/>
          </a:prstGeom>
          <a:solidFill>
            <a:schemeClr val="accent4"/>
          </a:solidFill>
          <a:ln w="12700">
            <a:solidFill>
              <a:schemeClr val="accent4"/>
            </a:solidFill>
            <a:prstDash val="solid"/>
          </a:ln>
        </p:spPr>
      </p:sp>
      <p:sp>
        <p:nvSpPr>
          <p:cNvPr id="12" name="text-318"/>
          <p:cNvSpPr txBox="1"/>
          <p:nvPr/>
        </p:nvSpPr>
        <p:spPr>
          <a:xfrm>
            <a:off x="548640" y="608838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319"/>
          <p:cNvSpPr txBox="1"/>
          <p:nvPr/>
        </p:nvSpPr>
        <p:spPr>
          <a:xfrm>
            <a:off x="1005840" y="6079236"/>
            <a:ext cx="3703320" cy="201168"/>
          </a:xfrm>
          <a:prstGeom prst="rect">
            <a:avLst/>
          </a:prstGeom>
          <a:noFill/>
          <a:ln/>
        </p:spPr>
        <p:txBody>
          <a:bodyPr wrap="square" lIns="0" tIns="0" rIns="0" bIns="0" rtlCol="0" anchor="t"/>
          <a:lstStyle/>
          <a:p>
            <a:pPr indent="0" marL="0">
              <a:buNone/>
            </a:pPr>
            <a:r>
              <a:rPr lang="en-US" sz="1050" b="1" dirty="0">
                <a:solidFill>
                  <a:schemeClr val="tx1"/>
                </a:solidFill>
              </a:rPr>
              <a:t>Drinking-water &amp; mineral works</a:t>
            </a:r>
            <a:endParaRPr lang="en-US" sz="1050" dirty="0"/>
          </a:p>
        </p:txBody>
      </p:sp>
      <p:sp>
        <p:nvSpPr>
          <p:cNvPr id="14" name="text-320"/>
          <p:cNvSpPr txBox="1"/>
          <p:nvPr/>
        </p:nvSpPr>
        <p:spPr>
          <a:xfrm>
            <a:off x="1005840" y="628954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Membranes and UV light remove every germ, calcite adds calcium and magnesium, and sensors test the water every five minutes.</a:t>
            </a:r>
            <a:endParaRPr lang="en-US" sz="950" dirty="0"/>
          </a:p>
        </p:txBody>
      </p:sp>
      <p:sp>
        <p:nvSpPr>
          <p:cNvPr id="15" name="marker-321"/>
          <p:cNvSpPr/>
          <p:nvPr/>
        </p:nvSpPr>
        <p:spPr>
          <a:xfrm>
            <a:off x="548640" y="6873240"/>
            <a:ext cx="329184" cy="329184"/>
          </a:xfrm>
          <a:prstGeom prst="ellipse">
            <a:avLst/>
          </a:prstGeom>
          <a:solidFill>
            <a:schemeClr val="accent4"/>
          </a:solidFill>
          <a:ln w="12700">
            <a:solidFill>
              <a:schemeClr val="accent4"/>
            </a:solidFill>
            <a:prstDash val="solid"/>
          </a:ln>
        </p:spPr>
      </p:sp>
      <p:sp>
        <p:nvSpPr>
          <p:cNvPr id="16" name="text-322"/>
          <p:cNvSpPr txBox="1"/>
          <p:nvPr/>
        </p:nvSpPr>
        <p:spPr>
          <a:xfrm>
            <a:off x="548640" y="687324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323"/>
          <p:cNvSpPr txBox="1"/>
          <p:nvPr/>
        </p:nvSpPr>
        <p:spPr>
          <a:xfrm>
            <a:off x="1005840" y="6864096"/>
            <a:ext cx="3703320" cy="201168"/>
          </a:xfrm>
          <a:prstGeom prst="rect">
            <a:avLst/>
          </a:prstGeom>
          <a:noFill/>
          <a:ln/>
        </p:spPr>
        <p:txBody>
          <a:bodyPr wrap="square" lIns="0" tIns="0" rIns="0" bIns="0" rtlCol="0" anchor="t"/>
          <a:lstStyle/>
          <a:p>
            <a:pPr indent="0" marL="0">
              <a:buNone/>
            </a:pPr>
            <a:r>
              <a:rPr lang="en-US" sz="1050" b="1" dirty="0">
                <a:solidFill>
                  <a:schemeClr val="tx1"/>
                </a:solidFill>
              </a:rPr>
              <a:t>Electrolysis, air capture &amp; green ammonia</a:t>
            </a:r>
            <a:endParaRPr lang="en-US" sz="1050" dirty="0"/>
          </a:p>
        </p:txBody>
      </p:sp>
      <p:sp>
        <p:nvSpPr>
          <p:cNvPr id="18" name="text-324"/>
          <p:cNvSpPr txBox="1"/>
          <p:nvPr/>
        </p:nvSpPr>
        <p:spPr>
          <a:xfrm>
            <a:off x="1005840" y="707440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About 5 t of hydrogen a day; the oxygen goes to the hospital and the waste converter.</a:t>
            </a:r>
            <a:endParaRPr lang="en-US" sz="950" dirty="0"/>
          </a:p>
        </p:txBody>
      </p:sp>
      <p:sp>
        <p:nvSpPr>
          <p:cNvPr id="19" name="marker-325"/>
          <p:cNvSpPr/>
          <p:nvPr/>
        </p:nvSpPr>
        <p:spPr>
          <a:xfrm>
            <a:off x="548640" y="7658100"/>
            <a:ext cx="329184" cy="329184"/>
          </a:xfrm>
          <a:prstGeom prst="ellipse">
            <a:avLst/>
          </a:prstGeom>
          <a:solidFill>
            <a:schemeClr val="accent4"/>
          </a:solidFill>
          <a:ln w="12700">
            <a:solidFill>
              <a:schemeClr val="accent4"/>
            </a:solidFill>
            <a:prstDash val="solid"/>
          </a:ln>
        </p:spPr>
      </p:sp>
      <p:sp>
        <p:nvSpPr>
          <p:cNvPr id="20" name="text-326"/>
          <p:cNvSpPr txBox="1"/>
          <p:nvPr/>
        </p:nvSpPr>
        <p:spPr>
          <a:xfrm>
            <a:off x="548640" y="765810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327"/>
          <p:cNvSpPr txBox="1"/>
          <p:nvPr/>
        </p:nvSpPr>
        <p:spPr>
          <a:xfrm>
            <a:off x="1005840" y="7648956"/>
            <a:ext cx="3703320" cy="201168"/>
          </a:xfrm>
          <a:prstGeom prst="rect">
            <a:avLst/>
          </a:prstGeom>
          <a:noFill/>
          <a:ln/>
        </p:spPr>
        <p:txBody>
          <a:bodyPr wrap="square" lIns="0" tIns="0" rIns="0" bIns="0" rtlCol="0" anchor="t"/>
          <a:lstStyle/>
          <a:p>
            <a:pPr indent="0" marL="0">
              <a:buNone/>
            </a:pPr>
            <a:r>
              <a:rPr lang="en-US" sz="1050" b="1" dirty="0">
                <a:solidFill>
                  <a:schemeClr val="tx1"/>
                </a:solidFill>
              </a:rPr>
              <a:t>Carbon-fixation chemistry</a:t>
            </a:r>
            <a:endParaRPr lang="en-US" sz="1050" dirty="0"/>
          </a:p>
        </p:txBody>
      </p:sp>
      <p:sp>
        <p:nvSpPr>
          <p:cNvPr id="22" name="text-328"/>
          <p:cNvSpPr txBox="1"/>
          <p:nvPr/>
        </p:nvSpPr>
        <p:spPr>
          <a:xfrm>
            <a:off x="1005840" y="785926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 copper catalyst makes methanol, and enzymes build it into starch about eight times faster than a maize field.</a:t>
            </a:r>
            <a:endParaRPr lang="en-US" sz="950" dirty="0"/>
          </a:p>
        </p:txBody>
      </p:sp>
      <p:sp>
        <p:nvSpPr>
          <p:cNvPr id="23" name="marker-329"/>
          <p:cNvSpPr/>
          <p:nvPr/>
        </p:nvSpPr>
        <p:spPr>
          <a:xfrm>
            <a:off x="548640" y="8442960"/>
            <a:ext cx="329184" cy="329184"/>
          </a:xfrm>
          <a:prstGeom prst="ellipse">
            <a:avLst/>
          </a:prstGeom>
          <a:solidFill>
            <a:schemeClr val="accent4"/>
          </a:solidFill>
          <a:ln w="12700">
            <a:solidFill>
              <a:schemeClr val="accent4"/>
            </a:solidFill>
            <a:prstDash val="solid"/>
          </a:ln>
        </p:spPr>
      </p:sp>
      <p:sp>
        <p:nvSpPr>
          <p:cNvPr id="24" name="text-330"/>
          <p:cNvSpPr txBox="1"/>
          <p:nvPr/>
        </p:nvSpPr>
        <p:spPr>
          <a:xfrm>
            <a:off x="548640" y="84429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331"/>
          <p:cNvSpPr txBox="1"/>
          <p:nvPr/>
        </p:nvSpPr>
        <p:spPr>
          <a:xfrm>
            <a:off x="1005840" y="8433816"/>
            <a:ext cx="3703320" cy="201168"/>
          </a:xfrm>
          <a:prstGeom prst="rect">
            <a:avLst/>
          </a:prstGeom>
          <a:noFill/>
          <a:ln/>
        </p:spPr>
        <p:txBody>
          <a:bodyPr wrap="square" lIns="0" tIns="0" rIns="0" bIns="0" rtlCol="0" anchor="t"/>
          <a:lstStyle/>
          <a:p>
            <a:pPr indent="0" marL="0">
              <a:buNone/>
            </a:pPr>
            <a:r>
              <a:rPr lang="en-US" sz="1050" b="1" dirty="0">
                <a:solidFill>
                  <a:schemeClr val="tx1"/>
                </a:solidFill>
              </a:rPr>
              <a:t>Bioreactor silos</a:t>
            </a:r>
            <a:endParaRPr lang="en-US" sz="1050" dirty="0"/>
          </a:p>
        </p:txBody>
      </p:sp>
      <p:sp>
        <p:nvSpPr>
          <p:cNvPr id="26" name="text-332"/>
          <p:cNvSpPr txBox="1"/>
          <p:nvPr/>
        </p:nvSpPr>
        <p:spPr>
          <a:xfrm>
            <a:off x="1005840" y="864412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Hydrogen-eating bacteria make protein flour; yeasts and algae make oils and vitamins, 24 hours a day.</a:t>
            </a:r>
            <a:endParaRPr lang="en-US" sz="950" dirty="0"/>
          </a:p>
        </p:txBody>
      </p:sp>
      <p:sp>
        <p:nvSpPr>
          <p:cNvPr id="27" name="marker-333"/>
          <p:cNvSpPr/>
          <p:nvPr/>
        </p:nvSpPr>
        <p:spPr>
          <a:xfrm>
            <a:off x="548640" y="9227820"/>
            <a:ext cx="329184" cy="329184"/>
          </a:xfrm>
          <a:prstGeom prst="ellipse">
            <a:avLst/>
          </a:prstGeom>
          <a:solidFill>
            <a:schemeClr val="accent4"/>
          </a:solidFill>
          <a:ln w="12700">
            <a:solidFill>
              <a:schemeClr val="accent4"/>
            </a:solidFill>
            <a:prstDash val="solid"/>
          </a:ln>
        </p:spPr>
      </p:sp>
      <p:sp>
        <p:nvSpPr>
          <p:cNvPr id="28" name="text-334"/>
          <p:cNvSpPr txBox="1"/>
          <p:nvPr/>
        </p:nvSpPr>
        <p:spPr>
          <a:xfrm>
            <a:off x="548640" y="92278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6</a:t>
            </a:r>
            <a:endParaRPr lang="en-US" sz="1200" dirty="0"/>
          </a:p>
        </p:txBody>
      </p:sp>
      <p:sp>
        <p:nvSpPr>
          <p:cNvPr id="29" name="text-335"/>
          <p:cNvSpPr txBox="1"/>
          <p:nvPr/>
        </p:nvSpPr>
        <p:spPr>
          <a:xfrm>
            <a:off x="1005840" y="92186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Food kitchen, bottling &amp; distribution</a:t>
            </a:r>
            <a:endParaRPr lang="en-US" sz="1050" dirty="0"/>
          </a:p>
        </p:txBody>
      </p:sp>
      <p:sp>
        <p:nvSpPr>
          <p:cNvPr id="30" name="text-336"/>
          <p:cNvSpPr txBox="1"/>
          <p:nvPr/>
        </p:nvSpPr>
        <p:spPr>
          <a:xfrm>
            <a:off x="1005840" y="942898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Bread, noodles, protein mince and dairy-style drinks, delivered overnight in heated electric vans.</a:t>
            </a:r>
            <a:endParaRPr lang="en-US" sz="950" dirty="0"/>
          </a:p>
        </p:txBody>
      </p:sp>
      <p:sp>
        <p:nvSpPr>
          <p:cNvPr id="31" name="text-337"/>
          <p:cNvSpPr txBox="1"/>
          <p:nvPr/>
        </p:nvSpPr>
        <p:spPr>
          <a:xfrm>
            <a:off x="5074920" y="5212080"/>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3,000 t</a:t>
            </a:r>
            <a:endParaRPr lang="en-US" sz="2400" dirty="0"/>
          </a:p>
        </p:txBody>
      </p:sp>
      <p:sp>
        <p:nvSpPr>
          <p:cNvPr id="32" name="text-338"/>
          <p:cNvSpPr txBox="1"/>
          <p:nvPr/>
        </p:nvSpPr>
        <p:spPr>
          <a:xfrm>
            <a:off x="5074920" y="5617464"/>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snow melted a day</a:t>
            </a:r>
            <a:endParaRPr lang="en-US" sz="900" dirty="0"/>
          </a:p>
        </p:txBody>
      </p:sp>
      <p:sp>
        <p:nvSpPr>
          <p:cNvPr id="33" name="text-339"/>
          <p:cNvSpPr txBox="1"/>
          <p:nvPr/>
        </p:nvSpPr>
        <p:spPr>
          <a:xfrm>
            <a:off x="5074920" y="6153912"/>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2,500 m³</a:t>
            </a:r>
            <a:endParaRPr lang="en-US" sz="2400" dirty="0"/>
          </a:p>
        </p:txBody>
      </p:sp>
      <p:sp>
        <p:nvSpPr>
          <p:cNvPr id="34" name="text-340"/>
          <p:cNvSpPr txBox="1"/>
          <p:nvPr/>
        </p:nvSpPr>
        <p:spPr>
          <a:xfrm>
            <a:off x="5074920" y="6559296"/>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drinking water a day, all of the city’s tap water</a:t>
            </a:r>
            <a:endParaRPr lang="en-US" sz="900" dirty="0"/>
          </a:p>
        </p:txBody>
      </p:sp>
      <p:sp>
        <p:nvSpPr>
          <p:cNvPr id="35" name="text-341"/>
          <p:cNvSpPr txBox="1"/>
          <p:nvPr/>
        </p:nvSpPr>
        <p:spPr>
          <a:xfrm>
            <a:off x="5074920" y="7095744"/>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20 t</a:t>
            </a:r>
            <a:endParaRPr lang="en-US" sz="2400" dirty="0"/>
          </a:p>
        </p:txBody>
      </p:sp>
      <p:sp>
        <p:nvSpPr>
          <p:cNvPr id="36" name="text-342"/>
          <p:cNvSpPr txBox="1"/>
          <p:nvPr/>
        </p:nvSpPr>
        <p:spPr>
          <a:xfrm>
            <a:off x="5074920" y="7501128"/>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CO₂ captured from the air a day</a:t>
            </a:r>
            <a:endParaRPr lang="en-US" sz="900" dirty="0"/>
          </a:p>
        </p:txBody>
      </p:sp>
      <p:sp>
        <p:nvSpPr>
          <p:cNvPr id="37" name="text-343"/>
          <p:cNvSpPr txBox="1"/>
          <p:nvPr/>
        </p:nvSpPr>
        <p:spPr>
          <a:xfrm>
            <a:off x="5074920" y="8037576"/>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2.5 t</a:t>
            </a:r>
            <a:endParaRPr lang="en-US" sz="2400" dirty="0"/>
          </a:p>
        </p:txBody>
      </p:sp>
      <p:sp>
        <p:nvSpPr>
          <p:cNvPr id="38" name="text-344"/>
          <p:cNvSpPr txBox="1"/>
          <p:nvPr/>
        </p:nvSpPr>
        <p:spPr>
          <a:xfrm>
            <a:off x="5074920" y="8442960"/>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protein flour a day, as much as 600 hectares of soybeans</a:t>
            </a:r>
            <a:endParaRPr lang="en-US" sz="900" dirty="0"/>
          </a:p>
        </p:txBody>
      </p:sp>
      <p:sp>
        <p:nvSpPr>
          <p:cNvPr id="39" name="text-345"/>
          <p:cNvSpPr txBox="1"/>
          <p:nvPr/>
        </p:nvSpPr>
        <p:spPr>
          <a:xfrm>
            <a:off x="5074920" y="8979408"/>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30 days</a:t>
            </a:r>
            <a:endParaRPr lang="en-US" sz="2400" dirty="0"/>
          </a:p>
        </p:txBody>
      </p:sp>
      <p:sp>
        <p:nvSpPr>
          <p:cNvPr id="40" name="text-346"/>
          <p:cNvSpPr txBox="1"/>
          <p:nvPr/>
        </p:nvSpPr>
        <p:spPr>
          <a:xfrm>
            <a:off x="5074920" y="9384792"/>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meals and water for everyone in the Food Reserve Bunker</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picture-347" descr="/home/user/chatbox-bi-n-o/magazine/assets/renders/spa.jpg">    </p:cNvPr>
          <p:cNvPicPr>
            <a:picLocks noChangeAspect="1"/>
          </p:cNvPicPr>
          <p:nvPr/>
        </p:nvPicPr>
        <p:blipFill>
          <a:blip r:embed="rId1"/>
          <a:srcRect l="0" r="0" t="0" b="0"/>
          <a:stretch/>
        </p:blipFill>
        <p:spPr>
          <a:xfrm>
            <a:off x="0" y="0"/>
            <a:ext cx="7562088" cy="10689336"/>
          </a:xfrm>
          <a:prstGeom prst="rect">
            <a:avLst/>
          </a:prstGeom>
        </p:spPr>
      </p:pic>
      <p:pic>
        <p:nvPicPr>
          <p:cNvPr id="3" name="shade-top-348" descr="/home/user/chatbox-bi-n-o/magazine/assets/ui/shade_top.png">    </p:cNvPr>
          <p:cNvPicPr>
            <a:picLocks noChangeAspect="1"/>
          </p:cNvPicPr>
          <p:nvPr/>
        </p:nvPicPr>
        <p:blipFill>
          <a:blip r:embed="rId2"/>
          <a:stretch>
            <a:fillRect/>
          </a:stretch>
        </p:blipFill>
        <p:spPr>
          <a:xfrm>
            <a:off x="0" y="0"/>
            <a:ext cx="7562088" cy="3474720"/>
          </a:xfrm>
          <a:prstGeom prst="rect">
            <a:avLst/>
          </a:prstGeom>
        </p:spPr>
      </p:pic>
      <p:pic>
        <p:nvPicPr>
          <p:cNvPr id="4" name="shade-bottom-349" descr="/home/user/chatbox-bi-n-o/magazine/assets/ui/shade_bottom.png">    </p:cNvPr>
          <p:cNvPicPr>
            <a:picLocks noChangeAspect="1"/>
          </p:cNvPicPr>
          <p:nvPr/>
        </p:nvPicPr>
        <p:blipFill>
          <a:blip r:embed="rId3"/>
          <a:stretch>
            <a:fillRect/>
          </a:stretch>
        </p:blipFill>
        <p:spPr>
          <a:xfrm>
            <a:off x="0" y="6949440"/>
            <a:ext cx="7562088" cy="3739896"/>
          </a:xfrm>
          <a:prstGeom prst="rect">
            <a:avLst/>
          </a:prstGeom>
        </p:spPr>
      </p:pic>
      <p:sp>
        <p:nvSpPr>
          <p:cNvPr id="5" name="marker-350"/>
          <p:cNvSpPr/>
          <p:nvPr/>
        </p:nvSpPr>
        <p:spPr>
          <a:xfrm>
            <a:off x="548640" y="548640"/>
            <a:ext cx="731520" cy="731520"/>
          </a:xfrm>
          <a:prstGeom prst="ellipse">
            <a:avLst/>
          </a:prstGeom>
          <a:solidFill>
            <a:schemeClr val="accent5"/>
          </a:solidFill>
          <a:ln w="19050">
            <a:solidFill>
              <a:schemeClr val="bg1"/>
            </a:solidFill>
            <a:prstDash val="solid"/>
          </a:ln>
        </p:spPr>
      </p:sp>
      <p:sp>
        <p:nvSpPr>
          <p:cNvPr id="6" name="text-351"/>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3</a:t>
            </a:r>
            <a:endParaRPr lang="en-US" sz="2800" dirty="0"/>
          </a:p>
        </p:txBody>
      </p:sp>
      <p:sp>
        <p:nvSpPr>
          <p:cNvPr id="7" name="kicker-dot-352"/>
          <p:cNvSpPr/>
          <p:nvPr/>
        </p:nvSpPr>
        <p:spPr>
          <a:xfrm>
            <a:off x="548640" y="1549908"/>
            <a:ext cx="100584" cy="100584"/>
          </a:xfrm>
          <a:prstGeom prst="ellipse">
            <a:avLst/>
          </a:prstGeom>
          <a:solidFill>
            <a:schemeClr val="accent5"/>
          </a:solidFill>
          <a:ln w="12700">
            <a:solidFill>
              <a:schemeClr val="accent5"/>
            </a:solidFill>
            <a:prstDash val="solid"/>
          </a:ln>
        </p:spPr>
      </p:sp>
      <p:sp>
        <p:nvSpPr>
          <p:cNvPr id="8" name="text-353"/>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3 · MOUNT AURORA GEOTHERMAL SPA RESORT</a:t>
            </a:r>
            <a:endParaRPr lang="en-US" sz="900" dirty="0"/>
          </a:p>
        </p:txBody>
      </p:sp>
      <p:sp>
        <p:nvSpPr>
          <p:cNvPr id="9" name="title-354"/>
          <p:cNvSpPr txBox="1"/>
          <p:nvPr/>
        </p:nvSpPr>
        <p:spPr>
          <a:xfrm>
            <a:off x="548640" y="1764792"/>
            <a:ext cx="6464808" cy="77724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A Warm Heart Inside the Ice</a:t>
            </a:r>
            <a:endParaRPr lang="en-US" sz="3800" dirty="0"/>
          </a:p>
        </p:txBody>
      </p:sp>
      <p:sp>
        <p:nvSpPr>
          <p:cNvPr id="10" name="text-356"/>
          <p:cNvSpPr txBox="1"/>
          <p:nvPr/>
        </p:nvSpPr>
        <p:spPr>
          <a:xfrm>
            <a:off x="548640" y="2606040"/>
            <a:ext cx="566928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Inside a 35-metre snow peak shaped like Nepal’s Ama Dablam, four geothermal spa levels stay at 28 °C all winter.</a:t>
            </a:r>
            <a:endParaRPr lang="en-US" sz="1400" dirty="0"/>
          </a:p>
        </p:txBody>
      </p:sp>
      <p:sp>
        <p:nvSpPr>
          <p:cNvPr id="11" name="text-357"/>
          <p:cNvSpPr txBox="1"/>
          <p:nvPr/>
        </p:nvSpPr>
        <p:spPr>
          <a:xfrm>
            <a:off x="548640" y="8458200"/>
            <a:ext cx="3095244" cy="1600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Guests enter through the North Portal, where a thermal revolving door and an air curtain keep the −45 °C air out. The peak’s deep snow works as a blanket that holds in the geothermal heat, and sensors release the snow load safely before an avalanche can build.</a:t>
            </a:r>
            <a:endParaRPr lang="en-US" sz="1000" dirty="0"/>
          </a:p>
        </p:txBody>
      </p:sp>
      <p:sp>
        <p:nvSpPr>
          <p:cNvPr id="12" name="text-358"/>
          <p:cNvSpPr txBox="1"/>
          <p:nvPr/>
        </p:nvSpPr>
        <p:spPr>
          <a:xfrm>
            <a:off x="3918204" y="8458200"/>
            <a:ext cx="3095244" cy="1600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Outside is the Aurora Lagoon, a 38-degree mineral pool for bathing under the northern lights. The spa fights the winter blues, brings tourists and income, and in an emergency can shelter up to 1,000 people.</a:t>
            </a:r>
            <a:endParaRPr lang="en-US" sz="1000" dirty="0"/>
          </a:p>
        </p:txBody>
      </p:sp>
      <p:sp>
        <p:nvSpPr>
          <p:cNvPr id="13" name="text-359"/>
          <p:cNvSpPr txBox="1"/>
          <p:nvPr/>
        </p:nvSpPr>
        <p:spPr>
          <a:xfrm>
            <a:off x="548640" y="7863840"/>
            <a:ext cx="6464808" cy="411480"/>
          </a:xfrm>
          <a:prstGeom prst="rect">
            <a:avLst/>
          </a:prstGeom>
          <a:noFill/>
          <a:ln/>
        </p:spPr>
        <p:txBody>
          <a:bodyPr wrap="square" lIns="0" tIns="0" rIns="0" bIns="0" rtlCol="0" anchor="t"/>
          <a:lstStyle/>
          <a:p>
            <a:pPr indent="0" marL="0">
              <a:buNone/>
            </a:pPr>
            <a:r>
              <a:rPr lang="en-US" sz="850" i="1" dirty="0">
                <a:solidFill>
                  <a:schemeClr val="bg2"/>
                </a:solidFill>
              </a:rPr>
              <a:t>The four spa levels step out of the north face; the forecourt is warmed by the spa’s used hot water, so guests walk ice-free from the shuttle to the door.</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picture-360" descr="/home/user/chatbox-bi-n-o/magazine/assets/renders/grotto_L.jpg">    </p:cNvPr>
          <p:cNvPicPr>
            <a:picLocks noChangeAspect="1"/>
          </p:cNvPicPr>
          <p:nvPr/>
        </p:nvPicPr>
        <p:blipFill>
          <a:blip r:embed="rId1"/>
          <a:srcRect l="0" r="0" t="0" b="0"/>
          <a:stretch/>
        </p:blipFill>
        <p:spPr>
          <a:xfrm>
            <a:off x="0" y="0"/>
            <a:ext cx="7562088" cy="10689336"/>
          </a:xfrm>
          <a:prstGeom prst="rect">
            <a:avLst/>
          </a:prstGeom>
        </p:spPr>
      </p:pic>
      <p:pic>
        <p:nvPicPr>
          <p:cNvPr id="3" name="shade-top-361" descr="/home/user/chatbox-bi-n-o/magazine/assets/ui/shade_top.png">    </p:cNvPr>
          <p:cNvPicPr>
            <a:picLocks noChangeAspect="1"/>
          </p:cNvPicPr>
          <p:nvPr/>
        </p:nvPicPr>
        <p:blipFill>
          <a:blip r:embed="rId2"/>
          <a:stretch>
            <a:fillRect/>
          </a:stretch>
        </p:blipFill>
        <p:spPr>
          <a:xfrm>
            <a:off x="0" y="0"/>
            <a:ext cx="7562088" cy="4023360"/>
          </a:xfrm>
          <a:prstGeom prst="rect">
            <a:avLst/>
          </a:prstGeom>
        </p:spPr>
      </p:pic>
      <p:sp>
        <p:nvSpPr>
          <p:cNvPr id="4" name="kicker-dot-362"/>
          <p:cNvSpPr/>
          <p:nvPr/>
        </p:nvSpPr>
        <p:spPr>
          <a:xfrm>
            <a:off x="548640" y="589788"/>
            <a:ext cx="100584" cy="100584"/>
          </a:xfrm>
          <a:prstGeom prst="ellipse">
            <a:avLst/>
          </a:prstGeom>
          <a:solidFill>
            <a:schemeClr val="accent5"/>
          </a:solidFill>
          <a:ln w="12700">
            <a:solidFill>
              <a:schemeClr val="accent5"/>
            </a:solidFill>
            <a:prstDash val="solid"/>
          </a:ln>
        </p:spPr>
      </p:sp>
      <p:sp>
        <p:nvSpPr>
          <p:cNvPr id="5" name="text-363"/>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MOUNT AURORA · LEVEL 1</a:t>
            </a:r>
            <a:endParaRPr lang="en-US" sz="900" dirty="0"/>
          </a:p>
        </p:txBody>
      </p:sp>
      <p:sp>
        <p:nvSpPr>
          <p:cNvPr id="6" name="title-364"/>
          <p:cNvSpPr txBox="1"/>
          <p:nvPr/>
        </p:nvSpPr>
        <p:spPr>
          <a:xfrm>
            <a:off x="548640" y="804672"/>
            <a:ext cx="6464808" cy="8229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Inside the Mountain</a:t>
            </a:r>
            <a:endParaRPr lang="en-US" sz="4600" dirty="0"/>
          </a:p>
        </p:txBody>
      </p:sp>
      <p:sp>
        <p:nvSpPr>
          <p:cNvPr id="7" name="text-366"/>
          <p:cNvSpPr txBox="1"/>
          <p:nvPr/>
        </p:nvSpPr>
        <p:spPr>
          <a:xfrm>
            <a:off x="548640" y="1783080"/>
            <a:ext cx="4206240" cy="1097280"/>
          </a:xfrm>
          <a:prstGeom prst="rect">
            <a:avLst/>
          </a:prstGeom>
          <a:noFill/>
          <a:ln/>
        </p:spPr>
        <p:txBody>
          <a:bodyPr wrap="square" lIns="0" tIns="0" rIns="0" bIns="0" rtlCol="0" anchor="t"/>
          <a:lstStyle/>
          <a:p>
            <a:pPr indent="0" marL="0">
              <a:lnSpc>
                <a:spcPct val="108000"/>
              </a:lnSpc>
              <a:buNone/>
            </a:pPr>
            <a:r>
              <a:rPr lang="en-US" sz="1400" i="1" dirty="0">
                <a:solidFill>
                  <a:schemeClr val="bg1"/>
                </a:solidFill>
                <a:latin typeface="+mj-lt" pitchFamily="34" charset="0"/>
                <a:ea typeface="+mj-lt" pitchFamily="34" charset="-122"/>
                <a:cs typeface="+mj-lt" pitchFamily="34" charset="-120"/>
              </a:rPr>
              <a:t>The ground level and arrival floor of the spa: a welcome hall, two changing suites, a 7 × 13 m geothermal Mineral Lake grotto and an onsen garden with hot, warm and glacier-cold pools.</a:t>
            </a:r>
            <a:endParaRPr lang="en-US" sz="1400" dirty="0"/>
          </a:p>
        </p:txBody>
      </p:sp>
      <p:sp>
        <p:nvSpPr>
          <p:cNvPr id="8" name="text-367"/>
          <p:cNvSpPr txBox="1"/>
          <p:nvPr/>
        </p:nvSpPr>
        <p:spPr>
          <a:xfrm>
            <a:off x="548640" y="2926080"/>
            <a:ext cx="4206240" cy="731520"/>
          </a:xfrm>
          <a:prstGeom prst="rect">
            <a:avLst/>
          </a:prstGeom>
          <a:noFill/>
          <a:ln/>
        </p:spPr>
        <p:txBody>
          <a:bodyPr wrap="square" lIns="0" tIns="0" rIns="0" bIns="0" rtlCol="0" anchor="t"/>
          <a:lstStyle/>
          <a:p>
            <a:pPr indent="0" marL="0">
              <a:lnSpc>
                <a:spcPct val="108000"/>
              </a:lnSpc>
              <a:buNone/>
            </a:pPr>
            <a:r>
              <a:rPr lang="en-US" sz="1000" dirty="0">
                <a:solidFill>
                  <a:schemeClr val="bg2"/>
                </a:solidFill>
              </a:rPr>
              <a:t>A 40 °C silica- and bicarbonate-rich spring rises from the geothermal field into the lake, spills over a basalt wall and flows on to the outdoor Aurora Lagoon.</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picture-368" descr="/home/user/chatbox-bi-n-o/magazine/assets/renders/grotto_R.jpg">    </p:cNvPr>
          <p:cNvPicPr>
            <a:picLocks noChangeAspect="1"/>
          </p:cNvPicPr>
          <p:nvPr/>
        </p:nvPicPr>
        <p:blipFill>
          <a:blip r:embed="rId1"/>
          <a:srcRect l="0" r="0" t="0" b="0"/>
          <a:stretch/>
        </p:blipFill>
        <p:spPr>
          <a:xfrm>
            <a:off x="0" y="0"/>
            <a:ext cx="7562088" cy="10689336"/>
          </a:xfrm>
          <a:prstGeom prst="rect">
            <a:avLst/>
          </a:prstGeom>
        </p:spPr>
      </p:pic>
      <p:pic>
        <p:nvPicPr>
          <p:cNvPr id="3" name="shade-top-369" descr="/home/user/chatbox-bi-n-o/magazine/assets/ui/shade_top.png">    </p:cNvPr>
          <p:cNvPicPr>
            <a:picLocks noChangeAspect="1"/>
          </p:cNvPicPr>
          <p:nvPr/>
        </p:nvPicPr>
        <p:blipFill>
          <a:blip r:embed="rId2"/>
          <a:stretch>
            <a:fillRect/>
          </a:stretch>
        </p:blipFill>
        <p:spPr>
          <a:xfrm>
            <a:off x="0" y="0"/>
            <a:ext cx="7562088" cy="2377440"/>
          </a:xfrm>
          <a:prstGeom prst="rect">
            <a:avLst/>
          </a:prstGeom>
        </p:spPr>
      </p:pic>
      <p:sp>
        <p:nvSpPr>
          <p:cNvPr id="4" name="text-370"/>
          <p:cNvSpPr txBox="1"/>
          <p:nvPr/>
        </p:nvSpPr>
        <p:spPr>
          <a:xfrm>
            <a:off x="5001768" y="502920"/>
            <a:ext cx="2011680" cy="581152"/>
          </a:xfrm>
          <a:prstGeom prst="rect">
            <a:avLst/>
          </a:prstGeom>
          <a:noFill/>
          <a:ln/>
        </p:spPr>
        <p:txBody>
          <a:bodyPr wrap="square" lIns="0" tIns="0" rIns="0" bIns="0" rtlCol="0" anchor="b"/>
          <a:lstStyle/>
          <a:p>
            <a:pPr indent="0" marL="0">
              <a:buNone/>
            </a:pPr>
            <a:r>
              <a:rPr lang="en-US" sz="4000" b="1" dirty="0">
                <a:solidFill>
                  <a:schemeClr val="bg1"/>
                </a:solidFill>
                <a:latin typeface="+mj-lt" pitchFamily="34" charset="0"/>
                <a:ea typeface="+mj-lt" pitchFamily="34" charset="-122"/>
                <a:cs typeface="+mj-lt" pitchFamily="34" charset="-120"/>
              </a:rPr>
              <a:t>40 °C</a:t>
            </a:r>
            <a:endParaRPr lang="en-US" sz="4000" dirty="0"/>
          </a:p>
        </p:txBody>
      </p:sp>
      <p:sp>
        <p:nvSpPr>
          <p:cNvPr id="5" name="text-371"/>
          <p:cNvSpPr txBox="1"/>
          <p:nvPr/>
        </p:nvSpPr>
        <p:spPr>
          <a:xfrm>
            <a:off x="5001768" y="1111504"/>
            <a:ext cx="2011680" cy="274320"/>
          </a:xfrm>
          <a:prstGeom prst="rect">
            <a:avLst/>
          </a:prstGeom>
          <a:noFill/>
          <a:ln/>
        </p:spPr>
        <p:txBody>
          <a:bodyPr wrap="square" lIns="0" tIns="0" rIns="0" bIns="0" rtlCol="0" anchor="t"/>
          <a:lstStyle/>
          <a:p>
            <a:pPr indent="0" marL="0">
              <a:lnSpc>
                <a:spcPct val="105000"/>
              </a:lnSpc>
              <a:buNone/>
            </a:pPr>
            <a:r>
              <a:rPr lang="en-US" sz="1000" dirty="0">
                <a:solidFill>
                  <a:schemeClr val="bg2"/>
                </a:solidFill>
              </a:rPr>
              <a:t>Mineral Lake spring</a:t>
            </a:r>
            <a:endParaRPr lang="en-US" sz="1000" dirty="0"/>
          </a:p>
        </p:txBody>
      </p:sp>
      <p:pic>
        <p:nvPicPr>
          <p:cNvPr id="6" name="shade-bottom-372" descr="/home/user/chatbox-bi-n-o/magazine/assets/ui/shade_bottom.png">    </p:cNvPr>
          <p:cNvPicPr>
            <a:picLocks noChangeAspect="1"/>
          </p:cNvPicPr>
          <p:nvPr/>
        </p:nvPicPr>
        <p:blipFill>
          <a:blip r:embed="rId3"/>
          <a:stretch>
            <a:fillRect/>
          </a:stretch>
        </p:blipFill>
        <p:spPr>
          <a:xfrm>
            <a:off x="0" y="8778240"/>
            <a:ext cx="7562088" cy="1911096"/>
          </a:xfrm>
          <a:prstGeom prst="rect">
            <a:avLst/>
          </a:prstGeom>
        </p:spPr>
      </p:pic>
      <p:sp>
        <p:nvSpPr>
          <p:cNvPr id="7" name="text-373"/>
          <p:cNvSpPr txBox="1"/>
          <p:nvPr/>
        </p:nvSpPr>
        <p:spPr>
          <a:xfrm>
            <a:off x="2990088" y="9418320"/>
            <a:ext cx="4023360" cy="548640"/>
          </a:xfrm>
          <a:prstGeom prst="rect">
            <a:avLst/>
          </a:prstGeom>
          <a:noFill/>
          <a:ln/>
        </p:spPr>
        <p:txBody>
          <a:bodyPr wrap="square" lIns="0" tIns="0" rIns="0" bIns="0" rtlCol="0" anchor="t"/>
          <a:lstStyle/>
          <a:p>
            <a:pPr algn="r" indent="0" marL="0">
              <a:buNone/>
            </a:pPr>
            <a:r>
              <a:rPr lang="en-US" sz="850" i="1" dirty="0">
                <a:solidFill>
                  <a:schemeClr val="bg1"/>
                </a:solidFill>
              </a:rPr>
              <a:t>The Mineral Lake Grotto: a larch footbridge crosses the 7 × 13 m lake, and stone lanterns light the shore below the basalt wall.</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kicker-dot-374"/>
          <p:cNvSpPr/>
          <p:nvPr/>
        </p:nvSpPr>
        <p:spPr>
          <a:xfrm>
            <a:off x="548640" y="544068"/>
            <a:ext cx="100584" cy="100584"/>
          </a:xfrm>
          <a:prstGeom prst="ellipse">
            <a:avLst/>
          </a:prstGeom>
          <a:solidFill>
            <a:schemeClr val="accent5"/>
          </a:solidFill>
          <a:ln w="12700">
            <a:solidFill>
              <a:schemeClr val="accent5"/>
            </a:solidFill>
            <a:prstDash val="solid"/>
          </a:ln>
        </p:spPr>
      </p:sp>
      <p:sp>
        <p:nvSpPr>
          <p:cNvPr id="3" name="text-37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5"/>
                </a:solidFill>
              </a:rPr>
              <a:t>MOUNT AURORA · LEVEL BY LEVEL</a:t>
            </a:r>
            <a:endParaRPr lang="en-US" sz="900" dirty="0"/>
          </a:p>
        </p:txBody>
      </p:sp>
      <p:sp>
        <p:nvSpPr>
          <p:cNvPr id="4" name="title-37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Four Floors of Warmth</a:t>
            </a:r>
            <a:endParaRPr lang="en-US" sz="3400" dirty="0"/>
          </a:p>
        </p:txBody>
      </p:sp>
      <p:pic>
        <p:nvPicPr>
          <p:cNvPr id="5" name="spa-plan" descr="/home/user/chatbox-bi-n-o/magazine/assets/plans/04_mount_aurora_spa_resort_plan.png">    </p:cNvPr>
          <p:cNvPicPr>
            <a:picLocks noChangeAspect="1"/>
          </p:cNvPicPr>
          <p:nvPr/>
        </p:nvPicPr>
        <p:blipFill>
          <a:blip r:embed="rId1"/>
          <a:stretch>
            <a:fillRect/>
          </a:stretch>
        </p:blipFill>
        <p:spPr>
          <a:xfrm>
            <a:off x="548640" y="1554480"/>
            <a:ext cx="6464808" cy="3652617"/>
          </a:xfrm>
          <a:prstGeom prst="rect">
            <a:avLst/>
          </a:prstGeom>
        </p:spPr>
      </p:pic>
      <p:sp>
        <p:nvSpPr>
          <p:cNvPr id="6" name="text-378"/>
          <p:cNvSpPr txBox="1"/>
          <p:nvPr/>
        </p:nvSpPr>
        <p:spPr>
          <a:xfrm>
            <a:off x="548640" y="5252817"/>
            <a:ext cx="6464808" cy="228600"/>
          </a:xfrm>
          <a:prstGeom prst="rect">
            <a:avLst/>
          </a:prstGeom>
          <a:noFill/>
          <a:ln/>
        </p:spPr>
        <p:txBody>
          <a:bodyPr wrap="square" lIns="0" tIns="0" rIns="0" bIns="0" rtlCol="0" anchor="t"/>
          <a:lstStyle/>
          <a:p>
            <a:pPr indent="0" marL="0">
              <a:buNone/>
            </a:pPr>
            <a:r>
              <a:rPr lang="en-US" sz="850" i="1" dirty="0">
                <a:solidFill>
                  <a:schemeClr val="tx2"/>
                </a:solidFill>
              </a:rPr>
              <a:t>Mount Aurora Geothermal Spa Resort – Level Plans. The glass lift links all four levels.</a:t>
            </a:r>
            <a:endParaRPr lang="en-US" sz="850" dirty="0"/>
          </a:p>
        </p:txBody>
      </p:sp>
      <p:sp>
        <p:nvSpPr>
          <p:cNvPr id="7" name="card-379"/>
          <p:cNvSpPr/>
          <p:nvPr/>
        </p:nvSpPr>
        <p:spPr>
          <a:xfrm>
            <a:off x="548640" y="5572857"/>
            <a:ext cx="3140964" cy="1371600"/>
          </a:xfrm>
          <a:prstGeom prst="roundRect">
            <a:avLst>
              <a:gd name="adj" fmla="val 5333"/>
            </a:avLst>
          </a:prstGeom>
          <a:solidFill>
            <a:schemeClr val="bg2"/>
          </a:solidFill>
          <a:ln w="12700">
            <a:solidFill>
              <a:schemeClr val="bg2"/>
            </a:solidFill>
            <a:prstDash val="solid"/>
          </a:ln>
        </p:spPr>
      </p:sp>
      <p:sp>
        <p:nvSpPr>
          <p:cNvPr id="8" name="text-380"/>
          <p:cNvSpPr txBox="1"/>
          <p:nvPr/>
        </p:nvSpPr>
        <p:spPr>
          <a:xfrm>
            <a:off x="685800" y="5682585"/>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1 · 0 M</a:t>
            </a:r>
            <a:endParaRPr lang="en-US" sz="850" dirty="0"/>
          </a:p>
        </p:txBody>
      </p:sp>
      <p:sp>
        <p:nvSpPr>
          <p:cNvPr id="9" name="text-381"/>
          <p:cNvSpPr txBox="1"/>
          <p:nvPr/>
        </p:nvSpPr>
        <p:spPr>
          <a:xfrm>
            <a:off x="685800" y="5902041"/>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Welcome Hall, Mineral Lake Grotto &amp; Onsen Garden</a:t>
            </a:r>
            <a:endParaRPr lang="en-US" sz="1050" dirty="0"/>
          </a:p>
          <a:p>
            <a:pPr indent="0" marL="0">
              <a:lnSpc>
                <a:spcPct val="105000"/>
              </a:lnSpc>
              <a:buNone/>
            </a:pPr>
            <a:r>
              <a:rPr lang="en-US" sz="950" dirty="0">
                <a:solidFill>
                  <a:schemeClr val="tx2"/>
                </a:solidFill>
              </a:rPr>
              <a:t>A 40 °C silica-rich spring rises into a 7 × 13 m Mineral Lake; hot, warm and glacier-cold pools boost circulation.</a:t>
            </a:r>
            <a:endParaRPr lang="en-US" sz="1050" dirty="0"/>
          </a:p>
        </p:txBody>
      </p:sp>
      <p:sp>
        <p:nvSpPr>
          <p:cNvPr id="10" name="card-382"/>
          <p:cNvSpPr/>
          <p:nvPr/>
        </p:nvSpPr>
        <p:spPr>
          <a:xfrm>
            <a:off x="3872484" y="5572857"/>
            <a:ext cx="3140964" cy="1371600"/>
          </a:xfrm>
          <a:prstGeom prst="roundRect">
            <a:avLst>
              <a:gd name="adj" fmla="val 5333"/>
            </a:avLst>
          </a:prstGeom>
          <a:solidFill>
            <a:schemeClr val="bg2"/>
          </a:solidFill>
          <a:ln w="12700">
            <a:solidFill>
              <a:schemeClr val="bg2"/>
            </a:solidFill>
            <a:prstDash val="solid"/>
          </a:ln>
        </p:spPr>
      </p:sp>
      <p:sp>
        <p:nvSpPr>
          <p:cNvPr id="11" name="text-383"/>
          <p:cNvSpPr txBox="1"/>
          <p:nvPr/>
        </p:nvSpPr>
        <p:spPr>
          <a:xfrm>
            <a:off x="4009644" y="5682585"/>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2 · 4.5 M</a:t>
            </a:r>
            <a:endParaRPr lang="en-US" sz="850" dirty="0"/>
          </a:p>
        </p:txBody>
      </p:sp>
      <p:sp>
        <p:nvSpPr>
          <p:cNvPr id="12" name="text-384"/>
          <p:cNvSpPr txBox="1"/>
          <p:nvPr/>
        </p:nvSpPr>
        <p:spPr>
          <a:xfrm>
            <a:off x="4009644" y="5902041"/>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Volcanic Mud Terraces</a:t>
            </a:r>
            <a:endParaRPr lang="en-US" sz="1050" dirty="0"/>
          </a:p>
          <a:p>
            <a:pPr indent="0" marL="0">
              <a:lnSpc>
                <a:spcPct val="105000"/>
              </a:lnSpc>
              <a:buNone/>
            </a:pPr>
            <a:r>
              <a:rPr lang="en-US" sz="950" dirty="0">
                <a:solidFill>
                  <a:schemeClr val="tx2"/>
                </a:solidFill>
              </a:rPr>
              <a:t>An 8 × 10 m mud field held at 39 °C. The mud is filtered and UV-sterilised every night and reused for months.</a:t>
            </a:r>
            <a:endParaRPr lang="en-US" sz="1050" dirty="0"/>
          </a:p>
        </p:txBody>
      </p:sp>
      <p:sp>
        <p:nvSpPr>
          <p:cNvPr id="13" name="card-385"/>
          <p:cNvSpPr/>
          <p:nvPr/>
        </p:nvSpPr>
        <p:spPr>
          <a:xfrm>
            <a:off x="548640" y="7054185"/>
            <a:ext cx="3140964" cy="1371600"/>
          </a:xfrm>
          <a:prstGeom prst="roundRect">
            <a:avLst>
              <a:gd name="adj" fmla="val 5333"/>
            </a:avLst>
          </a:prstGeom>
          <a:solidFill>
            <a:schemeClr val="bg2"/>
          </a:solidFill>
          <a:ln w="12700">
            <a:solidFill>
              <a:schemeClr val="bg2"/>
            </a:solidFill>
            <a:prstDash val="solid"/>
          </a:ln>
        </p:spPr>
      </p:sp>
      <p:sp>
        <p:nvSpPr>
          <p:cNvPr id="14" name="text-386"/>
          <p:cNvSpPr txBox="1"/>
          <p:nvPr/>
        </p:nvSpPr>
        <p:spPr>
          <a:xfrm>
            <a:off x="685800" y="7163913"/>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3 · 9 M</a:t>
            </a:r>
            <a:endParaRPr lang="en-US" sz="850" dirty="0"/>
          </a:p>
        </p:txBody>
      </p:sp>
      <p:sp>
        <p:nvSpPr>
          <p:cNvPr id="15" name="text-387"/>
          <p:cNvSpPr txBox="1"/>
          <p:nvPr/>
        </p:nvSpPr>
        <p:spPr>
          <a:xfrm>
            <a:off x="685800" y="7383369"/>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Treatment Suites &amp; Himalayan Salt Sauna</a:t>
            </a:r>
            <a:endParaRPr lang="en-US" sz="1050" dirty="0"/>
          </a:p>
          <a:p>
            <a:pPr indent="0" marL="0">
              <a:lnSpc>
                <a:spcPct val="105000"/>
              </a:lnSpc>
              <a:buNone/>
            </a:pPr>
            <a:r>
              <a:rPr lang="en-US" sz="950" dirty="0">
                <a:solidFill>
                  <a:schemeClr val="tx2"/>
                </a:solidFill>
              </a:rPr>
              <a:t>Hot-stone massage, arctic kelp wraps and a 75 °C pink salt sauna heated by the geothermal loop.</a:t>
            </a:r>
            <a:endParaRPr lang="en-US" sz="1050" dirty="0"/>
          </a:p>
        </p:txBody>
      </p:sp>
      <p:sp>
        <p:nvSpPr>
          <p:cNvPr id="16" name="card-388"/>
          <p:cNvSpPr/>
          <p:nvPr/>
        </p:nvSpPr>
        <p:spPr>
          <a:xfrm>
            <a:off x="3872484" y="7054185"/>
            <a:ext cx="3140964" cy="1371600"/>
          </a:xfrm>
          <a:prstGeom prst="roundRect">
            <a:avLst>
              <a:gd name="adj" fmla="val 5333"/>
            </a:avLst>
          </a:prstGeom>
          <a:solidFill>
            <a:schemeClr val="bg2"/>
          </a:solidFill>
          <a:ln w="12700">
            <a:solidFill>
              <a:schemeClr val="bg2"/>
            </a:solidFill>
            <a:prstDash val="solid"/>
          </a:ln>
        </p:spPr>
      </p:sp>
      <p:sp>
        <p:nvSpPr>
          <p:cNvPr id="17" name="text-389"/>
          <p:cNvSpPr txBox="1"/>
          <p:nvPr/>
        </p:nvSpPr>
        <p:spPr>
          <a:xfrm>
            <a:off x="4009644" y="7163913"/>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4 · 13.5 M</a:t>
            </a:r>
            <a:endParaRPr lang="en-US" sz="850" dirty="0"/>
          </a:p>
        </p:txBody>
      </p:sp>
      <p:sp>
        <p:nvSpPr>
          <p:cNvPr id="18" name="text-390"/>
          <p:cNvSpPr txBox="1"/>
          <p:nvPr/>
        </p:nvSpPr>
        <p:spPr>
          <a:xfrm>
            <a:off x="4009644" y="7383369"/>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Summit Sanctuary &amp; Aurora Eye</a:t>
            </a:r>
            <a:endParaRPr lang="en-US" sz="1050" dirty="0"/>
          </a:p>
          <a:p>
            <a:pPr indent="0" marL="0">
              <a:lnSpc>
                <a:spcPct val="105000"/>
              </a:lnSpc>
              <a:buNone/>
            </a:pPr>
            <a:r>
              <a:rPr lang="en-US" sz="950" dirty="0">
                <a:solidFill>
                  <a:schemeClr val="tx2"/>
                </a:solidFill>
              </a:rPr>
              <a:t>A 35 °C float pool, a meditation circle and a heated glass bubble for watching the northern lights.</a:t>
            </a:r>
            <a:endParaRPr lang="en-US" sz="1050" dirty="0"/>
          </a:p>
        </p:txBody>
      </p:sp>
      <p:sp>
        <p:nvSpPr>
          <p:cNvPr id="19" name="text-391"/>
          <p:cNvSpPr txBox="1"/>
          <p:nvPr/>
        </p:nvSpPr>
        <p:spPr>
          <a:xfrm>
            <a:off x="548640"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28 °C</a:t>
            </a:r>
            <a:endParaRPr lang="en-US" sz="2000" dirty="0"/>
          </a:p>
        </p:txBody>
      </p:sp>
      <p:sp>
        <p:nvSpPr>
          <p:cNvPr id="20" name="text-392"/>
          <p:cNvSpPr txBox="1"/>
          <p:nvPr/>
        </p:nvSpPr>
        <p:spPr>
          <a:xfrm>
            <a:off x="548640"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inside the spa</a:t>
            </a:r>
            <a:endParaRPr lang="en-US" sz="850" dirty="0"/>
          </a:p>
        </p:txBody>
      </p:sp>
      <p:sp>
        <p:nvSpPr>
          <p:cNvPr id="21" name="text-393"/>
          <p:cNvSpPr txBox="1"/>
          <p:nvPr/>
        </p:nvSpPr>
        <p:spPr>
          <a:xfrm>
            <a:off x="1626108"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40 °C</a:t>
            </a:r>
            <a:endParaRPr lang="en-US" sz="2000" dirty="0"/>
          </a:p>
        </p:txBody>
      </p:sp>
      <p:sp>
        <p:nvSpPr>
          <p:cNvPr id="22" name="text-394"/>
          <p:cNvSpPr txBox="1"/>
          <p:nvPr/>
        </p:nvSpPr>
        <p:spPr>
          <a:xfrm>
            <a:off x="1626108"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Mineral Lake spring</a:t>
            </a:r>
            <a:endParaRPr lang="en-US" sz="850" dirty="0"/>
          </a:p>
        </p:txBody>
      </p:sp>
      <p:sp>
        <p:nvSpPr>
          <p:cNvPr id="23" name="text-395"/>
          <p:cNvSpPr txBox="1"/>
          <p:nvPr/>
        </p:nvSpPr>
        <p:spPr>
          <a:xfrm>
            <a:off x="2703576"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39 °C</a:t>
            </a:r>
            <a:endParaRPr lang="en-US" sz="2000" dirty="0"/>
          </a:p>
        </p:txBody>
      </p:sp>
      <p:sp>
        <p:nvSpPr>
          <p:cNvPr id="24" name="text-396"/>
          <p:cNvSpPr txBox="1"/>
          <p:nvPr/>
        </p:nvSpPr>
        <p:spPr>
          <a:xfrm>
            <a:off x="2703576"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volcanic mud</a:t>
            </a:r>
            <a:endParaRPr lang="en-US" sz="850" dirty="0"/>
          </a:p>
        </p:txBody>
      </p:sp>
      <p:sp>
        <p:nvSpPr>
          <p:cNvPr id="25" name="text-397"/>
          <p:cNvSpPr txBox="1"/>
          <p:nvPr/>
        </p:nvSpPr>
        <p:spPr>
          <a:xfrm>
            <a:off x="3781044"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75 °C</a:t>
            </a:r>
            <a:endParaRPr lang="en-US" sz="2000" dirty="0"/>
          </a:p>
        </p:txBody>
      </p:sp>
      <p:sp>
        <p:nvSpPr>
          <p:cNvPr id="26" name="text-398"/>
          <p:cNvSpPr txBox="1"/>
          <p:nvPr/>
        </p:nvSpPr>
        <p:spPr>
          <a:xfrm>
            <a:off x="3781044"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salt sauna</a:t>
            </a:r>
            <a:endParaRPr lang="en-US" sz="850" dirty="0"/>
          </a:p>
        </p:txBody>
      </p:sp>
      <p:sp>
        <p:nvSpPr>
          <p:cNvPr id="27" name="text-399"/>
          <p:cNvSpPr txBox="1"/>
          <p:nvPr/>
        </p:nvSpPr>
        <p:spPr>
          <a:xfrm>
            <a:off x="4858512"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35 °C</a:t>
            </a:r>
            <a:endParaRPr lang="en-US" sz="2000" dirty="0"/>
          </a:p>
        </p:txBody>
      </p:sp>
      <p:sp>
        <p:nvSpPr>
          <p:cNvPr id="28" name="text-400"/>
          <p:cNvSpPr txBox="1"/>
          <p:nvPr/>
        </p:nvSpPr>
        <p:spPr>
          <a:xfrm>
            <a:off x="4858512"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float pool</a:t>
            </a:r>
            <a:endParaRPr lang="en-US" sz="850" dirty="0"/>
          </a:p>
        </p:txBody>
      </p:sp>
      <p:sp>
        <p:nvSpPr>
          <p:cNvPr id="29" name="text-401"/>
          <p:cNvSpPr txBox="1"/>
          <p:nvPr/>
        </p:nvSpPr>
        <p:spPr>
          <a:xfrm>
            <a:off x="5935980"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38 °C</a:t>
            </a:r>
            <a:endParaRPr lang="en-US" sz="2000" dirty="0"/>
          </a:p>
        </p:txBody>
      </p:sp>
      <p:sp>
        <p:nvSpPr>
          <p:cNvPr id="30" name="text-402"/>
          <p:cNvSpPr txBox="1"/>
          <p:nvPr/>
        </p:nvSpPr>
        <p:spPr>
          <a:xfrm>
            <a:off x="5935980"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Aurora Lagoon</a:t>
            </a:r>
            <a:endParaRPr lang="en-US" sz="850" dirty="0"/>
          </a:p>
        </p:txBody>
      </p:sp>
      <p:sp>
        <p:nvSpPr>
          <p:cNvPr id="31" name="text-403"/>
          <p:cNvSpPr txBox="1"/>
          <p:nvPr/>
        </p:nvSpPr>
        <p:spPr>
          <a:xfrm>
            <a:off x="548640" y="9550497"/>
            <a:ext cx="6464808" cy="502920"/>
          </a:xfrm>
          <a:prstGeom prst="rect">
            <a:avLst/>
          </a:prstGeom>
          <a:noFill/>
          <a:ln/>
        </p:spPr>
        <p:txBody>
          <a:bodyPr wrap="square" lIns="0" tIns="0" rIns="0" bIns="0" rtlCol="0" anchor="t"/>
          <a:lstStyle/>
          <a:p>
            <a:pPr indent="0" marL="0">
              <a:buNone/>
            </a:pPr>
            <a:r>
              <a:rPr lang="en-US" sz="900" i="1" dirty="0">
                <a:solidFill>
                  <a:schemeClr val="tx2"/>
                </a:solidFill>
              </a:rPr>
              <a:t>Route through the spa: North Portal → grotto → Welcome Hall → changing suites → Mineral Lake &amp; Onsen Garden → glass lift → mud terraces → treatments &amp; salt sauna → Summit Sanctuary and the Aurora Eye.</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kicker-dot-404"/>
          <p:cNvSpPr/>
          <p:nvPr/>
        </p:nvSpPr>
        <p:spPr>
          <a:xfrm>
            <a:off x="548640" y="544068"/>
            <a:ext cx="100584" cy="100584"/>
          </a:xfrm>
          <a:prstGeom prst="ellipse">
            <a:avLst/>
          </a:prstGeom>
          <a:solidFill>
            <a:schemeClr val="accent1"/>
          </a:solidFill>
          <a:ln w="12700">
            <a:solidFill>
              <a:schemeClr val="accent1"/>
            </a:solidFill>
            <a:prstDash val="solid"/>
          </a:ln>
        </p:spPr>
      </p:sp>
      <p:sp>
        <p:nvSpPr>
          <p:cNvPr id="3" name="text-40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THE BIG IDEA</a:t>
            </a:r>
            <a:endParaRPr lang="en-US" sz="900" dirty="0"/>
          </a:p>
        </p:txBody>
      </p:sp>
      <p:sp>
        <p:nvSpPr>
          <p:cNvPr id="4" name="title-40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bg1"/>
                </a:solidFill>
                <a:latin typeface="+mj-lt" pitchFamily="34" charset="0"/>
                <a:ea typeface="+mj-lt" pitchFamily="34" charset="-122"/>
                <a:cs typeface="+mj-lt" pitchFamily="34" charset="-120"/>
              </a:rPr>
              <a:t>Three Districts, One Loop</a:t>
            </a:r>
            <a:endParaRPr lang="en-US" sz="3400" dirty="0"/>
          </a:p>
        </p:txBody>
      </p:sp>
      <p:sp>
        <p:nvSpPr>
          <p:cNvPr id="5" name="text-408"/>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The three signature districts do not work alone. Heat, water, oxygen and waste go round from one to the next instead of being thrown away.</a:t>
            </a:r>
            <a:endParaRPr lang="en-US" sz="1400" dirty="0"/>
          </a:p>
        </p:txBody>
      </p:sp>
      <p:sp>
        <p:nvSpPr>
          <p:cNvPr id="6" name="loop-node-409"/>
          <p:cNvSpPr/>
          <p:nvPr/>
        </p:nvSpPr>
        <p:spPr>
          <a:xfrm>
            <a:off x="640080" y="2514600"/>
            <a:ext cx="1920240" cy="1920240"/>
          </a:xfrm>
          <a:prstGeom prst="ellipse">
            <a:avLst/>
          </a:prstGeom>
          <a:solidFill>
            <a:schemeClr val="accent3"/>
          </a:solidFill>
          <a:ln w="25400">
            <a:solidFill>
              <a:schemeClr val="bg1"/>
            </a:solidFill>
            <a:prstDash val="solid"/>
          </a:ln>
        </p:spPr>
      </p:sp>
      <p:sp>
        <p:nvSpPr>
          <p:cNvPr id="7" name="text-410"/>
          <p:cNvSpPr txBox="1"/>
          <p:nvPr/>
        </p:nvSpPr>
        <p:spPr>
          <a:xfrm>
            <a:off x="777240"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Fusion Power Station</a:t>
            </a:r>
            <a:endParaRPr lang="en-US" sz="1500" dirty="0"/>
          </a:p>
        </p:txBody>
      </p:sp>
      <p:sp>
        <p:nvSpPr>
          <p:cNvPr id="8" name="text-411"/>
          <p:cNvSpPr txBox="1"/>
          <p:nvPr/>
        </p:nvSpPr>
        <p:spPr>
          <a:xfrm>
            <a:off x="777240"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heat · power · waste converter</a:t>
            </a:r>
            <a:endParaRPr lang="en-US" sz="900" dirty="0"/>
          </a:p>
        </p:txBody>
      </p:sp>
      <p:sp>
        <p:nvSpPr>
          <p:cNvPr id="9" name="loop-node-412"/>
          <p:cNvSpPr/>
          <p:nvPr/>
        </p:nvSpPr>
        <p:spPr>
          <a:xfrm>
            <a:off x="5001768" y="2514600"/>
            <a:ext cx="1920240" cy="1920240"/>
          </a:xfrm>
          <a:prstGeom prst="ellipse">
            <a:avLst/>
          </a:prstGeom>
          <a:solidFill>
            <a:schemeClr val="accent4"/>
          </a:solidFill>
          <a:ln w="25400">
            <a:solidFill>
              <a:schemeClr val="bg1"/>
            </a:solidFill>
            <a:prstDash val="solid"/>
          </a:ln>
        </p:spPr>
      </p:sp>
      <p:sp>
        <p:nvSpPr>
          <p:cNvPr id="10" name="text-413"/>
          <p:cNvSpPr txBox="1"/>
          <p:nvPr/>
        </p:nvSpPr>
        <p:spPr>
          <a:xfrm>
            <a:off x="5138928"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Snow-to-Food Plant</a:t>
            </a:r>
            <a:endParaRPr lang="en-US" sz="1500" dirty="0"/>
          </a:p>
        </p:txBody>
      </p:sp>
      <p:sp>
        <p:nvSpPr>
          <p:cNvPr id="11" name="text-414"/>
          <p:cNvSpPr txBox="1"/>
          <p:nvPr/>
        </p:nvSpPr>
        <p:spPr>
          <a:xfrm>
            <a:off x="5138928"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water · food · oxygen</a:t>
            </a:r>
            <a:endParaRPr lang="en-US" sz="900" dirty="0"/>
          </a:p>
        </p:txBody>
      </p:sp>
      <p:sp>
        <p:nvSpPr>
          <p:cNvPr id="12" name="loop-node-415"/>
          <p:cNvSpPr/>
          <p:nvPr/>
        </p:nvSpPr>
        <p:spPr>
          <a:xfrm>
            <a:off x="5161788" y="5623560"/>
            <a:ext cx="1600200" cy="1600200"/>
          </a:xfrm>
          <a:prstGeom prst="ellipse">
            <a:avLst/>
          </a:prstGeom>
          <a:solidFill>
            <a:schemeClr val="accent5"/>
          </a:solidFill>
          <a:ln w="25400">
            <a:solidFill>
              <a:schemeClr val="bg1"/>
            </a:solidFill>
            <a:prstDash val="solid"/>
          </a:ln>
        </p:spPr>
      </p:sp>
      <p:sp>
        <p:nvSpPr>
          <p:cNvPr id="13" name="text-416"/>
          <p:cNvSpPr txBox="1"/>
          <p:nvPr/>
        </p:nvSpPr>
        <p:spPr>
          <a:xfrm>
            <a:off x="5298948" y="6039612"/>
            <a:ext cx="132588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Mount Aurora Spa</a:t>
            </a:r>
            <a:endParaRPr lang="en-US" sz="1500" dirty="0"/>
          </a:p>
        </p:txBody>
      </p:sp>
      <p:sp>
        <p:nvSpPr>
          <p:cNvPr id="14" name="text-417"/>
          <p:cNvSpPr txBox="1"/>
          <p:nvPr/>
        </p:nvSpPr>
        <p:spPr>
          <a:xfrm>
            <a:off x="5298948" y="6515100"/>
            <a:ext cx="1325880" cy="411480"/>
          </a:xfrm>
          <a:prstGeom prst="rect">
            <a:avLst/>
          </a:prstGeom>
          <a:noFill/>
          <a:ln/>
        </p:spPr>
        <p:txBody>
          <a:bodyPr wrap="square" lIns="0" tIns="0" rIns="0" bIns="0" rtlCol="0" anchor="t"/>
          <a:lstStyle/>
          <a:p>
            <a:pPr algn="ctr" indent="0" marL="0">
              <a:buNone/>
            </a:pPr>
            <a:r>
              <a:rPr lang="en-US" sz="900" dirty="0">
                <a:solidFill>
                  <a:schemeClr val="bg1"/>
                </a:solidFill>
              </a:rPr>
              <a:t>geothermal wellbeing</a:t>
            </a:r>
            <a:endParaRPr lang="en-US" sz="900" dirty="0"/>
          </a:p>
        </p:txBody>
      </p:sp>
      <p:sp>
        <p:nvSpPr>
          <p:cNvPr id="15" name="loop-node-city"/>
          <p:cNvSpPr/>
          <p:nvPr/>
        </p:nvSpPr>
        <p:spPr>
          <a:xfrm>
            <a:off x="640080" y="5760720"/>
            <a:ext cx="1920240" cy="1325880"/>
          </a:xfrm>
          <a:prstGeom prst="roundRect">
            <a:avLst>
              <a:gd name="adj" fmla="val 6897"/>
            </a:avLst>
          </a:prstGeom>
          <a:solidFill>
            <a:schemeClr val="tx1"/>
          </a:solidFill>
          <a:ln w="25400">
            <a:solidFill>
              <a:schemeClr val="bg1"/>
            </a:solidFill>
            <a:prstDash val="solid"/>
          </a:ln>
        </p:spPr>
      </p:sp>
      <p:sp>
        <p:nvSpPr>
          <p:cNvPr id="16" name="text-418"/>
          <p:cNvSpPr txBox="1"/>
          <p:nvPr/>
        </p:nvSpPr>
        <p:spPr>
          <a:xfrm>
            <a:off x="731520" y="5961888"/>
            <a:ext cx="1737360" cy="365760"/>
          </a:xfrm>
          <a:prstGeom prst="rect">
            <a:avLst/>
          </a:prstGeom>
          <a:noFill/>
          <a:ln/>
        </p:spPr>
        <p:txBody>
          <a:bodyPr wrap="square" lIns="0" tIns="0" rIns="0" bIns="0" rtlCol="0" anchor="t"/>
          <a:lstStyle/>
          <a:p>
            <a:pPr algn="ctr" indent="0" marL="0">
              <a:buNone/>
            </a:pPr>
            <a:r>
              <a:rPr lang="en-US" sz="1500" b="1" dirty="0">
                <a:solidFill>
                  <a:schemeClr val="bg1"/>
                </a:solidFill>
                <a:latin typeface="+mj-lt" pitchFamily="34" charset="0"/>
                <a:ea typeface="+mj-lt" pitchFamily="34" charset="-122"/>
                <a:cs typeface="+mj-lt" pitchFamily="34" charset="-120"/>
              </a:rPr>
              <a:t>The City</a:t>
            </a:r>
            <a:endParaRPr lang="en-US" sz="1500" dirty="0"/>
          </a:p>
        </p:txBody>
      </p:sp>
      <p:sp>
        <p:nvSpPr>
          <p:cNvPr id="17" name="text-419"/>
          <p:cNvSpPr txBox="1"/>
          <p:nvPr/>
        </p:nvSpPr>
        <p:spPr>
          <a:xfrm>
            <a:off x="777240" y="6382512"/>
            <a:ext cx="1645920" cy="548640"/>
          </a:xfrm>
          <a:prstGeom prst="rect">
            <a:avLst/>
          </a:prstGeom>
          <a:noFill/>
          <a:ln/>
        </p:spPr>
        <p:txBody>
          <a:bodyPr wrap="square" lIns="0" tIns="0" rIns="0" bIns="0" rtlCol="0" anchor="t"/>
          <a:lstStyle/>
          <a:p>
            <a:pPr algn="ctr" indent="0" marL="0">
              <a:buNone/>
            </a:pPr>
            <a:r>
              <a:rPr lang="en-US" sz="900" dirty="0">
                <a:solidFill>
                  <a:schemeClr val="bg2"/>
                </a:solidFill>
              </a:rPr>
              <a:t>45,000 people, every building and the hospital</a:t>
            </a:r>
            <a:endParaRPr lang="en-US" sz="900" dirty="0"/>
          </a:p>
        </p:txBody>
      </p:sp>
      <p:sp>
        <p:nvSpPr>
          <p:cNvPr id="18" name="arrow-420"/>
          <p:cNvSpPr/>
          <p:nvPr/>
        </p:nvSpPr>
        <p:spPr>
          <a:xfrm>
            <a:off x="2633472" y="3063240"/>
            <a:ext cx="2295144" cy="914"/>
          </a:xfrm>
          <a:prstGeom prst="line">
            <a:avLst/>
          </a:prstGeom>
          <a:noFill/>
          <a:ln w="28575">
            <a:solidFill>
              <a:schemeClr val="accent2"/>
            </a:solidFill>
            <a:prstDash val="solid"/>
            <a:tailEnd type="triangle"/>
          </a:ln>
        </p:spPr>
      </p:sp>
      <p:sp>
        <p:nvSpPr>
          <p:cNvPr id="19" name="text-421"/>
          <p:cNvSpPr txBox="1"/>
          <p:nvPr/>
        </p:nvSpPr>
        <p:spPr>
          <a:xfrm>
            <a:off x="2633472" y="2834640"/>
            <a:ext cx="2295144" cy="182880"/>
          </a:xfrm>
          <a:prstGeom prst="rect">
            <a:avLst/>
          </a:prstGeom>
          <a:noFill/>
          <a:ln/>
        </p:spPr>
        <p:txBody>
          <a:bodyPr wrap="square" lIns="0" tIns="0" rIns="0" bIns="0" rtlCol="0" anchor="t"/>
          <a:lstStyle/>
          <a:p>
            <a:pPr algn="ctr" indent="0" marL="0">
              <a:buNone/>
            </a:pPr>
            <a:r>
              <a:rPr lang="en-US" sz="850" b="1" dirty="0">
                <a:solidFill>
                  <a:schemeClr val="accent2"/>
                </a:solidFill>
              </a:rPr>
              <a:t>Spare heat melts the snow</a:t>
            </a:r>
            <a:endParaRPr lang="en-US" sz="850" dirty="0"/>
          </a:p>
        </p:txBody>
      </p:sp>
      <p:sp>
        <p:nvSpPr>
          <p:cNvPr id="20" name="arrow-422"/>
          <p:cNvSpPr/>
          <p:nvPr/>
        </p:nvSpPr>
        <p:spPr>
          <a:xfrm>
            <a:off x="2633472" y="3410712"/>
            <a:ext cx="2295144" cy="914"/>
          </a:xfrm>
          <a:prstGeom prst="line">
            <a:avLst/>
          </a:prstGeom>
          <a:noFill/>
          <a:ln w="28575">
            <a:solidFill>
              <a:schemeClr val="bg2"/>
            </a:solidFill>
            <a:prstDash val="solid"/>
            <a:tailEnd type="triangle"/>
          </a:ln>
        </p:spPr>
      </p:sp>
      <p:sp>
        <p:nvSpPr>
          <p:cNvPr id="21" name="text-423"/>
          <p:cNvSpPr txBox="1"/>
          <p:nvPr/>
        </p:nvSpPr>
        <p:spPr>
          <a:xfrm>
            <a:off x="2633472" y="3182112"/>
            <a:ext cx="2295144" cy="182880"/>
          </a:xfrm>
          <a:prstGeom prst="rect">
            <a:avLst/>
          </a:prstGeom>
          <a:noFill/>
          <a:ln/>
        </p:spPr>
        <p:txBody>
          <a:bodyPr wrap="square" lIns="0" tIns="0" rIns="0" bIns="0" rtlCol="0" anchor="t"/>
          <a:lstStyle/>
          <a:p>
            <a:pPr algn="ctr" indent="0" marL="0">
              <a:buNone/>
            </a:pPr>
            <a:r>
              <a:rPr lang="en-US" sz="850" b="1" dirty="0">
                <a:solidFill>
                  <a:schemeClr val="bg2"/>
                </a:solidFill>
              </a:rPr>
              <a:t>Hydrogen &amp; CO₂ made from rubbish</a:t>
            </a:r>
            <a:endParaRPr lang="en-US" sz="850" dirty="0"/>
          </a:p>
        </p:txBody>
      </p:sp>
      <p:sp>
        <p:nvSpPr>
          <p:cNvPr id="22" name="arrow-424"/>
          <p:cNvSpPr/>
          <p:nvPr/>
        </p:nvSpPr>
        <p:spPr>
          <a:xfrm flipH="1">
            <a:off x="2633472" y="3758184"/>
            <a:ext cx="2295144" cy="914"/>
          </a:xfrm>
          <a:prstGeom prst="line">
            <a:avLst/>
          </a:prstGeom>
          <a:noFill/>
          <a:ln w="28575">
            <a:solidFill>
              <a:schemeClr val="accent6"/>
            </a:solidFill>
            <a:prstDash val="solid"/>
            <a:tailEnd type="triangle"/>
          </a:ln>
        </p:spPr>
      </p:sp>
      <p:sp>
        <p:nvSpPr>
          <p:cNvPr id="23" name="text-425"/>
          <p:cNvSpPr txBox="1"/>
          <p:nvPr/>
        </p:nvSpPr>
        <p:spPr>
          <a:xfrm>
            <a:off x="2633472" y="3529584"/>
            <a:ext cx="2295144" cy="182880"/>
          </a:xfrm>
          <a:prstGeom prst="rect">
            <a:avLst/>
          </a:prstGeom>
          <a:noFill/>
          <a:ln/>
        </p:spPr>
        <p:txBody>
          <a:bodyPr wrap="square" lIns="0" tIns="0" rIns="0" bIns="0" rtlCol="0" anchor="t"/>
          <a:lstStyle/>
          <a:p>
            <a:pPr algn="ctr" indent="0" marL="0">
              <a:buNone/>
            </a:pPr>
            <a:r>
              <a:rPr lang="en-US" sz="850" b="1" dirty="0">
                <a:solidFill>
                  <a:schemeClr val="accent6"/>
                </a:solidFill>
              </a:rPr>
              <a:t>Deuterium-rich water returns as fuel</a:t>
            </a:r>
            <a:endParaRPr lang="en-US" sz="850" dirty="0"/>
          </a:p>
        </p:txBody>
      </p:sp>
      <p:sp>
        <p:nvSpPr>
          <p:cNvPr id="24" name="arrow-426"/>
          <p:cNvSpPr/>
          <p:nvPr/>
        </p:nvSpPr>
        <p:spPr>
          <a:xfrm flipH="1">
            <a:off x="2633472" y="4105656"/>
            <a:ext cx="2295144" cy="914"/>
          </a:xfrm>
          <a:prstGeom prst="line">
            <a:avLst/>
          </a:prstGeom>
          <a:noFill/>
          <a:ln w="28575">
            <a:solidFill>
              <a:schemeClr val="accent1"/>
            </a:solidFill>
            <a:prstDash val="solid"/>
            <a:tailEnd type="triangle"/>
          </a:ln>
        </p:spPr>
      </p:sp>
      <p:sp>
        <p:nvSpPr>
          <p:cNvPr id="25" name="text-427"/>
          <p:cNvSpPr txBox="1"/>
          <p:nvPr/>
        </p:nvSpPr>
        <p:spPr>
          <a:xfrm>
            <a:off x="2633472" y="3877056"/>
            <a:ext cx="2295144" cy="182880"/>
          </a:xfrm>
          <a:prstGeom prst="rect">
            <a:avLst/>
          </a:prstGeom>
          <a:noFill/>
          <a:ln/>
        </p:spPr>
        <p:txBody>
          <a:bodyPr wrap="square" lIns="0" tIns="0" rIns="0" bIns="0" rtlCol="0" anchor="t"/>
          <a:lstStyle/>
          <a:p>
            <a:pPr algn="ctr" indent="0" marL="0">
              <a:buNone/>
            </a:pPr>
            <a:r>
              <a:rPr lang="en-US" sz="850" b="1" dirty="0">
                <a:solidFill>
                  <a:schemeClr val="accent1"/>
                </a:solidFill>
              </a:rPr>
              <a:t>Oxygen for the waste converter</a:t>
            </a:r>
            <a:endParaRPr lang="en-US" sz="850" dirty="0"/>
          </a:p>
        </p:txBody>
      </p:sp>
      <p:sp>
        <p:nvSpPr>
          <p:cNvPr id="26" name="arrow-428"/>
          <p:cNvSpPr/>
          <p:nvPr/>
        </p:nvSpPr>
        <p:spPr>
          <a:xfrm>
            <a:off x="1325880" y="4507992"/>
            <a:ext cx="914" cy="1179576"/>
          </a:xfrm>
          <a:prstGeom prst="line">
            <a:avLst/>
          </a:prstGeom>
          <a:noFill/>
          <a:ln w="28575">
            <a:solidFill>
              <a:schemeClr val="accent2"/>
            </a:solidFill>
            <a:prstDash val="solid"/>
            <a:tailEnd type="triangle"/>
          </a:ln>
        </p:spPr>
      </p:sp>
      <p:sp>
        <p:nvSpPr>
          <p:cNvPr id="27" name="arrow-429"/>
          <p:cNvSpPr/>
          <p:nvPr/>
        </p:nvSpPr>
        <p:spPr>
          <a:xfrm flipV="1">
            <a:off x="1874520" y="4507992"/>
            <a:ext cx="914" cy="1179576"/>
          </a:xfrm>
          <a:prstGeom prst="line">
            <a:avLst/>
          </a:prstGeom>
          <a:noFill/>
          <a:ln w="28575">
            <a:solidFill>
              <a:schemeClr val="bg2"/>
            </a:solidFill>
            <a:prstDash val="solid"/>
            <a:tailEnd type="triangle"/>
          </a:ln>
        </p:spPr>
      </p:sp>
      <p:sp>
        <p:nvSpPr>
          <p:cNvPr id="28" name="text-430"/>
          <p:cNvSpPr txBox="1"/>
          <p:nvPr/>
        </p:nvSpPr>
        <p:spPr>
          <a:xfrm>
            <a:off x="2011680" y="4709160"/>
            <a:ext cx="1234440" cy="868680"/>
          </a:xfrm>
          <a:prstGeom prst="rect">
            <a:avLst/>
          </a:prstGeom>
          <a:noFill/>
          <a:ln/>
        </p:spPr>
        <p:txBody>
          <a:bodyPr wrap="square" lIns="0" tIns="0" rIns="0" bIns="0" rtlCol="0" anchor="t"/>
          <a:lstStyle/>
          <a:p>
            <a:pPr indent="0" marL="0">
              <a:spcAft>
                <a:spcPts val="600"/>
              </a:spcAft>
              <a:buNone/>
            </a:pPr>
            <a:r>
              <a:rPr lang="en-US" sz="850" b="1" dirty="0">
                <a:solidFill>
                  <a:schemeClr val="accent2"/>
                </a:solidFill>
              </a:rPr>
              <a:t>↓ Heat, power and MRI helium</a:t>
            </a:r>
            <a:endParaRPr lang="en-US" sz="850" dirty="0"/>
          </a:p>
          <a:p>
            <a:pPr indent="0" marL="0">
              <a:buNone/>
            </a:pPr>
            <a:r>
              <a:rPr lang="en-US" sz="850" b="1" dirty="0">
                <a:solidFill>
                  <a:schemeClr val="bg2"/>
                </a:solidFill>
              </a:rPr>
              <a:t>↑ Rubbish for the waste converter</a:t>
            </a:r>
            <a:endParaRPr lang="en-US" sz="850" dirty="0"/>
          </a:p>
        </p:txBody>
      </p:sp>
      <p:sp>
        <p:nvSpPr>
          <p:cNvPr id="29" name="arrow-431"/>
          <p:cNvSpPr/>
          <p:nvPr/>
        </p:nvSpPr>
        <p:spPr>
          <a:xfrm flipH="1">
            <a:off x="2633472" y="4114800"/>
            <a:ext cx="2596896" cy="2057400"/>
          </a:xfrm>
          <a:prstGeom prst="line">
            <a:avLst/>
          </a:prstGeom>
          <a:noFill/>
          <a:ln w="28575">
            <a:solidFill>
              <a:schemeClr val="accent4"/>
            </a:solidFill>
            <a:prstDash val="solid"/>
            <a:tailEnd type="triangle"/>
          </a:ln>
        </p:spPr>
      </p:sp>
      <p:sp>
        <p:nvSpPr>
          <p:cNvPr id="30" name="text-432"/>
          <p:cNvSpPr txBox="1"/>
          <p:nvPr/>
        </p:nvSpPr>
        <p:spPr>
          <a:xfrm>
            <a:off x="3977640" y="5303520"/>
            <a:ext cx="1280160" cy="411480"/>
          </a:xfrm>
          <a:prstGeom prst="rect">
            <a:avLst/>
          </a:prstGeom>
          <a:noFill/>
          <a:ln/>
        </p:spPr>
        <p:txBody>
          <a:bodyPr wrap="square" lIns="0" tIns="0" rIns="0" bIns="0" rtlCol="0" anchor="t"/>
          <a:lstStyle/>
          <a:p>
            <a:pPr indent="0" marL="0">
              <a:buNone/>
            </a:pPr>
            <a:r>
              <a:rPr lang="en-US" sz="850" b="1" dirty="0">
                <a:solidFill>
                  <a:schemeClr val="bg2"/>
                </a:solidFill>
              </a:rPr>
              <a:t>Drinking water, food and medical oxygen</a:t>
            </a:r>
            <a:endParaRPr lang="en-US" sz="850" dirty="0"/>
          </a:p>
        </p:txBody>
      </p:sp>
      <p:sp>
        <p:nvSpPr>
          <p:cNvPr id="31" name="arrow-433"/>
          <p:cNvSpPr/>
          <p:nvPr/>
        </p:nvSpPr>
        <p:spPr>
          <a:xfrm>
            <a:off x="6464808" y="4489704"/>
            <a:ext cx="914" cy="1078992"/>
          </a:xfrm>
          <a:prstGeom prst="line">
            <a:avLst/>
          </a:prstGeom>
          <a:noFill/>
          <a:ln w="28575">
            <a:solidFill>
              <a:schemeClr val="accent4"/>
            </a:solidFill>
            <a:prstDash val="solid"/>
            <a:tailEnd type="triangle"/>
          </a:ln>
        </p:spPr>
      </p:sp>
      <p:sp>
        <p:nvSpPr>
          <p:cNvPr id="32" name="text-434"/>
          <p:cNvSpPr txBox="1"/>
          <p:nvPr/>
        </p:nvSpPr>
        <p:spPr>
          <a:xfrm>
            <a:off x="6583680" y="4754880"/>
            <a:ext cx="429768" cy="411480"/>
          </a:xfrm>
          <a:prstGeom prst="rect">
            <a:avLst/>
          </a:prstGeom>
          <a:noFill/>
          <a:ln/>
        </p:spPr>
        <p:txBody>
          <a:bodyPr wrap="square" lIns="0" tIns="0" rIns="0" bIns="0" rtlCol="0" anchor="t"/>
          <a:lstStyle/>
          <a:p>
            <a:pPr indent="0" marL="0">
              <a:buNone/>
            </a:pPr>
            <a:r>
              <a:rPr lang="en-US" sz="850" b="1" dirty="0">
                <a:solidFill>
                  <a:schemeClr val="bg2"/>
                </a:solidFill>
              </a:rPr>
              <a:t>Food for the spa cafés</a:t>
            </a:r>
            <a:endParaRPr lang="en-US" sz="850" dirty="0"/>
          </a:p>
        </p:txBody>
      </p:sp>
      <p:sp>
        <p:nvSpPr>
          <p:cNvPr id="33" name="arrow-435"/>
          <p:cNvSpPr/>
          <p:nvPr/>
        </p:nvSpPr>
        <p:spPr>
          <a:xfrm flipV="1">
            <a:off x="4293108" y="6606540"/>
            <a:ext cx="813816" cy="434340"/>
          </a:xfrm>
          <a:prstGeom prst="line">
            <a:avLst/>
          </a:prstGeom>
          <a:noFill/>
          <a:ln w="28575">
            <a:solidFill>
              <a:schemeClr val="accent2"/>
            </a:solidFill>
            <a:prstDash val="solid"/>
            <a:tailEnd type="triangle"/>
          </a:ln>
        </p:spPr>
      </p:sp>
      <p:sp>
        <p:nvSpPr>
          <p:cNvPr id="34" name="text-436"/>
          <p:cNvSpPr txBox="1"/>
          <p:nvPr/>
        </p:nvSpPr>
        <p:spPr>
          <a:xfrm>
            <a:off x="3561588" y="7114032"/>
            <a:ext cx="1188720" cy="365760"/>
          </a:xfrm>
          <a:prstGeom prst="rect">
            <a:avLst/>
          </a:prstGeom>
          <a:noFill/>
          <a:ln/>
        </p:spPr>
        <p:txBody>
          <a:bodyPr wrap="square" lIns="0" tIns="0" rIns="0" bIns="0" rtlCol="0" anchor="t"/>
          <a:lstStyle/>
          <a:p>
            <a:pPr algn="r" indent="0" marL="0">
              <a:buNone/>
            </a:pPr>
            <a:r>
              <a:rPr lang="en-US" sz="850" b="1" dirty="0">
                <a:solidFill>
                  <a:schemeClr val="accent2"/>
                </a:solidFill>
              </a:rPr>
              <a:t>Geothermal springs</a:t>
            </a:r>
            <a:endParaRPr lang="en-US" sz="850" dirty="0"/>
          </a:p>
        </p:txBody>
      </p:sp>
      <p:sp>
        <p:nvSpPr>
          <p:cNvPr id="35" name="flow-dot-437"/>
          <p:cNvSpPr/>
          <p:nvPr/>
        </p:nvSpPr>
        <p:spPr>
          <a:xfrm>
            <a:off x="548640" y="7863840"/>
            <a:ext cx="128016" cy="128016"/>
          </a:xfrm>
          <a:prstGeom prst="ellipse">
            <a:avLst/>
          </a:prstGeom>
          <a:solidFill>
            <a:schemeClr val="accent2"/>
          </a:solidFill>
          <a:ln w="12700">
            <a:solidFill>
              <a:schemeClr val="accent2"/>
            </a:solidFill>
            <a:prstDash val="solid"/>
          </a:ln>
        </p:spPr>
      </p:sp>
      <p:sp>
        <p:nvSpPr>
          <p:cNvPr id="36" name="text-438"/>
          <p:cNvSpPr txBox="1"/>
          <p:nvPr/>
        </p:nvSpPr>
        <p:spPr>
          <a:xfrm>
            <a:off x="777240"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Heat</a:t>
            </a:r>
            <a:endParaRPr lang="en-US" sz="1000" dirty="0"/>
          </a:p>
        </p:txBody>
      </p:sp>
      <p:sp>
        <p:nvSpPr>
          <p:cNvPr id="37" name="text-439"/>
          <p:cNvSpPr txBox="1"/>
          <p:nvPr/>
        </p:nvSpPr>
        <p:spPr>
          <a:xfrm>
            <a:off x="777240"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Spare heat from the fusion station melts the snow at the food plant, so the snow does the job of a cooling tower.</a:t>
            </a:r>
            <a:endParaRPr lang="en-US" sz="900" dirty="0"/>
          </a:p>
        </p:txBody>
      </p:sp>
      <p:sp>
        <p:nvSpPr>
          <p:cNvPr id="38" name="flow-dot-440"/>
          <p:cNvSpPr/>
          <p:nvPr/>
        </p:nvSpPr>
        <p:spPr>
          <a:xfrm>
            <a:off x="3918204" y="7863840"/>
            <a:ext cx="128016" cy="128016"/>
          </a:xfrm>
          <a:prstGeom prst="ellipse">
            <a:avLst/>
          </a:prstGeom>
          <a:solidFill>
            <a:schemeClr val="accent6"/>
          </a:solidFill>
          <a:ln w="12700">
            <a:solidFill>
              <a:schemeClr val="accent6"/>
            </a:solidFill>
            <a:prstDash val="solid"/>
          </a:ln>
        </p:spPr>
      </p:sp>
      <p:sp>
        <p:nvSpPr>
          <p:cNvPr id="39" name="text-441"/>
          <p:cNvSpPr txBox="1"/>
          <p:nvPr/>
        </p:nvSpPr>
        <p:spPr>
          <a:xfrm>
            <a:off x="4146804"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Water</a:t>
            </a:r>
            <a:endParaRPr lang="en-US" sz="1000" dirty="0"/>
          </a:p>
        </p:txBody>
      </p:sp>
      <p:sp>
        <p:nvSpPr>
          <p:cNvPr id="40" name="text-442"/>
          <p:cNvSpPr txBox="1"/>
          <p:nvPr/>
        </p:nvSpPr>
        <p:spPr>
          <a:xfrm>
            <a:off x="4146804"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food plant’s electrolysers leave slightly deuterium-rich water, which goes back to the fusion station as fuel.</a:t>
            </a:r>
            <a:endParaRPr lang="en-US" sz="900" dirty="0"/>
          </a:p>
        </p:txBody>
      </p:sp>
      <p:sp>
        <p:nvSpPr>
          <p:cNvPr id="41" name="flow-dot-443"/>
          <p:cNvSpPr/>
          <p:nvPr/>
        </p:nvSpPr>
        <p:spPr>
          <a:xfrm>
            <a:off x="548640" y="8595360"/>
            <a:ext cx="128016" cy="128016"/>
          </a:xfrm>
          <a:prstGeom prst="ellipse">
            <a:avLst/>
          </a:prstGeom>
          <a:solidFill>
            <a:schemeClr val="accent1"/>
          </a:solidFill>
          <a:ln w="12700">
            <a:solidFill>
              <a:schemeClr val="accent1"/>
            </a:solidFill>
            <a:prstDash val="solid"/>
          </a:ln>
        </p:spPr>
      </p:sp>
      <p:sp>
        <p:nvSpPr>
          <p:cNvPr id="42" name="text-444"/>
          <p:cNvSpPr txBox="1"/>
          <p:nvPr/>
        </p:nvSpPr>
        <p:spPr>
          <a:xfrm>
            <a:off x="777240"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Oxygen</a:t>
            </a:r>
            <a:endParaRPr lang="en-US" sz="1000" dirty="0"/>
          </a:p>
        </p:txBody>
      </p:sp>
      <p:sp>
        <p:nvSpPr>
          <p:cNvPr id="43" name="text-445"/>
          <p:cNvSpPr txBox="1"/>
          <p:nvPr/>
        </p:nvSpPr>
        <p:spPr>
          <a:xfrm>
            <a:off x="777240"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same electrolysers supply oxygen to the plasma waste converter and the hospital.</a:t>
            </a:r>
            <a:endParaRPr lang="en-US" sz="900" dirty="0"/>
          </a:p>
        </p:txBody>
      </p:sp>
      <p:sp>
        <p:nvSpPr>
          <p:cNvPr id="44" name="flow-dot-446"/>
          <p:cNvSpPr/>
          <p:nvPr/>
        </p:nvSpPr>
        <p:spPr>
          <a:xfrm>
            <a:off x="3918204" y="8595360"/>
            <a:ext cx="128016" cy="128016"/>
          </a:xfrm>
          <a:prstGeom prst="ellipse">
            <a:avLst/>
          </a:prstGeom>
          <a:solidFill>
            <a:schemeClr val="bg2"/>
          </a:solidFill>
          <a:ln w="12700">
            <a:solidFill>
              <a:schemeClr val="bg2"/>
            </a:solidFill>
            <a:prstDash val="solid"/>
          </a:ln>
        </p:spPr>
      </p:sp>
      <p:sp>
        <p:nvSpPr>
          <p:cNvPr id="45" name="text-447"/>
          <p:cNvSpPr txBox="1"/>
          <p:nvPr/>
        </p:nvSpPr>
        <p:spPr>
          <a:xfrm>
            <a:off x="4146804"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Waste</a:t>
            </a:r>
            <a:endParaRPr lang="en-US" sz="1000" dirty="0"/>
          </a:p>
        </p:txBody>
      </p:sp>
      <p:sp>
        <p:nvSpPr>
          <p:cNvPr id="46" name="text-448"/>
          <p:cNvSpPr txBox="1"/>
          <p:nvPr/>
        </p:nvSpPr>
        <p:spPr>
          <a:xfrm>
            <a:off x="4146804"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converter turns rubbish into hydrogen and CO₂ for the food lines, and its slag becomes paving.</a:t>
            </a:r>
            <a:endParaRPr lang="en-US" sz="900" dirty="0"/>
          </a:p>
        </p:txBody>
      </p:sp>
      <p:sp>
        <p:nvSpPr>
          <p:cNvPr id="47" name="flow-dot-449"/>
          <p:cNvSpPr/>
          <p:nvPr/>
        </p:nvSpPr>
        <p:spPr>
          <a:xfrm>
            <a:off x="548640" y="9326880"/>
            <a:ext cx="128016" cy="128016"/>
          </a:xfrm>
          <a:prstGeom prst="ellipse">
            <a:avLst/>
          </a:prstGeom>
          <a:solidFill>
            <a:schemeClr val="accent5"/>
          </a:solidFill>
          <a:ln w="12700">
            <a:solidFill>
              <a:schemeClr val="accent5"/>
            </a:solidFill>
            <a:prstDash val="solid"/>
          </a:ln>
        </p:spPr>
      </p:sp>
      <p:sp>
        <p:nvSpPr>
          <p:cNvPr id="48" name="text-450"/>
          <p:cNvSpPr txBox="1"/>
          <p:nvPr/>
        </p:nvSpPr>
        <p:spPr>
          <a:xfrm>
            <a:off x="777240" y="928116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Wellbeing</a:t>
            </a:r>
            <a:endParaRPr lang="en-US" sz="1000" dirty="0"/>
          </a:p>
        </p:txBody>
      </p:sp>
      <p:sp>
        <p:nvSpPr>
          <p:cNvPr id="49" name="text-451"/>
          <p:cNvSpPr txBox="1"/>
          <p:nvPr/>
        </p:nvSpPr>
        <p:spPr>
          <a:xfrm>
            <a:off x="777240" y="950061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spa turns geothermal heat into rest and health, and its restaurants serve food from the plant.</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kicker-dot-452"/>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453"/>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CLEAN ENERGY, DAY AND POLAR NIGHT</a:t>
            </a:r>
            <a:endParaRPr lang="en-US" sz="900" dirty="0"/>
          </a:p>
        </p:txBody>
      </p:sp>
      <p:sp>
        <p:nvSpPr>
          <p:cNvPr id="4" name="title-454"/>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Energy for the Polar Night</a:t>
            </a:r>
            <a:endParaRPr lang="en-US" sz="3400" dirty="0"/>
          </a:p>
        </p:txBody>
      </p:sp>
      <p:pic>
        <p:nvPicPr>
          <p:cNvPr id="5" name="picture-456" descr="/home/user/chatbox-bi-n-o/magazine/assets/renders/renewable.jpg">    </p:cNvPr>
          <p:cNvPicPr>
            <a:picLocks noChangeAspect="1"/>
          </p:cNvPicPr>
          <p:nvPr/>
        </p:nvPicPr>
        <p:blipFill>
          <a:blip r:embed="rId1"/>
          <a:srcRect l="0" r="0" t="0" b="0"/>
          <a:stretch/>
        </p:blipFill>
        <p:spPr>
          <a:xfrm>
            <a:off x="0" y="1508760"/>
            <a:ext cx="7562088" cy="3429000"/>
          </a:xfrm>
          <a:prstGeom prst="rect">
            <a:avLst/>
          </a:prstGeom>
        </p:spPr>
      </p:pic>
      <p:sp>
        <p:nvSpPr>
          <p:cNvPr id="6" name="text-457"/>
          <p:cNvSpPr txBox="1"/>
          <p:nvPr/>
        </p:nvSpPr>
        <p:spPr>
          <a:xfrm>
            <a:off x="548640" y="4983480"/>
            <a:ext cx="6464808" cy="228600"/>
          </a:xfrm>
          <a:prstGeom prst="rect">
            <a:avLst/>
          </a:prstGeom>
          <a:noFill/>
          <a:ln/>
        </p:spPr>
        <p:txBody>
          <a:bodyPr wrap="square" lIns="0" tIns="0" rIns="0" bIns="0" rtlCol="0" anchor="t"/>
          <a:lstStyle/>
          <a:p>
            <a:pPr indent="0" marL="0">
              <a:buNone/>
            </a:pPr>
            <a:r>
              <a:rPr lang="en-US" sz="850" i="1" dirty="0">
                <a:solidFill>
                  <a:schemeClr val="tx2"/>
                </a:solidFill>
              </a:rPr>
              <a:t>Northern Renewable Park in the low sun: the Ice-Proof Wind Farm behind the Bifacial Solar Farm.</a:t>
            </a:r>
            <a:endParaRPr lang="en-US" sz="850" dirty="0"/>
          </a:p>
        </p:txBody>
      </p:sp>
      <p:sp>
        <p:nvSpPr>
          <p:cNvPr id="7" name="text-458"/>
          <p:cNvSpPr txBox="1"/>
          <p:nvPr/>
        </p:nvSpPr>
        <p:spPr>
          <a:xfrm>
            <a:off x="548640" y="5303520"/>
            <a:ext cx="6464808" cy="36576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The sun disappears for two months, so the city uses sources that cover for each other.</a:t>
            </a:r>
            <a:endParaRPr lang="en-US" sz="1400" dirty="0"/>
          </a:p>
        </p:txBody>
      </p:sp>
      <p:sp>
        <p:nvSpPr>
          <p:cNvPr id="8" name="card-459"/>
          <p:cNvSpPr/>
          <p:nvPr/>
        </p:nvSpPr>
        <p:spPr>
          <a:xfrm>
            <a:off x="548640" y="5852160"/>
            <a:ext cx="3140964" cy="1261872"/>
          </a:xfrm>
          <a:prstGeom prst="roundRect">
            <a:avLst>
              <a:gd name="adj" fmla="val 5797"/>
            </a:avLst>
          </a:prstGeom>
          <a:solidFill>
            <a:schemeClr val="bg2"/>
          </a:solidFill>
          <a:ln w="12700">
            <a:solidFill>
              <a:schemeClr val="bg2"/>
            </a:solidFill>
            <a:prstDash val="solid"/>
          </a:ln>
        </p:spPr>
      </p:sp>
      <p:sp>
        <p:nvSpPr>
          <p:cNvPr id="9" name="text-460"/>
          <p:cNvSpPr txBox="1"/>
          <p:nvPr/>
        </p:nvSpPr>
        <p:spPr>
          <a:xfrm>
            <a:off x="685800" y="5961888"/>
            <a:ext cx="1234440" cy="457200"/>
          </a:xfrm>
          <a:prstGeom prst="rect">
            <a:avLst/>
          </a:prstGeom>
          <a:noFill/>
          <a:ln/>
        </p:spPr>
        <p:txBody>
          <a:bodyPr wrap="square" lIns="0" tIns="0" rIns="0" bIns="0" rtlCol="0" anchor="ctr"/>
          <a:lstStyle/>
          <a:p>
            <a:pPr indent="0" marL="0">
              <a:buNone/>
            </a:pPr>
            <a:r>
              <a:rPr lang="en-US" sz="2100" b="1" dirty="0">
                <a:solidFill>
                  <a:schemeClr val="accent3"/>
                </a:solidFill>
                <a:latin typeface="+mj-lt" pitchFamily="34" charset="0"/>
                <a:ea typeface="+mj-lt" pitchFamily="34" charset="-122"/>
                <a:cs typeface="+mj-lt" pitchFamily="34" charset="-120"/>
              </a:rPr>
              <a:t>Steady</a:t>
            </a:r>
            <a:endParaRPr lang="en-US" sz="2100" dirty="0"/>
          </a:p>
        </p:txBody>
      </p:sp>
      <p:sp>
        <p:nvSpPr>
          <p:cNvPr id="10" name="text-461"/>
          <p:cNvSpPr txBox="1"/>
          <p:nvPr/>
        </p:nvSpPr>
        <p:spPr>
          <a:xfrm>
            <a:off x="1965960" y="59801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Fusion</a:t>
            </a:r>
            <a:endParaRPr lang="en-US" sz="1050" dirty="0"/>
          </a:p>
        </p:txBody>
      </p:sp>
      <p:sp>
        <p:nvSpPr>
          <p:cNvPr id="11" name="text-462"/>
          <p:cNvSpPr txBox="1"/>
          <p:nvPr/>
        </p:nvSpPr>
        <p:spPr>
          <a:xfrm>
            <a:off x="1965960" y="62179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Steady power and heat all year, even in total darkness.</a:t>
            </a:r>
            <a:endParaRPr lang="en-US" sz="950" dirty="0"/>
          </a:p>
        </p:txBody>
      </p:sp>
      <p:sp>
        <p:nvSpPr>
          <p:cNvPr id="12" name="card-463"/>
          <p:cNvSpPr/>
          <p:nvPr/>
        </p:nvSpPr>
        <p:spPr>
          <a:xfrm>
            <a:off x="3872484" y="5852160"/>
            <a:ext cx="3140964" cy="1261872"/>
          </a:xfrm>
          <a:prstGeom prst="roundRect">
            <a:avLst>
              <a:gd name="adj" fmla="val 5797"/>
            </a:avLst>
          </a:prstGeom>
          <a:solidFill>
            <a:schemeClr val="bg2"/>
          </a:solidFill>
          <a:ln w="12700">
            <a:solidFill>
              <a:schemeClr val="bg2"/>
            </a:solidFill>
            <a:prstDash val="solid"/>
          </a:ln>
        </p:spPr>
      </p:sp>
      <p:sp>
        <p:nvSpPr>
          <p:cNvPr id="13" name="text-464"/>
          <p:cNvSpPr txBox="1"/>
          <p:nvPr/>
        </p:nvSpPr>
        <p:spPr>
          <a:xfrm>
            <a:off x="4009644" y="5961888"/>
            <a:ext cx="1234440" cy="457200"/>
          </a:xfrm>
          <a:prstGeom prst="rect">
            <a:avLst/>
          </a:prstGeom>
          <a:noFill/>
          <a:ln/>
        </p:spPr>
        <p:txBody>
          <a:bodyPr wrap="square" lIns="0" tIns="0" rIns="0" bIns="0" rtlCol="0" anchor="ctr"/>
          <a:lstStyle/>
          <a:p>
            <a:pPr indent="0" marL="0">
              <a:buNone/>
            </a:pPr>
            <a:r>
              <a:rPr lang="en-US" sz="2100" b="1" dirty="0">
                <a:solidFill>
                  <a:schemeClr val="accent6"/>
                </a:solidFill>
                <a:latin typeface="+mj-lt" pitchFamily="34" charset="0"/>
                <a:ea typeface="+mj-lt" pitchFamily="34" charset="-122"/>
                <a:cs typeface="+mj-lt" pitchFamily="34" charset="-120"/>
              </a:rPr>
              <a:t>60 MW</a:t>
            </a:r>
            <a:endParaRPr lang="en-US" sz="2100" dirty="0"/>
          </a:p>
        </p:txBody>
      </p:sp>
      <p:sp>
        <p:nvSpPr>
          <p:cNvPr id="14" name="text-465"/>
          <p:cNvSpPr txBox="1"/>
          <p:nvPr/>
        </p:nvSpPr>
        <p:spPr>
          <a:xfrm>
            <a:off x="5289804" y="59801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Ice-proof wind farm</a:t>
            </a:r>
            <a:endParaRPr lang="en-US" sz="1050" dirty="0"/>
          </a:p>
        </p:txBody>
      </p:sp>
      <p:sp>
        <p:nvSpPr>
          <p:cNvPr id="15" name="text-466"/>
          <p:cNvSpPr txBox="1"/>
          <p:nvPr/>
        </p:nvSpPr>
        <p:spPr>
          <a:xfrm>
            <a:off x="5289804" y="62179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Heated blades keep turning in freezing fog; most power comes in stormy winter.</a:t>
            </a:r>
            <a:endParaRPr lang="en-US" sz="950" dirty="0"/>
          </a:p>
        </p:txBody>
      </p:sp>
      <p:sp>
        <p:nvSpPr>
          <p:cNvPr id="16" name="card-467"/>
          <p:cNvSpPr/>
          <p:nvPr/>
        </p:nvSpPr>
        <p:spPr>
          <a:xfrm>
            <a:off x="548640" y="7223760"/>
            <a:ext cx="3140964" cy="1261872"/>
          </a:xfrm>
          <a:prstGeom prst="roundRect">
            <a:avLst>
              <a:gd name="adj" fmla="val 5797"/>
            </a:avLst>
          </a:prstGeom>
          <a:solidFill>
            <a:schemeClr val="bg2"/>
          </a:solidFill>
          <a:ln w="12700">
            <a:solidFill>
              <a:schemeClr val="bg2"/>
            </a:solidFill>
            <a:prstDash val="solid"/>
          </a:ln>
        </p:spPr>
      </p:sp>
      <p:sp>
        <p:nvSpPr>
          <p:cNvPr id="17" name="text-468"/>
          <p:cNvSpPr txBox="1"/>
          <p:nvPr/>
        </p:nvSpPr>
        <p:spPr>
          <a:xfrm>
            <a:off x="685800" y="7333488"/>
            <a:ext cx="1234440" cy="457200"/>
          </a:xfrm>
          <a:prstGeom prst="rect">
            <a:avLst/>
          </a:prstGeom>
          <a:noFill/>
          <a:ln/>
        </p:spPr>
        <p:txBody>
          <a:bodyPr wrap="square" lIns="0" tIns="0" rIns="0" bIns="0" rtlCol="0" anchor="ctr"/>
          <a:lstStyle/>
          <a:p>
            <a:pPr indent="0" marL="0">
              <a:buNone/>
            </a:pPr>
            <a:r>
              <a:rPr lang="en-US" sz="2100" b="1" dirty="0">
                <a:solidFill>
                  <a:schemeClr val="accent2"/>
                </a:solidFill>
                <a:latin typeface="+mj-lt" pitchFamily="34" charset="0"/>
                <a:ea typeface="+mj-lt" pitchFamily="34" charset="-122"/>
                <a:cs typeface="+mj-lt" pitchFamily="34" charset="-120"/>
              </a:rPr>
              <a:t>+25%</a:t>
            </a:r>
            <a:endParaRPr lang="en-US" sz="2100" dirty="0"/>
          </a:p>
        </p:txBody>
      </p:sp>
      <p:sp>
        <p:nvSpPr>
          <p:cNvPr id="18" name="text-469"/>
          <p:cNvSpPr txBox="1"/>
          <p:nvPr/>
        </p:nvSpPr>
        <p:spPr>
          <a:xfrm>
            <a:off x="1965960" y="73517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Bifacial solar farm</a:t>
            </a:r>
            <a:endParaRPr lang="en-US" sz="1050" dirty="0"/>
          </a:p>
        </p:txBody>
      </p:sp>
      <p:sp>
        <p:nvSpPr>
          <p:cNvPr id="19" name="text-470"/>
          <p:cNvSpPr txBox="1"/>
          <p:nvPr/>
        </p:nvSpPr>
        <p:spPr>
          <a:xfrm>
            <a:off x="1965960" y="75895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Snow reflects light onto the panel backs; 24-hour power in the midnight-sun months.</a:t>
            </a:r>
            <a:endParaRPr lang="en-US" sz="950" dirty="0"/>
          </a:p>
        </p:txBody>
      </p:sp>
      <p:sp>
        <p:nvSpPr>
          <p:cNvPr id="20" name="card-471"/>
          <p:cNvSpPr/>
          <p:nvPr/>
        </p:nvSpPr>
        <p:spPr>
          <a:xfrm>
            <a:off x="3872484" y="7223760"/>
            <a:ext cx="3140964" cy="1261872"/>
          </a:xfrm>
          <a:prstGeom prst="roundRect">
            <a:avLst>
              <a:gd name="adj" fmla="val 5797"/>
            </a:avLst>
          </a:prstGeom>
          <a:solidFill>
            <a:schemeClr val="bg2"/>
          </a:solidFill>
          <a:ln w="12700">
            <a:solidFill>
              <a:schemeClr val="bg2"/>
            </a:solidFill>
            <a:prstDash val="solid"/>
          </a:ln>
        </p:spPr>
      </p:sp>
      <p:sp>
        <p:nvSpPr>
          <p:cNvPr id="21" name="text-472"/>
          <p:cNvSpPr txBox="1"/>
          <p:nvPr/>
        </p:nvSpPr>
        <p:spPr>
          <a:xfrm>
            <a:off x="4009644" y="7333488"/>
            <a:ext cx="1234440" cy="457200"/>
          </a:xfrm>
          <a:prstGeom prst="rect">
            <a:avLst/>
          </a:prstGeom>
          <a:noFill/>
          <a:ln/>
        </p:spPr>
        <p:txBody>
          <a:bodyPr wrap="square" lIns="0" tIns="0" rIns="0" bIns="0" rtlCol="0" anchor="ctr"/>
          <a:lstStyle/>
          <a:p>
            <a:pPr indent="0" marL="0">
              <a:buNone/>
            </a:pPr>
            <a:r>
              <a:rPr lang="en-US" sz="2100" b="1" dirty="0">
                <a:solidFill>
                  <a:schemeClr val="accent5"/>
                </a:solidFill>
                <a:latin typeface="+mj-lt" pitchFamily="34" charset="0"/>
                <a:ea typeface="+mj-lt" pitchFamily="34" charset="-122"/>
                <a:cs typeface="+mj-lt" pitchFamily="34" charset="-120"/>
              </a:rPr>
              <a:t>24/7</a:t>
            </a:r>
            <a:endParaRPr lang="en-US" sz="2100" dirty="0"/>
          </a:p>
        </p:txBody>
      </p:sp>
      <p:sp>
        <p:nvSpPr>
          <p:cNvPr id="22" name="text-473"/>
          <p:cNvSpPr txBox="1"/>
          <p:nvPr/>
        </p:nvSpPr>
        <p:spPr>
          <a:xfrm>
            <a:off x="5289804" y="73517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Geothermal plant</a:t>
            </a:r>
            <a:endParaRPr lang="en-US" sz="1050" dirty="0"/>
          </a:p>
        </p:txBody>
      </p:sp>
      <p:sp>
        <p:nvSpPr>
          <p:cNvPr id="23" name="text-474"/>
          <p:cNvSpPr txBox="1"/>
          <p:nvPr/>
        </p:nvSpPr>
        <p:spPr>
          <a:xfrm>
            <a:off x="5289804" y="75895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Clean electricity and hot water around the clock, and the second heat source.</a:t>
            </a:r>
            <a:endParaRPr lang="en-US" sz="950" dirty="0"/>
          </a:p>
        </p:txBody>
      </p:sp>
      <p:sp>
        <p:nvSpPr>
          <p:cNvPr id="24" name="card-475"/>
          <p:cNvSpPr/>
          <p:nvPr/>
        </p:nvSpPr>
        <p:spPr>
          <a:xfrm>
            <a:off x="548640" y="8595360"/>
            <a:ext cx="3140964" cy="1261872"/>
          </a:xfrm>
          <a:prstGeom prst="roundRect">
            <a:avLst>
              <a:gd name="adj" fmla="val 5797"/>
            </a:avLst>
          </a:prstGeom>
          <a:solidFill>
            <a:schemeClr val="bg2"/>
          </a:solidFill>
          <a:ln w="12700">
            <a:solidFill>
              <a:schemeClr val="bg2"/>
            </a:solidFill>
            <a:prstDash val="solid"/>
          </a:ln>
        </p:spPr>
      </p:sp>
      <p:sp>
        <p:nvSpPr>
          <p:cNvPr id="25" name="text-476"/>
          <p:cNvSpPr txBox="1"/>
          <p:nvPr/>
        </p:nvSpPr>
        <p:spPr>
          <a:xfrm>
            <a:off x="685800" y="8705088"/>
            <a:ext cx="1234440" cy="457200"/>
          </a:xfrm>
          <a:prstGeom prst="rect">
            <a:avLst/>
          </a:prstGeom>
          <a:noFill/>
          <a:ln/>
        </p:spPr>
        <p:txBody>
          <a:bodyPr wrap="square" lIns="0" tIns="0" rIns="0" bIns="0" rtlCol="0" anchor="ctr"/>
          <a:lstStyle/>
          <a:p>
            <a:pPr indent="0" marL="0">
              <a:buNone/>
            </a:pPr>
            <a:r>
              <a:rPr lang="en-US" sz="2100" b="1" dirty="0">
                <a:solidFill>
                  <a:schemeClr val="accent4"/>
                </a:solidFill>
                <a:latin typeface="+mj-lt" pitchFamily="34" charset="0"/>
                <a:ea typeface="+mj-lt" pitchFamily="34" charset="-122"/>
                <a:cs typeface="+mj-lt" pitchFamily="34" charset="-120"/>
              </a:rPr>
              <a:t>200 MWh</a:t>
            </a:r>
            <a:endParaRPr lang="en-US" sz="2100" dirty="0"/>
          </a:p>
        </p:txBody>
      </p:sp>
      <p:sp>
        <p:nvSpPr>
          <p:cNvPr id="26" name="text-477"/>
          <p:cNvSpPr txBox="1"/>
          <p:nvPr/>
        </p:nvSpPr>
        <p:spPr>
          <a:xfrm>
            <a:off x="1965960" y="87233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Battery bank</a:t>
            </a:r>
            <a:endParaRPr lang="en-US" sz="1050" dirty="0"/>
          </a:p>
        </p:txBody>
      </p:sp>
      <p:sp>
        <p:nvSpPr>
          <p:cNvPr id="27" name="text-478"/>
          <p:cNvSpPr txBox="1"/>
          <p:nvPr/>
        </p:nvSpPr>
        <p:spPr>
          <a:xfrm>
            <a:off x="1965960" y="89611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Recycled car batteries store spare wind and solar power for calm, dark days.</a:t>
            </a:r>
            <a:endParaRPr lang="en-US" sz="950" dirty="0"/>
          </a:p>
        </p:txBody>
      </p:sp>
      <p:sp>
        <p:nvSpPr>
          <p:cNvPr id="28" name="card-479"/>
          <p:cNvSpPr/>
          <p:nvPr/>
        </p:nvSpPr>
        <p:spPr>
          <a:xfrm>
            <a:off x="3872484" y="8595360"/>
            <a:ext cx="3140964" cy="1261872"/>
          </a:xfrm>
          <a:prstGeom prst="roundRect">
            <a:avLst>
              <a:gd name="adj" fmla="val 5797"/>
            </a:avLst>
          </a:prstGeom>
          <a:solidFill>
            <a:schemeClr val="bg2"/>
          </a:solidFill>
          <a:ln w="12700">
            <a:solidFill>
              <a:schemeClr val="bg2"/>
            </a:solidFill>
            <a:prstDash val="solid"/>
          </a:ln>
        </p:spPr>
      </p:sp>
      <p:sp>
        <p:nvSpPr>
          <p:cNvPr id="29" name="text-480"/>
          <p:cNvSpPr txBox="1"/>
          <p:nvPr/>
        </p:nvSpPr>
        <p:spPr>
          <a:xfrm>
            <a:off x="4009644" y="8705088"/>
            <a:ext cx="1234440" cy="457200"/>
          </a:xfrm>
          <a:prstGeom prst="rect">
            <a:avLst/>
          </a:prstGeom>
          <a:noFill/>
          <a:ln/>
        </p:spPr>
        <p:txBody>
          <a:bodyPr wrap="square" lIns="0" tIns="0" rIns="0" bIns="0" rtlCol="0" anchor="ctr"/>
          <a:lstStyle/>
          <a:p>
            <a:pPr indent="0" marL="0">
              <a:buNone/>
            </a:pPr>
            <a:r>
              <a:rPr lang="en-US" sz="2100" b="1" dirty="0">
                <a:solidFill>
                  <a:schemeClr val="accent1"/>
                </a:solidFill>
                <a:latin typeface="+mj-lt" pitchFamily="34" charset="0"/>
                <a:ea typeface="+mj-lt" pitchFamily="34" charset="-122"/>
                <a:cs typeface="+mj-lt" pitchFamily="34" charset="-120"/>
              </a:rPr>
              <a:t>12 h</a:t>
            </a:r>
            <a:endParaRPr lang="en-US" sz="2100" dirty="0"/>
          </a:p>
        </p:txBody>
      </p:sp>
      <p:sp>
        <p:nvSpPr>
          <p:cNvPr id="30" name="text-481"/>
          <p:cNvSpPr txBox="1"/>
          <p:nvPr/>
        </p:nvSpPr>
        <p:spPr>
          <a:xfrm>
            <a:off x="5289804" y="87233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Heat storage tank</a:t>
            </a:r>
            <a:endParaRPr lang="en-US" sz="1050" dirty="0"/>
          </a:p>
        </p:txBody>
      </p:sp>
      <p:sp>
        <p:nvSpPr>
          <p:cNvPr id="31" name="text-482"/>
          <p:cNvSpPr txBox="1"/>
          <p:nvPr/>
        </p:nvSpPr>
        <p:spPr>
          <a:xfrm>
            <a:off x="5289804" y="89611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Keeps homes warm if a heat source stops, losing less than 1% of its heat a day.</a:t>
            </a:r>
            <a:endParaRPr lang="en-US" sz="9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kicker-dot-483"/>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48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WATER AND WASTE</a:t>
            </a:r>
            <a:endParaRPr lang="en-US" sz="900" dirty="0"/>
          </a:p>
        </p:txBody>
      </p:sp>
      <p:sp>
        <p:nvSpPr>
          <p:cNvPr id="4" name="title-48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Nothing Is Wasted</a:t>
            </a:r>
            <a:endParaRPr lang="en-US" sz="3400" dirty="0"/>
          </a:p>
        </p:txBody>
      </p:sp>
      <p:pic>
        <p:nvPicPr>
          <p:cNvPr id="5" name="picture-487" descr="/home/user/chatbox-bi-n-o/magazine/assets/renders/water.jpg">    </p:cNvPr>
          <p:cNvPicPr>
            <a:picLocks noChangeAspect="1"/>
          </p:cNvPicPr>
          <p:nvPr/>
        </p:nvPicPr>
        <p:blipFill>
          <a:blip r:embed="rId1"/>
          <a:srcRect l="0" r="0" t="0" b="0"/>
          <a:stretch/>
        </p:blipFill>
        <p:spPr>
          <a:xfrm>
            <a:off x="0" y="1508760"/>
            <a:ext cx="7562088" cy="3657600"/>
          </a:xfrm>
          <a:prstGeom prst="rect">
            <a:avLst/>
          </a:prstGeom>
        </p:spPr>
      </p:pic>
      <p:sp>
        <p:nvSpPr>
          <p:cNvPr id="6" name="text-488"/>
          <p:cNvSpPr txBox="1"/>
          <p:nvPr/>
        </p:nvSpPr>
        <p:spPr>
          <a:xfrm>
            <a:off x="548640" y="521208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six-stage Water Recycling Line in the Northern Renewable Park, with the wind farm behind.</a:t>
            </a:r>
            <a:endParaRPr lang="en-US" sz="850" dirty="0"/>
          </a:p>
        </p:txBody>
      </p:sp>
      <p:sp>
        <p:nvSpPr>
          <p:cNvPr id="7" name="text-489"/>
          <p:cNvSpPr txBox="1"/>
          <p:nvPr/>
        </p:nvSpPr>
        <p:spPr>
          <a:xfrm>
            <a:off x="548640" y="5623560"/>
            <a:ext cx="6464808" cy="201168"/>
          </a:xfrm>
          <a:prstGeom prst="rect">
            <a:avLst/>
          </a:prstGeom>
          <a:noFill/>
          <a:ln/>
        </p:spPr>
        <p:txBody>
          <a:bodyPr wrap="square" lIns="0" tIns="0" rIns="0" bIns="0" rtlCol="0" anchor="t"/>
          <a:lstStyle/>
          <a:p>
            <a:pPr indent="0" marL="0">
              <a:buNone/>
            </a:pPr>
            <a:r>
              <a:rPr lang="en-US" sz="900" b="1" spc="300" kern="0" dirty="0">
                <a:solidFill>
                  <a:schemeClr val="accent4"/>
                </a:solidFill>
              </a:rPr>
              <a:t>THE SIX-STAGE WATER RECYCLING LINE</a:t>
            </a:r>
            <a:endParaRPr lang="en-US" sz="900" dirty="0"/>
          </a:p>
        </p:txBody>
      </p:sp>
      <p:sp>
        <p:nvSpPr>
          <p:cNvPr id="8" name="arrow-490"/>
          <p:cNvSpPr/>
          <p:nvPr/>
        </p:nvSpPr>
        <p:spPr>
          <a:xfrm>
            <a:off x="1315974" y="6153912"/>
            <a:ext cx="620268" cy="914"/>
          </a:xfrm>
          <a:prstGeom prst="line">
            <a:avLst/>
          </a:prstGeom>
          <a:noFill/>
          <a:ln w="22225">
            <a:solidFill>
              <a:schemeClr val="accent4"/>
            </a:solidFill>
            <a:prstDash val="solid"/>
            <a:tailEnd type="triangle"/>
          </a:ln>
        </p:spPr>
      </p:sp>
      <p:sp>
        <p:nvSpPr>
          <p:cNvPr id="9" name="marker-491"/>
          <p:cNvSpPr/>
          <p:nvPr/>
        </p:nvSpPr>
        <p:spPr>
          <a:xfrm>
            <a:off x="886206" y="5952744"/>
            <a:ext cx="402336" cy="402336"/>
          </a:xfrm>
          <a:prstGeom prst="ellipse">
            <a:avLst/>
          </a:prstGeom>
          <a:solidFill>
            <a:schemeClr val="accent4"/>
          </a:solidFill>
          <a:ln w="12700">
            <a:solidFill>
              <a:schemeClr val="accent4"/>
            </a:solidFill>
            <a:prstDash val="solid"/>
          </a:ln>
        </p:spPr>
      </p:sp>
      <p:sp>
        <p:nvSpPr>
          <p:cNvPr id="10" name="text-492"/>
          <p:cNvSpPr txBox="1"/>
          <p:nvPr/>
        </p:nvSpPr>
        <p:spPr>
          <a:xfrm>
            <a:off x="88620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11" name="text-493"/>
          <p:cNvSpPr txBox="1"/>
          <p:nvPr/>
        </p:nvSpPr>
        <p:spPr>
          <a:xfrm>
            <a:off x="57607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Snowmelt &amp; greywater intake</a:t>
            </a:r>
            <a:endParaRPr lang="en-US" sz="850" dirty="0"/>
          </a:p>
        </p:txBody>
      </p:sp>
      <p:sp>
        <p:nvSpPr>
          <p:cNvPr id="12" name="arrow-494"/>
          <p:cNvSpPr/>
          <p:nvPr/>
        </p:nvSpPr>
        <p:spPr>
          <a:xfrm>
            <a:off x="2393442" y="6153912"/>
            <a:ext cx="620268" cy="914"/>
          </a:xfrm>
          <a:prstGeom prst="line">
            <a:avLst/>
          </a:prstGeom>
          <a:noFill/>
          <a:ln w="22225">
            <a:solidFill>
              <a:schemeClr val="accent4"/>
            </a:solidFill>
            <a:prstDash val="solid"/>
            <a:tailEnd type="triangle"/>
          </a:ln>
        </p:spPr>
      </p:sp>
      <p:sp>
        <p:nvSpPr>
          <p:cNvPr id="13" name="marker-495"/>
          <p:cNvSpPr/>
          <p:nvPr/>
        </p:nvSpPr>
        <p:spPr>
          <a:xfrm>
            <a:off x="1963674" y="5952744"/>
            <a:ext cx="402336" cy="402336"/>
          </a:xfrm>
          <a:prstGeom prst="ellipse">
            <a:avLst/>
          </a:prstGeom>
          <a:solidFill>
            <a:schemeClr val="accent4"/>
          </a:solidFill>
          <a:ln w="12700">
            <a:solidFill>
              <a:schemeClr val="accent4"/>
            </a:solidFill>
            <a:prstDash val="solid"/>
          </a:ln>
        </p:spPr>
      </p:sp>
      <p:sp>
        <p:nvSpPr>
          <p:cNvPr id="14" name="text-496"/>
          <p:cNvSpPr txBox="1"/>
          <p:nvPr/>
        </p:nvSpPr>
        <p:spPr>
          <a:xfrm>
            <a:off x="1963674"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5" name="text-497"/>
          <p:cNvSpPr txBox="1"/>
          <p:nvPr/>
        </p:nvSpPr>
        <p:spPr>
          <a:xfrm>
            <a:off x="1653540"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Intake pumps &amp; bar screen</a:t>
            </a:r>
            <a:endParaRPr lang="en-US" sz="850" dirty="0"/>
          </a:p>
        </p:txBody>
      </p:sp>
      <p:sp>
        <p:nvSpPr>
          <p:cNvPr id="16" name="arrow-498"/>
          <p:cNvSpPr/>
          <p:nvPr/>
        </p:nvSpPr>
        <p:spPr>
          <a:xfrm>
            <a:off x="3470910" y="6153912"/>
            <a:ext cx="620268" cy="914"/>
          </a:xfrm>
          <a:prstGeom prst="line">
            <a:avLst/>
          </a:prstGeom>
          <a:noFill/>
          <a:ln w="22225">
            <a:solidFill>
              <a:schemeClr val="accent4"/>
            </a:solidFill>
            <a:prstDash val="solid"/>
            <a:tailEnd type="triangle"/>
          </a:ln>
        </p:spPr>
      </p:sp>
      <p:sp>
        <p:nvSpPr>
          <p:cNvPr id="17" name="marker-499"/>
          <p:cNvSpPr/>
          <p:nvPr/>
        </p:nvSpPr>
        <p:spPr>
          <a:xfrm>
            <a:off x="3041142" y="5952744"/>
            <a:ext cx="402336" cy="402336"/>
          </a:xfrm>
          <a:prstGeom prst="ellipse">
            <a:avLst/>
          </a:prstGeom>
          <a:solidFill>
            <a:schemeClr val="accent4"/>
          </a:solidFill>
          <a:ln w="12700">
            <a:solidFill>
              <a:schemeClr val="accent4"/>
            </a:solidFill>
            <a:prstDash val="solid"/>
          </a:ln>
        </p:spPr>
      </p:sp>
      <p:sp>
        <p:nvSpPr>
          <p:cNvPr id="18" name="text-500"/>
          <p:cNvSpPr txBox="1"/>
          <p:nvPr/>
        </p:nvSpPr>
        <p:spPr>
          <a:xfrm>
            <a:off x="3041142"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9" name="text-501"/>
          <p:cNvSpPr txBox="1"/>
          <p:nvPr/>
        </p:nvSpPr>
        <p:spPr>
          <a:xfrm>
            <a:off x="2731008"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Settling basins</a:t>
            </a:r>
            <a:endParaRPr lang="en-US" sz="850" dirty="0"/>
          </a:p>
        </p:txBody>
      </p:sp>
      <p:sp>
        <p:nvSpPr>
          <p:cNvPr id="20" name="arrow-502"/>
          <p:cNvSpPr/>
          <p:nvPr/>
        </p:nvSpPr>
        <p:spPr>
          <a:xfrm>
            <a:off x="4548378" y="6153912"/>
            <a:ext cx="620268" cy="914"/>
          </a:xfrm>
          <a:prstGeom prst="line">
            <a:avLst/>
          </a:prstGeom>
          <a:noFill/>
          <a:ln w="22225">
            <a:solidFill>
              <a:schemeClr val="accent4"/>
            </a:solidFill>
            <a:prstDash val="solid"/>
            <a:tailEnd type="triangle"/>
          </a:ln>
        </p:spPr>
      </p:sp>
      <p:sp>
        <p:nvSpPr>
          <p:cNvPr id="21" name="marker-503"/>
          <p:cNvSpPr/>
          <p:nvPr/>
        </p:nvSpPr>
        <p:spPr>
          <a:xfrm>
            <a:off x="4118610" y="5952744"/>
            <a:ext cx="402336" cy="402336"/>
          </a:xfrm>
          <a:prstGeom prst="ellipse">
            <a:avLst/>
          </a:prstGeom>
          <a:solidFill>
            <a:schemeClr val="accent4"/>
          </a:solidFill>
          <a:ln w="12700">
            <a:solidFill>
              <a:schemeClr val="accent4"/>
            </a:solidFill>
            <a:prstDash val="solid"/>
          </a:ln>
        </p:spPr>
      </p:sp>
      <p:sp>
        <p:nvSpPr>
          <p:cNvPr id="22" name="text-504"/>
          <p:cNvSpPr txBox="1"/>
          <p:nvPr/>
        </p:nvSpPr>
        <p:spPr>
          <a:xfrm>
            <a:off x="4118610"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23" name="text-505"/>
          <p:cNvSpPr txBox="1"/>
          <p:nvPr/>
        </p:nvSpPr>
        <p:spPr>
          <a:xfrm>
            <a:off x="3808476"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Sand &amp; membrane filters</a:t>
            </a:r>
            <a:endParaRPr lang="en-US" sz="850" dirty="0"/>
          </a:p>
        </p:txBody>
      </p:sp>
      <p:sp>
        <p:nvSpPr>
          <p:cNvPr id="24" name="arrow-506"/>
          <p:cNvSpPr/>
          <p:nvPr/>
        </p:nvSpPr>
        <p:spPr>
          <a:xfrm>
            <a:off x="5625846" y="6153912"/>
            <a:ext cx="620268" cy="914"/>
          </a:xfrm>
          <a:prstGeom prst="line">
            <a:avLst/>
          </a:prstGeom>
          <a:noFill/>
          <a:ln w="22225">
            <a:solidFill>
              <a:schemeClr val="accent4"/>
            </a:solidFill>
            <a:prstDash val="solid"/>
            <a:tailEnd type="triangle"/>
          </a:ln>
        </p:spPr>
      </p:sp>
      <p:sp>
        <p:nvSpPr>
          <p:cNvPr id="25" name="marker-507"/>
          <p:cNvSpPr/>
          <p:nvPr/>
        </p:nvSpPr>
        <p:spPr>
          <a:xfrm>
            <a:off x="5196078" y="5952744"/>
            <a:ext cx="402336" cy="402336"/>
          </a:xfrm>
          <a:prstGeom prst="ellipse">
            <a:avLst/>
          </a:prstGeom>
          <a:solidFill>
            <a:schemeClr val="accent4"/>
          </a:solidFill>
          <a:ln w="12700">
            <a:solidFill>
              <a:schemeClr val="accent4"/>
            </a:solidFill>
            <a:prstDash val="solid"/>
          </a:ln>
        </p:spPr>
      </p:sp>
      <p:sp>
        <p:nvSpPr>
          <p:cNvPr id="26" name="text-508"/>
          <p:cNvSpPr txBox="1"/>
          <p:nvPr/>
        </p:nvSpPr>
        <p:spPr>
          <a:xfrm>
            <a:off x="5196078"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7" name="text-509"/>
          <p:cNvSpPr txBox="1"/>
          <p:nvPr/>
        </p:nvSpPr>
        <p:spPr>
          <a:xfrm>
            <a:off x="4885944"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UV disinfection</a:t>
            </a:r>
            <a:endParaRPr lang="en-US" sz="850" dirty="0"/>
          </a:p>
        </p:txBody>
      </p:sp>
      <p:sp>
        <p:nvSpPr>
          <p:cNvPr id="28" name="marker-510"/>
          <p:cNvSpPr/>
          <p:nvPr/>
        </p:nvSpPr>
        <p:spPr>
          <a:xfrm>
            <a:off x="6273546" y="5952744"/>
            <a:ext cx="402336" cy="402336"/>
          </a:xfrm>
          <a:prstGeom prst="ellipse">
            <a:avLst/>
          </a:prstGeom>
          <a:solidFill>
            <a:schemeClr val="accent4"/>
          </a:solidFill>
          <a:ln w="12700">
            <a:solidFill>
              <a:schemeClr val="accent4"/>
            </a:solidFill>
            <a:prstDash val="solid"/>
          </a:ln>
        </p:spPr>
      </p:sp>
      <p:sp>
        <p:nvSpPr>
          <p:cNvPr id="29" name="text-511"/>
          <p:cNvSpPr txBox="1"/>
          <p:nvPr/>
        </p:nvSpPr>
        <p:spPr>
          <a:xfrm>
            <a:off x="627354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30" name="text-512"/>
          <p:cNvSpPr txBox="1"/>
          <p:nvPr/>
        </p:nvSpPr>
        <p:spPr>
          <a:xfrm>
            <a:off x="596341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Recycled water tower</a:t>
            </a:r>
            <a:endParaRPr lang="en-US" sz="850" dirty="0"/>
          </a:p>
        </p:txBody>
      </p:sp>
      <p:sp>
        <p:nvSpPr>
          <p:cNvPr id="31" name="text-513"/>
          <p:cNvSpPr txBox="1"/>
          <p:nvPr/>
        </p:nvSpPr>
        <p:spPr>
          <a:xfrm>
            <a:off x="548640"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Aurora Haven, water goes round and round. Clean snow becomes drinking water at the Snow-to-Food plant. Used greywater from homes flows to the Water Recycling Line: screens, settling basins, sand and membrane filters, UV light, and finally a tower that feeds toilets, laundries, greenhouses and fire hydrants.</a:t>
            </a:r>
            <a:endParaRPr lang="en-US" sz="1050" dirty="0"/>
          </a:p>
          <a:p>
            <a:pPr indent="0" marL="0">
              <a:lnSpc>
                <a:spcPct val="112000"/>
              </a:lnSpc>
              <a:spcAft>
                <a:spcPts val="700"/>
              </a:spcAft>
              <a:buNone/>
            </a:pPr>
            <a:r>
              <a:rPr lang="en-US" sz="1050" dirty="0">
                <a:solidFill>
                  <a:schemeClr val="tx1"/>
                </a:solidFill>
              </a:rPr>
              <a:t>Dirty street snow is melted separately and never reaches the taps.</a:t>
            </a:r>
            <a:endParaRPr lang="en-US" sz="1050" dirty="0"/>
          </a:p>
        </p:txBody>
      </p:sp>
      <p:sp>
        <p:nvSpPr>
          <p:cNvPr id="32" name="text-514"/>
          <p:cNvSpPr txBox="1"/>
          <p:nvPr/>
        </p:nvSpPr>
        <p:spPr>
          <a:xfrm>
            <a:off x="3918204"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Circular Recycling Center sorts about 30 tonnes of materials a day with AI optical sorters and robot arms. Food scraps become biogas, and the Plasma Waste Converter handles what is left, turning it into clean gas and building blocks.</a:t>
            </a:r>
            <a:endParaRPr lang="en-US" sz="1050" dirty="0"/>
          </a:p>
          <a:p>
            <a:pPr indent="0" marL="0">
              <a:lnSpc>
                <a:spcPct val="112000"/>
              </a:lnSpc>
              <a:spcAft>
                <a:spcPts val="700"/>
              </a:spcAft>
              <a:buNone/>
            </a:pPr>
            <a:r>
              <a:rPr lang="en-US" sz="1050" dirty="0">
                <a:solidFill>
                  <a:schemeClr val="tx1"/>
                </a:solidFill>
              </a:rPr>
              <a:t>Nothing goes to landfill in the permafrost.</a:t>
            </a:r>
            <a:endParaRPr lang="en-US" sz="1050" dirty="0"/>
          </a:p>
        </p:txBody>
      </p:sp>
      <p:sp>
        <p:nvSpPr>
          <p:cNvPr id="33" name="text-515"/>
          <p:cNvSpPr txBox="1"/>
          <p:nvPr/>
        </p:nvSpPr>
        <p:spPr>
          <a:xfrm>
            <a:off x="548640"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95%</a:t>
            </a:r>
            <a:endParaRPr lang="en-US" sz="2200" dirty="0"/>
          </a:p>
        </p:txBody>
      </p:sp>
      <p:sp>
        <p:nvSpPr>
          <p:cNvPr id="34" name="text-516"/>
          <p:cNvSpPr txBox="1"/>
          <p:nvPr/>
        </p:nvSpPr>
        <p:spPr>
          <a:xfrm>
            <a:off x="548640"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water recycled</a:t>
            </a:r>
            <a:endParaRPr lang="en-US" sz="900" dirty="0"/>
          </a:p>
        </p:txBody>
      </p:sp>
      <p:sp>
        <p:nvSpPr>
          <p:cNvPr id="35" name="text-517"/>
          <p:cNvSpPr txBox="1"/>
          <p:nvPr/>
        </p:nvSpPr>
        <p:spPr>
          <a:xfrm>
            <a:off x="2164842"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30 t</a:t>
            </a:r>
            <a:endParaRPr lang="en-US" sz="2200" dirty="0"/>
          </a:p>
        </p:txBody>
      </p:sp>
      <p:sp>
        <p:nvSpPr>
          <p:cNvPr id="36" name="text-518"/>
          <p:cNvSpPr txBox="1"/>
          <p:nvPr/>
        </p:nvSpPr>
        <p:spPr>
          <a:xfrm>
            <a:off x="2164842"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materials sorted a day</a:t>
            </a:r>
            <a:endParaRPr lang="en-US" sz="900" dirty="0"/>
          </a:p>
        </p:txBody>
      </p:sp>
      <p:sp>
        <p:nvSpPr>
          <p:cNvPr id="37" name="text-519"/>
          <p:cNvSpPr txBox="1"/>
          <p:nvPr/>
        </p:nvSpPr>
        <p:spPr>
          <a:xfrm>
            <a:off x="3781044"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20 t</a:t>
            </a:r>
            <a:endParaRPr lang="en-US" sz="2200" dirty="0"/>
          </a:p>
        </p:txBody>
      </p:sp>
      <p:sp>
        <p:nvSpPr>
          <p:cNvPr id="38" name="text-520"/>
          <p:cNvSpPr txBox="1"/>
          <p:nvPr/>
        </p:nvSpPr>
        <p:spPr>
          <a:xfrm>
            <a:off x="3781044"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rubbish a day turned into gas and blocks</a:t>
            </a:r>
            <a:endParaRPr lang="en-US" sz="900" dirty="0"/>
          </a:p>
        </p:txBody>
      </p:sp>
      <p:sp>
        <p:nvSpPr>
          <p:cNvPr id="39" name="text-521"/>
          <p:cNvSpPr txBox="1"/>
          <p:nvPr/>
        </p:nvSpPr>
        <p:spPr>
          <a:xfrm>
            <a:off x="5397246"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0</a:t>
            </a:r>
            <a:endParaRPr lang="en-US" sz="2200" dirty="0"/>
          </a:p>
        </p:txBody>
      </p:sp>
      <p:sp>
        <p:nvSpPr>
          <p:cNvPr id="40" name="text-522"/>
          <p:cNvSpPr txBox="1"/>
          <p:nvPr/>
        </p:nvSpPr>
        <p:spPr>
          <a:xfrm>
            <a:off x="5397246"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landfill in the permafrost</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kicker-dot-523"/>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52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TRANSPORT</a:t>
            </a:r>
            <a:endParaRPr lang="en-US" sz="900" dirty="0"/>
          </a:p>
        </p:txBody>
      </p:sp>
      <p:sp>
        <p:nvSpPr>
          <p:cNvPr id="4" name="title-52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Getting Around Fossil-Free</a:t>
            </a:r>
            <a:endParaRPr lang="en-US" sz="3400" dirty="0"/>
          </a:p>
        </p:txBody>
      </p:sp>
      <p:pic>
        <p:nvPicPr>
          <p:cNvPr id="5" name="picture-527" descr="/home/user/chatbox-bi-n-o/magazine/assets/renders/airport.jpg">    </p:cNvPr>
          <p:cNvPicPr>
            <a:picLocks noChangeAspect="1"/>
          </p:cNvPicPr>
          <p:nvPr/>
        </p:nvPicPr>
        <p:blipFill>
          <a:blip r:embed="rId1"/>
          <a:srcRect l="0" r="0" t="0" b="0"/>
          <a:stretch/>
        </p:blipFill>
        <p:spPr>
          <a:xfrm>
            <a:off x="0" y="1508760"/>
            <a:ext cx="7562088" cy="3291840"/>
          </a:xfrm>
          <a:prstGeom prst="rect">
            <a:avLst/>
          </a:prstGeom>
        </p:spPr>
      </p:pic>
      <p:sp>
        <p:nvSpPr>
          <p:cNvPr id="6" name="text-528"/>
          <p:cNvSpPr txBox="1"/>
          <p:nvPr/>
        </p:nvSpPr>
        <p:spPr>
          <a:xfrm>
            <a:off x="548640" y="4846320"/>
            <a:ext cx="6464808" cy="228600"/>
          </a:xfrm>
          <a:prstGeom prst="rect">
            <a:avLst/>
          </a:prstGeom>
          <a:noFill/>
          <a:ln/>
        </p:spPr>
        <p:txBody>
          <a:bodyPr wrap="square" lIns="0" tIns="0" rIns="0" bIns="0" rtlCol="0" anchor="t"/>
          <a:lstStyle/>
          <a:p>
            <a:pPr indent="0" marL="0">
              <a:buNone/>
            </a:pPr>
            <a:r>
              <a:rPr lang="en-US" sz="850" i="1" dirty="0">
                <a:solidFill>
                  <a:schemeClr val="tx2"/>
                </a:solidFill>
              </a:rPr>
              <a:t>Compact Polar Airport at dusk: the glass terminal, the control tower and Flight VN-81 climbing out.</a:t>
            </a:r>
            <a:endParaRPr lang="en-US" sz="850" dirty="0"/>
          </a:p>
        </p:txBody>
      </p:sp>
      <p:sp>
        <p:nvSpPr>
          <p:cNvPr id="7" name="text-529"/>
          <p:cNvSpPr txBox="1"/>
          <p:nvPr/>
        </p:nvSpPr>
        <p:spPr>
          <a:xfrm>
            <a:off x="548640" y="5257800"/>
            <a:ext cx="3611880" cy="32004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Transport in Aurora Haven is electric and built for the cold. The heart of it is the metro: the north–south Aurora Line and the deep east–west Glacier Line meet at the Central Interchange Station under Liberty Mall. The driverless trains run underground, so blizzards never stop them.</a:t>
            </a:r>
            <a:endParaRPr lang="en-US" sz="1050" dirty="0"/>
          </a:p>
          <a:p>
            <a:pPr indent="0" marL="0">
              <a:lnSpc>
                <a:spcPct val="112000"/>
              </a:lnSpc>
              <a:spcAft>
                <a:spcPts val="700"/>
              </a:spcAft>
              <a:buNone/>
            </a:pPr>
            <a:r>
              <a:rPr lang="en-US" sz="1050" dirty="0">
                <a:solidFill>
                  <a:schemeClr val="tx1"/>
                </a:solidFill>
              </a:rPr>
              <a:t>On the streets there are electric trams, buses and shared robotaxis, and people wait in heated bus shelters. The roads are warmed from below, so no salt is needed, and an outer ring keeps trucks out of downtown.</a:t>
            </a:r>
            <a:endParaRPr lang="en-US" sz="1050" dirty="0"/>
          </a:p>
          <a:p>
            <a:pPr indent="0" marL="0">
              <a:lnSpc>
                <a:spcPct val="112000"/>
              </a:lnSpc>
              <a:spcAft>
                <a:spcPts val="700"/>
              </a:spcAft>
              <a:buNone/>
            </a:pPr>
            <a:r>
              <a:rPr lang="en-US" sz="1050" dirty="0">
                <a:solidFill>
                  <a:schemeClr val="tx1"/>
                </a:solidFill>
              </a:rPr>
              <a:t>Electric cars charge in the heated bays of the EV &amp; Hover-Car Charging Hub, and the airport, with its heated runway and e-fuel planes, keeps the city supplied through deep winter.</a:t>
            </a:r>
            <a:endParaRPr lang="en-US" sz="1050" dirty="0"/>
          </a:p>
        </p:txBody>
      </p:sp>
      <p:sp>
        <p:nvSpPr>
          <p:cNvPr id="8" name="metro-aurora-line"/>
          <p:cNvSpPr/>
          <p:nvPr/>
        </p:nvSpPr>
        <p:spPr>
          <a:xfrm>
            <a:off x="5769864" y="5349240"/>
            <a:ext cx="0" cy="2651760"/>
          </a:xfrm>
          <a:prstGeom prst="line">
            <a:avLst/>
          </a:prstGeom>
          <a:noFill/>
          <a:ln w="88900">
            <a:solidFill>
              <a:schemeClr val="accent6"/>
            </a:solidFill>
            <a:prstDash val="solid"/>
          </a:ln>
        </p:spPr>
      </p:sp>
      <p:sp>
        <p:nvSpPr>
          <p:cNvPr id="9" name="metro-glacier-line"/>
          <p:cNvSpPr/>
          <p:nvPr/>
        </p:nvSpPr>
        <p:spPr>
          <a:xfrm>
            <a:off x="4526280" y="6675120"/>
            <a:ext cx="2487168" cy="0"/>
          </a:xfrm>
          <a:prstGeom prst="line">
            <a:avLst/>
          </a:prstGeom>
          <a:noFill/>
          <a:ln w="88900">
            <a:solidFill>
              <a:schemeClr val="accent4"/>
            </a:solidFill>
            <a:prstDash val="solid"/>
          </a:ln>
        </p:spPr>
      </p:sp>
      <p:sp>
        <p:nvSpPr>
          <p:cNvPr id="10" name="metro-interchange"/>
          <p:cNvSpPr/>
          <p:nvPr/>
        </p:nvSpPr>
        <p:spPr>
          <a:xfrm>
            <a:off x="5568696" y="6473952"/>
            <a:ext cx="402336" cy="402336"/>
          </a:xfrm>
          <a:prstGeom prst="ellipse">
            <a:avLst/>
          </a:prstGeom>
          <a:solidFill>
            <a:schemeClr val="bg1"/>
          </a:solidFill>
          <a:ln w="38100">
            <a:solidFill>
              <a:schemeClr val="tx1"/>
            </a:solidFill>
            <a:prstDash val="solid"/>
          </a:ln>
        </p:spPr>
      </p:sp>
      <p:sp>
        <p:nvSpPr>
          <p:cNvPr id="11" name="text-530"/>
          <p:cNvSpPr txBox="1"/>
          <p:nvPr/>
        </p:nvSpPr>
        <p:spPr>
          <a:xfrm>
            <a:off x="5897880" y="5349240"/>
            <a:ext cx="1188720" cy="365760"/>
          </a:xfrm>
          <a:prstGeom prst="rect">
            <a:avLst/>
          </a:prstGeom>
          <a:noFill/>
          <a:ln/>
        </p:spPr>
        <p:txBody>
          <a:bodyPr wrap="square" lIns="0" tIns="0" rIns="0" bIns="0" rtlCol="0" anchor="t"/>
          <a:lstStyle/>
          <a:p>
            <a:pPr indent="0" marL="0">
              <a:buNone/>
            </a:pPr>
            <a:r>
              <a:rPr lang="en-US" sz="900" b="1" dirty="0">
                <a:solidFill>
                  <a:schemeClr val="accent6"/>
                </a:solidFill>
              </a:rPr>
              <a:t>Aurora Line</a:t>
            </a:r>
            <a:endParaRPr lang="en-US" sz="900" dirty="0"/>
          </a:p>
          <a:p>
            <a:pPr indent="0" marL="0">
              <a:buNone/>
            </a:pPr>
            <a:r>
              <a:rPr lang="en-US" sz="900" b="1" dirty="0">
                <a:solidFill>
                  <a:schemeClr val="accent6"/>
                </a:solidFill>
              </a:rPr>
              <a:t>north–south</a:t>
            </a:r>
            <a:endParaRPr lang="en-US" sz="900" dirty="0"/>
          </a:p>
        </p:txBody>
      </p:sp>
      <p:sp>
        <p:nvSpPr>
          <p:cNvPr id="12" name="text-531"/>
          <p:cNvSpPr txBox="1"/>
          <p:nvPr/>
        </p:nvSpPr>
        <p:spPr>
          <a:xfrm>
            <a:off x="4526280" y="6821424"/>
            <a:ext cx="1005840" cy="365760"/>
          </a:xfrm>
          <a:prstGeom prst="rect">
            <a:avLst/>
          </a:prstGeom>
          <a:noFill/>
          <a:ln/>
        </p:spPr>
        <p:txBody>
          <a:bodyPr wrap="square" lIns="0" tIns="0" rIns="0" bIns="0" rtlCol="0" anchor="t"/>
          <a:lstStyle/>
          <a:p>
            <a:pPr indent="0" marL="0">
              <a:buNone/>
            </a:pPr>
            <a:r>
              <a:rPr lang="en-US" sz="900" b="1" dirty="0">
                <a:solidFill>
                  <a:schemeClr val="accent4"/>
                </a:solidFill>
              </a:rPr>
              <a:t>Glacier Line</a:t>
            </a:r>
            <a:endParaRPr lang="en-US" sz="900" dirty="0"/>
          </a:p>
          <a:p>
            <a:pPr indent="0" marL="0">
              <a:buNone/>
            </a:pPr>
            <a:r>
              <a:rPr lang="en-US" sz="900" b="1" dirty="0">
                <a:solidFill>
                  <a:schemeClr val="accent4"/>
                </a:solidFill>
              </a:rPr>
              <a:t>east–west</a:t>
            </a:r>
            <a:endParaRPr lang="en-US" sz="900" dirty="0"/>
          </a:p>
        </p:txBody>
      </p:sp>
      <p:sp>
        <p:nvSpPr>
          <p:cNvPr id="13" name="text-532"/>
          <p:cNvSpPr txBox="1"/>
          <p:nvPr/>
        </p:nvSpPr>
        <p:spPr>
          <a:xfrm>
            <a:off x="6044184" y="6108192"/>
            <a:ext cx="1051560" cy="502920"/>
          </a:xfrm>
          <a:prstGeom prst="rect">
            <a:avLst/>
          </a:prstGeom>
          <a:noFill/>
          <a:ln/>
        </p:spPr>
        <p:txBody>
          <a:bodyPr wrap="square" lIns="0" tIns="0" rIns="0" bIns="0" rtlCol="0" anchor="b"/>
          <a:lstStyle/>
          <a:p>
            <a:pPr indent="0" marL="0">
              <a:buNone/>
            </a:pPr>
            <a:r>
              <a:rPr lang="en-US" sz="850" b="1" dirty="0">
                <a:solidFill>
                  <a:schemeClr val="tx1"/>
                </a:solidFill>
              </a:rPr>
              <a:t>Central Interchange Station, under Liberty Mall</a:t>
            </a:r>
            <a:endParaRPr lang="en-US" sz="850" dirty="0"/>
          </a:p>
        </p:txBody>
      </p:sp>
      <p:sp>
        <p:nvSpPr>
          <p:cNvPr id="14" name="text-533"/>
          <p:cNvSpPr txBox="1"/>
          <p:nvPr/>
        </p:nvSpPr>
        <p:spPr>
          <a:xfrm>
            <a:off x="548640" y="873252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3 min</a:t>
            </a:r>
            <a:endParaRPr lang="en-US" sz="2000" dirty="0"/>
          </a:p>
        </p:txBody>
      </p:sp>
      <p:sp>
        <p:nvSpPr>
          <p:cNvPr id="15" name="text-534"/>
          <p:cNvSpPr txBox="1"/>
          <p:nvPr/>
        </p:nvSpPr>
        <p:spPr>
          <a:xfrm>
            <a:off x="548640" y="9087104"/>
            <a:ext cx="1183234" cy="45720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Aurora Line trains at rush hour</a:t>
            </a:r>
            <a:endParaRPr lang="en-US" sz="850" dirty="0"/>
          </a:p>
        </p:txBody>
      </p:sp>
      <p:sp>
        <p:nvSpPr>
          <p:cNvPr id="16" name="text-535"/>
          <p:cNvSpPr txBox="1"/>
          <p:nvPr/>
        </p:nvSpPr>
        <p:spPr>
          <a:xfrm>
            <a:off x="1841602" y="873252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4 min</a:t>
            </a:r>
            <a:endParaRPr lang="en-US" sz="2000" dirty="0"/>
          </a:p>
        </p:txBody>
      </p:sp>
      <p:sp>
        <p:nvSpPr>
          <p:cNvPr id="17" name="text-536"/>
          <p:cNvSpPr txBox="1"/>
          <p:nvPr/>
        </p:nvSpPr>
        <p:spPr>
          <a:xfrm>
            <a:off x="1841602" y="9087104"/>
            <a:ext cx="1183234" cy="45720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Glacier Line; every 90 s after big stadium events</a:t>
            </a:r>
            <a:endParaRPr lang="en-US" sz="850" dirty="0"/>
          </a:p>
        </p:txBody>
      </p:sp>
      <p:sp>
        <p:nvSpPr>
          <p:cNvPr id="18" name="text-537"/>
          <p:cNvSpPr txBox="1"/>
          <p:nvPr/>
        </p:nvSpPr>
        <p:spPr>
          <a:xfrm>
            <a:off x="3134563" y="873252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30%</a:t>
            </a:r>
            <a:endParaRPr lang="en-US" sz="2000" dirty="0"/>
          </a:p>
        </p:txBody>
      </p:sp>
      <p:sp>
        <p:nvSpPr>
          <p:cNvPr id="19" name="text-538"/>
          <p:cNvSpPr txBox="1"/>
          <p:nvPr/>
        </p:nvSpPr>
        <p:spPr>
          <a:xfrm>
            <a:off x="3134563" y="9087104"/>
            <a:ext cx="1183234" cy="45720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of train energy returned by braking</a:t>
            </a:r>
            <a:endParaRPr lang="en-US" sz="850" dirty="0"/>
          </a:p>
        </p:txBody>
      </p:sp>
      <p:sp>
        <p:nvSpPr>
          <p:cNvPr id="20" name="text-539"/>
          <p:cNvSpPr txBox="1"/>
          <p:nvPr/>
        </p:nvSpPr>
        <p:spPr>
          <a:xfrm>
            <a:off x="4427525" y="873252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2,800 m</a:t>
            </a:r>
            <a:endParaRPr lang="en-US" sz="2000" dirty="0"/>
          </a:p>
        </p:txBody>
      </p:sp>
      <p:sp>
        <p:nvSpPr>
          <p:cNvPr id="21" name="text-540"/>
          <p:cNvSpPr txBox="1"/>
          <p:nvPr/>
        </p:nvSpPr>
        <p:spPr>
          <a:xfrm>
            <a:off x="4427525" y="9087104"/>
            <a:ext cx="1183234" cy="45720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heated airport runway</a:t>
            </a:r>
            <a:endParaRPr lang="en-US" sz="850" dirty="0"/>
          </a:p>
        </p:txBody>
      </p:sp>
      <p:sp>
        <p:nvSpPr>
          <p:cNvPr id="22" name="text-541"/>
          <p:cNvSpPr txBox="1"/>
          <p:nvPr/>
        </p:nvSpPr>
        <p:spPr>
          <a:xfrm>
            <a:off x="5720486" y="873252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20 km/h</a:t>
            </a:r>
            <a:endParaRPr lang="en-US" sz="2000" dirty="0"/>
          </a:p>
        </p:txBody>
      </p:sp>
      <p:sp>
        <p:nvSpPr>
          <p:cNvPr id="23" name="text-542"/>
          <p:cNvSpPr txBox="1"/>
          <p:nvPr/>
        </p:nvSpPr>
        <p:spPr>
          <a:xfrm>
            <a:off x="5720486" y="9087104"/>
            <a:ext cx="1183234" cy="45720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downtown speed limit</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picture-543" descr="/home/user/chatbox-bi-n-o/magazine/assets/renders/greenhouse.jpg">    </p:cNvPr>
          <p:cNvPicPr>
            <a:picLocks noChangeAspect="1"/>
          </p:cNvPicPr>
          <p:nvPr/>
        </p:nvPicPr>
        <p:blipFill>
          <a:blip r:embed="rId1"/>
          <a:srcRect l="0" r="0" t="0" b="0"/>
          <a:stretch/>
        </p:blipFill>
        <p:spPr>
          <a:xfrm>
            <a:off x="0" y="0"/>
            <a:ext cx="7562088" cy="10689336"/>
          </a:xfrm>
          <a:prstGeom prst="rect">
            <a:avLst/>
          </a:prstGeom>
        </p:spPr>
      </p:pic>
      <p:pic>
        <p:nvPicPr>
          <p:cNvPr id="3" name="shade-top-544" descr="/home/user/chatbox-bi-n-o/magazine/assets/ui/shade_top.png">    </p:cNvPr>
          <p:cNvPicPr>
            <a:picLocks noChangeAspect="1"/>
          </p:cNvPicPr>
          <p:nvPr/>
        </p:nvPicPr>
        <p:blipFill>
          <a:blip r:embed="rId2"/>
          <a:stretch>
            <a:fillRect/>
          </a:stretch>
        </p:blipFill>
        <p:spPr>
          <a:xfrm>
            <a:off x="0" y="0"/>
            <a:ext cx="7562088" cy="3566160"/>
          </a:xfrm>
          <a:prstGeom prst="rect">
            <a:avLst/>
          </a:prstGeom>
        </p:spPr>
      </p:pic>
      <p:pic>
        <p:nvPicPr>
          <p:cNvPr id="4" name="shade-bottom-545" descr="/home/user/chatbox-bi-n-o/magazine/assets/ui/shade_bottom.png">    </p:cNvPr>
          <p:cNvPicPr>
            <a:picLocks noChangeAspect="1"/>
          </p:cNvPicPr>
          <p:nvPr/>
        </p:nvPicPr>
        <p:blipFill>
          <a:blip r:embed="rId3"/>
          <a:stretch>
            <a:fillRect/>
          </a:stretch>
        </p:blipFill>
        <p:spPr>
          <a:xfrm>
            <a:off x="0" y="5852160"/>
            <a:ext cx="7562088" cy="4837176"/>
          </a:xfrm>
          <a:prstGeom prst="rect">
            <a:avLst/>
          </a:prstGeom>
        </p:spPr>
      </p:pic>
      <p:sp>
        <p:nvSpPr>
          <p:cNvPr id="5" name="kicker-dot-546"/>
          <p:cNvSpPr/>
          <p:nvPr/>
        </p:nvSpPr>
        <p:spPr>
          <a:xfrm>
            <a:off x="548640" y="589788"/>
            <a:ext cx="100584" cy="100584"/>
          </a:xfrm>
          <a:prstGeom prst="ellipse">
            <a:avLst/>
          </a:prstGeom>
          <a:solidFill>
            <a:schemeClr val="accent1"/>
          </a:solidFill>
          <a:ln w="12700">
            <a:solidFill>
              <a:schemeClr val="accent1"/>
            </a:solidFill>
            <a:prstDash val="solid"/>
          </a:ln>
        </p:spPr>
      </p:sp>
      <p:sp>
        <p:nvSpPr>
          <p:cNvPr id="6" name="text-547"/>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EVERGREEN GREENHOUSE DOME</a:t>
            </a:r>
            <a:endParaRPr lang="en-US" sz="900" dirty="0"/>
          </a:p>
        </p:txBody>
      </p:sp>
      <p:sp>
        <p:nvSpPr>
          <p:cNvPr id="7" name="title-548"/>
          <p:cNvSpPr txBox="1"/>
          <p:nvPr/>
        </p:nvSpPr>
        <p:spPr>
          <a:xfrm>
            <a:off x="548640" y="80467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Salad Under the Northern Lights</a:t>
            </a:r>
            <a:endParaRPr lang="en-US" sz="4400" dirty="0"/>
          </a:p>
        </p:txBody>
      </p:sp>
      <p:sp>
        <p:nvSpPr>
          <p:cNvPr id="8" name="text-550"/>
          <p:cNvSpPr txBox="1"/>
          <p:nvPr/>
        </p:nvSpPr>
        <p:spPr>
          <a:xfrm>
            <a:off x="548640" y="2286000"/>
            <a:ext cx="566928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Fresh salad, tomatoes, peppers, herbs and berries all year, even in the polar night and in winters when supplies can only arrive by air.</a:t>
            </a:r>
            <a:endParaRPr lang="en-US" sz="1400" dirty="0"/>
          </a:p>
        </p:txBody>
      </p:sp>
      <p:sp>
        <p:nvSpPr>
          <p:cNvPr id="9" name="text-551"/>
          <p:cNvSpPr txBox="1"/>
          <p:nvPr/>
        </p:nvSpPr>
        <p:spPr>
          <a:xfrm>
            <a:off x="548640" y="8503920"/>
            <a:ext cx="4023360" cy="146304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The dome is heated by the district-heating loop and wrapped in thermal curtains at night. LED grow lights give the plants 18-hour “days” on stacked hydroponic racks, and CO₂ from the biogas plant and the waste converter boosts growth.</a:t>
            </a:r>
            <a:endParaRPr lang="en-US" sz="1000" dirty="0"/>
          </a:p>
        </p:txBody>
      </p:sp>
      <p:sp>
        <p:nvSpPr>
          <p:cNvPr id="10" name="text-552"/>
          <p:cNvSpPr txBox="1"/>
          <p:nvPr/>
        </p:nvSpPr>
        <p:spPr>
          <a:xfrm>
            <a:off x="4937760" y="8275320"/>
            <a:ext cx="207568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18 h</a:t>
            </a:r>
            <a:endParaRPr lang="en-US" sz="2600" dirty="0"/>
          </a:p>
        </p:txBody>
      </p:sp>
      <p:sp>
        <p:nvSpPr>
          <p:cNvPr id="11" name="text-553"/>
          <p:cNvSpPr txBox="1"/>
          <p:nvPr/>
        </p:nvSpPr>
        <p:spPr>
          <a:xfrm>
            <a:off x="4937760" y="8706104"/>
            <a:ext cx="2075688" cy="22860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LED “days” for the plants</a:t>
            </a:r>
            <a:endParaRPr lang="en-US" sz="900" dirty="0"/>
          </a:p>
        </p:txBody>
      </p:sp>
      <p:sp>
        <p:nvSpPr>
          <p:cNvPr id="12" name="text-554"/>
          <p:cNvSpPr txBox="1"/>
          <p:nvPr/>
        </p:nvSpPr>
        <p:spPr>
          <a:xfrm>
            <a:off x="4937760" y="9052560"/>
            <a:ext cx="207568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90%</a:t>
            </a:r>
            <a:endParaRPr lang="en-US" sz="2600" dirty="0"/>
          </a:p>
        </p:txBody>
      </p:sp>
      <p:sp>
        <p:nvSpPr>
          <p:cNvPr id="13" name="text-555"/>
          <p:cNvSpPr txBox="1"/>
          <p:nvPr/>
        </p:nvSpPr>
        <p:spPr>
          <a:xfrm>
            <a:off x="4937760" y="9483344"/>
            <a:ext cx="2075688" cy="22860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less water than fields</a:t>
            </a:r>
            <a:endParaRPr lang="en-US" sz="900" dirty="0"/>
          </a:p>
        </p:txBody>
      </p:sp>
      <p:sp>
        <p:nvSpPr>
          <p:cNvPr id="14" name="text-556"/>
          <p:cNvSpPr txBox="1"/>
          <p:nvPr/>
        </p:nvSpPr>
        <p:spPr>
          <a:xfrm>
            <a:off x="548640" y="7909560"/>
            <a:ext cx="6464808" cy="411480"/>
          </a:xfrm>
          <a:prstGeom prst="rect">
            <a:avLst/>
          </a:prstGeom>
          <a:noFill/>
          <a:ln/>
        </p:spPr>
        <p:txBody>
          <a:bodyPr wrap="square" lIns="0" tIns="0" rIns="0" bIns="0" rtlCol="0" anchor="t"/>
          <a:lstStyle/>
          <a:p>
            <a:pPr indent="0" marL="0">
              <a:buNone/>
            </a:pPr>
            <a:r>
              <a:rPr lang="en-US" sz="850" i="1" dirty="0">
                <a:solidFill>
                  <a:schemeClr val="bg2"/>
                </a:solidFill>
              </a:rPr>
              <a:t>Inside the Evergreen Greenhouse Dome, where the flowers for the monument’s red and yellow beds are raised too.</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kicker-dot-557"/>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558"/>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SAFETY</a:t>
            </a:r>
            <a:endParaRPr lang="en-US" sz="900" dirty="0"/>
          </a:p>
        </p:txBody>
      </p:sp>
      <p:sp>
        <p:nvSpPr>
          <p:cNvPr id="4" name="title-559"/>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Safe and Ready for Any Storm</a:t>
            </a:r>
            <a:endParaRPr lang="en-US" sz="3400" dirty="0"/>
          </a:p>
        </p:txBody>
      </p:sp>
      <p:pic>
        <p:nvPicPr>
          <p:cNvPr id="5" name="picture-561" descr="/home/user/chatbox-bi-n-o/magazine/assets/renders/rescue.jpg">    </p:cNvPr>
          <p:cNvPicPr>
            <a:picLocks noChangeAspect="1"/>
          </p:cNvPicPr>
          <p:nvPr/>
        </p:nvPicPr>
        <p:blipFill>
          <a:blip r:embed="rId1"/>
          <a:srcRect l="0" r="0" t="0" b="0"/>
          <a:stretch/>
        </p:blipFill>
        <p:spPr>
          <a:xfrm>
            <a:off x="0" y="1508760"/>
            <a:ext cx="7562088" cy="3840480"/>
          </a:xfrm>
          <a:prstGeom prst="rect">
            <a:avLst/>
          </a:prstGeom>
        </p:spPr>
      </p:pic>
      <p:sp>
        <p:nvSpPr>
          <p:cNvPr id="6" name="text-562"/>
          <p:cNvSpPr txBox="1"/>
          <p:nvPr/>
        </p:nvSpPr>
        <p:spPr>
          <a:xfrm>
            <a:off x="548640" y="539496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Polar Rescue and Resilience Station in the Energy Hub, north of downtown, with its helipad.</a:t>
            </a:r>
            <a:endParaRPr lang="en-US" sz="850" dirty="0"/>
          </a:p>
        </p:txBody>
      </p:sp>
      <p:sp>
        <p:nvSpPr>
          <p:cNvPr id="7" name="text-563"/>
          <p:cNvSpPr txBox="1"/>
          <p:nvPr/>
        </p:nvSpPr>
        <p:spPr>
          <a:xfrm>
            <a:off x="548640" y="580644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the polar night, safety comes first. The Polar Rescue and Resilience Station is home to the fire brigade, ambulances, ice rescue and the 112 emergency centre, and its vehicles leave within 60 seconds.</a:t>
            </a:r>
            <a:endParaRPr lang="en-US" sz="1050" dirty="0"/>
          </a:p>
          <a:p>
            <a:pPr indent="0" marL="0">
              <a:lnSpc>
                <a:spcPct val="112000"/>
              </a:lnSpc>
              <a:spcAft>
                <a:spcPts val="700"/>
              </a:spcAft>
              <a:buNone/>
            </a:pPr>
            <a:r>
              <a:rPr lang="en-US" sz="1050" dirty="0">
                <a:solidFill>
                  <a:schemeClr val="tx1"/>
                </a:solidFill>
              </a:rPr>
              <a:t>The West Market Fire &amp; Ambulance Station reaches any downtown address in about four minutes, and a rescue helicopter is ready day and night.</a:t>
            </a:r>
            <a:endParaRPr lang="en-US" sz="1050" dirty="0"/>
          </a:p>
        </p:txBody>
      </p:sp>
      <p:sp>
        <p:nvSpPr>
          <p:cNvPr id="8" name="text-564"/>
          <p:cNvSpPr txBox="1"/>
          <p:nvPr/>
        </p:nvSpPr>
        <p:spPr>
          <a:xfrm>
            <a:off x="3918204" y="580644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Under Liberty Mall, four underground shelters can keep every resident safe for 30 days. Aurora Core, the AI control tower, forecasts blizzards up to 48 hours ahead and alerts every phone.</a:t>
            </a:r>
            <a:endParaRPr lang="en-US" sz="1050" dirty="0"/>
          </a:p>
          <a:p>
            <a:pPr indent="0" marL="0">
              <a:lnSpc>
                <a:spcPct val="112000"/>
              </a:lnSpc>
              <a:spcAft>
                <a:spcPts val="700"/>
              </a:spcAft>
              <a:buNone/>
            </a:pPr>
            <a:r>
              <a:rPr lang="en-US" sz="1050" dirty="0">
                <a:solidFill>
                  <a:schemeClr val="tx1"/>
                </a:solidFill>
              </a:rPr>
              <a:t>Cafés and lobbies act as warm points, and the air base runway is a backup for supply flights.</a:t>
            </a:r>
            <a:endParaRPr lang="en-US" sz="1050" dirty="0"/>
          </a:p>
        </p:txBody>
      </p:sp>
      <p:sp>
        <p:nvSpPr>
          <p:cNvPr id="9" name="text-565"/>
          <p:cNvSpPr txBox="1"/>
          <p:nvPr/>
        </p:nvSpPr>
        <p:spPr>
          <a:xfrm>
            <a:off x="548640"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60 s</a:t>
            </a:r>
            <a:endParaRPr lang="en-US" sz="2400" dirty="0"/>
          </a:p>
        </p:txBody>
      </p:sp>
      <p:sp>
        <p:nvSpPr>
          <p:cNvPr id="10" name="text-566"/>
          <p:cNvSpPr txBox="1"/>
          <p:nvPr/>
        </p:nvSpPr>
        <p:spPr>
          <a:xfrm>
            <a:off x="548640"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for rescue vehicles to leave</a:t>
            </a:r>
            <a:endParaRPr lang="en-US" sz="900" dirty="0"/>
          </a:p>
        </p:txBody>
      </p:sp>
      <p:sp>
        <p:nvSpPr>
          <p:cNvPr id="11" name="text-567"/>
          <p:cNvSpPr txBox="1"/>
          <p:nvPr/>
        </p:nvSpPr>
        <p:spPr>
          <a:xfrm>
            <a:off x="2703576"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 min</a:t>
            </a:r>
            <a:endParaRPr lang="en-US" sz="2400" dirty="0"/>
          </a:p>
        </p:txBody>
      </p:sp>
      <p:sp>
        <p:nvSpPr>
          <p:cNvPr id="12" name="text-568"/>
          <p:cNvSpPr txBox="1"/>
          <p:nvPr/>
        </p:nvSpPr>
        <p:spPr>
          <a:xfrm>
            <a:off x="2703576"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to any downtown address</a:t>
            </a:r>
            <a:endParaRPr lang="en-US" sz="900" dirty="0"/>
          </a:p>
        </p:txBody>
      </p:sp>
      <p:sp>
        <p:nvSpPr>
          <p:cNvPr id="13" name="text-569"/>
          <p:cNvSpPr txBox="1"/>
          <p:nvPr/>
        </p:nvSpPr>
        <p:spPr>
          <a:xfrm>
            <a:off x="4858512"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10 min</a:t>
            </a:r>
            <a:endParaRPr lang="en-US" sz="2400" dirty="0"/>
          </a:p>
        </p:txBody>
      </p:sp>
      <p:sp>
        <p:nvSpPr>
          <p:cNvPr id="14" name="text-570"/>
          <p:cNvSpPr txBox="1"/>
          <p:nvPr/>
        </p:nvSpPr>
        <p:spPr>
          <a:xfrm>
            <a:off x="4858512"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for the rescue helicopter to be airborne</a:t>
            </a:r>
            <a:endParaRPr lang="en-US" sz="900" dirty="0"/>
          </a:p>
        </p:txBody>
      </p:sp>
      <p:sp>
        <p:nvSpPr>
          <p:cNvPr id="15" name="text-571"/>
          <p:cNvSpPr txBox="1"/>
          <p:nvPr/>
        </p:nvSpPr>
        <p:spPr>
          <a:xfrm>
            <a:off x="548640"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a:t>
            </a:r>
            <a:endParaRPr lang="en-US" sz="2400" dirty="0"/>
          </a:p>
        </p:txBody>
      </p:sp>
      <p:sp>
        <p:nvSpPr>
          <p:cNvPr id="16" name="text-572"/>
          <p:cNvSpPr txBox="1"/>
          <p:nvPr/>
        </p:nvSpPr>
        <p:spPr>
          <a:xfrm>
            <a:off x="548640"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underground shelters</a:t>
            </a:r>
            <a:endParaRPr lang="en-US" sz="900" dirty="0"/>
          </a:p>
        </p:txBody>
      </p:sp>
      <p:sp>
        <p:nvSpPr>
          <p:cNvPr id="17" name="text-573"/>
          <p:cNvSpPr txBox="1"/>
          <p:nvPr/>
        </p:nvSpPr>
        <p:spPr>
          <a:xfrm>
            <a:off x="2703576"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30 days</a:t>
            </a:r>
            <a:endParaRPr lang="en-US" sz="2400" dirty="0"/>
          </a:p>
        </p:txBody>
      </p:sp>
      <p:sp>
        <p:nvSpPr>
          <p:cNvPr id="18" name="text-574"/>
          <p:cNvSpPr txBox="1"/>
          <p:nvPr/>
        </p:nvSpPr>
        <p:spPr>
          <a:xfrm>
            <a:off x="2703576"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supplies for every resident</a:t>
            </a:r>
            <a:endParaRPr lang="en-US" sz="900" dirty="0"/>
          </a:p>
        </p:txBody>
      </p:sp>
      <p:sp>
        <p:nvSpPr>
          <p:cNvPr id="19" name="text-575"/>
          <p:cNvSpPr txBox="1"/>
          <p:nvPr/>
        </p:nvSpPr>
        <p:spPr>
          <a:xfrm>
            <a:off x="4858512"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48 h</a:t>
            </a:r>
            <a:endParaRPr lang="en-US" sz="2400" dirty="0"/>
          </a:p>
        </p:txBody>
      </p:sp>
      <p:sp>
        <p:nvSpPr>
          <p:cNvPr id="20" name="text-576"/>
          <p:cNvSpPr txBox="1"/>
          <p:nvPr/>
        </p:nvSpPr>
        <p:spPr>
          <a:xfrm>
            <a:off x="4858512"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blizzard forecasts</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kicker-dot-577"/>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578"/>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EXPLORE</a:t>
            </a:r>
            <a:endParaRPr lang="en-US" sz="900" dirty="0"/>
          </a:p>
        </p:txBody>
      </p:sp>
      <p:sp>
        <p:nvSpPr>
          <p:cNvPr id="4" name="title-579"/>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Take the Tour: Eight Stops</a:t>
            </a:r>
            <a:endParaRPr lang="en-US" sz="3400" dirty="0"/>
          </a:p>
        </p:txBody>
      </p:sp>
      <p:sp>
        <p:nvSpPr>
          <p:cNvPr id="5" name="text-581"/>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A walk around Aurora Haven in eight stops, from the civic heart of downtown out to the plants, the snow peak and the windy northern edge.</a:t>
            </a:r>
            <a:endParaRPr lang="en-US" sz="1400" dirty="0"/>
          </a:p>
        </p:txBody>
      </p:sp>
      <p:sp>
        <p:nvSpPr>
          <p:cNvPr id="6" name="tour-route"/>
          <p:cNvSpPr/>
          <p:nvPr/>
        </p:nvSpPr>
        <p:spPr>
          <a:xfrm>
            <a:off x="749808" y="2606040"/>
            <a:ext cx="0" cy="5504688"/>
          </a:xfrm>
          <a:prstGeom prst="line">
            <a:avLst/>
          </a:prstGeom>
          <a:noFill/>
          <a:ln w="25400">
            <a:solidFill>
              <a:schemeClr val="accent6"/>
            </a:solidFill>
            <a:prstDash val="dash"/>
          </a:ln>
        </p:spPr>
      </p:sp>
      <p:sp>
        <p:nvSpPr>
          <p:cNvPr id="7" name="marker-582"/>
          <p:cNvSpPr/>
          <p:nvPr/>
        </p:nvSpPr>
        <p:spPr>
          <a:xfrm>
            <a:off x="548640" y="2423160"/>
            <a:ext cx="402336" cy="402336"/>
          </a:xfrm>
          <a:prstGeom prst="ellipse">
            <a:avLst/>
          </a:prstGeom>
          <a:solidFill>
            <a:schemeClr val="accent6"/>
          </a:solidFill>
          <a:ln w="12700">
            <a:solidFill>
              <a:schemeClr val="accent6"/>
            </a:solidFill>
            <a:prstDash val="solid"/>
          </a:ln>
        </p:spPr>
      </p:sp>
      <p:sp>
        <p:nvSpPr>
          <p:cNvPr id="8" name="text-583"/>
          <p:cNvSpPr txBox="1"/>
          <p:nvPr/>
        </p:nvSpPr>
        <p:spPr>
          <a:xfrm>
            <a:off x="548640" y="242316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9" name="text-584"/>
          <p:cNvSpPr txBox="1"/>
          <p:nvPr/>
        </p:nvSpPr>
        <p:spPr>
          <a:xfrm>
            <a:off x="1097280" y="244144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President Ho Chi Minh Monument</a:t>
            </a:r>
            <a:endParaRPr lang="en-US" sz="1050" dirty="0"/>
          </a:p>
          <a:p>
            <a:pPr indent="0" marL="0">
              <a:lnSpc>
                <a:spcPct val="100000"/>
              </a:lnSpc>
              <a:buNone/>
            </a:pPr>
            <a:r>
              <a:rPr lang="en-US" sz="900" dirty="0">
                <a:solidFill>
                  <a:schemeClr val="tx2"/>
                </a:solidFill>
              </a:rPr>
              <a:t>The civic heart of the city on the Aurora Roundabout.</a:t>
            </a:r>
            <a:endParaRPr lang="en-US" sz="1050" dirty="0"/>
          </a:p>
        </p:txBody>
      </p:sp>
      <p:sp>
        <p:nvSpPr>
          <p:cNvPr id="10" name="marker-585"/>
          <p:cNvSpPr/>
          <p:nvPr/>
        </p:nvSpPr>
        <p:spPr>
          <a:xfrm>
            <a:off x="548640" y="3209544"/>
            <a:ext cx="402336" cy="402336"/>
          </a:xfrm>
          <a:prstGeom prst="ellipse">
            <a:avLst/>
          </a:prstGeom>
          <a:solidFill>
            <a:schemeClr val="accent6"/>
          </a:solidFill>
          <a:ln w="12700">
            <a:solidFill>
              <a:schemeClr val="accent6"/>
            </a:solidFill>
            <a:prstDash val="solid"/>
          </a:ln>
        </p:spPr>
      </p:sp>
      <p:sp>
        <p:nvSpPr>
          <p:cNvPr id="11" name="text-586"/>
          <p:cNvSpPr txBox="1"/>
          <p:nvPr/>
        </p:nvSpPr>
        <p:spPr>
          <a:xfrm>
            <a:off x="548640" y="32095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2" name="text-587"/>
          <p:cNvSpPr txBox="1"/>
          <p:nvPr/>
        </p:nvSpPr>
        <p:spPr>
          <a:xfrm>
            <a:off x="1097280" y="322783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Metro Entrance – Central Interchange Station</a:t>
            </a:r>
            <a:endParaRPr lang="en-US" sz="1050" dirty="0"/>
          </a:p>
          <a:p>
            <a:pPr indent="0" marL="0">
              <a:lnSpc>
                <a:spcPct val="100000"/>
              </a:lnSpc>
              <a:buNone/>
            </a:pPr>
            <a:r>
              <a:rPr lang="en-US" sz="900" dirty="0">
                <a:solidFill>
                  <a:schemeClr val="tx2"/>
                </a:solidFill>
              </a:rPr>
              <a:t>Escalators down to the metro and the shelters.</a:t>
            </a:r>
            <a:endParaRPr lang="en-US" sz="1050" dirty="0"/>
          </a:p>
        </p:txBody>
      </p:sp>
      <p:sp>
        <p:nvSpPr>
          <p:cNvPr id="13" name="marker-588"/>
          <p:cNvSpPr/>
          <p:nvPr/>
        </p:nvSpPr>
        <p:spPr>
          <a:xfrm>
            <a:off x="548640" y="3995928"/>
            <a:ext cx="402336" cy="402336"/>
          </a:xfrm>
          <a:prstGeom prst="ellipse">
            <a:avLst/>
          </a:prstGeom>
          <a:solidFill>
            <a:schemeClr val="accent6"/>
          </a:solidFill>
          <a:ln w="12700">
            <a:solidFill>
              <a:schemeClr val="accent6"/>
            </a:solidFill>
            <a:prstDash val="solid"/>
          </a:ln>
        </p:spPr>
      </p:sp>
      <p:sp>
        <p:nvSpPr>
          <p:cNvPr id="14" name="text-589"/>
          <p:cNvSpPr txBox="1"/>
          <p:nvPr/>
        </p:nvSpPr>
        <p:spPr>
          <a:xfrm>
            <a:off x="548640" y="399592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5" name="text-590"/>
          <p:cNvSpPr txBox="1"/>
          <p:nvPr/>
        </p:nvSpPr>
        <p:spPr>
          <a:xfrm>
            <a:off x="1097280" y="401421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Snowflake General Hospital</a:t>
            </a:r>
            <a:endParaRPr lang="en-US" sz="1050" dirty="0"/>
          </a:p>
          <a:p>
            <a:pPr indent="0" marL="0">
              <a:lnSpc>
                <a:spcPct val="100000"/>
              </a:lnSpc>
              <a:buNone/>
            </a:pPr>
            <a:r>
              <a:rPr lang="en-US" sz="900" dirty="0">
                <a:solidFill>
                  <a:schemeClr val="tx2"/>
                </a:solidFill>
              </a:rPr>
              <a:t>About 250 beds and a 24-hour emergency department.</a:t>
            </a:r>
            <a:endParaRPr lang="en-US" sz="1050" dirty="0"/>
          </a:p>
        </p:txBody>
      </p:sp>
      <p:sp>
        <p:nvSpPr>
          <p:cNvPr id="16" name="marker-591"/>
          <p:cNvSpPr/>
          <p:nvPr/>
        </p:nvSpPr>
        <p:spPr>
          <a:xfrm>
            <a:off x="548640" y="4782312"/>
            <a:ext cx="402336" cy="402336"/>
          </a:xfrm>
          <a:prstGeom prst="ellipse">
            <a:avLst/>
          </a:prstGeom>
          <a:solidFill>
            <a:schemeClr val="accent6"/>
          </a:solidFill>
          <a:ln w="12700">
            <a:solidFill>
              <a:schemeClr val="accent6"/>
            </a:solidFill>
            <a:prstDash val="solid"/>
          </a:ln>
        </p:spPr>
      </p:sp>
      <p:sp>
        <p:nvSpPr>
          <p:cNvPr id="17" name="text-592"/>
          <p:cNvSpPr txBox="1"/>
          <p:nvPr/>
        </p:nvSpPr>
        <p:spPr>
          <a:xfrm>
            <a:off x="548640" y="478231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18" name="text-593"/>
          <p:cNvSpPr txBox="1"/>
          <p:nvPr/>
        </p:nvSpPr>
        <p:spPr>
          <a:xfrm>
            <a:off x="1097280" y="4800600"/>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Fusion Core – Compact D-T Tokamak</a:t>
            </a:r>
            <a:endParaRPr lang="en-US" sz="1050" dirty="0"/>
          </a:p>
          <a:p>
            <a:pPr indent="0" marL="0">
              <a:lnSpc>
                <a:spcPct val="100000"/>
              </a:lnSpc>
              <a:buNone/>
            </a:pPr>
            <a:r>
              <a:rPr lang="en-US" sz="900" dirty="0">
                <a:solidFill>
                  <a:schemeClr val="tx2"/>
                </a:solidFill>
              </a:rPr>
              <a:t>The city’s own sun.</a:t>
            </a:r>
            <a:endParaRPr lang="en-US" sz="1050" dirty="0"/>
          </a:p>
        </p:txBody>
      </p:sp>
      <p:sp>
        <p:nvSpPr>
          <p:cNvPr id="19" name="marker-594"/>
          <p:cNvSpPr/>
          <p:nvPr/>
        </p:nvSpPr>
        <p:spPr>
          <a:xfrm>
            <a:off x="548640" y="5568696"/>
            <a:ext cx="402336" cy="402336"/>
          </a:xfrm>
          <a:prstGeom prst="ellipse">
            <a:avLst/>
          </a:prstGeom>
          <a:solidFill>
            <a:schemeClr val="accent6"/>
          </a:solidFill>
          <a:ln w="12700">
            <a:solidFill>
              <a:schemeClr val="accent6"/>
            </a:solidFill>
            <a:prstDash val="solid"/>
          </a:ln>
        </p:spPr>
      </p:sp>
      <p:sp>
        <p:nvSpPr>
          <p:cNvPr id="20" name="text-595"/>
          <p:cNvSpPr txBox="1"/>
          <p:nvPr/>
        </p:nvSpPr>
        <p:spPr>
          <a:xfrm>
            <a:off x="548640" y="55686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1" name="text-596"/>
          <p:cNvSpPr txBox="1"/>
          <p:nvPr/>
        </p:nvSpPr>
        <p:spPr>
          <a:xfrm>
            <a:off x="1097280" y="5586984"/>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 Harvest &amp; Melt Hall</a:t>
            </a:r>
            <a:endParaRPr lang="en-US" sz="1050" dirty="0"/>
          </a:p>
          <a:p>
            <a:pPr indent="0" marL="0">
              <a:lnSpc>
                <a:spcPct val="100000"/>
              </a:lnSpc>
              <a:buNone/>
            </a:pPr>
            <a:r>
              <a:rPr lang="en-US" sz="900" dirty="0">
                <a:solidFill>
                  <a:schemeClr val="tx2"/>
                </a:solidFill>
              </a:rPr>
              <a:t>Melts about 3,000 t of snow a day with spare fusion heat.</a:t>
            </a:r>
            <a:endParaRPr lang="en-US" sz="1050" dirty="0"/>
          </a:p>
        </p:txBody>
      </p:sp>
      <p:sp>
        <p:nvSpPr>
          <p:cNvPr id="22" name="marker-597"/>
          <p:cNvSpPr/>
          <p:nvPr/>
        </p:nvSpPr>
        <p:spPr>
          <a:xfrm>
            <a:off x="548640" y="6355080"/>
            <a:ext cx="402336" cy="402336"/>
          </a:xfrm>
          <a:prstGeom prst="ellipse">
            <a:avLst/>
          </a:prstGeom>
          <a:solidFill>
            <a:schemeClr val="accent6"/>
          </a:solidFill>
          <a:ln w="12700">
            <a:solidFill>
              <a:schemeClr val="accent6"/>
            </a:solidFill>
            <a:prstDash val="solid"/>
          </a:ln>
        </p:spPr>
      </p:sp>
      <p:sp>
        <p:nvSpPr>
          <p:cNvPr id="23" name="text-598"/>
          <p:cNvSpPr txBox="1"/>
          <p:nvPr/>
        </p:nvSpPr>
        <p:spPr>
          <a:xfrm>
            <a:off x="548640" y="63550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24" name="text-599"/>
          <p:cNvSpPr txBox="1"/>
          <p:nvPr/>
        </p:nvSpPr>
        <p:spPr>
          <a:xfrm>
            <a:off x="1097280" y="637336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Mount Aurora – Snow Peak &amp; Hanging Glacier</a:t>
            </a:r>
            <a:endParaRPr lang="en-US" sz="1050" dirty="0"/>
          </a:p>
          <a:p>
            <a:pPr indent="0" marL="0">
              <a:lnSpc>
                <a:spcPct val="100000"/>
              </a:lnSpc>
              <a:buNone/>
            </a:pPr>
            <a:r>
              <a:rPr lang="en-US" sz="900" dirty="0">
                <a:solidFill>
                  <a:schemeClr val="tx2"/>
                </a:solidFill>
              </a:rPr>
              <a:t>The 35 m peak with the spa inside.</a:t>
            </a:r>
            <a:endParaRPr lang="en-US" sz="1050" dirty="0"/>
          </a:p>
        </p:txBody>
      </p:sp>
      <p:sp>
        <p:nvSpPr>
          <p:cNvPr id="25" name="marker-600"/>
          <p:cNvSpPr/>
          <p:nvPr/>
        </p:nvSpPr>
        <p:spPr>
          <a:xfrm>
            <a:off x="548640" y="7141464"/>
            <a:ext cx="402336" cy="402336"/>
          </a:xfrm>
          <a:prstGeom prst="ellipse">
            <a:avLst/>
          </a:prstGeom>
          <a:solidFill>
            <a:schemeClr val="accent6"/>
          </a:solidFill>
          <a:ln w="12700">
            <a:solidFill>
              <a:schemeClr val="accent6"/>
            </a:solidFill>
            <a:prstDash val="solid"/>
          </a:ln>
        </p:spPr>
      </p:sp>
      <p:sp>
        <p:nvSpPr>
          <p:cNvPr id="26" name="text-601"/>
          <p:cNvSpPr txBox="1"/>
          <p:nvPr/>
        </p:nvSpPr>
        <p:spPr>
          <a:xfrm>
            <a:off x="548640" y="71414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7</a:t>
            </a:r>
            <a:endParaRPr lang="en-US" sz="1400" dirty="0"/>
          </a:p>
        </p:txBody>
      </p:sp>
      <p:sp>
        <p:nvSpPr>
          <p:cNvPr id="27" name="text-602"/>
          <p:cNvSpPr txBox="1"/>
          <p:nvPr/>
        </p:nvSpPr>
        <p:spPr>
          <a:xfrm>
            <a:off x="1097280" y="715975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Ice-Proof Wind Farm</a:t>
            </a:r>
            <a:endParaRPr lang="en-US" sz="1050" dirty="0"/>
          </a:p>
          <a:p>
            <a:pPr indent="0" marL="0">
              <a:lnSpc>
                <a:spcPct val="100000"/>
              </a:lnSpc>
              <a:buNone/>
            </a:pPr>
            <a:r>
              <a:rPr lang="en-US" sz="900" dirty="0">
                <a:solidFill>
                  <a:schemeClr val="tx2"/>
                </a:solidFill>
              </a:rPr>
              <a:t>Two rows of turbines making about 60 MW.</a:t>
            </a:r>
            <a:endParaRPr lang="en-US" sz="1050" dirty="0"/>
          </a:p>
        </p:txBody>
      </p:sp>
      <p:sp>
        <p:nvSpPr>
          <p:cNvPr id="28" name="marker-603"/>
          <p:cNvSpPr/>
          <p:nvPr/>
        </p:nvSpPr>
        <p:spPr>
          <a:xfrm>
            <a:off x="548640" y="7927848"/>
            <a:ext cx="402336" cy="402336"/>
          </a:xfrm>
          <a:prstGeom prst="ellipse">
            <a:avLst/>
          </a:prstGeom>
          <a:solidFill>
            <a:schemeClr val="accent6"/>
          </a:solidFill>
          <a:ln w="12700">
            <a:solidFill>
              <a:schemeClr val="accent6"/>
            </a:solidFill>
            <a:prstDash val="solid"/>
          </a:ln>
        </p:spPr>
      </p:sp>
      <p:sp>
        <p:nvSpPr>
          <p:cNvPr id="29" name="text-604"/>
          <p:cNvSpPr txBox="1"/>
          <p:nvPr/>
        </p:nvSpPr>
        <p:spPr>
          <a:xfrm>
            <a:off x="548640" y="79278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8</a:t>
            </a:r>
            <a:endParaRPr lang="en-US" sz="1400" dirty="0"/>
          </a:p>
        </p:txBody>
      </p:sp>
      <p:sp>
        <p:nvSpPr>
          <p:cNvPr id="30" name="text-605"/>
          <p:cNvSpPr txBox="1"/>
          <p:nvPr/>
        </p:nvSpPr>
        <p:spPr>
          <a:xfrm>
            <a:off x="1097280" y="794613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Polar Rescue and Resilience Station</a:t>
            </a:r>
            <a:endParaRPr lang="en-US" sz="1050" dirty="0"/>
          </a:p>
          <a:p>
            <a:pPr indent="0" marL="0">
              <a:lnSpc>
                <a:spcPct val="100000"/>
              </a:lnSpc>
              <a:buNone/>
            </a:pPr>
            <a:r>
              <a:rPr lang="en-US" sz="900" dirty="0">
                <a:solidFill>
                  <a:schemeClr val="tx2"/>
                </a:solidFill>
              </a:rPr>
              <a:t>Home of the 112 emergency centre.</a:t>
            </a:r>
            <a:endParaRPr lang="en-US" sz="1050" dirty="0"/>
          </a:p>
        </p:txBody>
      </p:sp>
      <p:sp>
        <p:nvSpPr>
          <p:cNvPr id="31" name="text-606"/>
          <p:cNvSpPr txBox="1"/>
          <p:nvPr/>
        </p:nvSpPr>
        <p:spPr>
          <a:xfrm>
            <a:off x="548640" y="8668512"/>
            <a:ext cx="3977640" cy="411480"/>
          </a:xfrm>
          <a:prstGeom prst="rect">
            <a:avLst/>
          </a:prstGeom>
          <a:noFill/>
          <a:ln/>
        </p:spPr>
        <p:txBody>
          <a:bodyPr wrap="square" lIns="0" tIns="0" rIns="0" bIns="0" rtlCol="0" anchor="t"/>
          <a:lstStyle/>
          <a:p>
            <a:pPr indent="0" marL="0">
              <a:buNone/>
            </a:pPr>
            <a:r>
              <a:rPr lang="en-US" sz="900" i="1" dirty="0">
                <a:solidFill>
                  <a:schemeClr val="tx2"/>
                </a:solidFill>
              </a:rPr>
              <a:t>If there is time: the Aurora Lagoon, the Bifacial Solar Farm and the Recycled Water Tower.</a:t>
            </a:r>
            <a:endParaRPr lang="en-US" sz="900" dirty="0"/>
          </a:p>
        </p:txBody>
      </p:sp>
      <p:sp>
        <p:nvSpPr>
          <p:cNvPr id="32" name="card-607"/>
          <p:cNvSpPr/>
          <p:nvPr/>
        </p:nvSpPr>
        <p:spPr>
          <a:xfrm>
            <a:off x="4800600" y="2423160"/>
            <a:ext cx="2212848" cy="7498080"/>
          </a:xfrm>
          <a:prstGeom prst="roundRect">
            <a:avLst>
              <a:gd name="adj" fmla="val 3306"/>
            </a:avLst>
          </a:prstGeom>
          <a:solidFill>
            <a:schemeClr val="bg1"/>
          </a:solidFill>
          <a:ln w="12700">
            <a:solidFill>
              <a:schemeClr val="bg1"/>
            </a:solidFill>
            <a:prstDash val="solid"/>
          </a:ln>
        </p:spPr>
      </p:sp>
      <p:pic>
        <p:nvPicPr>
          <p:cNvPr id="33" name="picture-608" descr="/home/user/chatbox-bi-n-o/magazine/assets/renders/stadium.jpg">    </p:cNvPr>
          <p:cNvPicPr>
            <a:picLocks noChangeAspect="1"/>
          </p:cNvPicPr>
          <p:nvPr/>
        </p:nvPicPr>
        <p:blipFill>
          <a:blip r:embed="rId1"/>
          <a:srcRect l="0" r="0" t="0" b="0"/>
          <a:stretch/>
        </p:blipFill>
        <p:spPr>
          <a:xfrm>
            <a:off x="4800600" y="2423160"/>
            <a:ext cx="2212848" cy="1600200"/>
          </a:xfrm>
          <a:prstGeom prst="rect">
            <a:avLst/>
          </a:prstGeom>
        </p:spPr>
      </p:pic>
      <p:sp>
        <p:nvSpPr>
          <p:cNvPr id="34" name="text-609"/>
          <p:cNvSpPr txBox="1"/>
          <p:nvPr/>
        </p:nvSpPr>
        <p:spPr>
          <a:xfrm>
            <a:off x="4965192" y="4087368"/>
            <a:ext cx="1883664" cy="201168"/>
          </a:xfrm>
          <a:prstGeom prst="rect">
            <a:avLst/>
          </a:prstGeom>
          <a:noFill/>
          <a:ln/>
        </p:spPr>
        <p:txBody>
          <a:bodyPr wrap="square" lIns="0" tIns="0" rIns="0" bIns="0" rtlCol="0" anchor="t"/>
          <a:lstStyle/>
          <a:p>
            <a:pPr indent="0" marL="0">
              <a:buNone/>
            </a:pPr>
            <a:r>
              <a:rPr lang="en-US" sz="850" i="1" dirty="0">
                <a:solidFill>
                  <a:schemeClr val="tx2"/>
                </a:solidFill>
              </a:rPr>
              <a:t>Aurora Snow Stadium at dusk.</a:t>
            </a:r>
            <a:endParaRPr lang="en-US" sz="850" dirty="0"/>
          </a:p>
        </p:txBody>
      </p:sp>
      <p:sp>
        <p:nvSpPr>
          <p:cNvPr id="35" name="kicker-dot-610"/>
          <p:cNvSpPr/>
          <p:nvPr/>
        </p:nvSpPr>
        <p:spPr>
          <a:xfrm>
            <a:off x="4965192" y="4475988"/>
            <a:ext cx="100584" cy="100584"/>
          </a:xfrm>
          <a:prstGeom prst="ellipse">
            <a:avLst/>
          </a:prstGeom>
          <a:solidFill>
            <a:schemeClr val="accent6"/>
          </a:solidFill>
          <a:ln w="12700">
            <a:solidFill>
              <a:schemeClr val="accent6"/>
            </a:solidFill>
            <a:prstDash val="solid"/>
          </a:ln>
        </p:spPr>
      </p:sp>
      <p:sp>
        <p:nvSpPr>
          <p:cNvPr id="36" name="text-611"/>
          <p:cNvSpPr txBox="1"/>
          <p:nvPr/>
        </p:nvSpPr>
        <p:spPr>
          <a:xfrm>
            <a:off x="5148072" y="4434840"/>
            <a:ext cx="184708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BEHIND THE BUILD</a:t>
            </a:r>
            <a:endParaRPr lang="en-US" sz="900" dirty="0"/>
          </a:p>
        </p:txBody>
      </p:sp>
      <p:sp>
        <p:nvSpPr>
          <p:cNvPr id="37" name="text-612"/>
          <p:cNvSpPr txBox="1"/>
          <p:nvPr/>
        </p:nvSpPr>
        <p:spPr>
          <a:xfrm>
            <a:off x="4965192" y="4709160"/>
            <a:ext cx="188366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35</a:t>
            </a:r>
            <a:endParaRPr lang="en-US" sz="2000" dirty="0"/>
          </a:p>
        </p:txBody>
      </p:sp>
      <p:sp>
        <p:nvSpPr>
          <p:cNvPr id="38" name="text-613"/>
          <p:cNvSpPr txBox="1"/>
          <p:nvPr/>
        </p:nvSpPr>
        <p:spPr>
          <a:xfrm>
            <a:off x="4965192" y="5063744"/>
            <a:ext cx="1883664"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key places, numbered on the master plan</a:t>
            </a:r>
            <a:endParaRPr lang="en-US" sz="850" dirty="0"/>
          </a:p>
        </p:txBody>
      </p:sp>
      <p:sp>
        <p:nvSpPr>
          <p:cNvPr id="39" name="text-614"/>
          <p:cNvSpPr txBox="1"/>
          <p:nvPr/>
        </p:nvSpPr>
        <p:spPr>
          <a:xfrm>
            <a:off x="4965192" y="5486400"/>
            <a:ext cx="188366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9</a:t>
            </a:r>
            <a:endParaRPr lang="en-US" sz="2000" dirty="0"/>
          </a:p>
        </p:txBody>
      </p:sp>
      <p:sp>
        <p:nvSpPr>
          <p:cNvPr id="40" name="text-615"/>
          <p:cNvSpPr txBox="1"/>
          <p:nvPr/>
        </p:nvSpPr>
        <p:spPr>
          <a:xfrm>
            <a:off x="4965192" y="5840984"/>
            <a:ext cx="1883664"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downtown blocks around the Aurora Roundabout</a:t>
            </a:r>
            <a:endParaRPr lang="en-US" sz="850" dirty="0"/>
          </a:p>
        </p:txBody>
      </p:sp>
      <p:sp>
        <p:nvSpPr>
          <p:cNvPr id="41" name="text-616"/>
          <p:cNvSpPr txBox="1"/>
          <p:nvPr/>
        </p:nvSpPr>
        <p:spPr>
          <a:xfrm>
            <a:off x="4965192" y="6263640"/>
            <a:ext cx="188366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1 m</a:t>
            </a:r>
            <a:endParaRPr lang="en-US" sz="2000" dirty="0"/>
          </a:p>
        </p:txBody>
      </p:sp>
      <p:sp>
        <p:nvSpPr>
          <p:cNvPr id="42" name="text-617"/>
          <p:cNvSpPr txBox="1"/>
          <p:nvPr/>
        </p:nvSpPr>
        <p:spPr>
          <a:xfrm>
            <a:off x="4965192" y="6618224"/>
            <a:ext cx="1883664"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per unit on every plan, drawn from the 3D model</a:t>
            </a:r>
            <a:endParaRPr lang="en-US" sz="850" dirty="0"/>
          </a:p>
        </p:txBody>
      </p:sp>
      <p:sp>
        <p:nvSpPr>
          <p:cNvPr id="43" name="text-618"/>
          <p:cNvSpPr txBox="1"/>
          <p:nvPr/>
        </p:nvSpPr>
        <p:spPr>
          <a:xfrm>
            <a:off x="4965192" y="7178040"/>
            <a:ext cx="1883664" cy="201168"/>
          </a:xfrm>
          <a:prstGeom prst="rect">
            <a:avLst/>
          </a:prstGeom>
          <a:noFill/>
          <a:ln/>
        </p:spPr>
        <p:txBody>
          <a:bodyPr wrap="square" lIns="0" tIns="0" rIns="0" bIns="0" rtlCol="0" anchor="t"/>
          <a:lstStyle/>
          <a:p>
            <a:pPr indent="0" marL="0">
              <a:buNone/>
            </a:pPr>
            <a:r>
              <a:rPr lang="en-US" sz="850" b="1" spc="200" kern="0" dirty="0">
                <a:solidFill>
                  <a:schemeClr val="tx2"/>
                </a:solidFill>
              </a:rPr>
              <a:t>MEETING THE BRIEF</a:t>
            </a:r>
            <a:endParaRPr lang="en-US" sz="850" dirty="0"/>
          </a:p>
        </p:txBody>
      </p:sp>
      <p:sp>
        <p:nvSpPr>
          <p:cNvPr id="44" name="marker-619"/>
          <p:cNvSpPr/>
          <p:nvPr/>
        </p:nvSpPr>
        <p:spPr>
          <a:xfrm>
            <a:off x="4965192" y="7498080"/>
            <a:ext cx="274320" cy="274320"/>
          </a:xfrm>
          <a:prstGeom prst="ellipse">
            <a:avLst/>
          </a:prstGeom>
          <a:solidFill>
            <a:schemeClr val="tx1"/>
          </a:solidFill>
          <a:ln w="12700">
            <a:solidFill>
              <a:schemeClr val="tx1"/>
            </a:solidFill>
            <a:prstDash val="solid"/>
          </a:ln>
        </p:spPr>
      </p:sp>
      <p:sp>
        <p:nvSpPr>
          <p:cNvPr id="45" name="text-620"/>
          <p:cNvSpPr txBox="1"/>
          <p:nvPr/>
        </p:nvSpPr>
        <p:spPr>
          <a:xfrm>
            <a:off x="4965192" y="749808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latin typeface="+mj-lt" pitchFamily="34" charset="0"/>
                <a:ea typeface="+mj-lt" pitchFamily="34" charset="-122"/>
                <a:cs typeface="+mj-lt" pitchFamily="34" charset="-120"/>
              </a:rPr>
              <a:t>1</a:t>
            </a:r>
            <a:endParaRPr lang="en-US" sz="1000" dirty="0"/>
          </a:p>
        </p:txBody>
      </p:sp>
      <p:sp>
        <p:nvSpPr>
          <p:cNvPr id="46" name="text-621"/>
          <p:cNvSpPr txBox="1"/>
          <p:nvPr/>
        </p:nvSpPr>
        <p:spPr>
          <a:xfrm>
            <a:off x="5349240" y="7479792"/>
            <a:ext cx="1527048" cy="201168"/>
          </a:xfrm>
          <a:prstGeom prst="rect">
            <a:avLst/>
          </a:prstGeom>
          <a:noFill/>
          <a:ln/>
        </p:spPr>
        <p:txBody>
          <a:bodyPr wrap="square" lIns="0" tIns="0" rIns="0" bIns="0" rtlCol="0" anchor="t"/>
          <a:lstStyle/>
          <a:p>
            <a:pPr indent="0" marL="0">
              <a:buNone/>
            </a:pPr>
            <a:r>
              <a:rPr lang="en-US" sz="950" b="1" dirty="0">
                <a:solidFill>
                  <a:schemeClr val="tx1"/>
                </a:solidFill>
              </a:rPr>
              <a:t>Smart design</a:t>
            </a:r>
            <a:endParaRPr lang="en-US" sz="950" dirty="0"/>
          </a:p>
        </p:txBody>
      </p:sp>
      <p:sp>
        <p:nvSpPr>
          <p:cNvPr id="47" name="text-622"/>
          <p:cNvSpPr txBox="1"/>
          <p:nvPr/>
        </p:nvSpPr>
        <p:spPr>
          <a:xfrm>
            <a:off x="5349240" y="7680960"/>
            <a:ext cx="1527048" cy="384048"/>
          </a:xfrm>
          <a:prstGeom prst="rect">
            <a:avLst/>
          </a:prstGeom>
          <a:noFill/>
          <a:ln/>
        </p:spPr>
        <p:txBody>
          <a:bodyPr wrap="square" lIns="0" tIns="0" rIns="0" bIns="0" rtlCol="0" anchor="t"/>
          <a:lstStyle/>
          <a:p>
            <a:pPr indent="0" marL="0">
              <a:buNone/>
            </a:pPr>
            <a:r>
              <a:rPr lang="en-US" sz="850" dirty="0">
                <a:solidFill>
                  <a:schemeClr val="tx2"/>
                </a:solidFill>
              </a:rPr>
              <a:t>polar answers to cold, darkness, wind and permafrost</a:t>
            </a:r>
            <a:endParaRPr lang="en-US" sz="850" dirty="0"/>
          </a:p>
        </p:txBody>
      </p:sp>
      <p:sp>
        <p:nvSpPr>
          <p:cNvPr id="48" name="marker-623"/>
          <p:cNvSpPr/>
          <p:nvPr/>
        </p:nvSpPr>
        <p:spPr>
          <a:xfrm>
            <a:off x="4965192" y="8083296"/>
            <a:ext cx="274320" cy="274320"/>
          </a:xfrm>
          <a:prstGeom prst="ellipse">
            <a:avLst/>
          </a:prstGeom>
          <a:solidFill>
            <a:schemeClr val="tx1"/>
          </a:solidFill>
          <a:ln w="12700">
            <a:solidFill>
              <a:schemeClr val="tx1"/>
            </a:solidFill>
            <a:prstDash val="solid"/>
          </a:ln>
        </p:spPr>
      </p:sp>
      <p:sp>
        <p:nvSpPr>
          <p:cNvPr id="49" name="text-624"/>
          <p:cNvSpPr txBox="1"/>
          <p:nvPr/>
        </p:nvSpPr>
        <p:spPr>
          <a:xfrm>
            <a:off x="4965192" y="8083296"/>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latin typeface="+mj-lt" pitchFamily="34" charset="0"/>
                <a:ea typeface="+mj-lt" pitchFamily="34" charset="-122"/>
                <a:cs typeface="+mj-lt" pitchFamily="34" charset="-120"/>
              </a:rPr>
              <a:t>2</a:t>
            </a:r>
            <a:endParaRPr lang="en-US" sz="1000" dirty="0"/>
          </a:p>
        </p:txBody>
      </p:sp>
      <p:sp>
        <p:nvSpPr>
          <p:cNvPr id="50" name="text-625"/>
          <p:cNvSpPr txBox="1"/>
          <p:nvPr/>
        </p:nvSpPr>
        <p:spPr>
          <a:xfrm>
            <a:off x="5349240" y="8065008"/>
            <a:ext cx="1527048" cy="201168"/>
          </a:xfrm>
          <a:prstGeom prst="rect">
            <a:avLst/>
          </a:prstGeom>
          <a:noFill/>
          <a:ln/>
        </p:spPr>
        <p:txBody>
          <a:bodyPr wrap="square" lIns="0" tIns="0" rIns="0" bIns="0" rtlCol="0" anchor="t"/>
          <a:lstStyle/>
          <a:p>
            <a:pPr indent="0" marL="0">
              <a:buNone/>
            </a:pPr>
            <a:r>
              <a:rPr lang="en-US" sz="950" b="1" dirty="0">
                <a:solidFill>
                  <a:schemeClr val="tx1"/>
                </a:solidFill>
              </a:rPr>
              <a:t>Sustainability</a:t>
            </a:r>
            <a:endParaRPr lang="en-US" sz="950" dirty="0"/>
          </a:p>
        </p:txBody>
      </p:sp>
      <p:sp>
        <p:nvSpPr>
          <p:cNvPr id="51" name="text-626"/>
          <p:cNvSpPr txBox="1"/>
          <p:nvPr/>
        </p:nvSpPr>
        <p:spPr>
          <a:xfrm>
            <a:off x="5349240" y="8266176"/>
            <a:ext cx="1527048" cy="384048"/>
          </a:xfrm>
          <a:prstGeom prst="rect">
            <a:avLst/>
          </a:prstGeom>
          <a:noFill/>
          <a:ln/>
        </p:spPr>
        <p:txBody>
          <a:bodyPr wrap="square" lIns="0" tIns="0" rIns="0" bIns="0" rtlCol="0" anchor="t"/>
          <a:lstStyle/>
          <a:p>
            <a:pPr indent="0" marL="0">
              <a:buNone/>
            </a:pPr>
            <a:r>
              <a:rPr lang="en-US" sz="850" dirty="0">
                <a:solidFill>
                  <a:schemeClr val="tx2"/>
                </a:solidFill>
              </a:rPr>
              <a:t>clean energy, closed loops, green spaces, electric transport</a:t>
            </a:r>
            <a:endParaRPr lang="en-US" sz="850" dirty="0"/>
          </a:p>
        </p:txBody>
      </p:sp>
      <p:sp>
        <p:nvSpPr>
          <p:cNvPr id="52" name="marker-627"/>
          <p:cNvSpPr/>
          <p:nvPr/>
        </p:nvSpPr>
        <p:spPr>
          <a:xfrm>
            <a:off x="4965192" y="8668512"/>
            <a:ext cx="274320" cy="274320"/>
          </a:xfrm>
          <a:prstGeom prst="ellipse">
            <a:avLst/>
          </a:prstGeom>
          <a:solidFill>
            <a:schemeClr val="tx1"/>
          </a:solidFill>
          <a:ln w="12700">
            <a:solidFill>
              <a:schemeClr val="tx1"/>
            </a:solidFill>
            <a:prstDash val="solid"/>
          </a:ln>
        </p:spPr>
      </p:sp>
      <p:sp>
        <p:nvSpPr>
          <p:cNvPr id="53" name="text-628"/>
          <p:cNvSpPr txBox="1"/>
          <p:nvPr/>
        </p:nvSpPr>
        <p:spPr>
          <a:xfrm>
            <a:off x="4965192" y="866851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latin typeface="+mj-lt" pitchFamily="34" charset="0"/>
                <a:ea typeface="+mj-lt" pitchFamily="34" charset="-122"/>
                <a:cs typeface="+mj-lt" pitchFamily="34" charset="-120"/>
              </a:rPr>
              <a:t>3</a:t>
            </a:r>
            <a:endParaRPr lang="en-US" sz="1000" dirty="0"/>
          </a:p>
        </p:txBody>
      </p:sp>
      <p:sp>
        <p:nvSpPr>
          <p:cNvPr id="54" name="text-629"/>
          <p:cNvSpPr txBox="1"/>
          <p:nvPr/>
        </p:nvSpPr>
        <p:spPr>
          <a:xfrm>
            <a:off x="5349240" y="8650224"/>
            <a:ext cx="1527048" cy="201168"/>
          </a:xfrm>
          <a:prstGeom prst="rect">
            <a:avLst/>
          </a:prstGeom>
          <a:noFill/>
          <a:ln/>
        </p:spPr>
        <p:txBody>
          <a:bodyPr wrap="square" lIns="0" tIns="0" rIns="0" bIns="0" rtlCol="0" anchor="t"/>
          <a:lstStyle/>
          <a:p>
            <a:pPr indent="0" marL="0">
              <a:buNone/>
            </a:pPr>
            <a:r>
              <a:rPr lang="en-US" sz="950" b="1" dirty="0">
                <a:solidFill>
                  <a:schemeClr val="tx1"/>
                </a:solidFill>
              </a:rPr>
              <a:t>Livability</a:t>
            </a:r>
            <a:endParaRPr lang="en-US" sz="950" dirty="0"/>
          </a:p>
        </p:txBody>
      </p:sp>
      <p:sp>
        <p:nvSpPr>
          <p:cNvPr id="55" name="text-630"/>
          <p:cNvSpPr txBox="1"/>
          <p:nvPr/>
        </p:nvSpPr>
        <p:spPr>
          <a:xfrm>
            <a:off x="5349240" y="8851392"/>
            <a:ext cx="1527048" cy="384048"/>
          </a:xfrm>
          <a:prstGeom prst="rect">
            <a:avLst/>
          </a:prstGeom>
          <a:noFill/>
          <a:ln/>
        </p:spPr>
        <p:txBody>
          <a:bodyPr wrap="square" lIns="0" tIns="0" rIns="0" bIns="0" rtlCol="0" anchor="t"/>
          <a:lstStyle/>
          <a:p>
            <a:pPr indent="0" marL="0">
              <a:buNone/>
            </a:pPr>
            <a:r>
              <a:rPr lang="en-US" sz="850" dirty="0">
                <a:solidFill>
                  <a:schemeClr val="tx2"/>
                </a:solidFill>
              </a:rPr>
              <a:t>homes, schools, hospital, shops, parks, cinema, roads</a:t>
            </a:r>
            <a:endParaRPr lang="en-US" sz="850" dirty="0"/>
          </a:p>
        </p:txBody>
      </p:sp>
      <p:sp>
        <p:nvSpPr>
          <p:cNvPr id="56" name="marker-631"/>
          <p:cNvSpPr/>
          <p:nvPr/>
        </p:nvSpPr>
        <p:spPr>
          <a:xfrm>
            <a:off x="4965192" y="9253728"/>
            <a:ext cx="274320" cy="274320"/>
          </a:xfrm>
          <a:prstGeom prst="ellipse">
            <a:avLst/>
          </a:prstGeom>
          <a:solidFill>
            <a:schemeClr val="tx1"/>
          </a:solidFill>
          <a:ln w="12700">
            <a:solidFill>
              <a:schemeClr val="tx1"/>
            </a:solidFill>
            <a:prstDash val="solid"/>
          </a:ln>
        </p:spPr>
      </p:sp>
      <p:sp>
        <p:nvSpPr>
          <p:cNvPr id="57" name="text-632"/>
          <p:cNvSpPr txBox="1"/>
          <p:nvPr/>
        </p:nvSpPr>
        <p:spPr>
          <a:xfrm>
            <a:off x="4965192" y="9253728"/>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latin typeface="+mj-lt" pitchFamily="34" charset="0"/>
                <a:ea typeface="+mj-lt" pitchFamily="34" charset="-122"/>
                <a:cs typeface="+mj-lt" pitchFamily="34" charset="-120"/>
              </a:rPr>
              <a:t>4</a:t>
            </a:r>
            <a:endParaRPr lang="en-US" sz="1000" dirty="0"/>
          </a:p>
        </p:txBody>
      </p:sp>
      <p:sp>
        <p:nvSpPr>
          <p:cNvPr id="58" name="text-633"/>
          <p:cNvSpPr txBox="1"/>
          <p:nvPr/>
        </p:nvSpPr>
        <p:spPr>
          <a:xfrm>
            <a:off x="5349240" y="9235440"/>
            <a:ext cx="1527048" cy="201168"/>
          </a:xfrm>
          <a:prstGeom prst="rect">
            <a:avLst/>
          </a:prstGeom>
          <a:noFill/>
          <a:ln/>
        </p:spPr>
        <p:txBody>
          <a:bodyPr wrap="square" lIns="0" tIns="0" rIns="0" bIns="0" rtlCol="0" anchor="t"/>
          <a:lstStyle/>
          <a:p>
            <a:pPr indent="0" marL="0">
              <a:buNone/>
            </a:pPr>
            <a:r>
              <a:rPr lang="en-US" sz="950" b="1" dirty="0">
                <a:solidFill>
                  <a:schemeClr val="tx1"/>
                </a:solidFill>
              </a:rPr>
              <a:t>Detail</a:t>
            </a:r>
            <a:endParaRPr lang="en-US" sz="950" dirty="0"/>
          </a:p>
        </p:txBody>
      </p:sp>
      <p:sp>
        <p:nvSpPr>
          <p:cNvPr id="59" name="text-634"/>
          <p:cNvSpPr txBox="1"/>
          <p:nvPr/>
        </p:nvSpPr>
        <p:spPr>
          <a:xfrm>
            <a:off x="5349240" y="9436608"/>
            <a:ext cx="1527048" cy="384048"/>
          </a:xfrm>
          <a:prstGeom prst="rect">
            <a:avLst/>
          </a:prstGeom>
          <a:noFill/>
          <a:ln/>
        </p:spPr>
        <p:txBody>
          <a:bodyPr wrap="square" lIns="0" tIns="0" rIns="0" bIns="0" rtlCol="0" anchor="t"/>
          <a:lstStyle/>
          <a:p>
            <a:pPr indent="0" marL="0">
              <a:buNone/>
            </a:pPr>
            <a:r>
              <a:rPr lang="en-US" sz="850" dirty="0">
                <a:solidFill>
                  <a:schemeClr val="tx2"/>
                </a:solidFill>
              </a:rPr>
              <a:t>one master plan, two district plans and four spa level plans</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kicker-dot-635"/>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63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GUIDE · 35 KEY PLACES</a:t>
            </a:r>
            <a:endParaRPr lang="en-US" sz="900" dirty="0"/>
          </a:p>
        </p:txBody>
      </p:sp>
      <p:sp>
        <p:nvSpPr>
          <p:cNvPr id="4" name="title-63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Places to Visit</a:t>
            </a:r>
            <a:endParaRPr lang="en-US" sz="3400" dirty="0"/>
          </a:p>
        </p:txBody>
      </p:sp>
      <p:sp>
        <p:nvSpPr>
          <p:cNvPr id="5" name="text-639"/>
          <p:cNvSpPr txBox="1"/>
          <p:nvPr/>
        </p:nvSpPr>
        <p:spPr>
          <a:xfrm>
            <a:off x="548640" y="1444752"/>
            <a:ext cx="6464808" cy="228600"/>
          </a:xfrm>
          <a:prstGeom prst="rect">
            <a:avLst/>
          </a:prstGeom>
          <a:noFill/>
          <a:ln/>
        </p:spPr>
        <p:txBody>
          <a:bodyPr wrap="square" lIns="0" tIns="0" rIns="0" bIns="0" rtlCol="0" anchor="t"/>
          <a:lstStyle/>
          <a:p>
            <a:pPr indent="0" marL="0">
              <a:buNone/>
            </a:pPr>
            <a:r>
              <a:rPr lang="en-US" sz="950" i="1" dirty="0">
                <a:solidFill>
                  <a:schemeClr val="tx2"/>
                </a:solidFill>
              </a:rPr>
              <a:t>The numbers match the markers on the city master plan on pages 8–9.</a:t>
            </a:r>
            <a:endParaRPr lang="en-US" sz="950" dirty="0"/>
          </a:p>
        </p:txBody>
      </p:sp>
      <p:sp>
        <p:nvSpPr>
          <p:cNvPr id="6" name="text-640"/>
          <p:cNvSpPr txBox="1"/>
          <p:nvPr/>
        </p:nvSpPr>
        <p:spPr>
          <a:xfrm>
            <a:off x="548640" y="1783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a:t>
            </a:r>
            <a:endParaRPr lang="en-US" sz="1100" dirty="0"/>
          </a:p>
        </p:txBody>
      </p:sp>
      <p:sp>
        <p:nvSpPr>
          <p:cNvPr id="7" name="text-641"/>
          <p:cNvSpPr txBox="1"/>
          <p:nvPr/>
        </p:nvSpPr>
        <p:spPr>
          <a:xfrm>
            <a:off x="896112" y="1783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President Ho Chi Minh Monument</a:t>
            </a:r>
            <a:endParaRPr lang="en-US" sz="900" dirty="0"/>
          </a:p>
        </p:txBody>
      </p:sp>
      <p:sp>
        <p:nvSpPr>
          <p:cNvPr id="8" name="text-642"/>
          <p:cNvSpPr txBox="1"/>
          <p:nvPr/>
        </p:nvSpPr>
        <p:spPr>
          <a:xfrm>
            <a:off x="896112" y="1956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The city’s civic heart on Aurora Roundabout: ceremonies, national holidays and walking tours.</a:t>
            </a:r>
            <a:endParaRPr lang="en-US" sz="800" dirty="0"/>
          </a:p>
        </p:txBody>
      </p:sp>
      <p:sp>
        <p:nvSpPr>
          <p:cNvPr id="9" name="text-643"/>
          <p:cNvSpPr txBox="1"/>
          <p:nvPr/>
        </p:nvSpPr>
        <p:spPr>
          <a:xfrm>
            <a:off x="548640" y="2240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a:t>
            </a:r>
            <a:endParaRPr lang="en-US" sz="1100" dirty="0"/>
          </a:p>
        </p:txBody>
      </p:sp>
      <p:sp>
        <p:nvSpPr>
          <p:cNvPr id="10" name="text-644"/>
          <p:cNvSpPr txBox="1"/>
          <p:nvPr/>
        </p:nvSpPr>
        <p:spPr>
          <a:xfrm>
            <a:off x="896112" y="2240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Civic Center &amp; Municipal Hall</a:t>
            </a:r>
            <a:endParaRPr lang="en-US" sz="900" dirty="0"/>
          </a:p>
        </p:txBody>
      </p:sp>
      <p:sp>
        <p:nvSpPr>
          <p:cNvPr id="11" name="text-645"/>
          <p:cNvSpPr txBox="1"/>
          <p:nvPr/>
        </p:nvSpPr>
        <p:spPr>
          <a:xfrm>
            <a:off x="896112" y="2414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Town hall for the city council, ID cards, permits, housing and family services.</a:t>
            </a:r>
            <a:endParaRPr lang="en-US" sz="800" dirty="0"/>
          </a:p>
        </p:txBody>
      </p:sp>
      <p:sp>
        <p:nvSpPr>
          <p:cNvPr id="12" name="text-646"/>
          <p:cNvSpPr txBox="1"/>
          <p:nvPr/>
        </p:nvSpPr>
        <p:spPr>
          <a:xfrm>
            <a:off x="548640" y="2697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a:t>
            </a:r>
            <a:endParaRPr lang="en-US" sz="1100" dirty="0"/>
          </a:p>
        </p:txBody>
      </p:sp>
      <p:sp>
        <p:nvSpPr>
          <p:cNvPr id="13" name="text-647"/>
          <p:cNvSpPr txBox="1"/>
          <p:nvPr/>
        </p:nvSpPr>
        <p:spPr>
          <a:xfrm>
            <a:off x="896112" y="2697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Snowflake General Hospital</a:t>
            </a:r>
            <a:endParaRPr lang="en-US" sz="900" dirty="0"/>
          </a:p>
        </p:txBody>
      </p:sp>
      <p:sp>
        <p:nvSpPr>
          <p:cNvPr id="14" name="text-648"/>
          <p:cNvSpPr txBox="1"/>
          <p:nvPr/>
        </p:nvSpPr>
        <p:spPr>
          <a:xfrm>
            <a:off x="896112" y="2871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Main hospital with about 250 beds and a 24-hour emergency department.</a:t>
            </a:r>
            <a:endParaRPr lang="en-US" sz="800" dirty="0"/>
          </a:p>
        </p:txBody>
      </p:sp>
      <p:sp>
        <p:nvSpPr>
          <p:cNvPr id="15" name="text-649"/>
          <p:cNvSpPr txBox="1"/>
          <p:nvPr/>
        </p:nvSpPr>
        <p:spPr>
          <a:xfrm>
            <a:off x="548640" y="3154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4</a:t>
            </a:r>
            <a:endParaRPr lang="en-US" sz="1100" dirty="0"/>
          </a:p>
        </p:txBody>
      </p:sp>
      <p:sp>
        <p:nvSpPr>
          <p:cNvPr id="16" name="text-650"/>
          <p:cNvSpPr txBox="1"/>
          <p:nvPr/>
        </p:nvSpPr>
        <p:spPr>
          <a:xfrm>
            <a:off x="896112" y="3154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Northern Lights School &amp; Botanical Conservatory</a:t>
            </a:r>
            <a:endParaRPr lang="en-US" sz="900" dirty="0"/>
          </a:p>
        </p:txBody>
      </p:sp>
      <p:sp>
        <p:nvSpPr>
          <p:cNvPr id="17" name="text-651"/>
          <p:cNvSpPr txBox="1"/>
          <p:nvPr/>
        </p:nvSpPr>
        <p:spPr>
          <a:xfrm>
            <a:off x="896112" y="3328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Primary and secondary school for about 900 pupils aged 6–18.</a:t>
            </a:r>
            <a:endParaRPr lang="en-US" sz="800" dirty="0"/>
          </a:p>
        </p:txBody>
      </p:sp>
      <p:sp>
        <p:nvSpPr>
          <p:cNvPr id="18" name="text-652"/>
          <p:cNvSpPr txBox="1"/>
          <p:nvPr/>
        </p:nvSpPr>
        <p:spPr>
          <a:xfrm>
            <a:off x="548640" y="3611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5</a:t>
            </a:r>
            <a:endParaRPr lang="en-US" sz="1100" dirty="0"/>
          </a:p>
        </p:txBody>
      </p:sp>
      <p:sp>
        <p:nvSpPr>
          <p:cNvPr id="19" name="text-653"/>
          <p:cNvSpPr txBox="1"/>
          <p:nvPr/>
        </p:nvSpPr>
        <p:spPr>
          <a:xfrm>
            <a:off x="896112" y="3611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Igloo Fresh Supermarket &amp; Food Hall</a:t>
            </a:r>
            <a:endParaRPr lang="en-US" sz="900" dirty="0"/>
          </a:p>
        </p:txBody>
      </p:sp>
      <p:sp>
        <p:nvSpPr>
          <p:cNvPr id="20" name="text-654"/>
          <p:cNvSpPr txBox="1"/>
          <p:nvPr/>
        </p:nvSpPr>
        <p:spPr>
          <a:xfrm>
            <a:off x="896112" y="3785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Downtown’s main supermarket and food court; about half its food is made in the city.</a:t>
            </a:r>
            <a:endParaRPr lang="en-US" sz="800" dirty="0"/>
          </a:p>
        </p:txBody>
      </p:sp>
      <p:sp>
        <p:nvSpPr>
          <p:cNvPr id="21" name="text-655"/>
          <p:cNvSpPr txBox="1"/>
          <p:nvPr/>
        </p:nvSpPr>
        <p:spPr>
          <a:xfrm>
            <a:off x="548640" y="4069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6</a:t>
            </a:r>
            <a:endParaRPr lang="en-US" sz="1100" dirty="0"/>
          </a:p>
        </p:txBody>
      </p:sp>
      <p:sp>
        <p:nvSpPr>
          <p:cNvPr id="22" name="text-656"/>
          <p:cNvSpPr txBox="1"/>
          <p:nvPr/>
        </p:nvSpPr>
        <p:spPr>
          <a:xfrm>
            <a:off x="896112" y="4069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Cinema &amp; Performing Arts Center</a:t>
            </a:r>
            <a:endParaRPr lang="en-US" sz="900" dirty="0"/>
          </a:p>
        </p:txBody>
      </p:sp>
      <p:sp>
        <p:nvSpPr>
          <p:cNvPr id="23" name="text-657"/>
          <p:cNvSpPr txBox="1"/>
          <p:nvPr/>
        </p:nvSpPr>
        <p:spPr>
          <a:xfrm>
            <a:off x="896112" y="4242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Cinema and theatre for films, concerts, ballet and school shows.</a:t>
            </a:r>
            <a:endParaRPr lang="en-US" sz="800" dirty="0"/>
          </a:p>
        </p:txBody>
      </p:sp>
      <p:sp>
        <p:nvSpPr>
          <p:cNvPr id="24" name="text-658"/>
          <p:cNvSpPr txBox="1"/>
          <p:nvPr/>
        </p:nvSpPr>
        <p:spPr>
          <a:xfrm>
            <a:off x="548640" y="4526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7</a:t>
            </a:r>
            <a:endParaRPr lang="en-US" sz="1100" dirty="0"/>
          </a:p>
        </p:txBody>
      </p:sp>
      <p:sp>
        <p:nvSpPr>
          <p:cNvPr id="25" name="text-659"/>
          <p:cNvSpPr txBox="1"/>
          <p:nvPr/>
        </p:nvSpPr>
        <p:spPr>
          <a:xfrm>
            <a:off x="896112" y="4526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Underground Metro &amp; Emergency Shelters</a:t>
            </a:r>
            <a:endParaRPr lang="en-US" sz="900" dirty="0"/>
          </a:p>
        </p:txBody>
      </p:sp>
      <p:sp>
        <p:nvSpPr>
          <p:cNvPr id="26" name="text-660"/>
          <p:cNvSpPr txBox="1"/>
          <p:nvPr/>
        </p:nvSpPr>
        <p:spPr>
          <a:xfrm>
            <a:off x="896112" y="4700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Metro interchange linked to four shelters that last 30 days.</a:t>
            </a:r>
            <a:endParaRPr lang="en-US" sz="800" dirty="0"/>
          </a:p>
        </p:txBody>
      </p:sp>
      <p:sp>
        <p:nvSpPr>
          <p:cNvPr id="27" name="text-661"/>
          <p:cNvSpPr txBox="1"/>
          <p:nvPr/>
        </p:nvSpPr>
        <p:spPr>
          <a:xfrm>
            <a:off x="548640" y="4983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8</a:t>
            </a:r>
            <a:endParaRPr lang="en-US" sz="1100" dirty="0"/>
          </a:p>
        </p:txBody>
      </p:sp>
      <p:sp>
        <p:nvSpPr>
          <p:cNvPr id="28" name="text-662"/>
          <p:cNvSpPr txBox="1"/>
          <p:nvPr/>
        </p:nvSpPr>
        <p:spPr>
          <a:xfrm>
            <a:off x="896112" y="4983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Core – AI Control Tower</a:t>
            </a:r>
            <a:endParaRPr lang="en-US" sz="900" dirty="0"/>
          </a:p>
        </p:txBody>
      </p:sp>
      <p:sp>
        <p:nvSpPr>
          <p:cNvPr id="29" name="text-663"/>
          <p:cNvSpPr txBox="1"/>
          <p:nvPr/>
        </p:nvSpPr>
        <p:spPr>
          <a:xfrm>
            <a:off x="896112" y="5157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Operations centre where an AI digital twin runs traffic, heat, power and alerts.</a:t>
            </a:r>
            <a:endParaRPr lang="en-US" sz="800" dirty="0"/>
          </a:p>
        </p:txBody>
      </p:sp>
      <p:sp>
        <p:nvSpPr>
          <p:cNvPr id="30" name="text-664"/>
          <p:cNvSpPr txBox="1"/>
          <p:nvPr/>
        </p:nvSpPr>
        <p:spPr>
          <a:xfrm>
            <a:off x="548640" y="5440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9</a:t>
            </a:r>
            <a:endParaRPr lang="en-US" sz="1100" dirty="0"/>
          </a:p>
        </p:txBody>
      </p:sp>
      <p:sp>
        <p:nvSpPr>
          <p:cNvPr id="31" name="text-665"/>
          <p:cNvSpPr txBox="1"/>
          <p:nvPr/>
        </p:nvSpPr>
        <p:spPr>
          <a:xfrm>
            <a:off x="896112" y="5440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Haven Police Headquarters</a:t>
            </a:r>
            <a:endParaRPr lang="en-US" sz="900" dirty="0"/>
          </a:p>
        </p:txBody>
      </p:sp>
      <p:sp>
        <p:nvSpPr>
          <p:cNvPr id="32" name="text-666"/>
          <p:cNvSpPr txBox="1"/>
          <p:nvPr/>
        </p:nvSpPr>
        <p:spPr>
          <a:xfrm>
            <a:off x="896112" y="5614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Central police station with a 24-hour police control room.</a:t>
            </a:r>
            <a:endParaRPr lang="en-US" sz="800" dirty="0"/>
          </a:p>
        </p:txBody>
      </p:sp>
      <p:sp>
        <p:nvSpPr>
          <p:cNvPr id="33" name="text-667"/>
          <p:cNvSpPr txBox="1"/>
          <p:nvPr/>
        </p:nvSpPr>
        <p:spPr>
          <a:xfrm>
            <a:off x="548640" y="5897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10</a:t>
            </a:r>
            <a:endParaRPr lang="en-US" sz="1100" dirty="0"/>
          </a:p>
        </p:txBody>
      </p:sp>
      <p:sp>
        <p:nvSpPr>
          <p:cNvPr id="34" name="text-668"/>
          <p:cNvSpPr txBox="1"/>
          <p:nvPr/>
        </p:nvSpPr>
        <p:spPr>
          <a:xfrm>
            <a:off x="896112" y="5897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Arctic University – Main Hall</a:t>
            </a:r>
            <a:endParaRPr lang="en-US" sz="900" dirty="0"/>
          </a:p>
        </p:txBody>
      </p:sp>
      <p:sp>
        <p:nvSpPr>
          <p:cNvPr id="35" name="text-669"/>
          <p:cNvSpPr txBox="1"/>
          <p:nvPr/>
        </p:nvSpPr>
        <p:spPr>
          <a:xfrm>
            <a:off x="896112" y="6071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Lecture halls for about 5,000 students of polar engineering, fusion, food science, medicine and climate.</a:t>
            </a:r>
            <a:endParaRPr lang="en-US" sz="800" dirty="0"/>
          </a:p>
        </p:txBody>
      </p:sp>
      <p:sp>
        <p:nvSpPr>
          <p:cNvPr id="36" name="text-670"/>
          <p:cNvSpPr txBox="1"/>
          <p:nvPr/>
        </p:nvSpPr>
        <p:spPr>
          <a:xfrm>
            <a:off x="548640" y="6355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11</a:t>
            </a:r>
            <a:endParaRPr lang="en-US" sz="1100" dirty="0"/>
          </a:p>
        </p:txBody>
      </p:sp>
      <p:sp>
        <p:nvSpPr>
          <p:cNvPr id="37" name="text-671"/>
          <p:cNvSpPr txBox="1"/>
          <p:nvPr/>
        </p:nvSpPr>
        <p:spPr>
          <a:xfrm>
            <a:off x="896112" y="6355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Public Library</a:t>
            </a:r>
            <a:endParaRPr lang="en-US" sz="900" dirty="0"/>
          </a:p>
        </p:txBody>
      </p:sp>
      <p:sp>
        <p:nvSpPr>
          <p:cNvPr id="38" name="text-672"/>
          <p:cNvSpPr txBox="1"/>
          <p:nvPr/>
        </p:nvSpPr>
        <p:spPr>
          <a:xfrm>
            <a:off x="896112" y="6528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Free library, open 24 hours in the polar night; lends skis, telescopes and light-therapy lamps.</a:t>
            </a:r>
            <a:endParaRPr lang="en-US" sz="800" dirty="0"/>
          </a:p>
        </p:txBody>
      </p:sp>
      <p:sp>
        <p:nvSpPr>
          <p:cNvPr id="39" name="text-673"/>
          <p:cNvSpPr txBox="1"/>
          <p:nvPr/>
        </p:nvSpPr>
        <p:spPr>
          <a:xfrm>
            <a:off x="548640" y="6812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12</a:t>
            </a:r>
            <a:endParaRPr lang="en-US" sz="1100" dirty="0"/>
          </a:p>
        </p:txBody>
      </p:sp>
      <p:sp>
        <p:nvSpPr>
          <p:cNvPr id="40" name="text-674"/>
          <p:cNvSpPr txBox="1"/>
          <p:nvPr/>
        </p:nvSpPr>
        <p:spPr>
          <a:xfrm>
            <a:off x="896112" y="6812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West Market Fire &amp; Ambulance Station</a:t>
            </a:r>
            <a:endParaRPr lang="en-US" sz="900" dirty="0"/>
          </a:p>
        </p:txBody>
      </p:sp>
      <p:sp>
        <p:nvSpPr>
          <p:cNvPr id="41" name="text-675"/>
          <p:cNvSpPr txBox="1"/>
          <p:nvPr/>
        </p:nvSpPr>
        <p:spPr>
          <a:xfrm>
            <a:off x="896112" y="6986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Downtown fire and ambulance branch that reaches any downtown address in about 4 minutes.</a:t>
            </a:r>
            <a:endParaRPr lang="en-US" sz="800" dirty="0"/>
          </a:p>
        </p:txBody>
      </p:sp>
      <p:sp>
        <p:nvSpPr>
          <p:cNvPr id="42" name="text-676"/>
          <p:cNvSpPr txBox="1"/>
          <p:nvPr/>
        </p:nvSpPr>
        <p:spPr>
          <a:xfrm>
            <a:off x="548640" y="7269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13</a:t>
            </a:r>
            <a:endParaRPr lang="en-US" sz="1100" dirty="0"/>
          </a:p>
        </p:txBody>
      </p:sp>
      <p:sp>
        <p:nvSpPr>
          <p:cNvPr id="43" name="text-677"/>
          <p:cNvSpPr txBox="1"/>
          <p:nvPr/>
        </p:nvSpPr>
        <p:spPr>
          <a:xfrm>
            <a:off x="896112" y="7269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Glacier Mall &amp; Crystal Atrium</a:t>
            </a:r>
            <a:endParaRPr lang="en-US" sz="900" dirty="0"/>
          </a:p>
        </p:txBody>
      </p:sp>
      <p:sp>
        <p:nvSpPr>
          <p:cNvPr id="44" name="text-678"/>
          <p:cNvSpPr txBox="1"/>
          <p:nvPr/>
        </p:nvSpPr>
        <p:spPr>
          <a:xfrm>
            <a:off x="896112" y="7443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Largest downtown mall, with an indoor atrium park of real trees.</a:t>
            </a:r>
            <a:endParaRPr lang="en-US" sz="800" dirty="0"/>
          </a:p>
        </p:txBody>
      </p:sp>
      <p:sp>
        <p:nvSpPr>
          <p:cNvPr id="45" name="text-679"/>
          <p:cNvSpPr txBox="1"/>
          <p:nvPr/>
        </p:nvSpPr>
        <p:spPr>
          <a:xfrm>
            <a:off x="548640" y="7726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14</a:t>
            </a:r>
            <a:endParaRPr lang="en-US" sz="1100" dirty="0"/>
          </a:p>
        </p:txBody>
      </p:sp>
      <p:sp>
        <p:nvSpPr>
          <p:cNvPr id="46" name="text-680"/>
          <p:cNvSpPr txBox="1"/>
          <p:nvPr/>
        </p:nvSpPr>
        <p:spPr>
          <a:xfrm>
            <a:off x="896112" y="7726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 Lantern Primary School</a:t>
            </a:r>
            <a:endParaRPr lang="en-US" sz="900" dirty="0"/>
          </a:p>
        </p:txBody>
      </p:sp>
      <p:sp>
        <p:nvSpPr>
          <p:cNvPr id="47" name="text-681"/>
          <p:cNvSpPr txBox="1"/>
          <p:nvPr/>
        </p:nvSpPr>
        <p:spPr>
          <a:xfrm>
            <a:off x="896112" y="7900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Primary school for about 450 children aged 6–11 from the southern districts.</a:t>
            </a:r>
            <a:endParaRPr lang="en-US" sz="800" dirty="0"/>
          </a:p>
        </p:txBody>
      </p:sp>
      <p:sp>
        <p:nvSpPr>
          <p:cNvPr id="48" name="text-682"/>
          <p:cNvSpPr txBox="1"/>
          <p:nvPr/>
        </p:nvSpPr>
        <p:spPr>
          <a:xfrm>
            <a:off x="548640" y="8183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15</a:t>
            </a:r>
            <a:endParaRPr lang="en-US" sz="1100" dirty="0"/>
          </a:p>
        </p:txBody>
      </p:sp>
      <p:sp>
        <p:nvSpPr>
          <p:cNvPr id="49" name="text-683"/>
          <p:cNvSpPr txBox="1"/>
          <p:nvPr/>
        </p:nvSpPr>
        <p:spPr>
          <a:xfrm>
            <a:off x="896112" y="8183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Pinecone Kindergarten</a:t>
            </a:r>
            <a:endParaRPr lang="en-US" sz="900" dirty="0"/>
          </a:p>
        </p:txBody>
      </p:sp>
      <p:sp>
        <p:nvSpPr>
          <p:cNvPr id="50" name="text-684"/>
          <p:cNvSpPr txBox="1"/>
          <p:nvPr/>
        </p:nvSpPr>
        <p:spPr>
          <a:xfrm>
            <a:off x="896112" y="8357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Kindergarten and day nursery for about 40 children aged 1–6.</a:t>
            </a:r>
            <a:endParaRPr lang="en-US" sz="800" dirty="0"/>
          </a:p>
        </p:txBody>
      </p:sp>
      <p:sp>
        <p:nvSpPr>
          <p:cNvPr id="51" name="text-685"/>
          <p:cNvSpPr txBox="1"/>
          <p:nvPr/>
        </p:nvSpPr>
        <p:spPr>
          <a:xfrm>
            <a:off x="548640" y="8641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16</a:t>
            </a:r>
            <a:endParaRPr lang="en-US" sz="1100" dirty="0"/>
          </a:p>
        </p:txBody>
      </p:sp>
      <p:sp>
        <p:nvSpPr>
          <p:cNvPr id="52" name="text-686"/>
          <p:cNvSpPr txBox="1"/>
          <p:nvPr/>
        </p:nvSpPr>
        <p:spPr>
          <a:xfrm>
            <a:off x="896112" y="8641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81 – Polar Landmark Tower</a:t>
            </a:r>
            <a:endParaRPr lang="en-US" sz="900" dirty="0"/>
          </a:p>
        </p:txBody>
      </p:sp>
      <p:sp>
        <p:nvSpPr>
          <p:cNvPr id="53" name="text-687"/>
          <p:cNvSpPr txBox="1"/>
          <p:nvPr/>
        </p:nvSpPr>
        <p:spPr>
          <a:xfrm>
            <a:off x="896112" y="8814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Tallest tower and skyline symbol: offices, hotel and sky apartments, net-zero energy.</a:t>
            </a:r>
            <a:endParaRPr lang="en-US" sz="800" dirty="0"/>
          </a:p>
        </p:txBody>
      </p:sp>
      <p:sp>
        <p:nvSpPr>
          <p:cNvPr id="54" name="text-688"/>
          <p:cNvSpPr txBox="1"/>
          <p:nvPr/>
        </p:nvSpPr>
        <p:spPr>
          <a:xfrm>
            <a:off x="548640" y="9098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17</a:t>
            </a:r>
            <a:endParaRPr lang="en-US" sz="1100" dirty="0"/>
          </a:p>
        </p:txBody>
      </p:sp>
      <p:sp>
        <p:nvSpPr>
          <p:cNvPr id="55" name="text-689"/>
          <p:cNvSpPr txBox="1"/>
          <p:nvPr/>
        </p:nvSpPr>
        <p:spPr>
          <a:xfrm>
            <a:off x="896112" y="9098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Snow Garden Park</a:t>
            </a:r>
            <a:endParaRPr lang="en-US" sz="900" dirty="0"/>
          </a:p>
        </p:txBody>
      </p:sp>
      <p:sp>
        <p:nvSpPr>
          <p:cNvPr id="56" name="text-690"/>
          <p:cNvSpPr txBox="1"/>
          <p:nvPr/>
        </p:nvSpPr>
        <p:spPr>
          <a:xfrm>
            <a:off x="896112" y="9272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Public park with heated benches, a sledging slope and a snow-sculpture trail.</a:t>
            </a:r>
            <a:endParaRPr lang="en-US" sz="800" dirty="0"/>
          </a:p>
        </p:txBody>
      </p:sp>
      <p:sp>
        <p:nvSpPr>
          <p:cNvPr id="57" name="text-691"/>
          <p:cNvSpPr txBox="1"/>
          <p:nvPr/>
        </p:nvSpPr>
        <p:spPr>
          <a:xfrm>
            <a:off x="548640" y="9555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18</a:t>
            </a:r>
            <a:endParaRPr lang="en-US" sz="1100" dirty="0"/>
          </a:p>
        </p:txBody>
      </p:sp>
      <p:sp>
        <p:nvSpPr>
          <p:cNvPr id="58" name="text-692"/>
          <p:cNvSpPr txBox="1"/>
          <p:nvPr/>
        </p:nvSpPr>
        <p:spPr>
          <a:xfrm>
            <a:off x="896112" y="9555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Mount Aurora – Snow Peak &amp; Hanging Glacier</a:t>
            </a:r>
            <a:endParaRPr lang="en-US" sz="900" dirty="0"/>
          </a:p>
        </p:txBody>
      </p:sp>
      <p:sp>
        <p:nvSpPr>
          <p:cNvPr id="59" name="text-693"/>
          <p:cNvSpPr txBox="1"/>
          <p:nvPr/>
        </p:nvSpPr>
        <p:spPr>
          <a:xfrm>
            <a:off x="896112" y="9729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35 m landmark peak with the four-level spa inside.</a:t>
            </a:r>
            <a:endParaRPr lang="en-US" sz="800" dirty="0"/>
          </a:p>
        </p:txBody>
      </p:sp>
      <p:sp>
        <p:nvSpPr>
          <p:cNvPr id="60" name="text-694"/>
          <p:cNvSpPr txBox="1"/>
          <p:nvPr/>
        </p:nvSpPr>
        <p:spPr>
          <a:xfrm>
            <a:off x="3918204" y="1783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19</a:t>
            </a:r>
            <a:endParaRPr lang="en-US" sz="1100" dirty="0"/>
          </a:p>
        </p:txBody>
      </p:sp>
      <p:sp>
        <p:nvSpPr>
          <p:cNvPr id="61" name="text-695"/>
          <p:cNvSpPr txBox="1"/>
          <p:nvPr/>
        </p:nvSpPr>
        <p:spPr>
          <a:xfrm>
            <a:off x="4265676" y="1783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Summit Sanctuary &amp; Aurora Eye</a:t>
            </a:r>
            <a:endParaRPr lang="en-US" sz="900" dirty="0"/>
          </a:p>
        </p:txBody>
      </p:sp>
      <p:sp>
        <p:nvSpPr>
          <p:cNvPr id="62" name="text-696"/>
          <p:cNvSpPr txBox="1"/>
          <p:nvPr/>
        </p:nvSpPr>
        <p:spPr>
          <a:xfrm>
            <a:off x="4265676" y="1956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Float pool, meditation circle and the Aurora Eye viewing bubble for the northern lights.</a:t>
            </a:r>
            <a:endParaRPr lang="en-US" sz="800" dirty="0"/>
          </a:p>
        </p:txBody>
      </p:sp>
      <p:sp>
        <p:nvSpPr>
          <p:cNvPr id="63" name="text-697"/>
          <p:cNvSpPr txBox="1"/>
          <p:nvPr/>
        </p:nvSpPr>
        <p:spPr>
          <a:xfrm>
            <a:off x="3918204" y="2240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20</a:t>
            </a:r>
            <a:endParaRPr lang="en-US" sz="1100" dirty="0"/>
          </a:p>
        </p:txBody>
      </p:sp>
      <p:sp>
        <p:nvSpPr>
          <p:cNvPr id="64" name="text-698"/>
          <p:cNvSpPr txBox="1"/>
          <p:nvPr/>
        </p:nvSpPr>
        <p:spPr>
          <a:xfrm>
            <a:off x="4265676" y="2240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Lagoon – Outdoor Geothermal Mineral Pool</a:t>
            </a:r>
            <a:endParaRPr lang="en-US" sz="900" dirty="0"/>
          </a:p>
        </p:txBody>
      </p:sp>
      <p:sp>
        <p:nvSpPr>
          <p:cNvPr id="65" name="text-699"/>
          <p:cNvSpPr txBox="1"/>
          <p:nvPr/>
        </p:nvSpPr>
        <p:spPr>
          <a:xfrm>
            <a:off x="4265676" y="2414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38 °C open-air silica pool for bathing under the northern lights.</a:t>
            </a:r>
            <a:endParaRPr lang="en-US" sz="800" dirty="0"/>
          </a:p>
        </p:txBody>
      </p:sp>
      <p:sp>
        <p:nvSpPr>
          <p:cNvPr id="66" name="text-700"/>
          <p:cNvSpPr txBox="1"/>
          <p:nvPr/>
        </p:nvSpPr>
        <p:spPr>
          <a:xfrm>
            <a:off x="3918204" y="2697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21</a:t>
            </a:r>
            <a:endParaRPr lang="en-US" sz="1100" dirty="0"/>
          </a:p>
        </p:txBody>
      </p:sp>
      <p:sp>
        <p:nvSpPr>
          <p:cNvPr id="67" name="text-701"/>
          <p:cNvSpPr txBox="1"/>
          <p:nvPr/>
        </p:nvSpPr>
        <p:spPr>
          <a:xfrm>
            <a:off x="4265676" y="2697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Fusion Core – Compact D-T Tokamak</a:t>
            </a:r>
            <a:endParaRPr lang="en-US" sz="900" dirty="0"/>
          </a:p>
        </p:txBody>
      </p:sp>
      <p:sp>
        <p:nvSpPr>
          <p:cNvPr id="68" name="text-702"/>
          <p:cNvSpPr txBox="1"/>
          <p:nvPr/>
        </p:nvSpPr>
        <p:spPr>
          <a:xfrm>
            <a:off x="4265676" y="2871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150-million-degree plasma giving about 800 MW of heat; it cannot melt down.</a:t>
            </a:r>
            <a:endParaRPr lang="en-US" sz="800" dirty="0"/>
          </a:p>
        </p:txBody>
      </p:sp>
      <p:sp>
        <p:nvSpPr>
          <p:cNvPr id="69" name="text-703"/>
          <p:cNvSpPr txBox="1"/>
          <p:nvPr/>
        </p:nvSpPr>
        <p:spPr>
          <a:xfrm>
            <a:off x="3918204" y="3154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22</a:t>
            </a:r>
            <a:endParaRPr lang="en-US" sz="1100" dirty="0"/>
          </a:p>
        </p:txBody>
      </p:sp>
      <p:sp>
        <p:nvSpPr>
          <p:cNvPr id="70" name="text-704"/>
          <p:cNvSpPr txBox="1"/>
          <p:nvPr/>
        </p:nvSpPr>
        <p:spPr>
          <a:xfrm>
            <a:off x="4265676" y="3154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Power Conversion &amp; Heat Export Hall</a:t>
            </a:r>
            <a:endParaRPr lang="en-US" sz="900" dirty="0"/>
          </a:p>
        </p:txBody>
      </p:sp>
      <p:sp>
        <p:nvSpPr>
          <p:cNvPr id="71" name="text-705"/>
          <p:cNvSpPr txBox="1"/>
          <p:nvPr/>
        </p:nvSpPr>
        <p:spPr>
          <a:xfrm>
            <a:off x="4265676" y="3328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Makes about 300 MW of electricity and sends about 450 MW of heat to the city.</a:t>
            </a:r>
            <a:endParaRPr lang="en-US" sz="800" dirty="0"/>
          </a:p>
        </p:txBody>
      </p:sp>
      <p:sp>
        <p:nvSpPr>
          <p:cNvPr id="72" name="text-706"/>
          <p:cNvSpPr txBox="1"/>
          <p:nvPr/>
        </p:nvSpPr>
        <p:spPr>
          <a:xfrm>
            <a:off x="3918204" y="3611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23</a:t>
            </a:r>
            <a:endParaRPr lang="en-US" sz="1100" dirty="0"/>
          </a:p>
        </p:txBody>
      </p:sp>
      <p:sp>
        <p:nvSpPr>
          <p:cNvPr id="73" name="text-707"/>
          <p:cNvSpPr txBox="1"/>
          <p:nvPr/>
        </p:nvSpPr>
        <p:spPr>
          <a:xfrm>
            <a:off x="4265676" y="3611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Plasma Waste Converter</a:t>
            </a:r>
            <a:endParaRPr lang="en-US" sz="900" dirty="0"/>
          </a:p>
        </p:txBody>
      </p:sp>
      <p:sp>
        <p:nvSpPr>
          <p:cNvPr id="74" name="text-708"/>
          <p:cNvSpPr txBox="1"/>
          <p:nvPr/>
        </p:nvSpPr>
        <p:spPr>
          <a:xfrm>
            <a:off x="4265676" y="3785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Turns about 20 t of rubbish a day into clean gas, recovered metals and building blocks.</a:t>
            </a:r>
            <a:endParaRPr lang="en-US" sz="800" dirty="0"/>
          </a:p>
        </p:txBody>
      </p:sp>
      <p:sp>
        <p:nvSpPr>
          <p:cNvPr id="75" name="text-709"/>
          <p:cNvSpPr txBox="1"/>
          <p:nvPr/>
        </p:nvSpPr>
        <p:spPr>
          <a:xfrm>
            <a:off x="3918204" y="4069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24</a:t>
            </a:r>
            <a:endParaRPr lang="en-US" sz="1100" dirty="0"/>
          </a:p>
        </p:txBody>
      </p:sp>
      <p:sp>
        <p:nvSpPr>
          <p:cNvPr id="76" name="text-710"/>
          <p:cNvSpPr txBox="1"/>
          <p:nvPr/>
        </p:nvSpPr>
        <p:spPr>
          <a:xfrm>
            <a:off x="4265676" y="4069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 Harvest &amp; Melt Hall</a:t>
            </a:r>
            <a:endParaRPr lang="en-US" sz="900" dirty="0"/>
          </a:p>
        </p:txBody>
      </p:sp>
      <p:sp>
        <p:nvSpPr>
          <p:cNvPr id="77" name="text-711"/>
          <p:cNvSpPr txBox="1"/>
          <p:nvPr/>
        </p:nvSpPr>
        <p:spPr>
          <a:xfrm>
            <a:off x="4265676" y="4242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Melts about 3,000 t of clean snow a day with spare fusion heat.</a:t>
            </a:r>
            <a:endParaRPr lang="en-US" sz="800" dirty="0"/>
          </a:p>
        </p:txBody>
      </p:sp>
      <p:sp>
        <p:nvSpPr>
          <p:cNvPr id="78" name="text-712"/>
          <p:cNvSpPr txBox="1"/>
          <p:nvPr/>
        </p:nvSpPr>
        <p:spPr>
          <a:xfrm>
            <a:off x="3918204" y="4526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25</a:t>
            </a:r>
            <a:endParaRPr lang="en-US" sz="1100" dirty="0"/>
          </a:p>
        </p:txBody>
      </p:sp>
      <p:sp>
        <p:nvSpPr>
          <p:cNvPr id="79" name="text-713"/>
          <p:cNvSpPr txBox="1"/>
          <p:nvPr/>
        </p:nvSpPr>
        <p:spPr>
          <a:xfrm>
            <a:off x="4265676" y="4526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Drinking-Water &amp; Mineral Works</a:t>
            </a:r>
            <a:endParaRPr lang="en-US" sz="900" dirty="0"/>
          </a:p>
        </p:txBody>
      </p:sp>
      <p:sp>
        <p:nvSpPr>
          <p:cNvPr id="80" name="text-714"/>
          <p:cNvSpPr txBox="1"/>
          <p:nvPr/>
        </p:nvSpPr>
        <p:spPr>
          <a:xfrm>
            <a:off x="4265676" y="4700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Makes about 2,500 m³ of drinking water a day, all of the city’s tap water.</a:t>
            </a:r>
            <a:endParaRPr lang="en-US" sz="800" dirty="0"/>
          </a:p>
        </p:txBody>
      </p:sp>
      <p:sp>
        <p:nvSpPr>
          <p:cNvPr id="81" name="text-715"/>
          <p:cNvSpPr txBox="1"/>
          <p:nvPr/>
        </p:nvSpPr>
        <p:spPr>
          <a:xfrm>
            <a:off x="3918204" y="4983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26</a:t>
            </a:r>
            <a:endParaRPr lang="en-US" sz="1100" dirty="0"/>
          </a:p>
        </p:txBody>
      </p:sp>
      <p:sp>
        <p:nvSpPr>
          <p:cNvPr id="82" name="text-716"/>
          <p:cNvSpPr txBox="1"/>
          <p:nvPr/>
        </p:nvSpPr>
        <p:spPr>
          <a:xfrm>
            <a:off x="4265676" y="4983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Bioreactor Silos</a:t>
            </a:r>
            <a:endParaRPr lang="en-US" sz="900" dirty="0"/>
          </a:p>
        </p:txBody>
      </p:sp>
      <p:sp>
        <p:nvSpPr>
          <p:cNvPr id="83" name="text-717"/>
          <p:cNvSpPr txBox="1"/>
          <p:nvPr/>
        </p:nvSpPr>
        <p:spPr>
          <a:xfrm>
            <a:off x="4265676" y="5157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Six silos where microbes make about 2.5 t of protein flour a day.</a:t>
            </a:r>
            <a:endParaRPr lang="en-US" sz="800" dirty="0"/>
          </a:p>
        </p:txBody>
      </p:sp>
      <p:sp>
        <p:nvSpPr>
          <p:cNvPr id="84" name="text-718"/>
          <p:cNvSpPr txBox="1"/>
          <p:nvPr/>
        </p:nvSpPr>
        <p:spPr>
          <a:xfrm>
            <a:off x="3918204" y="5440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27</a:t>
            </a:r>
            <a:endParaRPr lang="en-US" sz="1100" dirty="0"/>
          </a:p>
        </p:txBody>
      </p:sp>
      <p:sp>
        <p:nvSpPr>
          <p:cNvPr id="85" name="text-719"/>
          <p:cNvSpPr txBox="1"/>
          <p:nvPr/>
        </p:nvSpPr>
        <p:spPr>
          <a:xfrm>
            <a:off x="4265676" y="5440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Ice-Proof Wind Farm</a:t>
            </a:r>
            <a:endParaRPr lang="en-US" sz="900" dirty="0"/>
          </a:p>
        </p:txBody>
      </p:sp>
      <p:sp>
        <p:nvSpPr>
          <p:cNvPr id="86" name="text-720"/>
          <p:cNvSpPr txBox="1"/>
          <p:nvPr/>
        </p:nvSpPr>
        <p:spPr>
          <a:xfrm>
            <a:off x="4265676" y="5614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Two rows of ice-proof turbines making about 60 MW.</a:t>
            </a:r>
            <a:endParaRPr lang="en-US" sz="800" dirty="0"/>
          </a:p>
        </p:txBody>
      </p:sp>
      <p:sp>
        <p:nvSpPr>
          <p:cNvPr id="87" name="text-721"/>
          <p:cNvSpPr txBox="1"/>
          <p:nvPr/>
        </p:nvSpPr>
        <p:spPr>
          <a:xfrm>
            <a:off x="3918204" y="5897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28</a:t>
            </a:r>
            <a:endParaRPr lang="en-US" sz="1100" dirty="0"/>
          </a:p>
        </p:txBody>
      </p:sp>
      <p:sp>
        <p:nvSpPr>
          <p:cNvPr id="88" name="text-722"/>
          <p:cNvSpPr txBox="1"/>
          <p:nvPr/>
        </p:nvSpPr>
        <p:spPr>
          <a:xfrm>
            <a:off x="4265676" y="5897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Bifacial Solar Farm</a:t>
            </a:r>
            <a:endParaRPr lang="en-US" sz="900" dirty="0"/>
          </a:p>
        </p:txBody>
      </p:sp>
      <p:sp>
        <p:nvSpPr>
          <p:cNvPr id="89" name="text-723"/>
          <p:cNvSpPr txBox="1"/>
          <p:nvPr/>
        </p:nvSpPr>
        <p:spPr>
          <a:xfrm>
            <a:off x="4265676" y="6071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Double-sided panels that make power 24 hours a day in the midnight-sun months.</a:t>
            </a:r>
            <a:endParaRPr lang="en-US" sz="800" dirty="0"/>
          </a:p>
        </p:txBody>
      </p:sp>
      <p:sp>
        <p:nvSpPr>
          <p:cNvPr id="90" name="text-724"/>
          <p:cNvSpPr txBox="1"/>
          <p:nvPr/>
        </p:nvSpPr>
        <p:spPr>
          <a:xfrm>
            <a:off x="3918204" y="6355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29</a:t>
            </a:r>
            <a:endParaRPr lang="en-US" sz="1100" dirty="0"/>
          </a:p>
        </p:txBody>
      </p:sp>
      <p:sp>
        <p:nvSpPr>
          <p:cNvPr id="91" name="text-725"/>
          <p:cNvSpPr txBox="1"/>
          <p:nvPr/>
        </p:nvSpPr>
        <p:spPr>
          <a:xfrm>
            <a:off x="4265676" y="6355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Water Recycling Line – Recycled Water Tower</a:t>
            </a:r>
            <a:endParaRPr lang="en-US" sz="900" dirty="0"/>
          </a:p>
        </p:txBody>
      </p:sp>
      <p:sp>
        <p:nvSpPr>
          <p:cNvPr id="92" name="text-726"/>
          <p:cNvSpPr txBox="1"/>
          <p:nvPr/>
        </p:nvSpPr>
        <p:spPr>
          <a:xfrm>
            <a:off x="4265676" y="6528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Stores recycled water for toilets, laundries, street cleaning, irrigation and hydrants.</a:t>
            </a:r>
            <a:endParaRPr lang="en-US" sz="800" dirty="0"/>
          </a:p>
        </p:txBody>
      </p:sp>
      <p:sp>
        <p:nvSpPr>
          <p:cNvPr id="93" name="text-727"/>
          <p:cNvSpPr txBox="1"/>
          <p:nvPr/>
        </p:nvSpPr>
        <p:spPr>
          <a:xfrm>
            <a:off x="3918204" y="6812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30</a:t>
            </a:r>
            <a:endParaRPr lang="en-US" sz="1100" dirty="0"/>
          </a:p>
        </p:txBody>
      </p:sp>
      <p:sp>
        <p:nvSpPr>
          <p:cNvPr id="94" name="text-728"/>
          <p:cNvSpPr txBox="1"/>
          <p:nvPr/>
        </p:nvSpPr>
        <p:spPr>
          <a:xfrm>
            <a:off x="4265676" y="6812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Geothermal Power Plant</a:t>
            </a:r>
            <a:endParaRPr lang="en-US" sz="900" dirty="0"/>
          </a:p>
        </p:txBody>
      </p:sp>
      <p:sp>
        <p:nvSpPr>
          <p:cNvPr id="95" name="text-729"/>
          <p:cNvSpPr txBox="1"/>
          <p:nvPr/>
        </p:nvSpPr>
        <p:spPr>
          <a:xfrm>
            <a:off x="4265676" y="6986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Clean electricity and hot water around the clock; the second heat source.</a:t>
            </a:r>
            <a:endParaRPr lang="en-US" sz="800" dirty="0"/>
          </a:p>
        </p:txBody>
      </p:sp>
      <p:sp>
        <p:nvSpPr>
          <p:cNvPr id="96" name="text-730"/>
          <p:cNvSpPr txBox="1"/>
          <p:nvPr/>
        </p:nvSpPr>
        <p:spPr>
          <a:xfrm>
            <a:off x="3918204" y="7269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31</a:t>
            </a:r>
            <a:endParaRPr lang="en-US" sz="1100" dirty="0"/>
          </a:p>
        </p:txBody>
      </p:sp>
      <p:sp>
        <p:nvSpPr>
          <p:cNvPr id="97" name="text-731"/>
          <p:cNvSpPr txBox="1"/>
          <p:nvPr/>
        </p:nvSpPr>
        <p:spPr>
          <a:xfrm>
            <a:off x="4265676" y="7269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Polar Rescue and Resilience Station</a:t>
            </a:r>
            <a:endParaRPr lang="en-US" sz="900" dirty="0"/>
          </a:p>
        </p:txBody>
      </p:sp>
      <p:sp>
        <p:nvSpPr>
          <p:cNvPr id="98" name="text-732"/>
          <p:cNvSpPr txBox="1"/>
          <p:nvPr/>
        </p:nvSpPr>
        <p:spPr>
          <a:xfrm>
            <a:off x="4265676" y="7443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Fire, ambulance and ice-rescue headquarters, home of the 112 emergency centre.</a:t>
            </a:r>
            <a:endParaRPr lang="en-US" sz="800" dirty="0"/>
          </a:p>
        </p:txBody>
      </p:sp>
      <p:sp>
        <p:nvSpPr>
          <p:cNvPr id="99" name="text-733"/>
          <p:cNvSpPr txBox="1"/>
          <p:nvPr/>
        </p:nvSpPr>
        <p:spPr>
          <a:xfrm>
            <a:off x="3918204" y="7726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32</a:t>
            </a:r>
            <a:endParaRPr lang="en-US" sz="1100" dirty="0"/>
          </a:p>
        </p:txBody>
      </p:sp>
      <p:sp>
        <p:nvSpPr>
          <p:cNvPr id="100" name="text-734"/>
          <p:cNvSpPr txBox="1"/>
          <p:nvPr/>
        </p:nvSpPr>
        <p:spPr>
          <a:xfrm>
            <a:off x="4265676" y="7726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Glass Terminal, Control Tower &amp; Gate 1 Dreamliner</a:t>
            </a:r>
            <a:endParaRPr lang="en-US" sz="900" dirty="0"/>
          </a:p>
        </p:txBody>
      </p:sp>
      <p:sp>
        <p:nvSpPr>
          <p:cNvPr id="101" name="text-735"/>
          <p:cNvSpPr txBox="1"/>
          <p:nvPr/>
        </p:nvSpPr>
        <p:spPr>
          <a:xfrm>
            <a:off x="4265676" y="7900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Passenger and cargo airport; the city’s supply link in deep winter.</a:t>
            </a:r>
            <a:endParaRPr lang="en-US" sz="800" dirty="0"/>
          </a:p>
        </p:txBody>
      </p:sp>
      <p:sp>
        <p:nvSpPr>
          <p:cNvPr id="102" name="text-736"/>
          <p:cNvSpPr txBox="1"/>
          <p:nvPr/>
        </p:nvSpPr>
        <p:spPr>
          <a:xfrm>
            <a:off x="3918204" y="8183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33</a:t>
            </a:r>
            <a:endParaRPr lang="en-US" sz="1100" dirty="0"/>
          </a:p>
        </p:txBody>
      </p:sp>
      <p:sp>
        <p:nvSpPr>
          <p:cNvPr id="103" name="text-737"/>
          <p:cNvSpPr txBox="1"/>
          <p:nvPr/>
        </p:nvSpPr>
        <p:spPr>
          <a:xfrm>
            <a:off x="4265676" y="8183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Evergreen Greenhouse Dome</a:t>
            </a:r>
            <a:endParaRPr lang="en-US" sz="900" dirty="0"/>
          </a:p>
        </p:txBody>
      </p:sp>
      <p:sp>
        <p:nvSpPr>
          <p:cNvPr id="104" name="text-738"/>
          <p:cNvSpPr txBox="1"/>
          <p:nvPr/>
        </p:nvSpPr>
        <p:spPr>
          <a:xfrm>
            <a:off x="4265676" y="8357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Grows fresh vegetables and berries all year under LED light.</a:t>
            </a:r>
            <a:endParaRPr lang="en-US" sz="800" dirty="0"/>
          </a:p>
        </p:txBody>
      </p:sp>
      <p:sp>
        <p:nvSpPr>
          <p:cNvPr id="105" name="text-739"/>
          <p:cNvSpPr txBox="1"/>
          <p:nvPr/>
        </p:nvSpPr>
        <p:spPr>
          <a:xfrm>
            <a:off x="3918204" y="8641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34</a:t>
            </a:r>
            <a:endParaRPr lang="en-US" sz="1100" dirty="0"/>
          </a:p>
        </p:txBody>
      </p:sp>
      <p:sp>
        <p:nvSpPr>
          <p:cNvPr id="106" name="text-740"/>
          <p:cNvSpPr txBox="1"/>
          <p:nvPr/>
        </p:nvSpPr>
        <p:spPr>
          <a:xfrm>
            <a:off x="4265676" y="8641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Circular Recycling Center</a:t>
            </a:r>
            <a:endParaRPr lang="en-US" sz="900" dirty="0"/>
          </a:p>
        </p:txBody>
      </p:sp>
      <p:sp>
        <p:nvSpPr>
          <p:cNvPr id="107" name="text-741"/>
          <p:cNvSpPr txBox="1"/>
          <p:nvPr/>
        </p:nvSpPr>
        <p:spPr>
          <a:xfrm>
            <a:off x="4265676" y="8814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Sorts, repairs and recycles about 30 t of materials a day.</a:t>
            </a:r>
            <a:endParaRPr lang="en-US" sz="800" dirty="0"/>
          </a:p>
        </p:txBody>
      </p:sp>
      <p:sp>
        <p:nvSpPr>
          <p:cNvPr id="108" name="text-742"/>
          <p:cNvSpPr txBox="1"/>
          <p:nvPr/>
        </p:nvSpPr>
        <p:spPr>
          <a:xfrm>
            <a:off x="3918204" y="9098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35</a:t>
            </a:r>
            <a:endParaRPr lang="en-US" sz="1100" dirty="0"/>
          </a:p>
        </p:txBody>
      </p:sp>
      <p:sp>
        <p:nvSpPr>
          <p:cNvPr id="109" name="text-743"/>
          <p:cNvSpPr txBox="1"/>
          <p:nvPr/>
        </p:nvSpPr>
        <p:spPr>
          <a:xfrm>
            <a:off x="4265676" y="9098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Snow Stadium</a:t>
            </a:r>
            <a:endParaRPr lang="en-US" sz="900" dirty="0"/>
          </a:p>
        </p:txBody>
      </p:sp>
      <p:sp>
        <p:nvSpPr>
          <p:cNvPr id="110" name="text-744"/>
          <p:cNvSpPr txBox="1"/>
          <p:nvPr/>
        </p:nvSpPr>
        <p:spPr>
          <a:xfrm>
            <a:off x="4265676" y="9272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About 8,000 seats for snow sports, school sports days and the Midwinter Aurora Festival.</a:t>
            </a:r>
            <a:endParaRPr lang="en-US" sz="8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kicker-dot-745"/>
          <p:cNvSpPr/>
          <p:nvPr/>
        </p:nvSpPr>
        <p:spPr>
          <a:xfrm>
            <a:off x="548640" y="544068"/>
            <a:ext cx="100584" cy="100584"/>
          </a:xfrm>
          <a:prstGeom prst="ellipse">
            <a:avLst/>
          </a:prstGeom>
          <a:solidFill>
            <a:schemeClr val="accent1"/>
          </a:solidFill>
          <a:ln w="12700">
            <a:solidFill>
              <a:schemeClr val="accent1"/>
            </a:solidFill>
            <a:prstDash val="solid"/>
          </a:ln>
        </p:spPr>
      </p:sp>
      <p:sp>
        <p:nvSpPr>
          <p:cNvPr id="3" name="text-74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KEY FIGURES</a:t>
            </a:r>
            <a:endParaRPr lang="en-US" sz="900" dirty="0"/>
          </a:p>
        </p:txBody>
      </p:sp>
      <p:sp>
        <p:nvSpPr>
          <p:cNvPr id="4" name="title-74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bg1"/>
                </a:solidFill>
                <a:latin typeface="+mj-lt" pitchFamily="34" charset="0"/>
                <a:ea typeface="+mj-lt" pitchFamily="34" charset="-122"/>
                <a:cs typeface="+mj-lt" pitchFamily="34" charset="-120"/>
              </a:rPr>
              <a:t>Aurora Haven by the Numbers</a:t>
            </a:r>
            <a:endParaRPr lang="en-US" sz="3400" dirty="0"/>
          </a:p>
        </p:txBody>
      </p:sp>
      <p:sp>
        <p:nvSpPr>
          <p:cNvPr id="5" name="kicker-dot-749"/>
          <p:cNvSpPr/>
          <p:nvPr/>
        </p:nvSpPr>
        <p:spPr>
          <a:xfrm>
            <a:off x="548640" y="1801368"/>
            <a:ext cx="100584" cy="100584"/>
          </a:xfrm>
          <a:prstGeom prst="ellipse">
            <a:avLst/>
          </a:prstGeom>
          <a:solidFill>
            <a:schemeClr val="accent1"/>
          </a:solidFill>
          <a:ln w="12700">
            <a:solidFill>
              <a:schemeClr val="accent1"/>
            </a:solidFill>
            <a:prstDash val="solid"/>
          </a:ln>
        </p:spPr>
      </p:sp>
      <p:sp>
        <p:nvSpPr>
          <p:cNvPr id="6" name="text-750"/>
          <p:cNvSpPr txBox="1"/>
          <p:nvPr/>
        </p:nvSpPr>
        <p:spPr>
          <a:xfrm>
            <a:off x="731520" y="174650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THE CITY</a:t>
            </a:r>
            <a:endParaRPr lang="en-US" sz="900" dirty="0"/>
          </a:p>
        </p:txBody>
      </p:sp>
      <p:sp>
        <p:nvSpPr>
          <p:cNvPr id="7" name="text-751"/>
          <p:cNvSpPr txBox="1"/>
          <p:nvPr/>
        </p:nvSpPr>
        <p:spPr>
          <a:xfrm>
            <a:off x="2331720"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45,000</a:t>
            </a:r>
            <a:endParaRPr lang="en-US" sz="2200" dirty="0"/>
          </a:p>
        </p:txBody>
      </p:sp>
      <p:sp>
        <p:nvSpPr>
          <p:cNvPr id="8" name="text-752"/>
          <p:cNvSpPr txBox="1"/>
          <p:nvPr/>
        </p:nvSpPr>
        <p:spPr>
          <a:xfrm>
            <a:off x="2331720"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residents</a:t>
            </a:r>
            <a:endParaRPr lang="en-US" sz="850" dirty="0"/>
          </a:p>
        </p:txBody>
      </p:sp>
      <p:sp>
        <p:nvSpPr>
          <p:cNvPr id="9" name="text-753"/>
          <p:cNvSpPr txBox="1"/>
          <p:nvPr/>
        </p:nvSpPr>
        <p:spPr>
          <a:xfrm>
            <a:off x="3892296"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9</a:t>
            </a:r>
            <a:endParaRPr lang="en-US" sz="2200" dirty="0"/>
          </a:p>
        </p:txBody>
      </p:sp>
      <p:sp>
        <p:nvSpPr>
          <p:cNvPr id="10" name="text-754"/>
          <p:cNvSpPr txBox="1"/>
          <p:nvPr/>
        </p:nvSpPr>
        <p:spPr>
          <a:xfrm>
            <a:off x="3892296"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downtown blocks</a:t>
            </a:r>
            <a:endParaRPr lang="en-US" sz="850" dirty="0"/>
          </a:p>
        </p:txBody>
      </p:sp>
      <p:sp>
        <p:nvSpPr>
          <p:cNvPr id="11" name="text-755"/>
          <p:cNvSpPr txBox="1"/>
          <p:nvPr/>
        </p:nvSpPr>
        <p:spPr>
          <a:xfrm>
            <a:off x="5452872"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35</a:t>
            </a:r>
            <a:endParaRPr lang="en-US" sz="2200" dirty="0"/>
          </a:p>
        </p:txBody>
      </p:sp>
      <p:sp>
        <p:nvSpPr>
          <p:cNvPr id="12" name="text-756"/>
          <p:cNvSpPr txBox="1"/>
          <p:nvPr/>
        </p:nvSpPr>
        <p:spPr>
          <a:xfrm>
            <a:off x="5452872"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key places</a:t>
            </a:r>
            <a:endParaRPr lang="en-US" sz="850" dirty="0"/>
          </a:p>
        </p:txBody>
      </p:sp>
      <p:sp>
        <p:nvSpPr>
          <p:cNvPr id="13" name="rule-757"/>
          <p:cNvSpPr/>
          <p:nvPr/>
        </p:nvSpPr>
        <p:spPr>
          <a:xfrm>
            <a:off x="548640" y="2560320"/>
            <a:ext cx="6464808" cy="0"/>
          </a:xfrm>
          <a:prstGeom prst="line">
            <a:avLst/>
          </a:prstGeom>
          <a:noFill/>
          <a:ln w="9525">
            <a:solidFill>
              <a:schemeClr val="tx2"/>
            </a:solidFill>
            <a:prstDash val="solid"/>
          </a:ln>
        </p:spPr>
      </p:sp>
      <p:sp>
        <p:nvSpPr>
          <p:cNvPr id="14" name="kicker-dot-758"/>
          <p:cNvSpPr/>
          <p:nvPr/>
        </p:nvSpPr>
        <p:spPr>
          <a:xfrm>
            <a:off x="548640" y="2807208"/>
            <a:ext cx="100584" cy="100584"/>
          </a:xfrm>
          <a:prstGeom prst="ellipse">
            <a:avLst/>
          </a:prstGeom>
          <a:solidFill>
            <a:schemeClr val="accent6"/>
          </a:solidFill>
          <a:ln w="12700">
            <a:solidFill>
              <a:schemeClr val="accent6"/>
            </a:solidFill>
            <a:prstDash val="solid"/>
          </a:ln>
        </p:spPr>
      </p:sp>
      <p:sp>
        <p:nvSpPr>
          <p:cNvPr id="15" name="text-759"/>
          <p:cNvSpPr txBox="1"/>
          <p:nvPr/>
        </p:nvSpPr>
        <p:spPr>
          <a:xfrm>
            <a:off x="731520" y="275234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CLIMATE</a:t>
            </a:r>
            <a:endParaRPr lang="en-US" sz="900" dirty="0"/>
          </a:p>
        </p:txBody>
      </p:sp>
      <p:sp>
        <p:nvSpPr>
          <p:cNvPr id="16" name="text-760"/>
          <p:cNvSpPr txBox="1"/>
          <p:nvPr/>
        </p:nvSpPr>
        <p:spPr>
          <a:xfrm>
            <a:off x="2331720"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−45 °C</a:t>
            </a:r>
            <a:endParaRPr lang="en-US" sz="2200" dirty="0"/>
          </a:p>
        </p:txBody>
      </p:sp>
      <p:sp>
        <p:nvSpPr>
          <p:cNvPr id="17" name="text-761"/>
          <p:cNvSpPr txBox="1"/>
          <p:nvPr/>
        </p:nvSpPr>
        <p:spPr>
          <a:xfrm>
            <a:off x="2331720"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winter lows</a:t>
            </a:r>
            <a:endParaRPr lang="en-US" sz="850" dirty="0"/>
          </a:p>
        </p:txBody>
      </p:sp>
      <p:sp>
        <p:nvSpPr>
          <p:cNvPr id="18" name="text-762"/>
          <p:cNvSpPr txBox="1"/>
          <p:nvPr/>
        </p:nvSpPr>
        <p:spPr>
          <a:xfrm>
            <a:off x="3892296"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 months</a:t>
            </a:r>
            <a:endParaRPr lang="en-US" sz="2200" dirty="0"/>
          </a:p>
        </p:txBody>
      </p:sp>
      <p:sp>
        <p:nvSpPr>
          <p:cNvPr id="19" name="text-763"/>
          <p:cNvSpPr txBox="1"/>
          <p:nvPr/>
        </p:nvSpPr>
        <p:spPr>
          <a:xfrm>
            <a:off x="3892296"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of polar night</a:t>
            </a:r>
            <a:endParaRPr lang="en-US" sz="850" dirty="0"/>
          </a:p>
        </p:txBody>
      </p:sp>
      <p:sp>
        <p:nvSpPr>
          <p:cNvPr id="20" name="text-764"/>
          <p:cNvSpPr txBox="1"/>
          <p:nvPr/>
        </p:nvSpPr>
        <p:spPr>
          <a:xfrm>
            <a:off x="5452872"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120 km/h</a:t>
            </a:r>
            <a:endParaRPr lang="en-US" sz="2200" dirty="0"/>
          </a:p>
        </p:txBody>
      </p:sp>
      <p:sp>
        <p:nvSpPr>
          <p:cNvPr id="21" name="text-765"/>
          <p:cNvSpPr txBox="1"/>
          <p:nvPr/>
        </p:nvSpPr>
        <p:spPr>
          <a:xfrm>
            <a:off x="5452872"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blizzards</a:t>
            </a:r>
            <a:endParaRPr lang="en-US" sz="850" dirty="0"/>
          </a:p>
        </p:txBody>
      </p:sp>
      <p:sp>
        <p:nvSpPr>
          <p:cNvPr id="22" name="rule-766"/>
          <p:cNvSpPr/>
          <p:nvPr/>
        </p:nvSpPr>
        <p:spPr>
          <a:xfrm>
            <a:off x="548640" y="3566160"/>
            <a:ext cx="6464808" cy="0"/>
          </a:xfrm>
          <a:prstGeom prst="line">
            <a:avLst/>
          </a:prstGeom>
          <a:noFill/>
          <a:ln w="9525">
            <a:solidFill>
              <a:schemeClr val="tx2"/>
            </a:solidFill>
            <a:prstDash val="solid"/>
          </a:ln>
        </p:spPr>
      </p:sp>
      <p:sp>
        <p:nvSpPr>
          <p:cNvPr id="23" name="kicker-dot-767"/>
          <p:cNvSpPr/>
          <p:nvPr/>
        </p:nvSpPr>
        <p:spPr>
          <a:xfrm>
            <a:off x="548640" y="3813048"/>
            <a:ext cx="100584" cy="100584"/>
          </a:xfrm>
          <a:prstGeom prst="ellipse">
            <a:avLst/>
          </a:prstGeom>
          <a:solidFill>
            <a:schemeClr val="accent3"/>
          </a:solidFill>
          <a:ln w="12700">
            <a:solidFill>
              <a:schemeClr val="accent3"/>
            </a:solidFill>
            <a:prstDash val="solid"/>
          </a:ln>
        </p:spPr>
      </p:sp>
      <p:sp>
        <p:nvSpPr>
          <p:cNvPr id="24" name="text-768"/>
          <p:cNvSpPr txBox="1"/>
          <p:nvPr/>
        </p:nvSpPr>
        <p:spPr>
          <a:xfrm>
            <a:off x="731520" y="375818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FUSION POWER STATION</a:t>
            </a:r>
            <a:endParaRPr lang="en-US" sz="900" dirty="0"/>
          </a:p>
        </p:txBody>
      </p:sp>
      <p:sp>
        <p:nvSpPr>
          <p:cNvPr id="25" name="text-769"/>
          <p:cNvSpPr txBox="1"/>
          <p:nvPr/>
        </p:nvSpPr>
        <p:spPr>
          <a:xfrm>
            <a:off x="2331720"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300 MW</a:t>
            </a:r>
            <a:endParaRPr lang="en-US" sz="2200" dirty="0"/>
          </a:p>
        </p:txBody>
      </p:sp>
      <p:sp>
        <p:nvSpPr>
          <p:cNvPr id="26" name="text-770"/>
          <p:cNvSpPr txBox="1"/>
          <p:nvPr/>
        </p:nvSpPr>
        <p:spPr>
          <a:xfrm>
            <a:off x="2331720"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electricity</a:t>
            </a:r>
            <a:endParaRPr lang="en-US" sz="850" dirty="0"/>
          </a:p>
        </p:txBody>
      </p:sp>
      <p:sp>
        <p:nvSpPr>
          <p:cNvPr id="27" name="text-771"/>
          <p:cNvSpPr txBox="1"/>
          <p:nvPr/>
        </p:nvSpPr>
        <p:spPr>
          <a:xfrm>
            <a:off x="3892296"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450 MW</a:t>
            </a:r>
            <a:endParaRPr lang="en-US" sz="2200" dirty="0"/>
          </a:p>
        </p:txBody>
      </p:sp>
      <p:sp>
        <p:nvSpPr>
          <p:cNvPr id="28" name="text-772"/>
          <p:cNvSpPr txBox="1"/>
          <p:nvPr/>
        </p:nvSpPr>
        <p:spPr>
          <a:xfrm>
            <a:off x="3892296"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district heat</a:t>
            </a:r>
            <a:endParaRPr lang="en-US" sz="850" dirty="0"/>
          </a:p>
        </p:txBody>
      </p:sp>
      <p:sp>
        <p:nvSpPr>
          <p:cNvPr id="29" name="text-773"/>
          <p:cNvSpPr txBox="1"/>
          <p:nvPr/>
        </p:nvSpPr>
        <p:spPr>
          <a:xfrm>
            <a:off x="5452872"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99.8%</a:t>
            </a:r>
            <a:endParaRPr lang="en-US" sz="2200" dirty="0"/>
          </a:p>
        </p:txBody>
      </p:sp>
      <p:sp>
        <p:nvSpPr>
          <p:cNvPr id="30" name="text-774"/>
          <p:cNvSpPr txBox="1"/>
          <p:nvPr/>
        </p:nvSpPr>
        <p:spPr>
          <a:xfrm>
            <a:off x="5452872"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heavy-water purity</a:t>
            </a:r>
            <a:endParaRPr lang="en-US" sz="850" dirty="0"/>
          </a:p>
        </p:txBody>
      </p:sp>
      <p:sp>
        <p:nvSpPr>
          <p:cNvPr id="31" name="rule-775"/>
          <p:cNvSpPr/>
          <p:nvPr/>
        </p:nvSpPr>
        <p:spPr>
          <a:xfrm>
            <a:off x="548640" y="4572000"/>
            <a:ext cx="6464808" cy="0"/>
          </a:xfrm>
          <a:prstGeom prst="line">
            <a:avLst/>
          </a:prstGeom>
          <a:noFill/>
          <a:ln w="9525">
            <a:solidFill>
              <a:schemeClr val="tx2"/>
            </a:solidFill>
            <a:prstDash val="solid"/>
          </a:ln>
        </p:spPr>
      </p:sp>
      <p:sp>
        <p:nvSpPr>
          <p:cNvPr id="32" name="kicker-dot-776"/>
          <p:cNvSpPr/>
          <p:nvPr/>
        </p:nvSpPr>
        <p:spPr>
          <a:xfrm>
            <a:off x="548640" y="4818888"/>
            <a:ext cx="100584" cy="100584"/>
          </a:xfrm>
          <a:prstGeom prst="ellipse">
            <a:avLst/>
          </a:prstGeom>
          <a:solidFill>
            <a:schemeClr val="accent4"/>
          </a:solidFill>
          <a:ln w="12700">
            <a:solidFill>
              <a:schemeClr val="accent4"/>
            </a:solidFill>
            <a:prstDash val="solid"/>
          </a:ln>
        </p:spPr>
      </p:sp>
      <p:sp>
        <p:nvSpPr>
          <p:cNvPr id="33" name="text-777"/>
          <p:cNvSpPr txBox="1"/>
          <p:nvPr/>
        </p:nvSpPr>
        <p:spPr>
          <a:xfrm>
            <a:off x="731520" y="476402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SNOW-TO-FOOD &amp; WATER PLANT</a:t>
            </a:r>
            <a:endParaRPr lang="en-US" sz="900" dirty="0"/>
          </a:p>
        </p:txBody>
      </p:sp>
      <p:sp>
        <p:nvSpPr>
          <p:cNvPr id="34" name="text-778"/>
          <p:cNvSpPr txBox="1"/>
          <p:nvPr/>
        </p:nvSpPr>
        <p:spPr>
          <a:xfrm>
            <a:off x="2331720"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5 t</a:t>
            </a:r>
            <a:endParaRPr lang="en-US" sz="2200" dirty="0"/>
          </a:p>
        </p:txBody>
      </p:sp>
      <p:sp>
        <p:nvSpPr>
          <p:cNvPr id="35" name="text-779"/>
          <p:cNvSpPr txBox="1"/>
          <p:nvPr/>
        </p:nvSpPr>
        <p:spPr>
          <a:xfrm>
            <a:off x="2331720"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hydrogen a day</a:t>
            </a:r>
            <a:endParaRPr lang="en-US" sz="850" dirty="0"/>
          </a:p>
        </p:txBody>
      </p:sp>
      <p:sp>
        <p:nvSpPr>
          <p:cNvPr id="36" name="text-780"/>
          <p:cNvSpPr txBox="1"/>
          <p:nvPr/>
        </p:nvSpPr>
        <p:spPr>
          <a:xfrm>
            <a:off x="3892296"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4 t</a:t>
            </a:r>
            <a:endParaRPr lang="en-US" sz="2200" dirty="0"/>
          </a:p>
        </p:txBody>
      </p:sp>
      <p:sp>
        <p:nvSpPr>
          <p:cNvPr id="37" name="text-781"/>
          <p:cNvSpPr txBox="1"/>
          <p:nvPr/>
        </p:nvSpPr>
        <p:spPr>
          <a:xfrm>
            <a:off x="3892296"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starch a day</a:t>
            </a:r>
            <a:endParaRPr lang="en-US" sz="850" dirty="0"/>
          </a:p>
        </p:txBody>
      </p:sp>
      <p:sp>
        <p:nvSpPr>
          <p:cNvPr id="38" name="text-782"/>
          <p:cNvSpPr txBox="1"/>
          <p:nvPr/>
        </p:nvSpPr>
        <p:spPr>
          <a:xfrm>
            <a:off x="5452872"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1 t</a:t>
            </a:r>
            <a:endParaRPr lang="en-US" sz="2200" dirty="0"/>
          </a:p>
        </p:txBody>
      </p:sp>
      <p:sp>
        <p:nvSpPr>
          <p:cNvPr id="39" name="text-783"/>
          <p:cNvSpPr txBox="1"/>
          <p:nvPr/>
        </p:nvSpPr>
        <p:spPr>
          <a:xfrm>
            <a:off x="5452872"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fat a day</a:t>
            </a:r>
            <a:endParaRPr lang="en-US" sz="850" dirty="0"/>
          </a:p>
        </p:txBody>
      </p:sp>
      <p:sp>
        <p:nvSpPr>
          <p:cNvPr id="40" name="rule-784"/>
          <p:cNvSpPr/>
          <p:nvPr/>
        </p:nvSpPr>
        <p:spPr>
          <a:xfrm>
            <a:off x="548640" y="5577840"/>
            <a:ext cx="6464808" cy="0"/>
          </a:xfrm>
          <a:prstGeom prst="line">
            <a:avLst/>
          </a:prstGeom>
          <a:noFill/>
          <a:ln w="9525">
            <a:solidFill>
              <a:schemeClr val="tx2"/>
            </a:solidFill>
            <a:prstDash val="solid"/>
          </a:ln>
        </p:spPr>
      </p:sp>
      <p:sp>
        <p:nvSpPr>
          <p:cNvPr id="41" name="kicker-dot-785"/>
          <p:cNvSpPr/>
          <p:nvPr/>
        </p:nvSpPr>
        <p:spPr>
          <a:xfrm>
            <a:off x="548640" y="5824728"/>
            <a:ext cx="100584" cy="100584"/>
          </a:xfrm>
          <a:prstGeom prst="ellipse">
            <a:avLst/>
          </a:prstGeom>
          <a:solidFill>
            <a:schemeClr val="accent2"/>
          </a:solidFill>
          <a:ln w="12700">
            <a:solidFill>
              <a:schemeClr val="accent2"/>
            </a:solidFill>
            <a:prstDash val="solid"/>
          </a:ln>
        </p:spPr>
      </p:sp>
      <p:sp>
        <p:nvSpPr>
          <p:cNvPr id="42" name="text-786"/>
          <p:cNvSpPr txBox="1"/>
          <p:nvPr/>
        </p:nvSpPr>
        <p:spPr>
          <a:xfrm>
            <a:off x="731520" y="576986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ENERGY AND STORAGE</a:t>
            </a:r>
            <a:endParaRPr lang="en-US" sz="900" dirty="0"/>
          </a:p>
        </p:txBody>
      </p:sp>
      <p:sp>
        <p:nvSpPr>
          <p:cNvPr id="43" name="text-787"/>
          <p:cNvSpPr txBox="1"/>
          <p:nvPr/>
        </p:nvSpPr>
        <p:spPr>
          <a:xfrm>
            <a:off x="2331720"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60 MW</a:t>
            </a:r>
            <a:endParaRPr lang="en-US" sz="2200" dirty="0"/>
          </a:p>
        </p:txBody>
      </p:sp>
      <p:sp>
        <p:nvSpPr>
          <p:cNvPr id="44" name="text-788"/>
          <p:cNvSpPr txBox="1"/>
          <p:nvPr/>
        </p:nvSpPr>
        <p:spPr>
          <a:xfrm>
            <a:off x="2331720"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wind farm</a:t>
            </a:r>
            <a:endParaRPr lang="en-US" sz="850" dirty="0"/>
          </a:p>
        </p:txBody>
      </p:sp>
      <p:sp>
        <p:nvSpPr>
          <p:cNvPr id="45" name="text-789"/>
          <p:cNvSpPr txBox="1"/>
          <p:nvPr/>
        </p:nvSpPr>
        <p:spPr>
          <a:xfrm>
            <a:off x="3892296"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200 MWh</a:t>
            </a:r>
            <a:endParaRPr lang="en-US" sz="2200" dirty="0"/>
          </a:p>
        </p:txBody>
      </p:sp>
      <p:sp>
        <p:nvSpPr>
          <p:cNvPr id="46" name="text-790"/>
          <p:cNvSpPr txBox="1"/>
          <p:nvPr/>
        </p:nvSpPr>
        <p:spPr>
          <a:xfrm>
            <a:off x="3892296"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battery bank</a:t>
            </a:r>
            <a:endParaRPr lang="en-US" sz="850" dirty="0"/>
          </a:p>
        </p:txBody>
      </p:sp>
      <p:sp>
        <p:nvSpPr>
          <p:cNvPr id="47" name="text-791"/>
          <p:cNvSpPr txBox="1"/>
          <p:nvPr/>
        </p:nvSpPr>
        <p:spPr>
          <a:xfrm>
            <a:off x="5452872"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&lt;1%</a:t>
            </a:r>
            <a:endParaRPr lang="en-US" sz="2200" dirty="0"/>
          </a:p>
        </p:txBody>
      </p:sp>
      <p:sp>
        <p:nvSpPr>
          <p:cNvPr id="48" name="text-792"/>
          <p:cNvSpPr txBox="1"/>
          <p:nvPr/>
        </p:nvSpPr>
        <p:spPr>
          <a:xfrm>
            <a:off x="5452872"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heat lost a day by the heat tank</a:t>
            </a:r>
            <a:endParaRPr lang="en-US" sz="850" dirty="0"/>
          </a:p>
        </p:txBody>
      </p:sp>
      <p:sp>
        <p:nvSpPr>
          <p:cNvPr id="49" name="rule-793"/>
          <p:cNvSpPr/>
          <p:nvPr/>
        </p:nvSpPr>
        <p:spPr>
          <a:xfrm>
            <a:off x="548640" y="6583680"/>
            <a:ext cx="6464808" cy="0"/>
          </a:xfrm>
          <a:prstGeom prst="line">
            <a:avLst/>
          </a:prstGeom>
          <a:noFill/>
          <a:ln w="9525">
            <a:solidFill>
              <a:schemeClr val="tx2"/>
            </a:solidFill>
            <a:prstDash val="solid"/>
          </a:ln>
        </p:spPr>
      </p:sp>
      <p:sp>
        <p:nvSpPr>
          <p:cNvPr id="50" name="kicker-dot-794"/>
          <p:cNvSpPr/>
          <p:nvPr/>
        </p:nvSpPr>
        <p:spPr>
          <a:xfrm>
            <a:off x="548640" y="6830568"/>
            <a:ext cx="100584" cy="100584"/>
          </a:xfrm>
          <a:prstGeom prst="ellipse">
            <a:avLst/>
          </a:prstGeom>
          <a:solidFill>
            <a:schemeClr val="accent5"/>
          </a:solidFill>
          <a:ln w="12700">
            <a:solidFill>
              <a:schemeClr val="accent5"/>
            </a:solidFill>
            <a:prstDash val="solid"/>
          </a:ln>
        </p:spPr>
      </p:sp>
      <p:sp>
        <p:nvSpPr>
          <p:cNvPr id="51" name="text-795"/>
          <p:cNvSpPr txBox="1"/>
          <p:nvPr/>
        </p:nvSpPr>
        <p:spPr>
          <a:xfrm>
            <a:off x="731520" y="677570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MOUNT AURORA SPA</a:t>
            </a:r>
            <a:endParaRPr lang="en-US" sz="900" dirty="0"/>
          </a:p>
        </p:txBody>
      </p:sp>
      <p:sp>
        <p:nvSpPr>
          <p:cNvPr id="52" name="text-796"/>
          <p:cNvSpPr txBox="1"/>
          <p:nvPr/>
        </p:nvSpPr>
        <p:spPr>
          <a:xfrm>
            <a:off x="2331720"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4</a:t>
            </a:r>
            <a:endParaRPr lang="en-US" sz="2200" dirty="0"/>
          </a:p>
        </p:txBody>
      </p:sp>
      <p:sp>
        <p:nvSpPr>
          <p:cNvPr id="53" name="text-797"/>
          <p:cNvSpPr txBox="1"/>
          <p:nvPr/>
        </p:nvSpPr>
        <p:spPr>
          <a:xfrm>
            <a:off x="2331720"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levels, 0 to 13.5 m</a:t>
            </a:r>
            <a:endParaRPr lang="en-US" sz="850" dirty="0"/>
          </a:p>
        </p:txBody>
      </p:sp>
      <p:sp>
        <p:nvSpPr>
          <p:cNvPr id="54" name="text-798"/>
          <p:cNvSpPr txBox="1"/>
          <p:nvPr/>
        </p:nvSpPr>
        <p:spPr>
          <a:xfrm>
            <a:off x="3892296"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28 °C</a:t>
            </a:r>
            <a:endParaRPr lang="en-US" sz="2200" dirty="0"/>
          </a:p>
        </p:txBody>
      </p:sp>
      <p:sp>
        <p:nvSpPr>
          <p:cNvPr id="55" name="text-799"/>
          <p:cNvSpPr txBox="1"/>
          <p:nvPr/>
        </p:nvSpPr>
        <p:spPr>
          <a:xfrm>
            <a:off x="3892296"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all winter</a:t>
            </a:r>
            <a:endParaRPr lang="en-US" sz="850" dirty="0"/>
          </a:p>
        </p:txBody>
      </p:sp>
      <p:sp>
        <p:nvSpPr>
          <p:cNvPr id="56" name="text-800"/>
          <p:cNvSpPr txBox="1"/>
          <p:nvPr/>
        </p:nvSpPr>
        <p:spPr>
          <a:xfrm>
            <a:off x="5452872"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1,000</a:t>
            </a:r>
            <a:endParaRPr lang="en-US" sz="2200" dirty="0"/>
          </a:p>
        </p:txBody>
      </p:sp>
      <p:sp>
        <p:nvSpPr>
          <p:cNvPr id="57" name="text-801"/>
          <p:cNvSpPr txBox="1"/>
          <p:nvPr/>
        </p:nvSpPr>
        <p:spPr>
          <a:xfrm>
            <a:off x="5452872"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people sheltered in an emergency</a:t>
            </a:r>
            <a:endParaRPr lang="en-US" sz="850" dirty="0"/>
          </a:p>
        </p:txBody>
      </p:sp>
      <p:sp>
        <p:nvSpPr>
          <p:cNvPr id="58" name="rule-802"/>
          <p:cNvSpPr/>
          <p:nvPr/>
        </p:nvSpPr>
        <p:spPr>
          <a:xfrm>
            <a:off x="548640" y="7589520"/>
            <a:ext cx="6464808" cy="0"/>
          </a:xfrm>
          <a:prstGeom prst="line">
            <a:avLst/>
          </a:prstGeom>
          <a:noFill/>
          <a:ln w="9525">
            <a:solidFill>
              <a:schemeClr val="tx2"/>
            </a:solidFill>
            <a:prstDash val="solid"/>
          </a:ln>
        </p:spPr>
      </p:sp>
      <p:sp>
        <p:nvSpPr>
          <p:cNvPr id="59" name="kicker-dot-803"/>
          <p:cNvSpPr/>
          <p:nvPr/>
        </p:nvSpPr>
        <p:spPr>
          <a:xfrm>
            <a:off x="548640" y="7836408"/>
            <a:ext cx="100584" cy="100584"/>
          </a:xfrm>
          <a:prstGeom prst="ellipse">
            <a:avLst/>
          </a:prstGeom>
          <a:solidFill>
            <a:schemeClr val="accent1"/>
          </a:solidFill>
          <a:ln w="12700">
            <a:solidFill>
              <a:schemeClr val="accent1"/>
            </a:solidFill>
            <a:prstDash val="solid"/>
          </a:ln>
        </p:spPr>
      </p:sp>
      <p:sp>
        <p:nvSpPr>
          <p:cNvPr id="60" name="text-804"/>
          <p:cNvSpPr txBox="1"/>
          <p:nvPr/>
        </p:nvSpPr>
        <p:spPr>
          <a:xfrm>
            <a:off x="731520" y="778154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LIVABILITY</a:t>
            </a:r>
            <a:endParaRPr lang="en-US" sz="900" dirty="0"/>
          </a:p>
        </p:txBody>
      </p:sp>
      <p:sp>
        <p:nvSpPr>
          <p:cNvPr id="61" name="text-805"/>
          <p:cNvSpPr txBox="1"/>
          <p:nvPr/>
        </p:nvSpPr>
        <p:spPr>
          <a:xfrm>
            <a:off x="2331720"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600</a:t>
            </a:r>
            <a:endParaRPr lang="en-US" sz="2200" dirty="0"/>
          </a:p>
        </p:txBody>
      </p:sp>
      <p:sp>
        <p:nvSpPr>
          <p:cNvPr id="62" name="text-806"/>
          <p:cNvSpPr txBox="1"/>
          <p:nvPr/>
        </p:nvSpPr>
        <p:spPr>
          <a:xfrm>
            <a:off x="2331720"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Aurora 81 apartments</a:t>
            </a:r>
            <a:endParaRPr lang="en-US" sz="850" dirty="0"/>
          </a:p>
        </p:txBody>
      </p:sp>
      <p:sp>
        <p:nvSpPr>
          <p:cNvPr id="63" name="text-807"/>
          <p:cNvSpPr txBox="1"/>
          <p:nvPr/>
        </p:nvSpPr>
        <p:spPr>
          <a:xfrm>
            <a:off x="3892296"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450</a:t>
            </a:r>
            <a:endParaRPr lang="en-US" sz="2200" dirty="0"/>
          </a:p>
        </p:txBody>
      </p:sp>
      <p:sp>
        <p:nvSpPr>
          <p:cNvPr id="64" name="text-808"/>
          <p:cNvSpPr txBox="1"/>
          <p:nvPr/>
        </p:nvSpPr>
        <p:spPr>
          <a:xfrm>
            <a:off x="3892296"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pupils at Snow Lantern Primary</a:t>
            </a:r>
            <a:endParaRPr lang="en-US" sz="850" dirty="0"/>
          </a:p>
        </p:txBody>
      </p:sp>
      <p:sp>
        <p:nvSpPr>
          <p:cNvPr id="65" name="text-809"/>
          <p:cNvSpPr txBox="1"/>
          <p:nvPr/>
        </p:nvSpPr>
        <p:spPr>
          <a:xfrm>
            <a:off x="5452872"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3</a:t>
            </a:r>
            <a:endParaRPr lang="en-US" sz="2200" dirty="0"/>
          </a:p>
        </p:txBody>
      </p:sp>
      <p:sp>
        <p:nvSpPr>
          <p:cNvPr id="66" name="text-810"/>
          <p:cNvSpPr txBox="1"/>
          <p:nvPr/>
        </p:nvSpPr>
        <p:spPr>
          <a:xfrm>
            <a:off x="5452872"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kindergartens</a:t>
            </a:r>
            <a:endParaRPr lang="en-US" sz="850" dirty="0"/>
          </a:p>
        </p:txBody>
      </p:sp>
      <p:sp>
        <p:nvSpPr>
          <p:cNvPr id="67" name="rule-811"/>
          <p:cNvSpPr/>
          <p:nvPr/>
        </p:nvSpPr>
        <p:spPr>
          <a:xfrm>
            <a:off x="548640" y="8595360"/>
            <a:ext cx="6464808" cy="0"/>
          </a:xfrm>
          <a:prstGeom prst="line">
            <a:avLst/>
          </a:prstGeom>
          <a:noFill/>
          <a:ln w="9525">
            <a:solidFill>
              <a:schemeClr val="tx2"/>
            </a:solidFill>
            <a:prstDash val="solid"/>
          </a:ln>
        </p:spPr>
      </p:sp>
      <p:sp>
        <p:nvSpPr>
          <p:cNvPr id="68" name="kicker-dot-812"/>
          <p:cNvSpPr/>
          <p:nvPr/>
        </p:nvSpPr>
        <p:spPr>
          <a:xfrm>
            <a:off x="548640" y="8842248"/>
            <a:ext cx="100584" cy="100584"/>
          </a:xfrm>
          <a:prstGeom prst="ellipse">
            <a:avLst/>
          </a:prstGeom>
          <a:solidFill>
            <a:schemeClr val="accent6"/>
          </a:solidFill>
          <a:ln w="12700">
            <a:solidFill>
              <a:schemeClr val="accent6"/>
            </a:solidFill>
            <a:prstDash val="solid"/>
          </a:ln>
        </p:spPr>
      </p:sp>
      <p:sp>
        <p:nvSpPr>
          <p:cNvPr id="69" name="text-813"/>
          <p:cNvSpPr txBox="1"/>
          <p:nvPr/>
        </p:nvSpPr>
        <p:spPr>
          <a:xfrm>
            <a:off x="731520" y="878738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TRANSPORT</a:t>
            </a:r>
            <a:endParaRPr lang="en-US" sz="900" dirty="0"/>
          </a:p>
        </p:txBody>
      </p:sp>
      <p:sp>
        <p:nvSpPr>
          <p:cNvPr id="70" name="text-814"/>
          <p:cNvSpPr txBox="1"/>
          <p:nvPr/>
        </p:nvSpPr>
        <p:spPr>
          <a:xfrm>
            <a:off x="2331720"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a:t>
            </a:r>
            <a:endParaRPr lang="en-US" sz="2200" dirty="0"/>
          </a:p>
        </p:txBody>
      </p:sp>
      <p:sp>
        <p:nvSpPr>
          <p:cNvPr id="71" name="text-815"/>
          <p:cNvSpPr txBox="1"/>
          <p:nvPr/>
        </p:nvSpPr>
        <p:spPr>
          <a:xfrm>
            <a:off x="2331720"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metro lines</a:t>
            </a:r>
            <a:endParaRPr lang="en-US" sz="850" dirty="0"/>
          </a:p>
        </p:txBody>
      </p:sp>
      <p:sp>
        <p:nvSpPr>
          <p:cNvPr id="72" name="text-816"/>
          <p:cNvSpPr txBox="1"/>
          <p:nvPr/>
        </p:nvSpPr>
        <p:spPr>
          <a:xfrm>
            <a:off x="3892296"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5 min</a:t>
            </a:r>
            <a:endParaRPr lang="en-US" sz="2200" dirty="0"/>
          </a:p>
        </p:txBody>
      </p:sp>
      <p:sp>
        <p:nvSpPr>
          <p:cNvPr id="73" name="text-817"/>
          <p:cNvSpPr txBox="1"/>
          <p:nvPr/>
        </p:nvSpPr>
        <p:spPr>
          <a:xfrm>
            <a:off x="3892296"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spa shuttle</a:t>
            </a:r>
            <a:endParaRPr lang="en-US" sz="850" dirty="0"/>
          </a:p>
        </p:txBody>
      </p:sp>
      <p:sp>
        <p:nvSpPr>
          <p:cNvPr id="74" name="text-818"/>
          <p:cNvSpPr txBox="1"/>
          <p:nvPr/>
        </p:nvSpPr>
        <p:spPr>
          <a:xfrm>
            <a:off x="5452872"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20 min</a:t>
            </a:r>
            <a:endParaRPr lang="en-US" sz="2200" dirty="0"/>
          </a:p>
        </p:txBody>
      </p:sp>
      <p:sp>
        <p:nvSpPr>
          <p:cNvPr id="75" name="text-819"/>
          <p:cNvSpPr txBox="1"/>
          <p:nvPr/>
        </p:nvSpPr>
        <p:spPr>
          <a:xfrm>
            <a:off x="5452872"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airport shuttle</a:t>
            </a:r>
            <a:endParaRPr lang="en-US" sz="850" dirty="0"/>
          </a:p>
        </p:txBody>
      </p:sp>
      <p:sp>
        <p:nvSpPr>
          <p:cNvPr id="76" name="text-820"/>
          <p:cNvSpPr txBox="1"/>
          <p:nvPr/>
        </p:nvSpPr>
        <p:spPr>
          <a:xfrm>
            <a:off x="548640" y="9829800"/>
            <a:ext cx="6464808" cy="201168"/>
          </a:xfrm>
          <a:prstGeom prst="rect">
            <a:avLst/>
          </a:prstGeom>
          <a:noFill/>
          <a:ln/>
        </p:spPr>
        <p:txBody>
          <a:bodyPr wrap="square" lIns="0" tIns="0" rIns="0" bIns="0" rtlCol="0" anchor="t"/>
          <a:lstStyle/>
          <a:p>
            <a:pPr indent="0" marL="0">
              <a:buNone/>
            </a:pPr>
            <a:r>
              <a:rPr lang="en-US" sz="850" i="1" dirty="0">
                <a:solidFill>
                  <a:schemeClr val="bg2"/>
                </a:solidFill>
              </a:rPr>
              <a:t>All figures are design values for the Aurora Haven city project.</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back-picture" descr="/home/user/chatbox-bi-n-o/magazine/assets/renders/back.jpg">    </p:cNvPr>
          <p:cNvPicPr>
            <a:picLocks noChangeAspect="1"/>
          </p:cNvPicPr>
          <p:nvPr/>
        </p:nvPicPr>
        <p:blipFill>
          <a:blip r:embed="rId1"/>
          <a:stretch>
            <a:fillRect/>
          </a:stretch>
        </p:blipFill>
        <p:spPr>
          <a:xfrm>
            <a:off x="0" y="0"/>
            <a:ext cx="7562088" cy="10689336"/>
          </a:xfrm>
          <a:prstGeom prst="rect">
            <a:avLst/>
          </a:prstGeom>
        </p:spPr>
      </p:pic>
      <p:sp>
        <p:nvSpPr>
          <p:cNvPr id="3" name="kicker-dot-821"/>
          <p:cNvSpPr/>
          <p:nvPr/>
        </p:nvSpPr>
        <p:spPr>
          <a:xfrm>
            <a:off x="548640" y="589788"/>
            <a:ext cx="100584" cy="100584"/>
          </a:xfrm>
          <a:prstGeom prst="ellipse">
            <a:avLst/>
          </a:prstGeom>
          <a:solidFill>
            <a:schemeClr val="accent1"/>
          </a:solidFill>
          <a:ln w="12700">
            <a:solidFill>
              <a:schemeClr val="accent1"/>
            </a:solidFill>
            <a:prstDash val="solid"/>
          </a:ln>
        </p:spPr>
      </p:sp>
      <p:sp>
        <p:nvSpPr>
          <p:cNvPr id="4" name="text-822"/>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UNTIL NEXT TIME</a:t>
            </a:r>
            <a:endParaRPr lang="en-US" sz="900" dirty="0"/>
          </a:p>
        </p:txBody>
      </p:sp>
      <p:sp>
        <p:nvSpPr>
          <p:cNvPr id="5" name="text-823"/>
          <p:cNvSpPr txBox="1"/>
          <p:nvPr/>
        </p:nvSpPr>
        <p:spPr>
          <a:xfrm>
            <a:off x="548640" y="777240"/>
            <a:ext cx="6464808" cy="731520"/>
          </a:xfrm>
          <a:prstGeom prst="rect">
            <a:avLst/>
          </a:prstGeom>
          <a:noFill/>
          <a:ln/>
        </p:spPr>
        <p:txBody>
          <a:bodyPr wrap="square" lIns="0" tIns="0" rIns="0" bIns="0" rtlCol="0" anchor="t"/>
          <a:lstStyle/>
          <a:p>
            <a:pPr indent="0" marL="0">
              <a:buNone/>
            </a:pPr>
            <a:r>
              <a:rPr lang="en-US" sz="3800" b="1" dirty="0">
                <a:solidFill>
                  <a:schemeClr val="bg1"/>
                </a:solidFill>
                <a:latin typeface="+mj-lt" pitchFamily="34" charset="0"/>
                <a:ea typeface="+mj-lt" pitchFamily="34" charset="-122"/>
                <a:cs typeface="+mj-lt" pitchFamily="34" charset="-120"/>
              </a:rPr>
              <a:t>Warm, Green and Ready</a:t>
            </a:r>
            <a:endParaRPr lang="en-US" sz="3800" dirty="0"/>
          </a:p>
        </p:txBody>
      </p:sp>
      <p:sp>
        <p:nvSpPr>
          <p:cNvPr id="6" name="text-824"/>
          <p:cNvSpPr txBox="1"/>
          <p:nvPr/>
        </p:nvSpPr>
        <p:spPr>
          <a:xfrm>
            <a:off x="548640" y="1645920"/>
            <a:ext cx="3017520" cy="237744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indent="0" marL="0">
              <a:lnSpc>
                <a:spcPct val="112000"/>
              </a:lnSpc>
              <a:buNone/>
            </a:pPr>
            <a:r>
              <a:rPr lang="en-US" sz="1100" dirty="0">
                <a:solidFill>
                  <a:schemeClr val="bg1"/>
                </a:solidFill>
              </a:rPr>
              <a:t>Aurora Haven does not just survive the polar environment; it thrives in it. Heat from fusion and geothermal energy keeps every building warm, and clean energy and closed loops mean no fossil fuel and almost no waste. Most importantly, it is a place where 45,000 people can live, learn, work and watch the northern lights together.</a:t>
            </a:r>
            <a:endParaRPr lang="en-US" sz="1100" dirty="0"/>
          </a:p>
        </p:txBody>
      </p:sp>
      <p:sp>
        <p:nvSpPr>
          <p:cNvPr id="7" name="text-825"/>
          <p:cNvSpPr txBox="1"/>
          <p:nvPr/>
        </p:nvSpPr>
        <p:spPr>
          <a:xfrm>
            <a:off x="548640" y="3200400"/>
            <a:ext cx="2560320" cy="32004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indent="0" marL="0">
              <a:buNone/>
            </a:pPr>
            <a:r>
              <a:rPr lang="en-US" sz="1600" b="1" spc="200" kern="0" dirty="0">
                <a:solidFill>
                  <a:schemeClr val="accent1"/>
                </a:solidFill>
                <a:latin typeface="+mj-lt" pitchFamily="34" charset="0"/>
                <a:ea typeface="+mj-lt" pitchFamily="34" charset="-122"/>
                <a:cs typeface="+mj-lt" pitchFamily="34" charset="-120"/>
              </a:rPr>
              <a:t>AURORA HAVEN</a:t>
            </a:r>
            <a:endParaRPr lang="en-US" sz="1600" dirty="0"/>
          </a:p>
        </p:txBody>
      </p:sp>
      <p:sp>
        <p:nvSpPr>
          <p:cNvPr id="8" name="text-826"/>
          <p:cNvSpPr txBox="1"/>
          <p:nvPr/>
        </p:nvSpPr>
        <p:spPr>
          <a:xfrm>
            <a:off x="548640" y="3538728"/>
            <a:ext cx="2560320" cy="77724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indent="0" marL="0">
              <a:buNone/>
            </a:pPr>
            <a:r>
              <a:rPr lang="en-US" sz="900" dirty="0">
                <a:solidFill>
                  <a:schemeClr val="bg1"/>
                </a:solidFill>
              </a:rPr>
              <a:t>[Group name] · [Member names]</a:t>
            </a:r>
            <a:endParaRPr lang="en-US" sz="900" dirty="0"/>
          </a:p>
          <a:p>
            <a:pPr indent="0" marL="0">
              <a:buNone/>
            </a:pPr>
            <a:r>
              <a:rPr lang="en-US" sz="900" dirty="0">
                <a:solidFill>
                  <a:schemeClr val="bg1"/>
                </a:solidFill>
              </a:rPr>
              <a:t>[Class] · [Date]</a:t>
            </a:r>
            <a:endParaRPr lang="en-US" sz="900" dirty="0"/>
          </a:p>
          <a:p>
            <a:pPr indent="0" marL="0">
              <a:buNone/>
            </a:pPr>
            <a:r>
              <a:rPr lang="en-US" sz="900" dirty="0">
                <a:solidFill>
                  <a:schemeClr val="bg1"/>
                </a:solidFill>
              </a:rPr>
              <a:t>Modelled in 3D with three.js</a:t>
            </a:r>
            <a:endParaRPr lang="en-US" sz="900" dirty="0"/>
          </a:p>
          <a:p>
            <a:pPr indent="0" marL="0">
              <a:buNone/>
            </a:pPr>
            <a:r>
              <a:rPr lang="en-US" sz="900" dirty="0">
                <a:solidFill>
                  <a:schemeClr val="bg1"/>
                </a:solidFill>
              </a:rPr>
              <a:t>Polar / Ice City</a:t>
            </a:r>
            <a:endParaRPr lang="en-US" sz="900" dirty="0"/>
          </a:p>
        </p:txBody>
      </p:sp>
    </p:spTree>
  </p:cSld>
  <p:clrMapOvr>
    <a:masterClrMapping/>
  </p:clrMapOvr>
</p:sld>
</file>

<file path=ppt/theme/theme1.xml><?xml version="1.0" encoding="utf-8"?>
<a:theme xmlns:a="http://schemas.openxmlformats.org/drawingml/2006/main" name="Aurora Haven">
  <a:themeElements>
    <a:clrScheme name="Aurora Haven">
      <a:dk1>
        <a:srgbClr val="0E1A36"/>
      </a:dk1>
      <a:lt1>
        <a:srgbClr val="FFFFFF"/>
      </a:lt1>
      <a:dk2>
        <a:srgbClr val="4A5A75"/>
      </a:dk2>
      <a:lt2>
        <a:srgbClr val="EEF3F8"/>
      </a:lt2>
      <a:accent1>
        <a:srgbClr val="1FB58F"/>
      </a:accent1>
      <a:accent2>
        <a:srgbClr val="E06A2E"/>
      </a:accent2>
      <a:accent3>
        <a:srgbClr val="7B4FD6"/>
      </a:accent3>
      <a:accent4>
        <a:srgbClr val="0E8379"/>
      </a:accent4>
      <a:accent5>
        <a:srgbClr val="C9456F"/>
      </a:accent5>
      <a:accent6>
        <a:srgbClr val="4A7FC1"/>
      </a:accent6>
      <a:hlink>
        <a:srgbClr val="4A7FC1"/>
      </a:hlink>
      <a:folHlink>
        <a:srgbClr val="7B4FD6"/>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Aurora Haven – Issue 01</dc:title>
  <dc:subject>A polar city that thrives</dc:subject>
  <dc:creator>[Group name]</dc:creator>
  <cp:lastModifiedBy>[Group name]</cp:lastModifiedBy>
  <cp:revision>1</cp:revision>
  <dcterms:created xsi:type="dcterms:W3CDTF">2026-10-23T01:13:29Z</dcterms:created>
  <dcterms:modified xsi:type="dcterms:W3CDTF">2026-10-23T01:13:29Z</dcterms:modified>
</cp:coreProperties>
</file>