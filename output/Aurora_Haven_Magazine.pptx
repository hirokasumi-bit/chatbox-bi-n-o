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362968b-c381-ab18-a9d4-b444f5d5df98}">
          <p14:sldIdLst>
            <p14:sldId id="256"/>
            <p14:sldId id="257"/>
          </p14:sldIdLst>
        </p14:section>
        <p14:section name="Welcome" id="{1c791699-f305-3830-25d7-6d7a719d29b0}">
          <p14:sldIdLst>
            <p14:sldId id="258"/>
            <p14:sldId id="259"/>
            <p14:sldId id="260"/>
            <p14:sldId id="261"/>
            <p14:sldId id="262"/>
          </p14:sldIdLst>
        </p14:section>
        <p14:section name="The City" id="{eb01bc25-baaa-1858-082b-552955357298}">
          <p14:sldIdLst>
            <p14:sldId id="263"/>
            <p14:sldId id="264"/>
            <p14:sldId id="265"/>
            <p14:sldId id="266"/>
            <p14:sldId id="267"/>
            <p14:sldId id="268"/>
            <p14:sldId id="269"/>
            <p14:sldId id="270"/>
          </p14:sldIdLst>
        </p14:section>
        <p14:section name="Signature Districts" id="{ee9c477f-1f2e-b9ed-7c3e-5e1c57fa9be7}">
          <p14:sldIdLst>
            <p14:sldId id="271"/>
            <p14:sldId id="272"/>
            <p14:sldId id="273"/>
            <p14:sldId id="274"/>
            <p14:sldId id="275"/>
            <p14:sldId id="276"/>
            <p14:sldId id="277"/>
            <p14:sldId id="278"/>
            <p14:sldId id="279"/>
            <p14:sldId id="280"/>
            <p14:sldId id="281"/>
          </p14:sldIdLst>
        </p14:section>
        <p14:section name="Living in Aurora Haven" id="{d31ddd5f-4b08-97df-aaf6-54d005ae2f70}">
          <p14:sldIdLst>
            <p14:sldId id="282"/>
            <p14:sldId id="283"/>
            <p14:sldId id="284"/>
            <p14:sldId id="285"/>
            <p14:sldId id="286"/>
            <p14:sldId id="287"/>
            <p14:sldId id="288"/>
          </p14:sldIdLst>
        </p14:section>
        <p14:section name="Invest" id="{284294bf-5d62-7a0f-49db-3ea4cff9fd54}">
          <p14:sldIdLst>
            <p14:sldId id="289"/>
          </p14:sldIdLst>
        </p14:section>
        <p14:section name="Guide" id="{31ae4976-0f1e-bee4-1308-817e337912fe}">
          <p14:sldIdLst>
            <p14:sldId id="290"/>
            <p14:sldId id="291"/>
            <p14:sldId id="292"/>
            <p14:sldId id="293"/>
            <p14:sldId id="294"/>
          </p14:sldIdLst>
        </p14:section>
        <p14:section name="Back Cover" id="{5dde3b6d-2158-62ed-c956-680c719ed192}">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8" Type="http://schemas.openxmlformats.org/officeDocument/2006/relationships/hyperlink" Target="https://youtu.be/QwcP_2Q3Esc" TargetMode="External"/><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png"/><Relationship Id="rId9" Type="http://schemas.openxmlformats.org/officeDocument/2006/relationships/slideLayout" Target="../slideLayouts/slideLayout7.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8.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6.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9.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7.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6.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9.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9.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6.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9.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image" Target="../media/image-25-3.jpg"/><Relationship Id="rId4" Type="http://schemas.openxmlformats.org/officeDocument/2006/relationships/slideLayout" Target="../slideLayouts/slideLayout7.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8.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5" Type="http://schemas.openxmlformats.org/officeDocument/2006/relationships/hyperlink" Target="https://youtu.be/QwcP_2Q3Esc"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6" Type="http://schemas.openxmlformats.org/officeDocument/2006/relationships/slideLayout" Target="../slideLayouts/slideLayout2.xml"/><Relationship Id="rId7"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16</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21</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19</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2" name="text-30"/>
          <p:cNvSpPr txBox="1"/>
          <p:nvPr/>
        </p:nvSpPr>
        <p:spPr>
          <a:xfrm>
            <a:off x="1051560"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3" name="text-31"/>
          <p:cNvSpPr txBox="1"/>
          <p:nvPr/>
        </p:nvSpPr>
        <p:spPr>
          <a:xfrm>
            <a:off x="548640"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5" name="text-33"/>
          <p:cNvSpPr txBox="1"/>
          <p:nvPr/>
        </p:nvSpPr>
        <p:spPr>
          <a:xfrm>
            <a:off x="1051560"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6" name="text-34"/>
          <p:cNvSpPr txBox="1"/>
          <p:nvPr/>
        </p:nvSpPr>
        <p:spPr>
          <a:xfrm>
            <a:off x="548640"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27" name="text-35"/>
          <p:cNvSpPr txBox="1"/>
          <p:nvPr/>
        </p:nvSpPr>
        <p:spPr>
          <a:xfrm>
            <a:off x="1051560"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28" name="text-36"/>
          <p:cNvSpPr txBox="1"/>
          <p:nvPr/>
        </p:nvSpPr>
        <p:spPr>
          <a:xfrm>
            <a:off x="1051560"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Homes, schools, health, shops and culture</a:t>
            </a:r>
            <a:endParaRPr lang="en-US" sz="850" dirty="0"/>
          </a:p>
        </p:txBody>
      </p:sp>
      <p:sp>
        <p:nvSpPr>
          <p:cNvPr id="29" name="text-37"/>
          <p:cNvSpPr txBox="1"/>
          <p:nvPr/>
        </p:nvSpPr>
        <p:spPr>
          <a:xfrm>
            <a:off x="548640"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16</a:t>
            </a:r>
            <a:endParaRPr lang="en-US" sz="1700" dirty="0"/>
          </a:p>
        </p:txBody>
      </p:sp>
      <p:sp>
        <p:nvSpPr>
          <p:cNvPr id="30" name="text-38"/>
          <p:cNvSpPr txBox="1"/>
          <p:nvPr/>
        </p:nvSpPr>
        <p:spPr>
          <a:xfrm>
            <a:off x="1051560"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31" name="text-39"/>
          <p:cNvSpPr txBox="1"/>
          <p:nvPr/>
        </p:nvSpPr>
        <p:spPr>
          <a:xfrm>
            <a:off x="1051560"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32" name="text-40"/>
          <p:cNvSpPr txBox="1"/>
          <p:nvPr/>
        </p:nvSpPr>
        <p:spPr>
          <a:xfrm>
            <a:off x="548640"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4" name="text-42"/>
          <p:cNvSpPr txBox="1"/>
          <p:nvPr/>
        </p:nvSpPr>
        <p:spPr>
          <a:xfrm>
            <a:off x="1051560"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5" name="text-43"/>
          <p:cNvSpPr txBox="1"/>
          <p:nvPr/>
        </p:nvSpPr>
        <p:spPr>
          <a:xfrm>
            <a:off x="548640"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36" name="text-44"/>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7" name="text-45"/>
          <p:cNvSpPr txBox="1"/>
          <p:nvPr/>
        </p:nvSpPr>
        <p:spPr>
          <a:xfrm>
            <a:off x="1051560"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8" name="text-46"/>
          <p:cNvSpPr txBox="1"/>
          <p:nvPr/>
        </p:nvSpPr>
        <p:spPr>
          <a:xfrm>
            <a:off x="548640"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39" name="text-47"/>
          <p:cNvSpPr txBox="1"/>
          <p:nvPr/>
        </p:nvSpPr>
        <p:spPr>
          <a:xfrm>
            <a:off x="1051560"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40" name="text-48"/>
          <p:cNvSpPr txBox="1"/>
          <p:nvPr/>
        </p:nvSpPr>
        <p:spPr>
          <a:xfrm>
            <a:off x="1051560"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41" name="text-49"/>
          <p:cNvSpPr txBox="1"/>
          <p:nvPr/>
        </p:nvSpPr>
        <p:spPr>
          <a:xfrm>
            <a:off x="548640"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2" name="text-50"/>
          <p:cNvSpPr txBox="1"/>
          <p:nvPr/>
        </p:nvSpPr>
        <p:spPr>
          <a:xfrm>
            <a:off x="1051560"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3" name="text-51"/>
          <p:cNvSpPr txBox="1"/>
          <p:nvPr/>
        </p:nvSpPr>
        <p:spPr>
          <a:xfrm>
            <a:off x="1051560"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4" name="text-52"/>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5" name="text-53"/>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6" name="text-54"/>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47" name="text-55"/>
          <p:cNvSpPr txBox="1"/>
          <p:nvPr/>
        </p:nvSpPr>
        <p:spPr>
          <a:xfrm>
            <a:off x="3918204"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48" name="text-56"/>
          <p:cNvSpPr txBox="1"/>
          <p:nvPr/>
        </p:nvSpPr>
        <p:spPr>
          <a:xfrm>
            <a:off x="4421124"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57"/>
          <p:cNvSpPr txBox="1"/>
          <p:nvPr/>
        </p:nvSpPr>
        <p:spPr>
          <a:xfrm>
            <a:off x="4421124"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0" name="text-58"/>
          <p:cNvSpPr txBox="1"/>
          <p:nvPr/>
        </p:nvSpPr>
        <p:spPr>
          <a:xfrm>
            <a:off x="3918204"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1" name="text-59"/>
          <p:cNvSpPr txBox="1"/>
          <p:nvPr/>
        </p:nvSpPr>
        <p:spPr>
          <a:xfrm>
            <a:off x="4421124"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2" name="text-60"/>
          <p:cNvSpPr txBox="1"/>
          <p:nvPr/>
        </p:nvSpPr>
        <p:spPr>
          <a:xfrm>
            <a:off x="4421124"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3" name="text-61"/>
          <p:cNvSpPr txBox="1"/>
          <p:nvPr/>
        </p:nvSpPr>
        <p:spPr>
          <a:xfrm>
            <a:off x="3918204"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4" name="text-62"/>
          <p:cNvSpPr txBox="1"/>
          <p:nvPr/>
        </p:nvSpPr>
        <p:spPr>
          <a:xfrm>
            <a:off x="4421124"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5" name="text-63"/>
          <p:cNvSpPr txBox="1"/>
          <p:nvPr/>
        </p:nvSpPr>
        <p:spPr>
          <a:xfrm>
            <a:off x="4421124"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6" name="text-64"/>
          <p:cNvSpPr txBox="1"/>
          <p:nvPr/>
        </p:nvSpPr>
        <p:spPr>
          <a:xfrm>
            <a:off x="3918204"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57" name="text-65"/>
          <p:cNvSpPr txBox="1"/>
          <p:nvPr/>
        </p:nvSpPr>
        <p:spPr>
          <a:xfrm>
            <a:off x="4421124"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8" name="text-66"/>
          <p:cNvSpPr txBox="1"/>
          <p:nvPr/>
        </p:nvSpPr>
        <p:spPr>
          <a:xfrm>
            <a:off x="4421124"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59" name="text-67"/>
          <p:cNvSpPr txBox="1"/>
          <p:nvPr/>
        </p:nvSpPr>
        <p:spPr>
          <a:xfrm>
            <a:off x="3918204"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0" name="text-68"/>
          <p:cNvSpPr txBox="1"/>
          <p:nvPr/>
        </p:nvSpPr>
        <p:spPr>
          <a:xfrm>
            <a:off x="4421124"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1" name="text-69"/>
          <p:cNvSpPr txBox="1"/>
          <p:nvPr/>
        </p:nvSpPr>
        <p:spPr>
          <a:xfrm>
            <a:off x="4421124"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2" name="text-70"/>
          <p:cNvSpPr txBox="1"/>
          <p:nvPr/>
        </p:nvSpPr>
        <p:spPr>
          <a:xfrm>
            <a:off x="3918204"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3" name="text-71"/>
          <p:cNvSpPr txBox="1"/>
          <p:nvPr/>
        </p:nvSpPr>
        <p:spPr>
          <a:xfrm>
            <a:off x="4421124"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4" name="text-72"/>
          <p:cNvSpPr txBox="1"/>
          <p:nvPr/>
        </p:nvSpPr>
        <p:spPr>
          <a:xfrm>
            <a:off x="4421124"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5" name="text-73"/>
          <p:cNvSpPr txBox="1"/>
          <p:nvPr/>
        </p:nvSpPr>
        <p:spPr>
          <a:xfrm>
            <a:off x="3918204"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6" name="text-74"/>
          <p:cNvSpPr txBox="1"/>
          <p:nvPr/>
        </p:nvSpPr>
        <p:spPr>
          <a:xfrm>
            <a:off x="4421124"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67" name="text-75"/>
          <p:cNvSpPr txBox="1"/>
          <p:nvPr/>
        </p:nvSpPr>
        <p:spPr>
          <a:xfrm>
            <a:off x="4421124"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68" name="text-76"/>
          <p:cNvSpPr txBox="1"/>
          <p:nvPr/>
        </p:nvSpPr>
        <p:spPr>
          <a:xfrm>
            <a:off x="3918204"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69" name="text-77"/>
          <p:cNvSpPr txBox="1"/>
          <p:nvPr/>
        </p:nvSpPr>
        <p:spPr>
          <a:xfrm>
            <a:off x="4421124"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0" name="text-78"/>
          <p:cNvSpPr txBox="1"/>
          <p:nvPr/>
        </p:nvSpPr>
        <p:spPr>
          <a:xfrm>
            <a:off x="4421124"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1" name="text-79"/>
          <p:cNvSpPr txBox="1"/>
          <p:nvPr/>
        </p:nvSpPr>
        <p:spPr>
          <a:xfrm>
            <a:off x="3918204"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2" name="text-80"/>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3" name="text-81"/>
          <p:cNvSpPr txBox="1"/>
          <p:nvPr/>
        </p:nvSpPr>
        <p:spPr>
          <a:xfrm>
            <a:off x="4421124"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4" name="text-82"/>
          <p:cNvSpPr txBox="1"/>
          <p:nvPr/>
        </p:nvSpPr>
        <p:spPr>
          <a:xfrm>
            <a:off x="3918204"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5" name="text-83"/>
          <p:cNvSpPr txBox="1"/>
          <p:nvPr/>
        </p:nvSpPr>
        <p:spPr>
          <a:xfrm>
            <a:off x="4421124"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6" name="text-84"/>
          <p:cNvSpPr txBox="1"/>
          <p:nvPr/>
        </p:nvSpPr>
        <p:spPr>
          <a:xfrm>
            <a:off x="4421124"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77" name="text-85"/>
          <p:cNvSpPr txBox="1"/>
          <p:nvPr/>
        </p:nvSpPr>
        <p:spPr>
          <a:xfrm>
            <a:off x="3918204"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38</a:t>
            </a:r>
            <a:endParaRPr lang="en-US" sz="1700" dirty="0"/>
          </a:p>
        </p:txBody>
      </p:sp>
      <p:sp>
        <p:nvSpPr>
          <p:cNvPr id="78" name="text-86"/>
          <p:cNvSpPr txBox="1"/>
          <p:nvPr/>
        </p:nvSpPr>
        <p:spPr>
          <a:xfrm>
            <a:off x="4421124"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9" name="text-87"/>
          <p:cNvSpPr txBox="1"/>
          <p:nvPr/>
        </p:nvSpPr>
        <p:spPr>
          <a:xfrm>
            <a:off x="4421124"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8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90"/>
          <p:cNvSpPr/>
          <p:nvPr/>
        </p:nvSpPr>
        <p:spPr>
          <a:xfrm>
            <a:off x="548640" y="868680"/>
            <a:ext cx="548640" cy="45720"/>
          </a:xfrm>
          <a:prstGeom prst="rect">
            <a:avLst/>
          </a:prstGeom>
          <a:solidFill>
            <a:schemeClr val="tx1"/>
          </a:solidFill>
          <a:ln w="12700">
            <a:solidFill>
              <a:schemeClr val="tx1"/>
            </a:solidFill>
            <a:prstDash val="solid"/>
          </a:ln>
        </p:spPr>
      </p:sp>
      <p:sp>
        <p:nvSpPr>
          <p:cNvPr id="5" name="text-91"/>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92"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7" name="text-93"/>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4"/>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5"/>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6"/>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The Polar City team</a:t>
            </a:r>
            <a:endParaRPr lang="en-US" sz="1200" dirty="0"/>
          </a:p>
        </p:txBody>
      </p:sp>
      <p:sp>
        <p:nvSpPr>
          <p:cNvPr id="11" name="text-97"/>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latin typeface="Arial" pitchFamily="34" charset="0"/>
                <a:ea typeface="Arial" pitchFamily="34" charset="-122"/>
                <a:cs typeface="Arial" pitchFamily="34" charset="-120"/>
              </a:rPr>
              <a:t>Class 11A4 · Lê Quý Đôn High School</a:t>
            </a:r>
            <a:endParaRPr lang="en-US" sz="900" dirty="0"/>
          </a:p>
        </p:txBody>
      </p:sp>
      <p:sp>
        <p:nvSpPr>
          <p:cNvPr id="12" name="card-98"/>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3" name="picture-99"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4" name="kicker-dot-100"/>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5" name="text-101"/>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102"/>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7"/>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08"/>
          <p:cNvSpPr/>
          <p:nvPr/>
        </p:nvSpPr>
        <p:spPr>
          <a:xfrm>
            <a:off x="548640" y="2057400"/>
            <a:ext cx="2063496" cy="2926080"/>
          </a:xfrm>
          <a:prstGeom prst="roundRect">
            <a:avLst>
              <a:gd name="adj" fmla="val 3545"/>
            </a:avLst>
          </a:prstGeom>
          <a:solidFill>
            <a:schemeClr val="bg2"/>
          </a:solidFill>
          <a:ln w="12700">
            <a:solidFill>
              <a:schemeClr val="bg2"/>
            </a:solidFill>
            <a:prstDash val="solid"/>
          </a:ln>
        </p:spPr>
      </p:sp>
      <p:pic>
        <p:nvPicPr>
          <p:cNvPr id="7" name="member-photo-109" descr="/home/user/chatbox-bi-n-o/magazine/assets/team/nguyen_dong_bao.jpg">    </p:cNvPr>
          <p:cNvPicPr>
            <a:picLocks noChangeAspect="1"/>
          </p:cNvPicPr>
          <p:nvPr/>
        </p:nvPicPr>
        <p:blipFill>
          <a:blip r:embed="rId1"/>
          <a:stretch>
            <a:fillRect/>
          </a:stretch>
        </p:blipFill>
        <p:spPr>
          <a:xfrm>
            <a:off x="658368" y="2167128"/>
            <a:ext cx="1844040" cy="2194408"/>
          </a:xfrm>
          <a:prstGeom prst="rect">
            <a:avLst/>
          </a:prstGeom>
        </p:spPr>
      </p:pic>
      <p:sp>
        <p:nvSpPr>
          <p:cNvPr id="8" name="text-110"/>
          <p:cNvSpPr txBox="1"/>
          <p:nvPr/>
        </p:nvSpPr>
        <p:spPr>
          <a:xfrm>
            <a:off x="658368"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Đông Bảo</a:t>
            </a:r>
            <a:endParaRPr lang="en-US" sz="1100" dirty="0"/>
          </a:p>
        </p:txBody>
      </p:sp>
      <p:sp>
        <p:nvSpPr>
          <p:cNvPr id="9" name="text-111"/>
          <p:cNvSpPr txBox="1"/>
          <p:nvPr/>
        </p:nvSpPr>
        <p:spPr>
          <a:xfrm>
            <a:off x="658368"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3D city design</a:t>
            </a:r>
            <a:endParaRPr lang="en-US" sz="900" dirty="0"/>
          </a:p>
        </p:txBody>
      </p:sp>
      <p:sp>
        <p:nvSpPr>
          <p:cNvPr id="10" name="card-112"/>
          <p:cNvSpPr/>
          <p:nvPr/>
        </p:nvSpPr>
        <p:spPr>
          <a:xfrm>
            <a:off x="2749296" y="2057400"/>
            <a:ext cx="2063496" cy="2926080"/>
          </a:xfrm>
          <a:prstGeom prst="roundRect">
            <a:avLst>
              <a:gd name="adj" fmla="val 3545"/>
            </a:avLst>
          </a:prstGeom>
          <a:solidFill>
            <a:schemeClr val="bg2"/>
          </a:solidFill>
          <a:ln w="12700">
            <a:solidFill>
              <a:schemeClr val="bg2"/>
            </a:solidFill>
            <a:prstDash val="solid"/>
          </a:ln>
        </p:spPr>
      </p:sp>
      <p:pic>
        <p:nvPicPr>
          <p:cNvPr id="11" name="member-photo-113" descr="/home/user/chatbox-bi-n-o/magazine/assets/team/nguyen_ba_hieu_thien.jpg">    </p:cNvPr>
          <p:cNvPicPr>
            <a:picLocks noChangeAspect="1"/>
          </p:cNvPicPr>
          <p:nvPr/>
        </p:nvPicPr>
        <p:blipFill>
          <a:blip r:embed="rId2"/>
          <a:stretch>
            <a:fillRect/>
          </a:stretch>
        </p:blipFill>
        <p:spPr>
          <a:xfrm>
            <a:off x="2859024" y="2167128"/>
            <a:ext cx="1844040" cy="2194408"/>
          </a:xfrm>
          <a:prstGeom prst="rect">
            <a:avLst/>
          </a:prstGeom>
        </p:spPr>
      </p:pic>
      <p:sp>
        <p:nvSpPr>
          <p:cNvPr id="12" name="text-114"/>
          <p:cNvSpPr txBox="1"/>
          <p:nvPr/>
        </p:nvSpPr>
        <p:spPr>
          <a:xfrm>
            <a:off x="2859024"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Bá Hiếu Thiện</a:t>
            </a:r>
            <a:endParaRPr lang="en-US" sz="1100" dirty="0"/>
          </a:p>
        </p:txBody>
      </p:sp>
      <p:sp>
        <p:nvSpPr>
          <p:cNvPr id="13" name="text-115"/>
          <p:cNvSpPr txBox="1"/>
          <p:nvPr/>
        </p:nvSpPr>
        <p:spPr>
          <a:xfrm>
            <a:off x="2859024"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Team leader · Research · 3D city design</a:t>
            </a:r>
            <a:endParaRPr lang="en-US" sz="900" dirty="0"/>
          </a:p>
        </p:txBody>
      </p:sp>
      <p:sp>
        <p:nvSpPr>
          <p:cNvPr id="14" name="card-116"/>
          <p:cNvSpPr/>
          <p:nvPr/>
        </p:nvSpPr>
        <p:spPr>
          <a:xfrm>
            <a:off x="4949952" y="2057400"/>
            <a:ext cx="2063496" cy="2926080"/>
          </a:xfrm>
          <a:prstGeom prst="roundRect">
            <a:avLst>
              <a:gd name="adj" fmla="val 3545"/>
            </a:avLst>
          </a:prstGeom>
          <a:solidFill>
            <a:schemeClr val="bg2"/>
          </a:solidFill>
          <a:ln w="12700">
            <a:solidFill>
              <a:schemeClr val="bg2"/>
            </a:solidFill>
            <a:prstDash val="solid"/>
          </a:ln>
        </p:spPr>
      </p:sp>
      <p:pic>
        <p:nvPicPr>
          <p:cNvPr id="15" name="member-photo-117" descr="/home/user/chatbox-bi-n-o/magazine/assets/team/phan_minh_khoi.jpg">    </p:cNvPr>
          <p:cNvPicPr>
            <a:picLocks noChangeAspect="1"/>
          </p:cNvPicPr>
          <p:nvPr/>
        </p:nvPicPr>
        <p:blipFill>
          <a:blip r:embed="rId3"/>
          <a:stretch>
            <a:fillRect/>
          </a:stretch>
        </p:blipFill>
        <p:spPr>
          <a:xfrm>
            <a:off x="5059680" y="2167128"/>
            <a:ext cx="1844040" cy="2194408"/>
          </a:xfrm>
          <a:prstGeom prst="rect">
            <a:avLst/>
          </a:prstGeom>
        </p:spPr>
      </p:pic>
      <p:sp>
        <p:nvSpPr>
          <p:cNvPr id="16" name="text-118"/>
          <p:cNvSpPr txBox="1"/>
          <p:nvPr/>
        </p:nvSpPr>
        <p:spPr>
          <a:xfrm>
            <a:off x="5059680" y="445297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Phan Minh Khôi</a:t>
            </a:r>
            <a:endParaRPr lang="en-US" sz="1100" dirty="0"/>
          </a:p>
        </p:txBody>
      </p:sp>
      <p:sp>
        <p:nvSpPr>
          <p:cNvPr id="17" name="text-119"/>
          <p:cNvSpPr txBox="1"/>
          <p:nvPr/>
        </p:nvSpPr>
        <p:spPr>
          <a:xfrm>
            <a:off x="5059680" y="470900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Research · Fact-checking</a:t>
            </a:r>
            <a:endParaRPr lang="en-US" sz="900" dirty="0"/>
          </a:p>
        </p:txBody>
      </p:sp>
      <p:sp>
        <p:nvSpPr>
          <p:cNvPr id="18" name="card-120"/>
          <p:cNvSpPr/>
          <p:nvPr/>
        </p:nvSpPr>
        <p:spPr>
          <a:xfrm>
            <a:off x="548640" y="5120640"/>
            <a:ext cx="2063496" cy="2926080"/>
          </a:xfrm>
          <a:prstGeom prst="roundRect">
            <a:avLst>
              <a:gd name="adj" fmla="val 3545"/>
            </a:avLst>
          </a:prstGeom>
          <a:solidFill>
            <a:schemeClr val="bg2"/>
          </a:solidFill>
          <a:ln w="12700">
            <a:solidFill>
              <a:schemeClr val="bg2"/>
            </a:solidFill>
            <a:prstDash val="solid"/>
          </a:ln>
        </p:spPr>
      </p:sp>
      <p:pic>
        <p:nvPicPr>
          <p:cNvPr id="19" name="member-photo-121" descr="/home/user/chatbox-bi-n-o/magazine/assets/team/duong_hang_nguyen.jpg">    </p:cNvPr>
          <p:cNvPicPr>
            <a:picLocks noChangeAspect="1"/>
          </p:cNvPicPr>
          <p:nvPr/>
        </p:nvPicPr>
        <p:blipFill>
          <a:blip r:embed="rId4"/>
          <a:stretch>
            <a:fillRect/>
          </a:stretch>
        </p:blipFill>
        <p:spPr>
          <a:xfrm>
            <a:off x="658368" y="5230368"/>
            <a:ext cx="1844040" cy="2194408"/>
          </a:xfrm>
          <a:prstGeom prst="rect">
            <a:avLst/>
          </a:prstGeom>
        </p:spPr>
      </p:pic>
      <p:sp>
        <p:nvSpPr>
          <p:cNvPr id="20" name="text-122"/>
          <p:cNvSpPr txBox="1"/>
          <p:nvPr/>
        </p:nvSpPr>
        <p:spPr>
          <a:xfrm>
            <a:off x="658368"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Dương Hàng Nguyên</a:t>
            </a:r>
            <a:endParaRPr lang="en-US" sz="1100" dirty="0"/>
          </a:p>
        </p:txBody>
      </p:sp>
      <p:sp>
        <p:nvSpPr>
          <p:cNvPr id="21" name="text-123"/>
          <p:cNvSpPr txBox="1"/>
          <p:nvPr/>
        </p:nvSpPr>
        <p:spPr>
          <a:xfrm>
            <a:off x="658368"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filming &amp; editing · 3D city design</a:t>
            </a:r>
            <a:endParaRPr lang="en-US" sz="900" dirty="0"/>
          </a:p>
        </p:txBody>
      </p:sp>
      <p:sp>
        <p:nvSpPr>
          <p:cNvPr id="22" name="card-124"/>
          <p:cNvSpPr/>
          <p:nvPr/>
        </p:nvSpPr>
        <p:spPr>
          <a:xfrm>
            <a:off x="2749296" y="5120640"/>
            <a:ext cx="2063496" cy="2926080"/>
          </a:xfrm>
          <a:prstGeom prst="roundRect">
            <a:avLst>
              <a:gd name="adj" fmla="val 3545"/>
            </a:avLst>
          </a:prstGeom>
          <a:solidFill>
            <a:schemeClr val="bg2"/>
          </a:solidFill>
          <a:ln w="12700">
            <a:solidFill>
              <a:schemeClr val="bg2"/>
            </a:solidFill>
            <a:prstDash val="solid"/>
          </a:ln>
        </p:spPr>
      </p:sp>
      <p:pic>
        <p:nvPicPr>
          <p:cNvPr id="23" name="member-photo-125" descr="/home/user/chatbox-bi-n-o/magazine/assets/team/pham_phuoc_khoa.jpg">    </p:cNvPr>
          <p:cNvPicPr>
            <a:picLocks noChangeAspect="1"/>
          </p:cNvPicPr>
          <p:nvPr/>
        </p:nvPicPr>
        <p:blipFill>
          <a:blip r:embed="rId5"/>
          <a:stretch>
            <a:fillRect/>
          </a:stretch>
        </p:blipFill>
        <p:spPr>
          <a:xfrm>
            <a:off x="2859024" y="5230368"/>
            <a:ext cx="1844040" cy="2194408"/>
          </a:xfrm>
          <a:prstGeom prst="rect">
            <a:avLst/>
          </a:prstGeom>
        </p:spPr>
      </p:pic>
      <p:sp>
        <p:nvSpPr>
          <p:cNvPr id="24" name="text-126"/>
          <p:cNvSpPr txBox="1"/>
          <p:nvPr/>
        </p:nvSpPr>
        <p:spPr>
          <a:xfrm>
            <a:off x="2859024"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Phạm Phước Khoa</a:t>
            </a:r>
            <a:endParaRPr lang="en-US" sz="1100" dirty="0"/>
          </a:p>
        </p:txBody>
      </p:sp>
      <p:sp>
        <p:nvSpPr>
          <p:cNvPr id="25" name="text-127"/>
          <p:cNvSpPr txBox="1"/>
          <p:nvPr/>
        </p:nvSpPr>
        <p:spPr>
          <a:xfrm>
            <a:off x="2859024"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Video editing · Magazine design</a:t>
            </a:r>
            <a:endParaRPr lang="en-US" sz="900" dirty="0"/>
          </a:p>
        </p:txBody>
      </p:sp>
      <p:sp>
        <p:nvSpPr>
          <p:cNvPr id="26" name="card-128"/>
          <p:cNvSpPr/>
          <p:nvPr/>
        </p:nvSpPr>
        <p:spPr>
          <a:xfrm>
            <a:off x="4949952" y="5120640"/>
            <a:ext cx="2063496" cy="2926080"/>
          </a:xfrm>
          <a:prstGeom prst="roundRect">
            <a:avLst>
              <a:gd name="adj" fmla="val 3545"/>
            </a:avLst>
          </a:prstGeom>
          <a:solidFill>
            <a:schemeClr val="bg2"/>
          </a:solidFill>
          <a:ln w="12700">
            <a:solidFill>
              <a:schemeClr val="bg2"/>
            </a:solidFill>
            <a:prstDash val="solid"/>
          </a:ln>
        </p:spPr>
      </p:sp>
      <p:pic>
        <p:nvPicPr>
          <p:cNvPr id="27" name="member-photo-129" descr="/home/user/chatbox-bi-n-o/magazine/assets/team/nguyen_minh_triet.jpg">    </p:cNvPr>
          <p:cNvPicPr>
            <a:picLocks noChangeAspect="1"/>
          </p:cNvPicPr>
          <p:nvPr/>
        </p:nvPicPr>
        <p:blipFill>
          <a:blip r:embed="rId6"/>
          <a:stretch>
            <a:fillRect/>
          </a:stretch>
        </p:blipFill>
        <p:spPr>
          <a:xfrm>
            <a:off x="5059680" y="5230368"/>
            <a:ext cx="1844040" cy="2194408"/>
          </a:xfrm>
          <a:prstGeom prst="rect">
            <a:avLst/>
          </a:prstGeom>
        </p:spPr>
      </p:pic>
      <p:sp>
        <p:nvSpPr>
          <p:cNvPr id="28" name="text-130"/>
          <p:cNvSpPr txBox="1"/>
          <p:nvPr/>
        </p:nvSpPr>
        <p:spPr>
          <a:xfrm>
            <a:off x="5059680" y="7516216"/>
            <a:ext cx="1844040" cy="237744"/>
          </a:xfrm>
          <a:prstGeom prst="rect">
            <a:avLst/>
          </a:prstGeom>
          <a:noFill/>
          <a:ln/>
        </p:spPr>
        <p:txBody>
          <a:bodyPr wrap="square" lIns="0" tIns="0" rIns="0" bIns="0" rtlCol="0" anchor="t"/>
          <a:lstStyle/>
          <a:p>
            <a:pPr indent="0" marL="0">
              <a:buNone/>
            </a:pPr>
            <a:r>
              <a:rPr lang="en-US" sz="1100" b="1" dirty="0">
                <a:solidFill>
                  <a:schemeClr val="tx1"/>
                </a:solidFill>
                <a:latin typeface="Arial" pitchFamily="34" charset="0"/>
                <a:ea typeface="Arial" pitchFamily="34" charset="-122"/>
                <a:cs typeface="Arial" pitchFamily="34" charset="-120"/>
              </a:rPr>
              <a:t>Nguyễn Minh Triết</a:t>
            </a:r>
            <a:endParaRPr lang="en-US" sz="1100" dirty="0"/>
          </a:p>
        </p:txBody>
      </p:sp>
      <p:sp>
        <p:nvSpPr>
          <p:cNvPr id="29" name="text-131"/>
          <p:cNvSpPr txBox="1"/>
          <p:nvPr/>
        </p:nvSpPr>
        <p:spPr>
          <a:xfrm>
            <a:off x="5059680" y="7772248"/>
            <a:ext cx="1844040" cy="347472"/>
          </a:xfrm>
          <a:prstGeom prst="rect">
            <a:avLst/>
          </a:prstGeom>
          <a:noFill/>
          <a:ln/>
        </p:spPr>
        <p:txBody>
          <a:bodyPr wrap="square" lIns="0" tIns="0" rIns="0" bIns="0" rtlCol="0" anchor="t"/>
          <a:lstStyle/>
          <a:p>
            <a:pPr indent="0" marL="0">
              <a:lnSpc>
                <a:spcPct val="100000"/>
              </a:lnSpc>
              <a:buNone/>
            </a:pPr>
            <a:r>
              <a:rPr lang="en-US" sz="900" b="1" dirty="0">
                <a:solidFill>
                  <a:schemeClr val="accent6"/>
                </a:solidFill>
              </a:rPr>
              <a:t>Magazine design · Report</a:t>
            </a:r>
            <a:endParaRPr lang="en-US" sz="900" dirty="0"/>
          </a:p>
        </p:txBody>
      </p:sp>
      <p:sp>
        <p:nvSpPr>
          <p:cNvPr id="30" name="card-132"/>
          <p:cNvSpPr/>
          <p:nvPr/>
        </p:nvSpPr>
        <p:spPr>
          <a:xfrm>
            <a:off x="548640" y="8229600"/>
            <a:ext cx="6464808" cy="1737360"/>
          </a:xfrm>
          <a:prstGeom prst="roundRect">
            <a:avLst>
              <a:gd name="adj" fmla="val 4211"/>
            </a:avLst>
          </a:prstGeom>
          <a:solidFill>
            <a:schemeClr val="bg2"/>
          </a:solidFill>
          <a:ln w="12700">
            <a:solidFill>
              <a:schemeClr val="bg2"/>
            </a:solidFill>
            <a:prstDash val="solid"/>
          </a:ln>
        </p:spPr>
      </p:sp>
      <p:pic>
        <p:nvPicPr>
          <p:cNvPr id="31" name="qr-interview-133" descr="/home/user/chatbox-bi-n-o/magazine/assets/ui/qr_interview.png">
            <a:hlinkClick r:id="rId8" tooltip="Watch our real-world interview"/>
          </p:cNvPr>
          <p:cNvPicPr>
            <a:picLocks noChangeAspect="1"/>
          </p:cNvPicPr>
          <p:nvPr/>
        </p:nvPicPr>
        <p:blipFill>
          <a:blip r:embed="rId7"/>
          <a:stretch>
            <a:fillRect/>
          </a:stretch>
        </p:blipFill>
        <p:spPr>
          <a:xfrm>
            <a:off x="685800" y="8366760"/>
            <a:ext cx="1463040" cy="1463040"/>
          </a:xfrm>
          <a:prstGeom prst="rect">
            <a:avLst/>
          </a:prstGeom>
        </p:spPr>
      </p:pic>
      <p:sp>
        <p:nvSpPr>
          <p:cNvPr id="32" name="text-134"/>
          <p:cNvSpPr txBox="1"/>
          <p:nvPr/>
        </p:nvSpPr>
        <p:spPr>
          <a:xfrm>
            <a:off x="2331720" y="8366760"/>
            <a:ext cx="4544568" cy="146304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8"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35"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36"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37"/>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38"/>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39"/>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41"/>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42"/>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43"/>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44"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5"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46"/>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47"/>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48"/>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49"/>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50"/>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51"/>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52"/>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53"/>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54"/>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55"/>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56"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57"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58"/>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59"/>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60"/>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62"/>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63"/>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64"/>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65"/>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66"/>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67"/>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68"/>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69"/>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70"/>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71"/>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72"/>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73"/>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74"/>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75"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76"/>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77"/>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78"/>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79"/>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81"/>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82"/>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83"/>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84"/>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85"/>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86"/>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87"/>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88"/>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189"/>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190"/>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191"/>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192"/>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193"/>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194"/>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195"/>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196"/>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197"/>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198"/>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199"/>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200"/>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201"/>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202"/>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203"/>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204"/>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205"/>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206"/>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dot-20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0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0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sp>
        <p:nvSpPr>
          <p:cNvPr id="5" name="kicker-dot-211"/>
          <p:cNvSpPr/>
          <p:nvPr/>
        </p:nvSpPr>
        <p:spPr>
          <a:xfrm>
            <a:off x="548640" y="1613916"/>
            <a:ext cx="100584" cy="100584"/>
          </a:xfrm>
          <a:prstGeom prst="ellipse">
            <a:avLst/>
          </a:prstGeom>
          <a:solidFill>
            <a:schemeClr val="tx1"/>
          </a:solidFill>
          <a:ln w="12700">
            <a:solidFill>
              <a:schemeClr val="tx1"/>
            </a:solidFill>
            <a:prstDash val="solid"/>
          </a:ln>
        </p:spPr>
      </p:sp>
      <p:sp>
        <p:nvSpPr>
          <p:cNvPr id="6" name="text-212"/>
          <p:cNvSpPr txBox="1"/>
          <p:nvPr/>
        </p:nvSpPr>
        <p:spPr>
          <a:xfrm>
            <a:off x="731520" y="15727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7" name="text-213"/>
          <p:cNvSpPr txBox="1"/>
          <p:nvPr/>
        </p:nvSpPr>
        <p:spPr>
          <a:xfrm>
            <a:off x="548640"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Nine blocks around the Aurora Roundabout and the President Ho Chi Minh Monument, with the hospital, schools, shops and the metro interchange.</a:t>
            </a:r>
            <a:endParaRPr lang="en-US" sz="900" dirty="0"/>
          </a:p>
        </p:txBody>
      </p:sp>
      <p:sp>
        <p:nvSpPr>
          <p:cNvPr id="8" name="kicker-dot-214"/>
          <p:cNvSpPr/>
          <p:nvPr/>
        </p:nvSpPr>
        <p:spPr>
          <a:xfrm>
            <a:off x="3918204" y="1613916"/>
            <a:ext cx="100584" cy="100584"/>
          </a:xfrm>
          <a:prstGeom prst="ellipse">
            <a:avLst/>
          </a:prstGeom>
          <a:solidFill>
            <a:schemeClr val="accent6"/>
          </a:solidFill>
          <a:ln w="12700">
            <a:solidFill>
              <a:schemeClr val="accent6"/>
            </a:solidFill>
            <a:prstDash val="solid"/>
          </a:ln>
        </p:spPr>
      </p:sp>
      <p:sp>
        <p:nvSpPr>
          <p:cNvPr id="9" name="text-215"/>
          <p:cNvSpPr txBox="1"/>
          <p:nvPr/>
        </p:nvSpPr>
        <p:spPr>
          <a:xfrm>
            <a:off x="4101084" y="15727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0" name="text-216"/>
          <p:cNvSpPr txBox="1"/>
          <p:nvPr/>
        </p:nvSpPr>
        <p:spPr>
          <a:xfrm>
            <a:off x="3918204"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windy north holds the Northern Renewable Park, the energy hub, the Polar Rescue and Resilience Station and the airport.</a:t>
            </a:r>
            <a:endParaRPr lang="en-US" sz="900" dirty="0"/>
          </a:p>
        </p:txBody>
      </p:sp>
      <p:pic>
        <p:nvPicPr>
          <p:cNvPr id="11" name="master-plan-left" descr="/home/user/chatbox-bi-n-o/magazine/assets/plans/01_city_master_plan_L.png">    </p:cNvPr>
          <p:cNvPicPr>
            <a:picLocks noChangeAspect="1"/>
          </p:cNvPicPr>
          <p:nvPr/>
        </p:nvPicPr>
        <p:blipFill>
          <a:blip r:embed="rId1"/>
          <a:stretch>
            <a:fillRect/>
          </a:stretch>
        </p:blipFill>
        <p:spPr>
          <a:xfrm>
            <a:off x="1935011" y="2514600"/>
            <a:ext cx="5627077" cy="7315200"/>
          </a:xfrm>
          <a:prstGeom prst="rect">
            <a:avLst/>
          </a:prstGeom>
        </p:spPr>
      </p:pic>
      <p:sp>
        <p:nvSpPr>
          <p:cNvPr id="12" name="text-217"/>
          <p:cNvSpPr txBox="1"/>
          <p:nvPr/>
        </p:nvSpPr>
        <p:spPr>
          <a:xfrm>
            <a:off x="548640" y="8092440"/>
            <a:ext cx="1249211" cy="1737360"/>
          </a:xfrm>
          <a:prstGeom prst="rect">
            <a:avLst/>
          </a:prstGeom>
          <a:noFill/>
          <a:ln/>
        </p:spPr>
        <p:txBody>
          <a:bodyPr wrap="square" lIns="0" tIns="0" rIns="0" bIns="0" rtlCol="0" anchor="b"/>
          <a:lstStyle/>
          <a:p>
            <a:pPr indent="0" marL="0">
              <a:buNone/>
            </a:pPr>
            <a:r>
              <a:rPr lang="en-US" sz="850" i="1" dirty="0">
                <a:solidFill>
                  <a:schemeClr val="tx2"/>
                </a:solidFill>
              </a:rPr>
              <a:t>Aurora Haven – City Master Plan. North is up; one unit is one metre. Drawn from the 3D model; the numbers are the 35 places listed on page 36.</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master-plan-right" descr="/home/user/chatbox-bi-n-o/magazine/assets/plans/01_city_master_plan_R.png">    </p:cNvPr>
          <p:cNvPicPr>
            <a:picLocks noChangeAspect="1"/>
          </p:cNvPicPr>
          <p:nvPr/>
        </p:nvPicPr>
        <p:blipFill>
          <a:blip r:embed="rId1"/>
          <a:stretch>
            <a:fillRect/>
          </a:stretch>
        </p:blipFill>
        <p:spPr>
          <a:xfrm>
            <a:off x="0" y="2514600"/>
            <a:ext cx="5627077" cy="7315200"/>
          </a:xfrm>
          <a:prstGeom prst="rect">
            <a:avLst/>
          </a:prstGeom>
        </p:spPr>
      </p:pic>
      <p:sp>
        <p:nvSpPr>
          <p:cNvPr id="3" name="kicker-dot-218"/>
          <p:cNvSpPr/>
          <p:nvPr/>
        </p:nvSpPr>
        <p:spPr>
          <a:xfrm>
            <a:off x="548640" y="1613916"/>
            <a:ext cx="100584" cy="100584"/>
          </a:xfrm>
          <a:prstGeom prst="ellipse">
            <a:avLst/>
          </a:prstGeom>
          <a:solidFill>
            <a:schemeClr val="tx2"/>
          </a:solidFill>
          <a:ln w="12700">
            <a:solidFill>
              <a:schemeClr val="tx2"/>
            </a:solidFill>
            <a:prstDash val="solid"/>
          </a:ln>
        </p:spPr>
      </p:sp>
      <p:sp>
        <p:nvSpPr>
          <p:cNvPr id="4" name="text-219"/>
          <p:cNvSpPr txBox="1"/>
          <p:nvPr/>
        </p:nvSpPr>
        <p:spPr>
          <a:xfrm>
            <a:off x="731520" y="1572768"/>
            <a:ext cx="185013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5" name="text-220"/>
          <p:cNvSpPr txBox="1"/>
          <p:nvPr/>
        </p:nvSpPr>
        <p:spPr>
          <a:xfrm>
            <a:off x="548640"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air base and garrison, behind a belt of trees that screens the eco-homes.</a:t>
            </a:r>
            <a:endParaRPr lang="en-US" sz="900" dirty="0"/>
          </a:p>
        </p:txBody>
      </p:sp>
      <p:sp>
        <p:nvSpPr>
          <p:cNvPr id="6" name="kicker-dot-221"/>
          <p:cNvSpPr/>
          <p:nvPr/>
        </p:nvSpPr>
        <p:spPr>
          <a:xfrm>
            <a:off x="2764536" y="1613916"/>
            <a:ext cx="100584" cy="100584"/>
          </a:xfrm>
          <a:prstGeom prst="ellipse">
            <a:avLst/>
          </a:prstGeom>
          <a:solidFill>
            <a:schemeClr val="accent4"/>
          </a:solidFill>
          <a:ln w="12700">
            <a:solidFill>
              <a:schemeClr val="accent4"/>
            </a:solidFill>
            <a:prstDash val="solid"/>
          </a:ln>
        </p:spPr>
      </p:sp>
      <p:sp>
        <p:nvSpPr>
          <p:cNvPr id="7" name="text-222"/>
          <p:cNvSpPr txBox="1"/>
          <p:nvPr/>
        </p:nvSpPr>
        <p:spPr>
          <a:xfrm>
            <a:off x="2947416"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8" name="text-223"/>
          <p:cNvSpPr txBox="1"/>
          <p:nvPr/>
        </p:nvSpPr>
        <p:spPr>
          <a:xfrm>
            <a:off x="2764536"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Greenhouses, the snow stadium, the fusion station and the Snow-to-Food plant, linked by pipe bridges and heat mains.</a:t>
            </a:r>
            <a:endParaRPr lang="en-US" sz="900" dirty="0"/>
          </a:p>
        </p:txBody>
      </p:sp>
      <p:sp>
        <p:nvSpPr>
          <p:cNvPr id="9" name="kicker-dot-224"/>
          <p:cNvSpPr/>
          <p:nvPr/>
        </p:nvSpPr>
        <p:spPr>
          <a:xfrm>
            <a:off x="4980432" y="1613916"/>
            <a:ext cx="100584" cy="100584"/>
          </a:xfrm>
          <a:prstGeom prst="ellipse">
            <a:avLst/>
          </a:prstGeom>
          <a:solidFill>
            <a:schemeClr val="accent5"/>
          </a:solidFill>
          <a:ln w="12700">
            <a:solidFill>
              <a:schemeClr val="accent5"/>
            </a:solidFill>
            <a:prstDash val="solid"/>
          </a:ln>
        </p:spPr>
      </p:sp>
      <p:sp>
        <p:nvSpPr>
          <p:cNvPr id="10" name="text-225"/>
          <p:cNvSpPr txBox="1"/>
          <p:nvPr/>
        </p:nvSpPr>
        <p:spPr>
          <a:xfrm>
            <a:off x="5163312"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11" name="text-226"/>
          <p:cNvSpPr txBox="1"/>
          <p:nvPr/>
        </p:nvSpPr>
        <p:spPr>
          <a:xfrm>
            <a:off x="4980432"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Framed by Liberty Mall, Mount Aurora rises with its geothermal spa resort inside.</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icture-227"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28"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29"/>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30"/>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31"/>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33"/>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34"/>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President Ho Chi Minh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picture-235"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36"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37"/>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President Ho Chi Minh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23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3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4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42"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43"/>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44"/>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45"/>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46"/>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47"/>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48"/>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49"/>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50"/>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51"/>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52"/>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53"/>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54"/>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55"/>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56"/>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57"/>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58"/>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2" name="card-259"/>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60"/>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61"/>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62"/>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63"/>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64"/>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65"/>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66"/>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67"/>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68"/>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69"/>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70"/>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27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7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27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275"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276"/>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277"/>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278"/>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279"/>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280"/>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281"/>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282"/>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283"/>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284"/>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285"/>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286"/>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287"/>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288"/>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289"/>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290"/>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291"/>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292"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293"/>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294"/>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295"/>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296"/>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297"/>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298"/>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299"/>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300"/>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301"/>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picture-302"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03"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304"/>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305"/>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306"/>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307"/>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308"/>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310"/>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311"/>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312"/>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13"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314"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315"/>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16"/>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1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1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20"/>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21"/>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22"/>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23"/>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24"/>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25"/>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26"/>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27"/>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28"/>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29"/>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30"/>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31"/>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32"/>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33"/>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34"/>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35"/>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36"/>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37"/>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38"/>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39"/>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40"/>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41"/>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42"/>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43"/>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44"/>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45"/>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46"/>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47"/>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48"/>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49"/>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50"/>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51"/>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52"/>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53"/>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54"/>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55"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56"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57"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58"/>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59"/>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60"/>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61"/>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62"/>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64"/>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65"/>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66"/>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67"/>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368"/>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6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7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72"/>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73"/>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74"/>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75"/>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76"/>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77"/>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78"/>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79"/>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80"/>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81"/>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82"/>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83"/>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84"/>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85"/>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86"/>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87"/>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88"/>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389"/>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390"/>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91"/>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392"/>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393"/>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394"/>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395"/>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396"/>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397"/>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398"/>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399"/>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400"/>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401"/>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402"/>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403"/>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404"/>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405"/>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406"/>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07"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408"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409"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10"/>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11"/>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12"/>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13"/>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414"/>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416"/>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417"/>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18"/>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19"/>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picture-420"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21"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22"/>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2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24"/>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26"/>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27"/>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icture-428"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29"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30"/>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31"/>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32"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33"/>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34"/>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3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3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38"/>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39"/>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40"/>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41"/>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42"/>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43"/>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44"/>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45"/>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46"/>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47"/>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48"/>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49"/>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50"/>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51"/>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52"/>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53"/>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54"/>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55"/>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56"/>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57"/>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58"/>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59"/>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60"/>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61"/>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62"/>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63"/>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46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6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6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68"/>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69"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70"/>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71"/>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72"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73"/>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74"/>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75"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76"/>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77"/>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78"/>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79"/>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80"/>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81"/>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82"/>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83"/>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84"/>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18).</a:t>
            </a:r>
            <a:endParaRPr lang="en-US" sz="800" dirty="0"/>
          </a:p>
        </p:txBody>
      </p:sp>
      <p:sp>
        <p:nvSpPr>
          <p:cNvPr id="22" name="text-485"/>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20).</a:t>
            </a:r>
            <a:endParaRPr lang="en-US" sz="800" dirty="0"/>
          </a:p>
        </p:txBody>
      </p:sp>
      <p:sp>
        <p:nvSpPr>
          <p:cNvPr id="23" name="text-486"/>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24).</a:t>
            </a:r>
            <a:endParaRPr lang="en-US" sz="800" dirty="0"/>
          </a:p>
        </p:txBody>
      </p:sp>
      <p:sp>
        <p:nvSpPr>
          <p:cNvPr id="24" name="row-band-487"/>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88"/>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489"/>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490"/>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491"/>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492"/>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493"/>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494"/>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495"/>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496"/>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497"/>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498"/>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499"/>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500"/>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501"/>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502"/>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503"/>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504"/>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0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50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50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50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510"/>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511"/>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512"/>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513"/>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14"/>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15"/>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16"/>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17"/>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18"/>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19"/>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20"/>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21"/>
          <p:cNvSpPr/>
          <p:nvPr/>
        </p:nvSpPr>
        <p:spPr>
          <a:xfrm>
            <a:off x="2633472" y="3063240"/>
            <a:ext cx="2295144" cy="914"/>
          </a:xfrm>
          <a:prstGeom prst="line">
            <a:avLst/>
          </a:prstGeom>
          <a:noFill/>
          <a:ln w="28575">
            <a:solidFill>
              <a:schemeClr val="accent2"/>
            </a:solidFill>
            <a:prstDash val="solid"/>
            <a:tailEnd type="triangle"/>
          </a:ln>
        </p:spPr>
      </p:sp>
      <p:sp>
        <p:nvSpPr>
          <p:cNvPr id="19" name="text-522"/>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23"/>
          <p:cNvSpPr/>
          <p:nvPr/>
        </p:nvSpPr>
        <p:spPr>
          <a:xfrm>
            <a:off x="2633472" y="3410712"/>
            <a:ext cx="2295144" cy="914"/>
          </a:xfrm>
          <a:prstGeom prst="line">
            <a:avLst/>
          </a:prstGeom>
          <a:noFill/>
          <a:ln w="28575">
            <a:solidFill>
              <a:schemeClr val="bg2"/>
            </a:solidFill>
            <a:prstDash val="solid"/>
            <a:tailEnd type="triangle"/>
          </a:ln>
        </p:spPr>
      </p:sp>
      <p:sp>
        <p:nvSpPr>
          <p:cNvPr id="21" name="text-524"/>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25"/>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26"/>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27"/>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28"/>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29"/>
          <p:cNvSpPr/>
          <p:nvPr/>
        </p:nvSpPr>
        <p:spPr>
          <a:xfrm>
            <a:off x="1325880" y="4507992"/>
            <a:ext cx="914" cy="1179576"/>
          </a:xfrm>
          <a:prstGeom prst="line">
            <a:avLst/>
          </a:prstGeom>
          <a:noFill/>
          <a:ln w="28575">
            <a:solidFill>
              <a:schemeClr val="accent2"/>
            </a:solidFill>
            <a:prstDash val="solid"/>
            <a:tailEnd type="triangle"/>
          </a:ln>
        </p:spPr>
      </p:sp>
      <p:sp>
        <p:nvSpPr>
          <p:cNvPr id="27" name="arrow-530"/>
          <p:cNvSpPr/>
          <p:nvPr/>
        </p:nvSpPr>
        <p:spPr>
          <a:xfrm flipV="1">
            <a:off x="1874520" y="4507992"/>
            <a:ext cx="914" cy="1179576"/>
          </a:xfrm>
          <a:prstGeom prst="line">
            <a:avLst/>
          </a:prstGeom>
          <a:noFill/>
          <a:ln w="28575">
            <a:solidFill>
              <a:schemeClr val="bg2"/>
            </a:solidFill>
            <a:prstDash val="solid"/>
            <a:tailEnd type="triangle"/>
          </a:ln>
        </p:spPr>
      </p:sp>
      <p:sp>
        <p:nvSpPr>
          <p:cNvPr id="28" name="text-531"/>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32"/>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33"/>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34"/>
          <p:cNvSpPr/>
          <p:nvPr/>
        </p:nvSpPr>
        <p:spPr>
          <a:xfrm>
            <a:off x="6464808" y="4489704"/>
            <a:ext cx="914" cy="1078992"/>
          </a:xfrm>
          <a:prstGeom prst="line">
            <a:avLst/>
          </a:prstGeom>
          <a:noFill/>
          <a:ln w="28575">
            <a:solidFill>
              <a:schemeClr val="accent4"/>
            </a:solidFill>
            <a:prstDash val="solid"/>
            <a:tailEnd type="triangle"/>
          </a:ln>
        </p:spPr>
      </p:sp>
      <p:sp>
        <p:nvSpPr>
          <p:cNvPr id="32" name="text-535"/>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36"/>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37"/>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38"/>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39"/>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40"/>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41"/>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42"/>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43"/>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44"/>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45"/>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46"/>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47"/>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48"/>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49"/>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50"/>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51"/>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52"/>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5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5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5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57"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58"/>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59"/>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560"/>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561"/>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562"/>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563"/>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564"/>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565"/>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566"/>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567"/>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568"/>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569"/>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570"/>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571"/>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572"/>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573"/>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574"/>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575"/>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576"/>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577"/>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578"/>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579"/>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580"/>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581"/>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582"/>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583"/>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584"/>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588"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589"/>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590"/>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591"/>
          <p:cNvSpPr/>
          <p:nvPr/>
        </p:nvSpPr>
        <p:spPr>
          <a:xfrm>
            <a:off x="1315974" y="6153912"/>
            <a:ext cx="620268" cy="914"/>
          </a:xfrm>
          <a:prstGeom prst="line">
            <a:avLst/>
          </a:prstGeom>
          <a:noFill/>
          <a:ln w="22225">
            <a:solidFill>
              <a:schemeClr val="accent4"/>
            </a:solidFill>
            <a:prstDash val="solid"/>
            <a:tailEnd type="triangle"/>
          </a:ln>
        </p:spPr>
      </p:sp>
      <p:sp>
        <p:nvSpPr>
          <p:cNvPr id="9" name="marker-592"/>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593"/>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594"/>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595"/>
          <p:cNvSpPr/>
          <p:nvPr/>
        </p:nvSpPr>
        <p:spPr>
          <a:xfrm>
            <a:off x="2393442" y="6153912"/>
            <a:ext cx="620268" cy="914"/>
          </a:xfrm>
          <a:prstGeom prst="line">
            <a:avLst/>
          </a:prstGeom>
          <a:noFill/>
          <a:ln w="22225">
            <a:solidFill>
              <a:schemeClr val="accent4"/>
            </a:solidFill>
            <a:prstDash val="solid"/>
            <a:tailEnd type="triangle"/>
          </a:ln>
        </p:spPr>
      </p:sp>
      <p:sp>
        <p:nvSpPr>
          <p:cNvPr id="13" name="marker-596"/>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597"/>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598"/>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599"/>
          <p:cNvSpPr/>
          <p:nvPr/>
        </p:nvSpPr>
        <p:spPr>
          <a:xfrm>
            <a:off x="3470910" y="6153912"/>
            <a:ext cx="620268" cy="914"/>
          </a:xfrm>
          <a:prstGeom prst="line">
            <a:avLst/>
          </a:prstGeom>
          <a:noFill/>
          <a:ln w="22225">
            <a:solidFill>
              <a:schemeClr val="accent4"/>
            </a:solidFill>
            <a:prstDash val="solid"/>
            <a:tailEnd type="triangle"/>
          </a:ln>
        </p:spPr>
      </p:sp>
      <p:sp>
        <p:nvSpPr>
          <p:cNvPr id="17" name="marker-600"/>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01"/>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02"/>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03"/>
          <p:cNvSpPr/>
          <p:nvPr/>
        </p:nvSpPr>
        <p:spPr>
          <a:xfrm>
            <a:off x="4548378" y="6153912"/>
            <a:ext cx="620268" cy="914"/>
          </a:xfrm>
          <a:prstGeom prst="line">
            <a:avLst/>
          </a:prstGeom>
          <a:noFill/>
          <a:ln w="22225">
            <a:solidFill>
              <a:schemeClr val="accent4"/>
            </a:solidFill>
            <a:prstDash val="solid"/>
            <a:tailEnd type="triangle"/>
          </a:ln>
        </p:spPr>
      </p:sp>
      <p:sp>
        <p:nvSpPr>
          <p:cNvPr id="21" name="marker-604"/>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05"/>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06"/>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07"/>
          <p:cNvSpPr/>
          <p:nvPr/>
        </p:nvSpPr>
        <p:spPr>
          <a:xfrm>
            <a:off x="5625846" y="6153912"/>
            <a:ext cx="620268" cy="914"/>
          </a:xfrm>
          <a:prstGeom prst="line">
            <a:avLst/>
          </a:prstGeom>
          <a:noFill/>
          <a:ln w="22225">
            <a:solidFill>
              <a:schemeClr val="accent4"/>
            </a:solidFill>
            <a:prstDash val="solid"/>
            <a:tailEnd type="triangle"/>
          </a:ln>
        </p:spPr>
      </p:sp>
      <p:sp>
        <p:nvSpPr>
          <p:cNvPr id="25" name="marker-608"/>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09"/>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10"/>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11"/>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12"/>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13"/>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14"/>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15"/>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16"/>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17"/>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18"/>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19"/>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20"/>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21"/>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22"/>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23"/>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24"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25"/>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26"/>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27"/>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28"/>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30"/>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31"/>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32"/>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33"/>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34"/>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35"/>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36"/>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37"/>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3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3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41"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42"/>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43"/>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44"/>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45"/>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46"/>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47"/>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48"/>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49"/>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50"/>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51"/>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52"/>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53"/>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54"/>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55"/>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56"/>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57"/>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58"/>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59"/>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660"/>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661"/>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662"/>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663"/>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664"/>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665"/>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666"/>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667"/>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668"/>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69"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70"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71"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72"/>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73"/>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74"/>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76"/>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77"/>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78"/>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79"/>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80"/>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81"/>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82"/>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68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8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8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87"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88"/>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689"/>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690"/>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691"/>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692"/>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693"/>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694"/>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695"/>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696"/>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697"/>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698"/>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699"/>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700"/>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701"/>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702"/>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03"/>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07"/>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08"/>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09"/>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10"/>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11"/>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12"/>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13"/>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14"/>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15"/>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16"/>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17"/>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18"/>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19"/>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20"/>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21"/>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22"/>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23"/>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24"/>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25"/>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26"/>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27"/>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28"/>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29"/>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30"/>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31"/>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32"/>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33"/>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34"/>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35"/>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36"/>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37"/>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38"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39"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40"/>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41"/>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42"/>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44"/>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45"/>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46"/>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47"/>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48"/>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49"/>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50"/>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51"/>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52"/>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53"/>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54"/>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55"/>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56"/>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57"/>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58"/>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59"/>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60"/>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61"/>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62"/>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63"/>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64"/>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65"/>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66"/>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67"/>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68"/>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 a year [6].</a:t>
            </a:r>
            <a:endParaRPr lang="en-US" sz="950" dirty="0"/>
          </a:p>
        </p:txBody>
      </p:sp>
      <p:sp>
        <p:nvSpPr>
          <p:cNvPr id="33" name="marker-769"/>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70"/>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71"/>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72"/>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gain-rule-773"/>
          <p:cNvSpPr/>
          <p:nvPr/>
        </p:nvSpPr>
        <p:spPr>
          <a:xfrm>
            <a:off x="548640" y="8449056"/>
            <a:ext cx="45720" cy="548640"/>
          </a:xfrm>
          <a:prstGeom prst="rect">
            <a:avLst/>
          </a:prstGeom>
          <a:solidFill>
            <a:schemeClr val="accent1"/>
          </a:solidFill>
          <a:ln w="12700">
            <a:solidFill>
              <a:schemeClr val="accent1"/>
            </a:solidFill>
            <a:prstDash val="solid"/>
          </a:ln>
        </p:spPr>
      </p:sp>
      <p:sp>
        <p:nvSpPr>
          <p:cNvPr id="38" name="text-774"/>
          <p:cNvSpPr txBox="1"/>
          <p:nvPr/>
        </p:nvSpPr>
        <p:spPr>
          <a:xfrm>
            <a:off x="667512"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gain-rule-775"/>
          <p:cNvSpPr/>
          <p:nvPr/>
        </p:nvSpPr>
        <p:spPr>
          <a:xfrm>
            <a:off x="2192274" y="8449056"/>
            <a:ext cx="45720" cy="548640"/>
          </a:xfrm>
          <a:prstGeom prst="rect">
            <a:avLst/>
          </a:prstGeom>
          <a:solidFill>
            <a:schemeClr val="accent1"/>
          </a:solidFill>
          <a:ln w="12700">
            <a:solidFill>
              <a:schemeClr val="accent1"/>
            </a:solidFill>
            <a:prstDash val="solid"/>
          </a:ln>
        </p:spPr>
      </p:sp>
      <p:sp>
        <p:nvSpPr>
          <p:cNvPr id="40" name="text-776"/>
          <p:cNvSpPr txBox="1"/>
          <p:nvPr/>
        </p:nvSpPr>
        <p:spPr>
          <a:xfrm>
            <a:off x="2311146"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gain-rule-777"/>
          <p:cNvSpPr/>
          <p:nvPr/>
        </p:nvSpPr>
        <p:spPr>
          <a:xfrm>
            <a:off x="3835908" y="8449056"/>
            <a:ext cx="45720" cy="548640"/>
          </a:xfrm>
          <a:prstGeom prst="rect">
            <a:avLst/>
          </a:prstGeom>
          <a:solidFill>
            <a:schemeClr val="accent1"/>
          </a:solidFill>
          <a:ln w="12700">
            <a:solidFill>
              <a:schemeClr val="accent1"/>
            </a:solidFill>
            <a:prstDash val="solid"/>
          </a:ln>
        </p:spPr>
      </p:sp>
      <p:sp>
        <p:nvSpPr>
          <p:cNvPr id="42" name="text-778"/>
          <p:cNvSpPr txBox="1"/>
          <p:nvPr/>
        </p:nvSpPr>
        <p:spPr>
          <a:xfrm>
            <a:off x="3954780"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gain-rule-779"/>
          <p:cNvSpPr/>
          <p:nvPr/>
        </p:nvSpPr>
        <p:spPr>
          <a:xfrm>
            <a:off x="5479542" y="8449056"/>
            <a:ext cx="45720" cy="548640"/>
          </a:xfrm>
          <a:prstGeom prst="rect">
            <a:avLst/>
          </a:prstGeom>
          <a:solidFill>
            <a:schemeClr val="accent1"/>
          </a:solidFill>
          <a:ln w="12700">
            <a:solidFill>
              <a:schemeClr val="accent1"/>
            </a:solidFill>
            <a:prstDash val="solid"/>
          </a:ln>
        </p:spPr>
      </p:sp>
      <p:sp>
        <p:nvSpPr>
          <p:cNvPr id="44" name="text-780"/>
          <p:cNvSpPr txBox="1"/>
          <p:nvPr/>
        </p:nvSpPr>
        <p:spPr>
          <a:xfrm>
            <a:off x="5598414"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81"/>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33.</a:t>
            </a:r>
            <a:endParaRPr lang="en-US" sz="850" dirty="0"/>
          </a:p>
        </p:txBody>
      </p:sp>
      <p:sp>
        <p:nvSpPr>
          <p:cNvPr id="46" name="card-782"/>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783"/>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Visit the Aurora Green Finance Hall in the Financial District, or meet our team on page 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78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8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8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88"/>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789"/>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790"/>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791"/>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792"/>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793"/>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794"/>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795"/>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796"/>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797"/>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798"/>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799"/>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00"/>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01"/>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02"/>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03"/>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804"/>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05"/>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06"/>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07"/>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08"/>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09"/>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10"/>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11"/>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12"/>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13"/>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14"/>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15" descr="/home/user/chatbox-bi-n-o/magazine/assets/renders/stadium.jpg">    </p:cNvPr>
          <p:cNvPicPr>
            <a:picLocks noChangeAspect="1"/>
          </p:cNvPicPr>
          <p:nvPr/>
        </p:nvPicPr>
        <p:blipFill>
          <a:blip r:embed="rId1"/>
          <a:srcRect l="0" r="0" t="0" b="0"/>
          <a:stretch/>
        </p:blipFill>
        <p:spPr>
          <a:xfrm>
            <a:off x="4800600" y="2423160"/>
            <a:ext cx="2212848" cy="3657600"/>
          </a:xfrm>
          <a:prstGeom prst="rect">
            <a:avLst/>
          </a:prstGeom>
        </p:spPr>
      </p:pic>
      <p:sp>
        <p:nvSpPr>
          <p:cNvPr id="34" name="text-816"/>
          <p:cNvSpPr txBox="1"/>
          <p:nvPr/>
        </p:nvSpPr>
        <p:spPr>
          <a:xfrm>
            <a:off x="4965192" y="61447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17"/>
          <p:cNvSpPr/>
          <p:nvPr/>
        </p:nvSpPr>
        <p:spPr>
          <a:xfrm>
            <a:off x="4965192" y="6579108"/>
            <a:ext cx="100584" cy="100584"/>
          </a:xfrm>
          <a:prstGeom prst="ellipse">
            <a:avLst/>
          </a:prstGeom>
          <a:solidFill>
            <a:schemeClr val="accent6"/>
          </a:solidFill>
          <a:ln w="12700">
            <a:solidFill>
              <a:schemeClr val="accent6"/>
            </a:solidFill>
            <a:prstDash val="solid"/>
          </a:ln>
        </p:spPr>
      </p:sp>
      <p:sp>
        <p:nvSpPr>
          <p:cNvPr id="36" name="text-818"/>
          <p:cNvSpPr txBox="1"/>
          <p:nvPr/>
        </p:nvSpPr>
        <p:spPr>
          <a:xfrm>
            <a:off x="5148072" y="653796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19"/>
          <p:cNvSpPr txBox="1"/>
          <p:nvPr/>
        </p:nvSpPr>
        <p:spPr>
          <a:xfrm>
            <a:off x="4965192" y="681228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35</a:t>
            </a:r>
            <a:endParaRPr lang="en-US" sz="2200" dirty="0"/>
          </a:p>
        </p:txBody>
      </p:sp>
      <p:sp>
        <p:nvSpPr>
          <p:cNvPr id="38" name="text-820"/>
          <p:cNvSpPr txBox="1"/>
          <p:nvPr/>
        </p:nvSpPr>
        <p:spPr>
          <a:xfrm>
            <a:off x="4965192" y="719226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key places, numbered on the master plan</a:t>
            </a:r>
            <a:endParaRPr lang="en-US" sz="900" dirty="0"/>
          </a:p>
        </p:txBody>
      </p:sp>
      <p:sp>
        <p:nvSpPr>
          <p:cNvPr id="39" name="text-821"/>
          <p:cNvSpPr txBox="1"/>
          <p:nvPr/>
        </p:nvSpPr>
        <p:spPr>
          <a:xfrm>
            <a:off x="4965192" y="777240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9</a:t>
            </a:r>
            <a:endParaRPr lang="en-US" sz="2200" dirty="0"/>
          </a:p>
        </p:txBody>
      </p:sp>
      <p:sp>
        <p:nvSpPr>
          <p:cNvPr id="40" name="text-822"/>
          <p:cNvSpPr txBox="1"/>
          <p:nvPr/>
        </p:nvSpPr>
        <p:spPr>
          <a:xfrm>
            <a:off x="4965192" y="815238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downtown blocks around the Aurora Roundabout</a:t>
            </a:r>
            <a:endParaRPr lang="en-US" sz="900" dirty="0"/>
          </a:p>
        </p:txBody>
      </p:sp>
      <p:sp>
        <p:nvSpPr>
          <p:cNvPr id="41" name="text-823"/>
          <p:cNvSpPr txBox="1"/>
          <p:nvPr/>
        </p:nvSpPr>
        <p:spPr>
          <a:xfrm>
            <a:off x="4965192" y="8732520"/>
            <a:ext cx="1883664"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 m</a:t>
            </a:r>
            <a:endParaRPr lang="en-US" sz="2200" dirty="0"/>
          </a:p>
        </p:txBody>
      </p:sp>
      <p:sp>
        <p:nvSpPr>
          <p:cNvPr id="42" name="text-824"/>
          <p:cNvSpPr txBox="1"/>
          <p:nvPr/>
        </p:nvSpPr>
        <p:spPr>
          <a:xfrm>
            <a:off x="4965192" y="9112504"/>
            <a:ext cx="1883664"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per unit on every plan, drawn from the 3D model</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2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29"/>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pages 10–11.</a:t>
            </a:r>
            <a:endParaRPr lang="en-US" sz="950" dirty="0"/>
          </a:p>
        </p:txBody>
      </p:sp>
      <p:sp>
        <p:nvSpPr>
          <p:cNvPr id="6" name="text-830"/>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31"/>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President Ho Chi Minh Monument</a:t>
            </a:r>
            <a:endParaRPr lang="en-US" sz="900" dirty="0"/>
          </a:p>
        </p:txBody>
      </p:sp>
      <p:sp>
        <p:nvSpPr>
          <p:cNvPr id="8" name="text-832"/>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33"/>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34"/>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35"/>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36"/>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37"/>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38"/>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39"/>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40"/>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41"/>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42"/>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43"/>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44"/>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45"/>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46"/>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47"/>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48"/>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49"/>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50"/>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51"/>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52"/>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53"/>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54"/>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55"/>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56"/>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57"/>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58"/>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59"/>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60"/>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61"/>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62"/>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63"/>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64"/>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65"/>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66"/>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67"/>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68"/>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69"/>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70"/>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71"/>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72"/>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73"/>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74"/>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75"/>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76"/>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77"/>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78"/>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79"/>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80"/>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81"/>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82"/>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83"/>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84"/>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85"/>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886"/>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887"/>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888"/>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889"/>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890"/>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891"/>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892"/>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893"/>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894"/>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895"/>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896"/>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897"/>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898"/>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899"/>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00"/>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01"/>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902"/>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03"/>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04"/>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05"/>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06"/>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07"/>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908"/>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09"/>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10"/>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11"/>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12"/>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13"/>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14"/>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15"/>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16"/>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17"/>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18"/>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19"/>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20"/>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21"/>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22"/>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23"/>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24"/>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25"/>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26"/>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27"/>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28"/>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29"/>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30"/>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31"/>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932"/>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33"/>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34"/>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935"/>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93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93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939"/>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940"/>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941"/>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942"/>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943"/>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944"/>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945"/>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946"/>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947"/>
          <p:cNvSpPr/>
          <p:nvPr/>
        </p:nvSpPr>
        <p:spPr>
          <a:xfrm>
            <a:off x="548640" y="2560320"/>
            <a:ext cx="6464808" cy="0"/>
          </a:xfrm>
          <a:prstGeom prst="line">
            <a:avLst/>
          </a:prstGeom>
          <a:noFill/>
          <a:ln w="9525">
            <a:solidFill>
              <a:schemeClr val="tx2"/>
            </a:solidFill>
            <a:prstDash val="solid"/>
          </a:ln>
        </p:spPr>
      </p:sp>
      <p:sp>
        <p:nvSpPr>
          <p:cNvPr id="14" name="kicker-dot-948"/>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949"/>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950"/>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951"/>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952"/>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953"/>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954"/>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955"/>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956"/>
          <p:cNvSpPr/>
          <p:nvPr/>
        </p:nvSpPr>
        <p:spPr>
          <a:xfrm>
            <a:off x="548640" y="3566160"/>
            <a:ext cx="6464808" cy="0"/>
          </a:xfrm>
          <a:prstGeom prst="line">
            <a:avLst/>
          </a:prstGeom>
          <a:noFill/>
          <a:ln w="9525">
            <a:solidFill>
              <a:schemeClr val="tx2"/>
            </a:solidFill>
            <a:prstDash val="solid"/>
          </a:ln>
        </p:spPr>
      </p:sp>
      <p:sp>
        <p:nvSpPr>
          <p:cNvPr id="23" name="kicker-dot-957"/>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58"/>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959"/>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960"/>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961"/>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962"/>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963"/>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964"/>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965"/>
          <p:cNvSpPr/>
          <p:nvPr/>
        </p:nvSpPr>
        <p:spPr>
          <a:xfrm>
            <a:off x="548640" y="4572000"/>
            <a:ext cx="6464808" cy="0"/>
          </a:xfrm>
          <a:prstGeom prst="line">
            <a:avLst/>
          </a:prstGeom>
          <a:noFill/>
          <a:ln w="9525">
            <a:solidFill>
              <a:schemeClr val="tx2"/>
            </a:solidFill>
            <a:prstDash val="solid"/>
          </a:ln>
        </p:spPr>
      </p:sp>
      <p:sp>
        <p:nvSpPr>
          <p:cNvPr id="32" name="kicker-dot-966"/>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967"/>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968"/>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969"/>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970"/>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971"/>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972"/>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973"/>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974"/>
          <p:cNvSpPr/>
          <p:nvPr/>
        </p:nvSpPr>
        <p:spPr>
          <a:xfrm>
            <a:off x="548640" y="5577840"/>
            <a:ext cx="6464808" cy="0"/>
          </a:xfrm>
          <a:prstGeom prst="line">
            <a:avLst/>
          </a:prstGeom>
          <a:noFill/>
          <a:ln w="9525">
            <a:solidFill>
              <a:schemeClr val="tx2"/>
            </a:solidFill>
            <a:prstDash val="solid"/>
          </a:ln>
        </p:spPr>
      </p:sp>
      <p:sp>
        <p:nvSpPr>
          <p:cNvPr id="41" name="kicker-dot-975"/>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976"/>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977"/>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978"/>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979"/>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980"/>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981"/>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982"/>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983"/>
          <p:cNvSpPr/>
          <p:nvPr/>
        </p:nvSpPr>
        <p:spPr>
          <a:xfrm>
            <a:off x="548640" y="6583680"/>
            <a:ext cx="6464808" cy="0"/>
          </a:xfrm>
          <a:prstGeom prst="line">
            <a:avLst/>
          </a:prstGeom>
          <a:noFill/>
          <a:ln w="9525">
            <a:solidFill>
              <a:schemeClr val="tx2"/>
            </a:solidFill>
            <a:prstDash val="solid"/>
          </a:ln>
        </p:spPr>
      </p:sp>
      <p:sp>
        <p:nvSpPr>
          <p:cNvPr id="50" name="kicker-dot-984"/>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985"/>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986"/>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987"/>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988"/>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989"/>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990"/>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991"/>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992"/>
          <p:cNvSpPr/>
          <p:nvPr/>
        </p:nvSpPr>
        <p:spPr>
          <a:xfrm>
            <a:off x="548640" y="7589520"/>
            <a:ext cx="6464808" cy="0"/>
          </a:xfrm>
          <a:prstGeom prst="line">
            <a:avLst/>
          </a:prstGeom>
          <a:noFill/>
          <a:ln w="9525">
            <a:solidFill>
              <a:schemeClr val="tx2"/>
            </a:solidFill>
            <a:prstDash val="solid"/>
          </a:ln>
        </p:spPr>
      </p:sp>
      <p:sp>
        <p:nvSpPr>
          <p:cNvPr id="59" name="kicker-dot-993"/>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994"/>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995"/>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996"/>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997"/>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998"/>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999"/>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1000"/>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1001"/>
          <p:cNvSpPr/>
          <p:nvPr/>
        </p:nvSpPr>
        <p:spPr>
          <a:xfrm>
            <a:off x="548640" y="8595360"/>
            <a:ext cx="6464808" cy="0"/>
          </a:xfrm>
          <a:prstGeom prst="line">
            <a:avLst/>
          </a:prstGeom>
          <a:noFill/>
          <a:ln w="9525">
            <a:solidFill>
              <a:schemeClr val="tx2"/>
            </a:solidFill>
            <a:prstDash val="solid"/>
          </a:ln>
        </p:spPr>
      </p:sp>
      <p:sp>
        <p:nvSpPr>
          <p:cNvPr id="68" name="kicker-dot-1002"/>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1003"/>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1004"/>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1005"/>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1006"/>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1007"/>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1008"/>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1009"/>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1010"/>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38 explains how to read our numbers.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1011"/>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12"/>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13"/>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15"/>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16"/>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17"/>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18"/>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1019"/>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20"/>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21"/>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25. They show an idea is reasonable, not exact.</a:t>
            </a:r>
            <a:endParaRPr lang="en-US" sz="850" dirty="0"/>
          </a:p>
        </p:txBody>
      </p:sp>
      <p:sp>
        <p:nvSpPr>
          <p:cNvPr id="12" name="card-1022"/>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23"/>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24"/>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25"/>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26"/>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27"/>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1028"/>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29"/>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We used AI tools to help us build the 3D model of the city and make the pictures, plans and diagrams in this magazine, and to check our spelling and fix logic errors in the text.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30"/>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31"/>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32"/>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33"/>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34"/>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35"/>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36"/>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37"/>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38"/>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39"/>
          <p:cNvSpPr txBox="1"/>
          <p:nvPr/>
        </p:nvSpPr>
        <p:spPr>
          <a:xfrm>
            <a:off x="3977640" y="1783080"/>
            <a:ext cx="1801368" cy="1280160"/>
          </a:xfrm>
          <a:prstGeom prst="rect">
            <a:avLst/>
          </a:prstGeom>
          <a:noFill/>
          <a:ln/>
        </p:spPr>
        <p:txBody>
          <a:bodyPr wrap="square" lIns="0" tIns="0" rIns="0" bIns="0" rtlCol="0" anchor="t"/>
          <a:lstStyle/>
          <a:p>
            <a:pPr indent="0" marL="0">
              <a:lnSpc>
                <a:spcPct val="104000"/>
              </a:lnSpc>
              <a:spcAft>
                <a:spcPts val="400"/>
              </a:spcAft>
              <a:buNone/>
            </a:pPr>
            <a:r>
              <a:rPr lang="en-US" sz="950" b="1" spc="200" kern="0" dirty="0">
                <a:solidFill>
                  <a:schemeClr val="accent1"/>
                </a:solidFill>
              </a:rPr>
              <a:t>CONTACT THE TEAM</a:t>
            </a:r>
            <a:endParaRPr lang="en-US" sz="950" dirty="0"/>
          </a:p>
          <a:p>
            <a:pPr indent="0" marL="0">
              <a:lnSpc>
                <a:spcPct val="104000"/>
              </a:lnSpc>
              <a:buNone/>
            </a:pPr>
            <a:r>
              <a:rPr lang="en-US" sz="950" b="1" dirty="0">
                <a:solidFill>
                  <a:schemeClr val="bg1"/>
                </a:solidFill>
              </a:rPr>
              <a:t>Polar City</a:t>
            </a:r>
            <a:endParaRPr lang="en-US" sz="950" dirty="0"/>
          </a:p>
          <a:p>
            <a:pPr indent="0" marL="0">
              <a:lnSpc>
                <a:spcPct val="104000"/>
              </a:lnSpc>
              <a:buNone/>
            </a:pPr>
            <a:r>
              <a:rPr lang="en-US" sz="800" dirty="0">
                <a:solidFill>
                  <a:schemeClr val="bg1"/>
                </a:solidFill>
                <a:latin typeface="Arial" pitchFamily="34" charset="0"/>
                <a:ea typeface="Arial" pitchFamily="34" charset="-122"/>
                <a:cs typeface="Arial" pitchFamily="34" charset="-120"/>
              </a:rPr>
              <a:t>Nguyễn Đông Bảo · Nguyễn Bá Hiếu Thiện · Phan Minh Khôi · Dương Hàng Nguyên · Phạm Phước Khoa · Nguyễn Minh Triết</a:t>
            </a:r>
            <a:endParaRPr lang="en-US" sz="950" dirty="0"/>
          </a:p>
          <a:p>
            <a:pPr indent="0" marL="0">
              <a:lnSpc>
                <a:spcPct val="104000"/>
              </a:lnSpc>
              <a:buNone/>
            </a:pPr>
            <a:r>
              <a:rPr lang="en-US" sz="800" dirty="0">
                <a:solidFill>
                  <a:schemeClr val="bg1"/>
                </a:solidFill>
                <a:latin typeface="Arial" pitchFamily="34" charset="0"/>
                <a:ea typeface="Arial" pitchFamily="34" charset="-122"/>
                <a:cs typeface="Arial" pitchFamily="34" charset="-120"/>
              </a:rPr>
              <a:t>Class 11A4 · Lê Quý Đôn High School</a:t>
            </a:r>
            <a:endParaRPr lang="en-US" sz="950" dirty="0"/>
          </a:p>
        </p:txBody>
      </p:sp>
      <p:pic>
        <p:nvPicPr>
          <p:cNvPr id="14" name="school-logo" descr="/home/user/chatbox-bi-n-o/magazine/assets/ui/school_logo.png">    </p:cNvPr>
          <p:cNvPicPr>
            <a:picLocks noChangeAspect="1"/>
          </p:cNvPicPr>
          <p:nvPr/>
        </p:nvPicPr>
        <p:blipFill>
          <a:blip r:embed="rId3"/>
          <a:stretch>
            <a:fillRect/>
          </a:stretch>
        </p:blipFill>
        <p:spPr>
          <a:xfrm>
            <a:off x="5897880" y="1874520"/>
            <a:ext cx="960120" cy="960120"/>
          </a:xfrm>
          <a:prstGeom prst="rect">
            <a:avLst/>
          </a:prstGeom>
        </p:spPr>
      </p:pic>
      <p:sp>
        <p:nvSpPr>
          <p:cNvPr id="15" name="card-1040"/>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6" name="qr-interview-1041" descr="/home/user/chatbox-bi-n-o/magazine/assets/ui/qr_interview.png">
            <a:hlinkClick r:id="rId5" tooltip="Watch our real-world interview"/>
          </p:cNvPr>
          <p:cNvPicPr>
            <a:picLocks noChangeAspect="1"/>
          </p:cNvPicPr>
          <p:nvPr/>
        </p:nvPicPr>
        <p:blipFill>
          <a:blip r:embed="rId4"/>
          <a:stretch>
            <a:fillRect/>
          </a:stretch>
        </p:blipFill>
        <p:spPr>
          <a:xfrm>
            <a:off x="4069080" y="3411626"/>
            <a:ext cx="1177747" cy="1177747"/>
          </a:xfrm>
          <a:prstGeom prst="rect">
            <a:avLst/>
          </a:prstGeom>
        </p:spPr>
      </p:pic>
      <p:sp>
        <p:nvSpPr>
          <p:cNvPr id="17" name="text-1042"/>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5"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Polar City team, class 11A4, Lê Quý Đôn High School</dc:creator>
  <cp:lastModifiedBy>Polar City team, class 11A4, Lê Quý Đôn High School</cp:lastModifiedBy>
  <cp:revision>1</cp:revision>
  <dcterms:created xsi:type="dcterms:W3CDTF">2026-10-28T13:31:26Z</dcterms:created>
  <dcterms:modified xsi:type="dcterms:W3CDTF">2026-10-28T13:31:26Z</dcterms:modified>
</cp:coreProperties>
</file>