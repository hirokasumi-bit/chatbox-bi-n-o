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fab45cbf-0b0d-3f9c-f241-45bab73d7d72}">
          <p14:sldIdLst>
            <p14:sldId id="256"/>
            <p14:sldId id="257"/>
          </p14:sldIdLst>
        </p14:section>
        <p14:section name="Welcome" id="{74f29c38-912a-464e-687c-6ca3d6222f5d}">
          <p14:sldIdLst>
            <p14:sldId id="258"/>
            <p14:sldId id="259"/>
            <p14:sldId id="260"/>
            <p14:sldId id="261"/>
            <p14:sldId id="262"/>
          </p14:sldIdLst>
        </p14:section>
        <p14:section name="The City" id="{840d5171-7176-2261-0f35-a489d06a9e5f}">
          <p14:sldIdLst>
            <p14:sldId id="263"/>
            <p14:sldId id="264"/>
            <p14:sldId id="265"/>
            <p14:sldId id="266"/>
            <p14:sldId id="267"/>
            <p14:sldId id="268"/>
          </p14:sldIdLst>
        </p14:section>
        <p14:section name="Signature Districts" id="{0f133005-ef26-fe9b-a135-d328d50ba972}">
          <p14:sldIdLst>
            <p14:sldId id="269"/>
            <p14:sldId id="270"/>
            <p14:sldId id="271"/>
            <p14:sldId id="272"/>
            <p14:sldId id="273"/>
            <p14:sldId id="274"/>
            <p14:sldId id="275"/>
            <p14:sldId id="276"/>
            <p14:sldId id="277"/>
            <p14:sldId id="278"/>
            <p14:sldId id="279"/>
          </p14:sldIdLst>
        </p14:section>
        <p14:section name="Living in Aurora Haven" id="{e8eadca8-ad18-74d6-f867-857ae15a1ebd}">
          <p14:sldIdLst>
            <p14:sldId id="280"/>
            <p14:sldId id="281"/>
            <p14:sldId id="282"/>
            <p14:sldId id="283"/>
            <p14:sldId id="284"/>
            <p14:sldId id="285"/>
            <p14:sldId id="286"/>
            <p14:sldId id="287"/>
            <p14:sldId id="288"/>
          </p14:sldIdLst>
        </p14:section>
        <p14:section name="Invest" id="{064e4658-42aa-faac-b481-6ef6fb885c39}">
          <p14:sldIdLst>
            <p14:sldId id="289"/>
          </p14:sldIdLst>
        </p14:section>
        <p14:section name="Guide" id="{f2014eef-885c-cb92-d9c0-18b2e36e1d16}">
          <p14:sldIdLst>
            <p14:sldId id="290"/>
            <p14:sldId id="291"/>
            <p14:sldId id="292"/>
            <p14:sldId id="293"/>
            <p14:sldId id="294"/>
          </p14:sldIdLst>
        </p14:section>
        <p14:section name="Back Cover" id="{8070d288-f928-2790-3015-ee5324681880}">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7.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hyperlink" Target="https://youtu.be/QwcP_2Q3Esc" TargetMode="External"/><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png"/><Relationship Id="rId9" Type="http://schemas.openxmlformats.org/officeDocument/2006/relationships/slideLayout" Target="../slideLayouts/slideLayout7.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6.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6.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9.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6.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9.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9.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9.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6.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9.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image" Target="../media/image-23-5.jp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7.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7.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9.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8.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png"/><Relationship Id="rId3" Type="http://schemas.openxmlformats.org/officeDocument/2006/relationships/slideLayout" Target="../slideLayouts/slideLayout9.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5" Type="http://schemas.openxmlformats.org/officeDocument/2006/relationships/hyperlink" Target="https://online.fliphtml5.com/MagazinePolarCity71844894/Aurora_Haven_Magazine_web/" TargetMode="External"/><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pic>
        <p:nvPicPr>
          <p:cNvPr id="3" name="shade-bottom-1" descr="/home/user/chatbox-bi-n-o/magazine/assets/ui/shade_bottom.png">    </p:cNvPr>
          <p:cNvPicPr>
            <a:picLocks noChangeAspect="1"/>
          </p:cNvPicPr>
          <p:nvPr/>
        </p:nvPicPr>
        <p:blipFill>
          <a:blip r:embed="rId2"/>
          <a:stretch>
            <a:fillRect/>
          </a:stretch>
        </p:blipFill>
        <p:spPr>
          <a:xfrm>
            <a:off x="0" y="7223760"/>
            <a:ext cx="7562088" cy="3465576"/>
          </a:xfrm>
          <a:prstGeom prst="rect">
            <a:avLst/>
          </a:prstGeom>
        </p:spPr>
      </p:pic>
      <p:sp>
        <p:nvSpPr>
          <p:cNvPr id="4" name="text-2"/>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A CITY BUILT IN 3D</a:t>
            </a:r>
            <a:endParaRPr lang="en-US" sz="850" dirty="0"/>
          </a:p>
        </p:txBody>
      </p:sp>
      <p:sp>
        <p:nvSpPr>
          <p:cNvPr id="5" name="text-3"/>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6" name="cover-tower-overlay" descr="/home/user/chatbox-bi-n-o/magazine/assets/renders/cover_tower_top.png">    </p:cNvPr>
          <p:cNvPicPr>
            <a:picLocks noChangeAspect="1"/>
          </p:cNvPicPr>
          <p:nvPr/>
        </p:nvPicPr>
        <p:blipFill>
          <a:blip r:embed="rId3"/>
          <a:stretch>
            <a:fillRect/>
          </a:stretch>
        </p:blipFill>
        <p:spPr>
          <a:xfrm>
            <a:off x="0" y="0"/>
            <a:ext cx="7562088" cy="2139626"/>
          </a:xfrm>
          <a:prstGeom prst="rect">
            <a:avLst/>
          </a:prstGeom>
        </p:spPr>
      </p:pic>
      <p:sp>
        <p:nvSpPr>
          <p:cNvPr id="7" name="text-4"/>
          <p:cNvSpPr txBox="1"/>
          <p:nvPr/>
        </p:nvSpPr>
        <p:spPr>
          <a:xfrm>
            <a:off x="182880" y="1627632"/>
            <a:ext cx="7196328" cy="320040"/>
          </a:xfrm>
          <a:prstGeom prst="rect">
            <a:avLst/>
          </a:prstGeom>
          <a:noFill/>
          <a:ln/>
        </p:spPr>
        <p:txBody>
          <a:bodyPr wrap="square" lIns="0" tIns="0" rIns="0" bIns="0" rtlCol="0" anchor="t"/>
          <a:lstStyle/>
          <a:p>
            <a:pPr algn="ct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8" name="text-5"/>
          <p:cNvSpPr txBox="1"/>
          <p:nvPr/>
        </p:nvSpPr>
        <p:spPr>
          <a:xfrm>
            <a:off x="4864608" y="2011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r"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r" indent="0" marL="0">
              <a:lnSpc>
                <a:spcPct val="105000"/>
              </a:lnSpc>
              <a:buNone/>
            </a:pPr>
            <a:r>
              <a:rPr lang="en-US" sz="800" b="1" spc="200" kern="0" dirty="0">
                <a:solidFill>
                  <a:schemeClr val="accent1"/>
                </a:solidFill>
              </a:rPr>
              <a:t>PAGE 14</a:t>
            </a:r>
            <a:endParaRPr lang="en-US" sz="1050" dirty="0"/>
          </a:p>
        </p:txBody>
      </p:sp>
      <p:sp>
        <p:nvSpPr>
          <p:cNvPr id="9" name="text-6"/>
          <p:cNvSpPr txBox="1"/>
          <p:nvPr/>
        </p:nvSpPr>
        <p:spPr>
          <a:xfrm>
            <a:off x="4864608" y="3154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snow mountain</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you can walk inside</a:t>
            </a:r>
            <a:endParaRPr lang="en-US" sz="1050" dirty="0"/>
          </a:p>
          <a:p>
            <a:pPr algn="r" indent="0" marL="0">
              <a:lnSpc>
                <a:spcPct val="105000"/>
              </a:lnSpc>
              <a:spcAft>
                <a:spcPts val="300"/>
              </a:spcAft>
              <a:buNone/>
            </a:pPr>
            <a:r>
              <a:rPr lang="en-US" sz="1050" dirty="0">
                <a:solidFill>
                  <a:schemeClr val="bg2"/>
                </a:solidFill>
              </a:rPr>
              <a:t>A whole leisure world inside a 35-metre snow peak</a:t>
            </a:r>
            <a:endParaRPr lang="en-US" sz="1050" dirty="0"/>
          </a:p>
          <a:p>
            <a:pPr algn="r" indent="0" marL="0">
              <a:lnSpc>
                <a:spcPct val="105000"/>
              </a:lnSpc>
              <a:buNone/>
            </a:pPr>
            <a:r>
              <a:rPr lang="en-US" sz="800" b="1" spc="200" kern="0" dirty="0">
                <a:solidFill>
                  <a:schemeClr val="accent1"/>
                </a:solidFill>
              </a:rPr>
              <a:t>PAGE 19</a:t>
            </a:r>
            <a:endParaRPr lang="en-US" sz="1050" dirty="0"/>
          </a:p>
        </p:txBody>
      </p:sp>
      <p:sp>
        <p:nvSpPr>
          <p:cNvPr id="10" name="text-7"/>
          <p:cNvSpPr txBox="1"/>
          <p:nvPr/>
        </p:nvSpPr>
        <p:spPr>
          <a:xfrm>
            <a:off x="548640"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 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17</a:t>
            </a:r>
            <a:endParaRPr lang="en-US" sz="1050" dirty="0"/>
          </a:p>
        </p:txBody>
      </p:sp>
      <p:sp>
        <p:nvSpPr>
          <p:cNvPr id="11" name="text-8"/>
          <p:cNvSpPr txBox="1"/>
          <p:nvPr/>
        </p:nvSpPr>
        <p:spPr>
          <a:xfrm>
            <a:off x="3995928"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 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8</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picture-9" descr="/home/user/chatbox-bi-n-o/magazine/assets/renders/street_dusk.jpg">    </p:cNvPr>
          <p:cNvPicPr>
            <a:picLocks noChangeAspect="1"/>
          </p:cNvPicPr>
          <p:nvPr/>
        </p:nvPicPr>
        <p:blipFill>
          <a:blip r:embed="rId1"/>
          <a:srcRect l="0" r="0" t="0" b="0"/>
          <a:stretch/>
        </p:blipFill>
        <p:spPr>
          <a:xfrm>
            <a:off x="0" y="0"/>
            <a:ext cx="7562088" cy="3931920"/>
          </a:xfrm>
          <a:prstGeom prst="rect">
            <a:avLst/>
          </a:prstGeom>
        </p:spPr>
      </p:pic>
      <p:pic>
        <p:nvPicPr>
          <p:cNvPr id="3" name="shade-bottom-10" descr="/home/user/chatbox-bi-n-o/magazine/assets/ui/shade_bottom.png">    </p:cNvPr>
          <p:cNvPicPr>
            <a:picLocks noChangeAspect="1"/>
          </p:cNvPicPr>
          <p:nvPr/>
        </p:nvPicPr>
        <p:blipFill>
          <a:blip r:embed="rId2"/>
          <a:stretch>
            <a:fillRect/>
          </a:stretch>
        </p:blipFill>
        <p:spPr>
          <a:xfrm>
            <a:off x="0" y="1645920"/>
            <a:ext cx="7562088" cy="2286000"/>
          </a:xfrm>
          <a:prstGeom prst="rect">
            <a:avLst/>
          </a:prstGeom>
        </p:spPr>
      </p:pic>
      <p:sp>
        <p:nvSpPr>
          <p:cNvPr id="4" name="kicker-dot-11"/>
          <p:cNvSpPr/>
          <p:nvPr/>
        </p:nvSpPr>
        <p:spPr>
          <a:xfrm>
            <a:off x="548640" y="2766060"/>
            <a:ext cx="100584" cy="100584"/>
          </a:xfrm>
          <a:prstGeom prst="ellipse">
            <a:avLst/>
          </a:prstGeom>
          <a:solidFill>
            <a:schemeClr val="accent1"/>
          </a:solidFill>
          <a:ln w="12700">
            <a:solidFill>
              <a:schemeClr val="accent1"/>
            </a:solidFill>
            <a:prstDash val="solid"/>
          </a:ln>
        </p:spPr>
      </p:sp>
      <p:sp>
        <p:nvSpPr>
          <p:cNvPr id="5" name="text-12"/>
          <p:cNvSpPr txBox="1"/>
          <p:nvPr/>
        </p:nvSpPr>
        <p:spPr>
          <a:xfrm>
            <a:off x="731520" y="272491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13"/>
          <p:cNvSpPr txBox="1"/>
          <p:nvPr/>
        </p:nvSpPr>
        <p:spPr>
          <a:xfrm>
            <a:off x="548640" y="298094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15"/>
          <p:cNvSpPr txBox="1"/>
          <p:nvPr/>
        </p:nvSpPr>
        <p:spPr>
          <a:xfrm>
            <a:off x="548640" y="4005072"/>
            <a:ext cx="6464808" cy="22860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16"/>
          <p:cNvSpPr txBox="1"/>
          <p:nvPr/>
        </p:nvSpPr>
        <p:spPr>
          <a:xfrm>
            <a:off x="548640"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9" name="text-17"/>
          <p:cNvSpPr txBox="1"/>
          <p:nvPr/>
        </p:nvSpPr>
        <p:spPr>
          <a:xfrm>
            <a:off x="1051560"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0" name="text-18"/>
          <p:cNvSpPr txBox="1"/>
          <p:nvPr/>
        </p:nvSpPr>
        <p:spPr>
          <a:xfrm>
            <a:off x="1051560"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we are, our team and why we built Aurora Haven</a:t>
            </a:r>
            <a:endParaRPr lang="en-US" sz="850" dirty="0"/>
          </a:p>
        </p:txBody>
      </p:sp>
      <p:sp>
        <p:nvSpPr>
          <p:cNvPr id="11" name="text-19"/>
          <p:cNvSpPr txBox="1"/>
          <p:nvPr/>
        </p:nvSpPr>
        <p:spPr>
          <a:xfrm>
            <a:off x="548640" y="480974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2" name="text-20"/>
          <p:cNvSpPr txBox="1"/>
          <p:nvPr/>
        </p:nvSpPr>
        <p:spPr>
          <a:xfrm>
            <a:off x="1051560" y="4828032"/>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3" name="text-21"/>
          <p:cNvSpPr txBox="1"/>
          <p:nvPr/>
        </p:nvSpPr>
        <p:spPr>
          <a:xfrm>
            <a:off x="1051560" y="5020056"/>
            <a:ext cx="2592324" cy="201168"/>
          </a:xfrm>
          <a:prstGeom prst="rect">
            <a:avLst/>
          </a:prstGeom>
          <a:noFill/>
          <a:ln/>
        </p:spPr>
        <p:txBody>
          <a:bodyPr wrap="square" lIns="0" tIns="0" rIns="0" bIns="0" rtlCol="0" anchor="t"/>
          <a:lstStyle/>
          <a:p>
            <a:pPr indent="0" marL="0">
              <a:buNone/>
            </a:pPr>
            <a:r>
              <a:rPr lang="en-US" sz="850" dirty="0">
                <a:solidFill>
                  <a:schemeClr val="tx2"/>
                </a:solidFill>
              </a:rPr>
              <a:t>A compact city of 45,000 under a snow peak</a:t>
            </a:r>
            <a:endParaRPr lang="en-US" sz="850" dirty="0"/>
          </a:p>
        </p:txBody>
      </p:sp>
      <p:sp>
        <p:nvSpPr>
          <p:cNvPr id="14" name="text-22"/>
          <p:cNvSpPr txBox="1"/>
          <p:nvPr/>
        </p:nvSpPr>
        <p:spPr>
          <a:xfrm>
            <a:off x="548640" y="523036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15" name="text-23"/>
          <p:cNvSpPr txBox="1"/>
          <p:nvPr/>
        </p:nvSpPr>
        <p:spPr>
          <a:xfrm>
            <a:off x="1051560" y="5248656"/>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24"/>
          <p:cNvSpPr txBox="1"/>
          <p:nvPr/>
        </p:nvSpPr>
        <p:spPr>
          <a:xfrm>
            <a:off x="1051560" y="5440680"/>
            <a:ext cx="2592324" cy="201168"/>
          </a:xfrm>
          <a:prstGeom prst="rect">
            <a:avLst/>
          </a:prstGeom>
          <a:noFill/>
          <a:ln/>
        </p:spPr>
        <p:txBody>
          <a:bodyPr wrap="square" lIns="0" tIns="0" rIns="0" bIns="0" rtlCol="0" anchor="t"/>
          <a:lstStyle/>
          <a:p>
            <a:pPr indent="0" marL="0">
              <a:buNone/>
            </a:pPr>
            <a:r>
              <a:rPr lang="en-US" sz="850" dirty="0">
                <a:solidFill>
                  <a:schemeClr val="tx2"/>
                </a:solidFill>
              </a:rPr>
              <a:t>Cold, darkness, wind and thawing ground</a:t>
            </a:r>
            <a:endParaRPr lang="en-US" sz="850" dirty="0"/>
          </a:p>
        </p:txBody>
      </p:sp>
      <p:sp>
        <p:nvSpPr>
          <p:cNvPr id="17" name="text-25"/>
          <p:cNvSpPr txBox="1"/>
          <p:nvPr/>
        </p:nvSpPr>
        <p:spPr>
          <a:xfrm>
            <a:off x="548640" y="565099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9</a:t>
            </a:r>
            <a:endParaRPr lang="en-US" sz="1700" dirty="0"/>
          </a:p>
        </p:txBody>
      </p:sp>
      <p:sp>
        <p:nvSpPr>
          <p:cNvPr id="18" name="text-26"/>
          <p:cNvSpPr txBox="1"/>
          <p:nvPr/>
        </p:nvSpPr>
        <p:spPr>
          <a:xfrm>
            <a:off x="1051560" y="5669280"/>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9" name="text-27"/>
          <p:cNvSpPr txBox="1"/>
          <p:nvPr/>
        </p:nvSpPr>
        <p:spPr>
          <a:xfrm>
            <a:off x="1051560" y="5861304"/>
            <a:ext cx="2592324" cy="201168"/>
          </a:xfrm>
          <a:prstGeom prst="rect">
            <a:avLst/>
          </a:prstGeom>
          <a:noFill/>
          <a:ln/>
        </p:spPr>
        <p:txBody>
          <a:bodyPr wrap="square" lIns="0" tIns="0" rIns="0" bIns="0" rtlCol="0" anchor="t"/>
          <a:lstStyle/>
          <a:p>
            <a:pPr indent="0" marL="0">
              <a:buNone/>
            </a:pPr>
            <a:r>
              <a:rPr lang="en-US" sz="850" dirty="0">
                <a:solidFill>
                  <a:schemeClr val="tx2"/>
                </a:solidFill>
              </a:rPr>
              <a:t>Who is affected, and the five ideas that answer it</a:t>
            </a:r>
            <a:endParaRPr lang="en-US" sz="850" dirty="0"/>
          </a:p>
        </p:txBody>
      </p:sp>
      <p:sp>
        <p:nvSpPr>
          <p:cNvPr id="20" name="text-28"/>
          <p:cNvSpPr txBox="1"/>
          <p:nvPr/>
        </p:nvSpPr>
        <p:spPr>
          <a:xfrm>
            <a:off x="548640" y="607161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1" name="text-29"/>
          <p:cNvSpPr txBox="1"/>
          <p:nvPr/>
        </p:nvSpPr>
        <p:spPr>
          <a:xfrm>
            <a:off x="1051560" y="6089904"/>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2" name="text-30"/>
          <p:cNvSpPr txBox="1"/>
          <p:nvPr/>
        </p:nvSpPr>
        <p:spPr>
          <a:xfrm>
            <a:off x="1051560" y="6281928"/>
            <a:ext cx="2592324" cy="201168"/>
          </a:xfrm>
          <a:prstGeom prst="rect">
            <a:avLst/>
          </a:prstGeom>
          <a:noFill/>
          <a:ln/>
        </p:spPr>
        <p:txBody>
          <a:bodyPr wrap="square" lIns="0" tIns="0" rIns="0" bIns="0" rtlCol="0" anchor="t"/>
          <a:lstStyle/>
          <a:p>
            <a:pPr indent="0" marL="0">
              <a:buNone/>
            </a:pPr>
            <a:r>
              <a:rPr lang="en-US" sz="850" dirty="0">
                <a:solidFill>
                  <a:schemeClr val="tx2"/>
                </a:solidFill>
              </a:rPr>
              <a:t>Downtown around the Aurora Roundabout</a:t>
            </a:r>
            <a:endParaRPr lang="en-US" sz="850" dirty="0"/>
          </a:p>
        </p:txBody>
      </p:sp>
      <p:sp>
        <p:nvSpPr>
          <p:cNvPr id="23" name="text-31"/>
          <p:cNvSpPr txBox="1"/>
          <p:nvPr/>
        </p:nvSpPr>
        <p:spPr>
          <a:xfrm>
            <a:off x="548640" y="6492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4" name="text-32"/>
          <p:cNvSpPr txBox="1"/>
          <p:nvPr/>
        </p:nvSpPr>
        <p:spPr>
          <a:xfrm>
            <a:off x="1051560" y="65105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5" name="text-33"/>
          <p:cNvSpPr txBox="1"/>
          <p:nvPr/>
        </p:nvSpPr>
        <p:spPr>
          <a:xfrm>
            <a:off x="1051560" y="6702552"/>
            <a:ext cx="2592324" cy="201168"/>
          </a:xfrm>
          <a:prstGeom prst="rect">
            <a:avLst/>
          </a:prstGeom>
          <a:noFill/>
          <a:ln/>
        </p:spPr>
        <p:txBody>
          <a:bodyPr wrap="square" lIns="0" tIns="0" rIns="0" bIns="0" rtlCol="0" anchor="t"/>
          <a:lstStyle/>
          <a:p>
            <a:pPr indent="0" marL="0">
              <a:buNone/>
            </a:pPr>
            <a:r>
              <a:rPr lang="en-US" sz="850" dirty="0">
                <a:solidFill>
                  <a:schemeClr val="tx2"/>
                </a:solidFill>
              </a:rPr>
              <a:t>From the wind farm to Mount Aurora</a:t>
            </a:r>
            <a:endParaRPr lang="en-US" sz="850" dirty="0"/>
          </a:p>
        </p:txBody>
      </p:sp>
      <p:sp>
        <p:nvSpPr>
          <p:cNvPr id="26" name="text-34"/>
          <p:cNvSpPr txBox="1"/>
          <p:nvPr/>
        </p:nvSpPr>
        <p:spPr>
          <a:xfrm>
            <a:off x="548640" y="691286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14</a:t>
            </a:r>
            <a:endParaRPr lang="en-US" sz="1700" dirty="0"/>
          </a:p>
        </p:txBody>
      </p:sp>
      <p:sp>
        <p:nvSpPr>
          <p:cNvPr id="27" name="text-35"/>
          <p:cNvSpPr txBox="1"/>
          <p:nvPr/>
        </p:nvSpPr>
        <p:spPr>
          <a:xfrm>
            <a:off x="1051560" y="6931152"/>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28" name="text-36"/>
          <p:cNvSpPr txBox="1"/>
          <p:nvPr/>
        </p:nvSpPr>
        <p:spPr>
          <a:xfrm>
            <a:off x="1051560" y="7123176"/>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1 · Fusion Power Station</a:t>
            </a:r>
            <a:endParaRPr lang="en-US" sz="850" dirty="0"/>
          </a:p>
        </p:txBody>
      </p:sp>
      <p:sp>
        <p:nvSpPr>
          <p:cNvPr id="29" name="text-37"/>
          <p:cNvSpPr txBox="1"/>
          <p:nvPr/>
        </p:nvSpPr>
        <p:spPr>
          <a:xfrm>
            <a:off x="548640" y="733348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17</a:t>
            </a:r>
            <a:endParaRPr lang="en-US" sz="1700" dirty="0"/>
          </a:p>
        </p:txBody>
      </p:sp>
      <p:sp>
        <p:nvSpPr>
          <p:cNvPr id="30" name="text-38"/>
          <p:cNvSpPr txBox="1"/>
          <p:nvPr/>
        </p:nvSpPr>
        <p:spPr>
          <a:xfrm>
            <a:off x="1051560" y="7351776"/>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1" name="text-39"/>
          <p:cNvSpPr txBox="1"/>
          <p:nvPr/>
        </p:nvSpPr>
        <p:spPr>
          <a:xfrm>
            <a:off x="1051560" y="7543800"/>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2 · Snow-to-Food &amp; Water Plant</a:t>
            </a:r>
            <a:endParaRPr lang="en-US" sz="850" dirty="0"/>
          </a:p>
        </p:txBody>
      </p:sp>
      <p:sp>
        <p:nvSpPr>
          <p:cNvPr id="32" name="text-40"/>
          <p:cNvSpPr txBox="1"/>
          <p:nvPr/>
        </p:nvSpPr>
        <p:spPr>
          <a:xfrm>
            <a:off x="548640" y="775411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19</a:t>
            </a:r>
            <a:endParaRPr lang="en-US" sz="1700" dirty="0"/>
          </a:p>
        </p:txBody>
      </p:sp>
      <p:sp>
        <p:nvSpPr>
          <p:cNvPr id="33" name="text-41"/>
          <p:cNvSpPr txBox="1"/>
          <p:nvPr/>
        </p:nvSpPr>
        <p:spPr>
          <a:xfrm>
            <a:off x="1051560" y="7772400"/>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Snow Mountain You Can Walk Inside</a:t>
            </a:r>
            <a:endParaRPr lang="en-US" sz="1050" dirty="0"/>
          </a:p>
        </p:txBody>
      </p:sp>
      <p:sp>
        <p:nvSpPr>
          <p:cNvPr id="34" name="text-42"/>
          <p:cNvSpPr txBox="1"/>
          <p:nvPr/>
        </p:nvSpPr>
        <p:spPr>
          <a:xfrm>
            <a:off x="1051560" y="7964424"/>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3 · Mount Aurora</a:t>
            </a:r>
            <a:endParaRPr lang="en-US" sz="850" dirty="0"/>
          </a:p>
        </p:txBody>
      </p:sp>
      <p:sp>
        <p:nvSpPr>
          <p:cNvPr id="35" name="text-43"/>
          <p:cNvSpPr txBox="1"/>
          <p:nvPr/>
        </p:nvSpPr>
        <p:spPr>
          <a:xfrm>
            <a:off x="548640" y="817473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23</a:t>
            </a:r>
            <a:endParaRPr lang="en-US" sz="1700" dirty="0"/>
          </a:p>
        </p:txBody>
      </p:sp>
      <p:sp>
        <p:nvSpPr>
          <p:cNvPr id="36" name="text-44"/>
          <p:cNvSpPr txBox="1"/>
          <p:nvPr/>
        </p:nvSpPr>
        <p:spPr>
          <a:xfrm>
            <a:off x="1051560" y="8193024"/>
            <a:ext cx="2592324" cy="201168"/>
          </a:xfrm>
          <a:prstGeom prst="rect">
            <a:avLst/>
          </a:prstGeom>
          <a:noFill/>
          <a:ln/>
        </p:spPr>
        <p:txBody>
          <a:bodyPr wrap="square" lIns="0" tIns="0" rIns="0" bIns="0" rtlCol="0" anchor="t"/>
          <a:lstStyle/>
          <a:p>
            <a:pPr indent="0" marL="0">
              <a:buNone/>
            </a:pPr>
            <a:r>
              <a:rPr lang="en-US" sz="1050" b="1" dirty="0">
                <a:solidFill>
                  <a:schemeClr val="tx1"/>
                </a:solidFill>
              </a:rPr>
              <a:t>Built by Us</a:t>
            </a:r>
            <a:endParaRPr lang="en-US" sz="1050" dirty="0"/>
          </a:p>
        </p:txBody>
      </p:sp>
      <p:sp>
        <p:nvSpPr>
          <p:cNvPr id="37" name="text-45"/>
          <p:cNvSpPr txBox="1"/>
          <p:nvPr/>
        </p:nvSpPr>
        <p:spPr>
          <a:xfrm>
            <a:off x="1051560" y="8385048"/>
            <a:ext cx="2592324" cy="201168"/>
          </a:xfrm>
          <a:prstGeom prst="rect">
            <a:avLst/>
          </a:prstGeom>
          <a:noFill/>
          <a:ln/>
        </p:spPr>
        <p:txBody>
          <a:bodyPr wrap="square" lIns="0" tIns="0" rIns="0" bIns="0" rtlCol="0" anchor="t"/>
          <a:lstStyle/>
          <a:p>
            <a:pPr indent="0" marL="0">
              <a:buNone/>
            </a:pPr>
            <a:r>
              <a:rPr lang="en-US" sz="850" dirty="0">
                <a:solidFill>
                  <a:schemeClr val="tx2"/>
                </a:solidFill>
              </a:rPr>
              <a:t>Our Eco-Polis model, and how to explore it</a:t>
            </a:r>
            <a:endParaRPr lang="en-US" sz="850" dirty="0"/>
          </a:p>
        </p:txBody>
      </p:sp>
      <p:sp>
        <p:nvSpPr>
          <p:cNvPr id="38" name="text-46"/>
          <p:cNvSpPr txBox="1"/>
          <p:nvPr/>
        </p:nvSpPr>
        <p:spPr>
          <a:xfrm>
            <a:off x="548640" y="859536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24</a:t>
            </a:r>
            <a:endParaRPr lang="en-US" sz="1700" dirty="0"/>
          </a:p>
        </p:txBody>
      </p:sp>
      <p:sp>
        <p:nvSpPr>
          <p:cNvPr id="39" name="text-47"/>
          <p:cNvSpPr txBox="1"/>
          <p:nvPr/>
        </p:nvSpPr>
        <p:spPr>
          <a:xfrm>
            <a:off x="1051560" y="861364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0" name="text-48"/>
          <p:cNvSpPr txBox="1"/>
          <p:nvPr/>
        </p:nvSpPr>
        <p:spPr>
          <a:xfrm>
            <a:off x="1051560" y="8805672"/>
            <a:ext cx="2592324" cy="201168"/>
          </a:xfrm>
          <a:prstGeom prst="rect">
            <a:avLst/>
          </a:prstGeom>
          <a:noFill/>
          <a:ln/>
        </p:spPr>
        <p:txBody>
          <a:bodyPr wrap="square" lIns="0" tIns="0" rIns="0" bIns="0" rtlCol="0" anchor="t"/>
          <a:lstStyle/>
          <a:p>
            <a:pPr indent="0" marL="0">
              <a:buNone/>
            </a:pPr>
            <a:r>
              <a:rPr lang="en-US" sz="850" dirty="0">
                <a:solidFill>
                  <a:schemeClr val="tx2"/>
                </a:solidFill>
              </a:rPr>
              <a:t>How heat, water, oxygen and waste go round</a:t>
            </a:r>
            <a:endParaRPr lang="en-US" sz="850" dirty="0"/>
          </a:p>
        </p:txBody>
      </p:sp>
      <p:sp>
        <p:nvSpPr>
          <p:cNvPr id="41" name="text-49"/>
          <p:cNvSpPr txBox="1"/>
          <p:nvPr/>
        </p:nvSpPr>
        <p:spPr>
          <a:xfrm>
            <a:off x="548640" y="901598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25</a:t>
            </a:r>
            <a:endParaRPr lang="en-US" sz="1700" dirty="0"/>
          </a:p>
        </p:txBody>
      </p:sp>
      <p:sp>
        <p:nvSpPr>
          <p:cNvPr id="42" name="text-50"/>
          <p:cNvSpPr txBox="1"/>
          <p:nvPr/>
        </p:nvSpPr>
        <p:spPr>
          <a:xfrm>
            <a:off x="1051560" y="90342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43" name="text-51"/>
          <p:cNvSpPr txBox="1"/>
          <p:nvPr/>
        </p:nvSpPr>
        <p:spPr>
          <a:xfrm>
            <a:off x="1051560" y="9226296"/>
            <a:ext cx="2592324" cy="201168"/>
          </a:xfrm>
          <a:prstGeom prst="rect">
            <a:avLst/>
          </a:prstGeom>
          <a:noFill/>
          <a:ln/>
        </p:spPr>
        <p:txBody>
          <a:bodyPr wrap="square" lIns="0" tIns="0" rIns="0" bIns="0" rtlCol="0" anchor="t"/>
          <a:lstStyle/>
          <a:p>
            <a:pPr indent="0" marL="0">
              <a:buNone/>
            </a:pPr>
            <a:r>
              <a:rPr lang="en-US" sz="850" dirty="0">
                <a:solidFill>
                  <a:schemeClr val="tx2"/>
                </a:solidFill>
              </a:rPr>
              <a:t>Schools, health, shops and culture</a:t>
            </a:r>
            <a:endParaRPr lang="en-US" sz="850" dirty="0"/>
          </a:p>
        </p:txBody>
      </p:sp>
      <p:sp>
        <p:nvSpPr>
          <p:cNvPr id="44" name="text-52"/>
          <p:cNvSpPr txBox="1"/>
          <p:nvPr/>
        </p:nvSpPr>
        <p:spPr>
          <a:xfrm>
            <a:off x="548640" y="943660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26</a:t>
            </a:r>
            <a:endParaRPr lang="en-US" sz="1700" dirty="0"/>
          </a:p>
        </p:txBody>
      </p:sp>
      <p:sp>
        <p:nvSpPr>
          <p:cNvPr id="45" name="text-53"/>
          <p:cNvSpPr txBox="1"/>
          <p:nvPr/>
        </p:nvSpPr>
        <p:spPr>
          <a:xfrm>
            <a:off x="1051560" y="9454896"/>
            <a:ext cx="2592324" cy="201168"/>
          </a:xfrm>
          <a:prstGeom prst="rect">
            <a:avLst/>
          </a:prstGeom>
          <a:noFill/>
          <a:ln/>
        </p:spPr>
        <p:txBody>
          <a:bodyPr wrap="square" lIns="0" tIns="0" rIns="0" bIns="0" rtlCol="0" anchor="t"/>
          <a:lstStyle/>
          <a:p>
            <a:pPr indent="0" marL="0">
              <a:buNone/>
            </a:pPr>
            <a:r>
              <a:rPr lang="en-US" sz="1050" b="1" dirty="0">
                <a:solidFill>
                  <a:schemeClr val="tx1"/>
                </a:solidFill>
              </a:rPr>
              <a:t>Homes for the Polar Night</a:t>
            </a:r>
            <a:endParaRPr lang="en-US" sz="1050" dirty="0"/>
          </a:p>
        </p:txBody>
      </p:sp>
      <p:sp>
        <p:nvSpPr>
          <p:cNvPr id="46" name="text-54"/>
          <p:cNvSpPr txBox="1"/>
          <p:nvPr/>
        </p:nvSpPr>
        <p:spPr>
          <a:xfrm>
            <a:off x="1051560" y="9646920"/>
            <a:ext cx="2592324" cy="201168"/>
          </a:xfrm>
          <a:prstGeom prst="rect">
            <a:avLst/>
          </a:prstGeom>
          <a:noFill/>
          <a:ln/>
        </p:spPr>
        <p:txBody>
          <a:bodyPr wrap="square" lIns="0" tIns="0" rIns="0" bIns="0" rtlCol="0" anchor="t"/>
          <a:lstStyle/>
          <a:p>
            <a:pPr indent="0" marL="0">
              <a:buNone/>
            </a:pPr>
            <a:r>
              <a:rPr lang="en-US" sz="850" dirty="0">
                <a:solidFill>
                  <a:schemeClr val="tx2"/>
                </a:solidFill>
              </a:rPr>
              <a:t>Housing for every age, built for −45 °C</a:t>
            </a:r>
            <a:endParaRPr lang="en-US" sz="850" dirty="0"/>
          </a:p>
        </p:txBody>
      </p:sp>
      <p:sp>
        <p:nvSpPr>
          <p:cNvPr id="47" name="text-55"/>
          <p:cNvSpPr txBox="1"/>
          <p:nvPr/>
        </p:nvSpPr>
        <p:spPr>
          <a:xfrm>
            <a:off x="3918204"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27</a:t>
            </a:r>
            <a:endParaRPr lang="en-US" sz="1700" dirty="0"/>
          </a:p>
        </p:txBody>
      </p:sp>
      <p:sp>
        <p:nvSpPr>
          <p:cNvPr id="48" name="text-56"/>
          <p:cNvSpPr txBox="1"/>
          <p:nvPr/>
        </p:nvSpPr>
        <p:spPr>
          <a:xfrm>
            <a:off x="4421124"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9" name="text-57"/>
          <p:cNvSpPr txBox="1"/>
          <p:nvPr/>
        </p:nvSpPr>
        <p:spPr>
          <a:xfrm>
            <a:off x="4421124"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Fusion, wind, sun, geothermal and storage</a:t>
            </a:r>
            <a:endParaRPr lang="en-US" sz="850" dirty="0"/>
          </a:p>
        </p:txBody>
      </p:sp>
      <p:sp>
        <p:nvSpPr>
          <p:cNvPr id="50" name="text-58"/>
          <p:cNvSpPr txBox="1"/>
          <p:nvPr/>
        </p:nvSpPr>
        <p:spPr>
          <a:xfrm>
            <a:off x="3918204" y="480974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28</a:t>
            </a:r>
            <a:endParaRPr lang="en-US" sz="1700" dirty="0"/>
          </a:p>
        </p:txBody>
      </p:sp>
      <p:sp>
        <p:nvSpPr>
          <p:cNvPr id="51" name="text-59"/>
          <p:cNvSpPr txBox="1"/>
          <p:nvPr/>
        </p:nvSpPr>
        <p:spPr>
          <a:xfrm>
            <a:off x="4421124" y="4828032"/>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52" name="text-60"/>
          <p:cNvSpPr txBox="1"/>
          <p:nvPr/>
        </p:nvSpPr>
        <p:spPr>
          <a:xfrm>
            <a:off x="4421124" y="5020056"/>
            <a:ext cx="2592324" cy="201168"/>
          </a:xfrm>
          <a:prstGeom prst="rect">
            <a:avLst/>
          </a:prstGeom>
          <a:noFill/>
          <a:ln/>
        </p:spPr>
        <p:txBody>
          <a:bodyPr wrap="square" lIns="0" tIns="0" rIns="0" bIns="0" rtlCol="0" anchor="t"/>
          <a:lstStyle/>
          <a:p>
            <a:pPr indent="0" marL="0">
              <a:buNone/>
            </a:pPr>
            <a:r>
              <a:rPr lang="en-US" sz="850" dirty="0">
                <a:solidFill>
                  <a:schemeClr val="tx2"/>
                </a:solidFill>
              </a:rPr>
              <a:t>Water and waste in closed loops</a:t>
            </a:r>
            <a:endParaRPr lang="en-US" sz="850" dirty="0"/>
          </a:p>
        </p:txBody>
      </p:sp>
      <p:sp>
        <p:nvSpPr>
          <p:cNvPr id="53" name="text-61"/>
          <p:cNvSpPr txBox="1"/>
          <p:nvPr/>
        </p:nvSpPr>
        <p:spPr>
          <a:xfrm>
            <a:off x="3918204" y="523036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29</a:t>
            </a:r>
            <a:endParaRPr lang="en-US" sz="1700" dirty="0"/>
          </a:p>
        </p:txBody>
      </p:sp>
      <p:sp>
        <p:nvSpPr>
          <p:cNvPr id="54" name="text-62"/>
          <p:cNvSpPr txBox="1"/>
          <p:nvPr/>
        </p:nvSpPr>
        <p:spPr>
          <a:xfrm>
            <a:off x="4421124" y="5248656"/>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5" name="text-63"/>
          <p:cNvSpPr txBox="1"/>
          <p:nvPr/>
        </p:nvSpPr>
        <p:spPr>
          <a:xfrm>
            <a:off x="4421124" y="5440680"/>
            <a:ext cx="2592324" cy="201168"/>
          </a:xfrm>
          <a:prstGeom prst="rect">
            <a:avLst/>
          </a:prstGeom>
          <a:noFill/>
          <a:ln/>
        </p:spPr>
        <p:txBody>
          <a:bodyPr wrap="square" lIns="0" tIns="0" rIns="0" bIns="0" rtlCol="0" anchor="t"/>
          <a:lstStyle/>
          <a:p>
            <a:pPr indent="0" marL="0">
              <a:buNone/>
            </a:pPr>
            <a:r>
              <a:rPr lang="en-US" sz="850" dirty="0">
                <a:solidFill>
                  <a:schemeClr val="tx2"/>
                </a:solidFill>
              </a:rPr>
              <a:t>Our urban eco-system: plants and animals</a:t>
            </a:r>
            <a:endParaRPr lang="en-US" sz="850" dirty="0"/>
          </a:p>
        </p:txBody>
      </p:sp>
      <p:sp>
        <p:nvSpPr>
          <p:cNvPr id="56" name="text-64"/>
          <p:cNvSpPr txBox="1"/>
          <p:nvPr/>
        </p:nvSpPr>
        <p:spPr>
          <a:xfrm>
            <a:off x="3918204" y="565099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30</a:t>
            </a:r>
            <a:endParaRPr lang="en-US" sz="1700" dirty="0"/>
          </a:p>
        </p:txBody>
      </p:sp>
      <p:sp>
        <p:nvSpPr>
          <p:cNvPr id="57" name="text-65"/>
          <p:cNvSpPr txBox="1"/>
          <p:nvPr/>
        </p:nvSpPr>
        <p:spPr>
          <a:xfrm>
            <a:off x="4421124" y="5669280"/>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8" name="text-66"/>
          <p:cNvSpPr txBox="1"/>
          <p:nvPr/>
        </p:nvSpPr>
        <p:spPr>
          <a:xfrm>
            <a:off x="4421124" y="5861304"/>
            <a:ext cx="2592324" cy="201168"/>
          </a:xfrm>
          <a:prstGeom prst="rect">
            <a:avLst/>
          </a:prstGeom>
          <a:noFill/>
          <a:ln/>
        </p:spPr>
        <p:txBody>
          <a:bodyPr wrap="square" lIns="0" tIns="0" rIns="0" bIns="0" rtlCol="0" anchor="t"/>
          <a:lstStyle/>
          <a:p>
            <a:pPr indent="0" marL="0">
              <a:buNone/>
            </a:pPr>
            <a:r>
              <a:rPr lang="en-US" sz="850" dirty="0">
                <a:solidFill>
                  <a:schemeClr val="tx2"/>
                </a:solidFill>
              </a:rPr>
              <a:t>Routes, users, capacity, safety and energy</a:t>
            </a:r>
            <a:endParaRPr lang="en-US" sz="850" dirty="0"/>
          </a:p>
        </p:txBody>
      </p:sp>
      <p:sp>
        <p:nvSpPr>
          <p:cNvPr id="59" name="text-67"/>
          <p:cNvSpPr txBox="1"/>
          <p:nvPr/>
        </p:nvSpPr>
        <p:spPr>
          <a:xfrm>
            <a:off x="3918204" y="607161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31</a:t>
            </a:r>
            <a:endParaRPr lang="en-US" sz="1700" dirty="0"/>
          </a:p>
        </p:txBody>
      </p:sp>
      <p:sp>
        <p:nvSpPr>
          <p:cNvPr id="60" name="text-68"/>
          <p:cNvSpPr txBox="1"/>
          <p:nvPr/>
        </p:nvSpPr>
        <p:spPr>
          <a:xfrm>
            <a:off x="4421124" y="6089904"/>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61" name="text-69"/>
          <p:cNvSpPr txBox="1"/>
          <p:nvPr/>
        </p:nvSpPr>
        <p:spPr>
          <a:xfrm>
            <a:off x="4421124" y="6281928"/>
            <a:ext cx="2592324" cy="201168"/>
          </a:xfrm>
          <a:prstGeom prst="rect">
            <a:avLst/>
          </a:prstGeom>
          <a:noFill/>
          <a:ln/>
        </p:spPr>
        <p:txBody>
          <a:bodyPr wrap="square" lIns="0" tIns="0" rIns="0" bIns="0" rtlCol="0" anchor="t"/>
          <a:lstStyle/>
          <a:p>
            <a:pPr indent="0" marL="0">
              <a:buNone/>
            </a:pPr>
            <a:r>
              <a:rPr lang="en-US" sz="850" dirty="0">
                <a:solidFill>
                  <a:schemeClr val="tx2"/>
                </a:solidFill>
              </a:rPr>
              <a:t>Inside the Evergreen Greenhouse Dome</a:t>
            </a:r>
            <a:endParaRPr lang="en-US" sz="850" dirty="0"/>
          </a:p>
        </p:txBody>
      </p:sp>
      <p:sp>
        <p:nvSpPr>
          <p:cNvPr id="62" name="text-70"/>
          <p:cNvSpPr txBox="1"/>
          <p:nvPr/>
        </p:nvSpPr>
        <p:spPr>
          <a:xfrm>
            <a:off x="3918204" y="6492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32</a:t>
            </a:r>
            <a:endParaRPr lang="en-US" sz="1700" dirty="0"/>
          </a:p>
        </p:txBody>
      </p:sp>
      <p:sp>
        <p:nvSpPr>
          <p:cNvPr id="63" name="text-71"/>
          <p:cNvSpPr txBox="1"/>
          <p:nvPr/>
        </p:nvSpPr>
        <p:spPr>
          <a:xfrm>
            <a:off x="4421124" y="65105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64" name="text-72"/>
          <p:cNvSpPr txBox="1"/>
          <p:nvPr/>
        </p:nvSpPr>
        <p:spPr>
          <a:xfrm>
            <a:off x="4421124" y="6702552"/>
            <a:ext cx="2592324" cy="201168"/>
          </a:xfrm>
          <a:prstGeom prst="rect">
            <a:avLst/>
          </a:prstGeom>
          <a:noFill/>
          <a:ln/>
        </p:spPr>
        <p:txBody>
          <a:bodyPr wrap="square" lIns="0" tIns="0" rIns="0" bIns="0" rtlCol="0" anchor="t"/>
          <a:lstStyle/>
          <a:p>
            <a:pPr indent="0" marL="0">
              <a:buNone/>
            </a:pPr>
            <a:r>
              <a:rPr lang="en-US" sz="850" dirty="0">
                <a:solidFill>
                  <a:schemeClr val="tx2"/>
                </a:solidFill>
              </a:rPr>
              <a:t>Rescue, shelters and blizzard forecasts</a:t>
            </a:r>
            <a:endParaRPr lang="en-US" sz="850" dirty="0"/>
          </a:p>
        </p:txBody>
      </p:sp>
      <p:sp>
        <p:nvSpPr>
          <p:cNvPr id="65" name="text-73"/>
          <p:cNvSpPr txBox="1"/>
          <p:nvPr/>
        </p:nvSpPr>
        <p:spPr>
          <a:xfrm>
            <a:off x="3918204" y="691286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33</a:t>
            </a:r>
            <a:endParaRPr lang="en-US" sz="1700" dirty="0"/>
          </a:p>
        </p:txBody>
      </p:sp>
      <p:sp>
        <p:nvSpPr>
          <p:cNvPr id="66" name="text-74"/>
          <p:cNvSpPr txBox="1"/>
          <p:nvPr/>
        </p:nvSpPr>
        <p:spPr>
          <a:xfrm>
            <a:off x="4421124" y="6931152"/>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67" name="text-75"/>
          <p:cNvSpPr txBox="1"/>
          <p:nvPr/>
        </p:nvSpPr>
        <p:spPr>
          <a:xfrm>
            <a:off x="4421124" y="7123176"/>
            <a:ext cx="2592324" cy="201168"/>
          </a:xfrm>
          <a:prstGeom prst="rect">
            <a:avLst/>
          </a:prstGeom>
          <a:noFill/>
          <a:ln/>
        </p:spPr>
        <p:txBody>
          <a:bodyPr wrap="square" lIns="0" tIns="0" rIns="0" bIns="0" rtlCol="0" anchor="t"/>
          <a:lstStyle/>
          <a:p>
            <a:pPr indent="0" marL="0">
              <a:buNone/>
            </a:pPr>
            <a:r>
              <a:rPr lang="en-US" sz="850" dirty="0">
                <a:solidFill>
                  <a:schemeClr val="tx2"/>
                </a:solidFill>
              </a:rPr>
              <a:t>Advantages, risks, costs and trade-offs</a:t>
            </a:r>
            <a:endParaRPr lang="en-US" sz="850" dirty="0"/>
          </a:p>
        </p:txBody>
      </p:sp>
      <p:sp>
        <p:nvSpPr>
          <p:cNvPr id="68" name="text-76"/>
          <p:cNvSpPr txBox="1"/>
          <p:nvPr/>
        </p:nvSpPr>
        <p:spPr>
          <a:xfrm>
            <a:off x="3918204" y="733348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34</a:t>
            </a:r>
            <a:endParaRPr lang="en-US" sz="1700" dirty="0"/>
          </a:p>
        </p:txBody>
      </p:sp>
      <p:sp>
        <p:nvSpPr>
          <p:cNvPr id="69" name="text-77"/>
          <p:cNvSpPr txBox="1"/>
          <p:nvPr/>
        </p:nvSpPr>
        <p:spPr>
          <a:xfrm>
            <a:off x="4421124" y="7351776"/>
            <a:ext cx="2592324" cy="201168"/>
          </a:xfrm>
          <a:prstGeom prst="rect">
            <a:avLst/>
          </a:prstGeom>
          <a:noFill/>
          <a:ln/>
        </p:spPr>
        <p:txBody>
          <a:bodyPr wrap="square" lIns="0" tIns="0" rIns="0" bIns="0" rtlCol="0" anchor="t"/>
          <a:lstStyle/>
          <a:p>
            <a:pPr indent="0" marL="0">
              <a:buNone/>
            </a:pPr>
            <a:r>
              <a:rPr lang="en-US" sz="1050" b="1" dirty="0">
                <a:solidFill>
                  <a:schemeClr val="tx1"/>
                </a:solidFill>
              </a:rPr>
              <a:t>Invest in Aurora Haven</a:t>
            </a:r>
            <a:endParaRPr lang="en-US" sz="1050" dirty="0"/>
          </a:p>
        </p:txBody>
      </p:sp>
      <p:sp>
        <p:nvSpPr>
          <p:cNvPr id="70" name="text-78"/>
          <p:cNvSpPr txBox="1"/>
          <p:nvPr/>
        </p:nvSpPr>
        <p:spPr>
          <a:xfrm>
            <a:off x="4421124" y="7543800"/>
            <a:ext cx="2592324" cy="201168"/>
          </a:xfrm>
          <a:prstGeom prst="rect">
            <a:avLst/>
          </a:prstGeom>
          <a:noFill/>
          <a:ln/>
        </p:spPr>
        <p:txBody>
          <a:bodyPr wrap="square" lIns="0" tIns="0" rIns="0" bIns="0" rtlCol="0" anchor="t"/>
          <a:lstStyle/>
          <a:p>
            <a:pPr indent="0" marL="0">
              <a:buNone/>
            </a:pPr>
            <a:r>
              <a:rPr lang="en-US" sz="850" dirty="0">
                <a:solidFill>
                  <a:schemeClr val="tx2"/>
                </a:solidFill>
              </a:rPr>
              <a:t>Three ways to fund the city, stage by stage</a:t>
            </a:r>
            <a:endParaRPr lang="en-US" sz="850" dirty="0"/>
          </a:p>
        </p:txBody>
      </p:sp>
      <p:sp>
        <p:nvSpPr>
          <p:cNvPr id="71" name="text-79"/>
          <p:cNvSpPr txBox="1"/>
          <p:nvPr/>
        </p:nvSpPr>
        <p:spPr>
          <a:xfrm>
            <a:off x="3918204" y="775411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35</a:t>
            </a:r>
            <a:endParaRPr lang="en-US" sz="1700" dirty="0"/>
          </a:p>
        </p:txBody>
      </p:sp>
      <p:sp>
        <p:nvSpPr>
          <p:cNvPr id="72" name="text-80"/>
          <p:cNvSpPr txBox="1"/>
          <p:nvPr/>
        </p:nvSpPr>
        <p:spPr>
          <a:xfrm>
            <a:off x="4421124" y="7772400"/>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73" name="text-81"/>
          <p:cNvSpPr txBox="1"/>
          <p:nvPr/>
        </p:nvSpPr>
        <p:spPr>
          <a:xfrm>
            <a:off x="4421124" y="7964424"/>
            <a:ext cx="2592324" cy="201168"/>
          </a:xfrm>
          <a:prstGeom prst="rect">
            <a:avLst/>
          </a:prstGeom>
          <a:noFill/>
          <a:ln/>
        </p:spPr>
        <p:txBody>
          <a:bodyPr wrap="square" lIns="0" tIns="0" rIns="0" bIns="0" rtlCol="0" anchor="t"/>
          <a:lstStyle/>
          <a:p>
            <a:pPr indent="0" marL="0">
              <a:buNone/>
            </a:pPr>
            <a:r>
              <a:rPr lang="en-US" sz="850" dirty="0">
                <a:solidFill>
                  <a:schemeClr val="tx2"/>
                </a:solidFill>
              </a:rPr>
              <a:t>Eight stops around the city</a:t>
            </a:r>
            <a:endParaRPr lang="en-US" sz="850" dirty="0"/>
          </a:p>
        </p:txBody>
      </p:sp>
      <p:sp>
        <p:nvSpPr>
          <p:cNvPr id="74" name="text-82"/>
          <p:cNvSpPr txBox="1"/>
          <p:nvPr/>
        </p:nvSpPr>
        <p:spPr>
          <a:xfrm>
            <a:off x="3918204" y="817473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36</a:t>
            </a:r>
            <a:endParaRPr lang="en-US" sz="1700" dirty="0"/>
          </a:p>
        </p:txBody>
      </p:sp>
      <p:sp>
        <p:nvSpPr>
          <p:cNvPr id="75" name="text-83"/>
          <p:cNvSpPr txBox="1"/>
          <p:nvPr/>
        </p:nvSpPr>
        <p:spPr>
          <a:xfrm>
            <a:off x="4421124" y="8193024"/>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76" name="text-84"/>
          <p:cNvSpPr txBox="1"/>
          <p:nvPr/>
        </p:nvSpPr>
        <p:spPr>
          <a:xfrm>
            <a:off x="4421124" y="8385048"/>
            <a:ext cx="2592324" cy="201168"/>
          </a:xfrm>
          <a:prstGeom prst="rect">
            <a:avLst/>
          </a:prstGeom>
          <a:noFill/>
          <a:ln/>
        </p:spPr>
        <p:txBody>
          <a:bodyPr wrap="square" lIns="0" tIns="0" rIns="0" bIns="0" rtlCol="0" anchor="t"/>
          <a:lstStyle/>
          <a:p>
            <a:pPr indent="0" marL="0">
              <a:buNone/>
            </a:pPr>
            <a:r>
              <a:rPr lang="en-US" sz="850" dirty="0">
                <a:solidFill>
                  <a:schemeClr val="tx2"/>
                </a:solidFill>
              </a:rPr>
              <a:t>35 key places and what they do</a:t>
            </a:r>
            <a:endParaRPr lang="en-US" sz="850" dirty="0"/>
          </a:p>
        </p:txBody>
      </p:sp>
      <p:sp>
        <p:nvSpPr>
          <p:cNvPr id="77" name="text-85"/>
          <p:cNvSpPr txBox="1"/>
          <p:nvPr/>
        </p:nvSpPr>
        <p:spPr>
          <a:xfrm>
            <a:off x="3918204" y="859536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37</a:t>
            </a:r>
            <a:endParaRPr lang="en-US" sz="1700" dirty="0"/>
          </a:p>
        </p:txBody>
      </p:sp>
      <p:sp>
        <p:nvSpPr>
          <p:cNvPr id="78" name="text-86"/>
          <p:cNvSpPr txBox="1"/>
          <p:nvPr/>
        </p:nvSpPr>
        <p:spPr>
          <a:xfrm>
            <a:off x="4421124" y="861364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Through a Resident’s Eyes</a:t>
            </a:r>
            <a:endParaRPr lang="en-US" sz="1050" dirty="0"/>
          </a:p>
        </p:txBody>
      </p:sp>
      <p:sp>
        <p:nvSpPr>
          <p:cNvPr id="79" name="text-87"/>
          <p:cNvSpPr txBox="1"/>
          <p:nvPr/>
        </p:nvSpPr>
        <p:spPr>
          <a:xfrm>
            <a:off x="4421124" y="8805672"/>
            <a:ext cx="2592324" cy="201168"/>
          </a:xfrm>
          <a:prstGeom prst="rect">
            <a:avLst/>
          </a:prstGeom>
          <a:noFill/>
          <a:ln/>
        </p:spPr>
        <p:txBody>
          <a:bodyPr wrap="square" lIns="0" tIns="0" rIns="0" bIns="0" rtlCol="0" anchor="t"/>
          <a:lstStyle/>
          <a:p>
            <a:pPr indent="0" marL="0">
              <a:buNone/>
            </a:pPr>
            <a:r>
              <a:rPr lang="en-US" sz="850" dirty="0">
                <a:solidFill>
                  <a:schemeClr val="tx2"/>
                </a:solidFill>
              </a:rPr>
              <a:t>An imagined day in the polar night</a:t>
            </a:r>
            <a:endParaRPr lang="en-US" sz="850" dirty="0"/>
          </a:p>
        </p:txBody>
      </p:sp>
      <p:sp>
        <p:nvSpPr>
          <p:cNvPr id="80" name="text-88"/>
          <p:cNvSpPr txBox="1"/>
          <p:nvPr/>
        </p:nvSpPr>
        <p:spPr>
          <a:xfrm>
            <a:off x="3918204" y="901598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38</a:t>
            </a:r>
            <a:endParaRPr lang="en-US" sz="1700" dirty="0"/>
          </a:p>
        </p:txBody>
      </p:sp>
      <p:sp>
        <p:nvSpPr>
          <p:cNvPr id="81" name="text-89"/>
          <p:cNvSpPr txBox="1"/>
          <p:nvPr/>
        </p:nvSpPr>
        <p:spPr>
          <a:xfrm>
            <a:off x="4421124" y="90342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82" name="text-90"/>
          <p:cNvSpPr txBox="1"/>
          <p:nvPr/>
        </p:nvSpPr>
        <p:spPr>
          <a:xfrm>
            <a:off x="4421124" y="9226296"/>
            <a:ext cx="2592324" cy="201168"/>
          </a:xfrm>
          <a:prstGeom prst="rect">
            <a:avLst/>
          </a:prstGeom>
          <a:noFill/>
          <a:ln/>
        </p:spPr>
        <p:txBody>
          <a:bodyPr wrap="square" lIns="0" tIns="0" rIns="0" bIns="0" rtlCol="0" anchor="t"/>
          <a:lstStyle/>
          <a:p>
            <a:pPr indent="0" marL="0">
              <a:buNone/>
            </a:pPr>
            <a:r>
              <a:rPr lang="en-US" sz="850" dirty="0">
                <a:solidFill>
                  <a:schemeClr val="tx2"/>
                </a:solidFill>
              </a:rPr>
              <a:t>Where our facts come from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dot-9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9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text-93"/>
          <p:cNvSpPr txBox="1"/>
          <p:nvPr/>
        </p:nvSpPr>
        <p:spPr>
          <a:xfrm>
            <a:off x="548640" y="94183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5" name="picture-94" descr="/home/user/chatbox-bi-n-o/magazine/assets/renders/lagoon.jpg">    </p:cNvPr>
          <p:cNvPicPr>
            <a:picLocks noChangeAspect="1"/>
          </p:cNvPicPr>
          <p:nvPr/>
        </p:nvPicPr>
        <p:blipFill>
          <a:blip r:embed="rId1"/>
          <a:srcRect l="0" r="0" t="0" b="0"/>
          <a:stretch/>
        </p:blipFill>
        <p:spPr>
          <a:xfrm>
            <a:off x="0" y="2240280"/>
            <a:ext cx="7562088" cy="3200400"/>
          </a:xfrm>
          <a:prstGeom prst="rect">
            <a:avLst/>
          </a:prstGeom>
        </p:spPr>
      </p:pic>
      <p:sp>
        <p:nvSpPr>
          <p:cNvPr id="6" name="text-95"/>
          <p:cNvSpPr txBox="1"/>
          <p:nvPr/>
        </p:nvSpPr>
        <p:spPr>
          <a:xfrm>
            <a:off x="548640" y="550468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7" name="text-96"/>
          <p:cNvSpPr txBox="1"/>
          <p:nvPr/>
        </p:nvSpPr>
        <p:spPr>
          <a:xfrm>
            <a:off x="548640" y="5897880"/>
            <a:ext cx="3095244" cy="2194560"/>
          </a:xfrm>
          <a:prstGeom prst="rect">
            <a:avLst/>
          </a:prstGeom>
          <a:noFill/>
          <a:ln/>
        </p:spPr>
        <p:txBody>
          <a:bodyPr wrap="square" lIns="0" tIns="0" rIns="0" bIns="0" rtlCol="0" anchor="t"/>
          <a:lstStyle/>
          <a:p>
            <a:pPr indent="0" marL="0">
              <a:lnSpc>
                <a:spcPct val="112000"/>
              </a:lnSpc>
              <a:buNone/>
            </a:pPr>
            <a:r>
              <a:rPr lang="en-US" sz="1100" b="1" spc="100" kern="0" dirty="0">
                <a:solidFill>
                  <a:schemeClr val="tx1"/>
                </a:solidFill>
              </a:rPr>
              <a:t>WELCOME TO THIS SPECIAL FEATURE </a:t>
            </a:r>
            <a:pPr indent="0" marL="0">
              <a:lnSpc>
                <a:spcPct val="112000"/>
              </a:lnSpc>
              <a:spcAft>
                <a:spcPts val="700"/>
              </a:spcAft>
              <a:buNone/>
            </a:pPr>
            <a:r>
              <a:rPr lang="en-US" sz="11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100" dirty="0"/>
          </a:p>
        </p:txBody>
      </p:sp>
      <p:sp>
        <p:nvSpPr>
          <p:cNvPr id="8" name="text-97"/>
          <p:cNvSpPr txBox="1"/>
          <p:nvPr/>
        </p:nvSpPr>
        <p:spPr>
          <a:xfrm>
            <a:off x="3918204" y="5897880"/>
            <a:ext cx="3095244" cy="155448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100" dirty="0"/>
          </a:p>
        </p:txBody>
      </p:sp>
      <p:sp>
        <p:nvSpPr>
          <p:cNvPr id="9" name="text-98"/>
          <p:cNvSpPr txBox="1"/>
          <p:nvPr/>
        </p:nvSpPr>
        <p:spPr>
          <a:xfrm>
            <a:off x="3918204" y="758952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The Polar City team</a:t>
            </a:r>
            <a:endParaRPr lang="en-US" sz="1200" dirty="0"/>
          </a:p>
        </p:txBody>
      </p:sp>
      <p:sp>
        <p:nvSpPr>
          <p:cNvPr id="10" name="text-99"/>
          <p:cNvSpPr txBox="1"/>
          <p:nvPr/>
        </p:nvSpPr>
        <p:spPr>
          <a:xfrm>
            <a:off x="3918204" y="7836408"/>
            <a:ext cx="3095244" cy="201168"/>
          </a:xfrm>
          <a:prstGeom prst="rect">
            <a:avLst/>
          </a:prstGeom>
          <a:noFill/>
          <a:ln/>
        </p:spPr>
        <p:txBody>
          <a:bodyPr wrap="square" lIns="0" tIns="0" rIns="0" bIns="0" rtlCol="0" anchor="t"/>
          <a:lstStyle/>
          <a:p>
            <a:pPr indent="0" marL="0">
              <a:buNone/>
            </a:pPr>
            <a:r>
              <a:rPr lang="en-US" sz="900" dirty="0">
                <a:solidFill>
                  <a:schemeClr val="tx2"/>
                </a:solidFill>
                <a:latin typeface="Arial" pitchFamily="34" charset="0"/>
                <a:ea typeface="Arial" pitchFamily="34" charset="-122"/>
                <a:cs typeface="Arial" pitchFamily="34" charset="-120"/>
              </a:rPr>
              <a:t>Class 11A4 · Lê Quý Đôn High School</a:t>
            </a:r>
            <a:endParaRPr lang="en-US" sz="900" dirty="0"/>
          </a:p>
        </p:txBody>
      </p:sp>
      <p:sp>
        <p:nvSpPr>
          <p:cNvPr id="11" name="card-100"/>
          <p:cNvSpPr/>
          <p:nvPr/>
        </p:nvSpPr>
        <p:spPr>
          <a:xfrm>
            <a:off x="548640" y="8595360"/>
            <a:ext cx="6464808" cy="1325880"/>
          </a:xfrm>
          <a:prstGeom prst="roundRect">
            <a:avLst>
              <a:gd name="adj" fmla="val 5517"/>
            </a:avLst>
          </a:prstGeom>
          <a:solidFill>
            <a:schemeClr val="bg2"/>
          </a:solidFill>
          <a:ln w="12700">
            <a:solidFill>
              <a:schemeClr val="bg2"/>
            </a:solidFill>
            <a:prstDash val="solid"/>
          </a:ln>
        </p:spPr>
      </p:sp>
      <p:pic>
        <p:nvPicPr>
          <p:cNvPr id="12" name="picture-101" descr="/home/user/chatbox-bi-n-o/magazine/assets/renders/cover.jpg">    </p:cNvPr>
          <p:cNvPicPr>
            <a:picLocks noChangeAspect="1"/>
          </p:cNvPicPr>
          <p:nvPr/>
        </p:nvPicPr>
        <p:blipFill>
          <a:blip r:embed="rId2"/>
          <a:srcRect l="0" r="0" t="0" b="0"/>
          <a:stretch/>
        </p:blipFill>
        <p:spPr>
          <a:xfrm>
            <a:off x="685800" y="8732520"/>
            <a:ext cx="731520" cy="1051560"/>
          </a:xfrm>
          <a:prstGeom prst="rect">
            <a:avLst/>
          </a:prstGeom>
        </p:spPr>
      </p:pic>
      <p:sp>
        <p:nvSpPr>
          <p:cNvPr id="13" name="kicker-dot-102"/>
          <p:cNvSpPr/>
          <p:nvPr/>
        </p:nvSpPr>
        <p:spPr>
          <a:xfrm>
            <a:off x="1600200" y="8791956"/>
            <a:ext cx="100584" cy="100584"/>
          </a:xfrm>
          <a:prstGeom prst="ellipse">
            <a:avLst/>
          </a:prstGeom>
          <a:solidFill>
            <a:schemeClr val="accent6"/>
          </a:solidFill>
          <a:ln w="12700">
            <a:solidFill>
              <a:schemeClr val="accent6"/>
            </a:solidFill>
            <a:prstDash val="solid"/>
          </a:ln>
        </p:spPr>
      </p:sp>
      <p:sp>
        <p:nvSpPr>
          <p:cNvPr id="14" name="text-103"/>
          <p:cNvSpPr txBox="1"/>
          <p:nvPr/>
        </p:nvSpPr>
        <p:spPr>
          <a:xfrm>
            <a:off x="1783080" y="8750808"/>
            <a:ext cx="52303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5" name="text-104"/>
          <p:cNvSpPr txBox="1"/>
          <p:nvPr/>
        </p:nvSpPr>
        <p:spPr>
          <a:xfrm>
            <a:off x="1600200" y="8988552"/>
            <a:ext cx="5276088" cy="8229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named in honour of Landmark 81 in Ho Chi Minh City, beside the street that leads to the glowing terraces of the Mount Aurora spa, under the northern lights. Its nine bundled glass tubes step back like bamboo stalks and cut blizzard wind load by about 25%.</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0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TEAM BEHIND AURORA HAVEN</a:t>
            </a:r>
            <a:endParaRPr lang="en-US" sz="900" dirty="0"/>
          </a:p>
        </p:txBody>
      </p:sp>
      <p:sp>
        <p:nvSpPr>
          <p:cNvPr id="4" name="title-10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Meet the Founders</a:t>
            </a:r>
            <a:endParaRPr lang="en-US" sz="3400" dirty="0"/>
          </a:p>
        </p:txBody>
      </p:sp>
      <p:sp>
        <p:nvSpPr>
          <p:cNvPr id="5" name="text-109"/>
          <p:cNvSpPr txBox="1"/>
          <p:nvPr/>
        </p:nvSpPr>
        <p:spPr>
          <a:xfrm>
            <a:off x="548640" y="1463040"/>
            <a:ext cx="6464808" cy="45720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The people who planned, built and wrote Aurora Haven, and what each of us did.</a:t>
            </a:r>
            <a:endParaRPr lang="en-US" sz="1300" dirty="0"/>
          </a:p>
        </p:txBody>
      </p:sp>
      <p:sp>
        <p:nvSpPr>
          <p:cNvPr id="6" name="card-110"/>
          <p:cNvSpPr/>
          <p:nvPr/>
        </p:nvSpPr>
        <p:spPr>
          <a:xfrm>
            <a:off x="548640" y="2057400"/>
            <a:ext cx="2063496" cy="2926080"/>
          </a:xfrm>
          <a:prstGeom prst="roundRect">
            <a:avLst>
              <a:gd name="adj" fmla="val 3545"/>
            </a:avLst>
          </a:prstGeom>
          <a:solidFill>
            <a:schemeClr val="bg2"/>
          </a:solidFill>
          <a:ln w="12700">
            <a:solidFill>
              <a:schemeClr val="bg2"/>
            </a:solidFill>
            <a:prstDash val="solid"/>
          </a:ln>
        </p:spPr>
      </p:sp>
      <p:pic>
        <p:nvPicPr>
          <p:cNvPr id="7" name="member-photo-111" descr="/home/user/chatbox-bi-n-o/magazine/assets/team/nguyen_dong_bao.jpg">    </p:cNvPr>
          <p:cNvPicPr>
            <a:picLocks noChangeAspect="1"/>
          </p:cNvPicPr>
          <p:nvPr/>
        </p:nvPicPr>
        <p:blipFill>
          <a:blip r:embed="rId1"/>
          <a:stretch>
            <a:fillRect/>
          </a:stretch>
        </p:blipFill>
        <p:spPr>
          <a:xfrm>
            <a:off x="658368" y="2167128"/>
            <a:ext cx="1844040" cy="2194408"/>
          </a:xfrm>
          <a:prstGeom prst="rect">
            <a:avLst/>
          </a:prstGeom>
        </p:spPr>
      </p:pic>
      <p:sp>
        <p:nvSpPr>
          <p:cNvPr id="8" name="text-112"/>
          <p:cNvSpPr txBox="1"/>
          <p:nvPr/>
        </p:nvSpPr>
        <p:spPr>
          <a:xfrm>
            <a:off x="658368"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Đông Bảo</a:t>
            </a:r>
            <a:endParaRPr lang="en-US" sz="1100" dirty="0"/>
          </a:p>
        </p:txBody>
      </p:sp>
      <p:sp>
        <p:nvSpPr>
          <p:cNvPr id="9" name="text-113"/>
          <p:cNvSpPr txBox="1"/>
          <p:nvPr/>
        </p:nvSpPr>
        <p:spPr>
          <a:xfrm>
            <a:off x="658368"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3D city design</a:t>
            </a:r>
            <a:endParaRPr lang="en-US" sz="900" dirty="0"/>
          </a:p>
        </p:txBody>
      </p:sp>
      <p:sp>
        <p:nvSpPr>
          <p:cNvPr id="10" name="card-114"/>
          <p:cNvSpPr/>
          <p:nvPr/>
        </p:nvSpPr>
        <p:spPr>
          <a:xfrm>
            <a:off x="2749296" y="2057400"/>
            <a:ext cx="2063496" cy="2926080"/>
          </a:xfrm>
          <a:prstGeom prst="roundRect">
            <a:avLst>
              <a:gd name="adj" fmla="val 3545"/>
            </a:avLst>
          </a:prstGeom>
          <a:solidFill>
            <a:schemeClr val="bg2"/>
          </a:solidFill>
          <a:ln w="12700">
            <a:solidFill>
              <a:schemeClr val="bg2"/>
            </a:solidFill>
            <a:prstDash val="solid"/>
          </a:ln>
        </p:spPr>
      </p:sp>
      <p:pic>
        <p:nvPicPr>
          <p:cNvPr id="11" name="member-photo-115" descr="/home/user/chatbox-bi-n-o/magazine/assets/team/nguyen_ba_hieu_thien.jpg">    </p:cNvPr>
          <p:cNvPicPr>
            <a:picLocks noChangeAspect="1"/>
          </p:cNvPicPr>
          <p:nvPr/>
        </p:nvPicPr>
        <p:blipFill>
          <a:blip r:embed="rId2"/>
          <a:stretch>
            <a:fillRect/>
          </a:stretch>
        </p:blipFill>
        <p:spPr>
          <a:xfrm>
            <a:off x="2859024" y="2167128"/>
            <a:ext cx="1844040" cy="2194408"/>
          </a:xfrm>
          <a:prstGeom prst="rect">
            <a:avLst/>
          </a:prstGeom>
        </p:spPr>
      </p:pic>
      <p:sp>
        <p:nvSpPr>
          <p:cNvPr id="12" name="text-116"/>
          <p:cNvSpPr txBox="1"/>
          <p:nvPr/>
        </p:nvSpPr>
        <p:spPr>
          <a:xfrm>
            <a:off x="2859024"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Bá Hiếu Thiện</a:t>
            </a:r>
            <a:endParaRPr lang="en-US" sz="1100" dirty="0"/>
          </a:p>
        </p:txBody>
      </p:sp>
      <p:sp>
        <p:nvSpPr>
          <p:cNvPr id="13" name="text-117"/>
          <p:cNvSpPr txBox="1"/>
          <p:nvPr/>
        </p:nvSpPr>
        <p:spPr>
          <a:xfrm>
            <a:off x="2859024"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Team leader · Research · 3D city design</a:t>
            </a:r>
            <a:endParaRPr lang="en-US" sz="900" dirty="0"/>
          </a:p>
        </p:txBody>
      </p:sp>
      <p:sp>
        <p:nvSpPr>
          <p:cNvPr id="14" name="card-118"/>
          <p:cNvSpPr/>
          <p:nvPr/>
        </p:nvSpPr>
        <p:spPr>
          <a:xfrm>
            <a:off x="4949952" y="2057400"/>
            <a:ext cx="2063496" cy="2926080"/>
          </a:xfrm>
          <a:prstGeom prst="roundRect">
            <a:avLst>
              <a:gd name="adj" fmla="val 3545"/>
            </a:avLst>
          </a:prstGeom>
          <a:solidFill>
            <a:schemeClr val="bg2"/>
          </a:solidFill>
          <a:ln w="12700">
            <a:solidFill>
              <a:schemeClr val="bg2"/>
            </a:solidFill>
            <a:prstDash val="solid"/>
          </a:ln>
        </p:spPr>
      </p:sp>
      <p:pic>
        <p:nvPicPr>
          <p:cNvPr id="15" name="member-photo-119" descr="/home/user/chatbox-bi-n-o/magazine/assets/team/phan_minh_khoi.jpg">    </p:cNvPr>
          <p:cNvPicPr>
            <a:picLocks noChangeAspect="1"/>
          </p:cNvPicPr>
          <p:nvPr/>
        </p:nvPicPr>
        <p:blipFill>
          <a:blip r:embed="rId3"/>
          <a:stretch>
            <a:fillRect/>
          </a:stretch>
        </p:blipFill>
        <p:spPr>
          <a:xfrm>
            <a:off x="5059680" y="2167128"/>
            <a:ext cx="1844040" cy="2194408"/>
          </a:xfrm>
          <a:prstGeom prst="rect">
            <a:avLst/>
          </a:prstGeom>
        </p:spPr>
      </p:pic>
      <p:sp>
        <p:nvSpPr>
          <p:cNvPr id="16" name="text-120"/>
          <p:cNvSpPr txBox="1"/>
          <p:nvPr/>
        </p:nvSpPr>
        <p:spPr>
          <a:xfrm>
            <a:off x="5059680"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Phan Minh Khôi</a:t>
            </a:r>
            <a:endParaRPr lang="en-US" sz="1100" dirty="0"/>
          </a:p>
        </p:txBody>
      </p:sp>
      <p:sp>
        <p:nvSpPr>
          <p:cNvPr id="17" name="text-121"/>
          <p:cNvSpPr txBox="1"/>
          <p:nvPr/>
        </p:nvSpPr>
        <p:spPr>
          <a:xfrm>
            <a:off x="5059680"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Research · Fact-checking</a:t>
            </a:r>
            <a:endParaRPr lang="en-US" sz="900" dirty="0"/>
          </a:p>
        </p:txBody>
      </p:sp>
      <p:sp>
        <p:nvSpPr>
          <p:cNvPr id="18" name="card-122"/>
          <p:cNvSpPr/>
          <p:nvPr/>
        </p:nvSpPr>
        <p:spPr>
          <a:xfrm>
            <a:off x="548640" y="5120640"/>
            <a:ext cx="2063496" cy="2926080"/>
          </a:xfrm>
          <a:prstGeom prst="roundRect">
            <a:avLst>
              <a:gd name="adj" fmla="val 3545"/>
            </a:avLst>
          </a:prstGeom>
          <a:solidFill>
            <a:schemeClr val="bg2"/>
          </a:solidFill>
          <a:ln w="12700">
            <a:solidFill>
              <a:schemeClr val="bg2"/>
            </a:solidFill>
            <a:prstDash val="solid"/>
          </a:ln>
        </p:spPr>
      </p:sp>
      <p:pic>
        <p:nvPicPr>
          <p:cNvPr id="19" name="member-photo-123" descr="/home/user/chatbox-bi-n-o/magazine/assets/team/duong_hang_nguyen.jpg">    </p:cNvPr>
          <p:cNvPicPr>
            <a:picLocks noChangeAspect="1"/>
          </p:cNvPicPr>
          <p:nvPr/>
        </p:nvPicPr>
        <p:blipFill>
          <a:blip r:embed="rId4"/>
          <a:stretch>
            <a:fillRect/>
          </a:stretch>
        </p:blipFill>
        <p:spPr>
          <a:xfrm>
            <a:off x="658368" y="5230368"/>
            <a:ext cx="1844040" cy="2194408"/>
          </a:xfrm>
          <a:prstGeom prst="rect">
            <a:avLst/>
          </a:prstGeom>
        </p:spPr>
      </p:pic>
      <p:sp>
        <p:nvSpPr>
          <p:cNvPr id="20" name="text-124"/>
          <p:cNvSpPr txBox="1"/>
          <p:nvPr/>
        </p:nvSpPr>
        <p:spPr>
          <a:xfrm>
            <a:off x="658368"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Dương Hàng Nguyên</a:t>
            </a:r>
            <a:endParaRPr lang="en-US" sz="1100" dirty="0"/>
          </a:p>
        </p:txBody>
      </p:sp>
      <p:sp>
        <p:nvSpPr>
          <p:cNvPr id="21" name="text-125"/>
          <p:cNvSpPr txBox="1"/>
          <p:nvPr/>
        </p:nvSpPr>
        <p:spPr>
          <a:xfrm>
            <a:off x="658368"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filming &amp; editing · 3D city design</a:t>
            </a:r>
            <a:endParaRPr lang="en-US" sz="900" dirty="0"/>
          </a:p>
        </p:txBody>
      </p:sp>
      <p:sp>
        <p:nvSpPr>
          <p:cNvPr id="22" name="card-126"/>
          <p:cNvSpPr/>
          <p:nvPr/>
        </p:nvSpPr>
        <p:spPr>
          <a:xfrm>
            <a:off x="2749296" y="5120640"/>
            <a:ext cx="2063496" cy="2926080"/>
          </a:xfrm>
          <a:prstGeom prst="roundRect">
            <a:avLst>
              <a:gd name="adj" fmla="val 3545"/>
            </a:avLst>
          </a:prstGeom>
          <a:solidFill>
            <a:schemeClr val="bg2"/>
          </a:solidFill>
          <a:ln w="12700">
            <a:solidFill>
              <a:schemeClr val="bg2"/>
            </a:solidFill>
            <a:prstDash val="solid"/>
          </a:ln>
        </p:spPr>
      </p:sp>
      <p:pic>
        <p:nvPicPr>
          <p:cNvPr id="23" name="member-photo-127" descr="/home/user/chatbox-bi-n-o/magazine/assets/team/pham_phuoc_khoa.jpg">    </p:cNvPr>
          <p:cNvPicPr>
            <a:picLocks noChangeAspect="1"/>
          </p:cNvPicPr>
          <p:nvPr/>
        </p:nvPicPr>
        <p:blipFill>
          <a:blip r:embed="rId5"/>
          <a:stretch>
            <a:fillRect/>
          </a:stretch>
        </p:blipFill>
        <p:spPr>
          <a:xfrm>
            <a:off x="2859024" y="5230368"/>
            <a:ext cx="1844040" cy="2194408"/>
          </a:xfrm>
          <a:prstGeom prst="rect">
            <a:avLst/>
          </a:prstGeom>
        </p:spPr>
      </p:pic>
      <p:sp>
        <p:nvSpPr>
          <p:cNvPr id="24" name="text-128"/>
          <p:cNvSpPr txBox="1"/>
          <p:nvPr/>
        </p:nvSpPr>
        <p:spPr>
          <a:xfrm>
            <a:off x="2859024"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Phạm Phước Khoa</a:t>
            </a:r>
            <a:endParaRPr lang="en-US" sz="1100" dirty="0"/>
          </a:p>
        </p:txBody>
      </p:sp>
      <p:sp>
        <p:nvSpPr>
          <p:cNvPr id="25" name="text-129"/>
          <p:cNvSpPr txBox="1"/>
          <p:nvPr/>
        </p:nvSpPr>
        <p:spPr>
          <a:xfrm>
            <a:off x="2859024"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editing · Magazine design</a:t>
            </a:r>
            <a:endParaRPr lang="en-US" sz="900" dirty="0"/>
          </a:p>
        </p:txBody>
      </p:sp>
      <p:sp>
        <p:nvSpPr>
          <p:cNvPr id="26" name="card-130"/>
          <p:cNvSpPr/>
          <p:nvPr/>
        </p:nvSpPr>
        <p:spPr>
          <a:xfrm>
            <a:off x="4949952" y="5120640"/>
            <a:ext cx="2063496" cy="2926080"/>
          </a:xfrm>
          <a:prstGeom prst="roundRect">
            <a:avLst>
              <a:gd name="adj" fmla="val 3545"/>
            </a:avLst>
          </a:prstGeom>
          <a:solidFill>
            <a:schemeClr val="bg2"/>
          </a:solidFill>
          <a:ln w="12700">
            <a:solidFill>
              <a:schemeClr val="bg2"/>
            </a:solidFill>
            <a:prstDash val="solid"/>
          </a:ln>
        </p:spPr>
      </p:sp>
      <p:pic>
        <p:nvPicPr>
          <p:cNvPr id="27" name="member-photo-131" descr="/home/user/chatbox-bi-n-o/magazine/assets/team/nguyen_minh_triet.jpg">    </p:cNvPr>
          <p:cNvPicPr>
            <a:picLocks noChangeAspect="1"/>
          </p:cNvPicPr>
          <p:nvPr/>
        </p:nvPicPr>
        <p:blipFill>
          <a:blip r:embed="rId6"/>
          <a:stretch>
            <a:fillRect/>
          </a:stretch>
        </p:blipFill>
        <p:spPr>
          <a:xfrm>
            <a:off x="5059680" y="5230368"/>
            <a:ext cx="1844040" cy="2194408"/>
          </a:xfrm>
          <a:prstGeom prst="rect">
            <a:avLst/>
          </a:prstGeom>
        </p:spPr>
      </p:pic>
      <p:sp>
        <p:nvSpPr>
          <p:cNvPr id="28" name="text-132"/>
          <p:cNvSpPr txBox="1"/>
          <p:nvPr/>
        </p:nvSpPr>
        <p:spPr>
          <a:xfrm>
            <a:off x="5059680"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Minh Triết</a:t>
            </a:r>
            <a:endParaRPr lang="en-US" sz="1100" dirty="0"/>
          </a:p>
        </p:txBody>
      </p:sp>
      <p:sp>
        <p:nvSpPr>
          <p:cNvPr id="29" name="text-133"/>
          <p:cNvSpPr txBox="1"/>
          <p:nvPr/>
        </p:nvSpPr>
        <p:spPr>
          <a:xfrm>
            <a:off x="5059680"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Report</a:t>
            </a:r>
            <a:endParaRPr lang="en-US" sz="900" dirty="0"/>
          </a:p>
        </p:txBody>
      </p:sp>
      <p:sp>
        <p:nvSpPr>
          <p:cNvPr id="30" name="card-134"/>
          <p:cNvSpPr/>
          <p:nvPr/>
        </p:nvSpPr>
        <p:spPr>
          <a:xfrm>
            <a:off x="548640" y="8229600"/>
            <a:ext cx="2743200" cy="1737360"/>
          </a:xfrm>
          <a:prstGeom prst="roundRect">
            <a:avLst>
              <a:gd name="adj" fmla="val 4211"/>
            </a:avLst>
          </a:prstGeom>
          <a:solidFill>
            <a:schemeClr val="bg2"/>
          </a:solidFill>
          <a:ln w="12700">
            <a:solidFill>
              <a:schemeClr val="bg2"/>
            </a:solidFill>
            <a:prstDash val="solid"/>
          </a:ln>
        </p:spPr>
      </p:sp>
      <p:pic>
        <p:nvPicPr>
          <p:cNvPr id="31" name="qr-interview-135" descr="/home/user/chatbox-bi-n-o/magazine/assets/ui/qr_interview.png">
            <a:hlinkClick r:id="rId8" tooltip="Watch our real-world interview"/>
          </p:cNvPr>
          <p:cNvPicPr>
            <a:picLocks noChangeAspect="1"/>
          </p:cNvPicPr>
          <p:nvPr/>
        </p:nvPicPr>
        <p:blipFill>
          <a:blip r:embed="rId7"/>
          <a:stretch>
            <a:fillRect/>
          </a:stretch>
        </p:blipFill>
        <p:spPr>
          <a:xfrm>
            <a:off x="685800" y="8549640"/>
            <a:ext cx="1097280" cy="1097280"/>
          </a:xfrm>
          <a:prstGeom prst="rect">
            <a:avLst/>
          </a:prstGeom>
        </p:spPr>
      </p:pic>
      <p:sp>
        <p:nvSpPr>
          <p:cNvPr id="32" name="text-136"/>
          <p:cNvSpPr txBox="1"/>
          <p:nvPr/>
        </p:nvSpPr>
        <p:spPr>
          <a:xfrm>
            <a:off x="1965960" y="8366760"/>
            <a:ext cx="1188720" cy="146304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8"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33" name="kicker-dot-137"/>
          <p:cNvSpPr/>
          <p:nvPr/>
        </p:nvSpPr>
        <p:spPr>
          <a:xfrm>
            <a:off x="3429000" y="8316468"/>
            <a:ext cx="100584" cy="100584"/>
          </a:xfrm>
          <a:prstGeom prst="ellipse">
            <a:avLst/>
          </a:prstGeom>
          <a:solidFill>
            <a:schemeClr val="accent6"/>
          </a:solidFill>
          <a:ln w="12700">
            <a:solidFill>
              <a:schemeClr val="accent6"/>
            </a:solidFill>
            <a:prstDash val="solid"/>
          </a:ln>
        </p:spPr>
      </p:sp>
      <p:sp>
        <p:nvSpPr>
          <p:cNvPr id="34" name="text-138"/>
          <p:cNvSpPr txBox="1"/>
          <p:nvPr/>
        </p:nvSpPr>
        <p:spPr>
          <a:xfrm>
            <a:off x="3611880" y="8275320"/>
            <a:ext cx="34015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INTERVIEW CONCLUSION</a:t>
            </a:r>
            <a:endParaRPr lang="en-US" sz="900" dirty="0"/>
          </a:p>
        </p:txBody>
      </p:sp>
      <p:sp>
        <p:nvSpPr>
          <p:cNvPr id="35" name="text-139"/>
          <p:cNvSpPr txBox="1"/>
          <p:nvPr/>
        </p:nvSpPr>
        <p:spPr>
          <a:xfrm>
            <a:off x="3429000" y="8531352"/>
            <a:ext cx="3584448" cy="1463040"/>
          </a:xfrm>
          <a:prstGeom prst="rect">
            <a:avLst/>
          </a:prstGeom>
          <a:noFill/>
          <a:ln/>
        </p:spPr>
        <p:txBody>
          <a:bodyPr wrap="square" lIns="0" tIns="0" rIns="0" bIns="0" rtlCol="0" anchor="t"/>
          <a:lstStyle/>
          <a:p>
            <a:pPr indent="0" marL="0">
              <a:lnSpc>
                <a:spcPct val="106000"/>
              </a:lnSpc>
              <a:buNone/>
            </a:pPr>
            <a:r>
              <a:rPr lang="en-US" sz="900" i="1" dirty="0">
                <a:solidFill>
                  <a:schemeClr val="tx1"/>
                </a:solidFill>
              </a:rPr>
              <a:t>Looking back on the interview session, our team not only gathered valuable architectural insights but also learned a great deal about creative thinking and teamwork. Preparing the questions, listening closely, and engaging in direct discussions helped us deeply understand how green technologies can be practically applied to extreme environmental challenges. Overall, this was a truly rewarding experience that broadened our perspectives and allowed us to bring the most inspiring stories to our magazine readers.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40"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41"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42"/>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43"/>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44"/>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a:t>
            </a:r>
            <a:endParaRPr lang="en-US" sz="4600" dirty="0"/>
          </a:p>
          <a:p>
            <a:pPr indent="0" marL="0">
              <a:lnSpc>
                <a:spcPct val="92000"/>
              </a:lnSpc>
              <a:buNone/>
            </a:pPr>
            <a:r>
              <a:rPr lang="en-US" sz="4600" b="1" dirty="0">
                <a:solidFill>
                  <a:schemeClr val="bg1"/>
                </a:solidFill>
                <a:latin typeface="+mj-lt" pitchFamily="34" charset="0"/>
                <a:ea typeface="+mj-lt" pitchFamily="34" charset="-122"/>
                <a:cs typeface="+mj-lt" pitchFamily="34" charset="-120"/>
              </a:rPr>
              <a:t>Aurora Haven</a:t>
            </a:r>
            <a:endParaRPr lang="en-US" sz="4600" dirty="0"/>
          </a:p>
        </p:txBody>
      </p:sp>
      <p:sp>
        <p:nvSpPr>
          <p:cNvPr id="7" name="text-146"/>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47"/>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48"/>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49"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50"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51"/>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text-152"/>
          <p:cNvSpPr txBox="1"/>
          <p:nvPr/>
        </p:nvSpPr>
        <p:spPr>
          <a:xfrm>
            <a:off x="548640" y="6766560"/>
            <a:ext cx="3461004" cy="32918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makes Aurora Haven special is its three signature districts. A fusion power station acts as the city’s own sun, giving steady power and heat even through the polar night. A Snow-to-Food &amp; Water Plant turns snow and air into clean drinking water and food, so the city can feed itself without farmland.</a:t>
            </a:r>
            <a:endParaRPr lang="en-US" sz="1050" dirty="0"/>
          </a:p>
          <a:p>
            <a:pPr indent="0" marL="0">
              <a:lnSpc>
                <a:spcPct val="112000"/>
              </a:lnSpc>
              <a:spcAft>
                <a:spcPts val="700"/>
              </a:spcAft>
              <a:buNone/>
            </a:pPr>
            <a:r>
              <a:rPr lang="en-US" sz="1050" dirty="0">
                <a:solidFill>
                  <a:schemeClr val="tx1"/>
                </a:solidFill>
              </a:rPr>
              <a:t>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6" name="text-153"/>
          <p:cNvSpPr txBox="1"/>
          <p:nvPr/>
        </p:nvSpPr>
        <p:spPr>
          <a:xfrm>
            <a:off x="4421124" y="6675120"/>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45,000</a:t>
            </a:r>
            <a:endParaRPr lang="en-US" sz="2600" dirty="0"/>
          </a:p>
        </p:txBody>
      </p:sp>
      <p:sp>
        <p:nvSpPr>
          <p:cNvPr id="7" name="text-154"/>
          <p:cNvSpPr txBox="1"/>
          <p:nvPr/>
        </p:nvSpPr>
        <p:spPr>
          <a:xfrm>
            <a:off x="4421124" y="7105904"/>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8" name="text-155"/>
          <p:cNvSpPr txBox="1"/>
          <p:nvPr/>
        </p:nvSpPr>
        <p:spPr>
          <a:xfrm>
            <a:off x="4421124" y="7516368"/>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 °C</a:t>
            </a:r>
            <a:endParaRPr lang="en-US" sz="2600" dirty="0"/>
          </a:p>
        </p:txBody>
      </p:sp>
      <p:sp>
        <p:nvSpPr>
          <p:cNvPr id="9" name="text-156"/>
          <p:cNvSpPr txBox="1"/>
          <p:nvPr/>
        </p:nvSpPr>
        <p:spPr>
          <a:xfrm>
            <a:off x="4421124" y="7947152"/>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0" name="text-157"/>
          <p:cNvSpPr txBox="1"/>
          <p:nvPr/>
        </p:nvSpPr>
        <p:spPr>
          <a:xfrm>
            <a:off x="4421124" y="8357616"/>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35 m</a:t>
            </a:r>
            <a:endParaRPr lang="en-US" sz="2600" dirty="0"/>
          </a:p>
        </p:txBody>
      </p:sp>
      <p:sp>
        <p:nvSpPr>
          <p:cNvPr id="11" name="text-158"/>
          <p:cNvSpPr txBox="1"/>
          <p:nvPr/>
        </p:nvSpPr>
        <p:spPr>
          <a:xfrm>
            <a:off x="4421124" y="8788400"/>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2" name="text-159"/>
          <p:cNvSpPr txBox="1"/>
          <p:nvPr/>
        </p:nvSpPr>
        <p:spPr>
          <a:xfrm>
            <a:off x="4421124" y="9198864"/>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10 min</a:t>
            </a:r>
            <a:endParaRPr lang="en-US" sz="2600" dirty="0"/>
          </a:p>
        </p:txBody>
      </p:sp>
      <p:sp>
        <p:nvSpPr>
          <p:cNvPr id="13" name="text-160"/>
          <p:cNvSpPr txBox="1"/>
          <p:nvPr/>
        </p:nvSpPr>
        <p:spPr>
          <a:xfrm>
            <a:off x="4421124" y="9629648"/>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61"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62"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163"/>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64"/>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165"/>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167"/>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168"/>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169"/>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170"/>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171"/>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172"/>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173"/>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174"/>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175"/>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176"/>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177"/>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178"/>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179"/>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icture-180"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181"/>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182"/>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183"/>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184"/>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text-186"/>
          <p:cNvSpPr txBox="1"/>
          <p:nvPr/>
        </p:nvSpPr>
        <p:spPr>
          <a:xfrm>
            <a:off x="548640" y="4005072"/>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8" name="text-187"/>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THE PEOPLE AND PLACES AT RISK</a:t>
            </a:r>
            <a:endParaRPr lang="en-US" sz="900" dirty="0"/>
          </a:p>
        </p:txBody>
      </p:sp>
      <p:sp>
        <p:nvSpPr>
          <p:cNvPr id="9" name="card-188"/>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0" name="text-189"/>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1" name="text-190"/>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2" name="card-191"/>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3" name="text-192"/>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4" name="text-193"/>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5" name="card-194"/>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6" name="text-195"/>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7" name="text-196"/>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8" name="card-197"/>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19" name="text-198"/>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0" name="text-199"/>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1" name="text-200"/>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2" name="text-201"/>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3" name="text-202"/>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4" name="text-203"/>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5" name="text-204"/>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6" name="text-205"/>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7" name="text-206"/>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8" name="text-207"/>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29" name="text-208"/>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0" name="text-209"/>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1" name="text-210"/>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11"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12"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13"/>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14"/>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15"/>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a:t>
            </a:r>
            <a:endParaRPr lang="en-US" sz="4400" dirty="0"/>
          </a:p>
          <a:p>
            <a:pPr indent="0" marL="0">
              <a:lnSpc>
                <a:spcPct val="92000"/>
              </a:lnSpc>
              <a:buNone/>
            </a:pPr>
            <a:r>
              <a:rPr lang="en-US" sz="4400" b="1" dirty="0">
                <a:solidFill>
                  <a:schemeClr val="bg1"/>
                </a:solidFill>
                <a:latin typeface="+mj-lt" pitchFamily="34" charset="0"/>
                <a:ea typeface="+mj-lt" pitchFamily="34" charset="-122"/>
                <a:cs typeface="+mj-lt" pitchFamily="34" charset="-120"/>
              </a:rPr>
              <a:t>One Short Walk</a:t>
            </a:r>
            <a:endParaRPr lang="en-US" sz="4400" dirty="0"/>
          </a:p>
        </p:txBody>
      </p:sp>
      <p:sp>
        <p:nvSpPr>
          <p:cNvPr id="7" name="text-217"/>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18"/>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Founding Mayor Monument. The metro interchange lies under Liberty Mall, the tree-lined promenade through the four central blocks, which hosts festivals, markets and parades.</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picture-219"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20"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21"/>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Founding Mayor Monument. Its granite plaza is warmed from below by the heating loop and never ices, and twin lanterns line the way.</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dot-222"/>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2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22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pic>
        <p:nvPicPr>
          <p:cNvPr id="5" name="master-plan" descr="/home/user/chatbox-bi-n-o/magazine/assets/plans/01_city_master_plan.png">    </p:cNvPr>
          <p:cNvPicPr>
            <a:picLocks noChangeAspect="1"/>
          </p:cNvPicPr>
          <p:nvPr/>
        </p:nvPicPr>
        <p:blipFill>
          <a:blip r:embed="rId1"/>
          <a:stretch>
            <a:fillRect/>
          </a:stretch>
        </p:blipFill>
        <p:spPr>
          <a:xfrm>
            <a:off x="0" y="1600200"/>
            <a:ext cx="7562088" cy="4915357"/>
          </a:xfrm>
          <a:prstGeom prst="rect">
            <a:avLst/>
          </a:prstGeom>
        </p:spPr>
      </p:pic>
      <p:sp>
        <p:nvSpPr>
          <p:cNvPr id="6" name="text-226"/>
          <p:cNvSpPr txBox="1"/>
          <p:nvPr/>
        </p:nvSpPr>
        <p:spPr>
          <a:xfrm>
            <a:off x="548640" y="6561277"/>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 City Master Plan. North is up; one unit is one metre. Drawn from the 3D model; the numbers are the 35 places listed on page 36.</a:t>
            </a:r>
            <a:endParaRPr lang="en-US" sz="850" dirty="0"/>
          </a:p>
        </p:txBody>
      </p:sp>
      <p:sp>
        <p:nvSpPr>
          <p:cNvPr id="7" name="kicker-dot-227"/>
          <p:cNvSpPr/>
          <p:nvPr/>
        </p:nvSpPr>
        <p:spPr>
          <a:xfrm>
            <a:off x="548640" y="7105345"/>
            <a:ext cx="100584" cy="100584"/>
          </a:xfrm>
          <a:prstGeom prst="ellipse">
            <a:avLst/>
          </a:prstGeom>
          <a:solidFill>
            <a:schemeClr val="tx1"/>
          </a:solidFill>
          <a:ln w="12700">
            <a:solidFill>
              <a:schemeClr val="tx1"/>
            </a:solidFill>
            <a:prstDash val="solid"/>
          </a:ln>
        </p:spPr>
      </p:sp>
      <p:sp>
        <p:nvSpPr>
          <p:cNvPr id="8" name="text-228"/>
          <p:cNvSpPr txBox="1"/>
          <p:nvPr/>
        </p:nvSpPr>
        <p:spPr>
          <a:xfrm>
            <a:off x="731520" y="7064197"/>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9" name="text-229"/>
          <p:cNvSpPr txBox="1"/>
          <p:nvPr/>
        </p:nvSpPr>
        <p:spPr>
          <a:xfrm>
            <a:off x="548640"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Nine blocks around the Aurora Roundabout and the Founding Mayor Monument, with the hospital, schools, shops and the metro interchange.</a:t>
            </a:r>
            <a:endParaRPr lang="en-US" sz="950" dirty="0"/>
          </a:p>
        </p:txBody>
      </p:sp>
      <p:sp>
        <p:nvSpPr>
          <p:cNvPr id="10" name="kicker-dot-230"/>
          <p:cNvSpPr/>
          <p:nvPr/>
        </p:nvSpPr>
        <p:spPr>
          <a:xfrm>
            <a:off x="3918204" y="7105345"/>
            <a:ext cx="100584" cy="100584"/>
          </a:xfrm>
          <a:prstGeom prst="ellipse">
            <a:avLst/>
          </a:prstGeom>
          <a:solidFill>
            <a:schemeClr val="accent6"/>
          </a:solidFill>
          <a:ln w="12700">
            <a:solidFill>
              <a:schemeClr val="accent6"/>
            </a:solidFill>
            <a:prstDash val="solid"/>
          </a:ln>
        </p:spPr>
      </p:sp>
      <p:sp>
        <p:nvSpPr>
          <p:cNvPr id="11" name="text-231"/>
          <p:cNvSpPr txBox="1"/>
          <p:nvPr/>
        </p:nvSpPr>
        <p:spPr>
          <a:xfrm>
            <a:off x="4101084" y="7064197"/>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2" name="text-232"/>
          <p:cNvSpPr txBox="1"/>
          <p:nvPr/>
        </p:nvSpPr>
        <p:spPr>
          <a:xfrm>
            <a:off x="3918204"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windy north holds the Northern Renewable Park, the energy hub, the Polar Rescue and Resilience Station and the airport.</a:t>
            </a:r>
            <a:endParaRPr lang="en-US" sz="950" dirty="0"/>
          </a:p>
        </p:txBody>
      </p:sp>
      <p:sp>
        <p:nvSpPr>
          <p:cNvPr id="13" name="kicker-dot-233"/>
          <p:cNvSpPr/>
          <p:nvPr/>
        </p:nvSpPr>
        <p:spPr>
          <a:xfrm>
            <a:off x="548640" y="7974025"/>
            <a:ext cx="100584" cy="100584"/>
          </a:xfrm>
          <a:prstGeom prst="ellipse">
            <a:avLst/>
          </a:prstGeom>
          <a:solidFill>
            <a:schemeClr val="tx2"/>
          </a:solidFill>
          <a:ln w="12700">
            <a:solidFill>
              <a:schemeClr val="tx2"/>
            </a:solidFill>
            <a:prstDash val="solid"/>
          </a:ln>
        </p:spPr>
      </p:sp>
      <p:sp>
        <p:nvSpPr>
          <p:cNvPr id="14" name="text-234"/>
          <p:cNvSpPr txBox="1"/>
          <p:nvPr/>
        </p:nvSpPr>
        <p:spPr>
          <a:xfrm>
            <a:off x="731520" y="7932877"/>
            <a:ext cx="2912364"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15" name="text-235"/>
          <p:cNvSpPr txBox="1"/>
          <p:nvPr/>
        </p:nvSpPr>
        <p:spPr>
          <a:xfrm>
            <a:off x="548640"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air base and garrison, behind a belt of trees that screens the eco-homes.</a:t>
            </a:r>
            <a:endParaRPr lang="en-US" sz="950" dirty="0"/>
          </a:p>
        </p:txBody>
      </p:sp>
      <p:sp>
        <p:nvSpPr>
          <p:cNvPr id="16" name="kicker-dot-236"/>
          <p:cNvSpPr/>
          <p:nvPr/>
        </p:nvSpPr>
        <p:spPr>
          <a:xfrm>
            <a:off x="3918204" y="7974025"/>
            <a:ext cx="100584" cy="100584"/>
          </a:xfrm>
          <a:prstGeom prst="ellipse">
            <a:avLst/>
          </a:prstGeom>
          <a:solidFill>
            <a:schemeClr val="accent4"/>
          </a:solidFill>
          <a:ln w="12700">
            <a:solidFill>
              <a:schemeClr val="accent4"/>
            </a:solidFill>
            <a:prstDash val="solid"/>
          </a:ln>
        </p:spPr>
      </p:sp>
      <p:sp>
        <p:nvSpPr>
          <p:cNvPr id="17" name="text-237"/>
          <p:cNvSpPr txBox="1"/>
          <p:nvPr/>
        </p:nvSpPr>
        <p:spPr>
          <a:xfrm>
            <a:off x="4101084" y="7932877"/>
            <a:ext cx="291236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18" name="text-238"/>
          <p:cNvSpPr txBox="1"/>
          <p:nvPr/>
        </p:nvSpPr>
        <p:spPr>
          <a:xfrm>
            <a:off x="3918204"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Greenhouses, the snow stadium, the fusion station and the Snow-to-Food plant, linked by pipe bridges and heat mains.</a:t>
            </a:r>
            <a:endParaRPr lang="en-US" sz="950" dirty="0"/>
          </a:p>
        </p:txBody>
      </p:sp>
      <p:sp>
        <p:nvSpPr>
          <p:cNvPr id="19" name="kicker-dot-239"/>
          <p:cNvSpPr/>
          <p:nvPr/>
        </p:nvSpPr>
        <p:spPr>
          <a:xfrm>
            <a:off x="548640" y="8842705"/>
            <a:ext cx="100584" cy="100584"/>
          </a:xfrm>
          <a:prstGeom prst="ellipse">
            <a:avLst/>
          </a:prstGeom>
          <a:solidFill>
            <a:schemeClr val="accent5"/>
          </a:solidFill>
          <a:ln w="12700">
            <a:solidFill>
              <a:schemeClr val="accent5"/>
            </a:solidFill>
            <a:prstDash val="solid"/>
          </a:ln>
        </p:spPr>
      </p:sp>
      <p:sp>
        <p:nvSpPr>
          <p:cNvPr id="20" name="text-240"/>
          <p:cNvSpPr txBox="1"/>
          <p:nvPr/>
        </p:nvSpPr>
        <p:spPr>
          <a:xfrm>
            <a:off x="731520" y="8801557"/>
            <a:ext cx="2912364"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21" name="text-241"/>
          <p:cNvSpPr txBox="1"/>
          <p:nvPr/>
        </p:nvSpPr>
        <p:spPr>
          <a:xfrm>
            <a:off x="548640" y="905758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Framed by Liberty Mall, Mount Aurora rises with its geothermal spa resort inside.</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42"/>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4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4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46" descr="/home/user/chatbox-bi-n-o/magazine/assets/renders/downtown_aerial.jpg">    </p:cNvPr>
          <p:cNvPicPr>
            <a:picLocks noChangeAspect="1"/>
          </p:cNvPicPr>
          <p:nvPr/>
        </p:nvPicPr>
        <p:blipFill>
          <a:blip r:embed="rId1"/>
          <a:srcRect l="0" r="0" t="0" b="0"/>
          <a:stretch/>
        </p:blipFill>
        <p:spPr>
          <a:xfrm>
            <a:off x="0" y="1508760"/>
            <a:ext cx="7562088" cy="4206240"/>
          </a:xfrm>
          <a:prstGeom prst="rect">
            <a:avLst/>
          </a:prstGeom>
        </p:spPr>
      </p:pic>
      <p:sp>
        <p:nvSpPr>
          <p:cNvPr id="6" name="text-247"/>
          <p:cNvSpPr txBox="1"/>
          <p:nvPr/>
        </p:nvSpPr>
        <p:spPr>
          <a:xfrm>
            <a:off x="548640" y="577900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48"/>
          <p:cNvSpPr/>
          <p:nvPr/>
        </p:nvSpPr>
        <p:spPr>
          <a:xfrm>
            <a:off x="548640" y="6172200"/>
            <a:ext cx="2093976" cy="1216152"/>
          </a:xfrm>
          <a:prstGeom prst="roundRect">
            <a:avLst>
              <a:gd name="adj" fmla="val 6015"/>
            </a:avLst>
          </a:prstGeom>
          <a:solidFill>
            <a:schemeClr val="bg2"/>
          </a:solidFill>
          <a:ln w="12700">
            <a:solidFill>
              <a:schemeClr val="bg2"/>
            </a:solidFill>
            <a:prstDash val="solid"/>
          </a:ln>
        </p:spPr>
      </p:sp>
      <p:sp>
        <p:nvSpPr>
          <p:cNvPr id="8" name="text-249"/>
          <p:cNvSpPr txBox="1"/>
          <p:nvPr/>
        </p:nvSpPr>
        <p:spPr>
          <a:xfrm>
            <a:off x="667512"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50"/>
          <p:cNvSpPr txBox="1"/>
          <p:nvPr/>
        </p:nvSpPr>
        <p:spPr>
          <a:xfrm>
            <a:off x="667512"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Core – AI Control Tower · Aurora Haven Police Headquarters · Polaris Green Office Tower</a:t>
            </a:r>
            <a:endParaRPr lang="en-US" sz="1000" dirty="0"/>
          </a:p>
        </p:txBody>
      </p:sp>
      <p:sp>
        <p:nvSpPr>
          <p:cNvPr id="10" name="card-251"/>
          <p:cNvSpPr/>
          <p:nvPr/>
        </p:nvSpPr>
        <p:spPr>
          <a:xfrm>
            <a:off x="2734056" y="6172200"/>
            <a:ext cx="2093976" cy="1216152"/>
          </a:xfrm>
          <a:prstGeom prst="roundRect">
            <a:avLst>
              <a:gd name="adj" fmla="val 6015"/>
            </a:avLst>
          </a:prstGeom>
          <a:solidFill>
            <a:schemeClr val="bg2"/>
          </a:solidFill>
          <a:ln w="12700">
            <a:solidFill>
              <a:schemeClr val="bg2"/>
            </a:solidFill>
            <a:prstDash val="solid"/>
          </a:ln>
        </p:spPr>
      </p:sp>
      <p:sp>
        <p:nvSpPr>
          <p:cNvPr id="11" name="text-252"/>
          <p:cNvSpPr txBox="1"/>
          <p:nvPr/>
        </p:nvSpPr>
        <p:spPr>
          <a:xfrm>
            <a:off x="2852928"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253"/>
          <p:cNvSpPr txBox="1"/>
          <p:nvPr/>
        </p:nvSpPr>
        <p:spPr>
          <a:xfrm>
            <a:off x="2852928"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Arctic University – Main Hall · Aurora Public Library</a:t>
            </a:r>
            <a:endParaRPr lang="en-US" sz="1000" dirty="0"/>
          </a:p>
        </p:txBody>
      </p:sp>
      <p:sp>
        <p:nvSpPr>
          <p:cNvPr id="13" name="card-254"/>
          <p:cNvSpPr/>
          <p:nvPr/>
        </p:nvSpPr>
        <p:spPr>
          <a:xfrm>
            <a:off x="4919472" y="6172200"/>
            <a:ext cx="2093976" cy="1216152"/>
          </a:xfrm>
          <a:prstGeom prst="roundRect">
            <a:avLst>
              <a:gd name="adj" fmla="val 6015"/>
            </a:avLst>
          </a:prstGeom>
          <a:solidFill>
            <a:schemeClr val="bg2"/>
          </a:solidFill>
          <a:ln w="12700">
            <a:solidFill>
              <a:schemeClr val="bg2"/>
            </a:solidFill>
            <a:prstDash val="solid"/>
          </a:ln>
        </p:spPr>
      </p:sp>
      <p:sp>
        <p:nvSpPr>
          <p:cNvPr id="14" name="text-255"/>
          <p:cNvSpPr txBox="1"/>
          <p:nvPr/>
        </p:nvSpPr>
        <p:spPr>
          <a:xfrm>
            <a:off x="5038344"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256"/>
          <p:cNvSpPr txBox="1"/>
          <p:nvPr/>
        </p:nvSpPr>
        <p:spPr>
          <a:xfrm>
            <a:off x="5038344"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Arctic Stock Exchange · Aurora Green Finance Hall · Snowline Courthouse · Aurora Business Hotel</a:t>
            </a:r>
            <a:endParaRPr lang="en-US" sz="1000" dirty="0"/>
          </a:p>
        </p:txBody>
      </p:sp>
      <p:sp>
        <p:nvSpPr>
          <p:cNvPr id="16" name="card-257"/>
          <p:cNvSpPr/>
          <p:nvPr/>
        </p:nvSpPr>
        <p:spPr>
          <a:xfrm>
            <a:off x="548640" y="7479792"/>
            <a:ext cx="2093976" cy="1216152"/>
          </a:xfrm>
          <a:prstGeom prst="roundRect">
            <a:avLst>
              <a:gd name="adj" fmla="val 6015"/>
            </a:avLst>
          </a:prstGeom>
          <a:solidFill>
            <a:schemeClr val="bg2"/>
          </a:solidFill>
          <a:ln w="12700">
            <a:solidFill>
              <a:schemeClr val="bg2"/>
            </a:solidFill>
            <a:prstDash val="solid"/>
          </a:ln>
        </p:spPr>
      </p:sp>
      <p:sp>
        <p:nvSpPr>
          <p:cNvPr id="17" name="text-258"/>
          <p:cNvSpPr txBox="1"/>
          <p:nvPr/>
        </p:nvSpPr>
        <p:spPr>
          <a:xfrm>
            <a:off x="667512" y="758952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259"/>
          <p:cNvSpPr txBox="1"/>
          <p:nvPr/>
        </p:nvSpPr>
        <p:spPr>
          <a:xfrm>
            <a:off x="667512"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West Market Fire &amp; Ambulance Station · Aurora Night Market Hall · Polar Pharmacy</a:t>
            </a:r>
            <a:endParaRPr lang="en-US" sz="1000" dirty="0"/>
          </a:p>
        </p:txBody>
      </p:sp>
      <p:sp>
        <p:nvSpPr>
          <p:cNvPr id="19" name="card-260"/>
          <p:cNvSpPr/>
          <p:nvPr/>
        </p:nvSpPr>
        <p:spPr>
          <a:xfrm>
            <a:off x="2734056" y="7479792"/>
            <a:ext cx="2093976" cy="1216152"/>
          </a:xfrm>
          <a:prstGeom prst="roundRect">
            <a:avLst>
              <a:gd name="adj" fmla="val 6015"/>
            </a:avLst>
          </a:prstGeom>
          <a:solidFill>
            <a:schemeClr val="tx1"/>
          </a:solidFill>
          <a:ln w="12700">
            <a:solidFill>
              <a:schemeClr val="tx1"/>
            </a:solidFill>
            <a:prstDash val="solid"/>
          </a:ln>
        </p:spPr>
      </p:sp>
      <p:sp>
        <p:nvSpPr>
          <p:cNvPr id="20" name="text-261"/>
          <p:cNvSpPr txBox="1"/>
          <p:nvPr/>
        </p:nvSpPr>
        <p:spPr>
          <a:xfrm>
            <a:off x="2852928" y="7589520"/>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262"/>
          <p:cNvSpPr txBox="1"/>
          <p:nvPr/>
        </p:nvSpPr>
        <p:spPr>
          <a:xfrm>
            <a:off x="2852928"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bg1"/>
                </a:solidFill>
              </a:rPr>
              <a:t>Founding Mayor Monument · Civic Center · Snowflake General Hospital · Northern Lights School · Igloo Fresh · Aurora Cinema · Metro</a:t>
            </a:r>
            <a:endParaRPr lang="en-US" sz="1000" dirty="0"/>
          </a:p>
        </p:txBody>
      </p:sp>
      <p:sp>
        <p:nvSpPr>
          <p:cNvPr id="22" name="card-263"/>
          <p:cNvSpPr/>
          <p:nvPr/>
        </p:nvSpPr>
        <p:spPr>
          <a:xfrm>
            <a:off x="4919472" y="7479792"/>
            <a:ext cx="2093976" cy="1216152"/>
          </a:xfrm>
          <a:prstGeom prst="roundRect">
            <a:avLst>
              <a:gd name="adj" fmla="val 6015"/>
            </a:avLst>
          </a:prstGeom>
          <a:solidFill>
            <a:schemeClr val="bg2"/>
          </a:solidFill>
          <a:ln w="12700">
            <a:solidFill>
              <a:schemeClr val="bg2"/>
            </a:solidFill>
            <a:prstDash val="solid"/>
          </a:ln>
        </p:spPr>
      </p:sp>
      <p:sp>
        <p:nvSpPr>
          <p:cNvPr id="23" name="text-264"/>
          <p:cNvSpPr txBox="1"/>
          <p:nvPr/>
        </p:nvSpPr>
        <p:spPr>
          <a:xfrm>
            <a:off x="5038344" y="758952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265"/>
          <p:cNvSpPr txBox="1"/>
          <p:nvPr/>
        </p:nvSpPr>
        <p:spPr>
          <a:xfrm>
            <a:off x="5038344"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Glacier Mall &amp; Crystal Atrium · Snow Lantern Primary School · Northern Lights Music Hall</a:t>
            </a:r>
            <a:endParaRPr lang="en-US" sz="1000" dirty="0"/>
          </a:p>
        </p:txBody>
      </p:sp>
      <p:sp>
        <p:nvSpPr>
          <p:cNvPr id="25" name="card-266"/>
          <p:cNvSpPr/>
          <p:nvPr/>
        </p:nvSpPr>
        <p:spPr>
          <a:xfrm>
            <a:off x="548640" y="8787384"/>
            <a:ext cx="2093976" cy="1216152"/>
          </a:xfrm>
          <a:prstGeom prst="roundRect">
            <a:avLst>
              <a:gd name="adj" fmla="val 6015"/>
            </a:avLst>
          </a:prstGeom>
          <a:solidFill>
            <a:schemeClr val="bg2"/>
          </a:solidFill>
          <a:ln w="12700">
            <a:solidFill>
              <a:schemeClr val="bg2"/>
            </a:solidFill>
            <a:prstDash val="solid"/>
          </a:ln>
        </p:spPr>
      </p:sp>
      <p:sp>
        <p:nvSpPr>
          <p:cNvPr id="26" name="text-267"/>
          <p:cNvSpPr txBox="1"/>
          <p:nvPr/>
        </p:nvSpPr>
        <p:spPr>
          <a:xfrm>
            <a:off x="667512"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268"/>
          <p:cNvSpPr txBox="1"/>
          <p:nvPr/>
        </p:nvSpPr>
        <p:spPr>
          <a:xfrm>
            <a:off x="667512"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Family homes · Pinecone Kindergarten · Snowpine Senior Care Home</a:t>
            </a:r>
            <a:endParaRPr lang="en-US" sz="1000" dirty="0"/>
          </a:p>
        </p:txBody>
      </p:sp>
      <p:sp>
        <p:nvSpPr>
          <p:cNvPr id="28" name="card-269"/>
          <p:cNvSpPr/>
          <p:nvPr/>
        </p:nvSpPr>
        <p:spPr>
          <a:xfrm>
            <a:off x="2734056" y="8787384"/>
            <a:ext cx="2093976" cy="1216152"/>
          </a:xfrm>
          <a:prstGeom prst="roundRect">
            <a:avLst>
              <a:gd name="adj" fmla="val 6015"/>
            </a:avLst>
          </a:prstGeom>
          <a:solidFill>
            <a:schemeClr val="bg2"/>
          </a:solidFill>
          <a:ln w="12700">
            <a:solidFill>
              <a:schemeClr val="bg2"/>
            </a:solidFill>
            <a:prstDash val="solid"/>
          </a:ln>
        </p:spPr>
      </p:sp>
      <p:sp>
        <p:nvSpPr>
          <p:cNvPr id="29" name="text-270"/>
          <p:cNvSpPr txBox="1"/>
          <p:nvPr/>
        </p:nvSpPr>
        <p:spPr>
          <a:xfrm>
            <a:off x="2852928"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271"/>
          <p:cNvSpPr txBox="1"/>
          <p:nvPr/>
        </p:nvSpPr>
        <p:spPr>
          <a:xfrm>
            <a:off x="2852928"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Mount Aurora Guesthouse · Southside Police &amp; Mountain Rescue Post · spa shuttle street</a:t>
            </a:r>
            <a:endParaRPr lang="en-US" sz="1000" dirty="0"/>
          </a:p>
        </p:txBody>
      </p:sp>
      <p:sp>
        <p:nvSpPr>
          <p:cNvPr id="31" name="card-272"/>
          <p:cNvSpPr/>
          <p:nvPr/>
        </p:nvSpPr>
        <p:spPr>
          <a:xfrm>
            <a:off x="4919472" y="8787384"/>
            <a:ext cx="2093976" cy="1216152"/>
          </a:xfrm>
          <a:prstGeom prst="roundRect">
            <a:avLst>
              <a:gd name="adj" fmla="val 6015"/>
            </a:avLst>
          </a:prstGeom>
          <a:solidFill>
            <a:schemeClr val="bg2"/>
          </a:solidFill>
          <a:ln w="12700">
            <a:solidFill>
              <a:schemeClr val="bg2"/>
            </a:solidFill>
            <a:prstDash val="solid"/>
          </a:ln>
        </p:spPr>
      </p:sp>
      <p:sp>
        <p:nvSpPr>
          <p:cNvPr id="32" name="text-273"/>
          <p:cNvSpPr txBox="1"/>
          <p:nvPr/>
        </p:nvSpPr>
        <p:spPr>
          <a:xfrm>
            <a:off x="5038344"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274"/>
          <p:cNvSpPr txBox="1"/>
          <p:nvPr/>
        </p:nvSpPr>
        <p:spPr>
          <a:xfrm>
            <a:off x="5038344"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81 – Polar Landmark Tower · Aurora 81 Residences (Twin Towers)</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picture-275"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276"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277"/>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278"/>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279"/>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280"/>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281"/>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283"/>
          <p:cNvSpPr txBox="1"/>
          <p:nvPr/>
        </p:nvSpPr>
        <p:spPr>
          <a:xfrm>
            <a:off x="548640" y="2697480"/>
            <a:ext cx="5120640" cy="914400"/>
          </a:xfrm>
          <a:prstGeom prst="rect">
            <a:avLst/>
          </a:prstGeom>
          <a:noFill/>
          <a:ln/>
        </p:spPr>
        <p:txBody>
          <a:bodyPr wrap="square" lIns="0" tIns="0" rIns="0" bIns="0" rtlCol="0" anchor="t"/>
          <a:lstStyle/>
          <a:p>
            <a:pPr indent="0" marL="0">
              <a:lnSpc>
                <a:spcPct val="110000"/>
              </a:lnSpc>
              <a:buNone/>
            </a:pPr>
            <a:r>
              <a:rPr lang="en-US" sz="1500" i="1" dirty="0">
                <a:solidFill>
                  <a:schemeClr val="bg1"/>
                </a:solidFill>
                <a:latin typeface="+mj-lt" pitchFamily="34" charset="0"/>
                <a:ea typeface="+mj-lt" pitchFamily="34" charset="-122"/>
                <a:cs typeface="+mj-lt" pitchFamily="34" charset="-120"/>
              </a:rPr>
              <a:t>Our big idea: put a fusion reactor inside the city itself, so one machine lights every home, heats every street and melts the snow we drink.</a:t>
            </a:r>
            <a:endParaRPr lang="en-US" sz="1500" dirty="0"/>
          </a:p>
        </p:txBody>
      </p:sp>
      <p:sp>
        <p:nvSpPr>
          <p:cNvPr id="10" name="panel-284"/>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285"/>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picture-286"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sp>
        <p:nvSpPr>
          <p:cNvPr id="3" name="panel-287"/>
          <p:cNvSpPr/>
          <p:nvPr/>
        </p:nvSpPr>
        <p:spPr>
          <a:xfrm>
            <a:off x="548640" y="548640"/>
            <a:ext cx="3140964" cy="1655699"/>
          </a:xfrm>
          <a:prstGeom prst="rect">
            <a:avLst/>
          </a:prstGeom>
          <a:solidFill>
            <a:schemeClr val="tx1">
              <a:alpha val="85000"/>
            </a:schemeClr>
          </a:solidFill>
          <a:ln w="12700">
            <a:solidFill>
              <a:schemeClr val="tx1">
                <a:alpha val="0"/>
              </a:schemeClr>
            </a:solidFill>
            <a:prstDash val="solid"/>
          </a:ln>
        </p:spPr>
      </p:sp>
      <p:sp>
        <p:nvSpPr>
          <p:cNvPr id="4" name="kicker-dot-288"/>
          <p:cNvSpPr/>
          <p:nvPr/>
        </p:nvSpPr>
        <p:spPr>
          <a:xfrm>
            <a:off x="694944" y="736092"/>
            <a:ext cx="100584" cy="100584"/>
          </a:xfrm>
          <a:prstGeom prst="ellipse">
            <a:avLst/>
          </a:prstGeom>
          <a:solidFill>
            <a:schemeClr val="accent3"/>
          </a:solidFill>
          <a:ln w="12700">
            <a:solidFill>
              <a:schemeClr val="accent3"/>
            </a:solidFill>
            <a:prstDash val="solid"/>
          </a:ln>
        </p:spPr>
      </p:sp>
      <p:sp>
        <p:nvSpPr>
          <p:cNvPr id="5" name="text-289"/>
          <p:cNvSpPr txBox="1"/>
          <p:nvPr/>
        </p:nvSpPr>
        <p:spPr>
          <a:xfrm>
            <a:off x="877824"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3"/>
                </a:solidFill>
              </a:rPr>
              <a:t>WHERE THE WORLD IS TODAY</a:t>
            </a:r>
            <a:endParaRPr lang="en-US" sz="900" dirty="0"/>
          </a:p>
        </p:txBody>
      </p:sp>
      <p:sp>
        <p:nvSpPr>
          <p:cNvPr id="6" name="text-290"/>
          <p:cNvSpPr txBox="1"/>
          <p:nvPr/>
        </p:nvSpPr>
        <p:spPr>
          <a:xfrm>
            <a:off x="694944" y="969264"/>
            <a:ext cx="2848356" cy="1143635"/>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Fusion is still being tested. The compact SPARC tokamak aims for its first plasma around 2027 [5], and ITER in France plans to burn deuterium–tritium fuel in 2039 [4]. No fusion plant sells power yet: Aurora Haven is designed for the day one does.</a:t>
            </a:r>
            <a:endParaRPr lang="en-US" sz="950" dirty="0"/>
          </a:p>
        </p:txBody>
      </p:sp>
      <p:sp>
        <p:nvSpPr>
          <p:cNvPr id="7" name="panel-291"/>
          <p:cNvSpPr/>
          <p:nvPr/>
        </p:nvSpPr>
        <p:spPr>
          <a:xfrm>
            <a:off x="3872484" y="548640"/>
            <a:ext cx="3140964" cy="2001774"/>
          </a:xfrm>
          <a:prstGeom prst="rect">
            <a:avLst/>
          </a:prstGeom>
          <a:solidFill>
            <a:schemeClr val="tx1">
              <a:alpha val="85000"/>
            </a:schemeClr>
          </a:solidFill>
          <a:ln w="12700">
            <a:solidFill>
              <a:schemeClr val="tx1">
                <a:alpha val="0"/>
              </a:schemeClr>
            </a:solidFill>
            <a:prstDash val="solid"/>
          </a:ln>
        </p:spPr>
      </p:sp>
      <p:sp>
        <p:nvSpPr>
          <p:cNvPr id="8" name="kicker-dot-292"/>
          <p:cNvSpPr/>
          <p:nvPr/>
        </p:nvSpPr>
        <p:spPr>
          <a:xfrm>
            <a:off x="4018788" y="736092"/>
            <a:ext cx="100584" cy="100584"/>
          </a:xfrm>
          <a:prstGeom prst="ellipse">
            <a:avLst/>
          </a:prstGeom>
          <a:solidFill>
            <a:schemeClr val="accent3"/>
          </a:solidFill>
          <a:ln w="12700">
            <a:solidFill>
              <a:schemeClr val="accent3"/>
            </a:solidFill>
            <a:prstDash val="solid"/>
          </a:ln>
        </p:spPr>
      </p:sp>
      <p:sp>
        <p:nvSpPr>
          <p:cNvPr id="9" name="text-293"/>
          <p:cNvSpPr txBox="1"/>
          <p:nvPr/>
        </p:nvSpPr>
        <p:spPr>
          <a:xfrm>
            <a:off x="4201668"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3"/>
                </a:solidFill>
              </a:rPr>
              <a:t>REALITY CHECK</a:t>
            </a:r>
            <a:endParaRPr lang="en-US" sz="900" dirty="0"/>
          </a:p>
        </p:txBody>
      </p:sp>
      <p:sp>
        <p:nvSpPr>
          <p:cNvPr id="10" name="text-294"/>
          <p:cNvSpPr txBox="1"/>
          <p:nvPr/>
        </p:nvSpPr>
        <p:spPr>
          <a:xfrm>
            <a:off x="4018788" y="969264"/>
            <a:ext cx="2848356"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 0.2 kg a day</a:t>
            </a:r>
            <a:endParaRPr lang="en-US" sz="2400" dirty="0"/>
          </a:p>
        </p:txBody>
      </p:sp>
      <p:sp>
        <p:nvSpPr>
          <p:cNvPr id="11" name="text-295"/>
          <p:cNvSpPr txBox="1"/>
          <p:nvPr/>
        </p:nvSpPr>
        <p:spPr>
          <a:xfrm>
            <a:off x="4018788" y="147218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A day at 800 MW needs about 0.2 kg of fuel, close to our 170 g design. Breeding tritium at scale is unproven [11] and ITER costs €18–22 billion [12], so the city starts on wind, sun and geothermal power (page 27).</a:t>
            </a:r>
            <a:endParaRPr lang="en-US" sz="950" dirty="0"/>
          </a:p>
        </p:txBody>
      </p:sp>
      <p:pic>
        <p:nvPicPr>
          <p:cNvPr id="12" name="shade-bottom-296"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13" name="text-297"/>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298"/>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29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30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302"/>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303"/>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304"/>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05"/>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306"/>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307"/>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308"/>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09"/>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10"/>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the tritium the reactor burns inside sealed, leak-monitored loops, so none is imported. Recovered helium cools MRI scanners.</a:t>
            </a:r>
            <a:endParaRPr lang="en-US" sz="950" dirty="0"/>
          </a:p>
        </p:txBody>
      </p:sp>
      <p:sp>
        <p:nvSpPr>
          <p:cNvPr id="15" name="marker-311"/>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12"/>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13"/>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14"/>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If anything fails, the plasma simply goes out: it cannot melt down.</a:t>
            </a:r>
            <a:endParaRPr lang="en-US" sz="950" dirty="0"/>
          </a:p>
        </p:txBody>
      </p:sp>
      <p:sp>
        <p:nvSpPr>
          <p:cNvPr id="19" name="marker-315"/>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16"/>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17"/>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18"/>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Turbines driven by CO₂ sealed in a closed loop make about 300 MW of electricity and send about 450 MW of heat to the city.</a:t>
            </a:r>
            <a:endParaRPr lang="en-US" sz="950" dirty="0"/>
          </a:p>
        </p:txBody>
      </p:sp>
      <p:sp>
        <p:nvSpPr>
          <p:cNvPr id="23" name="marker-319"/>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20"/>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21"/>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22"/>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tonnes of rubbish a day into hydrogen and CO₂ for the food plant, metals and paving blocks.</a:t>
            </a:r>
            <a:endParaRPr lang="en-US" sz="950" dirty="0"/>
          </a:p>
        </p:txBody>
      </p:sp>
      <p:sp>
        <p:nvSpPr>
          <p:cNvPr id="27" name="marker-323"/>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24"/>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25"/>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26"/>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card-327"/>
          <p:cNvSpPr/>
          <p:nvPr/>
        </p:nvSpPr>
        <p:spPr>
          <a:xfrm>
            <a:off x="5074920" y="5369215"/>
            <a:ext cx="1938528" cy="4552025"/>
          </a:xfrm>
          <a:prstGeom prst="roundRect">
            <a:avLst>
              <a:gd name="adj" fmla="val 3774"/>
            </a:avLst>
          </a:prstGeom>
          <a:solidFill>
            <a:schemeClr val="bg2"/>
          </a:solidFill>
          <a:ln w="12700">
            <a:solidFill>
              <a:schemeClr val="bg2"/>
            </a:solidFill>
            <a:prstDash val="solid"/>
          </a:ln>
        </p:spPr>
      </p:sp>
      <p:sp>
        <p:nvSpPr>
          <p:cNvPr id="32" name="kicker-dot-328"/>
          <p:cNvSpPr/>
          <p:nvPr/>
        </p:nvSpPr>
        <p:spPr>
          <a:xfrm>
            <a:off x="5221224" y="5556667"/>
            <a:ext cx="100584" cy="100584"/>
          </a:xfrm>
          <a:prstGeom prst="ellipse">
            <a:avLst/>
          </a:prstGeom>
          <a:solidFill>
            <a:schemeClr val="accent3"/>
          </a:solidFill>
          <a:ln w="12700">
            <a:solidFill>
              <a:schemeClr val="accent3"/>
            </a:solidFill>
            <a:prstDash val="solid"/>
          </a:ln>
        </p:spPr>
      </p:sp>
      <p:sp>
        <p:nvSpPr>
          <p:cNvPr id="33" name="text-329"/>
          <p:cNvSpPr txBox="1"/>
          <p:nvPr/>
        </p:nvSpPr>
        <p:spPr>
          <a:xfrm>
            <a:off x="5404104" y="5515519"/>
            <a:ext cx="1609344" cy="384048"/>
          </a:xfrm>
          <a:prstGeom prst="rect">
            <a:avLst/>
          </a:prstGeom>
          <a:noFill/>
          <a:ln/>
        </p:spPr>
        <p:txBody>
          <a:bodyPr wrap="square" lIns="0" tIns="0" rIns="0" bIns="0" rtlCol="0" anchor="t"/>
          <a:lstStyle/>
          <a:p>
            <a:pPr indent="0" marL="0">
              <a:buNone/>
            </a:pPr>
            <a:r>
              <a:rPr lang="en-US" sz="900" b="1" spc="300" kern="0" dirty="0">
                <a:solidFill>
                  <a:schemeClr val="accent3"/>
                </a:solidFill>
              </a:rPr>
              <a:t>WHY IT’S GREEN</a:t>
            </a:r>
            <a:endParaRPr lang="en-US" sz="900" dirty="0"/>
          </a:p>
        </p:txBody>
      </p:sp>
      <p:sp>
        <p:nvSpPr>
          <p:cNvPr id="34" name="text-330"/>
          <p:cNvSpPr txBox="1"/>
          <p:nvPr/>
        </p:nvSpPr>
        <p:spPr>
          <a:xfrm>
            <a:off x="5221224" y="5789839"/>
            <a:ext cx="1645920" cy="4039961"/>
          </a:xfrm>
          <a:prstGeom prst="rect">
            <a:avLst/>
          </a:prstGeom>
          <a:noFill/>
          <a:ln/>
        </p:spPr>
        <p:txBody>
          <a:bodyPr wrap="square" lIns="0" tIns="0" rIns="0" bIns="0" rtlCol="0" anchor="t"/>
          <a:lstStyle/>
          <a:p>
            <a:pPr indent="0" marL="0">
              <a:lnSpc>
                <a:spcPct val="106000"/>
              </a:lnSpc>
              <a:buNone/>
            </a:pPr>
            <a:r>
              <a:rPr lang="en-US" sz="850" b="1" dirty="0">
                <a:solidFill>
                  <a:schemeClr val="accent3"/>
                </a:solidFill>
              </a:rPr>
              <a:t>94% used. </a:t>
            </a:r>
            <a:pPr indent="0" marL="0">
              <a:lnSpc>
                <a:spcPct val="106000"/>
              </a:lnSpc>
              <a:spcAft>
                <a:spcPts val="400"/>
              </a:spcAft>
              <a:buNone/>
            </a:pPr>
            <a:r>
              <a:rPr lang="en-US" sz="850" dirty="0">
                <a:solidFill>
                  <a:schemeClr val="tx1"/>
                </a:solidFill>
              </a:rPr>
              <a:t>Of 800 MW of heat, 300 MW becomes power and 450 MW warms the city.</a:t>
            </a:r>
            <a:endParaRPr lang="en-US" sz="850" dirty="0"/>
          </a:p>
          <a:p>
            <a:pPr indent="0" marL="0">
              <a:lnSpc>
                <a:spcPct val="106000"/>
              </a:lnSpc>
              <a:buNone/>
            </a:pPr>
            <a:r>
              <a:rPr lang="en-US" sz="850" b="1" dirty="0">
                <a:solidFill>
                  <a:schemeClr val="accent3"/>
                </a:solidFill>
              </a:rPr>
              <a:t>No CO₂. </a:t>
            </a:r>
            <a:pPr indent="0" marL="0">
              <a:lnSpc>
                <a:spcPct val="106000"/>
              </a:lnSpc>
              <a:spcAft>
                <a:spcPts val="400"/>
              </a:spcAft>
              <a:buNone/>
            </a:pPr>
            <a:r>
              <a:rPr lang="en-US" sz="850" dirty="0">
                <a:solidFill>
                  <a:schemeClr val="tx1"/>
                </a:solidFill>
              </a:rPr>
              <a:t>Nothing burns, and the turbines’ CO₂ never leaves its loop.</a:t>
            </a:r>
            <a:endParaRPr lang="en-US" sz="850" dirty="0"/>
          </a:p>
          <a:p>
            <a:pPr indent="0" marL="0">
              <a:lnSpc>
                <a:spcPct val="106000"/>
              </a:lnSpc>
              <a:buNone/>
            </a:pPr>
            <a:r>
              <a:rPr lang="en-US" sz="850" b="1" dirty="0">
                <a:solidFill>
                  <a:schemeClr val="accent3"/>
                </a:solidFill>
              </a:rPr>
              <a:t>Fuel from snow. </a:t>
            </a:r>
            <a:pPr indent="0" marL="0">
              <a:lnSpc>
                <a:spcPct val="106000"/>
              </a:lnSpc>
              <a:spcAft>
                <a:spcPts val="400"/>
              </a:spcAft>
              <a:buNone/>
            </a:pPr>
            <a:r>
              <a:rPr lang="en-US" sz="850" dirty="0">
                <a:solidFill>
                  <a:schemeClr val="tx1"/>
                </a:solidFill>
              </a:rPr>
              <a:t>Deuterium comes from meltwater: no mines, no tankers.</a:t>
            </a:r>
            <a:endParaRPr lang="en-US" sz="850" dirty="0"/>
          </a:p>
          <a:p>
            <a:pPr indent="0" marL="0">
              <a:lnSpc>
                <a:spcPct val="106000"/>
              </a:lnSpc>
              <a:buNone/>
            </a:pPr>
            <a:r>
              <a:rPr lang="en-US" sz="850" b="1" dirty="0">
                <a:solidFill>
                  <a:schemeClr val="accent3"/>
                </a:solidFill>
              </a:rPr>
              <a:t>Rubbish reused. </a:t>
            </a:r>
            <a:pPr indent="0" marL="0">
              <a:lnSpc>
                <a:spcPct val="106000"/>
              </a:lnSpc>
              <a:spcAft>
                <a:spcPts val="400"/>
              </a:spcAft>
              <a:buNone/>
            </a:pPr>
            <a:r>
              <a:rPr lang="en-US" sz="850" dirty="0">
                <a:solidFill>
                  <a:schemeClr val="tx1"/>
                </a:solidFill>
              </a:rPr>
              <a:t>The converter’s hydrogen and CO₂ feed the food plant.</a:t>
            </a:r>
            <a:endParaRPr lang="en-US" sz="850" dirty="0"/>
          </a:p>
          <a:p>
            <a:pPr indent="0" marL="0">
              <a:lnSpc>
                <a:spcPct val="106000"/>
              </a:lnSpc>
              <a:buNone/>
            </a:pPr>
            <a:r>
              <a:rPr lang="en-US" sz="850" b="1" dirty="0">
                <a:solidFill>
                  <a:schemeClr val="accent3"/>
                </a:solidFill>
              </a:rPr>
              <a:t>Little waste. </a:t>
            </a:r>
            <a:pPr indent="0" marL="0">
              <a:lnSpc>
                <a:spcPct val="106000"/>
              </a:lnSpc>
              <a:spcAft>
                <a:spcPts val="400"/>
              </a:spcAft>
              <a:buNone/>
            </a:pPr>
            <a:r>
              <a:rPr lang="en-US" sz="850" dirty="0">
                <a:solidFill>
                  <a:schemeClr val="tx1"/>
                </a:solidFill>
              </a:rPr>
              <a:t>Its radioactive waste is mostly short-lived, under 100 years, unlike spent fission fuel [20].</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31"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32"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33"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34"/>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35"/>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36"/>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37"/>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38"/>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40"/>
          <p:cNvSpPr txBox="1"/>
          <p:nvPr/>
        </p:nvSpPr>
        <p:spPr>
          <a:xfrm>
            <a:off x="548640" y="3246120"/>
            <a:ext cx="5669280" cy="73152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Our big idea: a factory that bakes bread and pours drinking water out of snow and air, so a city with no farmland can feed itself.</a:t>
            </a:r>
            <a:endParaRPr lang="en-US" sz="1450" dirty="0"/>
          </a:p>
        </p:txBody>
      </p:sp>
      <p:sp>
        <p:nvSpPr>
          <p:cNvPr id="11" name="text-341"/>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42"/>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43"/>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44"/>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4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4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48"/>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49"/>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50"/>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51"/>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52"/>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53"/>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54"/>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55"/>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56"/>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57"/>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58"/>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59"/>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60"/>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tonnes of hydrogen a day; the oxygen goes to the hospital and the waste converter.</a:t>
            </a:r>
            <a:endParaRPr lang="en-US" sz="950" dirty="0"/>
          </a:p>
        </p:txBody>
      </p:sp>
      <p:sp>
        <p:nvSpPr>
          <p:cNvPr id="19" name="marker-361"/>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62"/>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63"/>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364"/>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365"/>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366"/>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67"/>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368"/>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369"/>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370"/>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371"/>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372"/>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card-373"/>
          <p:cNvSpPr/>
          <p:nvPr/>
        </p:nvSpPr>
        <p:spPr>
          <a:xfrm>
            <a:off x="5074920" y="5257800"/>
            <a:ext cx="1938528" cy="2263140"/>
          </a:xfrm>
          <a:prstGeom prst="roundRect">
            <a:avLst>
              <a:gd name="adj" fmla="val 3774"/>
            </a:avLst>
          </a:prstGeom>
          <a:solidFill>
            <a:schemeClr val="bg2"/>
          </a:solidFill>
          <a:ln w="12700">
            <a:solidFill>
              <a:schemeClr val="bg2"/>
            </a:solidFill>
            <a:prstDash val="solid"/>
          </a:ln>
        </p:spPr>
      </p:sp>
      <p:sp>
        <p:nvSpPr>
          <p:cNvPr id="32" name="kicker-dot-374"/>
          <p:cNvSpPr/>
          <p:nvPr/>
        </p:nvSpPr>
        <p:spPr>
          <a:xfrm>
            <a:off x="5221224" y="5445252"/>
            <a:ext cx="100584" cy="100584"/>
          </a:xfrm>
          <a:prstGeom prst="ellipse">
            <a:avLst/>
          </a:prstGeom>
          <a:solidFill>
            <a:schemeClr val="accent4"/>
          </a:solidFill>
          <a:ln w="12700">
            <a:solidFill>
              <a:schemeClr val="accent4"/>
            </a:solidFill>
            <a:prstDash val="solid"/>
          </a:ln>
        </p:spPr>
      </p:sp>
      <p:sp>
        <p:nvSpPr>
          <p:cNvPr id="33" name="text-375"/>
          <p:cNvSpPr txBox="1"/>
          <p:nvPr/>
        </p:nvSpPr>
        <p:spPr>
          <a:xfrm>
            <a:off x="5404104" y="5404104"/>
            <a:ext cx="1609344" cy="384048"/>
          </a:xfrm>
          <a:prstGeom prst="rect">
            <a:avLst/>
          </a:prstGeom>
          <a:noFill/>
          <a:ln/>
        </p:spPr>
        <p:txBody>
          <a:bodyPr wrap="square" lIns="0" tIns="0" rIns="0" bIns="0" rtlCol="0" anchor="t"/>
          <a:lstStyle/>
          <a:p>
            <a:pPr indent="0" marL="0">
              <a:buNone/>
            </a:pPr>
            <a:r>
              <a:rPr lang="en-US" sz="900" b="1" spc="300" kern="0" dirty="0">
                <a:solidFill>
                  <a:schemeClr val="accent4"/>
                </a:solidFill>
              </a:rPr>
              <a:t>WHERE THE WORLD IS TODAY</a:t>
            </a:r>
            <a:endParaRPr lang="en-US" sz="900" dirty="0"/>
          </a:p>
        </p:txBody>
      </p:sp>
      <p:sp>
        <p:nvSpPr>
          <p:cNvPr id="34" name="text-376"/>
          <p:cNvSpPr txBox="1"/>
          <p:nvPr/>
        </p:nvSpPr>
        <p:spPr>
          <a:xfrm>
            <a:off x="5221224" y="5861304"/>
            <a:ext cx="1645920" cy="1568196"/>
          </a:xfrm>
          <a:prstGeom prst="rect">
            <a:avLst/>
          </a:prstGeom>
          <a:noFill/>
          <a:ln/>
        </p:spPr>
        <p:txBody>
          <a:bodyPr wrap="square" lIns="0" tIns="0" rIns="0" bIns="0" rtlCol="0" anchor="t"/>
          <a:lstStyle/>
          <a:p>
            <a:pPr indent="0" marL="0">
              <a:lnSpc>
                <a:spcPct val="106000"/>
              </a:lnSpc>
              <a:buNone/>
            </a:pPr>
            <a:r>
              <a:rPr lang="en-US" sz="950" dirty="0">
                <a:solidFill>
                  <a:schemeClr val="tx1"/>
                </a:solidFill>
              </a:rPr>
              <a:t>Each step exists, but apart: Solein protein from Finland [6], starch made from CO₂ in a lab [7] and air capture in Iceland [8]. We link them in one plant.</a:t>
            </a:r>
            <a:endParaRPr lang="en-US" sz="950" dirty="0"/>
          </a:p>
        </p:txBody>
      </p:sp>
      <p:sp>
        <p:nvSpPr>
          <p:cNvPr id="35" name="card-377"/>
          <p:cNvSpPr/>
          <p:nvPr/>
        </p:nvSpPr>
        <p:spPr>
          <a:xfrm>
            <a:off x="5074920" y="7658100"/>
            <a:ext cx="1938528" cy="2263140"/>
          </a:xfrm>
          <a:prstGeom prst="roundRect">
            <a:avLst>
              <a:gd name="adj" fmla="val 3774"/>
            </a:avLst>
          </a:prstGeom>
          <a:solidFill>
            <a:schemeClr val="bg2"/>
          </a:solidFill>
          <a:ln w="12700">
            <a:solidFill>
              <a:schemeClr val="bg2"/>
            </a:solidFill>
            <a:prstDash val="solid"/>
          </a:ln>
        </p:spPr>
      </p:sp>
      <p:sp>
        <p:nvSpPr>
          <p:cNvPr id="36" name="kicker-dot-378"/>
          <p:cNvSpPr/>
          <p:nvPr/>
        </p:nvSpPr>
        <p:spPr>
          <a:xfrm>
            <a:off x="5221224" y="7845552"/>
            <a:ext cx="100584" cy="100584"/>
          </a:xfrm>
          <a:prstGeom prst="ellipse">
            <a:avLst/>
          </a:prstGeom>
          <a:solidFill>
            <a:schemeClr val="accent4"/>
          </a:solidFill>
          <a:ln w="12700">
            <a:solidFill>
              <a:schemeClr val="accent4"/>
            </a:solidFill>
            <a:prstDash val="solid"/>
          </a:ln>
        </p:spPr>
      </p:sp>
      <p:sp>
        <p:nvSpPr>
          <p:cNvPr id="37" name="text-379"/>
          <p:cNvSpPr txBox="1"/>
          <p:nvPr/>
        </p:nvSpPr>
        <p:spPr>
          <a:xfrm>
            <a:off x="5404104" y="7804404"/>
            <a:ext cx="1609344" cy="384048"/>
          </a:xfrm>
          <a:prstGeom prst="rect">
            <a:avLst/>
          </a:prstGeom>
          <a:noFill/>
          <a:ln/>
        </p:spPr>
        <p:txBody>
          <a:bodyPr wrap="square" lIns="0" tIns="0" rIns="0" bIns="0" rtlCol="0" anchor="t"/>
          <a:lstStyle/>
          <a:p>
            <a:pPr indent="0" marL="0">
              <a:buNone/>
            </a:pPr>
            <a:r>
              <a:rPr lang="en-US" sz="900" b="1" spc="300" kern="0" dirty="0">
                <a:solidFill>
                  <a:schemeClr val="accent4"/>
                </a:solidFill>
              </a:rPr>
              <a:t>REALITY CHECK</a:t>
            </a:r>
            <a:endParaRPr lang="en-US" sz="900" dirty="0"/>
          </a:p>
        </p:txBody>
      </p:sp>
      <p:sp>
        <p:nvSpPr>
          <p:cNvPr id="38" name="text-380"/>
          <p:cNvSpPr txBox="1"/>
          <p:nvPr/>
        </p:nvSpPr>
        <p:spPr>
          <a:xfrm>
            <a:off x="5221224" y="8078724"/>
            <a:ext cx="1645920" cy="457200"/>
          </a:xfrm>
          <a:prstGeom prst="rect">
            <a:avLst/>
          </a:prstGeom>
          <a:noFill/>
          <a:ln/>
        </p:spPr>
        <p:txBody>
          <a:bodyPr wrap="square" lIns="0" tIns="0" rIns="0" bIns="0" rtlCol="0" anchor="t"/>
          <a:lstStyle/>
          <a:p>
            <a:pPr indent="0" marL="0">
              <a:buNone/>
            </a:pPr>
            <a:r>
              <a:rPr lang="en-US" sz="2000" b="1" dirty="0">
                <a:solidFill>
                  <a:schemeClr val="accent4"/>
                </a:solidFill>
                <a:latin typeface="+mj-lt" pitchFamily="34" charset="0"/>
                <a:ea typeface="+mj-lt" pitchFamily="34" charset="-122"/>
                <a:cs typeface="+mj-lt" pitchFamily="34" charset="-120"/>
              </a:rPr>
              <a:t>≈ 13 MW</a:t>
            </a:r>
            <a:endParaRPr lang="en-US" sz="2000" dirty="0"/>
          </a:p>
        </p:txBody>
      </p:sp>
      <p:sp>
        <p:nvSpPr>
          <p:cNvPr id="39" name="text-381"/>
          <p:cNvSpPr txBox="1"/>
          <p:nvPr/>
        </p:nvSpPr>
        <p:spPr>
          <a:xfrm>
            <a:off x="5221224" y="8581644"/>
            <a:ext cx="1645920" cy="1248156"/>
          </a:xfrm>
          <a:prstGeom prst="rect">
            <a:avLst/>
          </a:prstGeom>
          <a:noFill/>
          <a:ln/>
        </p:spPr>
        <p:txBody>
          <a:bodyPr wrap="square" lIns="0" tIns="0" rIns="0" bIns="0" rtlCol="0" anchor="t"/>
          <a:lstStyle/>
          <a:p>
            <a:pPr indent="0" marL="0">
              <a:lnSpc>
                <a:spcPct val="106000"/>
              </a:lnSpc>
              <a:buNone/>
            </a:pPr>
            <a:r>
              <a:rPr lang="en-US" sz="950" dirty="0">
                <a:solidFill>
                  <a:schemeClr val="tx1"/>
                </a:solidFill>
              </a:rPr>
              <a:t>Melting 3,000 tonnes of snow a day takes about 13 MW, inside the 14 MW of spare fusion heat. Starch from CO₂ is still lab-scale [7].</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382"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383" descr="/home/user/chatbox-bi-n-o/magazine/assets/ui/shade_top.png">    </p:cNvPr>
          <p:cNvPicPr>
            <a:picLocks noChangeAspect="1"/>
          </p:cNvPicPr>
          <p:nvPr/>
        </p:nvPicPr>
        <p:blipFill>
          <a:blip r:embed="rId2"/>
          <a:stretch>
            <a:fillRect/>
          </a:stretch>
        </p:blipFill>
        <p:spPr>
          <a:xfrm>
            <a:off x="0" y="0"/>
            <a:ext cx="7562088" cy="4389120"/>
          </a:xfrm>
          <a:prstGeom prst="rect">
            <a:avLst/>
          </a:prstGeom>
        </p:spPr>
      </p:pic>
      <p:pic>
        <p:nvPicPr>
          <p:cNvPr id="4" name="shade-bottom-384"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385"/>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386"/>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387"/>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388"/>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a:t>
            </a:r>
            <a:endParaRPr lang="en-US" sz="900" dirty="0"/>
          </a:p>
        </p:txBody>
      </p:sp>
      <p:sp>
        <p:nvSpPr>
          <p:cNvPr id="9" name="title-389"/>
          <p:cNvSpPr txBox="1"/>
          <p:nvPr/>
        </p:nvSpPr>
        <p:spPr>
          <a:xfrm>
            <a:off x="548640" y="1764792"/>
            <a:ext cx="6464808" cy="132588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Snow Mountain</a:t>
            </a:r>
            <a:endParaRPr lang="en-US" sz="3800" dirty="0"/>
          </a:p>
          <a:p>
            <a:pPr indent="0" marL="0">
              <a:lnSpc>
                <a:spcPct val="92000"/>
              </a:lnSpc>
              <a:buNone/>
            </a:pPr>
            <a:r>
              <a:rPr lang="en-US" sz="3800" b="1" dirty="0">
                <a:solidFill>
                  <a:schemeClr val="bg1"/>
                </a:solidFill>
                <a:latin typeface="+mj-lt" pitchFamily="34" charset="0"/>
                <a:ea typeface="+mj-lt" pitchFamily="34" charset="-122"/>
                <a:cs typeface="+mj-lt" pitchFamily="34" charset="-120"/>
              </a:rPr>
              <a:t>You Can Walk Inside</a:t>
            </a:r>
            <a:endParaRPr lang="en-US" sz="3800" dirty="0"/>
          </a:p>
        </p:txBody>
      </p:sp>
      <p:sp>
        <p:nvSpPr>
          <p:cNvPr id="10" name="text-391"/>
          <p:cNvSpPr txBox="1"/>
          <p:nvPr/>
        </p:nvSpPr>
        <p:spPr>
          <a:xfrm>
            <a:off x="548640" y="3200400"/>
            <a:ext cx="585216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Our big idea: the mountain is the building. Inside a 35-metre snow peak shaped like Nepal’s Ama Dablam, a whole leisure world stays at 28 °C all winter.</a:t>
            </a:r>
            <a:endParaRPr lang="en-US" sz="1400" dirty="0"/>
          </a:p>
        </p:txBody>
      </p:sp>
      <p:sp>
        <p:nvSpPr>
          <p:cNvPr id="11" name="text-392"/>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393"/>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394"/>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picture-395"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396"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397"/>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398"/>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399"/>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401"/>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402"/>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03"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sp>
        <p:nvSpPr>
          <p:cNvPr id="3" name="panel-404"/>
          <p:cNvSpPr/>
          <p:nvPr/>
        </p:nvSpPr>
        <p:spPr>
          <a:xfrm>
            <a:off x="548640" y="548640"/>
            <a:ext cx="3140964" cy="1498854"/>
          </a:xfrm>
          <a:prstGeom prst="rect">
            <a:avLst/>
          </a:prstGeom>
          <a:solidFill>
            <a:schemeClr val="tx1">
              <a:alpha val="85000"/>
            </a:schemeClr>
          </a:solidFill>
          <a:ln w="12700">
            <a:solidFill>
              <a:schemeClr val="tx1">
                <a:alpha val="0"/>
              </a:schemeClr>
            </a:solidFill>
            <a:prstDash val="solid"/>
          </a:ln>
        </p:spPr>
      </p:sp>
      <p:sp>
        <p:nvSpPr>
          <p:cNvPr id="4" name="kicker-dot-405"/>
          <p:cNvSpPr/>
          <p:nvPr/>
        </p:nvSpPr>
        <p:spPr>
          <a:xfrm>
            <a:off x="694944" y="736092"/>
            <a:ext cx="100584" cy="100584"/>
          </a:xfrm>
          <a:prstGeom prst="ellipse">
            <a:avLst/>
          </a:prstGeom>
          <a:solidFill>
            <a:schemeClr val="accent5"/>
          </a:solidFill>
          <a:ln w="12700">
            <a:solidFill>
              <a:schemeClr val="accent5"/>
            </a:solidFill>
            <a:prstDash val="solid"/>
          </a:ln>
        </p:spPr>
      </p:sp>
      <p:sp>
        <p:nvSpPr>
          <p:cNvPr id="5" name="text-406"/>
          <p:cNvSpPr txBox="1"/>
          <p:nvPr/>
        </p:nvSpPr>
        <p:spPr>
          <a:xfrm>
            <a:off x="877824"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5"/>
                </a:solidFill>
              </a:rPr>
              <a:t>WHERE THE WORLD IS TODAY</a:t>
            </a:r>
            <a:endParaRPr lang="en-US" sz="900" dirty="0"/>
          </a:p>
        </p:txBody>
      </p:sp>
      <p:sp>
        <p:nvSpPr>
          <p:cNvPr id="6" name="text-407"/>
          <p:cNvSpPr txBox="1"/>
          <p:nvPr/>
        </p:nvSpPr>
        <p:spPr>
          <a:xfrm>
            <a:off x="694944" y="96926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Iceland’s Blue Lagoon bathes visitors in 37–39 °C water from a geothermal power plant [9], and Switzerland’s Therme Vals is cut into a hillside [10]. Mount Aurora goes further: the whole snow peak becomes the building.</a:t>
            </a:r>
            <a:endParaRPr lang="en-US" sz="950" dirty="0"/>
          </a:p>
        </p:txBody>
      </p:sp>
      <p:sp>
        <p:nvSpPr>
          <p:cNvPr id="7" name="panel-408"/>
          <p:cNvSpPr/>
          <p:nvPr/>
        </p:nvSpPr>
        <p:spPr>
          <a:xfrm>
            <a:off x="3872484" y="548640"/>
            <a:ext cx="3140964" cy="2001774"/>
          </a:xfrm>
          <a:prstGeom prst="rect">
            <a:avLst/>
          </a:prstGeom>
          <a:solidFill>
            <a:schemeClr val="tx1">
              <a:alpha val="85000"/>
            </a:schemeClr>
          </a:solidFill>
          <a:ln w="12700">
            <a:solidFill>
              <a:schemeClr val="tx1">
                <a:alpha val="0"/>
              </a:schemeClr>
            </a:solidFill>
            <a:prstDash val="solid"/>
          </a:ln>
        </p:spPr>
      </p:sp>
      <p:sp>
        <p:nvSpPr>
          <p:cNvPr id="8" name="kicker-dot-409"/>
          <p:cNvSpPr/>
          <p:nvPr/>
        </p:nvSpPr>
        <p:spPr>
          <a:xfrm>
            <a:off x="4018788" y="736092"/>
            <a:ext cx="100584" cy="100584"/>
          </a:xfrm>
          <a:prstGeom prst="ellipse">
            <a:avLst/>
          </a:prstGeom>
          <a:solidFill>
            <a:schemeClr val="accent5"/>
          </a:solidFill>
          <a:ln w="12700">
            <a:solidFill>
              <a:schemeClr val="accent5"/>
            </a:solidFill>
            <a:prstDash val="solid"/>
          </a:ln>
        </p:spPr>
      </p:sp>
      <p:sp>
        <p:nvSpPr>
          <p:cNvPr id="9" name="text-410"/>
          <p:cNvSpPr txBox="1"/>
          <p:nvPr/>
        </p:nvSpPr>
        <p:spPr>
          <a:xfrm>
            <a:off x="4201668"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5"/>
                </a:solidFill>
              </a:rPr>
              <a:t>REALITY CHECK</a:t>
            </a:r>
            <a:endParaRPr lang="en-US" sz="900" dirty="0"/>
          </a:p>
        </p:txBody>
      </p:sp>
      <p:sp>
        <p:nvSpPr>
          <p:cNvPr id="10" name="text-411"/>
          <p:cNvSpPr txBox="1"/>
          <p:nvPr/>
        </p:nvSpPr>
        <p:spPr>
          <a:xfrm>
            <a:off x="4018788" y="969264"/>
            <a:ext cx="2848356"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73 °C apart</a:t>
            </a:r>
            <a:endParaRPr lang="en-US" sz="2400" dirty="0"/>
          </a:p>
        </p:txBody>
      </p:sp>
      <p:sp>
        <p:nvSpPr>
          <p:cNvPr id="11" name="text-412"/>
          <p:cNvSpPr txBox="1"/>
          <p:nvPr/>
        </p:nvSpPr>
        <p:spPr>
          <a:xfrm>
            <a:off x="4018788" y="147218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An insulated rock shell holds 28 °C inside at −45 °C outside. It needs a hot spring below, to be confirmed by drilling, and thermosyphons like the Trans-Alaska Pipeline’s [14] keep the ground frozen.</a:t>
            </a:r>
            <a:endParaRPr lang="en-US" sz="950" dirty="0"/>
          </a:p>
        </p:txBody>
      </p:sp>
      <p:pic>
        <p:nvPicPr>
          <p:cNvPr id="12" name="shade-bottom-413" descr="/home/user/chatbox-bi-n-o/magazine/assets/ui/shade_bottom.png">    </p:cNvPr>
          <p:cNvPicPr>
            <a:picLocks noChangeAspect="1"/>
          </p:cNvPicPr>
          <p:nvPr/>
        </p:nvPicPr>
        <p:blipFill>
          <a:blip r:embed="rId2"/>
          <a:stretch>
            <a:fillRect/>
          </a:stretch>
        </p:blipFill>
        <p:spPr>
          <a:xfrm>
            <a:off x="0" y="8778240"/>
            <a:ext cx="7562088" cy="1911096"/>
          </a:xfrm>
          <a:prstGeom prst="rect">
            <a:avLst/>
          </a:prstGeom>
        </p:spPr>
      </p:pic>
      <p:sp>
        <p:nvSpPr>
          <p:cNvPr id="13" name="text-414"/>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415"/>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1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1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19"/>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20"/>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21"/>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22"/>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23"/>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24"/>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425"/>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426"/>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427"/>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428"/>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429"/>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430"/>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431"/>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card-432"/>
          <p:cNvSpPr/>
          <p:nvPr/>
        </p:nvSpPr>
        <p:spPr>
          <a:xfrm>
            <a:off x="548640" y="8590377"/>
            <a:ext cx="6464808" cy="777240"/>
          </a:xfrm>
          <a:prstGeom prst="roundRect">
            <a:avLst>
              <a:gd name="adj" fmla="val 9412"/>
            </a:avLst>
          </a:prstGeom>
          <a:solidFill>
            <a:schemeClr val="tx1"/>
          </a:solidFill>
          <a:ln w="12700">
            <a:solidFill>
              <a:schemeClr val="tx1"/>
            </a:solidFill>
            <a:prstDash val="solid"/>
          </a:ln>
        </p:spPr>
      </p:sp>
      <p:sp>
        <p:nvSpPr>
          <p:cNvPr id="20" name="text-433"/>
          <p:cNvSpPr txBox="1"/>
          <p:nvPr/>
        </p:nvSpPr>
        <p:spPr>
          <a:xfrm>
            <a:off x="685800" y="8636097"/>
            <a:ext cx="6190488" cy="685800"/>
          </a:xfrm>
          <a:prstGeom prst="rect">
            <a:avLst/>
          </a:prstGeom>
          <a:noFill/>
          <a:ln/>
        </p:spPr>
        <p:txBody>
          <a:bodyPr wrap="square" lIns="0" tIns="0" rIns="0" bIns="0" rtlCol="0" anchor="ctr"/>
          <a:lstStyle/>
          <a:p>
            <a:pPr indent="0" marL="0">
              <a:buNone/>
            </a:pPr>
            <a:r>
              <a:rPr lang="en-US" sz="950" b="1" spc="200" kern="0" dirty="0">
                <a:solidFill>
                  <a:schemeClr val="accent5"/>
                </a:solidFill>
              </a:rPr>
              <a:t>ALSO A SHELTER  </a:t>
            </a:r>
            <a:pPr indent="0" marL="0">
              <a:buNone/>
            </a:pPr>
            <a:r>
              <a:rPr lang="en-US" sz="950" dirty="0">
                <a:solidFill>
                  <a:schemeClr val="bg1"/>
                </a:solidFill>
              </a:rPr>
              <a:t>In a disaster, the mountain becomes a warm refuge for up to 1,000 people: geothermal heat, mineral water and the food reserve keep it running even if the city’s power fails.</a:t>
            </a:r>
            <a:endParaRPr lang="en-US" sz="950" dirty="0"/>
          </a:p>
        </p:txBody>
      </p:sp>
      <p:sp>
        <p:nvSpPr>
          <p:cNvPr id="21" name="text-434"/>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43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3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OUR ECO-POLIS MODEL</a:t>
            </a:r>
            <a:endParaRPr lang="en-US" sz="900" dirty="0"/>
          </a:p>
        </p:txBody>
      </p:sp>
      <p:sp>
        <p:nvSpPr>
          <p:cNvPr id="4" name="title-43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Built by Us</a:t>
            </a:r>
            <a:endParaRPr lang="en-US" sz="3400" dirty="0"/>
          </a:p>
        </p:txBody>
      </p:sp>
      <p:sp>
        <p:nvSpPr>
          <p:cNvPr id="5" name="text-439"/>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Before any picture in this magazine, we built Aurora Haven ourselves in the Eco-Polis Builder: 241 named places, each with its own purpose and special features.</a:t>
            </a:r>
            <a:endParaRPr lang="en-US" sz="1250" dirty="0"/>
          </a:p>
        </p:txBody>
      </p:sp>
      <p:pic>
        <p:nvPicPr>
          <p:cNvPr id="6" name="picture-440" descr="/home/user/chatbox-bi-n-o/magazine/assets/ecopolis/overview.jpg">    </p:cNvPr>
          <p:cNvPicPr>
            <a:picLocks noChangeAspect="1"/>
          </p:cNvPicPr>
          <p:nvPr/>
        </p:nvPicPr>
        <p:blipFill>
          <a:blip r:embed="rId1"/>
          <a:srcRect l="0" r="0" t="0" b="0"/>
          <a:stretch/>
        </p:blipFill>
        <p:spPr>
          <a:xfrm>
            <a:off x="548640" y="2103120"/>
            <a:ext cx="6464808" cy="3633761"/>
          </a:xfrm>
          <a:prstGeom prst="rect">
            <a:avLst/>
          </a:prstGeom>
        </p:spPr>
      </p:pic>
      <p:sp>
        <p:nvSpPr>
          <p:cNvPr id="7" name="text-441"/>
          <p:cNvSpPr txBox="1"/>
          <p:nvPr/>
        </p:nvSpPr>
        <p:spPr>
          <a:xfrm>
            <a:off x="548640" y="5764313"/>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whole city in our Eco-Polis model.</a:t>
            </a:r>
            <a:endParaRPr lang="en-US" sz="850" dirty="0"/>
          </a:p>
        </p:txBody>
      </p:sp>
      <p:pic>
        <p:nvPicPr>
          <p:cNvPr id="8" name="picture-442" descr="/home/user/chatbox-bi-n-o/magazine/assets/ecopolis/fusion.jpg">    </p:cNvPr>
          <p:cNvPicPr>
            <a:picLocks noChangeAspect="1"/>
          </p:cNvPicPr>
          <p:nvPr/>
        </p:nvPicPr>
        <p:blipFill>
          <a:blip r:embed="rId2"/>
          <a:srcRect l="0" r="0" t="0" b="0"/>
          <a:stretch/>
        </p:blipFill>
        <p:spPr>
          <a:xfrm>
            <a:off x="548640" y="6056921"/>
            <a:ext cx="1547622" cy="1036907"/>
          </a:xfrm>
          <a:prstGeom prst="rect">
            <a:avLst/>
          </a:prstGeom>
        </p:spPr>
      </p:pic>
      <p:sp>
        <p:nvSpPr>
          <p:cNvPr id="9" name="text-443"/>
          <p:cNvSpPr txBox="1"/>
          <p:nvPr/>
        </p:nvSpPr>
        <p:spPr>
          <a:xfrm>
            <a:off x="548640"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Fusion Power Station</a:t>
            </a:r>
            <a:endParaRPr lang="en-US" sz="850" dirty="0"/>
          </a:p>
        </p:txBody>
      </p:sp>
      <p:pic>
        <p:nvPicPr>
          <p:cNvPr id="10" name="picture-444" descr="/home/user/chatbox-bi-n-o/magazine/assets/ecopolis/food.jpg">    </p:cNvPr>
          <p:cNvPicPr>
            <a:picLocks noChangeAspect="1"/>
          </p:cNvPicPr>
          <p:nvPr/>
        </p:nvPicPr>
        <p:blipFill>
          <a:blip r:embed="rId3"/>
          <a:srcRect l="0" r="0" t="0" b="0"/>
          <a:stretch/>
        </p:blipFill>
        <p:spPr>
          <a:xfrm>
            <a:off x="2187702" y="6056921"/>
            <a:ext cx="1547622" cy="1036907"/>
          </a:xfrm>
          <a:prstGeom prst="rect">
            <a:avLst/>
          </a:prstGeom>
        </p:spPr>
      </p:pic>
      <p:sp>
        <p:nvSpPr>
          <p:cNvPr id="11" name="text-445"/>
          <p:cNvSpPr txBox="1"/>
          <p:nvPr/>
        </p:nvSpPr>
        <p:spPr>
          <a:xfrm>
            <a:off x="2187702"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Snow-to-Food &amp; Water Plant</a:t>
            </a:r>
            <a:endParaRPr lang="en-US" sz="850" dirty="0"/>
          </a:p>
        </p:txBody>
      </p:sp>
      <p:pic>
        <p:nvPicPr>
          <p:cNvPr id="12" name="picture-446" descr="/home/user/chatbox-bi-n-o/magazine/assets/ecopolis/mount.jpg">    </p:cNvPr>
          <p:cNvPicPr>
            <a:picLocks noChangeAspect="1"/>
          </p:cNvPicPr>
          <p:nvPr/>
        </p:nvPicPr>
        <p:blipFill>
          <a:blip r:embed="rId4"/>
          <a:srcRect l="0" r="0" t="0" b="0"/>
          <a:stretch/>
        </p:blipFill>
        <p:spPr>
          <a:xfrm>
            <a:off x="3826764" y="6056921"/>
            <a:ext cx="1547622" cy="1036907"/>
          </a:xfrm>
          <a:prstGeom prst="rect">
            <a:avLst/>
          </a:prstGeom>
        </p:spPr>
      </p:pic>
      <p:sp>
        <p:nvSpPr>
          <p:cNvPr id="13" name="text-447"/>
          <p:cNvSpPr txBox="1"/>
          <p:nvPr/>
        </p:nvSpPr>
        <p:spPr>
          <a:xfrm>
            <a:off x="3826764"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Mount Aurora</a:t>
            </a:r>
            <a:endParaRPr lang="en-US" sz="850" dirty="0"/>
          </a:p>
        </p:txBody>
      </p:sp>
      <p:pic>
        <p:nvPicPr>
          <p:cNvPr id="14" name="picture-448" descr="/home/user/chatbox-bi-n-o/magazine/assets/ecopolis/downtown.jpg">    </p:cNvPr>
          <p:cNvPicPr>
            <a:picLocks noChangeAspect="1"/>
          </p:cNvPicPr>
          <p:nvPr/>
        </p:nvPicPr>
        <p:blipFill>
          <a:blip r:embed="rId5"/>
          <a:srcRect l="0" r="0" t="0" b="0"/>
          <a:stretch/>
        </p:blipFill>
        <p:spPr>
          <a:xfrm>
            <a:off x="5465826" y="6056921"/>
            <a:ext cx="1547622" cy="1036907"/>
          </a:xfrm>
          <a:prstGeom prst="rect">
            <a:avLst/>
          </a:prstGeom>
        </p:spPr>
      </p:pic>
      <p:sp>
        <p:nvSpPr>
          <p:cNvPr id="15" name="text-449"/>
          <p:cNvSpPr txBox="1"/>
          <p:nvPr/>
        </p:nvSpPr>
        <p:spPr>
          <a:xfrm>
            <a:off x="5465826"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Downtown</a:t>
            </a:r>
            <a:endParaRPr lang="en-US" sz="850" dirty="0"/>
          </a:p>
        </p:txBody>
      </p:sp>
      <p:pic>
        <p:nvPicPr>
          <p:cNvPr id="16" name="qr-450" descr="/home/user/chatbox-bi-n-o/magazine/assets/ui/qr_map_file.png">    </p:cNvPr>
          <p:cNvPicPr>
            <a:picLocks noChangeAspect="1"/>
          </p:cNvPicPr>
          <p:nvPr/>
        </p:nvPicPr>
        <p:blipFill>
          <a:blip r:embed="rId6"/>
          <a:stretch>
            <a:fillRect/>
          </a:stretch>
        </p:blipFill>
        <p:spPr>
          <a:xfrm>
            <a:off x="548640" y="7505308"/>
            <a:ext cx="1143000" cy="1143000"/>
          </a:xfrm>
          <a:prstGeom prst="rect">
            <a:avLst/>
          </a:prstGeom>
        </p:spPr>
      </p:pic>
      <p:sp>
        <p:nvSpPr>
          <p:cNvPr id="17" name="text-451"/>
          <p:cNvSpPr txBox="1"/>
          <p:nvPr/>
        </p:nvSpPr>
        <p:spPr>
          <a:xfrm>
            <a:off x="457200" y="8694028"/>
            <a:ext cx="1325880" cy="201168"/>
          </a:xfrm>
          <a:prstGeom prst="rect">
            <a:avLst/>
          </a:prstGeom>
          <a:noFill/>
          <a:ln/>
        </p:spPr>
        <p:txBody>
          <a:bodyPr wrap="square" lIns="0" tIns="0" rIns="0" bIns="0" rtlCol="0" anchor="t"/>
          <a:lstStyle/>
          <a:p>
            <a:pPr algn="ctr" indent="0" marL="0">
              <a:buNone/>
            </a:pPr>
            <a:r>
              <a:rPr lang="en-US" sz="900" b="1" dirty="0">
                <a:solidFill>
                  <a:schemeClr val="tx1"/>
                </a:solidFill>
              </a:rPr>
              <a:t>1 · Download our map</a:t>
            </a:r>
            <a:endParaRPr lang="en-US" sz="900" dirty="0"/>
          </a:p>
        </p:txBody>
      </p:sp>
      <p:sp>
        <p:nvSpPr>
          <p:cNvPr id="18" name="text-452"/>
          <p:cNvSpPr txBox="1"/>
          <p:nvPr/>
        </p:nvSpPr>
        <p:spPr>
          <a:xfrm>
            <a:off x="411480" y="8895196"/>
            <a:ext cx="1417320" cy="182880"/>
          </a:xfrm>
          <a:prstGeom prst="rect">
            <a:avLst/>
          </a:prstGeom>
          <a:noFill/>
          <a:ln/>
        </p:spPr>
        <p:txBody>
          <a:bodyPr wrap="square" lIns="0" tIns="0" rIns="0" bIns="0" rtlCol="0" anchor="t"/>
          <a:lstStyle/>
          <a:p>
            <a:pPr algn="ctr" indent="0" marL="0">
              <a:buNone/>
            </a:pPr>
            <a:r>
              <a:rPr lang="en-US" sz="750" dirty="0">
                <a:solidFill>
                  <a:schemeClr val="tx2"/>
                </a:solidFill>
              </a:rPr>
              <a:t>Aurora_Haven.json</a:t>
            </a:r>
            <a:endParaRPr lang="en-US" sz="750" dirty="0"/>
          </a:p>
        </p:txBody>
      </p:sp>
      <p:pic>
        <p:nvPicPr>
          <p:cNvPr id="19" name="qr-453" descr="/home/user/chatbox-bi-n-o/magazine/assets/ui/qr_ecopolis.png">    </p:cNvPr>
          <p:cNvPicPr>
            <a:picLocks noChangeAspect="1"/>
          </p:cNvPicPr>
          <p:nvPr/>
        </p:nvPicPr>
        <p:blipFill>
          <a:blip r:embed="rId7"/>
          <a:stretch>
            <a:fillRect/>
          </a:stretch>
        </p:blipFill>
        <p:spPr>
          <a:xfrm>
            <a:off x="1965960" y="7505308"/>
            <a:ext cx="1143000" cy="1143000"/>
          </a:xfrm>
          <a:prstGeom prst="rect">
            <a:avLst/>
          </a:prstGeom>
        </p:spPr>
      </p:pic>
      <p:sp>
        <p:nvSpPr>
          <p:cNvPr id="20" name="text-454"/>
          <p:cNvSpPr txBox="1"/>
          <p:nvPr/>
        </p:nvSpPr>
        <p:spPr>
          <a:xfrm>
            <a:off x="1874520" y="8694028"/>
            <a:ext cx="1325880" cy="201168"/>
          </a:xfrm>
          <a:prstGeom prst="rect">
            <a:avLst/>
          </a:prstGeom>
          <a:noFill/>
          <a:ln/>
        </p:spPr>
        <p:txBody>
          <a:bodyPr wrap="square" lIns="0" tIns="0" rIns="0" bIns="0" rtlCol="0" anchor="t"/>
          <a:lstStyle/>
          <a:p>
            <a:pPr algn="ctr" indent="0" marL="0">
              <a:buNone/>
            </a:pPr>
            <a:r>
              <a:rPr lang="en-US" sz="900" b="1" dirty="0">
                <a:solidFill>
                  <a:schemeClr val="tx1"/>
                </a:solidFill>
              </a:rPr>
              <a:t>2 · Open Eco-Polis</a:t>
            </a:r>
            <a:endParaRPr lang="en-US" sz="900" dirty="0"/>
          </a:p>
        </p:txBody>
      </p:sp>
      <p:sp>
        <p:nvSpPr>
          <p:cNvPr id="21" name="text-455"/>
          <p:cNvSpPr txBox="1"/>
          <p:nvPr/>
        </p:nvSpPr>
        <p:spPr>
          <a:xfrm>
            <a:off x="1828800" y="8895196"/>
            <a:ext cx="1417320" cy="182880"/>
          </a:xfrm>
          <a:prstGeom prst="rect">
            <a:avLst/>
          </a:prstGeom>
          <a:noFill/>
          <a:ln/>
        </p:spPr>
        <p:txBody>
          <a:bodyPr wrap="square" lIns="0" tIns="0" rIns="0" bIns="0" rtlCol="0" anchor="t"/>
          <a:lstStyle/>
          <a:p>
            <a:pPr algn="ctr" indent="0" marL="0">
              <a:buNone/>
            </a:pPr>
            <a:r>
              <a:rPr lang="en-US" sz="750" dirty="0">
                <a:solidFill>
                  <a:schemeClr val="tx2"/>
                </a:solidFill>
              </a:rPr>
              <a:t>ecopolis3d.netlify.app</a:t>
            </a:r>
            <a:endParaRPr lang="en-US" sz="750" dirty="0"/>
          </a:p>
        </p:txBody>
      </p:sp>
      <p:sp>
        <p:nvSpPr>
          <p:cNvPr id="22" name="card-456"/>
          <p:cNvSpPr/>
          <p:nvPr/>
        </p:nvSpPr>
        <p:spPr>
          <a:xfrm>
            <a:off x="3474720" y="7459588"/>
            <a:ext cx="3538728" cy="2507372"/>
          </a:xfrm>
          <a:prstGeom prst="roundRect">
            <a:avLst>
              <a:gd name="adj" fmla="val 2917"/>
            </a:avLst>
          </a:prstGeom>
          <a:solidFill>
            <a:schemeClr val="bg2"/>
          </a:solidFill>
          <a:ln w="12700">
            <a:solidFill>
              <a:schemeClr val="bg2"/>
            </a:solidFill>
            <a:prstDash val="solid"/>
          </a:ln>
        </p:spPr>
      </p:sp>
      <p:sp>
        <p:nvSpPr>
          <p:cNvPr id="23" name="kicker-dot-457"/>
          <p:cNvSpPr/>
          <p:nvPr/>
        </p:nvSpPr>
        <p:spPr>
          <a:xfrm>
            <a:off x="3621024" y="7647040"/>
            <a:ext cx="100584" cy="100584"/>
          </a:xfrm>
          <a:prstGeom prst="ellipse">
            <a:avLst/>
          </a:prstGeom>
          <a:solidFill>
            <a:schemeClr val="accent6"/>
          </a:solidFill>
          <a:ln w="12700">
            <a:solidFill>
              <a:schemeClr val="accent6"/>
            </a:solidFill>
            <a:prstDash val="solid"/>
          </a:ln>
        </p:spPr>
      </p:sp>
      <p:sp>
        <p:nvSpPr>
          <p:cNvPr id="24" name="text-458"/>
          <p:cNvSpPr txBox="1"/>
          <p:nvPr/>
        </p:nvSpPr>
        <p:spPr>
          <a:xfrm>
            <a:off x="3803904" y="7605892"/>
            <a:ext cx="3209544" cy="384048"/>
          </a:xfrm>
          <a:prstGeom prst="rect">
            <a:avLst/>
          </a:prstGeom>
          <a:noFill/>
          <a:ln/>
        </p:spPr>
        <p:txBody>
          <a:bodyPr wrap="square" lIns="0" tIns="0" rIns="0" bIns="0" rtlCol="0" anchor="t"/>
          <a:lstStyle/>
          <a:p>
            <a:pPr indent="0" marL="0">
              <a:buNone/>
            </a:pPr>
            <a:r>
              <a:rPr lang="en-US" sz="900" b="1" spc="300" kern="0" dirty="0">
                <a:solidFill>
                  <a:schemeClr val="accent6"/>
                </a:solidFill>
              </a:rPr>
              <a:t>EXPLORE OUR 3D CITY</a:t>
            </a:r>
            <a:endParaRPr lang="en-US" sz="900" dirty="0"/>
          </a:p>
        </p:txBody>
      </p:sp>
      <p:sp>
        <p:nvSpPr>
          <p:cNvPr id="25" name="text-459"/>
          <p:cNvSpPr txBox="1"/>
          <p:nvPr/>
        </p:nvSpPr>
        <p:spPr>
          <a:xfrm>
            <a:off x="3621024" y="7880212"/>
            <a:ext cx="3246120" cy="1995308"/>
          </a:xfrm>
          <a:prstGeom prst="rect">
            <a:avLst/>
          </a:prstGeom>
          <a:noFill/>
          <a:ln/>
        </p:spPr>
        <p:txBody>
          <a:bodyPr wrap="square" lIns="0" tIns="0" rIns="0" bIns="0" rtlCol="0" anchor="t"/>
          <a:lstStyle/>
          <a:p>
            <a:pPr indent="0" marL="0">
              <a:lnSpc>
                <a:spcPct val="106000"/>
              </a:lnSpc>
              <a:buNone/>
            </a:pPr>
            <a:r>
              <a:rPr lang="en-US" sz="1000" b="1" dirty="0">
                <a:solidFill>
                  <a:schemeClr val="accent6"/>
                </a:solidFill>
              </a:rPr>
              <a:t>1. </a:t>
            </a:r>
            <a:pPr indent="0" marL="0">
              <a:lnSpc>
                <a:spcPct val="106000"/>
              </a:lnSpc>
              <a:spcAft>
                <a:spcPts val="500"/>
              </a:spcAft>
              <a:buNone/>
            </a:pPr>
            <a:r>
              <a:rPr lang="en-US" sz="1000" dirty="0">
                <a:solidFill>
                  <a:schemeClr val="tx1"/>
                </a:solidFill>
              </a:rPr>
              <a:t>Scan the first code to download our map file.</a:t>
            </a:r>
            <a:endParaRPr lang="en-US" sz="1000" dirty="0"/>
          </a:p>
          <a:p>
            <a:pPr indent="0" marL="0">
              <a:lnSpc>
                <a:spcPct val="106000"/>
              </a:lnSpc>
              <a:buNone/>
            </a:pPr>
            <a:r>
              <a:rPr lang="en-US" sz="1000" b="1" dirty="0">
                <a:solidFill>
                  <a:schemeClr val="accent6"/>
                </a:solidFill>
              </a:rPr>
              <a:t>2. </a:t>
            </a:r>
            <a:pPr indent="0" marL="0">
              <a:lnSpc>
                <a:spcPct val="106000"/>
              </a:lnSpc>
              <a:spcAft>
                <a:spcPts val="500"/>
              </a:spcAft>
              <a:buNone/>
            </a:pPr>
            <a:r>
              <a:rPr lang="en-US" sz="1000" dirty="0">
                <a:solidFill>
                  <a:schemeClr val="tx1"/>
                </a:solidFill>
              </a:rPr>
              <a:t>Scan the second code to open the Eco-Polis Builder.</a:t>
            </a:r>
            <a:endParaRPr lang="en-US" sz="1000" dirty="0"/>
          </a:p>
          <a:p>
            <a:pPr indent="0" marL="0">
              <a:lnSpc>
                <a:spcPct val="106000"/>
              </a:lnSpc>
              <a:buNone/>
            </a:pPr>
            <a:r>
              <a:rPr lang="en-US" sz="1000" b="1" dirty="0">
                <a:solidFill>
                  <a:schemeClr val="accent6"/>
                </a:solidFill>
              </a:rPr>
              <a:t>3. </a:t>
            </a:r>
            <a:pPr indent="0" marL="0">
              <a:lnSpc>
                <a:spcPct val="106000"/>
              </a:lnSpc>
              <a:spcAft>
                <a:spcPts val="500"/>
              </a:spcAft>
              <a:buNone/>
            </a:pPr>
            <a:r>
              <a:rPr lang="en-US" sz="1000" dirty="0">
                <a:solidFill>
                  <a:schemeClr val="tx1"/>
                </a:solidFill>
              </a:rPr>
              <a:t>Click the Load button (folder icon) and choose Aurora_Haven.json.</a:t>
            </a:r>
            <a:endParaRPr lang="en-US" sz="1000" dirty="0"/>
          </a:p>
          <a:p>
            <a:pPr indent="0" marL="0">
              <a:lnSpc>
                <a:spcPct val="106000"/>
              </a:lnSpc>
              <a:buNone/>
            </a:pPr>
            <a:r>
              <a:rPr lang="en-US" sz="1000" b="1" dirty="0">
                <a:solidFill>
                  <a:schemeClr val="accent6"/>
                </a:solidFill>
              </a:rPr>
              <a:t>4. </a:t>
            </a:r>
            <a:pPr indent="0" marL="0">
              <a:lnSpc>
                <a:spcPct val="106000"/>
              </a:lnSpc>
              <a:spcAft>
                <a:spcPts val="500"/>
              </a:spcAft>
              <a:buNone/>
            </a:pPr>
            <a:r>
              <a:rPr lang="en-US" sz="1000" dirty="0">
                <a:solidFill>
                  <a:schemeClr val="tx1"/>
                </a:solidFill>
              </a:rPr>
              <a:t>Click Lock (View), then Full Screen.</a:t>
            </a:r>
            <a:endParaRPr lang="en-US" sz="1000" dirty="0"/>
          </a:p>
          <a:p>
            <a:pPr indent="0" marL="0">
              <a:lnSpc>
                <a:spcPct val="106000"/>
              </a:lnSpc>
              <a:buNone/>
            </a:pPr>
            <a:r>
              <a:rPr lang="en-US" sz="1000" b="1" dirty="0">
                <a:solidFill>
                  <a:schemeClr val="accent6"/>
                </a:solidFill>
              </a:rPr>
              <a:t>5. </a:t>
            </a:r>
            <a:pPr indent="0" marL="0">
              <a:lnSpc>
                <a:spcPct val="106000"/>
              </a:lnSpc>
              <a:spcAft>
                <a:spcPts val="500"/>
              </a:spcAft>
              <a:buNone/>
            </a:pPr>
            <a:r>
              <a:rPr lang="en-US" sz="1000" dirty="0">
                <a:solidFill>
                  <a:schemeClr val="tx1"/>
                </a:solidFill>
              </a:rPr>
              <a:t>Drag to turn, scroll to zoom, and click a building to read about it.</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60"/>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46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46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464"/>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465"/>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466"/>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467"/>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468"/>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469"/>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470"/>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471"/>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472"/>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473"/>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474"/>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475"/>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476"/>
          <p:cNvSpPr/>
          <p:nvPr/>
        </p:nvSpPr>
        <p:spPr>
          <a:xfrm>
            <a:off x="2633472" y="3063240"/>
            <a:ext cx="2295144" cy="914"/>
          </a:xfrm>
          <a:prstGeom prst="line">
            <a:avLst/>
          </a:prstGeom>
          <a:noFill/>
          <a:ln w="28575">
            <a:solidFill>
              <a:schemeClr val="accent2"/>
            </a:solidFill>
            <a:prstDash val="solid"/>
            <a:tailEnd type="triangle"/>
          </a:ln>
        </p:spPr>
      </p:sp>
      <p:sp>
        <p:nvSpPr>
          <p:cNvPr id="19" name="text-477"/>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478"/>
          <p:cNvSpPr/>
          <p:nvPr/>
        </p:nvSpPr>
        <p:spPr>
          <a:xfrm>
            <a:off x="2633472" y="3410712"/>
            <a:ext cx="2295144" cy="914"/>
          </a:xfrm>
          <a:prstGeom prst="line">
            <a:avLst/>
          </a:prstGeom>
          <a:noFill/>
          <a:ln w="28575">
            <a:solidFill>
              <a:schemeClr val="bg2"/>
            </a:solidFill>
            <a:prstDash val="solid"/>
            <a:tailEnd type="triangle"/>
          </a:ln>
        </p:spPr>
      </p:sp>
      <p:sp>
        <p:nvSpPr>
          <p:cNvPr id="21" name="text-479"/>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480"/>
          <p:cNvSpPr/>
          <p:nvPr/>
        </p:nvSpPr>
        <p:spPr>
          <a:xfrm flipH="1">
            <a:off x="2633472" y="3758184"/>
            <a:ext cx="2295144" cy="914"/>
          </a:xfrm>
          <a:prstGeom prst="line">
            <a:avLst/>
          </a:prstGeom>
          <a:noFill/>
          <a:ln w="28575">
            <a:solidFill>
              <a:schemeClr val="accent6"/>
            </a:solidFill>
            <a:prstDash val="solid"/>
            <a:tailEnd type="triangle"/>
          </a:ln>
        </p:spPr>
      </p:sp>
      <p:sp>
        <p:nvSpPr>
          <p:cNvPr id="23" name="text-481"/>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482"/>
          <p:cNvSpPr/>
          <p:nvPr/>
        </p:nvSpPr>
        <p:spPr>
          <a:xfrm flipH="1">
            <a:off x="2633472" y="4105656"/>
            <a:ext cx="2295144" cy="914"/>
          </a:xfrm>
          <a:prstGeom prst="line">
            <a:avLst/>
          </a:prstGeom>
          <a:noFill/>
          <a:ln w="28575">
            <a:solidFill>
              <a:schemeClr val="accent1"/>
            </a:solidFill>
            <a:prstDash val="solid"/>
            <a:tailEnd type="triangle"/>
          </a:ln>
        </p:spPr>
      </p:sp>
      <p:sp>
        <p:nvSpPr>
          <p:cNvPr id="25" name="text-483"/>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484"/>
          <p:cNvSpPr/>
          <p:nvPr/>
        </p:nvSpPr>
        <p:spPr>
          <a:xfrm>
            <a:off x="1325880" y="4507992"/>
            <a:ext cx="914" cy="1179576"/>
          </a:xfrm>
          <a:prstGeom prst="line">
            <a:avLst/>
          </a:prstGeom>
          <a:noFill/>
          <a:ln w="28575">
            <a:solidFill>
              <a:schemeClr val="accent2"/>
            </a:solidFill>
            <a:prstDash val="solid"/>
            <a:tailEnd type="triangle"/>
          </a:ln>
        </p:spPr>
      </p:sp>
      <p:sp>
        <p:nvSpPr>
          <p:cNvPr id="27" name="arrow-485"/>
          <p:cNvSpPr/>
          <p:nvPr/>
        </p:nvSpPr>
        <p:spPr>
          <a:xfrm flipV="1">
            <a:off x="1874520" y="4507992"/>
            <a:ext cx="914" cy="1179576"/>
          </a:xfrm>
          <a:prstGeom prst="line">
            <a:avLst/>
          </a:prstGeom>
          <a:noFill/>
          <a:ln w="28575">
            <a:solidFill>
              <a:schemeClr val="bg2"/>
            </a:solidFill>
            <a:prstDash val="solid"/>
            <a:tailEnd type="triangle"/>
          </a:ln>
        </p:spPr>
      </p:sp>
      <p:sp>
        <p:nvSpPr>
          <p:cNvPr id="28" name="text-486"/>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487"/>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488"/>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489"/>
          <p:cNvSpPr/>
          <p:nvPr/>
        </p:nvSpPr>
        <p:spPr>
          <a:xfrm>
            <a:off x="6464808" y="4489704"/>
            <a:ext cx="914" cy="1078992"/>
          </a:xfrm>
          <a:prstGeom prst="line">
            <a:avLst/>
          </a:prstGeom>
          <a:noFill/>
          <a:ln w="28575">
            <a:solidFill>
              <a:schemeClr val="accent4"/>
            </a:solidFill>
            <a:prstDash val="solid"/>
            <a:tailEnd type="triangle"/>
          </a:ln>
        </p:spPr>
      </p:sp>
      <p:sp>
        <p:nvSpPr>
          <p:cNvPr id="32" name="text-490"/>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491"/>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492"/>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493"/>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494"/>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495"/>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496"/>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497"/>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498"/>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499"/>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00"/>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01"/>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02"/>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03"/>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04"/>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05"/>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06"/>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07"/>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50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0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51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512"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513"/>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514"/>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515"/>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516"/>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517"/>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518"/>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519"/>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520"/>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521"/>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522"/>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523"/>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524"/>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525"/>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526"/>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527"/>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528"/>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529"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530"/>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531"/>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532"/>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533"/>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7" name="text-534"/>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icture-535" descr="/home/user/chatbox-bi-n-o/magazine/assets/renders/homes.jpg">    </p:cNvPr>
          <p:cNvPicPr>
            <a:picLocks noChangeAspect="1"/>
          </p:cNvPicPr>
          <p:nvPr/>
        </p:nvPicPr>
        <p:blipFill>
          <a:blip r:embed="rId1"/>
          <a:srcRect l="0" r="0" t="0" b="0"/>
          <a:stretch/>
        </p:blipFill>
        <p:spPr>
          <a:xfrm>
            <a:off x="0" y="0"/>
            <a:ext cx="7562088" cy="3749040"/>
          </a:xfrm>
          <a:prstGeom prst="rect">
            <a:avLst/>
          </a:prstGeom>
        </p:spPr>
      </p:pic>
      <p:sp>
        <p:nvSpPr>
          <p:cNvPr id="3" name="text-536"/>
          <p:cNvSpPr txBox="1"/>
          <p:nvPr/>
        </p:nvSpPr>
        <p:spPr>
          <a:xfrm>
            <a:off x="548640" y="37947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western eco-homes at dusk, with the Ice-Proof Wind Farm and the air base behind.</a:t>
            </a:r>
            <a:endParaRPr lang="en-US" sz="850" dirty="0"/>
          </a:p>
        </p:txBody>
      </p:sp>
      <p:sp>
        <p:nvSpPr>
          <p:cNvPr id="4" name="kicker-dot-537"/>
          <p:cNvSpPr/>
          <p:nvPr/>
        </p:nvSpPr>
        <p:spPr>
          <a:xfrm>
            <a:off x="548640" y="4201668"/>
            <a:ext cx="100584" cy="100584"/>
          </a:xfrm>
          <a:prstGeom prst="ellipse">
            <a:avLst/>
          </a:prstGeom>
          <a:solidFill>
            <a:schemeClr val="accent6"/>
          </a:solidFill>
          <a:ln w="12700">
            <a:solidFill>
              <a:schemeClr val="accent6"/>
            </a:solidFill>
            <a:prstDash val="solid"/>
          </a:ln>
        </p:spPr>
      </p:sp>
      <p:sp>
        <p:nvSpPr>
          <p:cNvPr id="5" name="text-538"/>
          <p:cNvSpPr txBox="1"/>
          <p:nvPr/>
        </p:nvSpPr>
        <p:spPr>
          <a:xfrm>
            <a:off x="731520" y="4160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HOUSING</a:t>
            </a:r>
            <a:endParaRPr lang="en-US" sz="900" dirty="0"/>
          </a:p>
        </p:txBody>
      </p:sp>
      <p:sp>
        <p:nvSpPr>
          <p:cNvPr id="6" name="title-539"/>
          <p:cNvSpPr txBox="1"/>
          <p:nvPr/>
        </p:nvSpPr>
        <p:spPr>
          <a:xfrm>
            <a:off x="548640" y="440740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Homes for the Polar Night</a:t>
            </a:r>
            <a:endParaRPr lang="en-US" sz="3600" dirty="0"/>
          </a:p>
        </p:txBody>
      </p:sp>
      <p:sp>
        <p:nvSpPr>
          <p:cNvPr id="7" name="text-541"/>
          <p:cNvSpPr txBox="1"/>
          <p:nvPr/>
        </p:nvSpPr>
        <p:spPr>
          <a:xfrm>
            <a:off x="548640" y="507492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From passive eco-homes to towers with sky gardens, every home is built to stay warm, bright and safe at −45 °C, without thawing the ground beneath it.</a:t>
            </a:r>
            <a:endParaRPr lang="en-US" sz="1250" dirty="0"/>
          </a:p>
        </p:txBody>
      </p:sp>
      <p:sp>
        <p:nvSpPr>
          <p:cNvPr id="8" name="text-542"/>
          <p:cNvSpPr txBox="1"/>
          <p:nvPr/>
        </p:nvSpPr>
        <p:spPr>
          <a:xfrm>
            <a:off x="548640" y="57607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A HOME BEATS THE COLD</a:t>
            </a:r>
            <a:endParaRPr lang="en-US" sz="900" dirty="0"/>
          </a:p>
        </p:txBody>
      </p:sp>
      <p:sp>
        <p:nvSpPr>
          <p:cNvPr id="9" name="card-543"/>
          <p:cNvSpPr/>
          <p:nvPr/>
        </p:nvSpPr>
        <p:spPr>
          <a:xfrm>
            <a:off x="548640" y="6035040"/>
            <a:ext cx="2063496" cy="1069848"/>
          </a:xfrm>
          <a:prstGeom prst="roundRect">
            <a:avLst>
              <a:gd name="adj" fmla="val 6838"/>
            </a:avLst>
          </a:prstGeom>
          <a:solidFill>
            <a:schemeClr val="bg2"/>
          </a:solidFill>
          <a:ln w="12700">
            <a:solidFill>
              <a:schemeClr val="bg2"/>
            </a:solidFill>
            <a:prstDash val="solid"/>
          </a:ln>
        </p:spPr>
      </p:sp>
      <p:sp>
        <p:nvSpPr>
          <p:cNvPr id="10" name="text-544"/>
          <p:cNvSpPr txBox="1"/>
          <p:nvPr/>
        </p:nvSpPr>
        <p:spPr>
          <a:xfrm>
            <a:off x="658368"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Insulated piles</a:t>
            </a:r>
            <a:endParaRPr lang="en-US" sz="1000" dirty="0"/>
          </a:p>
        </p:txBody>
      </p:sp>
      <p:sp>
        <p:nvSpPr>
          <p:cNvPr id="11" name="text-545"/>
          <p:cNvSpPr txBox="1"/>
          <p:nvPr/>
        </p:nvSpPr>
        <p:spPr>
          <a:xfrm>
            <a:off x="658368"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Homes stand on insulated piles above a ventilated air gap, so their warmth never thaws the permafrost.</a:t>
            </a:r>
            <a:endParaRPr lang="en-US" sz="850" dirty="0"/>
          </a:p>
        </p:txBody>
      </p:sp>
      <p:sp>
        <p:nvSpPr>
          <p:cNvPr id="12" name="card-546"/>
          <p:cNvSpPr/>
          <p:nvPr/>
        </p:nvSpPr>
        <p:spPr>
          <a:xfrm>
            <a:off x="2749296" y="6035040"/>
            <a:ext cx="2063496" cy="1069848"/>
          </a:xfrm>
          <a:prstGeom prst="roundRect">
            <a:avLst>
              <a:gd name="adj" fmla="val 6838"/>
            </a:avLst>
          </a:prstGeom>
          <a:solidFill>
            <a:schemeClr val="bg2"/>
          </a:solidFill>
          <a:ln w="12700">
            <a:solidFill>
              <a:schemeClr val="bg2"/>
            </a:solidFill>
            <a:prstDash val="solid"/>
          </a:ln>
        </p:spPr>
      </p:sp>
      <p:sp>
        <p:nvSpPr>
          <p:cNvPr id="13" name="text-547"/>
          <p:cNvSpPr txBox="1"/>
          <p:nvPr/>
        </p:nvSpPr>
        <p:spPr>
          <a:xfrm>
            <a:off x="2859024"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Passive-house shell</a:t>
            </a:r>
            <a:endParaRPr lang="en-US" sz="1000" dirty="0"/>
          </a:p>
        </p:txBody>
      </p:sp>
      <p:sp>
        <p:nvSpPr>
          <p:cNvPr id="14" name="text-548"/>
          <p:cNvSpPr txBox="1"/>
          <p:nvPr/>
        </p:nvSpPr>
        <p:spPr>
          <a:xfrm>
            <a:off x="2859024"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Thick walls, triple glazing and an airtight shell: an eco-home needs about 80% less heat than an ordinary house.</a:t>
            </a:r>
            <a:endParaRPr lang="en-US" sz="850" dirty="0"/>
          </a:p>
        </p:txBody>
      </p:sp>
      <p:sp>
        <p:nvSpPr>
          <p:cNvPr id="15" name="card-549"/>
          <p:cNvSpPr/>
          <p:nvPr/>
        </p:nvSpPr>
        <p:spPr>
          <a:xfrm>
            <a:off x="4949952" y="6035040"/>
            <a:ext cx="2063496" cy="1069848"/>
          </a:xfrm>
          <a:prstGeom prst="roundRect">
            <a:avLst>
              <a:gd name="adj" fmla="val 6838"/>
            </a:avLst>
          </a:prstGeom>
          <a:solidFill>
            <a:schemeClr val="bg2"/>
          </a:solidFill>
          <a:ln w="12700">
            <a:solidFill>
              <a:schemeClr val="bg2"/>
            </a:solidFill>
            <a:prstDash val="solid"/>
          </a:ln>
        </p:spPr>
      </p:sp>
      <p:sp>
        <p:nvSpPr>
          <p:cNvPr id="16" name="text-550"/>
          <p:cNvSpPr txBox="1"/>
          <p:nvPr/>
        </p:nvSpPr>
        <p:spPr>
          <a:xfrm>
            <a:off x="5059680"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Heat-recovery air</a:t>
            </a:r>
            <a:endParaRPr lang="en-US" sz="1000" dirty="0"/>
          </a:p>
        </p:txBody>
      </p:sp>
      <p:sp>
        <p:nvSpPr>
          <p:cNvPr id="17" name="text-551"/>
          <p:cNvSpPr txBox="1"/>
          <p:nvPr/>
        </p:nvSpPr>
        <p:spPr>
          <a:xfrm>
            <a:off x="5059680"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Fresh air is warmed by the stale air going out, saving about 80% of the heat that would escape.</a:t>
            </a:r>
            <a:endParaRPr lang="en-US" sz="850" dirty="0"/>
          </a:p>
        </p:txBody>
      </p:sp>
      <p:sp>
        <p:nvSpPr>
          <p:cNvPr id="18" name="card-552"/>
          <p:cNvSpPr/>
          <p:nvPr/>
        </p:nvSpPr>
        <p:spPr>
          <a:xfrm>
            <a:off x="548640" y="7196328"/>
            <a:ext cx="2063496" cy="1069848"/>
          </a:xfrm>
          <a:prstGeom prst="roundRect">
            <a:avLst>
              <a:gd name="adj" fmla="val 6838"/>
            </a:avLst>
          </a:prstGeom>
          <a:solidFill>
            <a:schemeClr val="bg2"/>
          </a:solidFill>
          <a:ln w="12700">
            <a:solidFill>
              <a:schemeClr val="bg2"/>
            </a:solidFill>
            <a:prstDash val="solid"/>
          </a:ln>
        </p:spPr>
      </p:sp>
      <p:sp>
        <p:nvSpPr>
          <p:cNvPr id="19" name="text-553"/>
          <p:cNvSpPr txBox="1"/>
          <p:nvPr/>
        </p:nvSpPr>
        <p:spPr>
          <a:xfrm>
            <a:off x="658368"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Winter-garden balconies</a:t>
            </a:r>
            <a:endParaRPr lang="en-US" sz="1000" dirty="0"/>
          </a:p>
        </p:txBody>
      </p:sp>
      <p:sp>
        <p:nvSpPr>
          <p:cNvPr id="20" name="text-554"/>
          <p:cNvSpPr txBox="1"/>
          <p:nvPr/>
        </p:nvSpPr>
        <p:spPr>
          <a:xfrm>
            <a:off x="658368"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Glass-enclosed balconies stay usable at −45 °C and act as a warm buffer for the wall behind.</a:t>
            </a:r>
            <a:endParaRPr lang="en-US" sz="850" dirty="0"/>
          </a:p>
        </p:txBody>
      </p:sp>
      <p:sp>
        <p:nvSpPr>
          <p:cNvPr id="21" name="card-555"/>
          <p:cNvSpPr/>
          <p:nvPr/>
        </p:nvSpPr>
        <p:spPr>
          <a:xfrm>
            <a:off x="2749296" y="7196328"/>
            <a:ext cx="2063496" cy="1069848"/>
          </a:xfrm>
          <a:prstGeom prst="roundRect">
            <a:avLst>
              <a:gd name="adj" fmla="val 6838"/>
            </a:avLst>
          </a:prstGeom>
          <a:solidFill>
            <a:schemeClr val="bg2"/>
          </a:solidFill>
          <a:ln w="12700">
            <a:solidFill>
              <a:schemeClr val="bg2"/>
            </a:solidFill>
            <a:prstDash val="solid"/>
          </a:ln>
        </p:spPr>
      </p:sp>
      <p:sp>
        <p:nvSpPr>
          <p:cNvPr id="22" name="text-556"/>
          <p:cNvSpPr txBox="1"/>
          <p:nvPr/>
        </p:nvSpPr>
        <p:spPr>
          <a:xfrm>
            <a:off x="2859024"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Snow-shedding roofs</a:t>
            </a:r>
            <a:endParaRPr lang="en-US" sz="1000" dirty="0"/>
          </a:p>
        </p:txBody>
      </p:sp>
      <p:sp>
        <p:nvSpPr>
          <p:cNvPr id="23" name="text-557"/>
          <p:cNvSpPr txBox="1"/>
          <p:nvPr/>
        </p:nvSpPr>
        <p:spPr>
          <a:xfrm>
            <a:off x="2859024"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Steep, smooth roofs shed heavy snow by themselves, so they never overload or need shovelling.</a:t>
            </a:r>
            <a:endParaRPr lang="en-US" sz="850" dirty="0"/>
          </a:p>
        </p:txBody>
      </p:sp>
      <p:sp>
        <p:nvSpPr>
          <p:cNvPr id="24" name="card-558"/>
          <p:cNvSpPr/>
          <p:nvPr/>
        </p:nvSpPr>
        <p:spPr>
          <a:xfrm>
            <a:off x="4949952" y="7196328"/>
            <a:ext cx="2063496" cy="1069848"/>
          </a:xfrm>
          <a:prstGeom prst="roundRect">
            <a:avLst>
              <a:gd name="adj" fmla="val 6838"/>
            </a:avLst>
          </a:prstGeom>
          <a:solidFill>
            <a:schemeClr val="bg2"/>
          </a:solidFill>
          <a:ln w="12700">
            <a:solidFill>
              <a:schemeClr val="bg2"/>
            </a:solidFill>
            <a:prstDash val="solid"/>
          </a:ln>
        </p:spPr>
      </p:sp>
      <p:sp>
        <p:nvSpPr>
          <p:cNvPr id="25" name="text-559"/>
          <p:cNvSpPr txBox="1"/>
          <p:nvPr/>
        </p:nvSpPr>
        <p:spPr>
          <a:xfrm>
            <a:off x="5059680"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Light in the dark</a:t>
            </a:r>
            <a:endParaRPr lang="en-US" sz="1000" dirty="0"/>
          </a:p>
        </p:txBody>
      </p:sp>
      <p:sp>
        <p:nvSpPr>
          <p:cNvPr id="26" name="text-560"/>
          <p:cNvSpPr txBox="1"/>
          <p:nvPr/>
        </p:nvSpPr>
        <p:spPr>
          <a:xfrm>
            <a:off x="5059680"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Light tubes bring daylight deep inside, and dawn-simulating lamps wake families in the polar night.</a:t>
            </a:r>
            <a:endParaRPr lang="en-US" sz="850" dirty="0"/>
          </a:p>
        </p:txBody>
      </p:sp>
      <p:sp>
        <p:nvSpPr>
          <p:cNvPr id="27" name="text-561"/>
          <p:cNvSpPr txBox="1"/>
          <p:nvPr/>
        </p:nvSpPr>
        <p:spPr>
          <a:xfrm>
            <a:off x="548640" y="8412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A HOME FOR EVERYONE</a:t>
            </a:r>
            <a:endParaRPr lang="en-US" sz="900" dirty="0"/>
          </a:p>
        </p:txBody>
      </p:sp>
      <p:sp>
        <p:nvSpPr>
          <p:cNvPr id="28" name="text-562"/>
          <p:cNvSpPr txBox="1"/>
          <p:nvPr/>
        </p:nvSpPr>
        <p:spPr>
          <a:xfrm>
            <a:off x="548640"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600</a:t>
            </a:r>
            <a:endParaRPr lang="en-US" sz="2000" dirty="0"/>
          </a:p>
        </p:txBody>
      </p:sp>
      <p:sp>
        <p:nvSpPr>
          <p:cNvPr id="29" name="text-563"/>
          <p:cNvSpPr txBox="1"/>
          <p:nvPr/>
        </p:nvSpPr>
        <p:spPr>
          <a:xfrm>
            <a:off x="548640"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the Aurora 81 Residences</a:t>
            </a:r>
            <a:endParaRPr lang="en-US" sz="850" dirty="0"/>
          </a:p>
        </p:txBody>
      </p:sp>
      <p:sp>
        <p:nvSpPr>
          <p:cNvPr id="30" name="text-564"/>
          <p:cNvSpPr txBox="1"/>
          <p:nvPr/>
        </p:nvSpPr>
        <p:spPr>
          <a:xfrm>
            <a:off x="1841602"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350</a:t>
            </a:r>
            <a:endParaRPr lang="en-US" sz="2000" dirty="0"/>
          </a:p>
        </p:txBody>
      </p:sp>
      <p:sp>
        <p:nvSpPr>
          <p:cNvPr id="31" name="text-565"/>
          <p:cNvSpPr txBox="1"/>
          <p:nvPr/>
        </p:nvSpPr>
        <p:spPr>
          <a:xfrm>
            <a:off x="1841602"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Ice Crystal Apartments</a:t>
            </a:r>
            <a:endParaRPr lang="en-US" sz="850" dirty="0"/>
          </a:p>
        </p:txBody>
      </p:sp>
      <p:sp>
        <p:nvSpPr>
          <p:cNvPr id="32" name="text-566"/>
          <p:cNvSpPr txBox="1"/>
          <p:nvPr/>
        </p:nvSpPr>
        <p:spPr>
          <a:xfrm>
            <a:off x="3134563"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150</a:t>
            </a:r>
            <a:endParaRPr lang="en-US" sz="2000" dirty="0"/>
          </a:p>
        </p:txBody>
      </p:sp>
      <p:sp>
        <p:nvSpPr>
          <p:cNvPr id="33" name="text-567"/>
          <p:cNvSpPr txBox="1"/>
          <p:nvPr/>
        </p:nvSpPr>
        <p:spPr>
          <a:xfrm>
            <a:off x="3134563"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older residents in Golden Aurora Senior Residences</a:t>
            </a:r>
            <a:endParaRPr lang="en-US" sz="850" dirty="0"/>
          </a:p>
        </p:txBody>
      </p:sp>
      <p:sp>
        <p:nvSpPr>
          <p:cNvPr id="34" name="text-568"/>
          <p:cNvSpPr txBox="1"/>
          <p:nvPr/>
        </p:nvSpPr>
        <p:spPr>
          <a:xfrm>
            <a:off x="4427525"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120</a:t>
            </a:r>
            <a:endParaRPr lang="en-US" sz="2000" dirty="0"/>
          </a:p>
        </p:txBody>
      </p:sp>
      <p:sp>
        <p:nvSpPr>
          <p:cNvPr id="35" name="text-569"/>
          <p:cNvSpPr txBox="1"/>
          <p:nvPr/>
        </p:nvSpPr>
        <p:spPr>
          <a:xfrm>
            <a:off x="4427525"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rooms in the Student Residence Hall</a:t>
            </a:r>
            <a:endParaRPr lang="en-US" sz="850" dirty="0"/>
          </a:p>
        </p:txBody>
      </p:sp>
      <p:sp>
        <p:nvSpPr>
          <p:cNvPr id="36" name="text-570"/>
          <p:cNvSpPr txBox="1"/>
          <p:nvPr/>
        </p:nvSpPr>
        <p:spPr>
          <a:xfrm>
            <a:off x="5720486"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a:t>
            </a:r>
            <a:endParaRPr lang="en-US" sz="2000" dirty="0"/>
          </a:p>
        </p:txBody>
      </p:sp>
      <p:sp>
        <p:nvSpPr>
          <p:cNvPr id="37" name="text-571"/>
          <p:cNvSpPr txBox="1"/>
          <p:nvPr/>
        </p:nvSpPr>
        <p:spPr>
          <a:xfrm>
            <a:off x="5720486"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residents in the Snowpine Senior Care Home</a:t>
            </a:r>
            <a:endParaRPr lang="en-US" sz="850" dirty="0"/>
          </a:p>
        </p:txBody>
      </p:sp>
      <p:sp>
        <p:nvSpPr>
          <p:cNvPr id="38" name="text-572"/>
          <p:cNvSpPr txBox="1"/>
          <p:nvPr/>
        </p:nvSpPr>
        <p:spPr>
          <a:xfrm>
            <a:off x="548640" y="9692640"/>
            <a:ext cx="6464808" cy="274320"/>
          </a:xfrm>
          <a:prstGeom prst="rect">
            <a:avLst/>
          </a:prstGeom>
          <a:noFill/>
          <a:ln/>
        </p:spPr>
        <p:txBody>
          <a:bodyPr wrap="square" lIns="0" tIns="0" rIns="0" bIns="0" rtlCol="0" anchor="t"/>
          <a:lstStyle/>
          <a:p>
            <a:pPr indent="0" marL="0">
              <a:buNone/>
            </a:pPr>
            <a:r>
              <a:rPr lang="en-US" sz="850" i="1" dirty="0">
                <a:solidFill>
                  <a:schemeClr val="tx2"/>
                </a:solidFill>
              </a:rPr>
              <a:t>Plus family houses in Snowpine Residences and the Frostline Co-Living Tower for newcomers, young workers and visiting researchers.</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57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7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57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577" descr="/home/user/chatbox-bi-n-o/magazine/assets/renders/renewable.jpg">    </p:cNvPr>
          <p:cNvPicPr>
            <a:picLocks noChangeAspect="1"/>
          </p:cNvPicPr>
          <p:nvPr/>
        </p:nvPicPr>
        <p:blipFill>
          <a:blip r:embed="rId1"/>
          <a:srcRect l="0" r="0" t="0" b="0"/>
          <a:stretch/>
        </p:blipFill>
        <p:spPr>
          <a:xfrm>
            <a:off x="0" y="1508760"/>
            <a:ext cx="7562088" cy="4206240"/>
          </a:xfrm>
          <a:prstGeom prst="rect">
            <a:avLst/>
          </a:prstGeom>
        </p:spPr>
      </p:pic>
      <p:sp>
        <p:nvSpPr>
          <p:cNvPr id="6" name="text-578"/>
          <p:cNvSpPr txBox="1"/>
          <p:nvPr/>
        </p:nvSpPr>
        <p:spPr>
          <a:xfrm>
            <a:off x="548640" y="576072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579"/>
          <p:cNvSpPr txBox="1"/>
          <p:nvPr/>
        </p:nvSpPr>
        <p:spPr>
          <a:xfrm>
            <a:off x="548640" y="6053328"/>
            <a:ext cx="6464808" cy="41148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Wind and sun start the city’s own sun. Once fusion is running, they step back and stand guard.</a:t>
            </a:r>
            <a:endParaRPr lang="en-US" sz="1350" dirty="0"/>
          </a:p>
        </p:txBody>
      </p:sp>
      <p:sp>
        <p:nvSpPr>
          <p:cNvPr id="8" name="card-580"/>
          <p:cNvSpPr/>
          <p:nvPr/>
        </p:nvSpPr>
        <p:spPr>
          <a:xfrm>
            <a:off x="548640" y="6629400"/>
            <a:ext cx="1972056" cy="3291840"/>
          </a:xfrm>
          <a:prstGeom prst="roundRect">
            <a:avLst>
              <a:gd name="adj" fmla="val 3709"/>
            </a:avLst>
          </a:prstGeom>
          <a:solidFill>
            <a:schemeClr val="bg2"/>
          </a:solidFill>
          <a:ln w="12700">
            <a:solidFill>
              <a:schemeClr val="bg2"/>
            </a:solidFill>
            <a:prstDash val="solid"/>
          </a:ln>
        </p:spPr>
      </p:sp>
      <p:sp>
        <p:nvSpPr>
          <p:cNvPr id="9" name="step-head-581"/>
          <p:cNvSpPr/>
          <p:nvPr/>
        </p:nvSpPr>
        <p:spPr>
          <a:xfrm>
            <a:off x="548640" y="6629400"/>
            <a:ext cx="1972056" cy="347472"/>
          </a:xfrm>
          <a:prstGeom prst="rect">
            <a:avLst/>
          </a:prstGeom>
          <a:solidFill>
            <a:schemeClr val="accent6"/>
          </a:solidFill>
          <a:ln w="12700">
            <a:solidFill>
              <a:schemeClr val="accent6"/>
            </a:solidFill>
            <a:prstDash val="solid"/>
          </a:ln>
        </p:spPr>
      </p:sp>
      <p:sp>
        <p:nvSpPr>
          <p:cNvPr id="10" name="text-582"/>
          <p:cNvSpPr txBox="1"/>
          <p:nvPr/>
        </p:nvSpPr>
        <p:spPr>
          <a:xfrm>
            <a:off x="676656"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1 · START-UP</a:t>
            </a:r>
            <a:endParaRPr lang="en-US" sz="950" dirty="0"/>
          </a:p>
        </p:txBody>
      </p:sp>
      <p:sp>
        <p:nvSpPr>
          <p:cNvPr id="11" name="text-583"/>
          <p:cNvSpPr txBox="1"/>
          <p:nvPr/>
        </p:nvSpPr>
        <p:spPr>
          <a:xfrm>
            <a:off x="676656" y="7086600"/>
            <a:ext cx="1716024" cy="457200"/>
          </a:xfrm>
          <a:prstGeom prst="rect">
            <a:avLst/>
          </a:prstGeom>
          <a:noFill/>
          <a:ln/>
        </p:spPr>
        <p:txBody>
          <a:bodyPr wrap="square" lIns="0" tIns="0" rIns="0" bIns="0" rtlCol="0" anchor="t"/>
          <a:lstStyle/>
          <a:p>
            <a:pPr indent="0" marL="0">
              <a:buNone/>
            </a:pPr>
            <a:r>
              <a:rPr lang="en-US" sz="1900" b="1" dirty="0">
                <a:solidFill>
                  <a:schemeClr val="accent6"/>
                </a:solidFill>
                <a:latin typeface="+mj-lt" pitchFamily="34" charset="0"/>
                <a:ea typeface="+mj-lt" pitchFamily="34" charset="-122"/>
                <a:cs typeface="+mj-lt" pitchFamily="34" charset="-120"/>
              </a:rPr>
              <a:t>200 MWh</a:t>
            </a:r>
            <a:endParaRPr lang="en-US" sz="1900" dirty="0"/>
          </a:p>
        </p:txBody>
      </p:sp>
      <p:sp>
        <p:nvSpPr>
          <p:cNvPr id="12" name="text-584"/>
          <p:cNvSpPr txBox="1"/>
          <p:nvPr/>
        </p:nvSpPr>
        <p:spPr>
          <a:xfrm>
            <a:off x="676656"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The Ice-Proof Wind Farm (60 MW) and the Bifacial Solar Farm fill the battery bank, which gives the big burst of power that starts the reactor’s magnets and heaters. The panels also catch light off the snow: tests in snowy Canada found about +19% [17].</a:t>
            </a:r>
            <a:endParaRPr lang="en-US" sz="1050" dirty="0"/>
          </a:p>
        </p:txBody>
      </p:sp>
      <p:sp>
        <p:nvSpPr>
          <p:cNvPr id="13" name="arrow-585"/>
          <p:cNvSpPr/>
          <p:nvPr/>
        </p:nvSpPr>
        <p:spPr>
          <a:xfrm>
            <a:off x="2548128" y="8275320"/>
            <a:ext cx="219456" cy="914"/>
          </a:xfrm>
          <a:prstGeom prst="line">
            <a:avLst/>
          </a:prstGeom>
          <a:noFill/>
          <a:ln w="31750">
            <a:solidFill>
              <a:schemeClr val="tx2"/>
            </a:solidFill>
            <a:prstDash val="solid"/>
            <a:tailEnd type="triangle"/>
          </a:ln>
        </p:spPr>
      </p:sp>
      <p:sp>
        <p:nvSpPr>
          <p:cNvPr id="14" name="card-586"/>
          <p:cNvSpPr/>
          <p:nvPr/>
        </p:nvSpPr>
        <p:spPr>
          <a:xfrm>
            <a:off x="2795016" y="6629400"/>
            <a:ext cx="1972056" cy="3291840"/>
          </a:xfrm>
          <a:prstGeom prst="roundRect">
            <a:avLst>
              <a:gd name="adj" fmla="val 3709"/>
            </a:avLst>
          </a:prstGeom>
          <a:solidFill>
            <a:schemeClr val="bg2"/>
          </a:solidFill>
          <a:ln w="12700">
            <a:solidFill>
              <a:schemeClr val="bg2"/>
            </a:solidFill>
            <a:prstDash val="solid"/>
          </a:ln>
        </p:spPr>
      </p:sp>
      <p:sp>
        <p:nvSpPr>
          <p:cNvPr id="15" name="step-head-587"/>
          <p:cNvSpPr/>
          <p:nvPr/>
        </p:nvSpPr>
        <p:spPr>
          <a:xfrm>
            <a:off x="2795016" y="6629400"/>
            <a:ext cx="1972056" cy="347472"/>
          </a:xfrm>
          <a:prstGeom prst="rect">
            <a:avLst/>
          </a:prstGeom>
          <a:solidFill>
            <a:schemeClr val="accent3"/>
          </a:solidFill>
          <a:ln w="12700">
            <a:solidFill>
              <a:schemeClr val="accent3"/>
            </a:solidFill>
            <a:prstDash val="solid"/>
          </a:ln>
        </p:spPr>
      </p:sp>
      <p:sp>
        <p:nvSpPr>
          <p:cNvPr id="16" name="text-588"/>
          <p:cNvSpPr txBox="1"/>
          <p:nvPr/>
        </p:nvSpPr>
        <p:spPr>
          <a:xfrm>
            <a:off x="2923032"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2 · RUNNING</a:t>
            </a:r>
            <a:endParaRPr lang="en-US" sz="950" dirty="0"/>
          </a:p>
        </p:txBody>
      </p:sp>
      <p:sp>
        <p:nvSpPr>
          <p:cNvPr id="17" name="text-589"/>
          <p:cNvSpPr txBox="1"/>
          <p:nvPr/>
        </p:nvSpPr>
        <p:spPr>
          <a:xfrm>
            <a:off x="2923032" y="7086600"/>
            <a:ext cx="1716024" cy="457200"/>
          </a:xfrm>
          <a:prstGeom prst="rect">
            <a:avLst/>
          </a:prstGeom>
          <a:noFill/>
          <a:ln/>
        </p:spPr>
        <p:txBody>
          <a:bodyPr wrap="square" lIns="0" tIns="0" rIns="0" bIns="0" rtlCol="0" anchor="t"/>
          <a:lstStyle/>
          <a:p>
            <a:pPr indent="0" marL="0">
              <a:buNone/>
            </a:pPr>
            <a:r>
              <a:rPr lang="en-US" sz="1900" b="1" dirty="0">
                <a:solidFill>
                  <a:schemeClr val="accent3"/>
                </a:solidFill>
                <a:latin typeface="+mj-lt" pitchFamily="34" charset="0"/>
                <a:ea typeface="+mj-lt" pitchFamily="34" charset="-122"/>
                <a:cs typeface="+mj-lt" pitchFamily="34" charset="-120"/>
              </a:rPr>
              <a:t>300 + 450 MW</a:t>
            </a:r>
            <a:endParaRPr lang="en-US" sz="1900" dirty="0"/>
          </a:p>
        </p:txBody>
      </p:sp>
      <p:sp>
        <p:nvSpPr>
          <p:cNvPr id="18" name="text-590"/>
          <p:cNvSpPr txBox="1"/>
          <p:nvPr/>
        </p:nvSpPr>
        <p:spPr>
          <a:xfrm>
            <a:off x="2923032"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Once the plasma burns, the fusion station keeps itself going and gives the whole city electricity and heat, day and polar night.</a:t>
            </a:r>
            <a:endParaRPr lang="en-US" sz="1050" dirty="0"/>
          </a:p>
        </p:txBody>
      </p:sp>
      <p:sp>
        <p:nvSpPr>
          <p:cNvPr id="19" name="arrow-591"/>
          <p:cNvSpPr/>
          <p:nvPr/>
        </p:nvSpPr>
        <p:spPr>
          <a:xfrm>
            <a:off x="4794504" y="8275320"/>
            <a:ext cx="219456" cy="914"/>
          </a:xfrm>
          <a:prstGeom prst="line">
            <a:avLst/>
          </a:prstGeom>
          <a:noFill/>
          <a:ln w="31750">
            <a:solidFill>
              <a:schemeClr val="tx2"/>
            </a:solidFill>
            <a:prstDash val="solid"/>
            <a:tailEnd type="triangle"/>
          </a:ln>
        </p:spPr>
      </p:sp>
      <p:sp>
        <p:nvSpPr>
          <p:cNvPr id="20" name="card-592"/>
          <p:cNvSpPr/>
          <p:nvPr/>
        </p:nvSpPr>
        <p:spPr>
          <a:xfrm>
            <a:off x="5041392" y="6629400"/>
            <a:ext cx="1972056" cy="3291840"/>
          </a:xfrm>
          <a:prstGeom prst="roundRect">
            <a:avLst>
              <a:gd name="adj" fmla="val 3709"/>
            </a:avLst>
          </a:prstGeom>
          <a:solidFill>
            <a:schemeClr val="bg2"/>
          </a:solidFill>
          <a:ln w="12700">
            <a:solidFill>
              <a:schemeClr val="bg2"/>
            </a:solidFill>
            <a:prstDash val="solid"/>
          </a:ln>
        </p:spPr>
      </p:sp>
      <p:sp>
        <p:nvSpPr>
          <p:cNvPr id="21" name="step-head-593"/>
          <p:cNvSpPr/>
          <p:nvPr/>
        </p:nvSpPr>
        <p:spPr>
          <a:xfrm>
            <a:off x="5041392" y="6629400"/>
            <a:ext cx="1972056" cy="347472"/>
          </a:xfrm>
          <a:prstGeom prst="rect">
            <a:avLst/>
          </a:prstGeom>
          <a:solidFill>
            <a:schemeClr val="accent1"/>
          </a:solidFill>
          <a:ln w="12700">
            <a:solidFill>
              <a:schemeClr val="accent1"/>
            </a:solidFill>
            <a:prstDash val="solid"/>
          </a:ln>
        </p:spPr>
      </p:sp>
      <p:sp>
        <p:nvSpPr>
          <p:cNvPr id="22" name="text-594"/>
          <p:cNvSpPr txBox="1"/>
          <p:nvPr/>
        </p:nvSpPr>
        <p:spPr>
          <a:xfrm>
            <a:off x="5169408"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3 · BACKUP</a:t>
            </a:r>
            <a:endParaRPr lang="en-US" sz="950" dirty="0"/>
          </a:p>
        </p:txBody>
      </p:sp>
      <p:sp>
        <p:nvSpPr>
          <p:cNvPr id="23" name="text-595"/>
          <p:cNvSpPr txBox="1"/>
          <p:nvPr/>
        </p:nvSpPr>
        <p:spPr>
          <a:xfrm>
            <a:off x="5169408" y="7086600"/>
            <a:ext cx="1716024" cy="457200"/>
          </a:xfrm>
          <a:prstGeom prst="rect">
            <a:avLst/>
          </a:prstGeom>
          <a:noFill/>
          <a:ln/>
        </p:spPr>
        <p:txBody>
          <a:bodyPr wrap="square" lIns="0" tIns="0" rIns="0" bIns="0" rtlCol="0" anchor="t"/>
          <a:lstStyle/>
          <a:p>
            <a:pPr indent="0" marL="0">
              <a:buNone/>
            </a:pPr>
            <a:r>
              <a:rPr lang="en-US" sz="1900" b="1" dirty="0">
                <a:solidFill>
                  <a:schemeClr val="accent1"/>
                </a:solidFill>
                <a:latin typeface="+mj-lt" pitchFamily="34" charset="0"/>
                <a:ea typeface="+mj-lt" pitchFamily="34" charset="-122"/>
                <a:cs typeface="+mj-lt" pitchFamily="34" charset="-120"/>
              </a:rPr>
              <a:t>12 h</a:t>
            </a:r>
            <a:endParaRPr lang="en-US" sz="1900" dirty="0"/>
          </a:p>
        </p:txBody>
      </p:sp>
      <p:sp>
        <p:nvSpPr>
          <p:cNvPr id="24" name="text-596"/>
          <p:cNvSpPr txBox="1"/>
          <p:nvPr/>
        </p:nvSpPr>
        <p:spPr>
          <a:xfrm>
            <a:off x="5169408"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If the reactor stops for repair, wind, sun, the batteries, the 24-hour geothermal plant and the 12-hour heat tank take over, so no home goes cold.</a:t>
            </a:r>
            <a:endParaRPr lang="en-US" sz="10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597"/>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59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59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601"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602"/>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603"/>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604"/>
          <p:cNvSpPr/>
          <p:nvPr/>
        </p:nvSpPr>
        <p:spPr>
          <a:xfrm>
            <a:off x="1315974" y="6153912"/>
            <a:ext cx="620268" cy="914"/>
          </a:xfrm>
          <a:prstGeom prst="line">
            <a:avLst/>
          </a:prstGeom>
          <a:noFill/>
          <a:ln w="22225">
            <a:solidFill>
              <a:schemeClr val="accent4"/>
            </a:solidFill>
            <a:prstDash val="solid"/>
            <a:tailEnd type="triangle"/>
          </a:ln>
        </p:spPr>
      </p:sp>
      <p:sp>
        <p:nvSpPr>
          <p:cNvPr id="9" name="marker-605"/>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606"/>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607"/>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608"/>
          <p:cNvSpPr/>
          <p:nvPr/>
        </p:nvSpPr>
        <p:spPr>
          <a:xfrm>
            <a:off x="2393442" y="6153912"/>
            <a:ext cx="620268" cy="914"/>
          </a:xfrm>
          <a:prstGeom prst="line">
            <a:avLst/>
          </a:prstGeom>
          <a:noFill/>
          <a:ln w="22225">
            <a:solidFill>
              <a:schemeClr val="accent4"/>
            </a:solidFill>
            <a:prstDash val="solid"/>
            <a:tailEnd type="triangle"/>
          </a:ln>
        </p:spPr>
      </p:sp>
      <p:sp>
        <p:nvSpPr>
          <p:cNvPr id="13" name="marker-609"/>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610"/>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611"/>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612"/>
          <p:cNvSpPr/>
          <p:nvPr/>
        </p:nvSpPr>
        <p:spPr>
          <a:xfrm>
            <a:off x="3470910" y="6153912"/>
            <a:ext cx="620268" cy="914"/>
          </a:xfrm>
          <a:prstGeom prst="line">
            <a:avLst/>
          </a:prstGeom>
          <a:noFill/>
          <a:ln w="22225">
            <a:solidFill>
              <a:schemeClr val="accent4"/>
            </a:solidFill>
            <a:prstDash val="solid"/>
            <a:tailEnd type="triangle"/>
          </a:ln>
        </p:spPr>
      </p:sp>
      <p:sp>
        <p:nvSpPr>
          <p:cNvPr id="17" name="marker-613"/>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614"/>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615"/>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616"/>
          <p:cNvSpPr/>
          <p:nvPr/>
        </p:nvSpPr>
        <p:spPr>
          <a:xfrm>
            <a:off x="4548378" y="6153912"/>
            <a:ext cx="620268" cy="914"/>
          </a:xfrm>
          <a:prstGeom prst="line">
            <a:avLst/>
          </a:prstGeom>
          <a:noFill/>
          <a:ln w="22225">
            <a:solidFill>
              <a:schemeClr val="accent4"/>
            </a:solidFill>
            <a:prstDash val="solid"/>
            <a:tailEnd type="triangle"/>
          </a:ln>
        </p:spPr>
      </p:sp>
      <p:sp>
        <p:nvSpPr>
          <p:cNvPr id="21" name="marker-617"/>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618"/>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619"/>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620"/>
          <p:cNvSpPr/>
          <p:nvPr/>
        </p:nvSpPr>
        <p:spPr>
          <a:xfrm>
            <a:off x="5625846" y="6153912"/>
            <a:ext cx="620268" cy="914"/>
          </a:xfrm>
          <a:prstGeom prst="line">
            <a:avLst/>
          </a:prstGeom>
          <a:noFill/>
          <a:ln w="22225">
            <a:solidFill>
              <a:schemeClr val="accent4"/>
            </a:solidFill>
            <a:prstDash val="solid"/>
            <a:tailEnd type="triangle"/>
          </a:ln>
        </p:spPr>
      </p:sp>
      <p:sp>
        <p:nvSpPr>
          <p:cNvPr id="25" name="marker-621"/>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622"/>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623"/>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624"/>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625"/>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626"/>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627"/>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628"/>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629"/>
          <p:cNvSpPr txBox="1"/>
          <p:nvPr/>
        </p:nvSpPr>
        <p:spPr>
          <a:xfrm>
            <a:off x="548640"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95%</a:t>
            </a:r>
            <a:endParaRPr lang="en-US" sz="2600" dirty="0"/>
          </a:p>
        </p:txBody>
      </p:sp>
      <p:sp>
        <p:nvSpPr>
          <p:cNvPr id="34" name="text-630"/>
          <p:cNvSpPr txBox="1"/>
          <p:nvPr/>
        </p:nvSpPr>
        <p:spPr>
          <a:xfrm>
            <a:off x="548640"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is used again</a:t>
            </a:r>
            <a:endParaRPr lang="en-US" sz="900" dirty="0"/>
          </a:p>
        </p:txBody>
      </p:sp>
      <p:sp>
        <p:nvSpPr>
          <p:cNvPr id="35" name="text-631"/>
          <p:cNvSpPr txBox="1"/>
          <p:nvPr/>
        </p:nvSpPr>
        <p:spPr>
          <a:xfrm>
            <a:off x="2703576"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30 tonnes</a:t>
            </a:r>
            <a:endParaRPr lang="en-US" sz="2600" dirty="0"/>
          </a:p>
        </p:txBody>
      </p:sp>
      <p:sp>
        <p:nvSpPr>
          <p:cNvPr id="36" name="text-632"/>
          <p:cNvSpPr txBox="1"/>
          <p:nvPr/>
        </p:nvSpPr>
        <p:spPr>
          <a:xfrm>
            <a:off x="2703576"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every day</a:t>
            </a:r>
            <a:endParaRPr lang="en-US" sz="900" dirty="0"/>
          </a:p>
        </p:txBody>
      </p:sp>
      <p:sp>
        <p:nvSpPr>
          <p:cNvPr id="37" name="text-633"/>
          <p:cNvSpPr txBox="1"/>
          <p:nvPr/>
        </p:nvSpPr>
        <p:spPr>
          <a:xfrm>
            <a:off x="4858512"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0</a:t>
            </a:r>
            <a:endParaRPr lang="en-US" sz="2600" dirty="0"/>
          </a:p>
        </p:txBody>
      </p:sp>
      <p:sp>
        <p:nvSpPr>
          <p:cNvPr id="38" name="text-634"/>
          <p:cNvSpPr txBox="1"/>
          <p:nvPr/>
        </p:nvSpPr>
        <p:spPr>
          <a:xfrm>
            <a:off x="4858512"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rubbish sent to landfill</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635"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636"/>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637"/>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638"/>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639"/>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641"/>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642"/>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643"/>
          <p:cNvSpPr txBox="1"/>
          <p:nvPr/>
        </p:nvSpPr>
        <p:spPr>
          <a:xfrm>
            <a:off x="548640"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Wildlife corridors. </a:t>
            </a:r>
            <a:pPr indent="0" marL="0">
              <a:lnSpc>
                <a:spcPct val="106000"/>
              </a:lnSpc>
              <a:spcAft>
                <a:spcPts val="500"/>
              </a:spcAft>
              <a:buNone/>
            </a:pPr>
            <a:r>
              <a:rPr lang="en-US" sz="1000" dirty="0">
                <a:solidFill>
                  <a:schemeClr val="tx1"/>
                </a:solidFill>
              </a:rPr>
              <a:t>Snow-laden trees on the eastern and western edges give snow buntings, ptarmigans, arctic foxes and hares cover between the open tundra and the parks. Roads beside them have dimmed lights and wildlife underpasses.</a:t>
            </a:r>
            <a:endParaRPr lang="en-US" sz="1000" dirty="0"/>
          </a:p>
          <a:p>
            <a:pPr indent="0" marL="0">
              <a:lnSpc>
                <a:spcPct val="106000"/>
              </a:lnSpc>
              <a:buNone/>
            </a:pPr>
            <a:r>
              <a:rPr lang="en-US" sz="1000" b="1" dirty="0">
                <a:solidFill>
                  <a:schemeClr val="tx1"/>
                </a:solidFill>
              </a:rPr>
              <a:t>Fences with gaps. </a:t>
            </a:r>
            <a:pPr indent="0" marL="0">
              <a:lnSpc>
                <a:spcPct val="106000"/>
              </a:lnSpc>
              <a:spcAft>
                <a:spcPts val="500"/>
              </a:spcAft>
              <a:buNone/>
            </a:pPr>
            <a:r>
              <a:rPr lang="en-US" sz="1000" dirty="0">
                <a:solidFill>
                  <a:schemeClr val="tx1"/>
                </a:solidFill>
              </a:rPr>
              <a:t>Park fences have open rails, so drifting snow blows through, and gaps at ground level, so foxes and hares pass freely.</a:t>
            </a:r>
            <a:endParaRPr lang="en-US" sz="1000" dirty="0"/>
          </a:p>
          <a:p>
            <a:pPr indent="0" marL="0">
              <a:lnSpc>
                <a:spcPct val="106000"/>
              </a:lnSpc>
              <a:buNone/>
            </a:pPr>
            <a:r>
              <a:rPr lang="en-US" sz="1000" b="1" dirty="0">
                <a:solidFill>
                  <a:schemeClr val="tx1"/>
                </a:solidFill>
              </a:rPr>
              <a:t>Reindeer. </a:t>
            </a:r>
            <a:pPr indent="0" marL="0">
              <a:lnSpc>
                <a:spcPct val="106000"/>
              </a:lnSpc>
              <a:spcAft>
                <a:spcPts val="500"/>
              </a:spcAft>
              <a:buNone/>
            </a:pPr>
            <a:r>
              <a:rPr lang="en-US" sz="1000" dirty="0">
                <a:solidFill>
                  <a:schemeClr val="tx1"/>
                </a:solidFill>
              </a:rPr>
              <a:t>The eco-tour herd is cared for by herders who follow Sámi traditions. Rides last only a few hours a day, and GPS collars help find animals grazing on the tundra.</a:t>
            </a:r>
            <a:endParaRPr lang="en-US" sz="1000" dirty="0"/>
          </a:p>
          <a:p>
            <a:pPr indent="0" marL="0">
              <a:lnSpc>
                <a:spcPct val="106000"/>
              </a:lnSpc>
              <a:buNone/>
            </a:pPr>
            <a:r>
              <a:rPr lang="en-US" sz="1000" b="1" dirty="0">
                <a:solidFill>
                  <a:schemeClr val="tx1"/>
                </a:solidFill>
              </a:rPr>
              <a:t>Polar bears. </a:t>
            </a:r>
            <a:pPr indent="0" marL="0">
              <a:lnSpc>
                <a:spcPct val="106000"/>
              </a:lnSpc>
              <a:spcAft>
                <a:spcPts val="500"/>
              </a:spcAft>
              <a:buNone/>
            </a:pPr>
            <a:r>
              <a:rPr lang="en-US" sz="1000" dirty="0">
                <a:solidFill>
                  <a:schemeClr val="tx1"/>
                </a:solidFill>
              </a:rPr>
              <a:t>Fibre-optic sensors in the air base fence alert a wildlife team when a bear comes close, so people and bears stay apart safely.</a:t>
            </a:r>
            <a:endParaRPr lang="en-US" sz="1000" dirty="0"/>
          </a:p>
        </p:txBody>
      </p:sp>
      <p:sp>
        <p:nvSpPr>
          <p:cNvPr id="10" name="text-644"/>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645"/>
          <p:cNvSpPr txBox="1"/>
          <p:nvPr/>
        </p:nvSpPr>
        <p:spPr>
          <a:xfrm>
            <a:off x="3918204"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Living snow fences. </a:t>
            </a:r>
            <a:pPr indent="0" marL="0">
              <a:lnSpc>
                <a:spcPct val="106000"/>
              </a:lnSpc>
              <a:spcAft>
                <a:spcPts val="500"/>
              </a:spcAft>
              <a:buNone/>
            </a:pPr>
            <a:r>
              <a:rPr lang="en-US" sz="1000" dirty="0">
                <a:solidFill>
                  <a:schemeClr val="tx1"/>
                </a:solidFill>
              </a:rPr>
              <a:t>Belts of snow spruces and arctic pines trap drifting snow before it reaches the streets; the clean snow is collected for the food plant.</a:t>
            </a:r>
            <a:endParaRPr lang="en-US" sz="1000" dirty="0"/>
          </a:p>
          <a:p>
            <a:pPr indent="0" marL="0">
              <a:lnSpc>
                <a:spcPct val="106000"/>
              </a:lnSpc>
              <a:buNone/>
            </a:pPr>
            <a:r>
              <a:rPr lang="en-US" sz="1000" b="1" dirty="0">
                <a:solidFill>
                  <a:schemeClr val="tx1"/>
                </a:solidFill>
              </a:rPr>
              <a:t>Green stepping stones. </a:t>
            </a:r>
            <a:pPr indent="0" marL="0">
              <a:lnSpc>
                <a:spcPct val="106000"/>
              </a:lnSpc>
              <a:spcAft>
                <a:spcPts val="500"/>
              </a:spcAft>
              <a:buNone/>
            </a:pPr>
            <a:r>
              <a:rPr lang="en-US" sz="1000" dirty="0">
                <a:solidFill>
                  <a:schemeClr val="tx1"/>
                </a:solidFill>
              </a:rPr>
              <a:t>Snow lindens line Liberty Mall, and dwarf pines in heated planters on the Aurora 81 Sky Garden give birds a stepping stone across the city.</a:t>
            </a:r>
            <a:endParaRPr lang="en-US" sz="1000" dirty="0"/>
          </a:p>
          <a:p>
            <a:pPr indent="0" marL="0">
              <a:lnSpc>
                <a:spcPct val="106000"/>
              </a:lnSpc>
              <a:buNone/>
            </a:pPr>
            <a:r>
              <a:rPr lang="en-US" sz="1000" b="1" dirty="0">
                <a:solidFill>
                  <a:schemeClr val="tx1"/>
                </a:solidFill>
              </a:rPr>
              <a:t>Aquaponics. </a:t>
            </a:r>
            <a:pPr indent="0" marL="0">
              <a:lnSpc>
                <a:spcPct val="106000"/>
              </a:lnSpc>
              <a:spcAft>
                <a:spcPts val="500"/>
              </a:spcAft>
              <a:buNone/>
            </a:pPr>
            <a:r>
              <a:rPr lang="en-US" sz="1000" dirty="0">
                <a:solidFill>
                  <a:schemeClr val="tx1"/>
                </a:solidFill>
              </a:rPr>
              <a:t>In the Evergreen Aquaponics Dome, Arctic char and rainbow trout feed beds of lettuce, herbs and strawberries; the loop loses under 2% of its water a day.</a:t>
            </a:r>
            <a:endParaRPr lang="en-US" sz="1000" dirty="0"/>
          </a:p>
          <a:p>
            <a:pPr indent="0" marL="0">
              <a:lnSpc>
                <a:spcPct val="106000"/>
              </a:lnSpc>
              <a:buNone/>
            </a:pPr>
            <a:r>
              <a:rPr lang="en-US" sz="1000" b="1" dirty="0">
                <a:solidFill>
                  <a:schemeClr val="tx1"/>
                </a:solidFill>
              </a:rPr>
              <a:t>Shelter and science. </a:t>
            </a:r>
            <a:pPr indent="0" marL="0">
              <a:lnSpc>
                <a:spcPct val="106000"/>
              </a:lnSpc>
              <a:spcAft>
                <a:spcPts val="500"/>
              </a:spcAft>
              <a:buNone/>
            </a:pPr>
            <a:r>
              <a:rPr lang="en-US" sz="1000" dirty="0">
                <a:solidFill>
                  <a:schemeClr val="tx1"/>
                </a:solidFill>
              </a:rPr>
              <a:t>Rock gardens and boulders shelter ptarmigans and hares; nest boxes and a camera let schoolchildren count visitors with the Polar Climate &amp; Ice Research Institute.</a:t>
            </a:r>
            <a:endParaRPr lang="en-US" sz="1000" dirty="0"/>
          </a:p>
        </p:txBody>
      </p:sp>
      <p:sp>
        <p:nvSpPr>
          <p:cNvPr id="12" name="card-646"/>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647"/>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64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4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65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652"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653"/>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654"/>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four-car trains run underground, so blizzards never stop them.</a:t>
            </a:r>
            <a:endParaRPr lang="en-US" sz="1000" dirty="0"/>
          </a:p>
          <a:p>
            <a:pPr indent="0" marL="0">
              <a:lnSpc>
                <a:spcPct val="112000"/>
              </a:lnSpc>
              <a:spcAft>
                <a:spcPts val="700"/>
              </a:spcAft>
              <a:buNone/>
            </a:pPr>
            <a:r>
              <a:rPr lang="en-US" sz="1000" dirty="0">
                <a:solidFill>
                  <a:schemeClr val="tx1"/>
                </a:solidFill>
              </a:rPr>
              <a:t>On the streets there are electric trams, buses and shared robotaxis, and people wait in heated bus shelters. The roads are warmed from below, so no salt is needed, as in Reykjavík, where water returning from home heating melts the snow under streets [18].</a:t>
            </a:r>
            <a:endParaRPr lang="en-US" sz="1000" dirty="0"/>
          </a:p>
          <a:p>
            <a:pPr indent="0" marL="0">
              <a:lnSpc>
                <a:spcPct val="112000"/>
              </a:lnSpc>
              <a:spcAft>
                <a:spcPts val="700"/>
              </a:spcAft>
              <a:buNone/>
            </a:pPr>
            <a:r>
              <a:rPr lang="en-US" sz="1000" dirty="0">
                <a:solidFill>
                  <a:schemeClr val="tx1"/>
                </a:solidFill>
              </a:rPr>
              <a:t>The airport, with its heated runway and e-fuel planes, keeps the city supplied through deep winter.</a:t>
            </a:r>
            <a:endParaRPr lang="en-US" sz="100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655"/>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656"/>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657"/>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658"/>
          <p:cNvSpPr/>
          <p:nvPr/>
        </p:nvSpPr>
        <p:spPr>
          <a:xfrm>
            <a:off x="548640" y="7452360"/>
            <a:ext cx="1533906" cy="1536192"/>
          </a:xfrm>
          <a:prstGeom prst="roundRect">
            <a:avLst>
              <a:gd name="adj" fmla="val 4769"/>
            </a:avLst>
          </a:prstGeom>
          <a:solidFill>
            <a:schemeClr val="bg2"/>
          </a:solidFill>
          <a:ln w="12700">
            <a:solidFill>
              <a:schemeClr val="bg2"/>
            </a:solidFill>
            <a:prstDash val="solid"/>
          </a:ln>
        </p:spPr>
      </p:sp>
      <p:sp>
        <p:nvSpPr>
          <p:cNvPr id="15" name="text-659"/>
          <p:cNvSpPr txBox="1"/>
          <p:nvPr/>
        </p:nvSpPr>
        <p:spPr>
          <a:xfrm>
            <a:off x="640080"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Who rides</a:t>
            </a:r>
            <a:endParaRPr lang="en-US" sz="950" dirty="0"/>
          </a:p>
        </p:txBody>
      </p:sp>
      <p:sp>
        <p:nvSpPr>
          <p:cNvPr id="16" name="text-660"/>
          <p:cNvSpPr txBox="1"/>
          <p:nvPr/>
        </p:nvSpPr>
        <p:spPr>
          <a:xfrm>
            <a:off x="640080"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Commuters, students, shoppers and stadium fans. Heated cars have space for wheelchairs, prams and skis.</a:t>
            </a:r>
            <a:endParaRPr lang="en-US" sz="850" dirty="0"/>
          </a:p>
        </p:txBody>
      </p:sp>
      <p:sp>
        <p:nvSpPr>
          <p:cNvPr id="17" name="card-661"/>
          <p:cNvSpPr/>
          <p:nvPr/>
        </p:nvSpPr>
        <p:spPr>
          <a:xfrm>
            <a:off x="2192274" y="7452360"/>
            <a:ext cx="1533906" cy="1536192"/>
          </a:xfrm>
          <a:prstGeom prst="roundRect">
            <a:avLst>
              <a:gd name="adj" fmla="val 4769"/>
            </a:avLst>
          </a:prstGeom>
          <a:solidFill>
            <a:schemeClr val="bg2"/>
          </a:solidFill>
          <a:ln w="12700">
            <a:solidFill>
              <a:schemeClr val="bg2"/>
            </a:solidFill>
            <a:prstDash val="solid"/>
          </a:ln>
        </p:spPr>
      </p:sp>
      <p:sp>
        <p:nvSpPr>
          <p:cNvPr id="18" name="text-662"/>
          <p:cNvSpPr txBox="1"/>
          <p:nvPr/>
        </p:nvSpPr>
        <p:spPr>
          <a:xfrm>
            <a:off x="2283714"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How many</a:t>
            </a:r>
            <a:endParaRPr lang="en-US" sz="950" dirty="0"/>
          </a:p>
        </p:txBody>
      </p:sp>
      <p:sp>
        <p:nvSpPr>
          <p:cNvPr id="19" name="text-663"/>
          <p:cNvSpPr txBox="1"/>
          <p:nvPr/>
        </p:nvSpPr>
        <p:spPr>
          <a:xfrm>
            <a:off x="2283714"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850" dirty="0"/>
          </a:p>
        </p:txBody>
      </p:sp>
      <p:sp>
        <p:nvSpPr>
          <p:cNvPr id="20" name="card-664"/>
          <p:cNvSpPr/>
          <p:nvPr/>
        </p:nvSpPr>
        <p:spPr>
          <a:xfrm>
            <a:off x="3835908" y="7452360"/>
            <a:ext cx="1533906" cy="1536192"/>
          </a:xfrm>
          <a:prstGeom prst="roundRect">
            <a:avLst>
              <a:gd name="adj" fmla="val 4769"/>
            </a:avLst>
          </a:prstGeom>
          <a:solidFill>
            <a:schemeClr val="bg2"/>
          </a:solidFill>
          <a:ln w="12700">
            <a:solidFill>
              <a:schemeClr val="bg2"/>
            </a:solidFill>
            <a:prstDash val="solid"/>
          </a:ln>
        </p:spPr>
      </p:sp>
      <p:sp>
        <p:nvSpPr>
          <p:cNvPr id="21" name="text-665"/>
          <p:cNvSpPr txBox="1"/>
          <p:nvPr/>
        </p:nvSpPr>
        <p:spPr>
          <a:xfrm>
            <a:off x="3927348"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Safe in a storm</a:t>
            </a:r>
            <a:endParaRPr lang="en-US" sz="950" dirty="0"/>
          </a:p>
        </p:txBody>
      </p:sp>
      <p:sp>
        <p:nvSpPr>
          <p:cNvPr id="22" name="text-666"/>
          <p:cNvSpPr txBox="1"/>
          <p:nvPr/>
        </p:nvSpPr>
        <p:spPr>
          <a:xfrm>
            <a:off x="3927348"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Deep, insulated tunnels kept at about +5 °C, emergency walkways with glow strips, and doors straight into the four shelters.</a:t>
            </a:r>
            <a:endParaRPr lang="en-US" sz="850" dirty="0"/>
          </a:p>
        </p:txBody>
      </p:sp>
      <p:sp>
        <p:nvSpPr>
          <p:cNvPr id="23" name="card-667"/>
          <p:cNvSpPr/>
          <p:nvPr/>
        </p:nvSpPr>
        <p:spPr>
          <a:xfrm>
            <a:off x="5479542" y="7452360"/>
            <a:ext cx="1533906" cy="1536192"/>
          </a:xfrm>
          <a:prstGeom prst="roundRect">
            <a:avLst>
              <a:gd name="adj" fmla="val 4769"/>
            </a:avLst>
          </a:prstGeom>
          <a:solidFill>
            <a:schemeClr val="bg2"/>
          </a:solidFill>
          <a:ln w="12700">
            <a:solidFill>
              <a:schemeClr val="bg2"/>
            </a:solidFill>
            <a:prstDash val="solid"/>
          </a:ln>
        </p:spPr>
      </p:sp>
      <p:sp>
        <p:nvSpPr>
          <p:cNvPr id="24" name="text-668"/>
          <p:cNvSpPr txBox="1"/>
          <p:nvPr/>
        </p:nvSpPr>
        <p:spPr>
          <a:xfrm>
            <a:off x="5570982"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Powered by</a:t>
            </a:r>
            <a:endParaRPr lang="en-US" sz="950" dirty="0"/>
          </a:p>
        </p:txBody>
      </p:sp>
      <p:sp>
        <p:nvSpPr>
          <p:cNvPr id="25" name="text-669"/>
          <p:cNvSpPr txBox="1"/>
          <p:nvPr/>
        </p:nvSpPr>
        <p:spPr>
          <a:xfrm>
            <a:off x="5570982"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All-electric and driverless. Braking returns about 30% of the energy, and insulation, not heaters, keeps the tunnels above freezing.</a:t>
            </a:r>
            <a:endParaRPr lang="en-US" sz="850" dirty="0"/>
          </a:p>
        </p:txBody>
      </p:sp>
      <p:sp>
        <p:nvSpPr>
          <p:cNvPr id="26" name="text-670"/>
          <p:cNvSpPr txBox="1"/>
          <p:nvPr/>
        </p:nvSpPr>
        <p:spPr>
          <a:xfrm>
            <a:off x="548640" y="9116568"/>
            <a:ext cx="2045208"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 min</a:t>
            </a:r>
            <a:endParaRPr lang="en-US" sz="2000" dirty="0"/>
          </a:p>
        </p:txBody>
      </p:sp>
      <p:sp>
        <p:nvSpPr>
          <p:cNvPr id="27" name="text-671"/>
          <p:cNvSpPr txBox="1"/>
          <p:nvPr/>
        </p:nvSpPr>
        <p:spPr>
          <a:xfrm>
            <a:off x="548640" y="9471152"/>
            <a:ext cx="2045208"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between trains at rush hour</a:t>
            </a:r>
            <a:endParaRPr lang="en-US" sz="850" dirty="0"/>
          </a:p>
        </p:txBody>
      </p:sp>
      <p:sp>
        <p:nvSpPr>
          <p:cNvPr id="28" name="text-672"/>
          <p:cNvSpPr txBox="1"/>
          <p:nvPr/>
        </p:nvSpPr>
        <p:spPr>
          <a:xfrm>
            <a:off x="2703576" y="9116568"/>
            <a:ext cx="2045208"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30%</a:t>
            </a:r>
            <a:endParaRPr lang="en-US" sz="2000" dirty="0"/>
          </a:p>
        </p:txBody>
      </p:sp>
      <p:sp>
        <p:nvSpPr>
          <p:cNvPr id="29" name="text-673"/>
          <p:cNvSpPr txBox="1"/>
          <p:nvPr/>
        </p:nvSpPr>
        <p:spPr>
          <a:xfrm>
            <a:off x="2703576" y="9471152"/>
            <a:ext cx="2045208"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of train energy returned by braking</a:t>
            </a:r>
            <a:endParaRPr lang="en-US" sz="850" dirty="0"/>
          </a:p>
        </p:txBody>
      </p:sp>
      <p:sp>
        <p:nvSpPr>
          <p:cNvPr id="30" name="text-674"/>
          <p:cNvSpPr txBox="1"/>
          <p:nvPr/>
        </p:nvSpPr>
        <p:spPr>
          <a:xfrm>
            <a:off x="4858512" y="9116568"/>
            <a:ext cx="2045208"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2,800 m</a:t>
            </a:r>
            <a:endParaRPr lang="en-US" sz="2000" dirty="0"/>
          </a:p>
        </p:txBody>
      </p:sp>
      <p:sp>
        <p:nvSpPr>
          <p:cNvPr id="31" name="text-675"/>
          <p:cNvSpPr txBox="1"/>
          <p:nvPr/>
        </p:nvSpPr>
        <p:spPr>
          <a:xfrm>
            <a:off x="4858512" y="9471152"/>
            <a:ext cx="2045208"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heated airport runway</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picture-676"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677"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678"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679"/>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680"/>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681"/>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683"/>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684"/>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685"/>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686"/>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687"/>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688"/>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689"/>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690"/>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69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69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694" descr="/home/user/chatbox-bi-n-o/magazine/assets/renders/rescue.jpg">    </p:cNvPr>
          <p:cNvPicPr>
            <a:picLocks noChangeAspect="1"/>
          </p:cNvPicPr>
          <p:nvPr/>
        </p:nvPicPr>
        <p:blipFill>
          <a:blip r:embed="rId1"/>
          <a:srcRect l="0" r="0" t="0" b="0"/>
          <a:stretch/>
        </p:blipFill>
        <p:spPr>
          <a:xfrm>
            <a:off x="0" y="1508760"/>
            <a:ext cx="7562088" cy="4480560"/>
          </a:xfrm>
          <a:prstGeom prst="rect">
            <a:avLst/>
          </a:prstGeom>
        </p:spPr>
      </p:pic>
      <p:sp>
        <p:nvSpPr>
          <p:cNvPr id="6" name="text-695"/>
          <p:cNvSpPr txBox="1"/>
          <p:nvPr/>
        </p:nvSpPr>
        <p:spPr>
          <a:xfrm>
            <a:off x="548640" y="60350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696"/>
          <p:cNvSpPr txBox="1"/>
          <p:nvPr/>
        </p:nvSpPr>
        <p:spPr>
          <a:xfrm>
            <a:off x="548640" y="644652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697"/>
          <p:cNvSpPr txBox="1"/>
          <p:nvPr/>
        </p:nvSpPr>
        <p:spPr>
          <a:xfrm>
            <a:off x="3918204" y="644652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698"/>
          <p:cNvSpPr txBox="1"/>
          <p:nvPr/>
        </p:nvSpPr>
        <p:spPr>
          <a:xfrm>
            <a:off x="548640"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60 s</a:t>
            </a:r>
            <a:endParaRPr lang="en-US" sz="2800" dirty="0"/>
          </a:p>
        </p:txBody>
      </p:sp>
      <p:sp>
        <p:nvSpPr>
          <p:cNvPr id="10" name="text-699"/>
          <p:cNvSpPr txBox="1"/>
          <p:nvPr/>
        </p:nvSpPr>
        <p:spPr>
          <a:xfrm>
            <a:off x="548640"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700"/>
          <p:cNvSpPr txBox="1"/>
          <p:nvPr/>
        </p:nvSpPr>
        <p:spPr>
          <a:xfrm>
            <a:off x="2703576"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30 days</a:t>
            </a:r>
            <a:endParaRPr lang="en-US" sz="2800" dirty="0"/>
          </a:p>
        </p:txBody>
      </p:sp>
      <p:sp>
        <p:nvSpPr>
          <p:cNvPr id="12" name="text-701"/>
          <p:cNvSpPr txBox="1"/>
          <p:nvPr/>
        </p:nvSpPr>
        <p:spPr>
          <a:xfrm>
            <a:off x="2703576"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3" name="text-702"/>
          <p:cNvSpPr txBox="1"/>
          <p:nvPr/>
        </p:nvSpPr>
        <p:spPr>
          <a:xfrm>
            <a:off x="4858512"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48 h</a:t>
            </a:r>
            <a:endParaRPr lang="en-US" sz="2800" dirty="0"/>
          </a:p>
        </p:txBody>
      </p:sp>
      <p:sp>
        <p:nvSpPr>
          <p:cNvPr id="14" name="text-703"/>
          <p:cNvSpPr txBox="1"/>
          <p:nvPr/>
        </p:nvSpPr>
        <p:spPr>
          <a:xfrm>
            <a:off x="4858512"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04"/>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0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70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708"/>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709"/>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710"/>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711"/>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712"/>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713"/>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714"/>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15"/>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16"/>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tonnes a year [6]. Heated streets, insulated tunnels and triple glazing all cost more than ordinary ones.</a:t>
            </a:r>
            <a:endParaRPr lang="en-US" sz="1000" dirty="0"/>
          </a:p>
        </p:txBody>
      </p:sp>
      <p:sp>
        <p:nvSpPr>
          <p:cNvPr id="14" name="text-717"/>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18"/>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19"/>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20"/>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21"/>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22"/>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23"/>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24"/>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25"/>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26"/>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27"/>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28"/>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29"/>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30"/>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731"/>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732"/>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733"/>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734"/>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735"/>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736"/>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737"/>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738"/>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picture-739" descr="/home/user/chatbox-bi-n-o/magazine/assets/renders/approach_dusk.jpg">    </p:cNvPr>
          <p:cNvPicPr>
            <a:picLocks noChangeAspect="1"/>
          </p:cNvPicPr>
          <p:nvPr/>
        </p:nvPicPr>
        <p:blipFill>
          <a:blip r:embed="rId1"/>
          <a:srcRect l="0" r="0" t="0" b="0"/>
          <a:stretch/>
        </p:blipFill>
        <p:spPr>
          <a:xfrm>
            <a:off x="0" y="0"/>
            <a:ext cx="7562088" cy="3017520"/>
          </a:xfrm>
          <a:prstGeom prst="rect">
            <a:avLst/>
          </a:prstGeom>
        </p:spPr>
      </p:pic>
      <p:pic>
        <p:nvPicPr>
          <p:cNvPr id="3" name="shade-bottom-740" descr="/home/user/chatbox-bi-n-o/magazine/assets/ui/shade_bottom.png">    </p:cNvPr>
          <p:cNvPicPr>
            <a:picLocks noChangeAspect="1"/>
          </p:cNvPicPr>
          <p:nvPr/>
        </p:nvPicPr>
        <p:blipFill>
          <a:blip r:embed="rId2"/>
          <a:stretch>
            <a:fillRect/>
          </a:stretch>
        </p:blipFill>
        <p:spPr>
          <a:xfrm>
            <a:off x="0" y="1097280"/>
            <a:ext cx="7562088" cy="1920240"/>
          </a:xfrm>
          <a:prstGeom prst="rect">
            <a:avLst/>
          </a:prstGeom>
        </p:spPr>
      </p:pic>
      <p:sp>
        <p:nvSpPr>
          <p:cNvPr id="4" name="kicker-dot-741"/>
          <p:cNvSpPr/>
          <p:nvPr/>
        </p:nvSpPr>
        <p:spPr>
          <a:xfrm>
            <a:off x="548640" y="1979676"/>
            <a:ext cx="100584" cy="100584"/>
          </a:xfrm>
          <a:prstGeom prst="ellipse">
            <a:avLst/>
          </a:prstGeom>
          <a:solidFill>
            <a:schemeClr val="accent1"/>
          </a:solidFill>
          <a:ln w="12700">
            <a:solidFill>
              <a:schemeClr val="accent1"/>
            </a:solidFill>
            <a:prstDash val="solid"/>
          </a:ln>
        </p:spPr>
      </p:sp>
      <p:sp>
        <p:nvSpPr>
          <p:cNvPr id="5" name="text-742"/>
          <p:cNvSpPr txBox="1"/>
          <p:nvPr/>
        </p:nvSpPr>
        <p:spPr>
          <a:xfrm>
            <a:off x="731520" y="193852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INVESTMENT OPPORTUNITY</a:t>
            </a:r>
            <a:endParaRPr lang="en-US" sz="900" dirty="0"/>
          </a:p>
        </p:txBody>
      </p:sp>
      <p:sp>
        <p:nvSpPr>
          <p:cNvPr id="6" name="title-743"/>
          <p:cNvSpPr txBox="1"/>
          <p:nvPr/>
        </p:nvSpPr>
        <p:spPr>
          <a:xfrm>
            <a:off x="548640" y="2194560"/>
            <a:ext cx="6464808" cy="73152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Invest in Aurora Haven</a:t>
            </a:r>
            <a:endParaRPr lang="en-US" sz="3800" dirty="0"/>
          </a:p>
        </p:txBody>
      </p:sp>
      <p:sp>
        <p:nvSpPr>
          <p:cNvPr id="7" name="text-745"/>
          <p:cNvSpPr txBox="1"/>
          <p:nvPr/>
        </p:nvSpPr>
        <p:spPr>
          <a:xfrm>
            <a:off x="548640" y="3072384"/>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Mount Aurora Approach at dusk: the street from downtown to the spa.</a:t>
            </a:r>
            <a:endParaRPr lang="en-US" sz="850" dirty="0"/>
          </a:p>
        </p:txBody>
      </p:sp>
      <p:sp>
        <p:nvSpPr>
          <p:cNvPr id="8" name="text-746"/>
          <p:cNvSpPr txBox="1"/>
          <p:nvPr/>
        </p:nvSpPr>
        <p:spPr>
          <a:xfrm>
            <a:off x="548640" y="3364992"/>
            <a:ext cx="6464808" cy="64008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Aurora Haven needs partners to build it. We are looking for investors who want a share in a zero-carbon city, built step by step, starting with technology that already works today.</a:t>
            </a:r>
            <a:endParaRPr lang="en-US" sz="1300" dirty="0"/>
          </a:p>
        </p:txBody>
      </p:sp>
      <p:sp>
        <p:nvSpPr>
          <p:cNvPr id="9" name="text-747"/>
          <p:cNvSpPr txBox="1"/>
          <p:nvPr/>
        </p:nvSpPr>
        <p:spPr>
          <a:xfrm>
            <a:off x="548640" y="4114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THREE WAYS TO INVEST</a:t>
            </a:r>
            <a:endParaRPr lang="en-US" sz="900" dirty="0"/>
          </a:p>
        </p:txBody>
      </p:sp>
      <p:sp>
        <p:nvSpPr>
          <p:cNvPr id="10" name="card-748"/>
          <p:cNvSpPr/>
          <p:nvPr/>
        </p:nvSpPr>
        <p:spPr>
          <a:xfrm>
            <a:off x="548640" y="4370832"/>
            <a:ext cx="2063496" cy="1572768"/>
          </a:xfrm>
          <a:prstGeom prst="roundRect">
            <a:avLst>
              <a:gd name="adj" fmla="val 4651"/>
            </a:avLst>
          </a:prstGeom>
          <a:solidFill>
            <a:schemeClr val="bg2"/>
          </a:solidFill>
          <a:ln w="12700">
            <a:solidFill>
              <a:schemeClr val="bg2"/>
            </a:solidFill>
            <a:prstDash val="solid"/>
          </a:ln>
        </p:spPr>
      </p:sp>
      <p:sp>
        <p:nvSpPr>
          <p:cNvPr id="11" name="marker-749"/>
          <p:cNvSpPr/>
          <p:nvPr/>
        </p:nvSpPr>
        <p:spPr>
          <a:xfrm>
            <a:off x="658368" y="4480560"/>
            <a:ext cx="329184" cy="329184"/>
          </a:xfrm>
          <a:prstGeom prst="ellipse">
            <a:avLst/>
          </a:prstGeom>
          <a:solidFill>
            <a:schemeClr val="accent1"/>
          </a:solidFill>
          <a:ln w="12700">
            <a:solidFill>
              <a:schemeClr val="accent1"/>
            </a:solidFill>
            <a:prstDash val="solid"/>
          </a:ln>
        </p:spPr>
      </p:sp>
      <p:sp>
        <p:nvSpPr>
          <p:cNvPr id="12" name="text-750"/>
          <p:cNvSpPr txBox="1"/>
          <p:nvPr/>
        </p:nvSpPr>
        <p:spPr>
          <a:xfrm>
            <a:off x="658368"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3" name="text-751"/>
          <p:cNvSpPr txBox="1"/>
          <p:nvPr/>
        </p:nvSpPr>
        <p:spPr>
          <a:xfrm>
            <a:off x="1078992"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Green city bonds</a:t>
            </a:r>
            <a:endParaRPr lang="en-US" sz="1050" dirty="0"/>
          </a:p>
        </p:txBody>
      </p:sp>
      <p:sp>
        <p:nvSpPr>
          <p:cNvPr id="14" name="text-752"/>
          <p:cNvSpPr txBox="1"/>
          <p:nvPr/>
        </p:nvSpPr>
        <p:spPr>
          <a:xfrm>
            <a:off x="658368"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Fund Stage 1: the geothermal plant, the wind and solar farms, the battery bank and the heat tank, paid back from selling heat and power to the city.</a:t>
            </a:r>
            <a:endParaRPr lang="en-US" sz="900" dirty="0"/>
          </a:p>
        </p:txBody>
      </p:sp>
      <p:sp>
        <p:nvSpPr>
          <p:cNvPr id="15" name="card-753"/>
          <p:cNvSpPr/>
          <p:nvPr/>
        </p:nvSpPr>
        <p:spPr>
          <a:xfrm>
            <a:off x="2749296" y="4370832"/>
            <a:ext cx="2063496" cy="1572768"/>
          </a:xfrm>
          <a:prstGeom prst="roundRect">
            <a:avLst>
              <a:gd name="adj" fmla="val 4651"/>
            </a:avLst>
          </a:prstGeom>
          <a:solidFill>
            <a:schemeClr val="bg2"/>
          </a:solidFill>
          <a:ln w="12700">
            <a:solidFill>
              <a:schemeClr val="bg2"/>
            </a:solidFill>
            <a:prstDash val="solid"/>
          </a:ln>
        </p:spPr>
      </p:sp>
      <p:sp>
        <p:nvSpPr>
          <p:cNvPr id="16" name="marker-754"/>
          <p:cNvSpPr/>
          <p:nvPr/>
        </p:nvSpPr>
        <p:spPr>
          <a:xfrm>
            <a:off x="2859024" y="4480560"/>
            <a:ext cx="329184" cy="329184"/>
          </a:xfrm>
          <a:prstGeom prst="ellipse">
            <a:avLst/>
          </a:prstGeom>
          <a:solidFill>
            <a:schemeClr val="accent1"/>
          </a:solidFill>
          <a:ln w="12700">
            <a:solidFill>
              <a:schemeClr val="accent1"/>
            </a:solidFill>
            <a:prstDash val="solid"/>
          </a:ln>
        </p:spPr>
      </p:sp>
      <p:sp>
        <p:nvSpPr>
          <p:cNvPr id="17" name="text-755"/>
          <p:cNvSpPr txBox="1"/>
          <p:nvPr/>
        </p:nvSpPr>
        <p:spPr>
          <a:xfrm>
            <a:off x="2859024"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8" name="text-756"/>
          <p:cNvSpPr txBox="1"/>
          <p:nvPr/>
        </p:nvSpPr>
        <p:spPr>
          <a:xfrm>
            <a:off x="3279648"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Community shares</a:t>
            </a:r>
            <a:endParaRPr lang="en-US" sz="1050" dirty="0"/>
          </a:p>
        </p:txBody>
      </p:sp>
      <p:sp>
        <p:nvSpPr>
          <p:cNvPr id="19" name="text-757"/>
          <p:cNvSpPr txBox="1"/>
          <p:nvPr/>
        </p:nvSpPr>
        <p:spPr>
          <a:xfrm>
            <a:off x="2859024"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Residents and visitors buy shares in the wind and solar farms through the Aurora Green Finance Hall and share in the income they make.</a:t>
            </a:r>
            <a:endParaRPr lang="en-US" sz="900" dirty="0"/>
          </a:p>
        </p:txBody>
      </p:sp>
      <p:sp>
        <p:nvSpPr>
          <p:cNvPr id="20" name="card-758"/>
          <p:cNvSpPr/>
          <p:nvPr/>
        </p:nvSpPr>
        <p:spPr>
          <a:xfrm>
            <a:off x="4949952" y="4370832"/>
            <a:ext cx="2063496" cy="1572768"/>
          </a:xfrm>
          <a:prstGeom prst="roundRect">
            <a:avLst>
              <a:gd name="adj" fmla="val 4651"/>
            </a:avLst>
          </a:prstGeom>
          <a:solidFill>
            <a:schemeClr val="bg2"/>
          </a:solidFill>
          <a:ln w="12700">
            <a:solidFill>
              <a:schemeClr val="bg2"/>
            </a:solidFill>
            <a:prstDash val="solid"/>
          </a:ln>
        </p:spPr>
      </p:sp>
      <p:sp>
        <p:nvSpPr>
          <p:cNvPr id="21" name="marker-759"/>
          <p:cNvSpPr/>
          <p:nvPr/>
        </p:nvSpPr>
        <p:spPr>
          <a:xfrm>
            <a:off x="5059680" y="4480560"/>
            <a:ext cx="329184" cy="329184"/>
          </a:xfrm>
          <a:prstGeom prst="ellipse">
            <a:avLst/>
          </a:prstGeom>
          <a:solidFill>
            <a:schemeClr val="accent1"/>
          </a:solidFill>
          <a:ln w="12700">
            <a:solidFill>
              <a:schemeClr val="accent1"/>
            </a:solidFill>
            <a:prstDash val="solid"/>
          </a:ln>
        </p:spPr>
      </p:sp>
      <p:sp>
        <p:nvSpPr>
          <p:cNvPr id="22" name="text-760"/>
          <p:cNvSpPr txBox="1"/>
          <p:nvPr/>
        </p:nvSpPr>
        <p:spPr>
          <a:xfrm>
            <a:off x="5059680"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3" name="text-761"/>
          <p:cNvSpPr txBox="1"/>
          <p:nvPr/>
        </p:nvSpPr>
        <p:spPr>
          <a:xfrm>
            <a:off x="5480304"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Research partnerships</a:t>
            </a:r>
            <a:endParaRPr lang="en-US" sz="1050" dirty="0"/>
          </a:p>
        </p:txBody>
      </p:sp>
      <p:sp>
        <p:nvSpPr>
          <p:cNvPr id="24" name="text-762"/>
          <p:cNvSpPr txBox="1"/>
          <p:nvPr/>
        </p:nvSpPr>
        <p:spPr>
          <a:xfrm>
            <a:off x="5059680"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Companies and universities test new food, energy and building ideas with Arctic University and the Polar Climate &amp; Ice Research Institute.</a:t>
            </a:r>
            <a:endParaRPr lang="en-US" sz="900" dirty="0"/>
          </a:p>
        </p:txBody>
      </p:sp>
      <p:sp>
        <p:nvSpPr>
          <p:cNvPr id="25" name="text-763"/>
          <p:cNvSpPr txBox="1"/>
          <p:nvPr/>
        </p:nvSpPr>
        <p:spPr>
          <a:xfrm>
            <a:off x="548640" y="6108192"/>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YOUR MONEY BUILDS, STAGE BY STAGE</a:t>
            </a:r>
            <a:endParaRPr lang="en-US" sz="900" dirty="0"/>
          </a:p>
        </p:txBody>
      </p:sp>
      <p:sp>
        <p:nvSpPr>
          <p:cNvPr id="26" name="stage-line"/>
          <p:cNvSpPr/>
          <p:nvPr/>
        </p:nvSpPr>
        <p:spPr>
          <a:xfrm>
            <a:off x="731520" y="6510528"/>
            <a:ext cx="0" cy="1188720"/>
          </a:xfrm>
          <a:prstGeom prst="line">
            <a:avLst/>
          </a:prstGeom>
          <a:noFill/>
          <a:ln w="25400">
            <a:solidFill>
              <a:schemeClr val="accent1"/>
            </a:solidFill>
            <a:prstDash val="solid"/>
          </a:ln>
        </p:spPr>
      </p:sp>
      <p:sp>
        <p:nvSpPr>
          <p:cNvPr id="27" name="marker-764"/>
          <p:cNvSpPr/>
          <p:nvPr/>
        </p:nvSpPr>
        <p:spPr>
          <a:xfrm>
            <a:off x="548640" y="6382512"/>
            <a:ext cx="365760" cy="365760"/>
          </a:xfrm>
          <a:prstGeom prst="ellipse">
            <a:avLst/>
          </a:prstGeom>
          <a:solidFill>
            <a:schemeClr val="accent1"/>
          </a:solidFill>
          <a:ln w="12700">
            <a:solidFill>
              <a:schemeClr val="accent1"/>
            </a:solidFill>
            <a:prstDash val="solid"/>
          </a:ln>
        </p:spPr>
      </p:sp>
      <p:sp>
        <p:nvSpPr>
          <p:cNvPr id="28" name="text-765"/>
          <p:cNvSpPr txBox="1"/>
          <p:nvPr/>
        </p:nvSpPr>
        <p:spPr>
          <a:xfrm>
            <a:off x="548640" y="63825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29" name="text-766"/>
          <p:cNvSpPr txBox="1"/>
          <p:nvPr/>
        </p:nvSpPr>
        <p:spPr>
          <a:xfrm>
            <a:off x="1051560" y="6391656"/>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1 · A clean base. </a:t>
            </a:r>
            <a:pPr indent="0" marL="0">
              <a:lnSpc>
                <a:spcPct val="104000"/>
              </a:lnSpc>
              <a:buNone/>
            </a:pPr>
            <a:r>
              <a:rPr lang="en-US" sz="950" dirty="0">
                <a:solidFill>
                  <a:schemeClr val="tx1"/>
                </a:solidFill>
              </a:rPr>
              <a:t>Technology that works today: the geothermal plant, the wind and solar farms, the battery bank, the heat tank, heated streets and the metro.</a:t>
            </a:r>
            <a:endParaRPr lang="en-US" sz="950" dirty="0"/>
          </a:p>
        </p:txBody>
      </p:sp>
      <p:sp>
        <p:nvSpPr>
          <p:cNvPr id="30" name="marker-767"/>
          <p:cNvSpPr/>
          <p:nvPr/>
        </p:nvSpPr>
        <p:spPr>
          <a:xfrm>
            <a:off x="548640" y="6949440"/>
            <a:ext cx="365760" cy="365760"/>
          </a:xfrm>
          <a:prstGeom prst="ellipse">
            <a:avLst/>
          </a:prstGeom>
          <a:solidFill>
            <a:schemeClr val="accent1"/>
          </a:solidFill>
          <a:ln w="12700">
            <a:solidFill>
              <a:schemeClr val="accent1"/>
            </a:solidFill>
            <a:prstDash val="solid"/>
          </a:ln>
        </p:spPr>
      </p:sp>
      <p:sp>
        <p:nvSpPr>
          <p:cNvPr id="31" name="text-768"/>
          <p:cNvSpPr txBox="1"/>
          <p:nvPr/>
        </p:nvSpPr>
        <p:spPr>
          <a:xfrm>
            <a:off x="548640" y="69494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32" name="text-769"/>
          <p:cNvSpPr txBox="1"/>
          <p:nvPr/>
        </p:nvSpPr>
        <p:spPr>
          <a:xfrm>
            <a:off x="1051560" y="6958584"/>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2 · Food and water. </a:t>
            </a:r>
            <a:pPr indent="0" marL="0">
              <a:lnSpc>
                <a:spcPct val="104000"/>
              </a:lnSpc>
              <a:buNone/>
            </a:pPr>
            <a:r>
              <a:rPr lang="en-US" sz="950" dirty="0">
                <a:solidFill>
                  <a:schemeClr val="tx1"/>
                </a:solidFill>
              </a:rPr>
              <a:t>The Snow-to-Food &amp; Water Plant, starting small. For scale, Solar Foods’ first protein factory in Finland cost about €42 million for up to 160 tonnes a year [6].</a:t>
            </a:r>
            <a:endParaRPr lang="en-US" sz="950" dirty="0"/>
          </a:p>
        </p:txBody>
      </p:sp>
      <p:sp>
        <p:nvSpPr>
          <p:cNvPr id="33" name="marker-770"/>
          <p:cNvSpPr/>
          <p:nvPr/>
        </p:nvSpPr>
        <p:spPr>
          <a:xfrm>
            <a:off x="548640" y="7516368"/>
            <a:ext cx="365760" cy="365760"/>
          </a:xfrm>
          <a:prstGeom prst="ellipse">
            <a:avLst/>
          </a:prstGeom>
          <a:solidFill>
            <a:schemeClr val="accent1"/>
          </a:solidFill>
          <a:ln w="12700">
            <a:solidFill>
              <a:schemeClr val="accent1"/>
            </a:solidFill>
            <a:prstDash val="solid"/>
          </a:ln>
        </p:spPr>
      </p:sp>
      <p:sp>
        <p:nvSpPr>
          <p:cNvPr id="34" name="text-771"/>
          <p:cNvSpPr txBox="1"/>
          <p:nvPr/>
        </p:nvSpPr>
        <p:spPr>
          <a:xfrm>
            <a:off x="548640" y="7516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35" name="text-772"/>
          <p:cNvSpPr txBox="1"/>
          <p:nvPr/>
        </p:nvSpPr>
        <p:spPr>
          <a:xfrm>
            <a:off x="1051560" y="7525512"/>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3 · Fusion. </a:t>
            </a:r>
            <a:pPr indent="0" marL="0">
              <a:lnSpc>
                <a:spcPct val="104000"/>
              </a:lnSpc>
              <a:buNone/>
            </a:pPr>
            <a:r>
              <a:rPr lang="en-US" sz="950" dirty="0">
                <a:solidFill>
                  <a:schemeClr val="tx1"/>
                </a:solidFill>
              </a:rPr>
              <a:t>Built only when fusion power is proven. It is the most expensive part: ITER alone is estimated at €18–22 billion to first plasma [12], which is why it comes last.</a:t>
            </a:r>
            <a:endParaRPr lang="en-US" sz="950" dirty="0"/>
          </a:p>
        </p:txBody>
      </p:sp>
      <p:sp>
        <p:nvSpPr>
          <p:cNvPr id="36" name="text-773"/>
          <p:cNvSpPr txBox="1"/>
          <p:nvPr/>
        </p:nvSpPr>
        <p:spPr>
          <a:xfrm>
            <a:off x="548640" y="81838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INVESTORS GET BACK</a:t>
            </a:r>
            <a:endParaRPr lang="en-US" sz="900" dirty="0"/>
          </a:p>
        </p:txBody>
      </p:sp>
      <p:sp>
        <p:nvSpPr>
          <p:cNvPr id="37" name="card-774"/>
          <p:cNvSpPr/>
          <p:nvPr/>
        </p:nvSpPr>
        <p:spPr>
          <a:xfrm>
            <a:off x="548640" y="8412480"/>
            <a:ext cx="1533906" cy="621792"/>
          </a:xfrm>
          <a:prstGeom prst="roundRect">
            <a:avLst>
              <a:gd name="adj" fmla="val 11765"/>
            </a:avLst>
          </a:prstGeom>
          <a:solidFill>
            <a:schemeClr val="bg2"/>
          </a:solidFill>
          <a:ln w="12700">
            <a:solidFill>
              <a:schemeClr val="bg2"/>
            </a:solidFill>
            <a:prstDash val="solid"/>
          </a:ln>
        </p:spPr>
      </p:sp>
      <p:sp>
        <p:nvSpPr>
          <p:cNvPr id="38" name="text-775"/>
          <p:cNvSpPr txBox="1"/>
          <p:nvPr/>
        </p:nvSpPr>
        <p:spPr>
          <a:xfrm>
            <a:off x="621792"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Steady income from heat, power, water and food sold to 45,000 residents</a:t>
            </a:r>
            <a:endParaRPr lang="en-US" sz="850" dirty="0"/>
          </a:p>
        </p:txBody>
      </p:sp>
      <p:sp>
        <p:nvSpPr>
          <p:cNvPr id="39" name="card-776"/>
          <p:cNvSpPr/>
          <p:nvPr/>
        </p:nvSpPr>
        <p:spPr>
          <a:xfrm>
            <a:off x="2192274" y="8412480"/>
            <a:ext cx="1533906" cy="621792"/>
          </a:xfrm>
          <a:prstGeom prst="roundRect">
            <a:avLst>
              <a:gd name="adj" fmla="val 11765"/>
            </a:avLst>
          </a:prstGeom>
          <a:solidFill>
            <a:schemeClr val="bg2"/>
          </a:solidFill>
          <a:ln w="12700">
            <a:solidFill>
              <a:schemeClr val="bg2"/>
            </a:solidFill>
            <a:prstDash val="solid"/>
          </a:ln>
        </p:spPr>
      </p:sp>
      <p:sp>
        <p:nvSpPr>
          <p:cNvPr id="40" name="text-777"/>
          <p:cNvSpPr txBox="1"/>
          <p:nvPr/>
        </p:nvSpPr>
        <p:spPr>
          <a:xfrm>
            <a:off x="2265426"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Visitors to the Mount Aurora spa and the Snow Stadium all year</a:t>
            </a:r>
            <a:endParaRPr lang="en-US" sz="850" dirty="0"/>
          </a:p>
        </p:txBody>
      </p:sp>
      <p:sp>
        <p:nvSpPr>
          <p:cNvPr id="41" name="card-778"/>
          <p:cNvSpPr/>
          <p:nvPr/>
        </p:nvSpPr>
        <p:spPr>
          <a:xfrm>
            <a:off x="3835908" y="8412480"/>
            <a:ext cx="1533906" cy="621792"/>
          </a:xfrm>
          <a:prstGeom prst="roundRect">
            <a:avLst>
              <a:gd name="adj" fmla="val 11765"/>
            </a:avLst>
          </a:prstGeom>
          <a:solidFill>
            <a:schemeClr val="bg2"/>
          </a:solidFill>
          <a:ln w="12700">
            <a:solidFill>
              <a:schemeClr val="bg2"/>
            </a:solidFill>
            <a:prstDash val="solid"/>
          </a:ln>
        </p:spPr>
      </p:sp>
      <p:sp>
        <p:nvSpPr>
          <p:cNvPr id="42" name="text-779"/>
          <p:cNvSpPr txBox="1"/>
          <p:nvPr/>
        </p:nvSpPr>
        <p:spPr>
          <a:xfrm>
            <a:off x="3909060"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Know-how other Arctic towns can use: about 4 million people live in the Arctic [3]</a:t>
            </a:r>
            <a:endParaRPr lang="en-US" sz="850" dirty="0"/>
          </a:p>
        </p:txBody>
      </p:sp>
      <p:sp>
        <p:nvSpPr>
          <p:cNvPr id="43" name="card-780"/>
          <p:cNvSpPr/>
          <p:nvPr/>
        </p:nvSpPr>
        <p:spPr>
          <a:xfrm>
            <a:off x="5479542" y="8412480"/>
            <a:ext cx="1533906" cy="621792"/>
          </a:xfrm>
          <a:prstGeom prst="roundRect">
            <a:avLst>
              <a:gd name="adj" fmla="val 11765"/>
            </a:avLst>
          </a:prstGeom>
          <a:solidFill>
            <a:schemeClr val="bg2"/>
          </a:solidFill>
          <a:ln w="12700">
            <a:solidFill>
              <a:schemeClr val="bg2"/>
            </a:solidFill>
            <a:prstDash val="solid"/>
          </a:ln>
        </p:spPr>
      </p:sp>
      <p:sp>
        <p:nvSpPr>
          <p:cNvPr id="44" name="text-781"/>
          <p:cNvSpPr txBox="1"/>
          <p:nvPr/>
        </p:nvSpPr>
        <p:spPr>
          <a:xfrm>
            <a:off x="5552694"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A city with no fuel to import and no carbon to pay for</a:t>
            </a:r>
            <a:endParaRPr lang="en-US" sz="850" dirty="0"/>
          </a:p>
        </p:txBody>
      </p:sp>
      <p:sp>
        <p:nvSpPr>
          <p:cNvPr id="45" name="text-782"/>
          <p:cNvSpPr txBox="1"/>
          <p:nvPr/>
        </p:nvSpPr>
        <p:spPr>
          <a:xfrm>
            <a:off x="548640" y="9070848"/>
            <a:ext cx="6464808" cy="329184"/>
          </a:xfrm>
          <a:prstGeom prst="rect">
            <a:avLst/>
          </a:prstGeom>
          <a:noFill/>
          <a:ln/>
        </p:spPr>
        <p:txBody>
          <a:bodyPr wrap="square" lIns="0" tIns="0" rIns="0" bIns="0" rtlCol="0" anchor="t"/>
          <a:lstStyle/>
          <a:p>
            <a:pPr indent="0" marL="0">
              <a:buNone/>
            </a:pPr>
            <a:r>
              <a:rPr lang="en-US" sz="850" i="1" dirty="0">
                <a:solidFill>
                  <a:schemeClr val="tx2"/>
                </a:solidFill>
              </a:rPr>
              <a:t>Please note: these are future concepts, not tested projects. Costs and returns still have to be worked out in a full business plan, and no return is guaranteed. The risks are on page 33.</a:t>
            </a:r>
            <a:endParaRPr lang="en-US" sz="850" dirty="0"/>
          </a:p>
        </p:txBody>
      </p:sp>
      <p:sp>
        <p:nvSpPr>
          <p:cNvPr id="46" name="card-783"/>
          <p:cNvSpPr/>
          <p:nvPr/>
        </p:nvSpPr>
        <p:spPr>
          <a:xfrm>
            <a:off x="548640" y="9445752"/>
            <a:ext cx="6464808" cy="521208"/>
          </a:xfrm>
          <a:prstGeom prst="roundRect">
            <a:avLst>
              <a:gd name="adj" fmla="val 14035"/>
            </a:avLst>
          </a:prstGeom>
          <a:solidFill>
            <a:schemeClr val="tx1"/>
          </a:solidFill>
          <a:ln w="12700">
            <a:solidFill>
              <a:schemeClr val="tx1"/>
            </a:solidFill>
            <a:prstDash val="solid"/>
          </a:ln>
        </p:spPr>
      </p:sp>
      <p:sp>
        <p:nvSpPr>
          <p:cNvPr id="47" name="text-784"/>
          <p:cNvSpPr txBox="1"/>
          <p:nvPr/>
        </p:nvSpPr>
        <p:spPr>
          <a:xfrm>
            <a:off x="685800" y="9473184"/>
            <a:ext cx="6190488" cy="466344"/>
          </a:xfrm>
          <a:prstGeom prst="rect">
            <a:avLst/>
          </a:prstGeom>
          <a:noFill/>
          <a:ln/>
        </p:spPr>
        <p:txBody>
          <a:bodyPr wrap="square" lIns="0" tIns="0" rIns="0" bIns="0" rtlCol="0" anchor="ctr"/>
          <a:lstStyle/>
          <a:p>
            <a:pPr indent="0" marL="0">
              <a:buNone/>
            </a:pPr>
            <a:r>
              <a:rPr lang="en-US" sz="950" b="1" spc="200" kern="0" dirty="0">
                <a:solidFill>
                  <a:schemeClr val="accent1"/>
                </a:solidFill>
              </a:rPr>
              <a:t>READY TO BUILD THE FUTURE?  </a:t>
            </a:r>
            <a:pPr indent="0" marL="0">
              <a:buNone/>
            </a:pPr>
            <a:r>
              <a:rPr lang="en-US" sz="950" dirty="0">
                <a:solidFill>
                  <a:schemeClr val="bg1"/>
                </a:solidFill>
              </a:rPr>
              <a:t>Visit the Aurora Green Finance Hall in the Financial District, or meet our team on page 5.</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78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8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78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789"/>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790"/>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791"/>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792"/>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Founding Mayor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793"/>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794"/>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795"/>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796"/>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797"/>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798"/>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799"/>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800"/>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801"/>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802"/>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803"/>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804"/>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tonnes of snow a day with spare fusion heat.</a:t>
            </a:r>
            <a:endParaRPr lang="en-US" sz="1050" dirty="0"/>
          </a:p>
        </p:txBody>
      </p:sp>
      <p:sp>
        <p:nvSpPr>
          <p:cNvPr id="22" name="marker-805"/>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806"/>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807"/>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808"/>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809"/>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810"/>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811"/>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812"/>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813"/>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814"/>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815"/>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816" descr="/home/user/chatbox-bi-n-o/magazine/assets/renders/stadium.jpg">    </p:cNvPr>
          <p:cNvPicPr>
            <a:picLocks noChangeAspect="1"/>
          </p:cNvPicPr>
          <p:nvPr/>
        </p:nvPicPr>
        <p:blipFill>
          <a:blip r:embed="rId1"/>
          <a:srcRect l="0" r="0" t="0" b="0"/>
          <a:stretch/>
        </p:blipFill>
        <p:spPr>
          <a:xfrm>
            <a:off x="4800600" y="2423160"/>
            <a:ext cx="2212848" cy="3657600"/>
          </a:xfrm>
          <a:prstGeom prst="rect">
            <a:avLst/>
          </a:prstGeom>
        </p:spPr>
      </p:pic>
      <p:sp>
        <p:nvSpPr>
          <p:cNvPr id="34" name="text-817"/>
          <p:cNvSpPr txBox="1"/>
          <p:nvPr/>
        </p:nvSpPr>
        <p:spPr>
          <a:xfrm>
            <a:off x="4965192" y="61447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818"/>
          <p:cNvSpPr/>
          <p:nvPr/>
        </p:nvSpPr>
        <p:spPr>
          <a:xfrm>
            <a:off x="4965192" y="6579108"/>
            <a:ext cx="100584" cy="100584"/>
          </a:xfrm>
          <a:prstGeom prst="ellipse">
            <a:avLst/>
          </a:prstGeom>
          <a:solidFill>
            <a:schemeClr val="accent6"/>
          </a:solidFill>
          <a:ln w="12700">
            <a:solidFill>
              <a:schemeClr val="accent6"/>
            </a:solidFill>
            <a:prstDash val="solid"/>
          </a:ln>
        </p:spPr>
      </p:sp>
      <p:sp>
        <p:nvSpPr>
          <p:cNvPr id="36" name="text-819"/>
          <p:cNvSpPr txBox="1"/>
          <p:nvPr/>
        </p:nvSpPr>
        <p:spPr>
          <a:xfrm>
            <a:off x="5148072" y="653796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820"/>
          <p:cNvSpPr txBox="1"/>
          <p:nvPr/>
        </p:nvSpPr>
        <p:spPr>
          <a:xfrm>
            <a:off x="4965192" y="694944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35</a:t>
            </a:r>
            <a:endParaRPr lang="en-US" sz="2200" dirty="0"/>
          </a:p>
        </p:txBody>
      </p:sp>
      <p:sp>
        <p:nvSpPr>
          <p:cNvPr id="38" name="text-821"/>
          <p:cNvSpPr txBox="1"/>
          <p:nvPr/>
        </p:nvSpPr>
        <p:spPr>
          <a:xfrm>
            <a:off x="4965192" y="732942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key places, numbered on the master plan</a:t>
            </a:r>
            <a:endParaRPr lang="en-US" sz="900" dirty="0"/>
          </a:p>
        </p:txBody>
      </p:sp>
      <p:sp>
        <p:nvSpPr>
          <p:cNvPr id="39" name="text-822"/>
          <p:cNvSpPr txBox="1"/>
          <p:nvPr/>
        </p:nvSpPr>
        <p:spPr>
          <a:xfrm>
            <a:off x="4965192" y="82296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a:t>
            </a:r>
            <a:endParaRPr lang="en-US" sz="2200" dirty="0"/>
          </a:p>
        </p:txBody>
      </p:sp>
      <p:sp>
        <p:nvSpPr>
          <p:cNvPr id="40" name="text-823"/>
          <p:cNvSpPr txBox="1"/>
          <p:nvPr/>
        </p:nvSpPr>
        <p:spPr>
          <a:xfrm>
            <a:off x="4965192" y="860958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downtown blocks around the Aurora Roundabout</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82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2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82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828"/>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 12.</a:t>
            </a:r>
            <a:endParaRPr lang="en-US" sz="950" dirty="0"/>
          </a:p>
        </p:txBody>
      </p:sp>
      <p:sp>
        <p:nvSpPr>
          <p:cNvPr id="6" name="text-829"/>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830"/>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Founding Mayor Monument</a:t>
            </a:r>
            <a:endParaRPr lang="en-US" sz="900" dirty="0"/>
          </a:p>
        </p:txBody>
      </p:sp>
      <p:sp>
        <p:nvSpPr>
          <p:cNvPr id="8" name="text-831"/>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832"/>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833"/>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834"/>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835"/>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836"/>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837"/>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838"/>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839"/>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840"/>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841"/>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842"/>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843"/>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844"/>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845"/>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846"/>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847"/>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848"/>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849"/>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850"/>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851"/>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852"/>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853"/>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854"/>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855"/>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856"/>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857"/>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858"/>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859"/>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860"/>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861"/>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862"/>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863"/>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864"/>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865"/>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866"/>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867"/>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868"/>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869"/>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870"/>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871"/>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872"/>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873"/>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874"/>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875"/>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876"/>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877"/>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878"/>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879"/>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880"/>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881"/>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882"/>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883"/>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884"/>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885"/>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886"/>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887"/>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888"/>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889"/>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890"/>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891"/>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892"/>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893"/>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894"/>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895"/>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896"/>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897"/>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tonnes of rubbish a day into clean gas, recovered metals and building blocks.</a:t>
            </a:r>
            <a:endParaRPr lang="en-US" sz="800" dirty="0"/>
          </a:p>
        </p:txBody>
      </p:sp>
      <p:sp>
        <p:nvSpPr>
          <p:cNvPr id="75" name="text-898"/>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899"/>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900"/>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tonnes of clean snow a day with spare fusion heat.</a:t>
            </a:r>
            <a:endParaRPr lang="en-US" sz="800" dirty="0"/>
          </a:p>
        </p:txBody>
      </p:sp>
      <p:sp>
        <p:nvSpPr>
          <p:cNvPr id="78" name="text-901"/>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902"/>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903"/>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904"/>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905"/>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906"/>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tonnes of protein flour a day.</a:t>
            </a:r>
            <a:endParaRPr lang="en-US" sz="800" dirty="0"/>
          </a:p>
        </p:txBody>
      </p:sp>
      <p:sp>
        <p:nvSpPr>
          <p:cNvPr id="84" name="text-907"/>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908"/>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909"/>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910"/>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911"/>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912"/>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913"/>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914"/>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915"/>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916"/>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917"/>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918"/>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919"/>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920"/>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921"/>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922"/>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923"/>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924"/>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925"/>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926"/>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927"/>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928"/>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929"/>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930"/>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tonnes of materials a day.</a:t>
            </a:r>
            <a:endParaRPr lang="en-US" sz="800" dirty="0"/>
          </a:p>
        </p:txBody>
      </p:sp>
      <p:sp>
        <p:nvSpPr>
          <p:cNvPr id="108" name="text-931"/>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932"/>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933"/>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picture-934" descr="/home/user/chatbox-bi-n-o/magazine/assets/renders/resident.jpg">    </p:cNvPr>
          <p:cNvPicPr>
            <a:picLocks noChangeAspect="1"/>
          </p:cNvPicPr>
          <p:nvPr/>
        </p:nvPicPr>
        <p:blipFill>
          <a:blip r:embed="rId1"/>
          <a:srcRect l="0" r="0" t="0" b="0"/>
          <a:stretch/>
        </p:blipFill>
        <p:spPr>
          <a:xfrm>
            <a:off x="0" y="0"/>
            <a:ext cx="7562088" cy="5120640"/>
          </a:xfrm>
          <a:prstGeom prst="rect">
            <a:avLst/>
          </a:prstGeom>
        </p:spPr>
      </p:pic>
      <p:pic>
        <p:nvPicPr>
          <p:cNvPr id="3" name="shade-fade-935" descr="/home/user/chatbox-bi-n-o/magazine/assets/ui/fade_bottom.png">    </p:cNvPr>
          <p:cNvPicPr>
            <a:picLocks noChangeAspect="1"/>
          </p:cNvPicPr>
          <p:nvPr/>
        </p:nvPicPr>
        <p:blipFill>
          <a:blip r:embed="rId2"/>
          <a:stretch>
            <a:fillRect/>
          </a:stretch>
        </p:blipFill>
        <p:spPr>
          <a:xfrm>
            <a:off x="0" y="3108960"/>
            <a:ext cx="7562088" cy="2057400"/>
          </a:xfrm>
          <a:prstGeom prst="rect">
            <a:avLst/>
          </a:prstGeom>
        </p:spPr>
      </p:pic>
      <p:sp>
        <p:nvSpPr>
          <p:cNvPr id="4" name="kicker-dot-936"/>
          <p:cNvSpPr/>
          <p:nvPr/>
        </p:nvSpPr>
        <p:spPr>
          <a:xfrm>
            <a:off x="548640" y="4110228"/>
            <a:ext cx="100584" cy="100584"/>
          </a:xfrm>
          <a:prstGeom prst="ellipse">
            <a:avLst/>
          </a:prstGeom>
          <a:solidFill>
            <a:schemeClr val="accent1"/>
          </a:solidFill>
          <a:ln w="12700">
            <a:solidFill>
              <a:schemeClr val="accent1"/>
            </a:solidFill>
            <a:prstDash val="solid"/>
          </a:ln>
        </p:spPr>
      </p:sp>
      <p:sp>
        <p:nvSpPr>
          <p:cNvPr id="5" name="text-937"/>
          <p:cNvSpPr txBox="1"/>
          <p:nvPr/>
        </p:nvSpPr>
        <p:spPr>
          <a:xfrm>
            <a:off x="731520" y="406908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A DAY IN AURORA HAVEN · AN IMAGINED STORY</a:t>
            </a:r>
            <a:endParaRPr lang="en-US" sz="900" dirty="0"/>
          </a:p>
        </p:txBody>
      </p:sp>
      <p:sp>
        <p:nvSpPr>
          <p:cNvPr id="6" name="title-938"/>
          <p:cNvSpPr txBox="1"/>
          <p:nvPr/>
        </p:nvSpPr>
        <p:spPr>
          <a:xfrm>
            <a:off x="548640" y="4325112"/>
            <a:ext cx="6464808" cy="68580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Through a Resident’s Eyes</a:t>
            </a:r>
            <a:endParaRPr lang="en-US" sz="3800" dirty="0"/>
          </a:p>
        </p:txBody>
      </p:sp>
      <p:sp>
        <p:nvSpPr>
          <p:cNvPr id="7" name="text-940"/>
          <p:cNvSpPr txBox="1"/>
          <p:nvPr/>
        </p:nvSpPr>
        <p:spPr>
          <a:xfrm>
            <a:off x="548640" y="5120640"/>
            <a:ext cx="6464808" cy="594360"/>
          </a:xfrm>
          <a:prstGeom prst="rect">
            <a:avLst/>
          </a:prstGeom>
          <a:noFill/>
          <a:ln/>
        </p:spPr>
        <p:txBody>
          <a:bodyPr wrap="square" lIns="0" tIns="0" rIns="0" bIns="0" rtlCol="0" anchor="t"/>
          <a:lstStyle/>
          <a:p>
            <a:pPr indent="0" marL="0">
              <a:lnSpc>
                <a:spcPct val="110000"/>
              </a:lnSpc>
              <a:buNone/>
            </a:pPr>
            <a:r>
              <a:rPr lang="en-US" sz="1300" i="1" dirty="0">
                <a:solidFill>
                  <a:schemeClr val="bg2"/>
                </a:solidFill>
                <a:latin typeface="+mj-lt" pitchFamily="34" charset="0"/>
                <a:ea typeface="+mj-lt" pitchFamily="34" charset="-122"/>
                <a:cs typeface="+mj-lt" pitchFamily="34" charset="-120"/>
              </a:rPr>
              <a:t>It is January, and the sun has not risen for six weeks. This is how a winter day could feel for Mai, sixteen, a student at the Northern Lights School.</a:t>
            </a:r>
            <a:endParaRPr lang="en-US" sz="1300" dirty="0"/>
          </a:p>
        </p:txBody>
      </p:sp>
      <p:sp>
        <p:nvSpPr>
          <p:cNvPr id="8" name="text-941"/>
          <p:cNvSpPr txBox="1"/>
          <p:nvPr/>
        </p:nvSpPr>
        <p:spPr>
          <a:xfrm>
            <a:off x="548640" y="5897880"/>
            <a:ext cx="4206240" cy="4114800"/>
          </a:xfrm>
          <a:prstGeom prst="rect">
            <a:avLst/>
          </a:prstGeom>
          <a:noFill/>
          <a:ln/>
        </p:spPr>
        <p:txBody>
          <a:bodyPr wrap="square" lIns="0" tIns="0" rIns="0" bIns="0" rtlCol="0" anchor="t"/>
          <a:lstStyle/>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07:30  </a:t>
            </a:r>
            <a:pPr indent="0" marL="0">
              <a:lnSpc>
                <a:spcPct val="110000"/>
              </a:lnSpc>
              <a:spcAft>
                <a:spcPts val="700"/>
              </a:spcAft>
              <a:buNone/>
            </a:pPr>
            <a:r>
              <a:rPr lang="en-US" sz="1100" dirty="0">
                <a:solidFill>
                  <a:schemeClr val="bg1"/>
                </a:solidFill>
              </a:rPr>
              <a:t>Mai’s flat in the Aurora 81 Residences is warm without a single heater: the district-heating loop brings the fusion station’s heat to every room. Breakfast is bread baked with starch made from snow and air.</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08:10  </a:t>
            </a:r>
            <a:pPr indent="0" marL="0">
              <a:lnSpc>
                <a:spcPct val="110000"/>
              </a:lnSpc>
              <a:spcAft>
                <a:spcPts val="700"/>
              </a:spcAft>
              <a:buNone/>
            </a:pPr>
            <a:r>
              <a:rPr lang="en-US" sz="1100" dirty="0">
                <a:solidFill>
                  <a:schemeClr val="bg1"/>
                </a:solidFill>
              </a:rPr>
              <a:t>The heated sidewalk outside is dry. She rides the driverless Aurora Line under Liberty Mall, every three minutes, blizzard or not.</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12:30  </a:t>
            </a:r>
            <a:pPr indent="0" marL="0">
              <a:lnSpc>
                <a:spcPct val="110000"/>
              </a:lnSpc>
              <a:spcAft>
                <a:spcPts val="700"/>
              </a:spcAft>
              <a:buNone/>
            </a:pPr>
            <a:r>
              <a:rPr lang="en-US" sz="1100" dirty="0">
                <a:solidFill>
                  <a:schemeClr val="bg1"/>
                </a:solidFill>
              </a:rPr>
              <a:t>Lunch is a salad grown under LED light in the Evergreen Greenhouse Dome. After school she borrows a light-therapy lamp from the 24-hour library.</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17:00  </a:t>
            </a:r>
            <a:pPr indent="0" marL="0">
              <a:lnSpc>
                <a:spcPct val="110000"/>
              </a:lnSpc>
              <a:spcAft>
                <a:spcPts val="700"/>
              </a:spcAft>
              <a:buNone/>
            </a:pPr>
            <a:r>
              <a:rPr lang="en-US" sz="1100" dirty="0">
                <a:solidFill>
                  <a:schemeClr val="bg1"/>
                </a:solidFill>
              </a:rPr>
              <a:t>Every phone pings a blizzard warning, two days ahead. The football match moves indoors; nobody panics.</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20:00  </a:t>
            </a:r>
            <a:pPr indent="0" marL="0">
              <a:lnSpc>
                <a:spcPct val="110000"/>
              </a:lnSpc>
              <a:spcAft>
                <a:spcPts val="700"/>
              </a:spcAft>
              <a:buNone/>
            </a:pPr>
            <a:r>
              <a:rPr lang="en-US" sz="1100" dirty="0">
                <a:solidFill>
                  <a:schemeClr val="bg1"/>
                </a:solidFill>
              </a:rPr>
              <a:t>The spa shuttle takes her to Mount Aurora. She floats in the 38 °C Aurora Lagoon as green curtains of light ripple over the snow peak.</a:t>
            </a:r>
            <a:endParaRPr lang="en-US" sz="1100" dirty="0"/>
          </a:p>
        </p:txBody>
      </p:sp>
      <p:sp>
        <p:nvSpPr>
          <p:cNvPr id="9" name="quote-rule-942"/>
          <p:cNvSpPr/>
          <p:nvPr/>
        </p:nvSpPr>
        <p:spPr>
          <a:xfrm>
            <a:off x="4983480" y="6400800"/>
            <a:ext cx="548640" cy="45720"/>
          </a:xfrm>
          <a:prstGeom prst="rect">
            <a:avLst/>
          </a:prstGeom>
          <a:solidFill>
            <a:schemeClr val="accent1"/>
          </a:solidFill>
          <a:ln w="12700">
            <a:solidFill>
              <a:schemeClr val="accent1"/>
            </a:solidFill>
            <a:prstDash val="solid"/>
          </a:ln>
        </p:spPr>
      </p:sp>
      <p:sp>
        <p:nvSpPr>
          <p:cNvPr id="10" name="text-943"/>
          <p:cNvSpPr txBox="1"/>
          <p:nvPr/>
        </p:nvSpPr>
        <p:spPr>
          <a:xfrm>
            <a:off x="4983480" y="6565392"/>
            <a:ext cx="2029968" cy="1828800"/>
          </a:xfrm>
          <a:prstGeom prst="rect">
            <a:avLst/>
          </a:prstGeom>
          <a:noFill/>
          <a:ln/>
        </p:spPr>
        <p:txBody>
          <a:bodyPr wrap="square" lIns="0" tIns="0" rIns="0" bIns="0" rtlCol="0" anchor="t"/>
          <a:lstStyle/>
          <a:p>
            <a:pPr indent="0" marL="0">
              <a:lnSpc>
                <a:spcPct val="102000"/>
              </a:lnSpc>
              <a:buNone/>
            </a:pPr>
            <a:r>
              <a:rPr lang="en-US" sz="1800" b="1" i="1" dirty="0">
                <a:solidFill>
                  <a:schemeClr val="accent1"/>
                </a:solidFill>
                <a:latin typeface="+mj-lt" pitchFamily="34" charset="0"/>
                <a:ea typeface="+mj-lt" pitchFamily="34" charset="-122"/>
                <a:cs typeface="+mj-lt" pitchFamily="34" charset="-120"/>
              </a:rPr>
              <a:t>“In the polar night, my city is the warmest place I know.”</a:t>
            </a:r>
            <a:endParaRPr lang="en-US" sz="1800" dirty="0"/>
          </a:p>
        </p:txBody>
      </p:sp>
      <p:sp>
        <p:nvSpPr>
          <p:cNvPr id="11" name="text-944"/>
          <p:cNvSpPr txBox="1"/>
          <p:nvPr/>
        </p:nvSpPr>
        <p:spPr>
          <a:xfrm>
            <a:off x="4983480" y="9555480"/>
            <a:ext cx="2029968" cy="411480"/>
          </a:xfrm>
          <a:prstGeom prst="rect">
            <a:avLst/>
          </a:prstGeom>
          <a:noFill/>
          <a:ln/>
        </p:spPr>
        <p:txBody>
          <a:bodyPr wrap="square" lIns="0" tIns="0" rIns="0" bIns="0" rtlCol="0" anchor="t"/>
          <a:lstStyle/>
          <a:p>
            <a:pPr indent="0" marL="0">
              <a:buNone/>
            </a:pPr>
            <a:r>
              <a:rPr lang="en-US" sz="850" i="1" dirty="0">
                <a:solidFill>
                  <a:schemeClr val="bg2"/>
                </a:solidFill>
              </a:rPr>
              <a:t>Walking home on a heated sidewalk under the northern lights.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94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94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94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949"/>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950"/>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951"/>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952"/>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tonnes of snow a day. They come from our design, not from a real city.</a:t>
            </a:r>
            <a:endParaRPr lang="en-US" sz="850" dirty="0"/>
          </a:p>
        </p:txBody>
      </p:sp>
      <p:sp>
        <p:nvSpPr>
          <p:cNvPr id="9" name="card-953"/>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954"/>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955"/>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in the Reality check boxes. They show an idea is reasonable, not exact.</a:t>
            </a:r>
            <a:endParaRPr lang="en-US" sz="850" dirty="0"/>
          </a:p>
        </p:txBody>
      </p:sp>
      <p:sp>
        <p:nvSpPr>
          <p:cNvPr id="12" name="card-956"/>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957"/>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958"/>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959"/>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960"/>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961"/>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a:p>
            <a:pPr indent="0" marL="0">
              <a:lnSpc>
                <a:spcPct val="104000"/>
              </a:lnSpc>
              <a:buNone/>
            </a:pPr>
            <a:r>
              <a:rPr lang="en-US" sz="950" b="1" dirty="0">
                <a:solidFill>
                  <a:schemeClr val="accent6"/>
                </a:solidFill>
              </a:rPr>
              <a:t>[20]  </a:t>
            </a:r>
            <a:pPr indent="0" marL="0">
              <a:lnSpc>
                <a:spcPct val="104000"/>
              </a:lnSpc>
              <a:spcAft>
                <a:spcPts val="600"/>
              </a:spcAft>
              <a:buNone/>
            </a:pPr>
            <a:r>
              <a:rPr lang="en-US" sz="950" dirty="0">
                <a:solidFill>
                  <a:schemeClr val="tx1"/>
                </a:solidFill>
              </a:rPr>
              <a:t>Packer, L. W. et al. (2023). Neutron activation of ITER materials at JET. UKAEA-CCFE-CP(23)34. scientific-publications.ukaea.uk</a:t>
            </a:r>
            <a:endParaRPr lang="en-US" sz="950" dirty="0"/>
          </a:p>
        </p:txBody>
      </p:sp>
      <p:sp>
        <p:nvSpPr>
          <p:cNvPr id="18" name="card-962"/>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963"/>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We used AI tools to help us build the 3D model of the city and make the pictures, plans and diagrams in this magazine, and to check our spelling and fix logic errors in the text.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964"/>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965"/>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966"/>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967"/>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968"/>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969"/>
          <p:cNvSpPr txBox="1"/>
          <p:nvPr/>
        </p:nvSpPr>
        <p:spPr>
          <a:xfrm>
            <a:off x="548640" y="4114800"/>
            <a:ext cx="2880360" cy="86868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in our wind and solar farms through the Aurora Green Finance Hall, study polar science at Arctic University, or come for a night at the Mount Aurora spa.</a:t>
            </a:r>
            <a:endParaRPr lang="en-US" sz="950" dirty="0"/>
          </a:p>
        </p:txBody>
      </p:sp>
      <p:sp>
        <p:nvSpPr>
          <p:cNvPr id="9" name="panel-970"/>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971"/>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972"/>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973"/>
          <p:cNvSpPr txBox="1"/>
          <p:nvPr/>
        </p:nvSpPr>
        <p:spPr>
          <a:xfrm>
            <a:off x="3977640" y="1737360"/>
            <a:ext cx="1801368" cy="1371600"/>
          </a:xfrm>
          <a:prstGeom prst="rect">
            <a:avLst/>
          </a:prstGeom>
          <a:noFill/>
          <a:ln/>
        </p:spPr>
        <p:txBody>
          <a:bodyPr wrap="square" lIns="0" tIns="0" rIns="0" bIns="0" rtlCol="0" anchor="t"/>
          <a:lstStyle/>
          <a:p>
            <a:pPr indent="0" marL="0">
              <a:lnSpc>
                <a:spcPct val="100000"/>
              </a:lnSpc>
              <a:spcAft>
                <a:spcPts val="400"/>
              </a:spcAft>
              <a:buNone/>
            </a:pPr>
            <a:r>
              <a:rPr lang="en-US" sz="950" b="1" spc="200" kern="0" dirty="0">
                <a:solidFill>
                  <a:schemeClr val="accent1"/>
                </a:solidFill>
              </a:rPr>
              <a:t>CONTACT THE TEAM</a:t>
            </a:r>
            <a:endParaRPr lang="en-US" sz="950" dirty="0"/>
          </a:p>
          <a:p>
            <a:pPr indent="0" marL="0">
              <a:lnSpc>
                <a:spcPct val="100000"/>
              </a:lnSpc>
              <a:buNone/>
            </a:pPr>
            <a:r>
              <a:rPr lang="en-US" sz="950" b="1" dirty="0">
                <a:solidFill>
                  <a:schemeClr val="bg1"/>
                </a:solidFill>
              </a:rPr>
              <a:t>Polar City</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Đông Bảo</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Bá Hiếu Thiện</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Phan Minh Khôi</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Dương Hàng Nguyên</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Phạm Phước Khoa</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Minh Triết</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Class 11A4 · Lê Quý Đôn High School</a:t>
            </a:r>
            <a:endParaRPr lang="en-US" sz="950" dirty="0"/>
          </a:p>
        </p:txBody>
      </p:sp>
      <p:pic>
        <p:nvPicPr>
          <p:cNvPr id="14" name="school-logo" descr="/home/user/chatbox-bi-n-o/magazine/assets/ui/school_logo.png">    </p:cNvPr>
          <p:cNvPicPr>
            <a:picLocks noChangeAspect="1"/>
          </p:cNvPicPr>
          <p:nvPr/>
        </p:nvPicPr>
        <p:blipFill>
          <a:blip r:embed="rId3"/>
          <a:stretch>
            <a:fillRect/>
          </a:stretch>
        </p:blipFill>
        <p:spPr>
          <a:xfrm>
            <a:off x="5897880" y="1874520"/>
            <a:ext cx="960120" cy="960120"/>
          </a:xfrm>
          <a:prstGeom prst="rect">
            <a:avLst/>
          </a:prstGeom>
        </p:spPr>
      </p:pic>
      <p:sp>
        <p:nvSpPr>
          <p:cNvPr id="15" name="card-974"/>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6" name="qr-interview-975" descr="/home/user/chatbox-bi-n-o/magazine/assets/ui/qr_flipbook.png">
            <a:hlinkClick r:id="rId5" tooltip="Read the interactive edition"/>
          </p:cNvPr>
          <p:cNvPicPr>
            <a:picLocks noChangeAspect="1"/>
          </p:cNvPicPr>
          <p:nvPr/>
        </p:nvPicPr>
        <p:blipFill>
          <a:blip r:embed="rId4"/>
          <a:stretch>
            <a:fillRect/>
          </a:stretch>
        </p:blipFill>
        <p:spPr>
          <a:xfrm>
            <a:off x="4069080" y="3411626"/>
            <a:ext cx="1177747" cy="1177747"/>
          </a:xfrm>
          <a:prstGeom prst="rect">
            <a:avLst/>
          </a:prstGeom>
        </p:spPr>
      </p:pic>
      <p:sp>
        <p:nvSpPr>
          <p:cNvPr id="17" name="text-976"/>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READ</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The interactive edition</a:t>
            </a:r>
            <a:endParaRPr lang="en-US" sz="1050" dirty="0"/>
          </a:p>
          <a:p>
            <a:pPr indent="0" marL="0">
              <a:lnSpc>
                <a:spcPct val="100000"/>
              </a:lnSpc>
              <a:buNone/>
            </a:pPr>
            <a:r>
              <a:rPr lang="en-US" sz="850" dirty="0">
                <a:solidFill>
                  <a:schemeClr val="tx2"/>
                </a:solidFill>
              </a:rPr>
              <a:t>Flip through this magazine online on FlipHTML5</a:t>
            </a:r>
            <a:endParaRPr lang="en-US" sz="1050" dirty="0"/>
          </a:p>
          <a:p>
            <a:pPr indent="0" marL="0">
              <a:lnSpc>
                <a:spcPct val="100000"/>
              </a:lnSpc>
              <a:buNone/>
            </a:pPr>
            <a:r>
              <a:rPr lang="en-US" sz="850" b="1" u="sng" dirty="0">
                <a:solidFill>
                  <a:schemeClr val="accent6"/>
                </a:solidFill>
                <a:hlinkClick r:id="rId5" invalidUrl="" action="" tgtFrame="" tooltip="Read the interactive edition" history="1" highlightClick="0" endSnd="0">
                  <a:extLst>
                    <a:ext uri="{A12FA001-AC4F-418D-AE19-62706E023703}">
                      <ahyp:hlinkClr xmlns:ahyp="http://schemas.microsoft.com/office/drawing/2018/hyperlinkcolor" val="tx"/>
                    </a:ext>
                  </a:extLst>
                </a:hlinkClick>
              </a:rPr>
              <a:t>Open the flipbook</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Polar City team, class 11A4, Lê Quý Đôn High School</dc:creator>
  <cp:lastModifiedBy>Polar City team, class 11A4, Lê Quý Đôn High School</cp:lastModifiedBy>
  <cp:revision>1</cp:revision>
  <dcterms:created xsi:type="dcterms:W3CDTF">2026-10-29T10:36:06Z</dcterms:created>
  <dcterms:modified xsi:type="dcterms:W3CDTF">2026-10-29T10:36:06Z</dcterms:modified>
</cp:coreProperties>
</file>