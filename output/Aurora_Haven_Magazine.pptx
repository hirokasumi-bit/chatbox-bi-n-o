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57102a7-e454-2912-59c9-d708169fe360}">
          <p14:sldIdLst>
            <p14:sldId id="256"/>
          </p14:sldIdLst>
        </p14:section>
        <p14:section name="Welcome" id="{cb3c3ee1-e8d8-bfef-d703-8619ff3adb29}">
          <p14:sldIdLst>
            <p14:sldId id="257"/>
            <p14:sldId id="258"/>
          </p14:sldIdLst>
        </p14:section>
        <p14:section name="The City" id="{0b749d73-55bf-ab44-6ba5-02ac907d251c}">
          <p14:sldIdLst>
            <p14:sldId id="259"/>
            <p14:sldId id="260"/>
            <p14:sldId id="261"/>
            <p14:sldId id="262"/>
          </p14:sldIdLst>
        </p14:section>
        <p14:section name="Signature Districts" id="{655a688a-1d8c-8600-f577-a42bbde04887}">
          <p14:sldIdLst>
            <p14:sldId id="263"/>
            <p14:sldId id="264"/>
            <p14:sldId id="265"/>
            <p14:sldId id="266"/>
            <p14:sldId id="267"/>
            <p14:sldId id="268"/>
            <p14:sldId id="269"/>
          </p14:sldIdLst>
        </p14:section>
        <p14:section name="Living in Aurora Haven" id="{f8837710-6359-e5c2-4637-309659c45af7}">
          <p14:sldIdLst>
            <p14:sldId id="270"/>
            <p14:sldId id="271"/>
            <p14:sldId id="272"/>
            <p14:sldId id="273"/>
            <p14:sldId id="274"/>
          </p14:sldIdLst>
        </p14:section>
        <p14:section name="Guide" id="{9c8353bb-8274-caef-58a8-b9e3e91970ab}">
          <p14:sldIdLst>
            <p14:sldId id="275"/>
            <p14:sldId id="276"/>
            <p14:sldId id="277"/>
            <p14:sldId id="278"/>
          </p14:sldIdLst>
        </p14:section>
        <p14:section name="Back Cover" id="{29bb632a-25ef-f6a8-892f-6633a3521f73}">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bg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OPENER">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6858000"/>
            <a:ext cx="6464808" cy="1234440"/>
          </a:xfrm>
          <a:prstGeom prst="rect">
            <a:avLst/>
          </a:prstGeom>
          <a:noFill/>
          <a:ln/>
        </p:spPr>
        <p:txBody>
          <a:bodyPr wrap="square" rtlCol="0"/>
          <a:lstStyle>
            <a:lvl1pPr algn="l" indent="0" marL="0">
              <a:buNone/>
              <a:defRPr lang="en-US" sz="4000" b="1" dirty="0">
                <a:solidFill>
                  <a:schemeClr val="tx1"/>
                </a:solidFill>
                <a:latin typeface="+mj-lt" pitchFamily="34" charset="0"/>
                <a:ea typeface="+mj-lt" pitchFamily="34" charset="-122"/>
                <a:cs typeface="+mj-lt"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sp>
        <p:nvSpPr>
          <p:cNvPr id="3" name="text-1"/>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ECO-POLIS 3D BUILDER</a:t>
            </a:r>
            <a:endParaRPr lang="en-US" sz="850" dirty="0"/>
          </a:p>
        </p:txBody>
      </p:sp>
      <p:sp>
        <p:nvSpPr>
          <p:cNvPr id="4" name="text-2"/>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5" name="cover-tower-overlay" descr="/home/user/chatbox-bi-n-o/magazine/assets/renders/cover_tower_top.png">    </p:cNvPr>
          <p:cNvPicPr>
            <a:picLocks noChangeAspect="1"/>
          </p:cNvPicPr>
          <p:nvPr/>
        </p:nvPicPr>
        <p:blipFill>
          <a:blip r:embed="rId2"/>
          <a:stretch>
            <a:fillRect/>
          </a:stretch>
        </p:blipFill>
        <p:spPr>
          <a:xfrm>
            <a:off x="0" y="0"/>
            <a:ext cx="7562088" cy="3421845"/>
          </a:xfrm>
          <a:prstGeom prst="rect">
            <a:avLst/>
          </a:prstGeom>
        </p:spPr>
      </p:pic>
      <p:sp>
        <p:nvSpPr>
          <p:cNvPr id="6" name="text-3"/>
          <p:cNvSpPr txBox="1"/>
          <p:nvPr/>
        </p:nvSpPr>
        <p:spPr>
          <a:xfrm>
            <a:off x="548640" y="1627632"/>
            <a:ext cx="2377440" cy="320040"/>
          </a:xfrm>
          <a:prstGeom prst="rect">
            <a:avLst/>
          </a:prstGeom>
          <a:noFill/>
          <a:ln/>
        </p:spPr>
        <p:txBody>
          <a:bodyPr wrap="square" lIns="0" tIns="0" rIns="0" bIns="0" rtlCol="0" anchor="t"/>
          <a:lstStyle/>
          <a:p>
            <a:pP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7" name="text-4"/>
          <p:cNvSpPr txBox="1"/>
          <p:nvPr/>
        </p:nvSpPr>
        <p:spPr>
          <a:xfrm>
            <a:off x="548640" y="228600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l"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l" indent="0" marL="0">
              <a:lnSpc>
                <a:spcPct val="105000"/>
              </a:lnSpc>
              <a:buNone/>
            </a:pPr>
            <a:r>
              <a:rPr lang="en-US" sz="800" b="1" spc="200" kern="0" dirty="0">
                <a:solidFill>
                  <a:schemeClr val="bg1"/>
                </a:solidFill>
              </a:rPr>
              <a:t>PAGE 8</a:t>
            </a:r>
            <a:endParaRPr lang="en-US" sz="1050" dirty="0"/>
          </a:p>
        </p:txBody>
      </p:sp>
      <p:sp>
        <p:nvSpPr>
          <p:cNvPr id="8" name="text-5"/>
          <p:cNvSpPr txBox="1"/>
          <p:nvPr/>
        </p:nvSpPr>
        <p:spPr>
          <a:xfrm>
            <a:off x="548640" y="374904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a:t>
            </a:r>
            <a:endParaRPr lang="en-US" sz="1050" dirty="0"/>
          </a:p>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bg1"/>
                </a:solidFill>
              </a:rPr>
              <a:t>PAGE 10</a:t>
            </a:r>
            <a:endParaRPr lang="en-US" sz="1050" dirty="0"/>
          </a:p>
        </p:txBody>
      </p:sp>
      <p:sp>
        <p:nvSpPr>
          <p:cNvPr id="9" name="text-6"/>
          <p:cNvSpPr txBox="1"/>
          <p:nvPr/>
        </p:nvSpPr>
        <p:spPr>
          <a:xfrm>
            <a:off x="4864608" y="228600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bg1"/>
                </a:solidFill>
              </a:rPr>
              <a:t>PAGE 12</a:t>
            </a:r>
            <a:endParaRPr lang="en-US" sz="1050" dirty="0"/>
          </a:p>
        </p:txBody>
      </p:sp>
      <p:sp>
        <p:nvSpPr>
          <p:cNvPr id="10" name="text-7"/>
          <p:cNvSpPr txBox="1"/>
          <p:nvPr/>
        </p:nvSpPr>
        <p:spPr>
          <a:xfrm>
            <a:off x="4864608" y="374904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bg1"/>
                </a:solidFill>
              </a:rPr>
              <a:t>PAGE 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INSIDE THIS ISSUE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Contents</a:t>
            </a:r>
            <a:endParaRPr lang="en-US" sz="3400" dirty="0"/>
          </a:p>
        </p:txBody>
      </p:sp>
      <p:sp>
        <p:nvSpPr>
          <p:cNvPr id="5" name="text-10"/>
          <p:cNvSpPr txBox="1"/>
          <p:nvPr/>
        </p:nvSpPr>
        <p:spPr>
          <a:xfrm>
            <a:off x="548640" y="1691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6" name="text-11"/>
          <p:cNvSpPr txBox="1"/>
          <p:nvPr/>
        </p:nvSpPr>
        <p:spPr>
          <a:xfrm>
            <a:off x="1097280" y="1709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Welcome to Aurora Haven</a:t>
            </a:r>
            <a:endParaRPr lang="en-US" sz="1100" dirty="0"/>
          </a:p>
        </p:txBody>
      </p:sp>
      <p:sp>
        <p:nvSpPr>
          <p:cNvPr id="7" name="text-12"/>
          <p:cNvSpPr txBox="1"/>
          <p:nvPr/>
        </p:nvSpPr>
        <p:spPr>
          <a:xfrm>
            <a:off x="1097280" y="1901952"/>
            <a:ext cx="3108960" cy="182880"/>
          </a:xfrm>
          <a:prstGeom prst="rect">
            <a:avLst/>
          </a:prstGeom>
          <a:noFill/>
          <a:ln/>
        </p:spPr>
        <p:txBody>
          <a:bodyPr wrap="square" lIns="0" tIns="0" rIns="0" bIns="0" rtlCol="0" anchor="t"/>
          <a:lstStyle/>
          <a:p>
            <a:pPr indent="0" marL="0">
              <a:buNone/>
            </a:pPr>
            <a:r>
              <a:rPr lang="en-US" sz="900" dirty="0">
                <a:solidFill>
                  <a:schemeClr val="tx2"/>
                </a:solidFill>
              </a:rPr>
              <a:t>A compact city of 45,000 under a snow peak</a:t>
            </a:r>
            <a:endParaRPr lang="en-US" sz="900" dirty="0"/>
          </a:p>
        </p:txBody>
      </p:sp>
      <p:sp>
        <p:nvSpPr>
          <p:cNvPr id="8" name="text-13"/>
          <p:cNvSpPr txBox="1"/>
          <p:nvPr/>
        </p:nvSpPr>
        <p:spPr>
          <a:xfrm>
            <a:off x="548640" y="2148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4"/>
          <p:cNvSpPr txBox="1"/>
          <p:nvPr/>
        </p:nvSpPr>
        <p:spPr>
          <a:xfrm>
            <a:off x="1097280" y="2167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Polar Challenge</a:t>
            </a:r>
            <a:endParaRPr lang="en-US" sz="1100" dirty="0"/>
          </a:p>
        </p:txBody>
      </p:sp>
      <p:sp>
        <p:nvSpPr>
          <p:cNvPr id="10" name="text-15"/>
          <p:cNvSpPr txBox="1"/>
          <p:nvPr/>
        </p:nvSpPr>
        <p:spPr>
          <a:xfrm>
            <a:off x="1097280" y="2359152"/>
            <a:ext cx="3108960" cy="182880"/>
          </a:xfrm>
          <a:prstGeom prst="rect">
            <a:avLst/>
          </a:prstGeom>
          <a:noFill/>
          <a:ln/>
        </p:spPr>
        <p:txBody>
          <a:bodyPr wrap="square" lIns="0" tIns="0" rIns="0" bIns="0" rtlCol="0" anchor="t"/>
          <a:lstStyle/>
          <a:p>
            <a:pPr indent="0" marL="0">
              <a:buNone/>
            </a:pPr>
            <a:r>
              <a:rPr lang="en-US" sz="900" dirty="0">
                <a:solidFill>
                  <a:schemeClr val="tx2"/>
                </a:solidFill>
              </a:rPr>
              <a:t>Cold, darkness, wind and permafrost</a:t>
            </a:r>
            <a:endParaRPr lang="en-US" sz="900" dirty="0"/>
          </a:p>
        </p:txBody>
      </p:sp>
      <p:sp>
        <p:nvSpPr>
          <p:cNvPr id="11" name="text-16"/>
          <p:cNvSpPr txBox="1"/>
          <p:nvPr/>
        </p:nvSpPr>
        <p:spPr>
          <a:xfrm>
            <a:off x="548640" y="2606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5</a:t>
            </a:r>
            <a:endParaRPr lang="en-US" sz="1700" dirty="0"/>
          </a:p>
        </p:txBody>
      </p:sp>
      <p:sp>
        <p:nvSpPr>
          <p:cNvPr id="12" name="text-17"/>
          <p:cNvSpPr txBox="1"/>
          <p:nvPr/>
        </p:nvSpPr>
        <p:spPr>
          <a:xfrm>
            <a:off x="1097280" y="2624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Five Design Principles</a:t>
            </a:r>
            <a:endParaRPr lang="en-US" sz="1100" dirty="0"/>
          </a:p>
        </p:txBody>
      </p:sp>
      <p:sp>
        <p:nvSpPr>
          <p:cNvPr id="13" name="text-18"/>
          <p:cNvSpPr txBox="1"/>
          <p:nvPr/>
        </p:nvSpPr>
        <p:spPr>
          <a:xfrm>
            <a:off x="1097280" y="28163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ideas behind every building</a:t>
            </a:r>
            <a:endParaRPr lang="en-US" sz="900" dirty="0"/>
          </a:p>
        </p:txBody>
      </p:sp>
      <p:sp>
        <p:nvSpPr>
          <p:cNvPr id="14" name="text-19"/>
          <p:cNvSpPr txBox="1"/>
          <p:nvPr/>
        </p:nvSpPr>
        <p:spPr>
          <a:xfrm>
            <a:off x="548640" y="3063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0"/>
          <p:cNvSpPr txBox="1"/>
          <p:nvPr/>
        </p:nvSpPr>
        <p:spPr>
          <a:xfrm>
            <a:off x="1097280" y="3081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Whole City Plan</a:t>
            </a:r>
            <a:endParaRPr lang="en-US" sz="1100" dirty="0"/>
          </a:p>
        </p:txBody>
      </p:sp>
      <p:sp>
        <p:nvSpPr>
          <p:cNvPr id="16" name="text-21"/>
          <p:cNvSpPr txBox="1"/>
          <p:nvPr/>
        </p:nvSpPr>
        <p:spPr>
          <a:xfrm>
            <a:off x="1097280" y="3273552"/>
            <a:ext cx="3108960" cy="182880"/>
          </a:xfrm>
          <a:prstGeom prst="rect">
            <a:avLst/>
          </a:prstGeom>
          <a:noFill/>
          <a:ln/>
        </p:spPr>
        <p:txBody>
          <a:bodyPr wrap="square" lIns="0" tIns="0" rIns="0" bIns="0" rtlCol="0" anchor="t"/>
          <a:lstStyle/>
          <a:p>
            <a:pPr indent="0" marL="0">
              <a:buNone/>
            </a:pPr>
            <a:r>
              <a:rPr lang="en-US" sz="900" dirty="0">
                <a:solidFill>
                  <a:schemeClr val="tx2"/>
                </a:solidFill>
              </a:rPr>
              <a:t>From the wind farm to Mount Aurora</a:t>
            </a:r>
            <a:endParaRPr lang="en-US" sz="900" dirty="0"/>
          </a:p>
        </p:txBody>
      </p:sp>
      <p:sp>
        <p:nvSpPr>
          <p:cNvPr id="17" name="text-22"/>
          <p:cNvSpPr txBox="1"/>
          <p:nvPr/>
        </p:nvSpPr>
        <p:spPr>
          <a:xfrm>
            <a:off x="548640" y="3520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3"/>
          <p:cNvSpPr txBox="1"/>
          <p:nvPr/>
        </p:nvSpPr>
        <p:spPr>
          <a:xfrm>
            <a:off x="1097280" y="3538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Nine Blocks, One Short Walk</a:t>
            </a:r>
            <a:endParaRPr lang="en-US" sz="1100" dirty="0"/>
          </a:p>
        </p:txBody>
      </p:sp>
      <p:sp>
        <p:nvSpPr>
          <p:cNvPr id="19" name="text-24"/>
          <p:cNvSpPr txBox="1"/>
          <p:nvPr/>
        </p:nvSpPr>
        <p:spPr>
          <a:xfrm>
            <a:off x="1097280" y="3730752"/>
            <a:ext cx="3108960" cy="182880"/>
          </a:xfrm>
          <a:prstGeom prst="rect">
            <a:avLst/>
          </a:prstGeom>
          <a:noFill/>
          <a:ln/>
        </p:spPr>
        <p:txBody>
          <a:bodyPr wrap="square" lIns="0" tIns="0" rIns="0" bIns="0" rtlCol="0" anchor="t"/>
          <a:lstStyle/>
          <a:p>
            <a:pPr indent="0" marL="0">
              <a:buNone/>
            </a:pPr>
            <a:r>
              <a:rPr lang="en-US" sz="900" dirty="0">
                <a:solidFill>
                  <a:schemeClr val="tx2"/>
                </a:solidFill>
              </a:rPr>
              <a:t>Downtown around the Aurora Roundabout</a:t>
            </a:r>
            <a:endParaRPr lang="en-US" sz="900" dirty="0"/>
          </a:p>
        </p:txBody>
      </p:sp>
      <p:sp>
        <p:nvSpPr>
          <p:cNvPr id="20" name="text-25"/>
          <p:cNvSpPr txBox="1"/>
          <p:nvPr/>
        </p:nvSpPr>
        <p:spPr>
          <a:xfrm>
            <a:off x="548640" y="3977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6"/>
          <p:cNvSpPr txBox="1"/>
          <p:nvPr/>
        </p:nvSpPr>
        <p:spPr>
          <a:xfrm>
            <a:off x="1097280" y="3995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City's Own Sun</a:t>
            </a:r>
            <a:endParaRPr lang="en-US" sz="1100" dirty="0"/>
          </a:p>
        </p:txBody>
      </p:sp>
      <p:sp>
        <p:nvSpPr>
          <p:cNvPr id="22" name="text-27"/>
          <p:cNvSpPr txBox="1"/>
          <p:nvPr/>
        </p:nvSpPr>
        <p:spPr>
          <a:xfrm>
            <a:off x="1097280" y="41879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Power Station</a:t>
            </a:r>
            <a:endParaRPr lang="en-US" sz="900" dirty="0"/>
          </a:p>
        </p:txBody>
      </p:sp>
      <p:sp>
        <p:nvSpPr>
          <p:cNvPr id="23" name="text-28"/>
          <p:cNvSpPr txBox="1"/>
          <p:nvPr/>
        </p:nvSpPr>
        <p:spPr>
          <a:xfrm>
            <a:off x="548640" y="4434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29"/>
          <p:cNvSpPr txBox="1"/>
          <p:nvPr/>
        </p:nvSpPr>
        <p:spPr>
          <a:xfrm>
            <a:off x="1097280" y="4453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Bread and Water from Snow and Air</a:t>
            </a:r>
            <a:endParaRPr lang="en-US" sz="1100" dirty="0"/>
          </a:p>
        </p:txBody>
      </p:sp>
      <p:sp>
        <p:nvSpPr>
          <p:cNvPr id="25" name="text-30"/>
          <p:cNvSpPr txBox="1"/>
          <p:nvPr/>
        </p:nvSpPr>
        <p:spPr>
          <a:xfrm>
            <a:off x="1097280" y="4645152"/>
            <a:ext cx="3108960" cy="182880"/>
          </a:xfrm>
          <a:prstGeom prst="rect">
            <a:avLst/>
          </a:prstGeom>
          <a:noFill/>
          <a:ln/>
        </p:spPr>
        <p:txBody>
          <a:bodyPr wrap="square" lIns="0" tIns="0" rIns="0" bIns="0" rtlCol="0" anchor="t"/>
          <a:lstStyle/>
          <a:p>
            <a:pPr indent="0" marL="0">
              <a:buNone/>
            </a:pPr>
            <a:r>
              <a:rPr lang="en-US" sz="900" dirty="0">
                <a:solidFill>
                  <a:schemeClr val="tx2"/>
                </a:solidFill>
              </a:rPr>
              <a:t>Snow-to-Food &amp; Water Plant</a:t>
            </a:r>
            <a:endParaRPr lang="en-US" sz="900" dirty="0"/>
          </a:p>
        </p:txBody>
      </p:sp>
      <p:sp>
        <p:nvSpPr>
          <p:cNvPr id="26" name="text-31"/>
          <p:cNvSpPr txBox="1"/>
          <p:nvPr/>
        </p:nvSpPr>
        <p:spPr>
          <a:xfrm>
            <a:off x="548640" y="4892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2"/>
          <p:cNvSpPr txBox="1"/>
          <p:nvPr/>
        </p:nvSpPr>
        <p:spPr>
          <a:xfrm>
            <a:off x="1097280" y="4910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Warm Heart Inside the Ice</a:t>
            </a:r>
            <a:endParaRPr lang="en-US" sz="1100" dirty="0"/>
          </a:p>
        </p:txBody>
      </p:sp>
      <p:sp>
        <p:nvSpPr>
          <p:cNvPr id="28" name="text-33"/>
          <p:cNvSpPr txBox="1"/>
          <p:nvPr/>
        </p:nvSpPr>
        <p:spPr>
          <a:xfrm>
            <a:off x="1097280" y="5102352"/>
            <a:ext cx="3108960" cy="182880"/>
          </a:xfrm>
          <a:prstGeom prst="rect">
            <a:avLst/>
          </a:prstGeom>
          <a:noFill/>
          <a:ln/>
        </p:spPr>
        <p:txBody>
          <a:bodyPr wrap="square" lIns="0" tIns="0" rIns="0" bIns="0" rtlCol="0" anchor="t"/>
          <a:lstStyle/>
          <a:p>
            <a:pPr indent="0" marL="0">
              <a:buNone/>
            </a:pPr>
            <a:r>
              <a:rPr lang="en-US" sz="900" dirty="0">
                <a:solidFill>
                  <a:schemeClr val="tx2"/>
                </a:solidFill>
              </a:rPr>
              <a:t>Mount Aurora Geothermal Spa Resort</a:t>
            </a:r>
            <a:endParaRPr lang="en-US" sz="900" dirty="0"/>
          </a:p>
        </p:txBody>
      </p:sp>
      <p:sp>
        <p:nvSpPr>
          <p:cNvPr id="29" name="text-34"/>
          <p:cNvSpPr txBox="1"/>
          <p:nvPr/>
        </p:nvSpPr>
        <p:spPr>
          <a:xfrm>
            <a:off x="548640" y="5349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5"/>
          <p:cNvSpPr txBox="1"/>
          <p:nvPr/>
        </p:nvSpPr>
        <p:spPr>
          <a:xfrm>
            <a:off x="1097280" y="5367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Three Districts, One Loop</a:t>
            </a:r>
            <a:endParaRPr lang="en-US" sz="1100" dirty="0"/>
          </a:p>
        </p:txBody>
      </p:sp>
      <p:sp>
        <p:nvSpPr>
          <p:cNvPr id="31" name="text-36"/>
          <p:cNvSpPr txBox="1"/>
          <p:nvPr/>
        </p:nvSpPr>
        <p:spPr>
          <a:xfrm>
            <a:off x="1097280" y="5559552"/>
            <a:ext cx="3108960" cy="182880"/>
          </a:xfrm>
          <a:prstGeom prst="rect">
            <a:avLst/>
          </a:prstGeom>
          <a:noFill/>
          <a:ln/>
        </p:spPr>
        <p:txBody>
          <a:bodyPr wrap="square" lIns="0" tIns="0" rIns="0" bIns="0" rtlCol="0" anchor="t"/>
          <a:lstStyle/>
          <a:p>
            <a:pPr indent="0" marL="0">
              <a:buNone/>
            </a:pPr>
            <a:r>
              <a:rPr lang="en-US" sz="900" dirty="0">
                <a:solidFill>
                  <a:schemeClr val="tx2"/>
                </a:solidFill>
              </a:rPr>
              <a:t>How heat, water, oxygen and waste go round</a:t>
            </a:r>
            <a:endParaRPr lang="en-US" sz="900" dirty="0"/>
          </a:p>
        </p:txBody>
      </p:sp>
      <p:sp>
        <p:nvSpPr>
          <p:cNvPr id="32" name="text-37"/>
          <p:cNvSpPr txBox="1"/>
          <p:nvPr/>
        </p:nvSpPr>
        <p:spPr>
          <a:xfrm>
            <a:off x="548640" y="5806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3" name="text-38"/>
          <p:cNvSpPr txBox="1"/>
          <p:nvPr/>
        </p:nvSpPr>
        <p:spPr>
          <a:xfrm>
            <a:off x="1097280" y="5824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Energy for the Polar Night</a:t>
            </a:r>
            <a:endParaRPr lang="en-US" sz="1100" dirty="0"/>
          </a:p>
        </p:txBody>
      </p:sp>
      <p:sp>
        <p:nvSpPr>
          <p:cNvPr id="34" name="text-39"/>
          <p:cNvSpPr txBox="1"/>
          <p:nvPr/>
        </p:nvSpPr>
        <p:spPr>
          <a:xfrm>
            <a:off x="1097280" y="60167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wind, sun, geothermal and storage</a:t>
            </a:r>
            <a:endParaRPr lang="en-US" sz="900" dirty="0"/>
          </a:p>
        </p:txBody>
      </p:sp>
      <p:sp>
        <p:nvSpPr>
          <p:cNvPr id="35" name="text-40"/>
          <p:cNvSpPr txBox="1"/>
          <p:nvPr/>
        </p:nvSpPr>
        <p:spPr>
          <a:xfrm>
            <a:off x="548640" y="6263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6" name="text-41"/>
          <p:cNvSpPr txBox="1"/>
          <p:nvPr/>
        </p:nvSpPr>
        <p:spPr>
          <a:xfrm>
            <a:off x="1097280" y="6281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Nothing Is Wasted</a:t>
            </a:r>
            <a:endParaRPr lang="en-US" sz="1100" dirty="0"/>
          </a:p>
        </p:txBody>
      </p:sp>
      <p:sp>
        <p:nvSpPr>
          <p:cNvPr id="37" name="text-42"/>
          <p:cNvSpPr txBox="1"/>
          <p:nvPr/>
        </p:nvSpPr>
        <p:spPr>
          <a:xfrm>
            <a:off x="1097280" y="6473952"/>
            <a:ext cx="3108960" cy="182880"/>
          </a:xfrm>
          <a:prstGeom prst="rect">
            <a:avLst/>
          </a:prstGeom>
          <a:noFill/>
          <a:ln/>
        </p:spPr>
        <p:txBody>
          <a:bodyPr wrap="square" lIns="0" tIns="0" rIns="0" bIns="0" rtlCol="0" anchor="t"/>
          <a:lstStyle/>
          <a:p>
            <a:pPr indent="0" marL="0">
              <a:buNone/>
            </a:pPr>
            <a:r>
              <a:rPr lang="en-US" sz="900" dirty="0">
                <a:solidFill>
                  <a:schemeClr val="tx2"/>
                </a:solidFill>
              </a:rPr>
              <a:t>Water and waste in closed loops</a:t>
            </a:r>
            <a:endParaRPr lang="en-US" sz="900" dirty="0"/>
          </a:p>
        </p:txBody>
      </p:sp>
      <p:sp>
        <p:nvSpPr>
          <p:cNvPr id="38" name="text-43"/>
          <p:cNvSpPr txBox="1"/>
          <p:nvPr/>
        </p:nvSpPr>
        <p:spPr>
          <a:xfrm>
            <a:off x="548640" y="6720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9" name="text-44"/>
          <p:cNvSpPr txBox="1"/>
          <p:nvPr/>
        </p:nvSpPr>
        <p:spPr>
          <a:xfrm>
            <a:off x="1097280" y="6739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Getting Around Fossil-Free</a:t>
            </a:r>
            <a:endParaRPr lang="en-US" sz="1100" dirty="0"/>
          </a:p>
        </p:txBody>
      </p:sp>
      <p:sp>
        <p:nvSpPr>
          <p:cNvPr id="40" name="text-45"/>
          <p:cNvSpPr txBox="1"/>
          <p:nvPr/>
        </p:nvSpPr>
        <p:spPr>
          <a:xfrm>
            <a:off x="1097280" y="6931152"/>
            <a:ext cx="3108960" cy="182880"/>
          </a:xfrm>
          <a:prstGeom prst="rect">
            <a:avLst/>
          </a:prstGeom>
          <a:noFill/>
          <a:ln/>
        </p:spPr>
        <p:txBody>
          <a:bodyPr wrap="square" lIns="0" tIns="0" rIns="0" bIns="0" rtlCol="0" anchor="t"/>
          <a:lstStyle/>
          <a:p>
            <a:pPr indent="0" marL="0">
              <a:buNone/>
            </a:pPr>
            <a:r>
              <a:rPr lang="en-US" sz="900" dirty="0">
                <a:solidFill>
                  <a:schemeClr val="tx2"/>
                </a:solidFill>
              </a:rPr>
              <a:t>Metro, trams, heated roads and the airport</a:t>
            </a:r>
            <a:endParaRPr lang="en-US" sz="900" dirty="0"/>
          </a:p>
        </p:txBody>
      </p:sp>
      <p:sp>
        <p:nvSpPr>
          <p:cNvPr id="41" name="text-46"/>
          <p:cNvSpPr txBox="1"/>
          <p:nvPr/>
        </p:nvSpPr>
        <p:spPr>
          <a:xfrm>
            <a:off x="548640" y="7178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18</a:t>
            </a:r>
            <a:endParaRPr lang="en-US" sz="1700" dirty="0"/>
          </a:p>
        </p:txBody>
      </p:sp>
      <p:sp>
        <p:nvSpPr>
          <p:cNvPr id="42" name="text-47"/>
          <p:cNvSpPr txBox="1"/>
          <p:nvPr/>
        </p:nvSpPr>
        <p:spPr>
          <a:xfrm>
            <a:off x="1097280" y="7196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Livable City Every Day</a:t>
            </a:r>
            <a:endParaRPr lang="en-US" sz="1100" dirty="0"/>
          </a:p>
        </p:txBody>
      </p:sp>
      <p:sp>
        <p:nvSpPr>
          <p:cNvPr id="43" name="text-48"/>
          <p:cNvSpPr txBox="1"/>
          <p:nvPr/>
        </p:nvSpPr>
        <p:spPr>
          <a:xfrm>
            <a:off x="1097280" y="7388352"/>
            <a:ext cx="3108960" cy="182880"/>
          </a:xfrm>
          <a:prstGeom prst="rect">
            <a:avLst/>
          </a:prstGeom>
          <a:noFill/>
          <a:ln/>
        </p:spPr>
        <p:txBody>
          <a:bodyPr wrap="square" lIns="0" tIns="0" rIns="0" bIns="0" rtlCol="0" anchor="t"/>
          <a:lstStyle/>
          <a:p>
            <a:pPr indent="0" marL="0">
              <a:buNone/>
            </a:pPr>
            <a:r>
              <a:rPr lang="en-US" sz="900" dirty="0">
                <a:solidFill>
                  <a:schemeClr val="tx2"/>
                </a:solidFill>
              </a:rPr>
              <a:t>Homes, schools, health, shops and culture</a:t>
            </a:r>
            <a:endParaRPr lang="en-US" sz="900" dirty="0"/>
          </a:p>
        </p:txBody>
      </p:sp>
      <p:sp>
        <p:nvSpPr>
          <p:cNvPr id="44" name="text-49"/>
          <p:cNvSpPr txBox="1"/>
          <p:nvPr/>
        </p:nvSpPr>
        <p:spPr>
          <a:xfrm>
            <a:off x="548640" y="7635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45" name="text-50"/>
          <p:cNvSpPr txBox="1"/>
          <p:nvPr/>
        </p:nvSpPr>
        <p:spPr>
          <a:xfrm>
            <a:off x="1097280" y="7653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Safe and Ready for Any Storm</a:t>
            </a:r>
            <a:endParaRPr lang="en-US" sz="1100" dirty="0"/>
          </a:p>
        </p:txBody>
      </p:sp>
      <p:sp>
        <p:nvSpPr>
          <p:cNvPr id="46" name="text-51"/>
          <p:cNvSpPr txBox="1"/>
          <p:nvPr/>
        </p:nvSpPr>
        <p:spPr>
          <a:xfrm>
            <a:off x="1097280" y="7845552"/>
            <a:ext cx="3108960" cy="182880"/>
          </a:xfrm>
          <a:prstGeom prst="rect">
            <a:avLst/>
          </a:prstGeom>
          <a:noFill/>
          <a:ln/>
        </p:spPr>
        <p:txBody>
          <a:bodyPr wrap="square" lIns="0" tIns="0" rIns="0" bIns="0" rtlCol="0" anchor="t"/>
          <a:lstStyle/>
          <a:p>
            <a:pPr indent="0" marL="0">
              <a:buNone/>
            </a:pPr>
            <a:r>
              <a:rPr lang="en-US" sz="900" dirty="0">
                <a:solidFill>
                  <a:schemeClr val="tx2"/>
                </a:solidFill>
              </a:rPr>
              <a:t>Rescue, shelters and blizzard forecasts</a:t>
            </a:r>
            <a:endParaRPr lang="en-US" sz="900" dirty="0"/>
          </a:p>
        </p:txBody>
      </p:sp>
      <p:sp>
        <p:nvSpPr>
          <p:cNvPr id="47" name="text-52"/>
          <p:cNvSpPr txBox="1"/>
          <p:nvPr/>
        </p:nvSpPr>
        <p:spPr>
          <a:xfrm>
            <a:off x="548640" y="8092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20</a:t>
            </a:r>
            <a:endParaRPr lang="en-US" sz="1700" dirty="0"/>
          </a:p>
        </p:txBody>
      </p:sp>
      <p:sp>
        <p:nvSpPr>
          <p:cNvPr id="48" name="text-53"/>
          <p:cNvSpPr txBox="1"/>
          <p:nvPr/>
        </p:nvSpPr>
        <p:spPr>
          <a:xfrm>
            <a:off x="1097280" y="8110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Take the Tour</a:t>
            </a:r>
            <a:endParaRPr lang="en-US" sz="1100" dirty="0"/>
          </a:p>
        </p:txBody>
      </p:sp>
      <p:sp>
        <p:nvSpPr>
          <p:cNvPr id="49" name="text-54"/>
          <p:cNvSpPr txBox="1"/>
          <p:nvPr/>
        </p:nvSpPr>
        <p:spPr>
          <a:xfrm>
            <a:off x="1097280" y="8302752"/>
            <a:ext cx="3108960" cy="182880"/>
          </a:xfrm>
          <a:prstGeom prst="rect">
            <a:avLst/>
          </a:prstGeom>
          <a:noFill/>
          <a:ln/>
        </p:spPr>
        <p:txBody>
          <a:bodyPr wrap="square" lIns="0" tIns="0" rIns="0" bIns="0" rtlCol="0" anchor="t"/>
          <a:lstStyle/>
          <a:p>
            <a:pPr indent="0" marL="0">
              <a:buNone/>
            </a:pPr>
            <a:r>
              <a:rPr lang="en-US" sz="900" dirty="0">
                <a:solidFill>
                  <a:schemeClr val="tx2"/>
                </a:solidFill>
              </a:rPr>
              <a:t>Eight stops in the live 3D city</a:t>
            </a:r>
            <a:endParaRPr lang="en-US" sz="900" dirty="0"/>
          </a:p>
        </p:txBody>
      </p:sp>
      <p:sp>
        <p:nvSpPr>
          <p:cNvPr id="50" name="text-55"/>
          <p:cNvSpPr txBox="1"/>
          <p:nvPr/>
        </p:nvSpPr>
        <p:spPr>
          <a:xfrm>
            <a:off x="548640" y="8549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51" name="text-56"/>
          <p:cNvSpPr txBox="1"/>
          <p:nvPr/>
        </p:nvSpPr>
        <p:spPr>
          <a:xfrm>
            <a:off x="1097280" y="8567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Places to Visit</a:t>
            </a:r>
            <a:endParaRPr lang="en-US" sz="1100" dirty="0"/>
          </a:p>
        </p:txBody>
      </p:sp>
      <p:sp>
        <p:nvSpPr>
          <p:cNvPr id="52" name="text-57"/>
          <p:cNvSpPr txBox="1"/>
          <p:nvPr/>
        </p:nvSpPr>
        <p:spPr>
          <a:xfrm>
            <a:off x="1097280" y="8759952"/>
            <a:ext cx="3108960" cy="182880"/>
          </a:xfrm>
          <a:prstGeom prst="rect">
            <a:avLst/>
          </a:prstGeom>
          <a:noFill/>
          <a:ln/>
        </p:spPr>
        <p:txBody>
          <a:bodyPr wrap="square" lIns="0" tIns="0" rIns="0" bIns="0" rtlCol="0" anchor="t"/>
          <a:lstStyle/>
          <a:p>
            <a:pPr indent="0" marL="0">
              <a:buNone/>
            </a:pPr>
            <a:r>
              <a:rPr lang="en-US" sz="900" dirty="0">
                <a:solidFill>
                  <a:schemeClr val="tx2"/>
                </a:solidFill>
              </a:rPr>
              <a:t>35 key places and what they do</a:t>
            </a:r>
            <a:endParaRPr lang="en-US" sz="900" dirty="0"/>
          </a:p>
        </p:txBody>
      </p:sp>
      <p:sp>
        <p:nvSpPr>
          <p:cNvPr id="53" name="text-58"/>
          <p:cNvSpPr txBox="1"/>
          <p:nvPr/>
        </p:nvSpPr>
        <p:spPr>
          <a:xfrm>
            <a:off x="548640" y="9006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54" name="text-59"/>
          <p:cNvSpPr txBox="1"/>
          <p:nvPr/>
        </p:nvSpPr>
        <p:spPr>
          <a:xfrm>
            <a:off x="1097280" y="9025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Aurora Haven by the Numbers</a:t>
            </a:r>
            <a:endParaRPr lang="en-US" sz="1100" dirty="0"/>
          </a:p>
        </p:txBody>
      </p:sp>
      <p:sp>
        <p:nvSpPr>
          <p:cNvPr id="55" name="text-60"/>
          <p:cNvSpPr txBox="1"/>
          <p:nvPr/>
        </p:nvSpPr>
        <p:spPr>
          <a:xfrm>
            <a:off x="1097280" y="92171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key figures in one place</a:t>
            </a:r>
            <a:endParaRPr lang="en-US" sz="900" dirty="0"/>
          </a:p>
        </p:txBody>
      </p:sp>
      <p:sp>
        <p:nvSpPr>
          <p:cNvPr id="56" name="text-61"/>
          <p:cNvSpPr txBox="1"/>
          <p:nvPr/>
        </p:nvSpPr>
        <p:spPr>
          <a:xfrm>
            <a:off x="548640" y="9464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57" name="text-62"/>
          <p:cNvSpPr txBox="1"/>
          <p:nvPr/>
        </p:nvSpPr>
        <p:spPr>
          <a:xfrm>
            <a:off x="1097280" y="9482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Warm, Green and Ready</a:t>
            </a:r>
            <a:endParaRPr lang="en-US" sz="1100" dirty="0"/>
          </a:p>
        </p:txBody>
      </p:sp>
      <p:sp>
        <p:nvSpPr>
          <p:cNvPr id="58" name="text-63"/>
          <p:cNvSpPr txBox="1"/>
          <p:nvPr/>
        </p:nvSpPr>
        <p:spPr>
          <a:xfrm>
            <a:off x="1097280" y="9674352"/>
            <a:ext cx="3108960" cy="182880"/>
          </a:xfrm>
          <a:prstGeom prst="rect">
            <a:avLst/>
          </a:prstGeom>
          <a:noFill/>
          <a:ln/>
        </p:spPr>
        <p:txBody>
          <a:bodyPr wrap="square" lIns="0" tIns="0" rIns="0" bIns="0" rtlCol="0" anchor="t"/>
          <a:lstStyle/>
          <a:p>
            <a:pPr indent="0" marL="0">
              <a:buNone/>
            </a:pPr>
            <a:r>
              <a:rPr lang="en-US" sz="900" dirty="0">
                <a:solidFill>
                  <a:schemeClr val="tx2"/>
                </a:solidFill>
              </a:rPr>
              <a:t>Until next time</a:t>
            </a:r>
            <a:endParaRPr lang="en-US" sz="900" dirty="0"/>
          </a:p>
        </p:txBody>
      </p:sp>
      <p:pic>
        <p:nvPicPr>
          <p:cNvPr id="59" name="picture-64" descr="/home/user/chatbox-bi-n-o/magazine/assets/renders/lagoon.jpg">    </p:cNvPr>
          <p:cNvPicPr>
            <a:picLocks noChangeAspect="1"/>
          </p:cNvPicPr>
          <p:nvPr/>
        </p:nvPicPr>
        <p:blipFill>
          <a:blip r:embed="rId1"/>
          <a:srcRect l="0" r="0" t="0" b="0"/>
          <a:stretch/>
        </p:blipFill>
        <p:spPr>
          <a:xfrm>
            <a:off x="4434840" y="1691640"/>
            <a:ext cx="2578608" cy="1691640"/>
          </a:xfrm>
          <a:prstGeom prst="rect">
            <a:avLst/>
          </a:prstGeom>
        </p:spPr>
      </p:pic>
      <p:sp>
        <p:nvSpPr>
          <p:cNvPr id="60" name="text-65"/>
          <p:cNvSpPr txBox="1"/>
          <p:nvPr/>
        </p:nvSpPr>
        <p:spPr>
          <a:xfrm>
            <a:off x="4434840" y="3456432"/>
            <a:ext cx="2578608" cy="365760"/>
          </a:xfrm>
          <a:prstGeom prst="rect">
            <a:avLst/>
          </a:prstGeom>
          <a:noFill/>
          <a:ln/>
        </p:spPr>
        <p:txBody>
          <a:bodyPr wrap="square" lIns="0" tIns="0" rIns="0" bIns="0" rtlCol="0" anchor="t"/>
          <a:lstStyle/>
          <a:p>
            <a:pPr indent="0" marL="0">
              <a:buNone/>
            </a:pPr>
            <a:r>
              <a:rPr lang="en-US" sz="850" i="1" dirty="0">
                <a:solidFill>
                  <a:schemeClr val="tx2"/>
                </a:solidFill>
              </a:rPr>
              <a:t>The Aurora Lagoon and the North Portal of Mount Aurora under the northern lights.</a:t>
            </a:r>
            <a:endParaRPr lang="en-US" sz="850" dirty="0"/>
          </a:p>
        </p:txBody>
      </p:sp>
      <p:sp>
        <p:nvSpPr>
          <p:cNvPr id="61" name="kicker-dot-66"/>
          <p:cNvSpPr/>
          <p:nvPr/>
        </p:nvSpPr>
        <p:spPr>
          <a:xfrm>
            <a:off x="4434840" y="4064508"/>
            <a:ext cx="100584" cy="100584"/>
          </a:xfrm>
          <a:prstGeom prst="ellipse">
            <a:avLst/>
          </a:prstGeom>
          <a:solidFill>
            <a:schemeClr val="accent6"/>
          </a:solidFill>
          <a:ln w="12700">
            <a:solidFill>
              <a:schemeClr val="accent6"/>
            </a:solidFill>
            <a:prstDash val="solid"/>
          </a:ln>
        </p:spPr>
      </p:sp>
      <p:sp>
        <p:nvSpPr>
          <p:cNvPr id="62" name="text-67"/>
          <p:cNvSpPr txBox="1"/>
          <p:nvPr/>
        </p:nvSpPr>
        <p:spPr>
          <a:xfrm>
            <a:off x="4617720" y="4023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FROM THE EDITORS</a:t>
            </a:r>
            <a:endParaRPr lang="en-US" sz="900" dirty="0"/>
          </a:p>
        </p:txBody>
      </p:sp>
      <p:sp>
        <p:nvSpPr>
          <p:cNvPr id="63" name="text-68"/>
          <p:cNvSpPr txBox="1"/>
          <p:nvPr/>
        </p:nvSpPr>
        <p:spPr>
          <a:xfrm>
            <a:off x="4434840" y="4343400"/>
            <a:ext cx="2578608" cy="265176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Welcome to the first issue of Aurora Haven, a magazine about our city for the Polar / Ice environment.</a:t>
            </a:r>
            <a:endParaRPr lang="en-US" sz="1050" dirty="0"/>
          </a:p>
          <a:p>
            <a:pPr indent="0" marL="0">
              <a:lnSpc>
                <a:spcPct val="112000"/>
              </a:lnSpc>
              <a:spcAft>
                <a:spcPts val="700"/>
              </a:spcAft>
              <a:buNone/>
            </a:pPr>
            <a:r>
              <a:rPr lang="en-US" sz="1050" dirty="0">
                <a:solidFill>
                  <a:schemeClr val="tx1"/>
                </a:solidFill>
              </a:rPr>
              <a:t>Aurora Haven is a compact city of about 45,000 people on a frozen tundra plateau, below a 35-metre snow peak called Mount Aurora. Our goal was not only to survive the cold but to build a city where people really want to live.</a:t>
            </a:r>
            <a:endParaRPr lang="en-US" sz="1050" dirty="0"/>
          </a:p>
          <a:p>
            <a:pPr indent="0" marL="0">
              <a:lnSpc>
                <a:spcPct val="112000"/>
              </a:lnSpc>
              <a:spcAft>
                <a:spcPts val="700"/>
              </a:spcAft>
              <a:buNone/>
            </a:pPr>
            <a:r>
              <a:rPr lang="en-US" sz="1050" dirty="0">
                <a:solidFill>
                  <a:schemeClr val="tx1"/>
                </a:solidFill>
              </a:rPr>
              <a:t>In these pages you will find the challenge we faced, our design ideas, our three signature districts and everyday life in the city. At the back, a self-guided tour shows you how to explore Aurora Haven yourself in 3D.</a:t>
            </a:r>
            <a:endParaRPr lang="en-US" sz="1050" dirty="0"/>
          </a:p>
        </p:txBody>
      </p:sp>
      <p:sp>
        <p:nvSpPr>
          <p:cNvPr id="64" name="text-69"/>
          <p:cNvSpPr txBox="1"/>
          <p:nvPr/>
        </p:nvSpPr>
        <p:spPr>
          <a:xfrm>
            <a:off x="4434840" y="7086600"/>
            <a:ext cx="2578608"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65" name="text-70"/>
          <p:cNvSpPr txBox="1"/>
          <p:nvPr/>
        </p:nvSpPr>
        <p:spPr>
          <a:xfrm>
            <a:off x="4434840" y="7333488"/>
            <a:ext cx="2578608" cy="365760"/>
          </a:xfrm>
          <a:prstGeom prst="rect">
            <a:avLst/>
          </a:prstGeom>
          <a:noFill/>
          <a:ln/>
        </p:spPr>
        <p:txBody>
          <a:bodyPr wrap="square" lIns="0" tIns="0" rIns="0" bIns="0" rtlCol="0" anchor="t"/>
          <a:lstStyle/>
          <a:p>
            <a:pPr indent="0" marL="0">
              <a:buNone/>
            </a:pPr>
            <a:r>
              <a:rPr lang="en-US" sz="900" dirty="0">
                <a:solidFill>
                  <a:schemeClr val="tx2"/>
                </a:solidFill>
              </a:rPr>
              <a:t>[Member names] · [Class] · [Date]</a:t>
            </a:r>
            <a:endParaRPr lang="en-US" sz="900" dirty="0"/>
          </a:p>
        </p:txBody>
      </p:sp>
      <p:sp>
        <p:nvSpPr>
          <p:cNvPr id="66" name="card-71"/>
          <p:cNvSpPr/>
          <p:nvPr/>
        </p:nvSpPr>
        <p:spPr>
          <a:xfrm>
            <a:off x="4434840" y="8503920"/>
            <a:ext cx="2578608" cy="1417320"/>
          </a:xfrm>
          <a:prstGeom prst="roundRect">
            <a:avLst>
              <a:gd name="adj" fmla="val 5161"/>
            </a:avLst>
          </a:prstGeom>
          <a:solidFill>
            <a:schemeClr val="bg2"/>
          </a:solidFill>
          <a:ln w="12700">
            <a:solidFill>
              <a:schemeClr val="bg2"/>
            </a:solidFill>
            <a:prstDash val="solid"/>
          </a:ln>
        </p:spPr>
      </p:sp>
      <p:sp>
        <p:nvSpPr>
          <p:cNvPr id="67" name="kicker-dot-72"/>
          <p:cNvSpPr/>
          <p:nvPr/>
        </p:nvSpPr>
        <p:spPr>
          <a:xfrm>
            <a:off x="4572000" y="8682228"/>
            <a:ext cx="100584" cy="100584"/>
          </a:xfrm>
          <a:prstGeom prst="ellipse">
            <a:avLst/>
          </a:prstGeom>
          <a:solidFill>
            <a:schemeClr val="accent6"/>
          </a:solidFill>
          <a:ln w="12700">
            <a:solidFill>
              <a:schemeClr val="accent6"/>
            </a:solidFill>
            <a:prstDash val="solid"/>
          </a:ln>
        </p:spPr>
      </p:sp>
      <p:sp>
        <p:nvSpPr>
          <p:cNvPr id="68" name="text-73"/>
          <p:cNvSpPr txBox="1"/>
          <p:nvPr/>
        </p:nvSpPr>
        <p:spPr>
          <a:xfrm>
            <a:off x="4754880" y="8641080"/>
            <a:ext cx="221284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69" name="text-74"/>
          <p:cNvSpPr txBox="1"/>
          <p:nvPr/>
        </p:nvSpPr>
        <p:spPr>
          <a:xfrm>
            <a:off x="4572000" y="8897112"/>
            <a:ext cx="2304288" cy="978408"/>
          </a:xfrm>
          <a:prstGeom prst="rect">
            <a:avLst/>
          </a:prstGeom>
          <a:noFill/>
          <a:ln/>
        </p:spPr>
        <p:txBody>
          <a:bodyPr wrap="square" lIns="0" tIns="0" rIns="0" bIns="0" rtlCol="0" anchor="t"/>
          <a:lstStyle/>
          <a:p>
            <a:pPr indent="0" marL="0">
              <a:lnSpc>
                <a:spcPct val="105000"/>
              </a:lnSpc>
              <a:buNone/>
            </a:pPr>
            <a:r>
              <a:rPr lang="en-US" sz="900" dirty="0">
                <a:solidFill>
                  <a:schemeClr val="tx1"/>
                </a:solidFill>
              </a:rPr>
              <a:t>Aurora 81 – Polar Landmark Tower, named in honour of Landmark 81 in Ho Chi Minh City, with Mount Aurora behind it under the northern lights. Its nine bundled glass tubes step back like bamboo stalks and cut blizzard wind load by about 25%.</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75"/>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CITY OVERVIEW</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Welcome to Aurora Haven</a:t>
            </a:r>
            <a:endParaRPr lang="en-US" sz="3400" dirty="0"/>
          </a:p>
        </p:txBody>
      </p:sp>
      <p:pic>
        <p:nvPicPr>
          <p:cNvPr id="5" name="overview-picture" descr="/home/user/chatbox-bi-n-o/magazine/assets/renders/overview.png">    </p:cNvPr>
          <p:cNvPicPr>
            <a:picLocks noChangeAspect="1"/>
          </p:cNvPicPr>
          <p:nvPr/>
        </p:nvPicPr>
        <p:blipFill>
          <a:blip r:embed="rId1"/>
          <a:stretch>
            <a:fillRect/>
          </a:stretch>
        </p:blipFill>
        <p:spPr>
          <a:xfrm>
            <a:off x="320040" y="1417320"/>
            <a:ext cx="6922008" cy="3890745"/>
          </a:xfrm>
          <a:prstGeom prst="rect">
            <a:avLst/>
          </a:prstGeom>
        </p:spPr>
      </p:pic>
      <p:sp>
        <p:nvSpPr>
          <p:cNvPr id="6" name="text-77"/>
          <p:cNvSpPr txBox="1"/>
          <p:nvPr/>
        </p:nvSpPr>
        <p:spPr>
          <a:xfrm>
            <a:off x="548640" y="53492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seen from the south-east, rendered from the Eco-Polis 3D city file.</a:t>
            </a:r>
            <a:endParaRPr lang="en-US" sz="850" dirty="0"/>
          </a:p>
        </p:txBody>
      </p:sp>
      <p:sp>
        <p:nvSpPr>
          <p:cNvPr id="7" name="text-78"/>
          <p:cNvSpPr txBox="1"/>
          <p:nvPr/>
        </p:nvSpPr>
        <p:spPr>
          <a:xfrm>
            <a:off x="548640"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Aurora Haven is a compact polar city of around 45,000 people, built on a frozen tundra plateau beneath the snow peak of Mount Aurora. Winters fall to −45 °C, the sun disappears for two months of polar night, and almost nothing can grow. Aurora Haven is designed not just to survive these conditions but to make life here warm, healthy and sustainable.</a:t>
            </a:r>
            <a:endParaRPr lang="en-US" sz="1050" dirty="0"/>
          </a:p>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p:txBody>
      </p:sp>
      <p:sp>
        <p:nvSpPr>
          <p:cNvPr id="8" name="text-79"/>
          <p:cNvSpPr txBox="1"/>
          <p:nvPr/>
        </p:nvSpPr>
        <p:spPr>
          <a:xfrm>
            <a:off x="3918204"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a:p>
            <a:pPr indent="0" marL="0">
              <a:lnSpc>
                <a:spcPct val="112000"/>
              </a:lnSpc>
              <a:spcAft>
                <a:spcPts val="700"/>
              </a:spcAft>
              <a:buNone/>
            </a:pPr>
            <a:r>
              <a:rPr lang="en-US" sz="1050" dirty="0">
                <a:solidFill>
                  <a:schemeClr val="tx1"/>
                </a:solidFill>
              </a:rPr>
              <a:t>What makes Aurora Haven unique is its three signature districts. A fusion power station acts as the city’s own sun, giving steady power and heat even through the polar night. A Snow-to-Food &amp; Water Plant turns snow and air into clean drinking water and food, so the city can feed itself without farmland. 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9" name="text-80"/>
          <p:cNvSpPr txBox="1"/>
          <p:nvPr/>
        </p:nvSpPr>
        <p:spPr>
          <a:xfrm>
            <a:off x="548640"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45,000</a:t>
            </a:r>
            <a:endParaRPr lang="en-US" sz="2400" dirty="0"/>
          </a:p>
        </p:txBody>
      </p:sp>
      <p:sp>
        <p:nvSpPr>
          <p:cNvPr id="10" name="text-81"/>
          <p:cNvSpPr txBox="1"/>
          <p:nvPr/>
        </p:nvSpPr>
        <p:spPr>
          <a:xfrm>
            <a:off x="548640"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11" name="text-82"/>
          <p:cNvSpPr txBox="1"/>
          <p:nvPr/>
        </p:nvSpPr>
        <p:spPr>
          <a:xfrm>
            <a:off x="2164842"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 °C</a:t>
            </a:r>
            <a:endParaRPr lang="en-US" sz="2400" dirty="0"/>
          </a:p>
        </p:txBody>
      </p:sp>
      <p:sp>
        <p:nvSpPr>
          <p:cNvPr id="12" name="text-83"/>
          <p:cNvSpPr txBox="1"/>
          <p:nvPr/>
        </p:nvSpPr>
        <p:spPr>
          <a:xfrm>
            <a:off x="2164842"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3" name="text-84"/>
          <p:cNvSpPr txBox="1"/>
          <p:nvPr/>
        </p:nvSpPr>
        <p:spPr>
          <a:xfrm>
            <a:off x="3781044"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35 m</a:t>
            </a:r>
            <a:endParaRPr lang="en-US" sz="2400" dirty="0"/>
          </a:p>
        </p:txBody>
      </p:sp>
      <p:sp>
        <p:nvSpPr>
          <p:cNvPr id="14" name="text-85"/>
          <p:cNvSpPr txBox="1"/>
          <p:nvPr/>
        </p:nvSpPr>
        <p:spPr>
          <a:xfrm>
            <a:off x="3781044"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5" name="text-86"/>
          <p:cNvSpPr txBox="1"/>
          <p:nvPr/>
        </p:nvSpPr>
        <p:spPr>
          <a:xfrm>
            <a:off x="5397246"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10 min</a:t>
            </a:r>
            <a:endParaRPr lang="en-US" sz="2400" dirty="0"/>
          </a:p>
        </p:txBody>
      </p:sp>
      <p:sp>
        <p:nvSpPr>
          <p:cNvPr id="16" name="text-87"/>
          <p:cNvSpPr txBox="1"/>
          <p:nvPr/>
        </p:nvSpPr>
        <p:spPr>
          <a:xfrm>
            <a:off x="5397246"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88" descr="/home/user/chatbox-bi-n-o/magazine/assets/renders/snowbreak.jpg">    </p:cNvPr>
          <p:cNvPicPr>
            <a:picLocks noChangeAspect="1"/>
          </p:cNvPicPr>
          <p:nvPr/>
        </p:nvPicPr>
        <p:blipFill>
          <a:blip r:embed="rId1"/>
          <a:srcRect l="0" r="0" t="0" b="0"/>
          <a:stretch/>
        </p:blipFill>
        <p:spPr>
          <a:xfrm>
            <a:off x="0" y="0"/>
            <a:ext cx="7562088" cy="4160520"/>
          </a:xfrm>
          <a:prstGeom prst="rect">
            <a:avLst/>
          </a:prstGeom>
        </p:spPr>
      </p:pic>
      <p:sp>
        <p:nvSpPr>
          <p:cNvPr id="3" name="kicker-dot-89"/>
          <p:cNvSpPr/>
          <p:nvPr/>
        </p:nvSpPr>
        <p:spPr>
          <a:xfrm>
            <a:off x="548640" y="4475988"/>
            <a:ext cx="100584" cy="100584"/>
          </a:xfrm>
          <a:prstGeom prst="ellipse">
            <a:avLst/>
          </a:prstGeom>
          <a:solidFill>
            <a:schemeClr val="accent1"/>
          </a:solidFill>
          <a:ln w="12700">
            <a:solidFill>
              <a:schemeClr val="accent1"/>
            </a:solidFill>
            <a:prstDash val="solid"/>
          </a:ln>
        </p:spPr>
      </p:sp>
      <p:sp>
        <p:nvSpPr>
          <p:cNvPr id="4" name="text-90"/>
          <p:cNvSpPr txBox="1"/>
          <p:nvPr/>
        </p:nvSpPr>
        <p:spPr>
          <a:xfrm>
            <a:off x="731520" y="44348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PLACE</a:t>
            </a:r>
            <a:endParaRPr lang="en-US" sz="900" dirty="0"/>
          </a:p>
        </p:txBody>
      </p:sp>
      <p:sp>
        <p:nvSpPr>
          <p:cNvPr id="5" name="text-91"/>
          <p:cNvSpPr txBox="1"/>
          <p:nvPr/>
        </p:nvSpPr>
        <p:spPr>
          <a:xfrm>
            <a:off x="548640" y="4663440"/>
            <a:ext cx="6464808" cy="68580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The Polar Challenge</a:t>
            </a:r>
            <a:endParaRPr lang="en-US" sz="3800" dirty="0"/>
          </a:p>
        </p:txBody>
      </p:sp>
      <p:sp>
        <p:nvSpPr>
          <p:cNvPr id="6" name="text-92"/>
          <p:cNvSpPr txBox="1"/>
          <p:nvPr/>
        </p:nvSpPr>
        <p:spPr>
          <a:xfrm>
            <a:off x="548640" y="539496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400" dirty="0"/>
          </a:p>
        </p:txBody>
      </p:sp>
      <p:sp>
        <p:nvSpPr>
          <p:cNvPr id="7" name="text-93"/>
          <p:cNvSpPr txBox="1"/>
          <p:nvPr/>
        </p:nvSpPr>
        <p:spPr>
          <a:xfrm>
            <a:off x="548640" y="6172200"/>
            <a:ext cx="3566160" cy="23774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bg2"/>
                </a:solidFill>
              </a:rPr>
              <a:t>Aurora Haven sits in one of the hardest environments on Earth. In winter the temperature falls to minus 45 degrees. For about two months the sun never rises, and for two months in summer it never sets. Blizzards can reach 120 kilometres per hour.</a:t>
            </a:r>
            <a:endParaRPr lang="en-US" sz="1050" dirty="0"/>
          </a:p>
          <a:p>
            <a:pPr indent="0" marL="0">
              <a:lnSpc>
                <a:spcPct val="112000"/>
              </a:lnSpc>
              <a:spcAft>
                <a:spcPts val="700"/>
              </a:spcAft>
              <a:buNone/>
            </a:pPr>
            <a:r>
              <a:rPr lang="en-US" sz="1050" dirty="0">
                <a:solidFill>
                  <a:schemeClr val="bg2"/>
                </a:solidFill>
              </a:rPr>
              <a:t>The ground is permafrost, so a warm building can thaw it and crack its own foundations. There is almost no farmland, and in deep winter supplies can only arrive by air.</a:t>
            </a:r>
            <a:endParaRPr lang="en-US" sz="1050" dirty="0"/>
          </a:p>
          <a:p>
            <a:pPr indent="0" marL="0">
              <a:lnSpc>
                <a:spcPct val="112000"/>
              </a:lnSpc>
              <a:spcAft>
                <a:spcPts val="700"/>
              </a:spcAft>
              <a:buNone/>
            </a:pPr>
            <a:r>
              <a:rPr lang="en-US" sz="1050" dirty="0">
                <a:solidFill>
                  <a:schemeClr val="bg2"/>
                </a:solidFill>
              </a:rPr>
              <a:t>So the designers asked one question about every building in the city:</a:t>
            </a:r>
            <a:endParaRPr lang="en-US" sz="1050" dirty="0"/>
          </a:p>
        </p:txBody>
      </p:sp>
      <p:sp>
        <p:nvSpPr>
          <p:cNvPr id="8" name="text-94"/>
          <p:cNvSpPr txBox="1"/>
          <p:nvPr/>
        </p:nvSpPr>
        <p:spPr>
          <a:xfrm>
            <a:off x="548640" y="8458200"/>
            <a:ext cx="3566160" cy="914400"/>
          </a:xfrm>
          <a:prstGeom prst="rect">
            <a:avLst/>
          </a:prstGeom>
          <a:noFill/>
          <a:ln/>
        </p:spPr>
        <p:txBody>
          <a:bodyPr wrap="square" lIns="0" tIns="0" rIns="0" bIns="0" rtlCol="0" anchor="t"/>
          <a:lstStyle/>
          <a:p>
            <a:pPr indent="0" marL="0">
              <a:lnSpc>
                <a:spcPct val="105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9" name="text-95"/>
          <p:cNvSpPr txBox="1"/>
          <p:nvPr/>
        </p:nvSpPr>
        <p:spPr>
          <a:xfrm>
            <a:off x="4572000" y="60807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−45 °C</a:t>
            </a:r>
            <a:endParaRPr lang="en-US" sz="2600" dirty="0"/>
          </a:p>
        </p:txBody>
      </p:sp>
      <p:sp>
        <p:nvSpPr>
          <p:cNvPr id="10" name="text-96"/>
          <p:cNvSpPr txBox="1"/>
          <p:nvPr/>
        </p:nvSpPr>
        <p:spPr>
          <a:xfrm>
            <a:off x="4572000" y="65115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1" name="text-97"/>
          <p:cNvSpPr txBox="1"/>
          <p:nvPr/>
        </p:nvSpPr>
        <p:spPr>
          <a:xfrm>
            <a:off x="4572000" y="69951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2 months</a:t>
            </a:r>
            <a:endParaRPr lang="en-US" sz="2600" dirty="0"/>
          </a:p>
        </p:txBody>
      </p:sp>
      <p:sp>
        <p:nvSpPr>
          <p:cNvPr id="12" name="text-98"/>
          <p:cNvSpPr txBox="1"/>
          <p:nvPr/>
        </p:nvSpPr>
        <p:spPr>
          <a:xfrm>
            <a:off x="4572000" y="74259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3" name="text-99"/>
          <p:cNvSpPr txBox="1"/>
          <p:nvPr/>
        </p:nvSpPr>
        <p:spPr>
          <a:xfrm>
            <a:off x="4572000" y="79095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120 km/h</a:t>
            </a:r>
            <a:endParaRPr lang="en-US" sz="2600" dirty="0"/>
          </a:p>
        </p:txBody>
      </p:sp>
      <p:sp>
        <p:nvSpPr>
          <p:cNvPr id="14" name="text-100"/>
          <p:cNvSpPr txBox="1"/>
          <p:nvPr/>
        </p:nvSpPr>
        <p:spPr>
          <a:xfrm>
            <a:off x="4572000" y="83403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5" name="text-101"/>
          <p:cNvSpPr txBox="1"/>
          <p:nvPr/>
        </p:nvSpPr>
        <p:spPr>
          <a:xfrm>
            <a:off x="4572000" y="88239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Permafrost</a:t>
            </a:r>
            <a:endParaRPr lang="en-US" sz="2600" dirty="0"/>
          </a:p>
        </p:txBody>
      </p:sp>
      <p:sp>
        <p:nvSpPr>
          <p:cNvPr id="16" name="text-102"/>
          <p:cNvSpPr txBox="1"/>
          <p:nvPr/>
        </p:nvSpPr>
        <p:spPr>
          <a:xfrm>
            <a:off x="4572000" y="92547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frozen ground that heaves under heat</a:t>
            </a:r>
            <a:endParaRPr lang="en-US" sz="900" dirty="0"/>
          </a:p>
        </p:txBody>
      </p:sp>
      <p:sp>
        <p:nvSpPr>
          <p:cNvPr id="17" name="text-103"/>
          <p:cNvSpPr txBox="1"/>
          <p:nvPr/>
        </p:nvSpPr>
        <p:spPr>
          <a:xfrm>
            <a:off x="548640" y="4206240"/>
            <a:ext cx="6464808" cy="201168"/>
          </a:xfrm>
          <a:prstGeom prst="rect">
            <a:avLst/>
          </a:prstGeom>
          <a:noFill/>
          <a:ln/>
        </p:spPr>
        <p:txBody>
          <a:bodyPr wrap="square" lIns="0" tIns="0" rIns="0" bIns="0" rtlCol="0" anchor="t"/>
          <a:lstStyle/>
          <a:p>
            <a:pPr indent="0" marL="0">
              <a:buNone/>
            </a:pPr>
            <a:r>
              <a:rPr lang="en-US" sz="850" i="1" dirty="0">
                <a:solidFill>
                  <a:schemeClr val="bg2"/>
                </a:solidFill>
              </a:rPr>
              <a:t>The windy northern edge, with the Ice-Proof Wind Farm on the horizon.</a:t>
            </a:r>
            <a:endParaRPr lang="en-US" sz="850" dirty="0"/>
          </a:p>
        </p:txBody>
      </p:sp>
      <p:sp>
        <p:nvSpPr>
          <p:cNvPr id="18"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0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IDEAS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Design Principles</a:t>
            </a:r>
            <a:endParaRPr lang="en-US" sz="3400" dirty="0"/>
          </a:p>
        </p:txBody>
      </p:sp>
      <p:sp>
        <p:nvSpPr>
          <p:cNvPr id="5" name="text-106"/>
          <p:cNvSpPr txBox="1"/>
          <p:nvPr/>
        </p:nvSpPr>
        <p:spPr>
          <a:xfrm>
            <a:off x="548640" y="146304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Heat, energy, water and food should never be wasted.</a:t>
            </a:r>
            <a:endParaRPr lang="en-US" sz="1350" dirty="0"/>
          </a:p>
        </p:txBody>
      </p:sp>
      <p:pic>
        <p:nvPicPr>
          <p:cNvPr id="6" name="picture-107" descr="/home/user/chatbox-bi-n-o/magazine/assets/renders/downtown.jpg">    </p:cNvPr>
          <p:cNvPicPr>
            <a:picLocks noChangeAspect="1"/>
          </p:cNvPicPr>
          <p:nvPr/>
        </p:nvPicPr>
        <p:blipFill>
          <a:blip r:embed="rId1"/>
          <a:srcRect l="0" r="0" t="0" b="0"/>
          <a:stretch/>
        </p:blipFill>
        <p:spPr>
          <a:xfrm>
            <a:off x="548640" y="2011680"/>
            <a:ext cx="6464808" cy="3017520"/>
          </a:xfrm>
          <a:prstGeom prst="rect">
            <a:avLst/>
          </a:prstGeom>
        </p:spPr>
      </p:pic>
      <p:sp>
        <p:nvSpPr>
          <p:cNvPr id="7" name="text-108"/>
          <p:cNvSpPr txBox="1"/>
          <p:nvPr/>
        </p:nvSpPr>
        <p:spPr>
          <a:xfrm>
            <a:off x="548640" y="5102352"/>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around the Aurora Roundabout, with the Snow-to-Food plant and Mount Aurora behind.</a:t>
            </a:r>
            <a:endParaRPr lang="en-US" sz="850" dirty="0"/>
          </a:p>
        </p:txBody>
      </p:sp>
      <p:sp>
        <p:nvSpPr>
          <p:cNvPr id="8" name="marker-109"/>
          <p:cNvSpPr/>
          <p:nvPr/>
        </p:nvSpPr>
        <p:spPr>
          <a:xfrm>
            <a:off x="548640" y="5577840"/>
            <a:ext cx="438912" cy="438912"/>
          </a:xfrm>
          <a:prstGeom prst="ellipse">
            <a:avLst/>
          </a:prstGeom>
          <a:solidFill>
            <a:schemeClr val="accent6"/>
          </a:solidFill>
          <a:ln w="12700">
            <a:solidFill>
              <a:schemeClr val="accent6"/>
            </a:solidFill>
            <a:prstDash val="solid"/>
          </a:ln>
        </p:spPr>
      </p:sp>
      <p:sp>
        <p:nvSpPr>
          <p:cNvPr id="9" name="text-110"/>
          <p:cNvSpPr txBox="1"/>
          <p:nvPr/>
        </p:nvSpPr>
        <p:spPr>
          <a:xfrm>
            <a:off x="548640" y="557784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0" name="text-111"/>
          <p:cNvSpPr txBox="1"/>
          <p:nvPr/>
        </p:nvSpPr>
        <p:spPr>
          <a:xfrm>
            <a:off x="1188720" y="555955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Heat is life</a:t>
            </a:r>
            <a:endParaRPr lang="en-US" sz="1400" dirty="0"/>
          </a:p>
        </p:txBody>
      </p:sp>
      <p:sp>
        <p:nvSpPr>
          <p:cNvPr id="11" name="text-112"/>
          <p:cNvSpPr txBox="1"/>
          <p:nvPr/>
        </p:nvSpPr>
        <p:spPr>
          <a:xfrm>
            <a:off x="1188720" y="583387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One district-heating loop, fed by the fusion station and the geothermal plant, warms every building. Triple-glazed buildings on insulated piles do not thaw the permafrost.</a:t>
            </a:r>
            <a:endParaRPr lang="en-US" sz="1050" dirty="0"/>
          </a:p>
        </p:txBody>
      </p:sp>
      <p:sp>
        <p:nvSpPr>
          <p:cNvPr id="12" name="marker-113"/>
          <p:cNvSpPr/>
          <p:nvPr/>
        </p:nvSpPr>
        <p:spPr>
          <a:xfrm>
            <a:off x="548640" y="6446520"/>
            <a:ext cx="438912" cy="438912"/>
          </a:xfrm>
          <a:prstGeom prst="ellipse">
            <a:avLst/>
          </a:prstGeom>
          <a:solidFill>
            <a:schemeClr val="accent6"/>
          </a:solidFill>
          <a:ln w="12700">
            <a:solidFill>
              <a:schemeClr val="accent6"/>
            </a:solidFill>
            <a:prstDash val="solid"/>
          </a:ln>
        </p:spPr>
      </p:sp>
      <p:sp>
        <p:nvSpPr>
          <p:cNvPr id="13" name="text-114"/>
          <p:cNvSpPr txBox="1"/>
          <p:nvPr/>
        </p:nvSpPr>
        <p:spPr>
          <a:xfrm>
            <a:off x="548640" y="6446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4" name="text-115"/>
          <p:cNvSpPr txBox="1"/>
          <p:nvPr/>
        </p:nvSpPr>
        <p:spPr>
          <a:xfrm>
            <a:off x="1188720" y="642823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Zero carbon</a:t>
            </a:r>
            <a:endParaRPr lang="en-US" sz="1400" dirty="0"/>
          </a:p>
        </p:txBody>
      </p:sp>
      <p:sp>
        <p:nvSpPr>
          <p:cNvPr id="15" name="text-116"/>
          <p:cNvSpPr txBox="1"/>
          <p:nvPr/>
        </p:nvSpPr>
        <p:spPr>
          <a:xfrm>
            <a:off x="1188720" y="670255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No fossil fuel burns anywhere in the city. Power comes from fusion, wind, sun and geothermal heat.</a:t>
            </a:r>
            <a:endParaRPr lang="en-US" sz="1050" dirty="0"/>
          </a:p>
        </p:txBody>
      </p:sp>
      <p:sp>
        <p:nvSpPr>
          <p:cNvPr id="16" name="marker-117"/>
          <p:cNvSpPr/>
          <p:nvPr/>
        </p:nvSpPr>
        <p:spPr>
          <a:xfrm>
            <a:off x="548640" y="7315200"/>
            <a:ext cx="438912" cy="438912"/>
          </a:xfrm>
          <a:prstGeom prst="ellipse">
            <a:avLst/>
          </a:prstGeom>
          <a:solidFill>
            <a:schemeClr val="accent6"/>
          </a:solidFill>
          <a:ln w="12700">
            <a:solidFill>
              <a:schemeClr val="accent6"/>
            </a:solidFill>
            <a:prstDash val="solid"/>
          </a:ln>
        </p:spPr>
      </p:sp>
      <p:sp>
        <p:nvSpPr>
          <p:cNvPr id="17" name="text-118"/>
          <p:cNvSpPr txBox="1"/>
          <p:nvPr/>
        </p:nvSpPr>
        <p:spPr>
          <a:xfrm>
            <a:off x="548640" y="7315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text-119"/>
          <p:cNvSpPr txBox="1"/>
          <p:nvPr/>
        </p:nvSpPr>
        <p:spPr>
          <a:xfrm>
            <a:off x="1188720" y="729691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Closed loops</a:t>
            </a:r>
            <a:endParaRPr lang="en-US" sz="1400" dirty="0"/>
          </a:p>
        </p:txBody>
      </p:sp>
      <p:sp>
        <p:nvSpPr>
          <p:cNvPr id="19" name="text-120"/>
          <p:cNvSpPr txBox="1"/>
          <p:nvPr/>
        </p:nvSpPr>
        <p:spPr>
          <a:xfrm>
            <a:off x="1188720" y="757123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About 95% of water is recycled and rubbish is reused, so water, food and waste go round instead of being thrown away.</a:t>
            </a:r>
            <a:endParaRPr lang="en-US" sz="1050" dirty="0"/>
          </a:p>
        </p:txBody>
      </p:sp>
      <p:sp>
        <p:nvSpPr>
          <p:cNvPr id="20" name="marker-121"/>
          <p:cNvSpPr/>
          <p:nvPr/>
        </p:nvSpPr>
        <p:spPr>
          <a:xfrm>
            <a:off x="548640" y="8183880"/>
            <a:ext cx="438912" cy="438912"/>
          </a:xfrm>
          <a:prstGeom prst="ellipse">
            <a:avLst/>
          </a:prstGeom>
          <a:solidFill>
            <a:schemeClr val="accent6"/>
          </a:solidFill>
          <a:ln w="12700">
            <a:solidFill>
              <a:schemeClr val="accent6"/>
            </a:solidFill>
            <a:prstDash val="solid"/>
          </a:ln>
        </p:spPr>
      </p:sp>
      <p:sp>
        <p:nvSpPr>
          <p:cNvPr id="21" name="text-122"/>
          <p:cNvSpPr txBox="1"/>
          <p:nvPr/>
        </p:nvSpPr>
        <p:spPr>
          <a:xfrm>
            <a:off x="548640" y="81838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2" name="text-123"/>
          <p:cNvSpPr txBox="1"/>
          <p:nvPr/>
        </p:nvSpPr>
        <p:spPr>
          <a:xfrm>
            <a:off x="1188720" y="816559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Compact and car-light</a:t>
            </a:r>
            <a:endParaRPr lang="en-US" sz="1400" dirty="0"/>
          </a:p>
        </p:txBody>
      </p:sp>
      <p:sp>
        <p:nvSpPr>
          <p:cNvPr id="23" name="text-124"/>
          <p:cNvSpPr txBox="1"/>
          <p:nvPr/>
        </p:nvSpPr>
        <p:spPr>
          <a:xfrm>
            <a:off x="1188720" y="843991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Daily needs are within a 10-minute walk, and the few cars are electric.</a:t>
            </a:r>
            <a:endParaRPr lang="en-US" sz="1050" dirty="0"/>
          </a:p>
        </p:txBody>
      </p:sp>
      <p:sp>
        <p:nvSpPr>
          <p:cNvPr id="24" name="marker-125"/>
          <p:cNvSpPr/>
          <p:nvPr/>
        </p:nvSpPr>
        <p:spPr>
          <a:xfrm>
            <a:off x="548640" y="9052560"/>
            <a:ext cx="438912" cy="438912"/>
          </a:xfrm>
          <a:prstGeom prst="ellipse">
            <a:avLst/>
          </a:prstGeom>
          <a:solidFill>
            <a:schemeClr val="accent6"/>
          </a:solidFill>
          <a:ln w="12700">
            <a:solidFill>
              <a:schemeClr val="accent6"/>
            </a:solidFill>
            <a:prstDash val="solid"/>
          </a:ln>
        </p:spPr>
      </p:sp>
      <p:sp>
        <p:nvSpPr>
          <p:cNvPr id="25" name="text-126"/>
          <p:cNvSpPr txBox="1"/>
          <p:nvPr/>
        </p:nvSpPr>
        <p:spPr>
          <a:xfrm>
            <a:off x="548640" y="90525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6" name="text-127"/>
          <p:cNvSpPr txBox="1"/>
          <p:nvPr/>
        </p:nvSpPr>
        <p:spPr>
          <a:xfrm>
            <a:off x="1188720" y="903427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Resilient and healthy</a:t>
            </a:r>
            <a:endParaRPr lang="en-US" sz="1400" dirty="0"/>
          </a:p>
        </p:txBody>
      </p:sp>
      <p:sp>
        <p:nvSpPr>
          <p:cNvPr id="27" name="text-128"/>
          <p:cNvSpPr txBox="1"/>
          <p:nvPr/>
        </p:nvSpPr>
        <p:spPr>
          <a:xfrm>
            <a:off x="1188720" y="930859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Shelters keep every resident safe for 30 days, while light, parks, culture and a spa carry people through the polar night.</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12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3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The Whole City Plan</a:t>
            </a:r>
            <a:endParaRPr lang="en-US" sz="34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548640" y="1554480"/>
            <a:ext cx="6464808" cy="4670824"/>
          </a:xfrm>
          <a:prstGeom prst="rect">
            <a:avLst/>
          </a:prstGeom>
        </p:spPr>
      </p:pic>
      <p:sp>
        <p:nvSpPr>
          <p:cNvPr id="6" name="text-131"/>
          <p:cNvSpPr txBox="1"/>
          <p:nvPr/>
        </p:nvSpPr>
        <p:spPr>
          <a:xfrm>
            <a:off x="548640" y="6280168"/>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grid unit is one metre. Drawn from the 3D map.</a:t>
            </a:r>
            <a:endParaRPr lang="en-US" sz="850" dirty="0"/>
          </a:p>
        </p:txBody>
      </p:sp>
      <p:sp>
        <p:nvSpPr>
          <p:cNvPr id="7" name="card-132"/>
          <p:cNvSpPr/>
          <p:nvPr/>
        </p:nvSpPr>
        <p:spPr>
          <a:xfrm>
            <a:off x="548640" y="6537960"/>
            <a:ext cx="2033016" cy="1554480"/>
          </a:xfrm>
          <a:prstGeom prst="roundRect">
            <a:avLst>
              <a:gd name="adj" fmla="val 4706"/>
            </a:avLst>
          </a:prstGeom>
          <a:solidFill>
            <a:schemeClr val="bg2"/>
          </a:solidFill>
          <a:ln w="12700">
            <a:solidFill>
              <a:schemeClr val="bg2"/>
            </a:solidFill>
            <a:prstDash val="solid"/>
          </a:ln>
        </p:spPr>
      </p:sp>
      <p:sp>
        <p:nvSpPr>
          <p:cNvPr id="8" name="kicker-dot-133"/>
          <p:cNvSpPr/>
          <p:nvPr/>
        </p:nvSpPr>
        <p:spPr>
          <a:xfrm>
            <a:off x="685800" y="6716268"/>
            <a:ext cx="100584" cy="100584"/>
          </a:xfrm>
          <a:prstGeom prst="ellipse">
            <a:avLst/>
          </a:prstGeom>
          <a:solidFill>
            <a:schemeClr val="tx1"/>
          </a:solidFill>
          <a:ln w="12700">
            <a:solidFill>
              <a:schemeClr val="tx1"/>
            </a:solidFill>
            <a:prstDash val="solid"/>
          </a:ln>
        </p:spPr>
      </p:sp>
      <p:sp>
        <p:nvSpPr>
          <p:cNvPr id="9" name="text-134"/>
          <p:cNvSpPr txBox="1"/>
          <p:nvPr/>
        </p:nvSpPr>
        <p:spPr>
          <a:xfrm>
            <a:off x="868680" y="6675120"/>
            <a:ext cx="1667256"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10" name="text-135"/>
          <p:cNvSpPr txBox="1"/>
          <p:nvPr/>
        </p:nvSpPr>
        <p:spPr>
          <a:xfrm>
            <a:off x="685800"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Nine blocks around the Aurora Roundabout and the President Ho Chi Minh Monument, with the hospital, schools, shops and the metro interchange.</a:t>
            </a:r>
            <a:endParaRPr lang="en-US" sz="950" dirty="0"/>
          </a:p>
        </p:txBody>
      </p:sp>
      <p:sp>
        <p:nvSpPr>
          <p:cNvPr id="11" name="card-136"/>
          <p:cNvSpPr/>
          <p:nvPr/>
        </p:nvSpPr>
        <p:spPr>
          <a:xfrm>
            <a:off x="2764536" y="6537960"/>
            <a:ext cx="2033016" cy="1554480"/>
          </a:xfrm>
          <a:prstGeom prst="roundRect">
            <a:avLst>
              <a:gd name="adj" fmla="val 4706"/>
            </a:avLst>
          </a:prstGeom>
          <a:solidFill>
            <a:schemeClr val="bg2"/>
          </a:solidFill>
          <a:ln w="12700">
            <a:solidFill>
              <a:schemeClr val="bg2"/>
            </a:solidFill>
            <a:prstDash val="solid"/>
          </a:ln>
        </p:spPr>
      </p:sp>
      <p:sp>
        <p:nvSpPr>
          <p:cNvPr id="12" name="kicker-dot-137"/>
          <p:cNvSpPr/>
          <p:nvPr/>
        </p:nvSpPr>
        <p:spPr>
          <a:xfrm>
            <a:off x="2901696" y="6716268"/>
            <a:ext cx="100584" cy="100584"/>
          </a:xfrm>
          <a:prstGeom prst="ellipse">
            <a:avLst/>
          </a:prstGeom>
          <a:solidFill>
            <a:schemeClr val="accent6"/>
          </a:solidFill>
          <a:ln w="12700">
            <a:solidFill>
              <a:schemeClr val="accent6"/>
            </a:solidFill>
            <a:prstDash val="solid"/>
          </a:ln>
        </p:spPr>
      </p:sp>
      <p:sp>
        <p:nvSpPr>
          <p:cNvPr id="13" name="text-138"/>
          <p:cNvSpPr txBox="1"/>
          <p:nvPr/>
        </p:nvSpPr>
        <p:spPr>
          <a:xfrm>
            <a:off x="3084576" y="6675120"/>
            <a:ext cx="1667256"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4" name="text-139"/>
          <p:cNvSpPr txBox="1"/>
          <p:nvPr/>
        </p:nvSpPr>
        <p:spPr>
          <a:xfrm>
            <a:off x="2901696"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5" name="card-140"/>
          <p:cNvSpPr/>
          <p:nvPr/>
        </p:nvSpPr>
        <p:spPr>
          <a:xfrm>
            <a:off x="4980432" y="6537960"/>
            <a:ext cx="2033016" cy="1554480"/>
          </a:xfrm>
          <a:prstGeom prst="roundRect">
            <a:avLst>
              <a:gd name="adj" fmla="val 4706"/>
            </a:avLst>
          </a:prstGeom>
          <a:solidFill>
            <a:schemeClr val="bg2"/>
          </a:solidFill>
          <a:ln w="12700">
            <a:solidFill>
              <a:schemeClr val="bg2"/>
            </a:solidFill>
            <a:prstDash val="solid"/>
          </a:ln>
        </p:spPr>
      </p:sp>
      <p:sp>
        <p:nvSpPr>
          <p:cNvPr id="16" name="kicker-dot-141"/>
          <p:cNvSpPr/>
          <p:nvPr/>
        </p:nvSpPr>
        <p:spPr>
          <a:xfrm>
            <a:off x="5117592" y="6716268"/>
            <a:ext cx="100584" cy="100584"/>
          </a:xfrm>
          <a:prstGeom prst="ellipse">
            <a:avLst/>
          </a:prstGeom>
          <a:solidFill>
            <a:schemeClr val="tx2"/>
          </a:solidFill>
          <a:ln w="12700">
            <a:solidFill>
              <a:schemeClr val="tx2"/>
            </a:solidFill>
            <a:prstDash val="solid"/>
          </a:ln>
        </p:spPr>
      </p:sp>
      <p:sp>
        <p:nvSpPr>
          <p:cNvPr id="17" name="text-142"/>
          <p:cNvSpPr txBox="1"/>
          <p:nvPr/>
        </p:nvSpPr>
        <p:spPr>
          <a:xfrm>
            <a:off x="5300472" y="6675120"/>
            <a:ext cx="166725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8" name="text-143"/>
          <p:cNvSpPr txBox="1"/>
          <p:nvPr/>
        </p:nvSpPr>
        <p:spPr>
          <a:xfrm>
            <a:off x="5117592"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air base and garrison, behind a belt of trees that screens the eco-homes.</a:t>
            </a:r>
            <a:endParaRPr lang="en-US" sz="950" dirty="0"/>
          </a:p>
        </p:txBody>
      </p:sp>
      <p:sp>
        <p:nvSpPr>
          <p:cNvPr id="19" name="card-144"/>
          <p:cNvSpPr/>
          <p:nvPr/>
        </p:nvSpPr>
        <p:spPr>
          <a:xfrm>
            <a:off x="548640" y="8229600"/>
            <a:ext cx="2033016" cy="1554480"/>
          </a:xfrm>
          <a:prstGeom prst="roundRect">
            <a:avLst>
              <a:gd name="adj" fmla="val 4706"/>
            </a:avLst>
          </a:prstGeom>
          <a:solidFill>
            <a:schemeClr val="bg2"/>
          </a:solidFill>
          <a:ln w="12700">
            <a:solidFill>
              <a:schemeClr val="bg2"/>
            </a:solidFill>
            <a:prstDash val="solid"/>
          </a:ln>
        </p:spPr>
      </p:sp>
      <p:sp>
        <p:nvSpPr>
          <p:cNvPr id="20" name="kicker-dot-145"/>
          <p:cNvSpPr/>
          <p:nvPr/>
        </p:nvSpPr>
        <p:spPr>
          <a:xfrm>
            <a:off x="685800" y="8407908"/>
            <a:ext cx="100584" cy="100584"/>
          </a:xfrm>
          <a:prstGeom prst="ellipse">
            <a:avLst/>
          </a:prstGeom>
          <a:solidFill>
            <a:schemeClr val="accent4"/>
          </a:solidFill>
          <a:ln w="12700">
            <a:solidFill>
              <a:schemeClr val="accent4"/>
            </a:solidFill>
            <a:prstDash val="solid"/>
          </a:ln>
        </p:spPr>
      </p:sp>
      <p:sp>
        <p:nvSpPr>
          <p:cNvPr id="21" name="text-146"/>
          <p:cNvSpPr txBox="1"/>
          <p:nvPr/>
        </p:nvSpPr>
        <p:spPr>
          <a:xfrm>
            <a:off x="868680"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22" name="text-147"/>
          <p:cNvSpPr txBox="1"/>
          <p:nvPr/>
        </p:nvSpPr>
        <p:spPr>
          <a:xfrm>
            <a:off x="685800"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Greenhouses, the snow stadium, the fusion station and the Snow-to-Food plant, away from homes but linked by pipe bridges and heat mains.</a:t>
            </a:r>
            <a:endParaRPr lang="en-US" sz="950" dirty="0"/>
          </a:p>
        </p:txBody>
      </p:sp>
      <p:sp>
        <p:nvSpPr>
          <p:cNvPr id="23" name="card-148"/>
          <p:cNvSpPr/>
          <p:nvPr/>
        </p:nvSpPr>
        <p:spPr>
          <a:xfrm>
            <a:off x="2764536" y="8229600"/>
            <a:ext cx="2033016" cy="1554480"/>
          </a:xfrm>
          <a:prstGeom prst="roundRect">
            <a:avLst>
              <a:gd name="adj" fmla="val 4706"/>
            </a:avLst>
          </a:prstGeom>
          <a:solidFill>
            <a:schemeClr val="bg2"/>
          </a:solidFill>
          <a:ln w="12700">
            <a:solidFill>
              <a:schemeClr val="bg2"/>
            </a:solidFill>
            <a:prstDash val="solid"/>
          </a:ln>
        </p:spPr>
      </p:sp>
      <p:sp>
        <p:nvSpPr>
          <p:cNvPr id="24" name="kicker-dot-149"/>
          <p:cNvSpPr/>
          <p:nvPr/>
        </p:nvSpPr>
        <p:spPr>
          <a:xfrm>
            <a:off x="2901696" y="8407908"/>
            <a:ext cx="100584" cy="100584"/>
          </a:xfrm>
          <a:prstGeom prst="ellipse">
            <a:avLst/>
          </a:prstGeom>
          <a:solidFill>
            <a:schemeClr val="accent5"/>
          </a:solidFill>
          <a:ln w="12700">
            <a:solidFill>
              <a:schemeClr val="accent5"/>
            </a:solidFill>
            <a:prstDash val="solid"/>
          </a:ln>
        </p:spPr>
      </p:sp>
      <p:sp>
        <p:nvSpPr>
          <p:cNvPr id="25" name="text-150"/>
          <p:cNvSpPr txBox="1"/>
          <p:nvPr/>
        </p:nvSpPr>
        <p:spPr>
          <a:xfrm>
            <a:off x="3084576"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6" name="text-151"/>
          <p:cNvSpPr txBox="1"/>
          <p:nvPr/>
        </p:nvSpPr>
        <p:spPr>
          <a:xfrm>
            <a:off x="2901696"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Framed by Liberty Mall, Mount Aurora rises with its geothermal spa resort inside.</a:t>
            </a:r>
            <a:endParaRPr lang="en-US" sz="950" dirty="0"/>
          </a:p>
        </p:txBody>
      </p:sp>
      <p:sp>
        <p:nvSpPr>
          <p:cNvPr id="27" name="text-152"/>
          <p:cNvSpPr txBox="1"/>
          <p:nvPr/>
        </p:nvSpPr>
        <p:spPr>
          <a:xfrm>
            <a:off x="4980432" y="8339328"/>
            <a:ext cx="2033016" cy="201168"/>
          </a:xfrm>
          <a:prstGeom prst="rect">
            <a:avLst/>
          </a:prstGeom>
          <a:noFill/>
          <a:ln/>
        </p:spPr>
        <p:txBody>
          <a:bodyPr wrap="square" lIns="0" tIns="0" rIns="0" bIns="0" rtlCol="0" anchor="t"/>
          <a:lstStyle/>
          <a:p>
            <a:pPr indent="0" marL="0">
              <a:buNone/>
            </a:pPr>
            <a:r>
              <a:rPr lang="en-US" sz="850" b="1" spc="200" kern="0" dirty="0">
                <a:solidFill>
                  <a:schemeClr val="tx2"/>
                </a:solidFill>
              </a:rPr>
              <a:t>SIGNATURE DISTRICTS</a:t>
            </a:r>
            <a:endParaRPr lang="en-US" sz="850" dirty="0"/>
          </a:p>
        </p:txBody>
      </p:sp>
      <p:sp>
        <p:nvSpPr>
          <p:cNvPr id="28" name="key-chip-153"/>
          <p:cNvSpPr/>
          <p:nvPr/>
        </p:nvSpPr>
        <p:spPr>
          <a:xfrm>
            <a:off x="4980432" y="8659368"/>
            <a:ext cx="237744" cy="182880"/>
          </a:xfrm>
          <a:prstGeom prst="roundRect">
            <a:avLst>
              <a:gd name="adj" fmla="val 20000"/>
            </a:avLst>
          </a:prstGeom>
          <a:solidFill>
            <a:schemeClr val="accent3"/>
          </a:solidFill>
          <a:ln w="12700">
            <a:solidFill>
              <a:schemeClr val="accent3"/>
            </a:solidFill>
            <a:prstDash val="solid"/>
          </a:ln>
        </p:spPr>
      </p:sp>
      <p:sp>
        <p:nvSpPr>
          <p:cNvPr id="29" name="text-154"/>
          <p:cNvSpPr txBox="1"/>
          <p:nvPr/>
        </p:nvSpPr>
        <p:spPr>
          <a:xfrm>
            <a:off x="5309616" y="8641080"/>
            <a:ext cx="1703832" cy="329184"/>
          </a:xfrm>
          <a:prstGeom prst="rect">
            <a:avLst/>
          </a:prstGeom>
          <a:noFill/>
          <a:ln/>
        </p:spPr>
        <p:txBody>
          <a:bodyPr wrap="square" lIns="0" tIns="0" rIns="0" bIns="0" rtlCol="0" anchor="t"/>
          <a:lstStyle/>
          <a:p>
            <a:pPr indent="0" marL="0">
              <a:buNone/>
            </a:pPr>
            <a:r>
              <a:rPr lang="en-US" sz="900" b="1" dirty="0">
                <a:solidFill>
                  <a:schemeClr val="tx1"/>
                </a:solidFill>
              </a:rPr>
              <a:t>Fusion Power Station</a:t>
            </a:r>
            <a:endParaRPr lang="en-US" sz="900" dirty="0"/>
          </a:p>
        </p:txBody>
      </p:sp>
      <p:sp>
        <p:nvSpPr>
          <p:cNvPr id="30" name="key-chip-155"/>
          <p:cNvSpPr/>
          <p:nvPr/>
        </p:nvSpPr>
        <p:spPr>
          <a:xfrm>
            <a:off x="4980432" y="9025128"/>
            <a:ext cx="237744" cy="182880"/>
          </a:xfrm>
          <a:prstGeom prst="roundRect">
            <a:avLst>
              <a:gd name="adj" fmla="val 20000"/>
            </a:avLst>
          </a:prstGeom>
          <a:solidFill>
            <a:schemeClr val="accent4"/>
          </a:solidFill>
          <a:ln w="12700">
            <a:solidFill>
              <a:schemeClr val="accent4"/>
            </a:solidFill>
            <a:prstDash val="solid"/>
          </a:ln>
        </p:spPr>
      </p:sp>
      <p:sp>
        <p:nvSpPr>
          <p:cNvPr id="31" name="text-156"/>
          <p:cNvSpPr txBox="1"/>
          <p:nvPr/>
        </p:nvSpPr>
        <p:spPr>
          <a:xfrm>
            <a:off x="5309616" y="9006840"/>
            <a:ext cx="1703832" cy="329184"/>
          </a:xfrm>
          <a:prstGeom prst="rect">
            <a:avLst/>
          </a:prstGeom>
          <a:noFill/>
          <a:ln/>
        </p:spPr>
        <p:txBody>
          <a:bodyPr wrap="square" lIns="0" tIns="0" rIns="0" bIns="0" rtlCol="0" anchor="t"/>
          <a:lstStyle/>
          <a:p>
            <a:pPr indent="0" marL="0">
              <a:buNone/>
            </a:pPr>
            <a:r>
              <a:rPr lang="en-US" sz="900" b="1" dirty="0">
                <a:solidFill>
                  <a:schemeClr val="tx1"/>
                </a:solidFill>
              </a:rPr>
              <a:t>Snow-to-Food &amp; Water Plant</a:t>
            </a:r>
            <a:endParaRPr lang="en-US" sz="900" dirty="0"/>
          </a:p>
        </p:txBody>
      </p:sp>
      <p:sp>
        <p:nvSpPr>
          <p:cNvPr id="32" name="key-chip-157"/>
          <p:cNvSpPr/>
          <p:nvPr/>
        </p:nvSpPr>
        <p:spPr>
          <a:xfrm>
            <a:off x="4980432" y="9390888"/>
            <a:ext cx="237744" cy="182880"/>
          </a:xfrm>
          <a:prstGeom prst="roundRect">
            <a:avLst>
              <a:gd name="adj" fmla="val 20000"/>
            </a:avLst>
          </a:prstGeom>
          <a:solidFill>
            <a:schemeClr val="accent5"/>
          </a:solidFill>
          <a:ln w="12700">
            <a:solidFill>
              <a:schemeClr val="accent5"/>
            </a:solidFill>
            <a:prstDash val="solid"/>
          </a:ln>
        </p:spPr>
      </p:sp>
      <p:sp>
        <p:nvSpPr>
          <p:cNvPr id="33" name="text-158"/>
          <p:cNvSpPr txBox="1"/>
          <p:nvPr/>
        </p:nvSpPr>
        <p:spPr>
          <a:xfrm>
            <a:off x="5309616" y="9372600"/>
            <a:ext cx="1703832" cy="329184"/>
          </a:xfrm>
          <a:prstGeom prst="rect">
            <a:avLst/>
          </a:prstGeom>
          <a:noFill/>
          <a:ln/>
        </p:spPr>
        <p:txBody>
          <a:bodyPr wrap="square" lIns="0" tIns="0" rIns="0" bIns="0" rtlCol="0" anchor="t"/>
          <a:lstStyle/>
          <a:p>
            <a:pPr indent="0" marL="0">
              <a:buNone/>
            </a:pPr>
            <a:r>
              <a:rPr lang="en-US" sz="900" b="1" dirty="0">
                <a:solidFill>
                  <a:schemeClr val="tx1"/>
                </a:solidFill>
              </a:rPr>
              <a:t>Mount Aurora Geothermal Spa Resort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15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6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Nine Blocks, One Short Walk</a:t>
            </a:r>
            <a:endParaRPr lang="en-US" sz="3400" dirty="0"/>
          </a:p>
        </p:txBody>
      </p:sp>
      <p:pic>
        <p:nvPicPr>
          <p:cNvPr id="5" name="picture-161" descr="/home/user/chatbox-bi-n-o/magazine/assets/renders/liberty.jpg">    </p:cNvPr>
          <p:cNvPicPr>
            <a:picLocks noChangeAspect="1"/>
          </p:cNvPicPr>
          <p:nvPr/>
        </p:nvPicPr>
        <p:blipFill>
          <a:blip r:embed="rId1"/>
          <a:srcRect l="0" r="0" t="0" b="0"/>
          <a:stretch/>
        </p:blipFill>
        <p:spPr>
          <a:xfrm>
            <a:off x="0" y="1508760"/>
            <a:ext cx="7562088" cy="3566160"/>
          </a:xfrm>
          <a:prstGeom prst="rect">
            <a:avLst/>
          </a:prstGeom>
        </p:spPr>
      </p:pic>
      <p:sp>
        <p:nvSpPr>
          <p:cNvPr id="6" name="text-162"/>
          <p:cNvSpPr txBox="1"/>
          <p:nvPr/>
        </p:nvSpPr>
        <p:spPr>
          <a:xfrm>
            <a:off x="548640" y="5138928"/>
            <a:ext cx="6464808" cy="228600"/>
          </a:xfrm>
          <a:prstGeom prst="rect">
            <a:avLst/>
          </a:prstGeom>
          <a:noFill/>
          <a:ln/>
        </p:spPr>
        <p:txBody>
          <a:bodyPr wrap="square" lIns="0" tIns="0" rIns="0" bIns="0" rtlCol="0" anchor="t"/>
          <a:lstStyle/>
          <a:p>
            <a:pPr indent="0" marL="0">
              <a:buNone/>
            </a:pPr>
            <a:r>
              <a:rPr lang="en-US" sz="850" i="1" dirty="0">
                <a:solidFill>
                  <a:schemeClr val="tx2"/>
                </a:solidFill>
              </a:rPr>
              <a:t>Looking south down Liberty Mall from the Aurora Roundabout to Mount Aurora.</a:t>
            </a:r>
            <a:endParaRPr lang="en-US" sz="850" dirty="0"/>
          </a:p>
        </p:txBody>
      </p:sp>
      <p:sp>
        <p:nvSpPr>
          <p:cNvPr id="7" name="text-163"/>
          <p:cNvSpPr txBox="1"/>
          <p:nvPr/>
        </p:nvSpPr>
        <p:spPr>
          <a:xfrm>
            <a:off x="548640" y="5486400"/>
            <a:ext cx="6464808" cy="59436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Downtown is laid out in nine blocks around the Aurora Roundabout. Shops, schools, healthcare and homes are within a short walk of each other, and the metro interchange lies under Liberty Mall. The map below follows the city plan, with north at the top.</a:t>
            </a:r>
            <a:endParaRPr lang="en-US" sz="1050" dirty="0"/>
          </a:p>
        </p:txBody>
      </p:sp>
      <p:sp>
        <p:nvSpPr>
          <p:cNvPr id="8" name="card-164"/>
          <p:cNvSpPr/>
          <p:nvPr/>
        </p:nvSpPr>
        <p:spPr>
          <a:xfrm>
            <a:off x="548640" y="6309360"/>
            <a:ext cx="2093976" cy="1133856"/>
          </a:xfrm>
          <a:prstGeom prst="roundRect">
            <a:avLst>
              <a:gd name="adj" fmla="val 6452"/>
            </a:avLst>
          </a:prstGeom>
          <a:solidFill>
            <a:schemeClr val="bg2"/>
          </a:solidFill>
          <a:ln w="12700">
            <a:solidFill>
              <a:schemeClr val="bg2"/>
            </a:solidFill>
            <a:prstDash val="solid"/>
          </a:ln>
        </p:spPr>
      </p:sp>
      <p:sp>
        <p:nvSpPr>
          <p:cNvPr id="9" name="text-165"/>
          <p:cNvSpPr txBox="1"/>
          <p:nvPr/>
        </p:nvSpPr>
        <p:spPr>
          <a:xfrm>
            <a:off x="667512"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10" name="text-166"/>
          <p:cNvSpPr txBox="1"/>
          <p:nvPr/>
        </p:nvSpPr>
        <p:spPr>
          <a:xfrm>
            <a:off x="667512"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1" name="card-167"/>
          <p:cNvSpPr/>
          <p:nvPr/>
        </p:nvSpPr>
        <p:spPr>
          <a:xfrm>
            <a:off x="2734056" y="6309360"/>
            <a:ext cx="2093976" cy="1133856"/>
          </a:xfrm>
          <a:prstGeom prst="roundRect">
            <a:avLst>
              <a:gd name="adj" fmla="val 6452"/>
            </a:avLst>
          </a:prstGeom>
          <a:solidFill>
            <a:schemeClr val="bg2"/>
          </a:solidFill>
          <a:ln w="12700">
            <a:solidFill>
              <a:schemeClr val="bg2"/>
            </a:solidFill>
            <a:prstDash val="solid"/>
          </a:ln>
        </p:spPr>
      </p:sp>
      <p:sp>
        <p:nvSpPr>
          <p:cNvPr id="12" name="text-168"/>
          <p:cNvSpPr txBox="1"/>
          <p:nvPr/>
        </p:nvSpPr>
        <p:spPr>
          <a:xfrm>
            <a:off x="2852928"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3" name="text-169"/>
          <p:cNvSpPr txBox="1"/>
          <p:nvPr/>
        </p:nvSpPr>
        <p:spPr>
          <a:xfrm>
            <a:off x="2852928"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4" name="card-170"/>
          <p:cNvSpPr/>
          <p:nvPr/>
        </p:nvSpPr>
        <p:spPr>
          <a:xfrm>
            <a:off x="4919472" y="6309360"/>
            <a:ext cx="2093976" cy="1133856"/>
          </a:xfrm>
          <a:prstGeom prst="roundRect">
            <a:avLst>
              <a:gd name="adj" fmla="val 6452"/>
            </a:avLst>
          </a:prstGeom>
          <a:solidFill>
            <a:schemeClr val="bg2"/>
          </a:solidFill>
          <a:ln w="12700">
            <a:solidFill>
              <a:schemeClr val="bg2"/>
            </a:solidFill>
            <a:prstDash val="solid"/>
          </a:ln>
        </p:spPr>
      </p:sp>
      <p:sp>
        <p:nvSpPr>
          <p:cNvPr id="15" name="text-171"/>
          <p:cNvSpPr txBox="1"/>
          <p:nvPr/>
        </p:nvSpPr>
        <p:spPr>
          <a:xfrm>
            <a:off x="5038344"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6" name="text-172"/>
          <p:cNvSpPr txBox="1"/>
          <p:nvPr/>
        </p:nvSpPr>
        <p:spPr>
          <a:xfrm>
            <a:off x="5038344"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7" name="card-173"/>
          <p:cNvSpPr/>
          <p:nvPr/>
        </p:nvSpPr>
        <p:spPr>
          <a:xfrm>
            <a:off x="548640" y="7534656"/>
            <a:ext cx="2093976" cy="1133856"/>
          </a:xfrm>
          <a:prstGeom prst="roundRect">
            <a:avLst>
              <a:gd name="adj" fmla="val 6452"/>
            </a:avLst>
          </a:prstGeom>
          <a:solidFill>
            <a:schemeClr val="bg2"/>
          </a:solidFill>
          <a:ln w="12700">
            <a:solidFill>
              <a:schemeClr val="bg2"/>
            </a:solidFill>
            <a:prstDash val="solid"/>
          </a:ln>
        </p:spPr>
      </p:sp>
      <p:sp>
        <p:nvSpPr>
          <p:cNvPr id="18" name="text-174"/>
          <p:cNvSpPr txBox="1"/>
          <p:nvPr/>
        </p:nvSpPr>
        <p:spPr>
          <a:xfrm>
            <a:off x="667512"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9" name="text-175"/>
          <p:cNvSpPr txBox="1"/>
          <p:nvPr/>
        </p:nvSpPr>
        <p:spPr>
          <a:xfrm>
            <a:off x="667512"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20" name="card-176"/>
          <p:cNvSpPr/>
          <p:nvPr/>
        </p:nvSpPr>
        <p:spPr>
          <a:xfrm>
            <a:off x="2734056" y="7534656"/>
            <a:ext cx="2093976" cy="1133856"/>
          </a:xfrm>
          <a:prstGeom prst="roundRect">
            <a:avLst>
              <a:gd name="adj" fmla="val 6452"/>
            </a:avLst>
          </a:prstGeom>
          <a:solidFill>
            <a:schemeClr val="tx1"/>
          </a:solidFill>
          <a:ln w="12700">
            <a:solidFill>
              <a:schemeClr val="tx1"/>
            </a:solidFill>
            <a:prstDash val="solid"/>
          </a:ln>
        </p:spPr>
      </p:sp>
      <p:sp>
        <p:nvSpPr>
          <p:cNvPr id="21" name="text-177"/>
          <p:cNvSpPr txBox="1"/>
          <p:nvPr/>
        </p:nvSpPr>
        <p:spPr>
          <a:xfrm>
            <a:off x="2852928" y="7644384"/>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2" name="text-178"/>
          <p:cNvSpPr txBox="1"/>
          <p:nvPr/>
        </p:nvSpPr>
        <p:spPr>
          <a:xfrm>
            <a:off x="2852928"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3" name="card-179"/>
          <p:cNvSpPr/>
          <p:nvPr/>
        </p:nvSpPr>
        <p:spPr>
          <a:xfrm>
            <a:off x="4919472" y="7534656"/>
            <a:ext cx="2093976" cy="1133856"/>
          </a:xfrm>
          <a:prstGeom prst="roundRect">
            <a:avLst>
              <a:gd name="adj" fmla="val 6452"/>
            </a:avLst>
          </a:prstGeom>
          <a:solidFill>
            <a:schemeClr val="bg2"/>
          </a:solidFill>
          <a:ln w="12700">
            <a:solidFill>
              <a:schemeClr val="bg2"/>
            </a:solidFill>
            <a:prstDash val="solid"/>
          </a:ln>
        </p:spPr>
      </p:sp>
      <p:sp>
        <p:nvSpPr>
          <p:cNvPr id="24" name="text-180"/>
          <p:cNvSpPr txBox="1"/>
          <p:nvPr/>
        </p:nvSpPr>
        <p:spPr>
          <a:xfrm>
            <a:off x="5038344"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5" name="text-181"/>
          <p:cNvSpPr txBox="1"/>
          <p:nvPr/>
        </p:nvSpPr>
        <p:spPr>
          <a:xfrm>
            <a:off x="5038344"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6" name="card-182"/>
          <p:cNvSpPr/>
          <p:nvPr/>
        </p:nvSpPr>
        <p:spPr>
          <a:xfrm>
            <a:off x="548640" y="8759952"/>
            <a:ext cx="2093976" cy="1133856"/>
          </a:xfrm>
          <a:prstGeom prst="roundRect">
            <a:avLst>
              <a:gd name="adj" fmla="val 6452"/>
            </a:avLst>
          </a:prstGeom>
          <a:solidFill>
            <a:schemeClr val="bg2"/>
          </a:solidFill>
          <a:ln w="12700">
            <a:solidFill>
              <a:schemeClr val="bg2"/>
            </a:solidFill>
            <a:prstDash val="solid"/>
          </a:ln>
        </p:spPr>
      </p:sp>
      <p:sp>
        <p:nvSpPr>
          <p:cNvPr id="27" name="text-183"/>
          <p:cNvSpPr txBox="1"/>
          <p:nvPr/>
        </p:nvSpPr>
        <p:spPr>
          <a:xfrm>
            <a:off x="667512"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8" name="text-184"/>
          <p:cNvSpPr txBox="1"/>
          <p:nvPr/>
        </p:nvSpPr>
        <p:spPr>
          <a:xfrm>
            <a:off x="667512"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9" name="card-185"/>
          <p:cNvSpPr/>
          <p:nvPr/>
        </p:nvSpPr>
        <p:spPr>
          <a:xfrm>
            <a:off x="2734056" y="8759952"/>
            <a:ext cx="2093976" cy="1133856"/>
          </a:xfrm>
          <a:prstGeom prst="roundRect">
            <a:avLst>
              <a:gd name="adj" fmla="val 6452"/>
            </a:avLst>
          </a:prstGeom>
          <a:solidFill>
            <a:schemeClr val="bg2"/>
          </a:solidFill>
          <a:ln w="12700">
            <a:solidFill>
              <a:schemeClr val="bg2"/>
            </a:solidFill>
            <a:prstDash val="solid"/>
          </a:ln>
        </p:spPr>
      </p:sp>
      <p:sp>
        <p:nvSpPr>
          <p:cNvPr id="30" name="text-186"/>
          <p:cNvSpPr txBox="1"/>
          <p:nvPr/>
        </p:nvSpPr>
        <p:spPr>
          <a:xfrm>
            <a:off x="2852928"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1" name="text-187"/>
          <p:cNvSpPr txBox="1"/>
          <p:nvPr/>
        </p:nvSpPr>
        <p:spPr>
          <a:xfrm>
            <a:off x="2852928"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2" name="card-188"/>
          <p:cNvSpPr/>
          <p:nvPr/>
        </p:nvSpPr>
        <p:spPr>
          <a:xfrm>
            <a:off x="4919472" y="8759952"/>
            <a:ext cx="2093976" cy="1133856"/>
          </a:xfrm>
          <a:prstGeom prst="roundRect">
            <a:avLst>
              <a:gd name="adj" fmla="val 6452"/>
            </a:avLst>
          </a:prstGeom>
          <a:solidFill>
            <a:schemeClr val="bg2"/>
          </a:solidFill>
          <a:ln w="12700">
            <a:solidFill>
              <a:schemeClr val="bg2"/>
            </a:solidFill>
            <a:prstDash val="solid"/>
          </a:ln>
        </p:spPr>
      </p:sp>
      <p:sp>
        <p:nvSpPr>
          <p:cNvPr id="33" name="text-189"/>
          <p:cNvSpPr txBox="1"/>
          <p:nvPr/>
        </p:nvSpPr>
        <p:spPr>
          <a:xfrm>
            <a:off x="5038344"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4" name="text-190"/>
          <p:cNvSpPr txBox="1"/>
          <p:nvPr/>
        </p:nvSpPr>
        <p:spPr>
          <a:xfrm>
            <a:off x="5038344"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91" descr="/home/user/chatbox-bi-n-o/magazine/assets/renders/fusion.jpg">    </p:cNvPr>
          <p:cNvPicPr>
            <a:picLocks noChangeAspect="1"/>
          </p:cNvPicPr>
          <p:nvPr/>
        </p:nvPicPr>
        <p:blipFill>
          <a:blip r:embed="rId1"/>
          <a:srcRect l="0" r="0" t="0" b="0"/>
          <a:stretch/>
        </p:blipFill>
        <p:spPr>
          <a:xfrm>
            <a:off x="0" y="0"/>
            <a:ext cx="7562088" cy="6035040"/>
          </a:xfrm>
          <a:prstGeom prst="rect">
            <a:avLst/>
          </a:prstGeom>
        </p:spPr>
      </p:pic>
      <p:sp>
        <p:nvSpPr>
          <p:cNvPr id="3" name="marker-192"/>
          <p:cNvSpPr/>
          <p:nvPr/>
        </p:nvSpPr>
        <p:spPr>
          <a:xfrm>
            <a:off x="548640" y="5623560"/>
            <a:ext cx="822960" cy="822960"/>
          </a:xfrm>
          <a:prstGeom prst="ellipse">
            <a:avLst/>
          </a:prstGeom>
          <a:solidFill>
            <a:schemeClr val="accent3"/>
          </a:solidFill>
          <a:ln w="19050">
            <a:solidFill>
              <a:schemeClr val="bg1"/>
            </a:solidFill>
            <a:prstDash val="solid"/>
          </a:ln>
        </p:spPr>
      </p:sp>
      <p:sp>
        <p:nvSpPr>
          <p:cNvPr id="4" name="text-19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1</a:t>
            </a:r>
            <a:endParaRPr lang="en-US" sz="3000" dirty="0"/>
          </a:p>
        </p:txBody>
      </p:sp>
      <p:sp>
        <p:nvSpPr>
          <p:cNvPr id="5" name="kicker-dot-194"/>
          <p:cNvSpPr/>
          <p:nvPr/>
        </p:nvSpPr>
        <p:spPr>
          <a:xfrm>
            <a:off x="548640" y="6670548"/>
            <a:ext cx="100584" cy="100584"/>
          </a:xfrm>
          <a:prstGeom prst="ellipse">
            <a:avLst/>
          </a:prstGeom>
          <a:solidFill>
            <a:schemeClr val="accent3"/>
          </a:solidFill>
          <a:ln w="12700">
            <a:solidFill>
              <a:schemeClr val="accent3"/>
            </a:solidFill>
            <a:prstDash val="solid"/>
          </a:ln>
        </p:spPr>
      </p:sp>
      <p:sp>
        <p:nvSpPr>
          <p:cNvPr id="6" name="text-19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SIGNATURE DISTRICT 1 · FUSION POWER STATION</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The City's Own Sun</a:t>
            </a:r>
            <a:endParaRPr lang="en-US" sz="4000" dirty="0"/>
          </a:p>
        </p:txBody>
      </p:sp>
      <p:sp>
        <p:nvSpPr>
          <p:cNvPr id="8" name="text-19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00" dirty="0"/>
          </a:p>
        </p:txBody>
      </p:sp>
      <p:sp>
        <p:nvSpPr>
          <p:cNvPr id="9" name="text-19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Our first signature district is the city’s own sun. Stage 1 takes deuterium from snowmelt water, so the fuel literally falls from the sky as snow. Stage 2 breeds tritium in a lithium blanket, so none is imported.</a:t>
            </a:r>
            <a:endParaRPr lang="en-US" sz="1050" dirty="0"/>
          </a:p>
          <a:p>
            <a:pPr indent="0" marL="0">
              <a:lnSpc>
                <a:spcPct val="112000"/>
              </a:lnSpc>
              <a:spcAft>
                <a:spcPts val="700"/>
              </a:spcAft>
              <a:buNone/>
            </a:pPr>
            <a:r>
              <a:rPr lang="en-US" sz="1050" dirty="0">
                <a:solidFill>
                  <a:schemeClr val="tx1"/>
                </a:solidFill>
              </a:rPr>
              <a:t>Stage 3 is the tokamak, where superconducting magnets hold a 150-million-degree plasma that makes about 800 megawatts of heat.</a:t>
            </a:r>
            <a:endParaRPr lang="en-US" sz="1050" dirty="0"/>
          </a:p>
        </p:txBody>
      </p:sp>
      <p:sp>
        <p:nvSpPr>
          <p:cNvPr id="10" name="text-19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4 turns that heat into about 300 megawatts of electricity and sends 450 megawatts into the district-heating loop. Stage 5 turns rubbish into clean gas and building blocks.</a:t>
            </a:r>
            <a:endParaRPr lang="en-US" sz="1050" dirty="0"/>
          </a:p>
          <a:p>
            <a:pPr indent="0" marL="0">
              <a:lnSpc>
                <a:spcPct val="112000"/>
              </a:lnSpc>
              <a:spcAft>
                <a:spcPts val="700"/>
              </a:spcAft>
              <a:buNone/>
            </a:pPr>
            <a:r>
              <a:rPr lang="en-US" sz="1050" dirty="0">
                <a:solidFill>
                  <a:schemeClr val="tx1"/>
                </a:solidFill>
              </a:rPr>
              <a:t>The reactor runs on about 170 grams of fuel a day. If anything fails, the plasma simply goes out in a split second, so it cannot melt down or run away.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199"/>
          <p:cNvSpPr/>
          <p:nvPr/>
        </p:nvSpPr>
        <p:spPr>
          <a:xfrm>
            <a:off x="548640" y="516636"/>
            <a:ext cx="100584" cy="100584"/>
          </a:xfrm>
          <a:prstGeom prst="ellipse">
            <a:avLst/>
          </a:prstGeom>
          <a:solidFill>
            <a:schemeClr val="accent3"/>
          </a:solidFill>
          <a:ln w="12700">
            <a:solidFill>
              <a:schemeClr val="accent3"/>
            </a:solidFill>
            <a:prstDash val="solid"/>
          </a:ln>
        </p:spPr>
      </p:sp>
      <p:sp>
        <p:nvSpPr>
          <p:cNvPr id="3" name="text-20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006136"/>
          </a:xfrm>
          <a:prstGeom prst="rect">
            <a:avLst/>
          </a:prstGeom>
        </p:spPr>
      </p:pic>
      <p:sp>
        <p:nvSpPr>
          <p:cNvPr id="6" name="text-201"/>
          <p:cNvSpPr txBox="1"/>
          <p:nvPr/>
        </p:nvSpPr>
        <p:spPr>
          <a:xfrm>
            <a:off x="548640" y="4606336"/>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02"/>
          <p:cNvSpPr/>
          <p:nvPr/>
        </p:nvSpPr>
        <p:spPr>
          <a:xfrm>
            <a:off x="548640" y="4983480"/>
            <a:ext cx="329184" cy="329184"/>
          </a:xfrm>
          <a:prstGeom prst="ellipse">
            <a:avLst/>
          </a:prstGeom>
          <a:solidFill>
            <a:schemeClr val="accent3"/>
          </a:solidFill>
          <a:ln w="12700">
            <a:solidFill>
              <a:schemeClr val="accent3"/>
            </a:solidFill>
            <a:prstDash val="solid"/>
          </a:ln>
        </p:spPr>
      </p:sp>
      <p:sp>
        <p:nvSpPr>
          <p:cNvPr id="8" name="text-203"/>
          <p:cNvSpPr txBox="1"/>
          <p:nvPr/>
        </p:nvSpPr>
        <p:spPr>
          <a:xfrm>
            <a:off x="548640" y="49834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04"/>
          <p:cNvSpPr txBox="1"/>
          <p:nvPr/>
        </p:nvSpPr>
        <p:spPr>
          <a:xfrm>
            <a:off x="1005840" y="49743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05"/>
          <p:cNvSpPr txBox="1"/>
          <p:nvPr/>
        </p:nvSpPr>
        <p:spPr>
          <a:xfrm>
            <a:off x="1005840" y="51846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06"/>
          <p:cNvSpPr/>
          <p:nvPr/>
        </p:nvSpPr>
        <p:spPr>
          <a:xfrm>
            <a:off x="548640" y="5806440"/>
            <a:ext cx="329184" cy="329184"/>
          </a:xfrm>
          <a:prstGeom prst="ellipse">
            <a:avLst/>
          </a:prstGeom>
          <a:solidFill>
            <a:schemeClr val="accent3"/>
          </a:solidFill>
          <a:ln w="12700">
            <a:solidFill>
              <a:schemeClr val="accent3"/>
            </a:solidFill>
            <a:prstDash val="solid"/>
          </a:ln>
        </p:spPr>
      </p:sp>
      <p:sp>
        <p:nvSpPr>
          <p:cNvPr id="12" name="text-207"/>
          <p:cNvSpPr txBox="1"/>
          <p:nvPr/>
        </p:nvSpPr>
        <p:spPr>
          <a:xfrm>
            <a:off x="548640" y="5806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08"/>
          <p:cNvSpPr txBox="1"/>
          <p:nvPr/>
        </p:nvSpPr>
        <p:spPr>
          <a:xfrm>
            <a:off x="1005840" y="5797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209"/>
          <p:cNvSpPr txBox="1"/>
          <p:nvPr/>
        </p:nvSpPr>
        <p:spPr>
          <a:xfrm>
            <a:off x="1005840" y="600760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210"/>
          <p:cNvSpPr/>
          <p:nvPr/>
        </p:nvSpPr>
        <p:spPr>
          <a:xfrm>
            <a:off x="548640" y="6629400"/>
            <a:ext cx="329184" cy="329184"/>
          </a:xfrm>
          <a:prstGeom prst="ellipse">
            <a:avLst/>
          </a:prstGeom>
          <a:solidFill>
            <a:schemeClr val="accent3"/>
          </a:solidFill>
          <a:ln w="12700">
            <a:solidFill>
              <a:schemeClr val="accent3"/>
            </a:solidFill>
            <a:prstDash val="solid"/>
          </a:ln>
        </p:spPr>
      </p:sp>
      <p:sp>
        <p:nvSpPr>
          <p:cNvPr id="16" name="text-211"/>
          <p:cNvSpPr txBox="1"/>
          <p:nvPr/>
        </p:nvSpPr>
        <p:spPr>
          <a:xfrm>
            <a:off x="548640" y="66294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12"/>
          <p:cNvSpPr txBox="1"/>
          <p:nvPr/>
        </p:nvSpPr>
        <p:spPr>
          <a:xfrm>
            <a:off x="1005840" y="66202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213"/>
          <p:cNvSpPr txBox="1"/>
          <p:nvPr/>
        </p:nvSpPr>
        <p:spPr>
          <a:xfrm>
            <a:off x="1005840" y="683056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214"/>
          <p:cNvSpPr/>
          <p:nvPr/>
        </p:nvSpPr>
        <p:spPr>
          <a:xfrm>
            <a:off x="548640" y="7452360"/>
            <a:ext cx="329184" cy="329184"/>
          </a:xfrm>
          <a:prstGeom prst="ellipse">
            <a:avLst/>
          </a:prstGeom>
          <a:solidFill>
            <a:schemeClr val="accent3"/>
          </a:solidFill>
          <a:ln w="12700">
            <a:solidFill>
              <a:schemeClr val="accent3"/>
            </a:solidFill>
            <a:prstDash val="solid"/>
          </a:ln>
        </p:spPr>
      </p:sp>
      <p:sp>
        <p:nvSpPr>
          <p:cNvPr id="20" name="text-215"/>
          <p:cNvSpPr txBox="1"/>
          <p:nvPr/>
        </p:nvSpPr>
        <p:spPr>
          <a:xfrm>
            <a:off x="548640" y="74523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16"/>
          <p:cNvSpPr txBox="1"/>
          <p:nvPr/>
        </p:nvSpPr>
        <p:spPr>
          <a:xfrm>
            <a:off x="1005840" y="74432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217"/>
          <p:cNvSpPr txBox="1"/>
          <p:nvPr/>
        </p:nvSpPr>
        <p:spPr>
          <a:xfrm>
            <a:off x="1005840" y="765352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218"/>
          <p:cNvSpPr/>
          <p:nvPr/>
        </p:nvSpPr>
        <p:spPr>
          <a:xfrm>
            <a:off x="548640" y="8275320"/>
            <a:ext cx="329184" cy="329184"/>
          </a:xfrm>
          <a:prstGeom prst="ellipse">
            <a:avLst/>
          </a:prstGeom>
          <a:solidFill>
            <a:schemeClr val="accent3"/>
          </a:solidFill>
          <a:ln w="12700">
            <a:solidFill>
              <a:schemeClr val="accent3"/>
            </a:solidFill>
            <a:prstDash val="solid"/>
          </a:ln>
        </p:spPr>
      </p:sp>
      <p:sp>
        <p:nvSpPr>
          <p:cNvPr id="24" name="text-219"/>
          <p:cNvSpPr txBox="1"/>
          <p:nvPr/>
        </p:nvSpPr>
        <p:spPr>
          <a:xfrm>
            <a:off x="548640" y="82753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20"/>
          <p:cNvSpPr txBox="1"/>
          <p:nvPr/>
        </p:nvSpPr>
        <p:spPr>
          <a:xfrm>
            <a:off x="1005840" y="82661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221"/>
          <p:cNvSpPr txBox="1"/>
          <p:nvPr/>
        </p:nvSpPr>
        <p:spPr>
          <a:xfrm>
            <a:off x="1005840" y="847648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222"/>
          <p:cNvSpPr/>
          <p:nvPr/>
        </p:nvSpPr>
        <p:spPr>
          <a:xfrm>
            <a:off x="548640" y="9098280"/>
            <a:ext cx="329184" cy="329184"/>
          </a:xfrm>
          <a:prstGeom prst="ellipse">
            <a:avLst/>
          </a:prstGeom>
          <a:solidFill>
            <a:schemeClr val="tx1"/>
          </a:solidFill>
          <a:ln w="12700">
            <a:solidFill>
              <a:schemeClr val="tx1"/>
            </a:solidFill>
            <a:prstDash val="solid"/>
          </a:ln>
        </p:spPr>
      </p:sp>
      <p:sp>
        <p:nvSpPr>
          <p:cNvPr id="28" name="text-223"/>
          <p:cNvSpPr txBox="1"/>
          <p:nvPr/>
        </p:nvSpPr>
        <p:spPr>
          <a:xfrm>
            <a:off x="548640" y="9098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224"/>
          <p:cNvSpPr txBox="1"/>
          <p:nvPr/>
        </p:nvSpPr>
        <p:spPr>
          <a:xfrm>
            <a:off x="1005840" y="90891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225"/>
          <p:cNvSpPr txBox="1"/>
          <p:nvPr/>
        </p:nvSpPr>
        <p:spPr>
          <a:xfrm>
            <a:off x="1005840" y="92994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226"/>
          <p:cNvSpPr txBox="1"/>
          <p:nvPr/>
        </p:nvSpPr>
        <p:spPr>
          <a:xfrm>
            <a:off x="5074920" y="4892040"/>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227"/>
          <p:cNvSpPr txBox="1"/>
          <p:nvPr/>
        </p:nvSpPr>
        <p:spPr>
          <a:xfrm>
            <a:off x="5074920" y="5297424"/>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228"/>
          <p:cNvSpPr txBox="1"/>
          <p:nvPr/>
        </p:nvSpPr>
        <p:spPr>
          <a:xfrm>
            <a:off x="5074920" y="587959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229"/>
          <p:cNvSpPr txBox="1"/>
          <p:nvPr/>
        </p:nvSpPr>
        <p:spPr>
          <a:xfrm>
            <a:off x="5074920" y="628497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230"/>
          <p:cNvSpPr txBox="1"/>
          <p:nvPr/>
        </p:nvSpPr>
        <p:spPr>
          <a:xfrm>
            <a:off x="5074920" y="68671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231"/>
          <p:cNvSpPr txBox="1"/>
          <p:nvPr/>
        </p:nvSpPr>
        <p:spPr>
          <a:xfrm>
            <a:off x="5074920" y="72725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232"/>
          <p:cNvSpPr txBox="1"/>
          <p:nvPr/>
        </p:nvSpPr>
        <p:spPr>
          <a:xfrm>
            <a:off x="5074920" y="7854696"/>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233"/>
          <p:cNvSpPr txBox="1"/>
          <p:nvPr/>
        </p:nvSpPr>
        <p:spPr>
          <a:xfrm>
            <a:off x="5074920" y="8260080"/>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234"/>
          <p:cNvSpPr txBox="1"/>
          <p:nvPr/>
        </p:nvSpPr>
        <p:spPr>
          <a:xfrm>
            <a:off x="5074920" y="8842248"/>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235"/>
          <p:cNvSpPr txBox="1"/>
          <p:nvPr/>
        </p:nvSpPr>
        <p:spPr>
          <a:xfrm>
            <a:off x="5074920" y="9247632"/>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36" descr="/home/user/chatbox-bi-n-o/magazine/assets/renders/food.jpg">    </p:cNvPr>
          <p:cNvPicPr>
            <a:picLocks noChangeAspect="1"/>
          </p:cNvPicPr>
          <p:nvPr/>
        </p:nvPicPr>
        <p:blipFill>
          <a:blip r:embed="rId1"/>
          <a:srcRect l="0" r="0" t="0" b="0"/>
          <a:stretch/>
        </p:blipFill>
        <p:spPr>
          <a:xfrm>
            <a:off x="0" y="0"/>
            <a:ext cx="7562088" cy="6035040"/>
          </a:xfrm>
          <a:prstGeom prst="rect">
            <a:avLst/>
          </a:prstGeom>
        </p:spPr>
      </p:pic>
      <p:sp>
        <p:nvSpPr>
          <p:cNvPr id="3" name="marker-237"/>
          <p:cNvSpPr/>
          <p:nvPr/>
        </p:nvSpPr>
        <p:spPr>
          <a:xfrm>
            <a:off x="548640" y="5623560"/>
            <a:ext cx="822960" cy="822960"/>
          </a:xfrm>
          <a:prstGeom prst="ellipse">
            <a:avLst/>
          </a:prstGeom>
          <a:solidFill>
            <a:schemeClr val="accent4"/>
          </a:solidFill>
          <a:ln w="19050">
            <a:solidFill>
              <a:schemeClr val="bg1"/>
            </a:solidFill>
            <a:prstDash val="solid"/>
          </a:ln>
        </p:spPr>
      </p:sp>
      <p:sp>
        <p:nvSpPr>
          <p:cNvPr id="4" name="text-238"/>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2</a:t>
            </a:r>
            <a:endParaRPr lang="en-US" sz="3000" dirty="0"/>
          </a:p>
        </p:txBody>
      </p:sp>
      <p:sp>
        <p:nvSpPr>
          <p:cNvPr id="5" name="kicker-dot-239"/>
          <p:cNvSpPr/>
          <p:nvPr/>
        </p:nvSpPr>
        <p:spPr>
          <a:xfrm>
            <a:off x="548640" y="6670548"/>
            <a:ext cx="100584" cy="100584"/>
          </a:xfrm>
          <a:prstGeom prst="ellipse">
            <a:avLst/>
          </a:prstGeom>
          <a:solidFill>
            <a:schemeClr val="accent4"/>
          </a:solidFill>
          <a:ln w="12700">
            <a:solidFill>
              <a:schemeClr val="accent4"/>
            </a:solidFill>
            <a:prstDash val="solid"/>
          </a:ln>
        </p:spPr>
      </p:sp>
      <p:sp>
        <p:nvSpPr>
          <p:cNvPr id="6" name="text-240"/>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SIGNATURE DISTRICT 2 · SNOW-TO-FOOD &amp; WATER PLANT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Bread and Water from Snow and Air</a:t>
            </a:r>
            <a:endParaRPr lang="en-US" sz="4000" dirty="0"/>
          </a:p>
        </p:txBody>
      </p:sp>
      <p:sp>
        <p:nvSpPr>
          <p:cNvPr id="8" name="text-241"/>
          <p:cNvSpPr txBox="1"/>
          <p:nvPr/>
        </p:nvSpPr>
        <p:spPr>
          <a:xfrm>
            <a:off x="548640" y="8101584"/>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9" name="text-242"/>
          <p:cNvSpPr txBox="1"/>
          <p:nvPr/>
        </p:nvSpPr>
        <p:spPr>
          <a:xfrm>
            <a:off x="548640"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50" dirty="0"/>
          </a:p>
        </p:txBody>
      </p:sp>
      <p:sp>
        <p:nvSpPr>
          <p:cNvPr id="10" name="text-243"/>
          <p:cNvSpPr txBox="1"/>
          <p:nvPr/>
        </p:nvSpPr>
        <p:spPr>
          <a:xfrm>
            <a:off x="3918204"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244"/>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24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339073"/>
          </a:xfrm>
          <a:prstGeom prst="rect">
            <a:avLst/>
          </a:prstGeom>
        </p:spPr>
      </p:pic>
      <p:sp>
        <p:nvSpPr>
          <p:cNvPr id="6" name="text-246"/>
          <p:cNvSpPr txBox="1"/>
          <p:nvPr/>
        </p:nvSpPr>
        <p:spPr>
          <a:xfrm>
            <a:off x="548640" y="4939273"/>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247"/>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248"/>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49"/>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250"/>
          <p:cNvSpPr txBox="1"/>
          <p:nvPr/>
        </p:nvSpPr>
        <p:spPr>
          <a:xfrm>
            <a:off x="1005840" y="550468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251"/>
          <p:cNvSpPr/>
          <p:nvPr/>
        </p:nvSpPr>
        <p:spPr>
          <a:xfrm>
            <a:off x="548640" y="6089904"/>
            <a:ext cx="329184" cy="329184"/>
          </a:xfrm>
          <a:prstGeom prst="ellipse">
            <a:avLst/>
          </a:prstGeom>
          <a:solidFill>
            <a:schemeClr val="accent4"/>
          </a:solidFill>
          <a:ln w="12700">
            <a:solidFill>
              <a:schemeClr val="accent4"/>
            </a:solidFill>
            <a:prstDash val="solid"/>
          </a:ln>
        </p:spPr>
      </p:sp>
      <p:sp>
        <p:nvSpPr>
          <p:cNvPr id="12" name="text-252"/>
          <p:cNvSpPr txBox="1"/>
          <p:nvPr/>
        </p:nvSpPr>
        <p:spPr>
          <a:xfrm>
            <a:off x="548640" y="60899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53"/>
          <p:cNvSpPr txBox="1"/>
          <p:nvPr/>
        </p:nvSpPr>
        <p:spPr>
          <a:xfrm>
            <a:off x="1005840" y="6080760"/>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254"/>
          <p:cNvSpPr txBox="1"/>
          <p:nvPr/>
        </p:nvSpPr>
        <p:spPr>
          <a:xfrm>
            <a:off x="1005840" y="6291072"/>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255"/>
          <p:cNvSpPr/>
          <p:nvPr/>
        </p:nvSpPr>
        <p:spPr>
          <a:xfrm>
            <a:off x="548640" y="6876288"/>
            <a:ext cx="329184" cy="329184"/>
          </a:xfrm>
          <a:prstGeom prst="ellipse">
            <a:avLst/>
          </a:prstGeom>
          <a:solidFill>
            <a:schemeClr val="accent4"/>
          </a:solidFill>
          <a:ln w="12700">
            <a:solidFill>
              <a:schemeClr val="accent4"/>
            </a:solidFill>
            <a:prstDash val="solid"/>
          </a:ln>
        </p:spPr>
      </p:sp>
      <p:sp>
        <p:nvSpPr>
          <p:cNvPr id="16" name="text-256"/>
          <p:cNvSpPr txBox="1"/>
          <p:nvPr/>
        </p:nvSpPr>
        <p:spPr>
          <a:xfrm>
            <a:off x="548640" y="6876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57"/>
          <p:cNvSpPr txBox="1"/>
          <p:nvPr/>
        </p:nvSpPr>
        <p:spPr>
          <a:xfrm>
            <a:off x="1005840" y="6867144"/>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258"/>
          <p:cNvSpPr txBox="1"/>
          <p:nvPr/>
        </p:nvSpPr>
        <p:spPr>
          <a:xfrm>
            <a:off x="1005840" y="7077456"/>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259"/>
          <p:cNvSpPr/>
          <p:nvPr/>
        </p:nvSpPr>
        <p:spPr>
          <a:xfrm>
            <a:off x="548640" y="7662672"/>
            <a:ext cx="329184" cy="329184"/>
          </a:xfrm>
          <a:prstGeom prst="ellipse">
            <a:avLst/>
          </a:prstGeom>
          <a:solidFill>
            <a:schemeClr val="accent4"/>
          </a:solidFill>
          <a:ln w="12700">
            <a:solidFill>
              <a:schemeClr val="accent4"/>
            </a:solidFill>
            <a:prstDash val="solid"/>
          </a:ln>
        </p:spPr>
      </p:sp>
      <p:sp>
        <p:nvSpPr>
          <p:cNvPr id="20" name="text-260"/>
          <p:cNvSpPr txBox="1"/>
          <p:nvPr/>
        </p:nvSpPr>
        <p:spPr>
          <a:xfrm>
            <a:off x="548640" y="76626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61"/>
          <p:cNvSpPr txBox="1"/>
          <p:nvPr/>
        </p:nvSpPr>
        <p:spPr>
          <a:xfrm>
            <a:off x="1005840" y="7653528"/>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262"/>
          <p:cNvSpPr txBox="1"/>
          <p:nvPr/>
        </p:nvSpPr>
        <p:spPr>
          <a:xfrm>
            <a:off x="1005840" y="7863840"/>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263"/>
          <p:cNvSpPr/>
          <p:nvPr/>
        </p:nvSpPr>
        <p:spPr>
          <a:xfrm>
            <a:off x="548640" y="8449056"/>
            <a:ext cx="329184" cy="329184"/>
          </a:xfrm>
          <a:prstGeom prst="ellipse">
            <a:avLst/>
          </a:prstGeom>
          <a:solidFill>
            <a:schemeClr val="accent4"/>
          </a:solidFill>
          <a:ln w="12700">
            <a:solidFill>
              <a:schemeClr val="accent4"/>
            </a:solidFill>
            <a:prstDash val="solid"/>
          </a:ln>
        </p:spPr>
      </p:sp>
      <p:sp>
        <p:nvSpPr>
          <p:cNvPr id="24" name="text-264"/>
          <p:cNvSpPr txBox="1"/>
          <p:nvPr/>
        </p:nvSpPr>
        <p:spPr>
          <a:xfrm>
            <a:off x="548640" y="844905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65"/>
          <p:cNvSpPr txBox="1"/>
          <p:nvPr/>
        </p:nvSpPr>
        <p:spPr>
          <a:xfrm>
            <a:off x="1005840" y="8439912"/>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266"/>
          <p:cNvSpPr txBox="1"/>
          <p:nvPr/>
        </p:nvSpPr>
        <p:spPr>
          <a:xfrm>
            <a:off x="1005840" y="8650224"/>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267"/>
          <p:cNvSpPr/>
          <p:nvPr/>
        </p:nvSpPr>
        <p:spPr>
          <a:xfrm>
            <a:off x="548640" y="9235440"/>
            <a:ext cx="329184" cy="329184"/>
          </a:xfrm>
          <a:prstGeom prst="ellipse">
            <a:avLst/>
          </a:prstGeom>
          <a:solidFill>
            <a:schemeClr val="accent4"/>
          </a:solidFill>
          <a:ln w="12700">
            <a:solidFill>
              <a:schemeClr val="accent4"/>
            </a:solidFill>
            <a:prstDash val="solid"/>
          </a:ln>
        </p:spPr>
      </p:sp>
      <p:sp>
        <p:nvSpPr>
          <p:cNvPr id="28" name="text-268"/>
          <p:cNvSpPr txBox="1"/>
          <p:nvPr/>
        </p:nvSpPr>
        <p:spPr>
          <a:xfrm>
            <a:off x="548640" y="9235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269"/>
          <p:cNvSpPr txBox="1"/>
          <p:nvPr/>
        </p:nvSpPr>
        <p:spPr>
          <a:xfrm>
            <a:off x="1005840" y="9226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270"/>
          <p:cNvSpPr txBox="1"/>
          <p:nvPr/>
        </p:nvSpPr>
        <p:spPr>
          <a:xfrm>
            <a:off x="1005840" y="943660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271"/>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272"/>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273"/>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274"/>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275"/>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276"/>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277"/>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278"/>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279"/>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280"/>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81" descr="/home/user/chatbox-bi-n-o/magazine/assets/renders/mount.jpg">    </p:cNvPr>
          <p:cNvPicPr>
            <a:picLocks noChangeAspect="1"/>
          </p:cNvPicPr>
          <p:nvPr/>
        </p:nvPicPr>
        <p:blipFill>
          <a:blip r:embed="rId1"/>
          <a:srcRect l="0" r="0" t="0" b="0"/>
          <a:stretch/>
        </p:blipFill>
        <p:spPr>
          <a:xfrm>
            <a:off x="0" y="0"/>
            <a:ext cx="7562088" cy="6035040"/>
          </a:xfrm>
          <a:prstGeom prst="rect">
            <a:avLst/>
          </a:prstGeom>
        </p:spPr>
      </p:pic>
      <p:sp>
        <p:nvSpPr>
          <p:cNvPr id="3" name="marker-282"/>
          <p:cNvSpPr/>
          <p:nvPr/>
        </p:nvSpPr>
        <p:spPr>
          <a:xfrm>
            <a:off x="548640" y="5623560"/>
            <a:ext cx="822960" cy="822960"/>
          </a:xfrm>
          <a:prstGeom prst="ellipse">
            <a:avLst/>
          </a:prstGeom>
          <a:solidFill>
            <a:schemeClr val="accent5"/>
          </a:solidFill>
          <a:ln w="19050">
            <a:solidFill>
              <a:schemeClr val="bg1"/>
            </a:solidFill>
            <a:prstDash val="solid"/>
          </a:ln>
        </p:spPr>
      </p:sp>
      <p:sp>
        <p:nvSpPr>
          <p:cNvPr id="4" name="text-28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3</a:t>
            </a:r>
            <a:endParaRPr lang="en-US" sz="3000" dirty="0"/>
          </a:p>
        </p:txBody>
      </p:sp>
      <p:sp>
        <p:nvSpPr>
          <p:cNvPr id="5" name="kicker-dot-284"/>
          <p:cNvSpPr/>
          <p:nvPr/>
        </p:nvSpPr>
        <p:spPr>
          <a:xfrm>
            <a:off x="548640" y="6670548"/>
            <a:ext cx="100584" cy="100584"/>
          </a:xfrm>
          <a:prstGeom prst="ellipse">
            <a:avLst/>
          </a:prstGeom>
          <a:solidFill>
            <a:schemeClr val="accent5"/>
          </a:solidFill>
          <a:ln w="12700">
            <a:solidFill>
              <a:schemeClr val="accent5"/>
            </a:solidFill>
            <a:prstDash val="solid"/>
          </a:ln>
        </p:spPr>
      </p:sp>
      <p:sp>
        <p:nvSpPr>
          <p:cNvPr id="6" name="text-28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SIGNATURE DISTRICT 3 · MOUNT AURORA GEOTHERMAL SPA RESORT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A Warm Heart Inside the Ice</a:t>
            </a:r>
            <a:endParaRPr lang="en-US" sz="4000" dirty="0"/>
          </a:p>
        </p:txBody>
      </p:sp>
      <p:sp>
        <p:nvSpPr>
          <p:cNvPr id="8" name="text-28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9" name="text-28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50" dirty="0"/>
          </a:p>
        </p:txBody>
      </p:sp>
      <p:sp>
        <p:nvSpPr>
          <p:cNvPr id="10" name="text-28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Outside is the Aurora Lagoon, a 38-degree mineral pool for bathing under the northern lights. The spa fights the winter blues, brings tourists and income, and in an emergency can shelter up to 1,000 people.</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89"/>
          <p:cNvSpPr/>
          <p:nvPr/>
        </p:nvSpPr>
        <p:spPr>
          <a:xfrm>
            <a:off x="548640" y="516636"/>
            <a:ext cx="100584" cy="100584"/>
          </a:xfrm>
          <a:prstGeom prst="ellipse">
            <a:avLst/>
          </a:prstGeom>
          <a:solidFill>
            <a:schemeClr val="accent5"/>
          </a:solidFill>
          <a:ln w="12700">
            <a:solidFill>
              <a:schemeClr val="accent5"/>
            </a:solidFill>
            <a:prstDash val="solid"/>
          </a:ln>
        </p:spPr>
      </p:sp>
      <p:sp>
        <p:nvSpPr>
          <p:cNvPr id="3" name="text-29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539482"/>
          </a:xfrm>
          <a:prstGeom prst="rect">
            <a:avLst/>
          </a:prstGeom>
        </p:spPr>
      </p:pic>
      <p:sp>
        <p:nvSpPr>
          <p:cNvPr id="6" name="text-291"/>
          <p:cNvSpPr txBox="1"/>
          <p:nvPr/>
        </p:nvSpPr>
        <p:spPr>
          <a:xfrm>
            <a:off x="548640" y="5139682"/>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292"/>
          <p:cNvSpPr/>
          <p:nvPr/>
        </p:nvSpPr>
        <p:spPr>
          <a:xfrm>
            <a:off x="548640" y="5440680"/>
            <a:ext cx="3140964" cy="1371600"/>
          </a:xfrm>
          <a:prstGeom prst="roundRect">
            <a:avLst>
              <a:gd name="adj" fmla="val 5333"/>
            </a:avLst>
          </a:prstGeom>
          <a:solidFill>
            <a:schemeClr val="bg2"/>
          </a:solidFill>
          <a:ln w="12700">
            <a:solidFill>
              <a:schemeClr val="bg2"/>
            </a:solidFill>
            <a:prstDash val="solid"/>
          </a:ln>
        </p:spPr>
      </p:sp>
      <p:sp>
        <p:nvSpPr>
          <p:cNvPr id="8" name="text-293"/>
          <p:cNvSpPr txBox="1"/>
          <p:nvPr/>
        </p:nvSpPr>
        <p:spPr>
          <a:xfrm>
            <a:off x="685800" y="555040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294"/>
          <p:cNvSpPr txBox="1"/>
          <p:nvPr/>
        </p:nvSpPr>
        <p:spPr>
          <a:xfrm>
            <a:off x="685800" y="576986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295"/>
          <p:cNvSpPr/>
          <p:nvPr/>
        </p:nvSpPr>
        <p:spPr>
          <a:xfrm>
            <a:off x="3872484" y="5440680"/>
            <a:ext cx="3140964" cy="1371600"/>
          </a:xfrm>
          <a:prstGeom prst="roundRect">
            <a:avLst>
              <a:gd name="adj" fmla="val 5333"/>
            </a:avLst>
          </a:prstGeom>
          <a:solidFill>
            <a:schemeClr val="bg2"/>
          </a:solidFill>
          <a:ln w="12700">
            <a:solidFill>
              <a:schemeClr val="bg2"/>
            </a:solidFill>
            <a:prstDash val="solid"/>
          </a:ln>
        </p:spPr>
      </p:sp>
      <p:sp>
        <p:nvSpPr>
          <p:cNvPr id="11" name="text-296"/>
          <p:cNvSpPr txBox="1"/>
          <p:nvPr/>
        </p:nvSpPr>
        <p:spPr>
          <a:xfrm>
            <a:off x="4009644" y="555040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297"/>
          <p:cNvSpPr txBox="1"/>
          <p:nvPr/>
        </p:nvSpPr>
        <p:spPr>
          <a:xfrm>
            <a:off x="4009644" y="576986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298"/>
          <p:cNvSpPr/>
          <p:nvPr/>
        </p:nvSpPr>
        <p:spPr>
          <a:xfrm>
            <a:off x="548640" y="6922008"/>
            <a:ext cx="3140964" cy="1371600"/>
          </a:xfrm>
          <a:prstGeom prst="roundRect">
            <a:avLst>
              <a:gd name="adj" fmla="val 5333"/>
            </a:avLst>
          </a:prstGeom>
          <a:solidFill>
            <a:schemeClr val="bg2"/>
          </a:solidFill>
          <a:ln w="12700">
            <a:solidFill>
              <a:schemeClr val="bg2"/>
            </a:solidFill>
            <a:prstDash val="solid"/>
          </a:ln>
        </p:spPr>
      </p:sp>
      <p:sp>
        <p:nvSpPr>
          <p:cNvPr id="14" name="text-299"/>
          <p:cNvSpPr txBox="1"/>
          <p:nvPr/>
        </p:nvSpPr>
        <p:spPr>
          <a:xfrm>
            <a:off x="685800" y="7031736"/>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300"/>
          <p:cNvSpPr txBox="1"/>
          <p:nvPr/>
        </p:nvSpPr>
        <p:spPr>
          <a:xfrm>
            <a:off x="685800" y="7251192"/>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301"/>
          <p:cNvSpPr/>
          <p:nvPr/>
        </p:nvSpPr>
        <p:spPr>
          <a:xfrm>
            <a:off x="3872484" y="6922008"/>
            <a:ext cx="3140964" cy="1371600"/>
          </a:xfrm>
          <a:prstGeom prst="roundRect">
            <a:avLst>
              <a:gd name="adj" fmla="val 5333"/>
            </a:avLst>
          </a:prstGeom>
          <a:solidFill>
            <a:schemeClr val="bg2"/>
          </a:solidFill>
          <a:ln w="12700">
            <a:solidFill>
              <a:schemeClr val="bg2"/>
            </a:solidFill>
            <a:prstDash val="solid"/>
          </a:ln>
        </p:spPr>
      </p:sp>
      <p:sp>
        <p:nvSpPr>
          <p:cNvPr id="17" name="text-302"/>
          <p:cNvSpPr txBox="1"/>
          <p:nvPr/>
        </p:nvSpPr>
        <p:spPr>
          <a:xfrm>
            <a:off x="4009644" y="7031736"/>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303"/>
          <p:cNvSpPr txBox="1"/>
          <p:nvPr/>
        </p:nvSpPr>
        <p:spPr>
          <a:xfrm>
            <a:off x="4009644" y="7251192"/>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304"/>
          <p:cNvSpPr txBox="1"/>
          <p:nvPr/>
        </p:nvSpPr>
        <p:spPr>
          <a:xfrm>
            <a:off x="54864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305"/>
          <p:cNvSpPr txBox="1"/>
          <p:nvPr/>
        </p:nvSpPr>
        <p:spPr>
          <a:xfrm>
            <a:off x="54864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306"/>
          <p:cNvSpPr txBox="1"/>
          <p:nvPr/>
        </p:nvSpPr>
        <p:spPr>
          <a:xfrm>
            <a:off x="1626108"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307"/>
          <p:cNvSpPr txBox="1"/>
          <p:nvPr/>
        </p:nvSpPr>
        <p:spPr>
          <a:xfrm>
            <a:off x="1626108"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308"/>
          <p:cNvSpPr txBox="1"/>
          <p:nvPr/>
        </p:nvSpPr>
        <p:spPr>
          <a:xfrm>
            <a:off x="2703576"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309"/>
          <p:cNvSpPr txBox="1"/>
          <p:nvPr/>
        </p:nvSpPr>
        <p:spPr>
          <a:xfrm>
            <a:off x="2703576"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310"/>
          <p:cNvSpPr txBox="1"/>
          <p:nvPr/>
        </p:nvSpPr>
        <p:spPr>
          <a:xfrm>
            <a:off x="3781044"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311"/>
          <p:cNvSpPr txBox="1"/>
          <p:nvPr/>
        </p:nvSpPr>
        <p:spPr>
          <a:xfrm>
            <a:off x="3781044"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312"/>
          <p:cNvSpPr txBox="1"/>
          <p:nvPr/>
        </p:nvSpPr>
        <p:spPr>
          <a:xfrm>
            <a:off x="4858512"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313"/>
          <p:cNvSpPr txBox="1"/>
          <p:nvPr/>
        </p:nvSpPr>
        <p:spPr>
          <a:xfrm>
            <a:off x="4858512"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314"/>
          <p:cNvSpPr txBox="1"/>
          <p:nvPr/>
        </p:nvSpPr>
        <p:spPr>
          <a:xfrm>
            <a:off x="593598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315"/>
          <p:cNvSpPr txBox="1"/>
          <p:nvPr/>
        </p:nvSpPr>
        <p:spPr>
          <a:xfrm>
            <a:off x="593598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316"/>
          <p:cNvSpPr txBox="1"/>
          <p:nvPr/>
        </p:nvSpPr>
        <p:spPr>
          <a:xfrm>
            <a:off x="548640" y="9418320"/>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31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31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31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350" dirty="0"/>
          </a:p>
        </p:txBody>
      </p:sp>
      <p:sp>
        <p:nvSpPr>
          <p:cNvPr id="6" name="loop-node-32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32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32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32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32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32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32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32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32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32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33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331"/>
          <p:cNvSpPr/>
          <p:nvPr/>
        </p:nvSpPr>
        <p:spPr>
          <a:xfrm>
            <a:off x="2633472" y="3063240"/>
            <a:ext cx="2295144" cy="914"/>
          </a:xfrm>
          <a:prstGeom prst="line">
            <a:avLst/>
          </a:prstGeom>
          <a:noFill/>
          <a:ln w="28575">
            <a:solidFill>
              <a:schemeClr val="accent2"/>
            </a:solidFill>
            <a:prstDash val="solid"/>
            <a:tailEnd type="triangle"/>
          </a:ln>
        </p:spPr>
      </p:sp>
      <p:sp>
        <p:nvSpPr>
          <p:cNvPr id="19" name="text-33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333"/>
          <p:cNvSpPr/>
          <p:nvPr/>
        </p:nvSpPr>
        <p:spPr>
          <a:xfrm>
            <a:off x="2633472" y="3410712"/>
            <a:ext cx="2295144" cy="914"/>
          </a:xfrm>
          <a:prstGeom prst="line">
            <a:avLst/>
          </a:prstGeom>
          <a:noFill/>
          <a:ln w="28575">
            <a:solidFill>
              <a:schemeClr val="bg2"/>
            </a:solidFill>
            <a:prstDash val="solid"/>
            <a:tailEnd type="triangle"/>
          </a:ln>
        </p:spPr>
      </p:sp>
      <p:sp>
        <p:nvSpPr>
          <p:cNvPr id="21" name="text-33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33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33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33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33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339"/>
          <p:cNvSpPr/>
          <p:nvPr/>
        </p:nvSpPr>
        <p:spPr>
          <a:xfrm>
            <a:off x="1325880" y="4507992"/>
            <a:ext cx="914" cy="1179576"/>
          </a:xfrm>
          <a:prstGeom prst="line">
            <a:avLst/>
          </a:prstGeom>
          <a:noFill/>
          <a:ln w="28575">
            <a:solidFill>
              <a:schemeClr val="accent2"/>
            </a:solidFill>
            <a:prstDash val="solid"/>
            <a:tailEnd type="triangle"/>
          </a:ln>
        </p:spPr>
      </p:sp>
      <p:sp>
        <p:nvSpPr>
          <p:cNvPr id="27" name="arrow-340"/>
          <p:cNvSpPr/>
          <p:nvPr/>
        </p:nvSpPr>
        <p:spPr>
          <a:xfrm flipV="1">
            <a:off x="1874520" y="4507992"/>
            <a:ext cx="914" cy="1179576"/>
          </a:xfrm>
          <a:prstGeom prst="line">
            <a:avLst/>
          </a:prstGeom>
          <a:noFill/>
          <a:ln w="28575">
            <a:solidFill>
              <a:schemeClr val="bg2"/>
            </a:solidFill>
            <a:prstDash val="solid"/>
            <a:tailEnd type="triangle"/>
          </a:ln>
        </p:spPr>
      </p:sp>
      <p:sp>
        <p:nvSpPr>
          <p:cNvPr id="28" name="text-34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34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34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344"/>
          <p:cNvSpPr/>
          <p:nvPr/>
        </p:nvSpPr>
        <p:spPr>
          <a:xfrm>
            <a:off x="6464808" y="4489704"/>
            <a:ext cx="914" cy="1078992"/>
          </a:xfrm>
          <a:prstGeom prst="line">
            <a:avLst/>
          </a:prstGeom>
          <a:noFill/>
          <a:ln w="28575">
            <a:solidFill>
              <a:schemeClr val="accent4"/>
            </a:solidFill>
            <a:prstDash val="solid"/>
            <a:tailEnd type="triangle"/>
          </a:ln>
        </p:spPr>
      </p:sp>
      <p:sp>
        <p:nvSpPr>
          <p:cNvPr id="32" name="text-34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34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34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34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34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35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35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35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35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35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35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35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35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35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35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36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36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36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36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36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365"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366"/>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the Ice-Proof Wind Farm and the Bifacial Solar Farm.</a:t>
            </a:r>
            <a:endParaRPr lang="en-US" sz="850" dirty="0"/>
          </a:p>
        </p:txBody>
      </p:sp>
      <p:sp>
        <p:nvSpPr>
          <p:cNvPr id="7" name="text-367"/>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350" dirty="0"/>
          </a:p>
        </p:txBody>
      </p:sp>
      <p:sp>
        <p:nvSpPr>
          <p:cNvPr id="8" name="card-368"/>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369"/>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370"/>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371"/>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372"/>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373"/>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374"/>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375"/>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376"/>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377"/>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378"/>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379"/>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24-hour power in the midnight-sun months.</a:t>
            </a:r>
            <a:endParaRPr lang="en-US" sz="950" dirty="0"/>
          </a:p>
        </p:txBody>
      </p:sp>
      <p:sp>
        <p:nvSpPr>
          <p:cNvPr id="20" name="card-380"/>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381"/>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382"/>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383"/>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384"/>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385"/>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386"/>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387"/>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388"/>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389"/>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390"/>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391"/>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92"/>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393"/>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394"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395"/>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Water Recycling Line in the Northern Renewable Park, with the wind farm behind.</a:t>
            </a:r>
            <a:endParaRPr lang="en-US" sz="850" dirty="0"/>
          </a:p>
        </p:txBody>
      </p:sp>
      <p:sp>
        <p:nvSpPr>
          <p:cNvPr id="7" name="text-39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397"/>
          <p:cNvSpPr/>
          <p:nvPr/>
        </p:nvSpPr>
        <p:spPr>
          <a:xfrm>
            <a:off x="1315974" y="6153912"/>
            <a:ext cx="620268" cy="914"/>
          </a:xfrm>
          <a:prstGeom prst="line">
            <a:avLst/>
          </a:prstGeom>
          <a:noFill/>
          <a:ln w="22225">
            <a:solidFill>
              <a:schemeClr val="accent4"/>
            </a:solidFill>
            <a:prstDash val="solid"/>
            <a:tailEnd type="triangle"/>
          </a:ln>
        </p:spPr>
      </p:sp>
      <p:sp>
        <p:nvSpPr>
          <p:cNvPr id="9" name="marker-39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39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40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401"/>
          <p:cNvSpPr/>
          <p:nvPr/>
        </p:nvSpPr>
        <p:spPr>
          <a:xfrm>
            <a:off x="2393442" y="6153912"/>
            <a:ext cx="620268" cy="914"/>
          </a:xfrm>
          <a:prstGeom prst="line">
            <a:avLst/>
          </a:prstGeom>
          <a:noFill/>
          <a:ln w="22225">
            <a:solidFill>
              <a:schemeClr val="accent4"/>
            </a:solidFill>
            <a:prstDash val="solid"/>
            <a:tailEnd type="triangle"/>
          </a:ln>
        </p:spPr>
      </p:sp>
      <p:sp>
        <p:nvSpPr>
          <p:cNvPr id="13" name="marker-40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40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40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405"/>
          <p:cNvSpPr/>
          <p:nvPr/>
        </p:nvSpPr>
        <p:spPr>
          <a:xfrm>
            <a:off x="3470910" y="6153912"/>
            <a:ext cx="620268" cy="914"/>
          </a:xfrm>
          <a:prstGeom prst="line">
            <a:avLst/>
          </a:prstGeom>
          <a:noFill/>
          <a:ln w="22225">
            <a:solidFill>
              <a:schemeClr val="accent4"/>
            </a:solidFill>
            <a:prstDash val="solid"/>
            <a:tailEnd type="triangle"/>
          </a:ln>
        </p:spPr>
      </p:sp>
      <p:sp>
        <p:nvSpPr>
          <p:cNvPr id="17" name="marker-40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40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40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409"/>
          <p:cNvSpPr/>
          <p:nvPr/>
        </p:nvSpPr>
        <p:spPr>
          <a:xfrm>
            <a:off x="4548378" y="6153912"/>
            <a:ext cx="620268" cy="914"/>
          </a:xfrm>
          <a:prstGeom prst="line">
            <a:avLst/>
          </a:prstGeom>
          <a:noFill/>
          <a:ln w="22225">
            <a:solidFill>
              <a:schemeClr val="accent4"/>
            </a:solidFill>
            <a:prstDash val="solid"/>
            <a:tailEnd type="triangle"/>
          </a:ln>
        </p:spPr>
      </p:sp>
      <p:sp>
        <p:nvSpPr>
          <p:cNvPr id="21" name="marker-41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41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41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413"/>
          <p:cNvSpPr/>
          <p:nvPr/>
        </p:nvSpPr>
        <p:spPr>
          <a:xfrm>
            <a:off x="5625846" y="6153912"/>
            <a:ext cx="620268" cy="914"/>
          </a:xfrm>
          <a:prstGeom prst="line">
            <a:avLst/>
          </a:prstGeom>
          <a:noFill/>
          <a:ln w="22225">
            <a:solidFill>
              <a:schemeClr val="accent4"/>
            </a:solidFill>
            <a:prstDash val="solid"/>
            <a:tailEnd type="triangle"/>
          </a:ln>
        </p:spPr>
      </p:sp>
      <p:sp>
        <p:nvSpPr>
          <p:cNvPr id="25" name="marker-41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41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41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41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41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41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420"/>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421"/>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422"/>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423"/>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424"/>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425"/>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426"/>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427"/>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428"/>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429"/>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dot-430"/>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31"/>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432" descr="/home/user/chatbox-bi-n-o/magazine/assets/renders/airport.jpg">    </p:cNvPr>
          <p:cNvPicPr>
            <a:picLocks noChangeAspect="1"/>
          </p:cNvPicPr>
          <p:nvPr/>
        </p:nvPicPr>
        <p:blipFill>
          <a:blip r:embed="rId1"/>
          <a:srcRect l="0" r="0" t="0" b="0"/>
          <a:stretch/>
        </p:blipFill>
        <p:spPr>
          <a:xfrm>
            <a:off x="0" y="1508760"/>
            <a:ext cx="7562088" cy="3291840"/>
          </a:xfrm>
          <a:prstGeom prst="rect">
            <a:avLst/>
          </a:prstGeom>
        </p:spPr>
      </p:pic>
      <p:sp>
        <p:nvSpPr>
          <p:cNvPr id="6" name="text-433"/>
          <p:cNvSpPr txBox="1"/>
          <p:nvPr/>
        </p:nvSpPr>
        <p:spPr>
          <a:xfrm>
            <a:off x="548640" y="484632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the glass terminal, the control tower and Flight VN-81 taking off.</a:t>
            </a:r>
            <a:endParaRPr lang="en-US" sz="850" dirty="0"/>
          </a:p>
        </p:txBody>
      </p:sp>
      <p:sp>
        <p:nvSpPr>
          <p:cNvPr id="7" name="text-434"/>
          <p:cNvSpPr txBox="1"/>
          <p:nvPr/>
        </p:nvSpPr>
        <p:spPr>
          <a:xfrm>
            <a:off x="548640" y="5257800"/>
            <a:ext cx="3611880" cy="32004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trains run underground, so blizzards never stop them.</a:t>
            </a:r>
            <a:endParaRPr lang="en-US" sz="1050" dirty="0"/>
          </a:p>
          <a:p>
            <a:pPr indent="0" marL="0">
              <a:lnSpc>
                <a:spcPct val="112000"/>
              </a:lnSpc>
              <a:spcAft>
                <a:spcPts val="700"/>
              </a:spcAft>
              <a:buNone/>
            </a:pPr>
            <a:r>
              <a:rPr lang="en-US" sz="1050" dirty="0">
                <a:solidFill>
                  <a:schemeClr val="tx1"/>
                </a:solidFill>
              </a:rPr>
              <a:t>On the streets there are electric trams, buses and shared robotaxis, and people wait in heated bus shelters. The roads are warmed from below, so no salt is needed, and an outer ring keeps trucks out of downtown.</a:t>
            </a:r>
            <a:endParaRPr lang="en-US" sz="1050" dirty="0"/>
          </a:p>
          <a:p>
            <a:pPr indent="0" marL="0">
              <a:lnSpc>
                <a:spcPct val="112000"/>
              </a:lnSpc>
              <a:spcAft>
                <a:spcPts val="700"/>
              </a:spcAft>
              <a:buNone/>
            </a:pPr>
            <a:r>
              <a:rPr lang="en-US" sz="1050" dirty="0">
                <a:solidFill>
                  <a:schemeClr val="tx1"/>
                </a:solidFill>
              </a:rPr>
              <a:t>Electric cars charge in the heated bays of the EV &amp; Hover-Car Charging Hub, and the airport, with its heated runway and e-fuel planes, keeps the city supplied through deep winter.</a:t>
            </a:r>
            <a:endParaRPr lang="en-US" sz="1050" dirty="0"/>
          </a:p>
        </p:txBody>
      </p:sp>
      <p:sp>
        <p:nvSpPr>
          <p:cNvPr id="8" name="metro-aurora-line"/>
          <p:cNvSpPr/>
          <p:nvPr/>
        </p:nvSpPr>
        <p:spPr>
          <a:xfrm>
            <a:off x="5769864" y="5349240"/>
            <a:ext cx="0" cy="2651760"/>
          </a:xfrm>
          <a:prstGeom prst="line">
            <a:avLst/>
          </a:prstGeom>
          <a:noFill/>
          <a:ln w="88900">
            <a:solidFill>
              <a:schemeClr val="accent6"/>
            </a:solidFill>
            <a:prstDash val="solid"/>
          </a:ln>
        </p:spPr>
      </p:sp>
      <p:sp>
        <p:nvSpPr>
          <p:cNvPr id="9" name="metro-glacier-line"/>
          <p:cNvSpPr/>
          <p:nvPr/>
        </p:nvSpPr>
        <p:spPr>
          <a:xfrm>
            <a:off x="4526280" y="6675120"/>
            <a:ext cx="2487168" cy="0"/>
          </a:xfrm>
          <a:prstGeom prst="line">
            <a:avLst/>
          </a:prstGeom>
          <a:noFill/>
          <a:ln w="88900">
            <a:solidFill>
              <a:schemeClr val="accent4"/>
            </a:solidFill>
            <a:prstDash val="solid"/>
          </a:ln>
        </p:spPr>
      </p:sp>
      <p:sp>
        <p:nvSpPr>
          <p:cNvPr id="10" name="metro-interchange"/>
          <p:cNvSpPr/>
          <p:nvPr/>
        </p:nvSpPr>
        <p:spPr>
          <a:xfrm>
            <a:off x="5568696" y="6473952"/>
            <a:ext cx="402336" cy="402336"/>
          </a:xfrm>
          <a:prstGeom prst="ellipse">
            <a:avLst/>
          </a:prstGeom>
          <a:solidFill>
            <a:schemeClr val="bg1"/>
          </a:solidFill>
          <a:ln w="38100">
            <a:solidFill>
              <a:schemeClr val="tx1"/>
            </a:solidFill>
            <a:prstDash val="solid"/>
          </a:ln>
        </p:spPr>
      </p:sp>
      <p:sp>
        <p:nvSpPr>
          <p:cNvPr id="11" name="text-435"/>
          <p:cNvSpPr txBox="1"/>
          <p:nvPr/>
        </p:nvSpPr>
        <p:spPr>
          <a:xfrm>
            <a:off x="5897880" y="534924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436"/>
          <p:cNvSpPr txBox="1"/>
          <p:nvPr/>
        </p:nvSpPr>
        <p:spPr>
          <a:xfrm>
            <a:off x="4526280" y="682142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437"/>
          <p:cNvSpPr txBox="1"/>
          <p:nvPr/>
        </p:nvSpPr>
        <p:spPr>
          <a:xfrm>
            <a:off x="6044184" y="610819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text-438"/>
          <p:cNvSpPr txBox="1"/>
          <p:nvPr/>
        </p:nvSpPr>
        <p:spPr>
          <a:xfrm>
            <a:off x="548640"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15" name="text-439"/>
          <p:cNvSpPr txBox="1"/>
          <p:nvPr/>
        </p:nvSpPr>
        <p:spPr>
          <a:xfrm>
            <a:off x="548640"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Line trains at rush hour</a:t>
            </a:r>
            <a:endParaRPr lang="en-US" sz="850" dirty="0"/>
          </a:p>
        </p:txBody>
      </p:sp>
      <p:sp>
        <p:nvSpPr>
          <p:cNvPr id="16" name="text-440"/>
          <p:cNvSpPr txBox="1"/>
          <p:nvPr/>
        </p:nvSpPr>
        <p:spPr>
          <a:xfrm>
            <a:off x="1841602"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4 min</a:t>
            </a:r>
            <a:endParaRPr lang="en-US" sz="2000" dirty="0"/>
          </a:p>
        </p:txBody>
      </p:sp>
      <p:sp>
        <p:nvSpPr>
          <p:cNvPr id="17" name="text-441"/>
          <p:cNvSpPr txBox="1"/>
          <p:nvPr/>
        </p:nvSpPr>
        <p:spPr>
          <a:xfrm>
            <a:off x="1841602"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Glacier Line; every 90 s after big stadium events</a:t>
            </a:r>
            <a:endParaRPr lang="en-US" sz="850" dirty="0"/>
          </a:p>
        </p:txBody>
      </p:sp>
      <p:sp>
        <p:nvSpPr>
          <p:cNvPr id="18" name="text-442"/>
          <p:cNvSpPr txBox="1"/>
          <p:nvPr/>
        </p:nvSpPr>
        <p:spPr>
          <a:xfrm>
            <a:off x="3134563"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19" name="text-443"/>
          <p:cNvSpPr txBox="1"/>
          <p:nvPr/>
        </p:nvSpPr>
        <p:spPr>
          <a:xfrm>
            <a:off x="3134563"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20" name="text-444"/>
          <p:cNvSpPr txBox="1"/>
          <p:nvPr/>
        </p:nvSpPr>
        <p:spPr>
          <a:xfrm>
            <a:off x="4427525"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21" name="text-445"/>
          <p:cNvSpPr txBox="1"/>
          <p:nvPr/>
        </p:nvSpPr>
        <p:spPr>
          <a:xfrm>
            <a:off x="4427525"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2" name="text-446"/>
          <p:cNvSpPr txBox="1"/>
          <p:nvPr/>
        </p:nvSpPr>
        <p:spPr>
          <a:xfrm>
            <a:off x="5720486"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20 km/h</a:t>
            </a:r>
            <a:endParaRPr lang="en-US" sz="2000" dirty="0"/>
          </a:p>
        </p:txBody>
      </p:sp>
      <p:sp>
        <p:nvSpPr>
          <p:cNvPr id="23" name="text-447"/>
          <p:cNvSpPr txBox="1"/>
          <p:nvPr/>
        </p:nvSpPr>
        <p:spPr>
          <a:xfrm>
            <a:off x="5720486"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speed limit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4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4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450" descr="/home/user/chatbox-bi-n-o/magazine/assets/renders/stadium.jpg">    </p:cNvPr>
          <p:cNvPicPr>
            <a:picLocks noChangeAspect="1"/>
          </p:cNvPicPr>
          <p:nvPr/>
        </p:nvPicPr>
        <p:blipFill>
          <a:blip r:embed="rId1"/>
          <a:srcRect l="0" r="0" t="0" b="0"/>
          <a:stretch/>
        </p:blipFill>
        <p:spPr>
          <a:xfrm>
            <a:off x="0" y="1508760"/>
            <a:ext cx="7562088" cy="3566160"/>
          </a:xfrm>
          <a:prstGeom prst="rect">
            <a:avLst/>
          </a:prstGeom>
        </p:spPr>
      </p:pic>
      <p:sp>
        <p:nvSpPr>
          <p:cNvPr id="6" name="text-451"/>
          <p:cNvSpPr txBox="1"/>
          <p:nvPr/>
        </p:nvSpPr>
        <p:spPr>
          <a:xfrm>
            <a:off x="548640" y="5120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Snow Stadium, home of school sports days and the Midwinter Aurora Festival.</a:t>
            </a:r>
            <a:endParaRPr lang="en-US" sz="850" dirty="0"/>
          </a:p>
        </p:txBody>
      </p:sp>
      <p:sp>
        <p:nvSpPr>
          <p:cNvPr id="7" name="kicker-dot-452"/>
          <p:cNvSpPr/>
          <p:nvPr/>
        </p:nvSpPr>
        <p:spPr>
          <a:xfrm>
            <a:off x="548640" y="5618988"/>
            <a:ext cx="100584" cy="100584"/>
          </a:xfrm>
          <a:prstGeom prst="ellipse">
            <a:avLst/>
          </a:prstGeom>
          <a:solidFill>
            <a:schemeClr val="accent6"/>
          </a:solidFill>
          <a:ln w="12700">
            <a:solidFill>
              <a:schemeClr val="accent6"/>
            </a:solidFill>
            <a:prstDash val="solid"/>
          </a:ln>
        </p:spPr>
      </p:sp>
      <p:sp>
        <p:nvSpPr>
          <p:cNvPr id="8" name="text-453"/>
          <p:cNvSpPr txBox="1"/>
          <p:nvPr/>
        </p:nvSpPr>
        <p:spPr>
          <a:xfrm>
            <a:off x="731520"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454"/>
          <p:cNvSpPr txBox="1"/>
          <p:nvPr/>
        </p:nvSpPr>
        <p:spPr>
          <a:xfrm>
            <a:off x="548640"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Family houses in Snowpine Residences, the western eco-homes, towers such as the Aurora 81 Residences and Ice Crystal Apartments, co-living, student and senior housing.</a:t>
            </a:r>
            <a:endParaRPr lang="en-US" sz="1050" dirty="0"/>
          </a:p>
        </p:txBody>
      </p:sp>
      <p:sp>
        <p:nvSpPr>
          <p:cNvPr id="10" name="kicker-dot-455"/>
          <p:cNvSpPr/>
          <p:nvPr/>
        </p:nvSpPr>
        <p:spPr>
          <a:xfrm>
            <a:off x="3918204" y="5618988"/>
            <a:ext cx="100584" cy="100584"/>
          </a:xfrm>
          <a:prstGeom prst="ellipse">
            <a:avLst/>
          </a:prstGeom>
          <a:solidFill>
            <a:schemeClr val="accent6"/>
          </a:solidFill>
          <a:ln w="12700">
            <a:solidFill>
              <a:schemeClr val="accent6"/>
            </a:solidFill>
            <a:prstDash val="solid"/>
          </a:ln>
        </p:spPr>
      </p:sp>
      <p:sp>
        <p:nvSpPr>
          <p:cNvPr id="11" name="text-456"/>
          <p:cNvSpPr txBox="1"/>
          <p:nvPr/>
        </p:nvSpPr>
        <p:spPr>
          <a:xfrm>
            <a:off x="4101084"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457"/>
          <p:cNvSpPr txBox="1"/>
          <p:nvPr/>
        </p:nvSpPr>
        <p:spPr>
          <a:xfrm>
            <a:off x="3918204"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Three kindergartens, Snow Lantern Primary School, the Northern Lights School for ages 6 to 18, and Arctic University.</a:t>
            </a:r>
            <a:endParaRPr lang="en-US" sz="1050" dirty="0"/>
          </a:p>
        </p:txBody>
      </p:sp>
      <p:sp>
        <p:nvSpPr>
          <p:cNvPr id="13" name="kicker-dot-458"/>
          <p:cNvSpPr/>
          <p:nvPr/>
        </p:nvSpPr>
        <p:spPr>
          <a:xfrm>
            <a:off x="548640" y="6853428"/>
            <a:ext cx="100584" cy="100584"/>
          </a:xfrm>
          <a:prstGeom prst="ellipse">
            <a:avLst/>
          </a:prstGeom>
          <a:solidFill>
            <a:schemeClr val="accent6"/>
          </a:solidFill>
          <a:ln w="12700">
            <a:solidFill>
              <a:schemeClr val="accent6"/>
            </a:solidFill>
            <a:prstDash val="solid"/>
          </a:ln>
        </p:spPr>
      </p:sp>
      <p:sp>
        <p:nvSpPr>
          <p:cNvPr id="14" name="text-459"/>
          <p:cNvSpPr txBox="1"/>
          <p:nvPr/>
        </p:nvSpPr>
        <p:spPr>
          <a:xfrm>
            <a:off x="731520"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460"/>
          <p:cNvSpPr txBox="1"/>
          <p:nvPr/>
        </p:nvSpPr>
        <p:spPr>
          <a:xfrm>
            <a:off x="548640"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Snowflake General Hospital with about 250 beds and a 24-hour emergency department, a campus clinic and a 24-hour pharmacy.</a:t>
            </a:r>
            <a:endParaRPr lang="en-US" sz="1050" dirty="0"/>
          </a:p>
        </p:txBody>
      </p:sp>
      <p:sp>
        <p:nvSpPr>
          <p:cNvPr id="16" name="kicker-dot-461"/>
          <p:cNvSpPr/>
          <p:nvPr/>
        </p:nvSpPr>
        <p:spPr>
          <a:xfrm>
            <a:off x="3918204" y="6853428"/>
            <a:ext cx="100584" cy="100584"/>
          </a:xfrm>
          <a:prstGeom prst="ellipse">
            <a:avLst/>
          </a:prstGeom>
          <a:solidFill>
            <a:schemeClr val="accent6"/>
          </a:solidFill>
          <a:ln w="12700">
            <a:solidFill>
              <a:schemeClr val="accent6"/>
            </a:solidFill>
            <a:prstDash val="solid"/>
          </a:ln>
        </p:spPr>
      </p:sp>
      <p:sp>
        <p:nvSpPr>
          <p:cNvPr id="17" name="text-462"/>
          <p:cNvSpPr txBox="1"/>
          <p:nvPr/>
        </p:nvSpPr>
        <p:spPr>
          <a:xfrm>
            <a:off x="4101084"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463"/>
          <p:cNvSpPr txBox="1"/>
          <p:nvPr/>
        </p:nvSpPr>
        <p:spPr>
          <a:xfrm>
            <a:off x="3918204"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Igloo Fresh Supermarket, Tundra Grocery, the night and fish markets and the Aurora Glacier Mall with its indoor atrium park.</a:t>
            </a:r>
            <a:endParaRPr lang="en-US" sz="1050" dirty="0"/>
          </a:p>
        </p:txBody>
      </p:sp>
      <p:sp>
        <p:nvSpPr>
          <p:cNvPr id="19" name="kicker-dot-464"/>
          <p:cNvSpPr/>
          <p:nvPr/>
        </p:nvSpPr>
        <p:spPr>
          <a:xfrm>
            <a:off x="548640" y="8087868"/>
            <a:ext cx="100584" cy="100584"/>
          </a:xfrm>
          <a:prstGeom prst="ellipse">
            <a:avLst/>
          </a:prstGeom>
          <a:solidFill>
            <a:schemeClr val="accent6"/>
          </a:solidFill>
          <a:ln w="12700">
            <a:solidFill>
              <a:schemeClr val="accent6"/>
            </a:solidFill>
            <a:prstDash val="solid"/>
          </a:ln>
        </p:spPr>
      </p:sp>
      <p:sp>
        <p:nvSpPr>
          <p:cNvPr id="20" name="text-465"/>
          <p:cNvSpPr txBox="1"/>
          <p:nvPr/>
        </p:nvSpPr>
        <p:spPr>
          <a:xfrm>
            <a:off x="731520" y="8046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466"/>
          <p:cNvSpPr txBox="1"/>
          <p:nvPr/>
        </p:nvSpPr>
        <p:spPr>
          <a:xfrm>
            <a:off x="548640" y="832104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Aurora Cinema, a music hall, a library open 24 hours in the polar night, the Snow Stadium and parks with heated benches.</a:t>
            </a:r>
            <a:endParaRPr lang="en-US" sz="1050" dirty="0"/>
          </a:p>
        </p:txBody>
      </p:sp>
      <p:sp>
        <p:nvSpPr>
          <p:cNvPr id="22" name="text-467"/>
          <p:cNvSpPr txBox="1"/>
          <p:nvPr/>
        </p:nvSpPr>
        <p:spPr>
          <a:xfrm>
            <a:off x="3918204"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250</a:t>
            </a:r>
            <a:endParaRPr lang="en-US" sz="2200" dirty="0"/>
          </a:p>
        </p:txBody>
      </p:sp>
      <p:sp>
        <p:nvSpPr>
          <p:cNvPr id="23" name="text-468"/>
          <p:cNvSpPr txBox="1"/>
          <p:nvPr/>
        </p:nvSpPr>
        <p:spPr>
          <a:xfrm>
            <a:off x="3918204"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hospital beds</a:t>
            </a:r>
            <a:endParaRPr lang="en-US" sz="900" dirty="0"/>
          </a:p>
        </p:txBody>
      </p:sp>
      <p:sp>
        <p:nvSpPr>
          <p:cNvPr id="24" name="text-469"/>
          <p:cNvSpPr txBox="1"/>
          <p:nvPr/>
        </p:nvSpPr>
        <p:spPr>
          <a:xfrm>
            <a:off x="5465826"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900</a:t>
            </a:r>
            <a:endParaRPr lang="en-US" sz="2200" dirty="0"/>
          </a:p>
        </p:txBody>
      </p:sp>
      <p:sp>
        <p:nvSpPr>
          <p:cNvPr id="25" name="text-470"/>
          <p:cNvSpPr txBox="1"/>
          <p:nvPr/>
        </p:nvSpPr>
        <p:spPr>
          <a:xfrm>
            <a:off x="5465826"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pupils at Northern Lights School</a:t>
            </a:r>
            <a:endParaRPr lang="en-US" sz="900" dirty="0"/>
          </a:p>
        </p:txBody>
      </p:sp>
      <p:sp>
        <p:nvSpPr>
          <p:cNvPr id="26" name="text-471"/>
          <p:cNvSpPr txBox="1"/>
          <p:nvPr/>
        </p:nvSpPr>
        <p:spPr>
          <a:xfrm>
            <a:off x="3918204"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5,000</a:t>
            </a:r>
            <a:endParaRPr lang="en-US" sz="2200" dirty="0"/>
          </a:p>
        </p:txBody>
      </p:sp>
      <p:sp>
        <p:nvSpPr>
          <p:cNvPr id="27" name="text-472"/>
          <p:cNvSpPr txBox="1"/>
          <p:nvPr/>
        </p:nvSpPr>
        <p:spPr>
          <a:xfrm>
            <a:off x="3918204"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students at Arctic University</a:t>
            </a:r>
            <a:endParaRPr lang="en-US" sz="900" dirty="0"/>
          </a:p>
        </p:txBody>
      </p:sp>
      <p:sp>
        <p:nvSpPr>
          <p:cNvPr id="28" name="text-473"/>
          <p:cNvSpPr txBox="1"/>
          <p:nvPr/>
        </p:nvSpPr>
        <p:spPr>
          <a:xfrm>
            <a:off x="5465826"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8,000</a:t>
            </a:r>
            <a:endParaRPr lang="en-US" sz="2200" dirty="0"/>
          </a:p>
        </p:txBody>
      </p:sp>
      <p:sp>
        <p:nvSpPr>
          <p:cNvPr id="29" name="text-474"/>
          <p:cNvSpPr txBox="1"/>
          <p:nvPr/>
        </p:nvSpPr>
        <p:spPr>
          <a:xfrm>
            <a:off x="5465826"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seats in the Snow Stadium</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dot-475"/>
          <p:cNvSpPr/>
          <p:nvPr/>
        </p:nvSpPr>
        <p:spPr>
          <a:xfrm>
            <a:off x="548640" y="516636"/>
            <a:ext cx="100584" cy="100584"/>
          </a:xfrm>
          <a:prstGeom prst="ellipse">
            <a:avLst/>
          </a:prstGeom>
          <a:solidFill>
            <a:schemeClr val="accent2"/>
          </a:solidFill>
          <a:ln w="12700">
            <a:solidFill>
              <a:schemeClr val="accent2"/>
            </a:solidFill>
            <a:prstDash val="solid"/>
          </a:ln>
        </p:spPr>
      </p:sp>
      <p:sp>
        <p:nvSpPr>
          <p:cNvPr id="3" name="text-4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47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47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a:t>
            </a:r>
            <a:endParaRPr lang="en-US" sz="850" dirty="0"/>
          </a:p>
        </p:txBody>
      </p:sp>
      <p:sp>
        <p:nvSpPr>
          <p:cNvPr id="7" name="text-47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48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48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48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48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48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48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48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48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48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48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49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49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49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49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9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Take the Tour: Eight Stops in 3D</a:t>
            </a:r>
            <a:endParaRPr lang="en-US" sz="3400" dirty="0"/>
          </a:p>
        </p:txBody>
      </p:sp>
      <p:sp>
        <p:nvSpPr>
          <p:cNvPr id="5" name="text-49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Open the city file in Eco-Polis 3D Builder and click Full Screen. The app locks into View mode, so nothing can move by accident. Then click each place to open its card.</a:t>
            </a:r>
            <a:endParaRPr lang="en-US" sz="135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49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49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49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49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50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50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50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50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50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50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50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50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Power Station – Stage 3] 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50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50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51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[Snow-to-Food &amp; Water Plant – Stage 1] 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51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51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51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Ama Dablam-Style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51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51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51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[Northern Renewable Park] 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51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51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51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52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52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sp>
        <p:nvSpPr>
          <p:cNvPr id="33" name="kicker-dot-522"/>
          <p:cNvSpPr/>
          <p:nvPr/>
        </p:nvSpPr>
        <p:spPr>
          <a:xfrm>
            <a:off x="4965192" y="2647188"/>
            <a:ext cx="100584" cy="100584"/>
          </a:xfrm>
          <a:prstGeom prst="ellipse">
            <a:avLst/>
          </a:prstGeom>
          <a:solidFill>
            <a:schemeClr val="accent6"/>
          </a:solidFill>
          <a:ln w="12700">
            <a:solidFill>
              <a:schemeClr val="accent6"/>
            </a:solidFill>
            <a:prstDash val="solid"/>
          </a:ln>
        </p:spPr>
      </p:sp>
      <p:sp>
        <p:nvSpPr>
          <p:cNvPr id="34" name="text-523"/>
          <p:cNvSpPr txBox="1"/>
          <p:nvPr/>
        </p:nvSpPr>
        <p:spPr>
          <a:xfrm>
            <a:off x="5148072" y="26060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5" name="text-524"/>
          <p:cNvSpPr txBox="1"/>
          <p:nvPr/>
        </p:nvSpPr>
        <p:spPr>
          <a:xfrm>
            <a:off x="4965192" y="29260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3,700</a:t>
            </a:r>
            <a:endParaRPr lang="en-US" sz="2200" dirty="0"/>
          </a:p>
        </p:txBody>
      </p:sp>
      <p:sp>
        <p:nvSpPr>
          <p:cNvPr id="36" name="text-525"/>
          <p:cNvSpPr txBox="1"/>
          <p:nvPr/>
        </p:nvSpPr>
        <p:spPr>
          <a:xfrm>
            <a:off x="4965192" y="330606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3D items arranged to one scale</a:t>
            </a:r>
            <a:endParaRPr lang="en-US" sz="900" dirty="0"/>
          </a:p>
        </p:txBody>
      </p:sp>
      <p:sp>
        <p:nvSpPr>
          <p:cNvPr id="37" name="text-526"/>
          <p:cNvSpPr txBox="1"/>
          <p:nvPr/>
        </p:nvSpPr>
        <p:spPr>
          <a:xfrm>
            <a:off x="4965192" y="38862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241</a:t>
            </a:r>
            <a:endParaRPr lang="en-US" sz="2200" dirty="0"/>
          </a:p>
        </p:txBody>
      </p:sp>
      <p:sp>
        <p:nvSpPr>
          <p:cNvPr id="38" name="text-527"/>
          <p:cNvSpPr txBox="1"/>
          <p:nvPr/>
        </p:nvSpPr>
        <p:spPr>
          <a:xfrm>
            <a:off x="4965192" y="426618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named places, each with a Name, Purpose and Special Features card</a:t>
            </a:r>
            <a:endParaRPr lang="en-US" sz="900" dirty="0"/>
          </a:p>
        </p:txBody>
      </p:sp>
      <p:sp>
        <p:nvSpPr>
          <p:cNvPr id="39" name="text-528"/>
          <p:cNvSpPr txBox="1"/>
          <p:nvPr/>
        </p:nvSpPr>
        <p:spPr>
          <a:xfrm>
            <a:off x="4965192" y="48463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0" name="text-529"/>
          <p:cNvSpPr txBox="1"/>
          <p:nvPr/>
        </p:nvSpPr>
        <p:spPr>
          <a:xfrm>
            <a:off x="4965192" y="522630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grid unit on every plan</a:t>
            </a:r>
            <a:endParaRPr lang="en-US" sz="900" dirty="0"/>
          </a:p>
        </p:txBody>
      </p:sp>
      <p:sp>
        <p:nvSpPr>
          <p:cNvPr id="41" name="text-530"/>
          <p:cNvSpPr txBox="1"/>
          <p:nvPr/>
        </p:nvSpPr>
        <p:spPr>
          <a:xfrm>
            <a:off x="4965192" y="5897880"/>
            <a:ext cx="1883664" cy="201168"/>
          </a:xfrm>
          <a:prstGeom prst="rect">
            <a:avLst/>
          </a:prstGeom>
          <a:noFill/>
          <a:ln/>
        </p:spPr>
        <p:txBody>
          <a:bodyPr wrap="square" lIns="0" tIns="0" rIns="0" bIns="0" rtlCol="0" anchor="t"/>
          <a:lstStyle/>
          <a:p>
            <a:pPr indent="0" marL="0">
              <a:buNone/>
            </a:pPr>
            <a:r>
              <a:rPr lang="en-US" sz="850" b="1" spc="200" kern="0" dirty="0">
                <a:solidFill>
                  <a:schemeClr val="tx2"/>
                </a:solidFill>
              </a:rPr>
              <a:t>MEETING THE BRIEF</a:t>
            </a:r>
            <a:endParaRPr lang="en-US" sz="850" dirty="0"/>
          </a:p>
        </p:txBody>
      </p:sp>
      <p:sp>
        <p:nvSpPr>
          <p:cNvPr id="42" name="marker-531"/>
          <p:cNvSpPr/>
          <p:nvPr/>
        </p:nvSpPr>
        <p:spPr>
          <a:xfrm>
            <a:off x="4965192" y="6217920"/>
            <a:ext cx="274320" cy="274320"/>
          </a:xfrm>
          <a:prstGeom prst="ellipse">
            <a:avLst/>
          </a:prstGeom>
          <a:solidFill>
            <a:schemeClr val="tx1"/>
          </a:solidFill>
          <a:ln w="12700">
            <a:solidFill>
              <a:schemeClr val="tx1"/>
            </a:solidFill>
            <a:prstDash val="solid"/>
          </a:ln>
        </p:spPr>
      </p:sp>
      <p:sp>
        <p:nvSpPr>
          <p:cNvPr id="43" name="text-532"/>
          <p:cNvSpPr txBox="1"/>
          <p:nvPr/>
        </p:nvSpPr>
        <p:spPr>
          <a:xfrm>
            <a:off x="4965192" y="62179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1</a:t>
            </a:r>
            <a:endParaRPr lang="en-US" sz="1000" dirty="0"/>
          </a:p>
        </p:txBody>
      </p:sp>
      <p:sp>
        <p:nvSpPr>
          <p:cNvPr id="44" name="text-533"/>
          <p:cNvSpPr txBox="1"/>
          <p:nvPr/>
        </p:nvSpPr>
        <p:spPr>
          <a:xfrm>
            <a:off x="5349240" y="6199632"/>
            <a:ext cx="1527048" cy="201168"/>
          </a:xfrm>
          <a:prstGeom prst="rect">
            <a:avLst/>
          </a:prstGeom>
          <a:noFill/>
          <a:ln/>
        </p:spPr>
        <p:txBody>
          <a:bodyPr wrap="square" lIns="0" tIns="0" rIns="0" bIns="0" rtlCol="0" anchor="t"/>
          <a:lstStyle/>
          <a:p>
            <a:pPr indent="0" marL="0">
              <a:buNone/>
            </a:pPr>
            <a:r>
              <a:rPr lang="en-US" sz="950" b="1" dirty="0">
                <a:solidFill>
                  <a:schemeClr val="tx1"/>
                </a:solidFill>
              </a:rPr>
              <a:t>Smart design</a:t>
            </a:r>
            <a:endParaRPr lang="en-US" sz="950" dirty="0"/>
          </a:p>
        </p:txBody>
      </p:sp>
      <p:sp>
        <p:nvSpPr>
          <p:cNvPr id="45" name="text-534"/>
          <p:cNvSpPr txBox="1"/>
          <p:nvPr/>
        </p:nvSpPr>
        <p:spPr>
          <a:xfrm>
            <a:off x="5349240" y="6400800"/>
            <a:ext cx="1527048" cy="457200"/>
          </a:xfrm>
          <a:prstGeom prst="rect">
            <a:avLst/>
          </a:prstGeom>
          <a:noFill/>
          <a:ln/>
        </p:spPr>
        <p:txBody>
          <a:bodyPr wrap="square" lIns="0" tIns="0" rIns="0" bIns="0" rtlCol="0" anchor="t"/>
          <a:lstStyle/>
          <a:p>
            <a:pPr indent="0" marL="0">
              <a:buNone/>
            </a:pPr>
            <a:r>
              <a:rPr lang="en-US" sz="850" dirty="0">
                <a:solidFill>
                  <a:schemeClr val="tx2"/>
                </a:solidFill>
              </a:rPr>
              <a:t>polar answers to cold, darkness, wind and permafrost</a:t>
            </a:r>
            <a:endParaRPr lang="en-US" sz="850" dirty="0"/>
          </a:p>
        </p:txBody>
      </p:sp>
      <p:sp>
        <p:nvSpPr>
          <p:cNvPr id="46" name="marker-535"/>
          <p:cNvSpPr/>
          <p:nvPr/>
        </p:nvSpPr>
        <p:spPr>
          <a:xfrm>
            <a:off x="4965192" y="6931152"/>
            <a:ext cx="274320" cy="274320"/>
          </a:xfrm>
          <a:prstGeom prst="ellipse">
            <a:avLst/>
          </a:prstGeom>
          <a:solidFill>
            <a:schemeClr val="tx1"/>
          </a:solidFill>
          <a:ln w="12700">
            <a:solidFill>
              <a:schemeClr val="tx1"/>
            </a:solidFill>
            <a:prstDash val="solid"/>
          </a:ln>
        </p:spPr>
      </p:sp>
      <p:sp>
        <p:nvSpPr>
          <p:cNvPr id="47" name="text-536"/>
          <p:cNvSpPr txBox="1"/>
          <p:nvPr/>
        </p:nvSpPr>
        <p:spPr>
          <a:xfrm>
            <a:off x="4965192" y="69311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2</a:t>
            </a:r>
            <a:endParaRPr lang="en-US" sz="1000" dirty="0"/>
          </a:p>
        </p:txBody>
      </p:sp>
      <p:sp>
        <p:nvSpPr>
          <p:cNvPr id="48" name="text-537"/>
          <p:cNvSpPr txBox="1"/>
          <p:nvPr/>
        </p:nvSpPr>
        <p:spPr>
          <a:xfrm>
            <a:off x="5349240" y="6912864"/>
            <a:ext cx="1527048" cy="201168"/>
          </a:xfrm>
          <a:prstGeom prst="rect">
            <a:avLst/>
          </a:prstGeom>
          <a:noFill/>
          <a:ln/>
        </p:spPr>
        <p:txBody>
          <a:bodyPr wrap="square" lIns="0" tIns="0" rIns="0" bIns="0" rtlCol="0" anchor="t"/>
          <a:lstStyle/>
          <a:p>
            <a:pPr indent="0" marL="0">
              <a:buNone/>
            </a:pPr>
            <a:r>
              <a:rPr lang="en-US" sz="950" b="1" dirty="0">
                <a:solidFill>
                  <a:schemeClr val="tx1"/>
                </a:solidFill>
              </a:rPr>
              <a:t>Sustainability</a:t>
            </a:r>
            <a:endParaRPr lang="en-US" sz="950" dirty="0"/>
          </a:p>
        </p:txBody>
      </p:sp>
      <p:sp>
        <p:nvSpPr>
          <p:cNvPr id="49" name="text-538"/>
          <p:cNvSpPr txBox="1"/>
          <p:nvPr/>
        </p:nvSpPr>
        <p:spPr>
          <a:xfrm>
            <a:off x="5349240" y="7114032"/>
            <a:ext cx="1527048" cy="457200"/>
          </a:xfrm>
          <a:prstGeom prst="rect">
            <a:avLst/>
          </a:prstGeom>
          <a:noFill/>
          <a:ln/>
        </p:spPr>
        <p:txBody>
          <a:bodyPr wrap="square" lIns="0" tIns="0" rIns="0" bIns="0" rtlCol="0" anchor="t"/>
          <a:lstStyle/>
          <a:p>
            <a:pPr indent="0" marL="0">
              <a:buNone/>
            </a:pPr>
            <a:r>
              <a:rPr lang="en-US" sz="850" dirty="0">
                <a:solidFill>
                  <a:schemeClr val="tx2"/>
                </a:solidFill>
              </a:rPr>
              <a:t>clean energy, closed loops, green spaces, electric transport</a:t>
            </a:r>
            <a:endParaRPr lang="en-US" sz="850" dirty="0"/>
          </a:p>
        </p:txBody>
      </p:sp>
      <p:sp>
        <p:nvSpPr>
          <p:cNvPr id="50" name="marker-539"/>
          <p:cNvSpPr/>
          <p:nvPr/>
        </p:nvSpPr>
        <p:spPr>
          <a:xfrm>
            <a:off x="4965192" y="7644384"/>
            <a:ext cx="274320" cy="274320"/>
          </a:xfrm>
          <a:prstGeom prst="ellipse">
            <a:avLst/>
          </a:prstGeom>
          <a:solidFill>
            <a:schemeClr val="tx1"/>
          </a:solidFill>
          <a:ln w="12700">
            <a:solidFill>
              <a:schemeClr val="tx1"/>
            </a:solidFill>
            <a:prstDash val="solid"/>
          </a:ln>
        </p:spPr>
      </p:sp>
      <p:sp>
        <p:nvSpPr>
          <p:cNvPr id="51" name="text-540"/>
          <p:cNvSpPr txBox="1"/>
          <p:nvPr/>
        </p:nvSpPr>
        <p:spPr>
          <a:xfrm>
            <a:off x="4965192" y="7644384"/>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3</a:t>
            </a:r>
            <a:endParaRPr lang="en-US" sz="1000" dirty="0"/>
          </a:p>
        </p:txBody>
      </p:sp>
      <p:sp>
        <p:nvSpPr>
          <p:cNvPr id="52" name="text-541"/>
          <p:cNvSpPr txBox="1"/>
          <p:nvPr/>
        </p:nvSpPr>
        <p:spPr>
          <a:xfrm>
            <a:off x="5349240" y="7626096"/>
            <a:ext cx="1527048" cy="201168"/>
          </a:xfrm>
          <a:prstGeom prst="rect">
            <a:avLst/>
          </a:prstGeom>
          <a:noFill/>
          <a:ln/>
        </p:spPr>
        <p:txBody>
          <a:bodyPr wrap="square" lIns="0" tIns="0" rIns="0" bIns="0" rtlCol="0" anchor="t"/>
          <a:lstStyle/>
          <a:p>
            <a:pPr indent="0" marL="0">
              <a:buNone/>
            </a:pPr>
            <a:r>
              <a:rPr lang="en-US" sz="950" b="1" dirty="0">
                <a:solidFill>
                  <a:schemeClr val="tx1"/>
                </a:solidFill>
              </a:rPr>
              <a:t>Livability</a:t>
            </a:r>
            <a:endParaRPr lang="en-US" sz="950" dirty="0"/>
          </a:p>
        </p:txBody>
      </p:sp>
      <p:sp>
        <p:nvSpPr>
          <p:cNvPr id="53" name="text-542"/>
          <p:cNvSpPr txBox="1"/>
          <p:nvPr/>
        </p:nvSpPr>
        <p:spPr>
          <a:xfrm>
            <a:off x="5349240" y="7827264"/>
            <a:ext cx="1527048" cy="457200"/>
          </a:xfrm>
          <a:prstGeom prst="rect">
            <a:avLst/>
          </a:prstGeom>
          <a:noFill/>
          <a:ln/>
        </p:spPr>
        <p:txBody>
          <a:bodyPr wrap="square" lIns="0" tIns="0" rIns="0" bIns="0" rtlCol="0" anchor="t"/>
          <a:lstStyle/>
          <a:p>
            <a:pPr indent="0" marL="0">
              <a:buNone/>
            </a:pPr>
            <a:r>
              <a:rPr lang="en-US" sz="850" dirty="0">
                <a:solidFill>
                  <a:schemeClr val="tx2"/>
                </a:solidFill>
              </a:rPr>
              <a:t>homes, schools, hospital, shops, parks, cinema, roads</a:t>
            </a:r>
            <a:endParaRPr lang="en-US" sz="850" dirty="0"/>
          </a:p>
        </p:txBody>
      </p:sp>
      <p:sp>
        <p:nvSpPr>
          <p:cNvPr id="54" name="marker-543"/>
          <p:cNvSpPr/>
          <p:nvPr/>
        </p:nvSpPr>
        <p:spPr>
          <a:xfrm>
            <a:off x="4965192" y="8357616"/>
            <a:ext cx="274320" cy="274320"/>
          </a:xfrm>
          <a:prstGeom prst="ellipse">
            <a:avLst/>
          </a:prstGeom>
          <a:solidFill>
            <a:schemeClr val="tx1"/>
          </a:solidFill>
          <a:ln w="12700">
            <a:solidFill>
              <a:schemeClr val="tx1"/>
            </a:solidFill>
            <a:prstDash val="solid"/>
          </a:ln>
        </p:spPr>
      </p:sp>
      <p:sp>
        <p:nvSpPr>
          <p:cNvPr id="55" name="text-544"/>
          <p:cNvSpPr txBox="1"/>
          <p:nvPr/>
        </p:nvSpPr>
        <p:spPr>
          <a:xfrm>
            <a:off x="4965192" y="8357616"/>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4</a:t>
            </a:r>
            <a:endParaRPr lang="en-US" sz="1000" dirty="0"/>
          </a:p>
        </p:txBody>
      </p:sp>
      <p:sp>
        <p:nvSpPr>
          <p:cNvPr id="56" name="text-545"/>
          <p:cNvSpPr txBox="1"/>
          <p:nvPr/>
        </p:nvSpPr>
        <p:spPr>
          <a:xfrm>
            <a:off x="5349240" y="8339328"/>
            <a:ext cx="1527048" cy="201168"/>
          </a:xfrm>
          <a:prstGeom prst="rect">
            <a:avLst/>
          </a:prstGeom>
          <a:noFill/>
          <a:ln/>
        </p:spPr>
        <p:txBody>
          <a:bodyPr wrap="square" lIns="0" tIns="0" rIns="0" bIns="0" rtlCol="0" anchor="t"/>
          <a:lstStyle/>
          <a:p>
            <a:pPr indent="0" marL="0">
              <a:buNone/>
            </a:pPr>
            <a:r>
              <a:rPr lang="en-US" sz="950" b="1" dirty="0">
                <a:solidFill>
                  <a:schemeClr val="tx1"/>
                </a:solidFill>
              </a:rPr>
              <a:t>Detail</a:t>
            </a:r>
            <a:endParaRPr lang="en-US" sz="950" dirty="0"/>
          </a:p>
        </p:txBody>
      </p:sp>
      <p:sp>
        <p:nvSpPr>
          <p:cNvPr id="57" name="text-546"/>
          <p:cNvSpPr txBox="1"/>
          <p:nvPr/>
        </p:nvSpPr>
        <p:spPr>
          <a:xfrm>
            <a:off x="5349240" y="8540496"/>
            <a:ext cx="1527048" cy="457200"/>
          </a:xfrm>
          <a:prstGeom prst="rect">
            <a:avLst/>
          </a:prstGeom>
          <a:noFill/>
          <a:ln/>
        </p:spPr>
        <p:txBody>
          <a:bodyPr wrap="square" lIns="0" tIns="0" rIns="0" bIns="0" rtlCol="0" anchor="t"/>
          <a:lstStyle/>
          <a:p>
            <a:pPr indent="0" marL="0">
              <a:buNone/>
            </a:pPr>
            <a:r>
              <a:rPr lang="en-US" sz="850" dirty="0">
                <a:solidFill>
                  <a:schemeClr val="tx2"/>
                </a:solidFill>
              </a:rPr>
              <a:t>241 places annotated</a:t>
            </a:r>
            <a:endParaRPr lang="en-US" sz="850" dirty="0"/>
          </a:p>
        </p:txBody>
      </p:sp>
      <p:sp>
        <p:nvSpPr>
          <p:cNvPr id="58" name="marker-547"/>
          <p:cNvSpPr/>
          <p:nvPr/>
        </p:nvSpPr>
        <p:spPr>
          <a:xfrm>
            <a:off x="4965192" y="9070848"/>
            <a:ext cx="274320" cy="274320"/>
          </a:xfrm>
          <a:prstGeom prst="ellipse">
            <a:avLst/>
          </a:prstGeom>
          <a:solidFill>
            <a:schemeClr val="tx1"/>
          </a:solidFill>
          <a:ln w="12700">
            <a:solidFill>
              <a:schemeClr val="tx1"/>
            </a:solidFill>
            <a:prstDash val="solid"/>
          </a:ln>
        </p:spPr>
      </p:sp>
      <p:sp>
        <p:nvSpPr>
          <p:cNvPr id="59" name="text-548"/>
          <p:cNvSpPr txBox="1"/>
          <p:nvPr/>
        </p:nvSpPr>
        <p:spPr>
          <a:xfrm>
            <a:off x="4965192" y="9070848"/>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5</a:t>
            </a:r>
            <a:endParaRPr lang="en-US" sz="1000" dirty="0"/>
          </a:p>
        </p:txBody>
      </p:sp>
      <p:sp>
        <p:nvSpPr>
          <p:cNvPr id="60" name="text-549"/>
          <p:cNvSpPr txBox="1"/>
          <p:nvPr/>
        </p:nvSpPr>
        <p:spPr>
          <a:xfrm>
            <a:off x="5349240" y="9052560"/>
            <a:ext cx="1527048" cy="201168"/>
          </a:xfrm>
          <a:prstGeom prst="rect">
            <a:avLst/>
          </a:prstGeom>
          <a:noFill/>
          <a:ln/>
        </p:spPr>
        <p:txBody>
          <a:bodyPr wrap="square" lIns="0" tIns="0" rIns="0" bIns="0" rtlCol="0" anchor="t"/>
          <a:lstStyle/>
          <a:p>
            <a:pPr indent="0" marL="0">
              <a:buNone/>
            </a:pPr>
            <a:r>
              <a:rPr lang="en-US" sz="950" b="1" dirty="0">
                <a:solidFill>
                  <a:schemeClr val="tx1"/>
                </a:solidFill>
              </a:rPr>
              <a:t>Timeline</a:t>
            </a:r>
            <a:endParaRPr lang="en-US" sz="950" dirty="0"/>
          </a:p>
        </p:txBody>
      </p:sp>
      <p:sp>
        <p:nvSpPr>
          <p:cNvPr id="61" name="text-550"/>
          <p:cNvSpPr txBox="1"/>
          <p:nvPr/>
        </p:nvSpPr>
        <p:spPr>
          <a:xfrm>
            <a:off x="5349240" y="9253728"/>
            <a:ext cx="1527048" cy="457200"/>
          </a:xfrm>
          <a:prstGeom prst="rect">
            <a:avLst/>
          </a:prstGeom>
          <a:noFill/>
          <a:ln/>
        </p:spPr>
        <p:txBody>
          <a:bodyPr wrap="square" lIns="0" tIns="0" rIns="0" bIns="0" rtlCol="0" anchor="t"/>
          <a:lstStyle/>
          <a:p>
            <a:pPr indent="0" marL="0">
              <a:buNone/>
            </a:pPr>
            <a:r>
              <a:rPr lang="en-US" sz="850" dirty="0">
                <a:solidFill>
                  <a:schemeClr val="tx2"/>
                </a:solidFill>
              </a:rPr>
              <a:t>built in rounds; final .json submitted 17 October 2026</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dot-551"/>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2"/>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graphicFrame>
        <p:nvGraphicFramePr>
          <p:cNvPr id="22" name="places-table-553"/>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President Ho Chi Minh Monument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The city’s civic heart on Aurora Roundabout: ceremonies, national holidays and walking tours.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Civic Center &amp; Municipal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Town hall for the city council, ID cards, permits, housing and family services.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Snowflake General Hospital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Main hospital with about 250 beds and a 24-hour emergency department.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Lights School &amp; Botanical Conservatory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and secondary school for about 900 pupils aged 6–18.</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Igloo Fresh Supermarket &amp; Food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Downtown’s main supermarket and food court; about half its food is made in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Cinema &amp; Performing Arts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Cinema and theatre for films, concerts, ballet and school shows.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Underground Metro &amp; Emergency Shelters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 (underground)</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Metro interchange linked to four shelters that last 30 days.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Core – AI Control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Operations centre where an AI digital twin runs traffic, heat, power and alerts.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Haven Police Headquarters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Central police station with a 24-hour police control room.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Arctic University – Main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Lecture halls for about 5,000 students of polar engineering, fusion, food science, medicine and climate.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Public Library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Free library, open 24 hours in the polar night; lends skis, telescopes and light-therapy lamps.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West Market Fire &amp; Ambulance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West Market Street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Downtown fire and ambulance branch that reaches any downtown address in about 4 minutes.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Glacier Mall &amp; Crystal Atrium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Largest downtown mall, with an indoor atrium park of real trees.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 Lantern Primary School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school for about 450 children aged 6–11 from the southern districts.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Pinecone Kindergarten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Snowpine Residences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Kindergarten and day nursery for about 40 children aged 1–6.</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81 – Polar Landmark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Aurora 81 District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Tallest tower and skyline symbol: offices, hotel and sky apartments, net-zero energy.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Garden Park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Foot of Mount Aurora</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Public park with heated benches, a sledging slope and a snow-sculpture trail.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Ama Dablam-Style Snow Peak &amp; Hanging Glacier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35 m landmark peak with the four-level spa inside.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55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 Continued</a:t>
            </a:r>
            <a:endParaRPr lang="en-US" sz="3400" dirty="0"/>
          </a:p>
        </p:txBody>
      </p:sp>
      <p:graphicFrame>
        <p:nvGraphicFramePr>
          <p:cNvPr id="23" name="places-table-556"/>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[Mount Aurora – Level 4] Summit Sanctuary &amp; Aurora Eye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Float pool, meditation circle and the Aurora Eye viewing bubble for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Aurora Lagoon – Outdoor Geothermal Mineral Pool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38 °C open-air silica pool for bathing under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3] Fusion Core – Compact D-T Tokamak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150-million-degree plasma giving about 800 MW of heat; it cannot melt down.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[Fusion Power Station – Stage 4] Power Conversion &amp; Heat Export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Makes about 300 MW of electricity and sends about 450 MW of heat to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5] Plasma Waste Converter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Turns about 20 t of rubbish a day into clean gas, recovered metals and building blocks.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1] Snow Harvest &amp; Melt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Melts about 3,000 t of clean snow a day with spare fusion heat.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[Snow-to-Food &amp; Water Plant – Stage 2] Drinking-Water &amp; Mineral Works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Makes about 2,500 m³ of drinking water a day, all of the city’s tap water.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5] Bioreactor Silos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Six silos where microbes make about 2.5 t of protein flour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Ice-Proof Wind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Two rows of ice-proof turbines making about 60 MW.</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Renewable Park] Bifacial Solar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Double-sided panels that make power 24 hours a day in the midnight-sun months.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Water Recycling Line – 6 Recycled Water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Stores recycled water for toilets, laundries, street cleaning, irrigation and hydrants.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Geothermal Power Plant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Clean electricity and hot water around the clock; the second heat source.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Polar Rescue and Resilience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Fire, ambulance and ice-rescue headquarters, home of the 112 emergency centre.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[Compact Polar Airport] Glass Terminal, Control Tower &amp; Gate 1 Dreamliner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Compact Polar Airport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Passenger and cargo airport; the city’s supply link in deep winter.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Evergreen Greenhouse Dome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Grows fresh vegetables and berries all year under LED light.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Circular Recycling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Sorts, repairs and recycles about 30 t of materials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Stadium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Aurora Snow Stadium</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About 8,000 seats for snow sports, school sports days and the Midwinter Aurora Festival.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5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55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55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56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56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56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56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241</a:t>
            </a:r>
            <a:endParaRPr lang="en-US" sz="2200" dirty="0"/>
          </a:p>
        </p:txBody>
      </p:sp>
      <p:sp>
        <p:nvSpPr>
          <p:cNvPr id="10" name="text-56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named places</a:t>
            </a:r>
            <a:endParaRPr lang="en-US" sz="850" dirty="0"/>
          </a:p>
        </p:txBody>
      </p:sp>
      <p:sp>
        <p:nvSpPr>
          <p:cNvPr id="11" name="text-56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3,700</a:t>
            </a:r>
            <a:endParaRPr lang="en-US" sz="2200" dirty="0"/>
          </a:p>
        </p:txBody>
      </p:sp>
      <p:sp>
        <p:nvSpPr>
          <p:cNvPr id="12" name="text-56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3D items</a:t>
            </a:r>
            <a:endParaRPr lang="en-US" sz="850" dirty="0"/>
          </a:p>
        </p:txBody>
      </p:sp>
      <p:sp>
        <p:nvSpPr>
          <p:cNvPr id="13" name="rule-567"/>
          <p:cNvSpPr/>
          <p:nvPr/>
        </p:nvSpPr>
        <p:spPr>
          <a:xfrm>
            <a:off x="548640" y="2560320"/>
            <a:ext cx="6464808" cy="0"/>
          </a:xfrm>
          <a:prstGeom prst="line">
            <a:avLst/>
          </a:prstGeom>
          <a:noFill/>
          <a:ln w="9525">
            <a:solidFill>
              <a:schemeClr val="tx2"/>
            </a:solidFill>
            <a:prstDash val="solid"/>
          </a:ln>
        </p:spPr>
      </p:sp>
      <p:sp>
        <p:nvSpPr>
          <p:cNvPr id="14" name="kicker-dot-56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56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57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57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57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57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57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57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576"/>
          <p:cNvSpPr/>
          <p:nvPr/>
        </p:nvSpPr>
        <p:spPr>
          <a:xfrm>
            <a:off x="548640" y="3566160"/>
            <a:ext cx="6464808" cy="0"/>
          </a:xfrm>
          <a:prstGeom prst="line">
            <a:avLst/>
          </a:prstGeom>
          <a:noFill/>
          <a:ln w="9525">
            <a:solidFill>
              <a:schemeClr val="tx2"/>
            </a:solidFill>
            <a:prstDash val="solid"/>
          </a:ln>
        </p:spPr>
      </p:sp>
      <p:sp>
        <p:nvSpPr>
          <p:cNvPr id="23" name="kicker-dot-57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57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57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58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58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58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58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58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585"/>
          <p:cNvSpPr/>
          <p:nvPr/>
        </p:nvSpPr>
        <p:spPr>
          <a:xfrm>
            <a:off x="548640" y="4572000"/>
            <a:ext cx="6464808" cy="0"/>
          </a:xfrm>
          <a:prstGeom prst="line">
            <a:avLst/>
          </a:prstGeom>
          <a:noFill/>
          <a:ln w="9525">
            <a:solidFill>
              <a:schemeClr val="tx2"/>
            </a:solidFill>
            <a:prstDash val="solid"/>
          </a:ln>
        </p:spPr>
      </p:sp>
      <p:sp>
        <p:nvSpPr>
          <p:cNvPr id="32" name="kicker-dot-58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58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58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58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59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59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59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59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594"/>
          <p:cNvSpPr/>
          <p:nvPr/>
        </p:nvSpPr>
        <p:spPr>
          <a:xfrm>
            <a:off x="548640" y="5577840"/>
            <a:ext cx="6464808" cy="0"/>
          </a:xfrm>
          <a:prstGeom prst="line">
            <a:avLst/>
          </a:prstGeom>
          <a:noFill/>
          <a:ln w="9525">
            <a:solidFill>
              <a:schemeClr val="tx2"/>
            </a:solidFill>
            <a:prstDash val="solid"/>
          </a:ln>
        </p:spPr>
      </p:sp>
      <p:sp>
        <p:nvSpPr>
          <p:cNvPr id="41" name="kicker-dot-59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59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59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59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59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60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60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60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603"/>
          <p:cNvSpPr/>
          <p:nvPr/>
        </p:nvSpPr>
        <p:spPr>
          <a:xfrm>
            <a:off x="548640" y="6583680"/>
            <a:ext cx="6464808" cy="0"/>
          </a:xfrm>
          <a:prstGeom prst="line">
            <a:avLst/>
          </a:prstGeom>
          <a:noFill/>
          <a:ln w="9525">
            <a:solidFill>
              <a:schemeClr val="tx2"/>
            </a:solidFill>
            <a:prstDash val="solid"/>
          </a:ln>
        </p:spPr>
      </p:sp>
      <p:sp>
        <p:nvSpPr>
          <p:cNvPr id="50" name="kicker-dot-60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60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60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60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60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60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61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61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612"/>
          <p:cNvSpPr/>
          <p:nvPr/>
        </p:nvSpPr>
        <p:spPr>
          <a:xfrm>
            <a:off x="548640" y="7589520"/>
            <a:ext cx="6464808" cy="0"/>
          </a:xfrm>
          <a:prstGeom prst="line">
            <a:avLst/>
          </a:prstGeom>
          <a:noFill/>
          <a:ln w="9525">
            <a:solidFill>
              <a:schemeClr val="tx2"/>
            </a:solidFill>
            <a:prstDash val="solid"/>
          </a:ln>
        </p:spPr>
      </p:sp>
      <p:sp>
        <p:nvSpPr>
          <p:cNvPr id="59" name="kicker-dot-61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61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61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61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61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61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61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62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621"/>
          <p:cNvSpPr/>
          <p:nvPr/>
        </p:nvSpPr>
        <p:spPr>
          <a:xfrm>
            <a:off x="548640" y="8595360"/>
            <a:ext cx="6464808" cy="0"/>
          </a:xfrm>
          <a:prstGeom prst="line">
            <a:avLst/>
          </a:prstGeom>
          <a:noFill/>
          <a:ln w="9525">
            <a:solidFill>
              <a:schemeClr val="tx2"/>
            </a:solidFill>
            <a:prstDash val="solid"/>
          </a:ln>
        </p:spPr>
      </p:sp>
      <p:sp>
        <p:nvSpPr>
          <p:cNvPr id="68" name="kicker-dot-62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62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62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62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62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62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62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62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63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63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63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UNTIL NEXT TIME</a:t>
            </a:r>
            <a:endParaRPr lang="en-US" sz="900" dirty="0"/>
          </a:p>
        </p:txBody>
      </p:sp>
      <p:sp>
        <p:nvSpPr>
          <p:cNvPr id="5" name="text-633"/>
          <p:cNvSpPr txBox="1"/>
          <p:nvPr/>
        </p:nvSpPr>
        <p:spPr>
          <a:xfrm>
            <a:off x="548640" y="777240"/>
            <a:ext cx="6464808" cy="73152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Warm, Green and Ready</a:t>
            </a:r>
            <a:endParaRPr lang="en-US" sz="3800" dirty="0"/>
          </a:p>
        </p:txBody>
      </p:sp>
      <p:sp>
        <p:nvSpPr>
          <p:cNvPr id="6" name="text-634"/>
          <p:cNvSpPr txBox="1"/>
          <p:nvPr/>
        </p:nvSpPr>
        <p:spPr>
          <a:xfrm>
            <a:off x="548640" y="1645920"/>
            <a:ext cx="3017520" cy="23774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12000"/>
              </a:lnSpc>
              <a:buNone/>
            </a:pPr>
            <a:r>
              <a:rPr lang="en-US" sz="1100" dirty="0">
                <a:solidFill>
                  <a:schemeClr val="bg1"/>
                </a:solidFill>
              </a:rPr>
              <a:t>Aurora Haven does not just survive the polar environment; it thrives in it. Heat from fusion and geothermal energy keeps every building warm, and clean energy and closed loops mean no fossil fuel and almost no waste. Most importantly, it is a place where 45,000 people can live, learn, work and watch the northern lights together.</a:t>
            </a:r>
            <a:endParaRPr lang="en-US" sz="1100" dirty="0"/>
          </a:p>
        </p:txBody>
      </p:sp>
      <p:sp>
        <p:nvSpPr>
          <p:cNvPr id="7" name="text-635"/>
          <p:cNvSpPr txBox="1"/>
          <p:nvPr/>
        </p:nvSpPr>
        <p:spPr>
          <a:xfrm>
            <a:off x="548640" y="3200400"/>
            <a:ext cx="2560320" cy="3200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1600" b="1" spc="200" kern="0" dirty="0">
                <a:solidFill>
                  <a:schemeClr val="accent1"/>
                </a:solidFill>
                <a:latin typeface="+mj-lt" pitchFamily="34" charset="0"/>
                <a:ea typeface="+mj-lt" pitchFamily="34" charset="-122"/>
                <a:cs typeface="+mj-lt" pitchFamily="34" charset="-120"/>
              </a:rPr>
              <a:t>AURORA HAVEN</a:t>
            </a:r>
            <a:endParaRPr lang="en-US" sz="1600" dirty="0"/>
          </a:p>
        </p:txBody>
      </p:sp>
      <p:sp>
        <p:nvSpPr>
          <p:cNvPr id="8" name="text-636"/>
          <p:cNvSpPr txBox="1"/>
          <p:nvPr/>
        </p:nvSpPr>
        <p:spPr>
          <a:xfrm>
            <a:off x="548640" y="3538728"/>
            <a:ext cx="2560320" cy="7772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900" dirty="0">
                <a:solidFill>
                  <a:schemeClr val="bg1"/>
                </a:solidFill>
              </a:rPr>
              <a:t>[Group name] · [Member names]</a:t>
            </a:r>
            <a:endParaRPr lang="en-US" sz="900" dirty="0"/>
          </a:p>
          <a:p>
            <a:pPr indent="0" marL="0">
              <a:buNone/>
            </a:pPr>
            <a:r>
              <a:rPr lang="en-US" sz="900" dirty="0">
                <a:solidFill>
                  <a:schemeClr val="bg1"/>
                </a:solidFill>
              </a:rPr>
              <a:t>[Class] · [Date]</a:t>
            </a:r>
            <a:endParaRPr lang="en-US" sz="900" dirty="0"/>
          </a:p>
          <a:p>
            <a:pPr indent="0" marL="0">
              <a:buNone/>
            </a:pPr>
            <a:r>
              <a:rPr lang="en-US" sz="900" dirty="0">
                <a:solidFill>
                  <a:schemeClr val="bg1"/>
                </a:solidFill>
              </a:rPr>
              <a:t>Built in Eco-Polis 3D Builder</a:t>
            </a:r>
            <a:endParaRPr lang="en-US" sz="900" dirty="0"/>
          </a:p>
          <a:p>
            <a:pPr indent="0" marL="0">
              <a:buNone/>
            </a:pPr>
            <a:r>
              <a:rPr lang="en-US" sz="900" dirty="0">
                <a:solidFill>
                  <a:schemeClr val="bg1"/>
                </a:solidFill>
              </a:rPr>
              <a:t>Polar / Ice City</a:t>
            </a:r>
            <a:endParaRPr lang="en-US" sz="90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2026-10-22T16:00:35Z</dcterms:created>
  <dcterms:modified xsi:type="dcterms:W3CDTF">2026-10-22T16:00:35Z</dcterms:modified>
</cp:coreProperties>
</file>