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e2d1d138-c2d7-0b71-92e7-e4bab9796d4f}">
          <p14:sldIdLst>
            <p14:sldId id="256"/>
          </p14:sldIdLst>
        </p14:section>
        <p14:section name="Welcome" id="{3ba72a34-c88d-be47-cc5a-d4a4fd209f83}">
          <p14:sldIdLst>
            <p14:sldId id="257"/>
            <p14:sldId id="258"/>
          </p14:sldIdLst>
        </p14:section>
        <p14:section name="The City" id="{ab796b52-7c9e-3c6c-6c51-e842147a1586}">
          <p14:sldIdLst>
            <p14:sldId id="259"/>
            <p14:sldId id="260"/>
            <p14:sldId id="261"/>
            <p14:sldId id="262"/>
          </p14:sldIdLst>
        </p14:section>
        <p14:section name="Signature Districts" id="{d689c0d2-7480-49d9-2993-136371c6e0da}">
          <p14:sldIdLst>
            <p14:sldId id="263"/>
            <p14:sldId id="264"/>
            <p14:sldId id="265"/>
            <p14:sldId id="266"/>
            <p14:sldId id="267"/>
            <p14:sldId id="268"/>
            <p14:sldId id="269"/>
          </p14:sldIdLst>
        </p14:section>
        <p14:section name="Living in Aurora Haven" id="{1c2c4ce4-2090-dac1-7155-3c18453fd62e}">
          <p14:sldIdLst>
            <p14:sldId id="270"/>
            <p14:sldId id="271"/>
            <p14:sldId id="272"/>
            <p14:sldId id="273"/>
            <p14:sldId id="274"/>
          </p14:sldIdLst>
        </p14:section>
        <p14:section name="Guide" id="{ac3fa26e-abbe-a784-d737-f7a2215ee881}">
          <p14:sldIdLst>
            <p14:sldId id="275"/>
            <p14:sldId id="276"/>
            <p14:sldId id="277"/>
            <p14:sldId id="278"/>
          </p14:sldIdLst>
        </p14:section>
        <p14:section name="Back Cover" id="{089ef670-3a30-5572-acaf-1f8e34e38cc0}">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GE_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10168128"/>
            <a:ext cx="3657600" cy="201168"/>
          </a:xfrm>
          <a:prstGeom prst="rect">
            <a:avLst/>
          </a:prstGeom>
          <a:noFill/>
          <a:ln/>
        </p:spPr>
        <p:txBody>
          <a:bodyPr wrap="square" lIns="0" tIns="0" rIns="0" bIns="0" rtlCol="0" anchor="ctr"/>
          <a:lstStyle/>
          <a:p>
            <a:pPr indent="0" marL="0">
              <a:buNone/>
            </a:pPr>
            <a:r>
              <a:rPr lang="en-US" sz="750" b="1" spc="200" kern="0" dirty="0">
                <a:solidFill>
                  <a:schemeClr val="tx2"/>
                </a:solidFill>
              </a:rPr>
              <a:t>AURORA HAVEN  ·  3D EDITION</a:t>
            </a:r>
            <a:endParaRPr lang="en-US" sz="750" dirty="0"/>
          </a:p>
        </p:txBody>
      </p:sp>
      <p:sp>
        <p:nvSpPr>
          <p:cNvPr id="3" name="Text 1"/>
          <p:cNvSpPr/>
          <p:nvPr>
            <p:ph idx="101" type="title" hasCustomPrompt="1"/>
          </p:nvPr>
        </p:nvSpPr>
        <p:spPr>
          <a:xfrm>
            <a:off x="548640" y="749808"/>
            <a:ext cx="6464808" cy="685800"/>
          </a:xfrm>
          <a:prstGeom prst="rect">
            <a:avLst/>
          </a:prstGeom>
          <a:noFill/>
          <a:ln/>
        </p:spPr>
        <p:txBody>
          <a:bodyPr wrap="square" rtlCol="0"/>
          <a:lstStyle>
            <a:lvl1pPr algn="l" indent="0" marL="0">
              <a:buNone/>
              <a:defRPr lang="en-US" sz="3400" b="1" dirty="0">
                <a:solidFill>
                  <a:schemeClr val="tx1"/>
                </a:solidFill>
                <a:latin typeface="+mj-lt" pitchFamily="34" charset="0"/>
                <a:ea typeface="+mj-lt" pitchFamily="34" charset="-122"/>
                <a:cs typeface="+mj-lt"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1"/>
                </a:solidFill>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AGE_ICE">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10168128"/>
            <a:ext cx="3657600" cy="201168"/>
          </a:xfrm>
          <a:prstGeom prst="rect">
            <a:avLst/>
          </a:prstGeom>
          <a:noFill/>
          <a:ln/>
        </p:spPr>
        <p:txBody>
          <a:bodyPr wrap="square" lIns="0" tIns="0" rIns="0" bIns="0" rtlCol="0" anchor="ctr"/>
          <a:lstStyle/>
          <a:p>
            <a:pPr indent="0" marL="0">
              <a:buNone/>
            </a:pPr>
            <a:r>
              <a:rPr lang="en-US" sz="750" b="1" spc="200" kern="0" dirty="0">
                <a:solidFill>
                  <a:schemeClr val="tx2"/>
                </a:solidFill>
              </a:rPr>
              <a:t>AURORA HAVEN  ·  3D EDITION</a:t>
            </a:r>
            <a:endParaRPr lang="en-US" sz="750" dirty="0"/>
          </a:p>
        </p:txBody>
      </p:sp>
      <p:sp>
        <p:nvSpPr>
          <p:cNvPr id="3" name="Text 1"/>
          <p:cNvSpPr/>
          <p:nvPr>
            <p:ph idx="101" type="title" hasCustomPrompt="1"/>
          </p:nvPr>
        </p:nvSpPr>
        <p:spPr>
          <a:xfrm>
            <a:off x="548640" y="749808"/>
            <a:ext cx="6464808" cy="685800"/>
          </a:xfrm>
          <a:prstGeom prst="rect">
            <a:avLst/>
          </a:prstGeom>
          <a:noFill/>
          <a:ln/>
        </p:spPr>
        <p:txBody>
          <a:bodyPr wrap="square" rtlCol="0"/>
          <a:lstStyle>
            <a:lvl1pPr algn="l" indent="0" marL="0">
              <a:buNone/>
              <a:defRPr lang="en-US" sz="3400" b="1" dirty="0">
                <a:solidFill>
                  <a:schemeClr val="tx1"/>
                </a:solidFill>
                <a:latin typeface="+mj-lt" pitchFamily="34" charset="0"/>
                <a:ea typeface="+mj-lt" pitchFamily="34" charset="-122"/>
                <a:cs typeface="+mj-lt"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1"/>
                </a:solidFill>
              </a:defRPr>
            </a:lvl1pPr>
          </a:lstStyle>
          <a:p>
            <a:pPr algn="r"/>
            <a:fld id="{F7021451-1387-4CA6-816F-3879F97B5CBC}" type="slidenum">
              <a:rPr b="1"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AGE_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10168128"/>
            <a:ext cx="3657600" cy="201168"/>
          </a:xfrm>
          <a:prstGeom prst="rect">
            <a:avLst/>
          </a:prstGeom>
          <a:noFill/>
          <a:ln/>
        </p:spPr>
        <p:txBody>
          <a:bodyPr wrap="square" lIns="0" tIns="0" rIns="0" bIns="0" rtlCol="0" anchor="ctr"/>
          <a:lstStyle/>
          <a:p>
            <a:pPr indent="0" marL="0">
              <a:buNone/>
            </a:pPr>
            <a:r>
              <a:rPr lang="en-US" sz="750" b="1" spc="200" kern="0" dirty="0">
                <a:solidFill>
                  <a:schemeClr val="bg2"/>
                </a:solidFill>
              </a:rPr>
              <a:t>AURORA HAVEN  ·  3D EDITION</a:t>
            </a:r>
            <a:endParaRPr lang="en-US" sz="750" dirty="0"/>
          </a:p>
        </p:txBody>
      </p:sp>
      <p:sp>
        <p:nvSpPr>
          <p:cNvPr id="3" name="Text 1"/>
          <p:cNvSpPr/>
          <p:nvPr>
            <p:ph idx="101" type="title" hasCustomPrompt="1"/>
          </p:nvPr>
        </p:nvSpPr>
        <p:spPr>
          <a:xfrm>
            <a:off x="548640" y="749808"/>
            <a:ext cx="6464808" cy="685800"/>
          </a:xfrm>
          <a:prstGeom prst="rect">
            <a:avLst/>
          </a:prstGeom>
          <a:noFill/>
          <a:ln/>
        </p:spPr>
        <p:txBody>
          <a:bodyPr wrap="square" rtlCol="0"/>
          <a:lstStyle>
            <a:lvl1pPr algn="l" indent="0" marL="0">
              <a:buNone/>
              <a:defRPr lang="en-US" sz="3400" b="1" dirty="0">
                <a:solidFill>
                  <a:schemeClr val="bg1"/>
                </a:solidFill>
                <a:latin typeface="+mj-lt" pitchFamily="34" charset="0"/>
                <a:ea typeface="+mj-lt" pitchFamily="34" charset="-122"/>
                <a:cs typeface="+mj-lt"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bg1"/>
                </a:solidFill>
              </a:defRPr>
            </a:lvl1pPr>
          </a:lstStyle>
          <a:p>
            <a:pPr algn="r"/>
            <a:fld id="{F7021451-1387-4CA6-816F-3879F97B5CBC}" type="slidenum">
              <a:rPr b="1"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PENER">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10168128"/>
            <a:ext cx="3657600" cy="201168"/>
          </a:xfrm>
          <a:prstGeom prst="rect">
            <a:avLst/>
          </a:prstGeom>
          <a:noFill/>
          <a:ln/>
        </p:spPr>
        <p:txBody>
          <a:bodyPr wrap="square" lIns="0" tIns="0" rIns="0" bIns="0" rtlCol="0" anchor="ctr"/>
          <a:lstStyle/>
          <a:p>
            <a:pPr indent="0" marL="0">
              <a:buNone/>
            </a:pPr>
            <a:r>
              <a:rPr lang="en-US" sz="750" b="1" spc="200" kern="0" dirty="0">
                <a:solidFill>
                  <a:schemeClr val="tx2"/>
                </a:solidFill>
              </a:rPr>
              <a:t>AURORA HAVEN  ·  3D EDITION</a:t>
            </a:r>
            <a:endParaRPr lang="en-US" sz="750" dirty="0"/>
          </a:p>
        </p:txBody>
      </p:sp>
      <p:sp>
        <p:nvSpPr>
          <p:cNvPr id="3" name="Text 1"/>
          <p:cNvSpPr/>
          <p:nvPr>
            <p:ph idx="101" type="title" hasCustomPrompt="1"/>
          </p:nvPr>
        </p:nvSpPr>
        <p:spPr>
          <a:xfrm>
            <a:off x="548640" y="6858000"/>
            <a:ext cx="6464808" cy="1234440"/>
          </a:xfrm>
          <a:prstGeom prst="rect">
            <a:avLst/>
          </a:prstGeom>
          <a:noFill/>
          <a:ln/>
        </p:spPr>
        <p:txBody>
          <a:bodyPr wrap="square" rtlCol="0"/>
          <a:lstStyle>
            <a:lvl1pPr algn="l" indent="0" marL="0">
              <a:buNone/>
              <a:defRPr lang="en-US" sz="4000" b="1" dirty="0">
                <a:solidFill>
                  <a:schemeClr val="tx1"/>
                </a:solidFill>
                <a:latin typeface="+mj-lt" pitchFamily="34" charset="0"/>
                <a:ea typeface="+mj-lt" pitchFamily="34" charset="-122"/>
                <a:cs typeface="+mj-lt"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1"/>
                </a:solidFill>
              </a:defRPr>
            </a:lvl1pPr>
          </a:lstStyle>
          <a:p>
            <a:pPr algn="r"/>
            <a:fld id="{F7021451-1387-4CA6-816F-3879F97B5CBC}" type="slidenum">
              <a:rPr b="1"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1"/>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6.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6.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6.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picture" descr="/home/user/chatbox-bi-n-o/magazine/assets_v2/renders/cover.jpg">    </p:cNvPr>
          <p:cNvPicPr>
            <a:picLocks noChangeAspect="1"/>
          </p:cNvPicPr>
          <p:nvPr/>
        </p:nvPicPr>
        <p:blipFill>
          <a:blip r:embed="rId1"/>
          <a:stretch>
            <a:fillRect/>
          </a:stretch>
        </p:blipFill>
        <p:spPr>
          <a:xfrm>
            <a:off x="0" y="0"/>
            <a:ext cx="7562088" cy="10689336"/>
          </a:xfrm>
          <a:prstGeom prst="rect">
            <a:avLst/>
          </a:prstGeom>
        </p:spPr>
      </p:pic>
      <p:sp>
        <p:nvSpPr>
          <p:cNvPr id="3" name="text-1"/>
          <p:cNvSpPr txBox="1"/>
          <p:nvPr/>
        </p:nvSpPr>
        <p:spPr>
          <a:xfrm>
            <a:off x="548640" y="347472"/>
            <a:ext cx="6464808" cy="201168"/>
          </a:xfrm>
          <a:prstGeom prst="rect">
            <a:avLst/>
          </a:prstGeom>
          <a:noFill/>
          <a:ln/>
        </p:spPr>
        <p:txBody>
          <a:bodyPr wrap="square" lIns="0" tIns="0" rIns="0" bIns="0" rtlCol="0" anchor="t"/>
          <a:lstStyle/>
          <a:p>
            <a:pPr algn="ctr" indent="0" marL="0">
              <a:buNone/>
            </a:pPr>
            <a:r>
              <a:rPr lang="en-US" sz="850" b="1" spc="300" kern="0" dirty="0">
                <a:solidFill>
                  <a:schemeClr val="bg1"/>
                </a:solidFill>
              </a:rPr>
              <a:t>ISSUE 01   ·   POLAR / ICE CITY   ·   SPECIAL 3D EDITION</a:t>
            </a:r>
            <a:endParaRPr lang="en-US" sz="850" dirty="0"/>
          </a:p>
        </p:txBody>
      </p:sp>
      <p:sp>
        <p:nvSpPr>
          <p:cNvPr id="4" name="text-2"/>
          <p:cNvSpPr txBox="1"/>
          <p:nvPr/>
        </p:nvSpPr>
        <p:spPr>
          <a:xfrm>
            <a:off x="182880" y="548640"/>
            <a:ext cx="7196328" cy="1051560"/>
          </a:xfrm>
          <a:prstGeom prst="rect">
            <a:avLst/>
          </a:prstGeom>
          <a:noFill/>
          <a:ln/>
        </p:spPr>
        <p:txBody>
          <a:bodyPr wrap="square" lIns="0" tIns="0" rIns="0" bIns="0" rtlCol="0" anchor="t"/>
          <a:lstStyle/>
          <a:p>
            <a:pPr algn="ctr" indent="0" marL="0">
              <a:buNone/>
            </a:pPr>
            <a:r>
              <a:rPr lang="en-US" sz="6400" b="1" spc="100" kern="0" dirty="0">
                <a:solidFill>
                  <a:schemeClr val="bg1"/>
                </a:solidFill>
                <a:latin typeface="+mj-lt" pitchFamily="34" charset="0"/>
                <a:ea typeface="+mj-lt" pitchFamily="34" charset="-122"/>
                <a:cs typeface="+mj-lt" pitchFamily="34" charset="-120"/>
              </a:rPr>
              <a:t>AURORA HAVEN</a:t>
            </a:r>
            <a:endParaRPr lang="en-US" sz="6400" dirty="0"/>
          </a:p>
        </p:txBody>
      </p:sp>
      <p:pic>
        <p:nvPicPr>
          <p:cNvPr id="5" name="cover-tower-overlay" descr="/home/user/chatbox-bi-n-o/magazine/assets_v2/renders/cover_tower_top.png">    </p:cNvPr>
          <p:cNvPicPr>
            <a:picLocks noChangeAspect="1"/>
          </p:cNvPicPr>
          <p:nvPr/>
        </p:nvPicPr>
        <p:blipFill>
          <a:blip r:embed="rId2"/>
          <a:stretch>
            <a:fillRect/>
          </a:stretch>
        </p:blipFill>
        <p:spPr>
          <a:xfrm>
            <a:off x="0" y="0"/>
            <a:ext cx="7562088" cy="3421845"/>
          </a:xfrm>
          <a:prstGeom prst="rect">
            <a:avLst/>
          </a:prstGeom>
        </p:spPr>
      </p:pic>
      <p:sp>
        <p:nvSpPr>
          <p:cNvPr id="6" name="text-3"/>
          <p:cNvSpPr txBox="1"/>
          <p:nvPr/>
        </p:nvSpPr>
        <p:spPr>
          <a:xfrm>
            <a:off x="182880" y="1627632"/>
            <a:ext cx="7196328" cy="320040"/>
          </a:xfrm>
          <a:prstGeom prst="rect">
            <a:avLst/>
          </a:prstGeom>
          <a:noFill/>
          <a:ln/>
        </p:spPr>
        <p:txBody>
          <a:bodyPr wrap="square" lIns="0" tIns="0" rIns="0" bIns="0" rtlCol="0" anchor="t"/>
          <a:lstStyle/>
          <a:p>
            <a:pPr algn="ctr" indent="0" marL="0">
              <a:buNone/>
            </a:pPr>
            <a:r>
              <a:rPr lang="en-US" sz="1500" i="1" dirty="0">
                <a:solidFill>
                  <a:schemeClr val="bg1"/>
                </a:solidFill>
                <a:latin typeface="+mj-lt" pitchFamily="34" charset="0"/>
                <a:ea typeface="+mj-lt" pitchFamily="34" charset="-122"/>
                <a:cs typeface="+mj-lt" pitchFamily="34" charset="-120"/>
              </a:rPr>
              <a:t>A polar city that thrives</a:t>
            </a:r>
            <a:endParaRPr lang="en-US" sz="1500" dirty="0"/>
          </a:p>
        </p:txBody>
      </p:sp>
      <p:sp>
        <p:nvSpPr>
          <p:cNvPr id="7" name="text-4"/>
          <p:cNvSpPr txBox="1"/>
          <p:nvPr/>
        </p:nvSpPr>
        <p:spPr>
          <a:xfrm>
            <a:off x="2514600" y="2240280"/>
            <a:ext cx="2103120" cy="1325880"/>
          </a:xfrm>
          <a:prstGeom prst="rect">
            <a:avLst/>
          </a:prstGeom>
          <a:noFill/>
          <a:ln/>
          <a:effectLst>
            <a:outerShdw sx="100000" sy="100000" kx="0" ky="0" algn="bl" rotWithShape="0" blurRad="76200" dist="12700" dir="5400000">
              <a:srgbClr val="06102A">
                <a:alpha val="60000"/>
              </a:srgbClr>
            </a:outerShdw>
          </a:effectLst>
        </p:spPr>
        <p:txBody>
          <a:bodyPr wrap="square" lIns="0" tIns="0" rIns="0" bIns="0" rtlCol="0" anchor="t"/>
          <a:lstStyle/>
          <a:p>
            <a:pPr algn="l" indent="0" marL="0">
              <a:lnSpc>
                <a:spcPct val="105000"/>
              </a:lnSpc>
              <a:spcAft>
                <a:spcPts val="300"/>
              </a:spcAft>
              <a:buNone/>
            </a:pPr>
            <a:r>
              <a:rPr lang="en-US" sz="1500" b="1" dirty="0">
                <a:solidFill>
                  <a:schemeClr val="bg1"/>
                </a:solidFill>
                <a:latin typeface="+mj-lt" pitchFamily="34" charset="0"/>
                <a:ea typeface="+mj-lt" pitchFamily="34" charset="-122"/>
                <a:cs typeface="+mj-lt" pitchFamily="34" charset="-120"/>
              </a:rPr>
              <a:t>The city's own sun</a:t>
            </a:r>
            <a:endParaRPr lang="en-US" sz="1050" dirty="0"/>
          </a:p>
          <a:p>
            <a:pPr algn="l" indent="0" marL="0">
              <a:lnSpc>
                <a:spcPct val="105000"/>
              </a:lnSpc>
              <a:spcAft>
                <a:spcPts val="300"/>
              </a:spcAft>
              <a:buNone/>
            </a:pPr>
            <a:r>
              <a:rPr lang="en-US" sz="1050" dirty="0">
                <a:solidFill>
                  <a:schemeClr val="bg2"/>
                </a:solidFill>
              </a:rPr>
              <a:t>A compact fusion station keeps 45,000 people warm through the polar night</a:t>
            </a:r>
            <a:endParaRPr lang="en-US" sz="1050" dirty="0"/>
          </a:p>
          <a:p>
            <a:pPr algn="l" indent="0" marL="0">
              <a:lnSpc>
                <a:spcPct val="105000"/>
              </a:lnSpc>
              <a:buNone/>
            </a:pPr>
            <a:r>
              <a:rPr lang="en-US" sz="800" b="1" spc="200" kern="0" dirty="0">
                <a:solidFill>
                  <a:schemeClr val="bg1"/>
                </a:solidFill>
              </a:rPr>
              <a:t>PAGE 8</a:t>
            </a:r>
            <a:endParaRPr lang="en-US" sz="1050" dirty="0"/>
          </a:p>
        </p:txBody>
      </p:sp>
      <p:sp>
        <p:nvSpPr>
          <p:cNvPr id="8" name="text-5"/>
          <p:cNvSpPr txBox="1"/>
          <p:nvPr/>
        </p:nvSpPr>
        <p:spPr>
          <a:xfrm>
            <a:off x="2514600" y="3703320"/>
            <a:ext cx="2103120" cy="1325880"/>
          </a:xfrm>
          <a:prstGeom prst="rect">
            <a:avLst/>
          </a:prstGeom>
          <a:noFill/>
          <a:ln/>
          <a:effectLst>
            <a:outerShdw sx="100000" sy="100000" kx="0" ky="0" algn="bl" rotWithShape="0" blurRad="76200" dist="12700" dir="5400000">
              <a:srgbClr val="06102A">
                <a:alpha val="60000"/>
              </a:srgbClr>
            </a:outerShdw>
          </a:effectLst>
        </p:spPr>
        <p:txBody>
          <a:bodyPr wrap="square" lIns="0" tIns="0" rIns="0" bIns="0" rtlCol="0" anchor="t"/>
          <a:lstStyle/>
          <a:p>
            <a:pPr algn="l" indent="0" marL="0">
              <a:lnSpc>
                <a:spcPct val="105000"/>
              </a:lnSpc>
              <a:spcAft>
                <a:spcPts val="300"/>
              </a:spcAft>
              <a:buNone/>
            </a:pPr>
            <a:r>
              <a:rPr lang="en-US" sz="1500" b="1" dirty="0">
                <a:solidFill>
                  <a:schemeClr val="bg1"/>
                </a:solidFill>
                <a:latin typeface="+mj-lt" pitchFamily="34" charset="0"/>
                <a:ea typeface="+mj-lt" pitchFamily="34" charset="-122"/>
                <a:cs typeface="+mj-lt" pitchFamily="34" charset="-120"/>
              </a:rPr>
              <a:t>Bread and water</a:t>
            </a:r>
            <a:endParaRPr lang="en-US" sz="1050" dirty="0"/>
          </a:p>
          <a:p>
            <a:pPr algn="l" indent="0" marL="0">
              <a:lnSpc>
                <a:spcPct val="105000"/>
              </a:lnSpc>
              <a:spcAft>
                <a:spcPts val="300"/>
              </a:spcAft>
              <a:buNone/>
            </a:pPr>
            <a:r>
              <a:rPr lang="en-US" sz="1500" b="1" dirty="0">
                <a:solidFill>
                  <a:schemeClr val="bg1"/>
                </a:solidFill>
                <a:latin typeface="+mj-lt" pitchFamily="34" charset="0"/>
                <a:ea typeface="+mj-lt" pitchFamily="34" charset="-122"/>
                <a:cs typeface="+mj-lt" pitchFamily="34" charset="-120"/>
              </a:rPr>
              <a:t>from snow and air</a:t>
            </a:r>
            <a:endParaRPr lang="en-US" sz="1050" dirty="0"/>
          </a:p>
          <a:p>
            <a:pPr algn="l" indent="0" marL="0">
              <a:lnSpc>
                <a:spcPct val="105000"/>
              </a:lnSpc>
              <a:spcAft>
                <a:spcPts val="300"/>
              </a:spcAft>
              <a:buNone/>
            </a:pPr>
            <a:r>
              <a:rPr lang="en-US" sz="1050" dirty="0">
                <a:solidFill>
                  <a:schemeClr val="bg2"/>
                </a:solidFill>
              </a:rPr>
              <a:t>Inside the plant that feeds a city with no farmland</a:t>
            </a:r>
            <a:endParaRPr lang="en-US" sz="1050" dirty="0"/>
          </a:p>
          <a:p>
            <a:pPr algn="l" indent="0" marL="0">
              <a:lnSpc>
                <a:spcPct val="105000"/>
              </a:lnSpc>
              <a:buNone/>
            </a:pPr>
            <a:r>
              <a:rPr lang="en-US" sz="800" b="1" spc="200" kern="0" dirty="0">
                <a:solidFill>
                  <a:schemeClr val="bg1"/>
                </a:solidFill>
              </a:rPr>
              <a:t>PAGE 10</a:t>
            </a:r>
            <a:endParaRPr lang="en-US" sz="1050" dirty="0"/>
          </a:p>
        </p:txBody>
      </p:sp>
      <p:sp>
        <p:nvSpPr>
          <p:cNvPr id="9" name="text-6"/>
          <p:cNvSpPr txBox="1"/>
          <p:nvPr/>
        </p:nvSpPr>
        <p:spPr>
          <a:xfrm>
            <a:off x="4864608" y="2240280"/>
            <a:ext cx="2148840" cy="1325880"/>
          </a:xfrm>
          <a:prstGeom prst="rect">
            <a:avLst/>
          </a:prstGeom>
          <a:noFill/>
          <a:ln/>
          <a:effectLst>
            <a:outerShdw sx="100000" sy="100000" kx="0" ky="0" algn="bl" rotWithShape="0" blurRad="76200" dist="12700" dir="5400000">
              <a:srgbClr val="06102A">
                <a:alpha val="60000"/>
              </a:srgbClr>
            </a:outerShdw>
          </a:effectLst>
        </p:spPr>
        <p:txBody>
          <a:bodyPr wrap="square" lIns="0" tIns="0" rIns="0" bIns="0" rtlCol="0" anchor="t"/>
          <a:lstStyle/>
          <a:p>
            <a:pPr algn="r" indent="0" marL="0">
              <a:lnSpc>
                <a:spcPct val="105000"/>
              </a:lnSpc>
              <a:spcAft>
                <a:spcPts val="300"/>
              </a:spcAft>
              <a:buNone/>
            </a:pPr>
            <a:r>
              <a:rPr lang="en-US" sz="1500" b="1" dirty="0">
                <a:solidFill>
                  <a:schemeClr val="bg1"/>
                </a:solidFill>
                <a:latin typeface="+mj-lt" pitchFamily="34" charset="0"/>
                <a:ea typeface="+mj-lt" pitchFamily="34" charset="-122"/>
                <a:cs typeface="+mj-lt" pitchFamily="34" charset="-120"/>
              </a:rPr>
              <a:t>A warm heart</a:t>
            </a:r>
            <a:endParaRPr lang="en-US" sz="1050" dirty="0"/>
          </a:p>
          <a:p>
            <a:pPr algn="r" indent="0" marL="0">
              <a:lnSpc>
                <a:spcPct val="105000"/>
              </a:lnSpc>
              <a:spcAft>
                <a:spcPts val="300"/>
              </a:spcAft>
              <a:buNone/>
            </a:pPr>
            <a:r>
              <a:rPr lang="en-US" sz="1500" b="1" dirty="0">
                <a:solidFill>
                  <a:schemeClr val="bg1"/>
                </a:solidFill>
                <a:latin typeface="+mj-lt" pitchFamily="34" charset="0"/>
                <a:ea typeface="+mj-lt" pitchFamily="34" charset="-122"/>
                <a:cs typeface="+mj-lt" pitchFamily="34" charset="-120"/>
              </a:rPr>
              <a:t>inside the ice</a:t>
            </a:r>
            <a:endParaRPr lang="en-US" sz="1050" dirty="0"/>
          </a:p>
          <a:p>
            <a:pPr algn="r" indent="0" marL="0">
              <a:lnSpc>
                <a:spcPct val="105000"/>
              </a:lnSpc>
              <a:spcAft>
                <a:spcPts val="300"/>
              </a:spcAft>
              <a:buNone/>
            </a:pPr>
            <a:r>
              <a:rPr lang="en-US" sz="1050" dirty="0">
                <a:solidFill>
                  <a:schemeClr val="bg2"/>
                </a:solidFill>
              </a:rPr>
              <a:t>Four geothermal spa levels hidden in a 35-metre snow peak</a:t>
            </a:r>
            <a:endParaRPr lang="en-US" sz="1050" dirty="0"/>
          </a:p>
          <a:p>
            <a:pPr algn="r" indent="0" marL="0">
              <a:lnSpc>
                <a:spcPct val="105000"/>
              </a:lnSpc>
              <a:buNone/>
            </a:pPr>
            <a:r>
              <a:rPr lang="en-US" sz="800" b="1" spc="200" kern="0" dirty="0">
                <a:solidFill>
                  <a:schemeClr val="bg1"/>
                </a:solidFill>
              </a:rPr>
              <a:t>PAGE 12</a:t>
            </a:r>
            <a:endParaRPr lang="en-US" sz="1050" dirty="0"/>
          </a:p>
        </p:txBody>
      </p:sp>
      <p:sp>
        <p:nvSpPr>
          <p:cNvPr id="10" name="text-7"/>
          <p:cNvSpPr txBox="1"/>
          <p:nvPr/>
        </p:nvSpPr>
        <p:spPr>
          <a:xfrm>
            <a:off x="4864608" y="3703320"/>
            <a:ext cx="2148840" cy="1325880"/>
          </a:xfrm>
          <a:prstGeom prst="rect">
            <a:avLst/>
          </a:prstGeom>
          <a:noFill/>
          <a:ln/>
          <a:effectLst>
            <a:outerShdw sx="100000" sy="100000" kx="0" ky="0" algn="bl" rotWithShape="0" blurRad="76200" dist="12700" dir="5400000">
              <a:srgbClr val="06102A">
                <a:alpha val="60000"/>
              </a:srgbClr>
            </a:outerShdw>
          </a:effectLst>
        </p:spPr>
        <p:txBody>
          <a:bodyPr wrap="square" lIns="0" tIns="0" rIns="0" bIns="0" rtlCol="0" anchor="t"/>
          <a:lstStyle/>
          <a:p>
            <a:pPr algn="r" indent="0" marL="0">
              <a:lnSpc>
                <a:spcPct val="105000"/>
              </a:lnSpc>
              <a:spcAft>
                <a:spcPts val="300"/>
              </a:spcAft>
              <a:buNone/>
            </a:pPr>
            <a:r>
              <a:rPr lang="en-US" sz="1500" b="1" dirty="0">
                <a:solidFill>
                  <a:schemeClr val="bg1"/>
                </a:solidFill>
                <a:latin typeface="+mj-lt" pitchFamily="34" charset="0"/>
                <a:ea typeface="+mj-lt" pitchFamily="34" charset="-122"/>
                <a:cs typeface="+mj-lt" pitchFamily="34" charset="-120"/>
              </a:rPr>
              <a:t>−45 °C. 120 km/h.</a:t>
            </a:r>
            <a:endParaRPr lang="en-US" sz="1050" dirty="0"/>
          </a:p>
          <a:p>
            <a:pPr algn="r" indent="0" marL="0">
              <a:lnSpc>
                <a:spcPct val="105000"/>
              </a:lnSpc>
              <a:spcAft>
                <a:spcPts val="300"/>
              </a:spcAft>
              <a:buNone/>
            </a:pPr>
            <a:r>
              <a:rPr lang="en-US" sz="1500" b="1" dirty="0">
                <a:solidFill>
                  <a:schemeClr val="bg1"/>
                </a:solidFill>
                <a:latin typeface="+mj-lt" pitchFamily="34" charset="0"/>
                <a:ea typeface="+mj-lt" pitchFamily="34" charset="-122"/>
                <a:cs typeface="+mj-lt" pitchFamily="34" charset="-120"/>
              </a:rPr>
              <a:t>No sun.</a:t>
            </a:r>
            <a:endParaRPr lang="en-US" sz="1050" dirty="0"/>
          </a:p>
          <a:p>
            <a:pPr algn="r" indent="0" marL="0">
              <a:lnSpc>
                <a:spcPct val="105000"/>
              </a:lnSpc>
              <a:spcAft>
                <a:spcPts val="300"/>
              </a:spcAft>
              <a:buNone/>
            </a:pPr>
            <a:r>
              <a:rPr lang="en-US" sz="1050" dirty="0">
                <a:solidFill>
                  <a:schemeClr val="bg2"/>
                </a:solidFill>
              </a:rPr>
              <a:t>The polar challenge, and the five ideas that answer it</a:t>
            </a:r>
            <a:endParaRPr lang="en-US" sz="1050" dirty="0"/>
          </a:p>
          <a:p>
            <a:pPr algn="r" indent="0" marL="0">
              <a:lnSpc>
                <a:spcPct val="105000"/>
              </a:lnSpc>
              <a:buNone/>
            </a:pPr>
            <a:r>
              <a:rPr lang="en-US" sz="800" b="1" spc="200" kern="0" dirty="0">
                <a:solidFill>
                  <a:schemeClr val="bg1"/>
                </a:solidFill>
              </a:rPr>
              <a:t>PAGE 4</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dot-8"/>
          <p:cNvSpPr/>
          <p:nvPr/>
        </p:nvSpPr>
        <p:spPr>
          <a:xfrm>
            <a:off x="548640" y="516636"/>
            <a:ext cx="100584" cy="100584"/>
          </a:xfrm>
          <a:prstGeom prst="ellipse">
            <a:avLst/>
          </a:prstGeom>
          <a:solidFill>
            <a:schemeClr val="accent6"/>
          </a:solidFill>
          <a:ln w="12700">
            <a:solidFill>
              <a:schemeClr val="accent6"/>
            </a:solidFill>
            <a:prstDash val="solid"/>
          </a:ln>
        </p:spPr>
      </p:sp>
      <p:sp>
        <p:nvSpPr>
          <p:cNvPr id="3" name="text-9"/>
          <p:cNvSpPr txBox="1"/>
          <p:nvPr/>
        </p:nvSpPr>
        <p:spPr>
          <a:xfrm>
            <a:off x="731520" y="475488"/>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INSIDE THIS ISSUE</a:t>
            </a:r>
            <a:endParaRPr lang="en-US" sz="900" dirty="0"/>
          </a:p>
        </p:txBody>
      </p:sp>
      <p:sp>
        <p:nvSpPr>
          <p:cNvPr id="4" name="Text 1"/>
          <p:cNvSpPr/>
          <p:nvPr>
            <p:ph idx="101" type="title" hasCustomPrompt="1"/>
          </p:nvPr>
        </p:nvSpPr>
        <p:spPr>
          <a:xfrm>
            <a:off x="548640" y="749808"/>
            <a:ext cx="6464808" cy="685800"/>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Contents</a:t>
            </a:r>
            <a:endParaRPr lang="en-US" sz="3400" dirty="0"/>
          </a:p>
        </p:txBody>
      </p:sp>
      <p:sp>
        <p:nvSpPr>
          <p:cNvPr id="5" name="text-10"/>
          <p:cNvSpPr txBox="1"/>
          <p:nvPr/>
        </p:nvSpPr>
        <p:spPr>
          <a:xfrm>
            <a:off x="548640" y="169164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3</a:t>
            </a:r>
            <a:endParaRPr lang="en-US" sz="1700" dirty="0"/>
          </a:p>
        </p:txBody>
      </p:sp>
      <p:sp>
        <p:nvSpPr>
          <p:cNvPr id="6" name="text-11"/>
          <p:cNvSpPr txBox="1"/>
          <p:nvPr/>
        </p:nvSpPr>
        <p:spPr>
          <a:xfrm>
            <a:off x="1097280" y="1709928"/>
            <a:ext cx="3108960" cy="201168"/>
          </a:xfrm>
          <a:prstGeom prst="rect">
            <a:avLst/>
          </a:prstGeom>
          <a:noFill/>
          <a:ln/>
        </p:spPr>
        <p:txBody>
          <a:bodyPr wrap="square" lIns="0" tIns="0" rIns="0" bIns="0" rtlCol="0" anchor="t"/>
          <a:lstStyle/>
          <a:p>
            <a:pPr indent="0" marL="0">
              <a:buNone/>
            </a:pPr>
            <a:r>
              <a:rPr lang="en-US" sz="1100" b="1" dirty="0">
                <a:solidFill>
                  <a:schemeClr val="tx1"/>
                </a:solidFill>
              </a:rPr>
              <a:t>Welcome to Aurora Haven</a:t>
            </a:r>
            <a:endParaRPr lang="en-US" sz="1100" dirty="0"/>
          </a:p>
        </p:txBody>
      </p:sp>
      <p:sp>
        <p:nvSpPr>
          <p:cNvPr id="7" name="text-12"/>
          <p:cNvSpPr txBox="1"/>
          <p:nvPr/>
        </p:nvSpPr>
        <p:spPr>
          <a:xfrm>
            <a:off x="1097280" y="1901952"/>
            <a:ext cx="3108960" cy="182880"/>
          </a:xfrm>
          <a:prstGeom prst="rect">
            <a:avLst/>
          </a:prstGeom>
          <a:noFill/>
          <a:ln/>
        </p:spPr>
        <p:txBody>
          <a:bodyPr wrap="square" lIns="0" tIns="0" rIns="0" bIns="0" rtlCol="0" anchor="t"/>
          <a:lstStyle/>
          <a:p>
            <a:pPr indent="0" marL="0">
              <a:buNone/>
            </a:pPr>
            <a:r>
              <a:rPr lang="en-US" sz="900" dirty="0">
                <a:solidFill>
                  <a:schemeClr val="tx2"/>
                </a:solidFill>
              </a:rPr>
              <a:t>A compact city of 45,000 under a snow peak</a:t>
            </a:r>
            <a:endParaRPr lang="en-US" sz="900" dirty="0"/>
          </a:p>
        </p:txBody>
      </p:sp>
      <p:sp>
        <p:nvSpPr>
          <p:cNvPr id="8" name="text-13"/>
          <p:cNvSpPr txBox="1"/>
          <p:nvPr/>
        </p:nvSpPr>
        <p:spPr>
          <a:xfrm>
            <a:off x="548640" y="214884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4</a:t>
            </a:r>
            <a:endParaRPr lang="en-US" sz="1700" dirty="0"/>
          </a:p>
        </p:txBody>
      </p:sp>
      <p:sp>
        <p:nvSpPr>
          <p:cNvPr id="9" name="text-14"/>
          <p:cNvSpPr txBox="1"/>
          <p:nvPr/>
        </p:nvSpPr>
        <p:spPr>
          <a:xfrm>
            <a:off x="1097280" y="2167128"/>
            <a:ext cx="3108960" cy="201168"/>
          </a:xfrm>
          <a:prstGeom prst="rect">
            <a:avLst/>
          </a:prstGeom>
          <a:noFill/>
          <a:ln/>
        </p:spPr>
        <p:txBody>
          <a:bodyPr wrap="square" lIns="0" tIns="0" rIns="0" bIns="0" rtlCol="0" anchor="t"/>
          <a:lstStyle/>
          <a:p>
            <a:pPr indent="0" marL="0">
              <a:buNone/>
            </a:pPr>
            <a:r>
              <a:rPr lang="en-US" sz="1100" b="1" dirty="0">
                <a:solidFill>
                  <a:schemeClr val="tx1"/>
                </a:solidFill>
              </a:rPr>
              <a:t>The Polar Challenge</a:t>
            </a:r>
            <a:endParaRPr lang="en-US" sz="1100" dirty="0"/>
          </a:p>
        </p:txBody>
      </p:sp>
      <p:sp>
        <p:nvSpPr>
          <p:cNvPr id="10" name="text-15"/>
          <p:cNvSpPr txBox="1"/>
          <p:nvPr/>
        </p:nvSpPr>
        <p:spPr>
          <a:xfrm>
            <a:off x="1097280" y="2359152"/>
            <a:ext cx="3108960" cy="182880"/>
          </a:xfrm>
          <a:prstGeom prst="rect">
            <a:avLst/>
          </a:prstGeom>
          <a:noFill/>
          <a:ln/>
        </p:spPr>
        <p:txBody>
          <a:bodyPr wrap="square" lIns="0" tIns="0" rIns="0" bIns="0" rtlCol="0" anchor="t"/>
          <a:lstStyle/>
          <a:p>
            <a:pPr indent="0" marL="0">
              <a:buNone/>
            </a:pPr>
            <a:r>
              <a:rPr lang="en-US" sz="900" dirty="0">
                <a:solidFill>
                  <a:schemeClr val="tx2"/>
                </a:solidFill>
              </a:rPr>
              <a:t>Cold, darkness, wind and permafrost</a:t>
            </a:r>
            <a:endParaRPr lang="en-US" sz="900" dirty="0"/>
          </a:p>
        </p:txBody>
      </p:sp>
      <p:sp>
        <p:nvSpPr>
          <p:cNvPr id="11" name="text-16"/>
          <p:cNvSpPr txBox="1"/>
          <p:nvPr/>
        </p:nvSpPr>
        <p:spPr>
          <a:xfrm>
            <a:off x="548640" y="260604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5</a:t>
            </a:r>
            <a:endParaRPr lang="en-US" sz="1700" dirty="0"/>
          </a:p>
        </p:txBody>
      </p:sp>
      <p:sp>
        <p:nvSpPr>
          <p:cNvPr id="12" name="text-17"/>
          <p:cNvSpPr txBox="1"/>
          <p:nvPr/>
        </p:nvSpPr>
        <p:spPr>
          <a:xfrm>
            <a:off x="1097280" y="2624328"/>
            <a:ext cx="3108960" cy="201168"/>
          </a:xfrm>
          <a:prstGeom prst="rect">
            <a:avLst/>
          </a:prstGeom>
          <a:noFill/>
          <a:ln/>
        </p:spPr>
        <p:txBody>
          <a:bodyPr wrap="square" lIns="0" tIns="0" rIns="0" bIns="0" rtlCol="0" anchor="t"/>
          <a:lstStyle/>
          <a:p>
            <a:pPr indent="0" marL="0">
              <a:buNone/>
            </a:pPr>
            <a:r>
              <a:rPr lang="en-US" sz="1100" b="1" dirty="0">
                <a:solidFill>
                  <a:schemeClr val="tx1"/>
                </a:solidFill>
              </a:rPr>
              <a:t>Five Design Principles</a:t>
            </a:r>
            <a:endParaRPr lang="en-US" sz="1100" dirty="0"/>
          </a:p>
        </p:txBody>
      </p:sp>
      <p:sp>
        <p:nvSpPr>
          <p:cNvPr id="13" name="text-18"/>
          <p:cNvSpPr txBox="1"/>
          <p:nvPr/>
        </p:nvSpPr>
        <p:spPr>
          <a:xfrm>
            <a:off x="1097280" y="2816352"/>
            <a:ext cx="3108960" cy="182880"/>
          </a:xfrm>
          <a:prstGeom prst="rect">
            <a:avLst/>
          </a:prstGeom>
          <a:noFill/>
          <a:ln/>
        </p:spPr>
        <p:txBody>
          <a:bodyPr wrap="square" lIns="0" tIns="0" rIns="0" bIns="0" rtlCol="0" anchor="t"/>
          <a:lstStyle/>
          <a:p>
            <a:pPr indent="0" marL="0">
              <a:buNone/>
            </a:pPr>
            <a:r>
              <a:rPr lang="en-US" sz="900" dirty="0">
                <a:solidFill>
                  <a:schemeClr val="tx2"/>
                </a:solidFill>
              </a:rPr>
              <a:t>The ideas behind every building</a:t>
            </a:r>
            <a:endParaRPr lang="en-US" sz="900" dirty="0"/>
          </a:p>
        </p:txBody>
      </p:sp>
      <p:sp>
        <p:nvSpPr>
          <p:cNvPr id="14" name="text-19"/>
          <p:cNvSpPr txBox="1"/>
          <p:nvPr/>
        </p:nvSpPr>
        <p:spPr>
          <a:xfrm>
            <a:off x="548640" y="306324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6</a:t>
            </a:r>
            <a:endParaRPr lang="en-US" sz="1700" dirty="0"/>
          </a:p>
        </p:txBody>
      </p:sp>
      <p:sp>
        <p:nvSpPr>
          <p:cNvPr id="15" name="text-20"/>
          <p:cNvSpPr txBox="1"/>
          <p:nvPr/>
        </p:nvSpPr>
        <p:spPr>
          <a:xfrm>
            <a:off x="1097280" y="3081528"/>
            <a:ext cx="3108960" cy="201168"/>
          </a:xfrm>
          <a:prstGeom prst="rect">
            <a:avLst/>
          </a:prstGeom>
          <a:noFill/>
          <a:ln/>
        </p:spPr>
        <p:txBody>
          <a:bodyPr wrap="square" lIns="0" tIns="0" rIns="0" bIns="0" rtlCol="0" anchor="t"/>
          <a:lstStyle/>
          <a:p>
            <a:pPr indent="0" marL="0">
              <a:buNone/>
            </a:pPr>
            <a:r>
              <a:rPr lang="en-US" sz="1100" b="1" dirty="0">
                <a:solidFill>
                  <a:schemeClr val="tx1"/>
                </a:solidFill>
              </a:rPr>
              <a:t>The Whole City Plan</a:t>
            </a:r>
            <a:endParaRPr lang="en-US" sz="1100" dirty="0"/>
          </a:p>
        </p:txBody>
      </p:sp>
      <p:sp>
        <p:nvSpPr>
          <p:cNvPr id="16" name="text-21"/>
          <p:cNvSpPr txBox="1"/>
          <p:nvPr/>
        </p:nvSpPr>
        <p:spPr>
          <a:xfrm>
            <a:off x="1097280" y="3273552"/>
            <a:ext cx="3108960" cy="182880"/>
          </a:xfrm>
          <a:prstGeom prst="rect">
            <a:avLst/>
          </a:prstGeom>
          <a:noFill/>
          <a:ln/>
        </p:spPr>
        <p:txBody>
          <a:bodyPr wrap="square" lIns="0" tIns="0" rIns="0" bIns="0" rtlCol="0" anchor="t"/>
          <a:lstStyle/>
          <a:p>
            <a:pPr indent="0" marL="0">
              <a:buNone/>
            </a:pPr>
            <a:r>
              <a:rPr lang="en-US" sz="900" dirty="0">
                <a:solidFill>
                  <a:schemeClr val="tx2"/>
                </a:solidFill>
              </a:rPr>
              <a:t>From the wind farm to Mount Aurora</a:t>
            </a:r>
            <a:endParaRPr lang="en-US" sz="900" dirty="0"/>
          </a:p>
        </p:txBody>
      </p:sp>
      <p:sp>
        <p:nvSpPr>
          <p:cNvPr id="17" name="text-22"/>
          <p:cNvSpPr txBox="1"/>
          <p:nvPr/>
        </p:nvSpPr>
        <p:spPr>
          <a:xfrm>
            <a:off x="548640" y="352044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7</a:t>
            </a:r>
            <a:endParaRPr lang="en-US" sz="1700" dirty="0"/>
          </a:p>
        </p:txBody>
      </p:sp>
      <p:sp>
        <p:nvSpPr>
          <p:cNvPr id="18" name="text-23"/>
          <p:cNvSpPr txBox="1"/>
          <p:nvPr/>
        </p:nvSpPr>
        <p:spPr>
          <a:xfrm>
            <a:off x="1097280" y="3538728"/>
            <a:ext cx="3108960" cy="201168"/>
          </a:xfrm>
          <a:prstGeom prst="rect">
            <a:avLst/>
          </a:prstGeom>
          <a:noFill/>
          <a:ln/>
        </p:spPr>
        <p:txBody>
          <a:bodyPr wrap="square" lIns="0" tIns="0" rIns="0" bIns="0" rtlCol="0" anchor="t"/>
          <a:lstStyle/>
          <a:p>
            <a:pPr indent="0" marL="0">
              <a:buNone/>
            </a:pPr>
            <a:r>
              <a:rPr lang="en-US" sz="1100" b="1" dirty="0">
                <a:solidFill>
                  <a:schemeClr val="tx1"/>
                </a:solidFill>
              </a:rPr>
              <a:t>Nine Blocks, One Short Walk</a:t>
            </a:r>
            <a:endParaRPr lang="en-US" sz="1100" dirty="0"/>
          </a:p>
        </p:txBody>
      </p:sp>
      <p:sp>
        <p:nvSpPr>
          <p:cNvPr id="19" name="text-24"/>
          <p:cNvSpPr txBox="1"/>
          <p:nvPr/>
        </p:nvSpPr>
        <p:spPr>
          <a:xfrm>
            <a:off x="1097280" y="3730752"/>
            <a:ext cx="3108960" cy="182880"/>
          </a:xfrm>
          <a:prstGeom prst="rect">
            <a:avLst/>
          </a:prstGeom>
          <a:noFill/>
          <a:ln/>
        </p:spPr>
        <p:txBody>
          <a:bodyPr wrap="square" lIns="0" tIns="0" rIns="0" bIns="0" rtlCol="0" anchor="t"/>
          <a:lstStyle/>
          <a:p>
            <a:pPr indent="0" marL="0">
              <a:buNone/>
            </a:pPr>
            <a:r>
              <a:rPr lang="en-US" sz="900" dirty="0">
                <a:solidFill>
                  <a:schemeClr val="tx2"/>
                </a:solidFill>
              </a:rPr>
              <a:t>Downtown around the Aurora Roundabout</a:t>
            </a:r>
            <a:endParaRPr lang="en-US" sz="900" dirty="0"/>
          </a:p>
        </p:txBody>
      </p:sp>
      <p:sp>
        <p:nvSpPr>
          <p:cNvPr id="20" name="text-25"/>
          <p:cNvSpPr txBox="1"/>
          <p:nvPr/>
        </p:nvSpPr>
        <p:spPr>
          <a:xfrm>
            <a:off x="548640" y="397764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8</a:t>
            </a:r>
            <a:endParaRPr lang="en-US" sz="1700" dirty="0"/>
          </a:p>
        </p:txBody>
      </p:sp>
      <p:sp>
        <p:nvSpPr>
          <p:cNvPr id="21" name="text-26"/>
          <p:cNvSpPr txBox="1"/>
          <p:nvPr/>
        </p:nvSpPr>
        <p:spPr>
          <a:xfrm>
            <a:off x="1097280" y="3995928"/>
            <a:ext cx="3108960" cy="201168"/>
          </a:xfrm>
          <a:prstGeom prst="rect">
            <a:avLst/>
          </a:prstGeom>
          <a:noFill/>
          <a:ln/>
        </p:spPr>
        <p:txBody>
          <a:bodyPr wrap="square" lIns="0" tIns="0" rIns="0" bIns="0" rtlCol="0" anchor="t"/>
          <a:lstStyle/>
          <a:p>
            <a:pPr indent="0" marL="0">
              <a:buNone/>
            </a:pPr>
            <a:r>
              <a:rPr lang="en-US" sz="1100" b="1" dirty="0">
                <a:solidFill>
                  <a:schemeClr val="tx1"/>
                </a:solidFill>
              </a:rPr>
              <a:t>The City's Own Sun</a:t>
            </a:r>
            <a:endParaRPr lang="en-US" sz="1100" dirty="0"/>
          </a:p>
        </p:txBody>
      </p:sp>
      <p:sp>
        <p:nvSpPr>
          <p:cNvPr id="22" name="text-27"/>
          <p:cNvSpPr txBox="1"/>
          <p:nvPr/>
        </p:nvSpPr>
        <p:spPr>
          <a:xfrm>
            <a:off x="1097280" y="4187952"/>
            <a:ext cx="3108960" cy="182880"/>
          </a:xfrm>
          <a:prstGeom prst="rect">
            <a:avLst/>
          </a:prstGeom>
          <a:noFill/>
          <a:ln/>
        </p:spPr>
        <p:txBody>
          <a:bodyPr wrap="square" lIns="0" tIns="0" rIns="0" bIns="0" rtlCol="0" anchor="t"/>
          <a:lstStyle/>
          <a:p>
            <a:pPr indent="0" marL="0">
              <a:buNone/>
            </a:pPr>
            <a:r>
              <a:rPr lang="en-US" sz="900" dirty="0">
                <a:solidFill>
                  <a:schemeClr val="tx2"/>
                </a:solidFill>
              </a:rPr>
              <a:t>Fusion Power Station</a:t>
            </a:r>
            <a:endParaRPr lang="en-US" sz="900" dirty="0"/>
          </a:p>
        </p:txBody>
      </p:sp>
      <p:sp>
        <p:nvSpPr>
          <p:cNvPr id="23" name="text-28"/>
          <p:cNvSpPr txBox="1"/>
          <p:nvPr/>
        </p:nvSpPr>
        <p:spPr>
          <a:xfrm>
            <a:off x="548640" y="443484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10</a:t>
            </a:r>
            <a:endParaRPr lang="en-US" sz="1700" dirty="0"/>
          </a:p>
        </p:txBody>
      </p:sp>
      <p:sp>
        <p:nvSpPr>
          <p:cNvPr id="24" name="text-29"/>
          <p:cNvSpPr txBox="1"/>
          <p:nvPr/>
        </p:nvSpPr>
        <p:spPr>
          <a:xfrm>
            <a:off x="1097280" y="4453128"/>
            <a:ext cx="3108960" cy="201168"/>
          </a:xfrm>
          <a:prstGeom prst="rect">
            <a:avLst/>
          </a:prstGeom>
          <a:noFill/>
          <a:ln/>
        </p:spPr>
        <p:txBody>
          <a:bodyPr wrap="square" lIns="0" tIns="0" rIns="0" bIns="0" rtlCol="0" anchor="t"/>
          <a:lstStyle/>
          <a:p>
            <a:pPr indent="0" marL="0">
              <a:buNone/>
            </a:pPr>
            <a:r>
              <a:rPr lang="en-US" sz="1100" b="1" dirty="0">
                <a:solidFill>
                  <a:schemeClr val="tx1"/>
                </a:solidFill>
              </a:rPr>
              <a:t>Bread and Water from Snow and Air</a:t>
            </a:r>
            <a:endParaRPr lang="en-US" sz="1100" dirty="0"/>
          </a:p>
        </p:txBody>
      </p:sp>
      <p:sp>
        <p:nvSpPr>
          <p:cNvPr id="25" name="text-30"/>
          <p:cNvSpPr txBox="1"/>
          <p:nvPr/>
        </p:nvSpPr>
        <p:spPr>
          <a:xfrm>
            <a:off x="1097280" y="4645152"/>
            <a:ext cx="3108960" cy="182880"/>
          </a:xfrm>
          <a:prstGeom prst="rect">
            <a:avLst/>
          </a:prstGeom>
          <a:noFill/>
          <a:ln/>
        </p:spPr>
        <p:txBody>
          <a:bodyPr wrap="square" lIns="0" tIns="0" rIns="0" bIns="0" rtlCol="0" anchor="t"/>
          <a:lstStyle/>
          <a:p>
            <a:pPr indent="0" marL="0">
              <a:buNone/>
            </a:pPr>
            <a:r>
              <a:rPr lang="en-US" sz="900" dirty="0">
                <a:solidFill>
                  <a:schemeClr val="tx2"/>
                </a:solidFill>
              </a:rPr>
              <a:t>Snow-to-Food &amp; Water Plant</a:t>
            </a:r>
            <a:endParaRPr lang="en-US" sz="900" dirty="0"/>
          </a:p>
        </p:txBody>
      </p:sp>
      <p:sp>
        <p:nvSpPr>
          <p:cNvPr id="26" name="text-31"/>
          <p:cNvSpPr txBox="1"/>
          <p:nvPr/>
        </p:nvSpPr>
        <p:spPr>
          <a:xfrm>
            <a:off x="548640" y="489204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12</a:t>
            </a:r>
            <a:endParaRPr lang="en-US" sz="1700" dirty="0"/>
          </a:p>
        </p:txBody>
      </p:sp>
      <p:sp>
        <p:nvSpPr>
          <p:cNvPr id="27" name="text-32"/>
          <p:cNvSpPr txBox="1"/>
          <p:nvPr/>
        </p:nvSpPr>
        <p:spPr>
          <a:xfrm>
            <a:off x="1097280" y="4910328"/>
            <a:ext cx="3108960" cy="201168"/>
          </a:xfrm>
          <a:prstGeom prst="rect">
            <a:avLst/>
          </a:prstGeom>
          <a:noFill/>
          <a:ln/>
        </p:spPr>
        <p:txBody>
          <a:bodyPr wrap="square" lIns="0" tIns="0" rIns="0" bIns="0" rtlCol="0" anchor="t"/>
          <a:lstStyle/>
          <a:p>
            <a:pPr indent="0" marL="0">
              <a:buNone/>
            </a:pPr>
            <a:r>
              <a:rPr lang="en-US" sz="1100" b="1" dirty="0">
                <a:solidFill>
                  <a:schemeClr val="tx1"/>
                </a:solidFill>
              </a:rPr>
              <a:t>A Warm Heart Inside the Ice</a:t>
            </a:r>
            <a:endParaRPr lang="en-US" sz="1100" dirty="0"/>
          </a:p>
        </p:txBody>
      </p:sp>
      <p:sp>
        <p:nvSpPr>
          <p:cNvPr id="28" name="text-33"/>
          <p:cNvSpPr txBox="1"/>
          <p:nvPr/>
        </p:nvSpPr>
        <p:spPr>
          <a:xfrm>
            <a:off x="1097280" y="5102352"/>
            <a:ext cx="3108960" cy="182880"/>
          </a:xfrm>
          <a:prstGeom prst="rect">
            <a:avLst/>
          </a:prstGeom>
          <a:noFill/>
          <a:ln/>
        </p:spPr>
        <p:txBody>
          <a:bodyPr wrap="square" lIns="0" tIns="0" rIns="0" bIns="0" rtlCol="0" anchor="t"/>
          <a:lstStyle/>
          <a:p>
            <a:pPr indent="0" marL="0">
              <a:buNone/>
            </a:pPr>
            <a:r>
              <a:rPr lang="en-US" sz="900" dirty="0">
                <a:solidFill>
                  <a:schemeClr val="tx2"/>
                </a:solidFill>
              </a:rPr>
              <a:t>Mount Aurora Geothermal Spa Resort</a:t>
            </a:r>
            <a:endParaRPr lang="en-US" sz="900" dirty="0"/>
          </a:p>
        </p:txBody>
      </p:sp>
      <p:sp>
        <p:nvSpPr>
          <p:cNvPr id="29" name="text-34"/>
          <p:cNvSpPr txBox="1"/>
          <p:nvPr/>
        </p:nvSpPr>
        <p:spPr>
          <a:xfrm>
            <a:off x="548640" y="534924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14</a:t>
            </a:r>
            <a:endParaRPr lang="en-US" sz="1700" dirty="0"/>
          </a:p>
        </p:txBody>
      </p:sp>
      <p:sp>
        <p:nvSpPr>
          <p:cNvPr id="30" name="text-35"/>
          <p:cNvSpPr txBox="1"/>
          <p:nvPr/>
        </p:nvSpPr>
        <p:spPr>
          <a:xfrm>
            <a:off x="1097280" y="5367528"/>
            <a:ext cx="3108960" cy="201168"/>
          </a:xfrm>
          <a:prstGeom prst="rect">
            <a:avLst/>
          </a:prstGeom>
          <a:noFill/>
          <a:ln/>
        </p:spPr>
        <p:txBody>
          <a:bodyPr wrap="square" lIns="0" tIns="0" rIns="0" bIns="0" rtlCol="0" anchor="t"/>
          <a:lstStyle/>
          <a:p>
            <a:pPr indent="0" marL="0">
              <a:buNone/>
            </a:pPr>
            <a:r>
              <a:rPr lang="en-US" sz="1100" b="1" dirty="0">
                <a:solidFill>
                  <a:schemeClr val="tx1"/>
                </a:solidFill>
              </a:rPr>
              <a:t>Three Districts, One Loop</a:t>
            </a:r>
            <a:endParaRPr lang="en-US" sz="1100" dirty="0"/>
          </a:p>
        </p:txBody>
      </p:sp>
      <p:sp>
        <p:nvSpPr>
          <p:cNvPr id="31" name="text-36"/>
          <p:cNvSpPr txBox="1"/>
          <p:nvPr/>
        </p:nvSpPr>
        <p:spPr>
          <a:xfrm>
            <a:off x="1097280" y="5559552"/>
            <a:ext cx="3108960" cy="182880"/>
          </a:xfrm>
          <a:prstGeom prst="rect">
            <a:avLst/>
          </a:prstGeom>
          <a:noFill/>
          <a:ln/>
        </p:spPr>
        <p:txBody>
          <a:bodyPr wrap="square" lIns="0" tIns="0" rIns="0" bIns="0" rtlCol="0" anchor="t"/>
          <a:lstStyle/>
          <a:p>
            <a:pPr indent="0" marL="0">
              <a:buNone/>
            </a:pPr>
            <a:r>
              <a:rPr lang="en-US" sz="900" dirty="0">
                <a:solidFill>
                  <a:schemeClr val="tx2"/>
                </a:solidFill>
              </a:rPr>
              <a:t>How heat, water, oxygen and waste go round</a:t>
            </a:r>
            <a:endParaRPr lang="en-US" sz="900" dirty="0"/>
          </a:p>
        </p:txBody>
      </p:sp>
      <p:sp>
        <p:nvSpPr>
          <p:cNvPr id="32" name="text-37"/>
          <p:cNvSpPr txBox="1"/>
          <p:nvPr/>
        </p:nvSpPr>
        <p:spPr>
          <a:xfrm>
            <a:off x="548640" y="580644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15</a:t>
            </a:r>
            <a:endParaRPr lang="en-US" sz="1700" dirty="0"/>
          </a:p>
        </p:txBody>
      </p:sp>
      <p:sp>
        <p:nvSpPr>
          <p:cNvPr id="33" name="text-38"/>
          <p:cNvSpPr txBox="1"/>
          <p:nvPr/>
        </p:nvSpPr>
        <p:spPr>
          <a:xfrm>
            <a:off x="1097280" y="5824728"/>
            <a:ext cx="3108960" cy="201168"/>
          </a:xfrm>
          <a:prstGeom prst="rect">
            <a:avLst/>
          </a:prstGeom>
          <a:noFill/>
          <a:ln/>
        </p:spPr>
        <p:txBody>
          <a:bodyPr wrap="square" lIns="0" tIns="0" rIns="0" bIns="0" rtlCol="0" anchor="t"/>
          <a:lstStyle/>
          <a:p>
            <a:pPr indent="0" marL="0">
              <a:buNone/>
            </a:pPr>
            <a:r>
              <a:rPr lang="en-US" sz="1100" b="1" dirty="0">
                <a:solidFill>
                  <a:schemeClr val="tx1"/>
                </a:solidFill>
              </a:rPr>
              <a:t>Energy for the Polar Night</a:t>
            </a:r>
            <a:endParaRPr lang="en-US" sz="1100" dirty="0"/>
          </a:p>
        </p:txBody>
      </p:sp>
      <p:sp>
        <p:nvSpPr>
          <p:cNvPr id="34" name="text-39"/>
          <p:cNvSpPr txBox="1"/>
          <p:nvPr/>
        </p:nvSpPr>
        <p:spPr>
          <a:xfrm>
            <a:off x="1097280" y="6016752"/>
            <a:ext cx="3108960" cy="182880"/>
          </a:xfrm>
          <a:prstGeom prst="rect">
            <a:avLst/>
          </a:prstGeom>
          <a:noFill/>
          <a:ln/>
        </p:spPr>
        <p:txBody>
          <a:bodyPr wrap="square" lIns="0" tIns="0" rIns="0" bIns="0" rtlCol="0" anchor="t"/>
          <a:lstStyle/>
          <a:p>
            <a:pPr indent="0" marL="0">
              <a:buNone/>
            </a:pPr>
            <a:r>
              <a:rPr lang="en-US" sz="900" dirty="0">
                <a:solidFill>
                  <a:schemeClr val="tx2"/>
                </a:solidFill>
              </a:rPr>
              <a:t>Fusion, wind, sun, geothermal and storage</a:t>
            </a:r>
            <a:endParaRPr lang="en-US" sz="900" dirty="0"/>
          </a:p>
        </p:txBody>
      </p:sp>
      <p:sp>
        <p:nvSpPr>
          <p:cNvPr id="35" name="text-40"/>
          <p:cNvSpPr txBox="1"/>
          <p:nvPr/>
        </p:nvSpPr>
        <p:spPr>
          <a:xfrm>
            <a:off x="548640" y="626364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16</a:t>
            </a:r>
            <a:endParaRPr lang="en-US" sz="1700" dirty="0"/>
          </a:p>
        </p:txBody>
      </p:sp>
      <p:sp>
        <p:nvSpPr>
          <p:cNvPr id="36" name="text-41"/>
          <p:cNvSpPr txBox="1"/>
          <p:nvPr/>
        </p:nvSpPr>
        <p:spPr>
          <a:xfrm>
            <a:off x="1097280" y="6281928"/>
            <a:ext cx="3108960" cy="201168"/>
          </a:xfrm>
          <a:prstGeom prst="rect">
            <a:avLst/>
          </a:prstGeom>
          <a:noFill/>
          <a:ln/>
        </p:spPr>
        <p:txBody>
          <a:bodyPr wrap="square" lIns="0" tIns="0" rIns="0" bIns="0" rtlCol="0" anchor="t"/>
          <a:lstStyle/>
          <a:p>
            <a:pPr indent="0" marL="0">
              <a:buNone/>
            </a:pPr>
            <a:r>
              <a:rPr lang="en-US" sz="1100" b="1" dirty="0">
                <a:solidFill>
                  <a:schemeClr val="tx1"/>
                </a:solidFill>
              </a:rPr>
              <a:t>Nothing Is Wasted</a:t>
            </a:r>
            <a:endParaRPr lang="en-US" sz="1100" dirty="0"/>
          </a:p>
        </p:txBody>
      </p:sp>
      <p:sp>
        <p:nvSpPr>
          <p:cNvPr id="37" name="text-42"/>
          <p:cNvSpPr txBox="1"/>
          <p:nvPr/>
        </p:nvSpPr>
        <p:spPr>
          <a:xfrm>
            <a:off x="1097280" y="6473952"/>
            <a:ext cx="3108960" cy="182880"/>
          </a:xfrm>
          <a:prstGeom prst="rect">
            <a:avLst/>
          </a:prstGeom>
          <a:noFill/>
          <a:ln/>
        </p:spPr>
        <p:txBody>
          <a:bodyPr wrap="square" lIns="0" tIns="0" rIns="0" bIns="0" rtlCol="0" anchor="t"/>
          <a:lstStyle/>
          <a:p>
            <a:pPr indent="0" marL="0">
              <a:buNone/>
            </a:pPr>
            <a:r>
              <a:rPr lang="en-US" sz="900" dirty="0">
                <a:solidFill>
                  <a:schemeClr val="tx2"/>
                </a:solidFill>
              </a:rPr>
              <a:t>Water and waste in closed loops</a:t>
            </a:r>
            <a:endParaRPr lang="en-US" sz="900" dirty="0"/>
          </a:p>
        </p:txBody>
      </p:sp>
      <p:sp>
        <p:nvSpPr>
          <p:cNvPr id="38" name="text-43"/>
          <p:cNvSpPr txBox="1"/>
          <p:nvPr/>
        </p:nvSpPr>
        <p:spPr>
          <a:xfrm>
            <a:off x="548640" y="672084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17</a:t>
            </a:r>
            <a:endParaRPr lang="en-US" sz="1700" dirty="0"/>
          </a:p>
        </p:txBody>
      </p:sp>
      <p:sp>
        <p:nvSpPr>
          <p:cNvPr id="39" name="text-44"/>
          <p:cNvSpPr txBox="1"/>
          <p:nvPr/>
        </p:nvSpPr>
        <p:spPr>
          <a:xfrm>
            <a:off x="1097280" y="6739128"/>
            <a:ext cx="3108960" cy="201168"/>
          </a:xfrm>
          <a:prstGeom prst="rect">
            <a:avLst/>
          </a:prstGeom>
          <a:noFill/>
          <a:ln/>
        </p:spPr>
        <p:txBody>
          <a:bodyPr wrap="square" lIns="0" tIns="0" rIns="0" bIns="0" rtlCol="0" anchor="t"/>
          <a:lstStyle/>
          <a:p>
            <a:pPr indent="0" marL="0">
              <a:buNone/>
            </a:pPr>
            <a:r>
              <a:rPr lang="en-US" sz="1100" b="1" dirty="0">
                <a:solidFill>
                  <a:schemeClr val="tx1"/>
                </a:solidFill>
              </a:rPr>
              <a:t>Getting Around Fossil-Free</a:t>
            </a:r>
            <a:endParaRPr lang="en-US" sz="1100" dirty="0"/>
          </a:p>
        </p:txBody>
      </p:sp>
      <p:sp>
        <p:nvSpPr>
          <p:cNvPr id="40" name="text-45"/>
          <p:cNvSpPr txBox="1"/>
          <p:nvPr/>
        </p:nvSpPr>
        <p:spPr>
          <a:xfrm>
            <a:off x="1097280" y="6931152"/>
            <a:ext cx="3108960" cy="182880"/>
          </a:xfrm>
          <a:prstGeom prst="rect">
            <a:avLst/>
          </a:prstGeom>
          <a:noFill/>
          <a:ln/>
        </p:spPr>
        <p:txBody>
          <a:bodyPr wrap="square" lIns="0" tIns="0" rIns="0" bIns="0" rtlCol="0" anchor="t"/>
          <a:lstStyle/>
          <a:p>
            <a:pPr indent="0" marL="0">
              <a:buNone/>
            </a:pPr>
            <a:r>
              <a:rPr lang="en-US" sz="900" dirty="0">
                <a:solidFill>
                  <a:schemeClr val="tx2"/>
                </a:solidFill>
              </a:rPr>
              <a:t>Metro, trams, heated roads and the airport</a:t>
            </a:r>
            <a:endParaRPr lang="en-US" sz="900" dirty="0"/>
          </a:p>
        </p:txBody>
      </p:sp>
      <p:sp>
        <p:nvSpPr>
          <p:cNvPr id="41" name="text-46"/>
          <p:cNvSpPr txBox="1"/>
          <p:nvPr/>
        </p:nvSpPr>
        <p:spPr>
          <a:xfrm>
            <a:off x="548640" y="717804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18</a:t>
            </a:r>
            <a:endParaRPr lang="en-US" sz="1700" dirty="0"/>
          </a:p>
        </p:txBody>
      </p:sp>
      <p:sp>
        <p:nvSpPr>
          <p:cNvPr id="42" name="text-47"/>
          <p:cNvSpPr txBox="1"/>
          <p:nvPr/>
        </p:nvSpPr>
        <p:spPr>
          <a:xfrm>
            <a:off x="1097280" y="7196328"/>
            <a:ext cx="3108960" cy="201168"/>
          </a:xfrm>
          <a:prstGeom prst="rect">
            <a:avLst/>
          </a:prstGeom>
          <a:noFill/>
          <a:ln/>
        </p:spPr>
        <p:txBody>
          <a:bodyPr wrap="square" lIns="0" tIns="0" rIns="0" bIns="0" rtlCol="0" anchor="t"/>
          <a:lstStyle/>
          <a:p>
            <a:pPr indent="0" marL="0">
              <a:buNone/>
            </a:pPr>
            <a:r>
              <a:rPr lang="en-US" sz="1100" b="1" dirty="0">
                <a:solidFill>
                  <a:schemeClr val="tx1"/>
                </a:solidFill>
              </a:rPr>
              <a:t>A Livable City Every Day</a:t>
            </a:r>
            <a:endParaRPr lang="en-US" sz="1100" dirty="0"/>
          </a:p>
        </p:txBody>
      </p:sp>
      <p:sp>
        <p:nvSpPr>
          <p:cNvPr id="43" name="text-48"/>
          <p:cNvSpPr txBox="1"/>
          <p:nvPr/>
        </p:nvSpPr>
        <p:spPr>
          <a:xfrm>
            <a:off x="1097280" y="7388352"/>
            <a:ext cx="3108960" cy="182880"/>
          </a:xfrm>
          <a:prstGeom prst="rect">
            <a:avLst/>
          </a:prstGeom>
          <a:noFill/>
          <a:ln/>
        </p:spPr>
        <p:txBody>
          <a:bodyPr wrap="square" lIns="0" tIns="0" rIns="0" bIns="0" rtlCol="0" anchor="t"/>
          <a:lstStyle/>
          <a:p>
            <a:pPr indent="0" marL="0">
              <a:buNone/>
            </a:pPr>
            <a:r>
              <a:rPr lang="en-US" sz="900" dirty="0">
                <a:solidFill>
                  <a:schemeClr val="tx2"/>
                </a:solidFill>
              </a:rPr>
              <a:t>Homes, schools, health, shops and culture</a:t>
            </a:r>
            <a:endParaRPr lang="en-US" sz="900" dirty="0"/>
          </a:p>
        </p:txBody>
      </p:sp>
      <p:sp>
        <p:nvSpPr>
          <p:cNvPr id="44" name="text-49"/>
          <p:cNvSpPr txBox="1"/>
          <p:nvPr/>
        </p:nvSpPr>
        <p:spPr>
          <a:xfrm>
            <a:off x="548640" y="763524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19</a:t>
            </a:r>
            <a:endParaRPr lang="en-US" sz="1700" dirty="0"/>
          </a:p>
        </p:txBody>
      </p:sp>
      <p:sp>
        <p:nvSpPr>
          <p:cNvPr id="45" name="text-50"/>
          <p:cNvSpPr txBox="1"/>
          <p:nvPr/>
        </p:nvSpPr>
        <p:spPr>
          <a:xfrm>
            <a:off x="1097280" y="7653528"/>
            <a:ext cx="3108960" cy="201168"/>
          </a:xfrm>
          <a:prstGeom prst="rect">
            <a:avLst/>
          </a:prstGeom>
          <a:noFill/>
          <a:ln/>
        </p:spPr>
        <p:txBody>
          <a:bodyPr wrap="square" lIns="0" tIns="0" rIns="0" bIns="0" rtlCol="0" anchor="t"/>
          <a:lstStyle/>
          <a:p>
            <a:pPr indent="0" marL="0">
              <a:buNone/>
            </a:pPr>
            <a:r>
              <a:rPr lang="en-US" sz="1100" b="1" dirty="0">
                <a:solidFill>
                  <a:schemeClr val="tx1"/>
                </a:solidFill>
              </a:rPr>
              <a:t>Safe and Ready for Any Storm</a:t>
            </a:r>
            <a:endParaRPr lang="en-US" sz="1100" dirty="0"/>
          </a:p>
        </p:txBody>
      </p:sp>
      <p:sp>
        <p:nvSpPr>
          <p:cNvPr id="46" name="text-51"/>
          <p:cNvSpPr txBox="1"/>
          <p:nvPr/>
        </p:nvSpPr>
        <p:spPr>
          <a:xfrm>
            <a:off x="1097280" y="7845552"/>
            <a:ext cx="3108960" cy="182880"/>
          </a:xfrm>
          <a:prstGeom prst="rect">
            <a:avLst/>
          </a:prstGeom>
          <a:noFill/>
          <a:ln/>
        </p:spPr>
        <p:txBody>
          <a:bodyPr wrap="square" lIns="0" tIns="0" rIns="0" bIns="0" rtlCol="0" anchor="t"/>
          <a:lstStyle/>
          <a:p>
            <a:pPr indent="0" marL="0">
              <a:buNone/>
            </a:pPr>
            <a:r>
              <a:rPr lang="en-US" sz="900" dirty="0">
                <a:solidFill>
                  <a:schemeClr val="tx2"/>
                </a:solidFill>
              </a:rPr>
              <a:t>Rescue, shelters and blizzard forecasts</a:t>
            </a:r>
            <a:endParaRPr lang="en-US" sz="900" dirty="0"/>
          </a:p>
        </p:txBody>
      </p:sp>
      <p:sp>
        <p:nvSpPr>
          <p:cNvPr id="47" name="text-52"/>
          <p:cNvSpPr txBox="1"/>
          <p:nvPr/>
        </p:nvSpPr>
        <p:spPr>
          <a:xfrm>
            <a:off x="548640" y="809244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20</a:t>
            </a:r>
            <a:endParaRPr lang="en-US" sz="1700" dirty="0"/>
          </a:p>
        </p:txBody>
      </p:sp>
      <p:sp>
        <p:nvSpPr>
          <p:cNvPr id="48" name="text-53"/>
          <p:cNvSpPr txBox="1"/>
          <p:nvPr/>
        </p:nvSpPr>
        <p:spPr>
          <a:xfrm>
            <a:off x="1097280" y="8110728"/>
            <a:ext cx="3108960" cy="201168"/>
          </a:xfrm>
          <a:prstGeom prst="rect">
            <a:avLst/>
          </a:prstGeom>
          <a:noFill/>
          <a:ln/>
        </p:spPr>
        <p:txBody>
          <a:bodyPr wrap="square" lIns="0" tIns="0" rIns="0" bIns="0" rtlCol="0" anchor="t"/>
          <a:lstStyle/>
          <a:p>
            <a:pPr indent="0" marL="0">
              <a:buNone/>
            </a:pPr>
            <a:r>
              <a:rPr lang="en-US" sz="1100" b="1" dirty="0">
                <a:solidFill>
                  <a:schemeClr val="tx1"/>
                </a:solidFill>
              </a:rPr>
              <a:t>Take the Tour</a:t>
            </a:r>
            <a:endParaRPr lang="en-US" sz="1100" dirty="0"/>
          </a:p>
        </p:txBody>
      </p:sp>
      <p:sp>
        <p:nvSpPr>
          <p:cNvPr id="49" name="text-54"/>
          <p:cNvSpPr txBox="1"/>
          <p:nvPr/>
        </p:nvSpPr>
        <p:spPr>
          <a:xfrm>
            <a:off x="1097280" y="8302752"/>
            <a:ext cx="3108960" cy="182880"/>
          </a:xfrm>
          <a:prstGeom prst="rect">
            <a:avLst/>
          </a:prstGeom>
          <a:noFill/>
          <a:ln/>
        </p:spPr>
        <p:txBody>
          <a:bodyPr wrap="square" lIns="0" tIns="0" rIns="0" bIns="0" rtlCol="0" anchor="t"/>
          <a:lstStyle/>
          <a:p>
            <a:pPr indent="0" marL="0">
              <a:buNone/>
            </a:pPr>
            <a:r>
              <a:rPr lang="en-US" sz="900" dirty="0">
                <a:solidFill>
                  <a:schemeClr val="tx2"/>
                </a:solidFill>
              </a:rPr>
              <a:t>Eight stops around the city</a:t>
            </a:r>
            <a:endParaRPr lang="en-US" sz="900" dirty="0"/>
          </a:p>
        </p:txBody>
      </p:sp>
      <p:sp>
        <p:nvSpPr>
          <p:cNvPr id="50" name="text-55"/>
          <p:cNvSpPr txBox="1"/>
          <p:nvPr/>
        </p:nvSpPr>
        <p:spPr>
          <a:xfrm>
            <a:off x="548640" y="854964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21</a:t>
            </a:r>
            <a:endParaRPr lang="en-US" sz="1700" dirty="0"/>
          </a:p>
        </p:txBody>
      </p:sp>
      <p:sp>
        <p:nvSpPr>
          <p:cNvPr id="51" name="text-56"/>
          <p:cNvSpPr txBox="1"/>
          <p:nvPr/>
        </p:nvSpPr>
        <p:spPr>
          <a:xfrm>
            <a:off x="1097280" y="8567928"/>
            <a:ext cx="3108960" cy="201168"/>
          </a:xfrm>
          <a:prstGeom prst="rect">
            <a:avLst/>
          </a:prstGeom>
          <a:noFill/>
          <a:ln/>
        </p:spPr>
        <p:txBody>
          <a:bodyPr wrap="square" lIns="0" tIns="0" rIns="0" bIns="0" rtlCol="0" anchor="t"/>
          <a:lstStyle/>
          <a:p>
            <a:pPr indent="0" marL="0">
              <a:buNone/>
            </a:pPr>
            <a:r>
              <a:rPr lang="en-US" sz="1100" b="1" dirty="0">
                <a:solidFill>
                  <a:schemeClr val="tx1"/>
                </a:solidFill>
              </a:rPr>
              <a:t>Places to Visit</a:t>
            </a:r>
            <a:endParaRPr lang="en-US" sz="1100" dirty="0"/>
          </a:p>
        </p:txBody>
      </p:sp>
      <p:sp>
        <p:nvSpPr>
          <p:cNvPr id="52" name="text-57"/>
          <p:cNvSpPr txBox="1"/>
          <p:nvPr/>
        </p:nvSpPr>
        <p:spPr>
          <a:xfrm>
            <a:off x="1097280" y="8759952"/>
            <a:ext cx="3108960" cy="182880"/>
          </a:xfrm>
          <a:prstGeom prst="rect">
            <a:avLst/>
          </a:prstGeom>
          <a:noFill/>
          <a:ln/>
        </p:spPr>
        <p:txBody>
          <a:bodyPr wrap="square" lIns="0" tIns="0" rIns="0" bIns="0" rtlCol="0" anchor="t"/>
          <a:lstStyle/>
          <a:p>
            <a:pPr indent="0" marL="0">
              <a:buNone/>
            </a:pPr>
            <a:r>
              <a:rPr lang="en-US" sz="900" dirty="0">
                <a:solidFill>
                  <a:schemeClr val="tx2"/>
                </a:solidFill>
              </a:rPr>
              <a:t>35 key places and what they do</a:t>
            </a:r>
            <a:endParaRPr lang="en-US" sz="900" dirty="0"/>
          </a:p>
        </p:txBody>
      </p:sp>
      <p:sp>
        <p:nvSpPr>
          <p:cNvPr id="53" name="text-58"/>
          <p:cNvSpPr txBox="1"/>
          <p:nvPr/>
        </p:nvSpPr>
        <p:spPr>
          <a:xfrm>
            <a:off x="548640" y="900684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23</a:t>
            </a:r>
            <a:endParaRPr lang="en-US" sz="1700" dirty="0"/>
          </a:p>
        </p:txBody>
      </p:sp>
      <p:sp>
        <p:nvSpPr>
          <p:cNvPr id="54" name="text-59"/>
          <p:cNvSpPr txBox="1"/>
          <p:nvPr/>
        </p:nvSpPr>
        <p:spPr>
          <a:xfrm>
            <a:off x="1097280" y="9025128"/>
            <a:ext cx="3108960" cy="201168"/>
          </a:xfrm>
          <a:prstGeom prst="rect">
            <a:avLst/>
          </a:prstGeom>
          <a:noFill/>
          <a:ln/>
        </p:spPr>
        <p:txBody>
          <a:bodyPr wrap="square" lIns="0" tIns="0" rIns="0" bIns="0" rtlCol="0" anchor="t"/>
          <a:lstStyle/>
          <a:p>
            <a:pPr indent="0" marL="0">
              <a:buNone/>
            </a:pPr>
            <a:r>
              <a:rPr lang="en-US" sz="1100" b="1" dirty="0">
                <a:solidFill>
                  <a:schemeClr val="tx1"/>
                </a:solidFill>
              </a:rPr>
              <a:t>Aurora Haven by the Numbers</a:t>
            </a:r>
            <a:endParaRPr lang="en-US" sz="1100" dirty="0"/>
          </a:p>
        </p:txBody>
      </p:sp>
      <p:sp>
        <p:nvSpPr>
          <p:cNvPr id="55" name="text-60"/>
          <p:cNvSpPr txBox="1"/>
          <p:nvPr/>
        </p:nvSpPr>
        <p:spPr>
          <a:xfrm>
            <a:off x="1097280" y="9217152"/>
            <a:ext cx="3108960" cy="182880"/>
          </a:xfrm>
          <a:prstGeom prst="rect">
            <a:avLst/>
          </a:prstGeom>
          <a:noFill/>
          <a:ln/>
        </p:spPr>
        <p:txBody>
          <a:bodyPr wrap="square" lIns="0" tIns="0" rIns="0" bIns="0" rtlCol="0" anchor="t"/>
          <a:lstStyle/>
          <a:p>
            <a:pPr indent="0" marL="0">
              <a:buNone/>
            </a:pPr>
            <a:r>
              <a:rPr lang="en-US" sz="900" dirty="0">
                <a:solidFill>
                  <a:schemeClr val="tx2"/>
                </a:solidFill>
              </a:rPr>
              <a:t>The key figures in one place</a:t>
            </a:r>
            <a:endParaRPr lang="en-US" sz="900" dirty="0"/>
          </a:p>
        </p:txBody>
      </p:sp>
      <p:sp>
        <p:nvSpPr>
          <p:cNvPr id="56" name="text-61"/>
          <p:cNvSpPr txBox="1"/>
          <p:nvPr/>
        </p:nvSpPr>
        <p:spPr>
          <a:xfrm>
            <a:off x="548640" y="946404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24</a:t>
            </a:r>
            <a:endParaRPr lang="en-US" sz="1700" dirty="0"/>
          </a:p>
        </p:txBody>
      </p:sp>
      <p:sp>
        <p:nvSpPr>
          <p:cNvPr id="57" name="text-62"/>
          <p:cNvSpPr txBox="1"/>
          <p:nvPr/>
        </p:nvSpPr>
        <p:spPr>
          <a:xfrm>
            <a:off x="1097280" y="9482328"/>
            <a:ext cx="3108960" cy="201168"/>
          </a:xfrm>
          <a:prstGeom prst="rect">
            <a:avLst/>
          </a:prstGeom>
          <a:noFill/>
          <a:ln/>
        </p:spPr>
        <p:txBody>
          <a:bodyPr wrap="square" lIns="0" tIns="0" rIns="0" bIns="0" rtlCol="0" anchor="t"/>
          <a:lstStyle/>
          <a:p>
            <a:pPr indent="0" marL="0">
              <a:buNone/>
            </a:pPr>
            <a:r>
              <a:rPr lang="en-US" sz="1100" b="1" dirty="0">
                <a:solidFill>
                  <a:schemeClr val="tx1"/>
                </a:solidFill>
              </a:rPr>
              <a:t>Warm, Green and Ready</a:t>
            </a:r>
            <a:endParaRPr lang="en-US" sz="1100" dirty="0"/>
          </a:p>
        </p:txBody>
      </p:sp>
      <p:sp>
        <p:nvSpPr>
          <p:cNvPr id="58" name="text-63"/>
          <p:cNvSpPr txBox="1"/>
          <p:nvPr/>
        </p:nvSpPr>
        <p:spPr>
          <a:xfrm>
            <a:off x="1097280" y="9674352"/>
            <a:ext cx="3108960" cy="182880"/>
          </a:xfrm>
          <a:prstGeom prst="rect">
            <a:avLst/>
          </a:prstGeom>
          <a:noFill/>
          <a:ln/>
        </p:spPr>
        <p:txBody>
          <a:bodyPr wrap="square" lIns="0" tIns="0" rIns="0" bIns="0" rtlCol="0" anchor="t"/>
          <a:lstStyle/>
          <a:p>
            <a:pPr indent="0" marL="0">
              <a:buNone/>
            </a:pPr>
            <a:r>
              <a:rPr lang="en-US" sz="900" dirty="0">
                <a:solidFill>
                  <a:schemeClr val="tx2"/>
                </a:solidFill>
              </a:rPr>
              <a:t>Until next time</a:t>
            </a:r>
            <a:endParaRPr lang="en-US" sz="900" dirty="0"/>
          </a:p>
        </p:txBody>
      </p:sp>
      <p:pic>
        <p:nvPicPr>
          <p:cNvPr id="59" name="picture-64" descr="/home/user/chatbox-bi-n-o/magazine/assets_v2/renders/lagoon.jpg">    </p:cNvPr>
          <p:cNvPicPr>
            <a:picLocks noChangeAspect="1"/>
          </p:cNvPicPr>
          <p:nvPr/>
        </p:nvPicPr>
        <p:blipFill>
          <a:blip r:embed="rId1"/>
          <a:srcRect l="0" r="0" t="0" b="0"/>
          <a:stretch/>
        </p:blipFill>
        <p:spPr>
          <a:xfrm>
            <a:off x="4434840" y="1691640"/>
            <a:ext cx="2578608" cy="1691640"/>
          </a:xfrm>
          <a:prstGeom prst="rect">
            <a:avLst/>
          </a:prstGeom>
        </p:spPr>
      </p:pic>
      <p:sp>
        <p:nvSpPr>
          <p:cNvPr id="60" name="text-65"/>
          <p:cNvSpPr txBox="1"/>
          <p:nvPr/>
        </p:nvSpPr>
        <p:spPr>
          <a:xfrm>
            <a:off x="4434840" y="3456432"/>
            <a:ext cx="2578608" cy="365760"/>
          </a:xfrm>
          <a:prstGeom prst="rect">
            <a:avLst/>
          </a:prstGeom>
          <a:noFill/>
          <a:ln/>
        </p:spPr>
        <p:txBody>
          <a:bodyPr wrap="square" lIns="0" tIns="0" rIns="0" bIns="0" rtlCol="0" anchor="t"/>
          <a:lstStyle/>
          <a:p>
            <a:pPr indent="0" marL="0">
              <a:buNone/>
            </a:pPr>
            <a:r>
              <a:rPr lang="en-US" sz="850" i="1" dirty="0">
                <a:solidFill>
                  <a:schemeClr val="tx2"/>
                </a:solidFill>
              </a:rPr>
              <a:t>The Aurora Lagoon and the North Portal of Mount Aurora under the northern lights.</a:t>
            </a:r>
            <a:endParaRPr lang="en-US" sz="850" dirty="0"/>
          </a:p>
        </p:txBody>
      </p:sp>
      <p:sp>
        <p:nvSpPr>
          <p:cNvPr id="61" name="kicker-dot-66"/>
          <p:cNvSpPr/>
          <p:nvPr/>
        </p:nvSpPr>
        <p:spPr>
          <a:xfrm>
            <a:off x="4434840" y="4064508"/>
            <a:ext cx="100584" cy="100584"/>
          </a:xfrm>
          <a:prstGeom prst="ellipse">
            <a:avLst/>
          </a:prstGeom>
          <a:solidFill>
            <a:schemeClr val="accent6"/>
          </a:solidFill>
          <a:ln w="12700">
            <a:solidFill>
              <a:schemeClr val="accent6"/>
            </a:solidFill>
            <a:prstDash val="solid"/>
          </a:ln>
        </p:spPr>
      </p:sp>
      <p:sp>
        <p:nvSpPr>
          <p:cNvPr id="62" name="text-67"/>
          <p:cNvSpPr txBox="1"/>
          <p:nvPr/>
        </p:nvSpPr>
        <p:spPr>
          <a:xfrm>
            <a:off x="4617720" y="4023360"/>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FROM THE EDITORS</a:t>
            </a:r>
            <a:endParaRPr lang="en-US" sz="900" dirty="0"/>
          </a:p>
        </p:txBody>
      </p:sp>
      <p:sp>
        <p:nvSpPr>
          <p:cNvPr id="63" name="text-68"/>
          <p:cNvSpPr txBox="1"/>
          <p:nvPr/>
        </p:nvSpPr>
        <p:spPr>
          <a:xfrm>
            <a:off x="4434840" y="4343400"/>
            <a:ext cx="2578608" cy="2651760"/>
          </a:xfrm>
          <a:prstGeom prst="rect">
            <a:avLst/>
          </a:prstGeom>
          <a:noFill/>
          <a:ln/>
        </p:spPr>
        <p:txBody>
          <a:bodyPr wrap="square" lIns="0" tIns="0" rIns="0" bIns="0" rtlCol="0" anchor="t"/>
          <a:lstStyle/>
          <a:p>
            <a:pPr indent="0" marL="0">
              <a:lnSpc>
                <a:spcPct val="112000"/>
              </a:lnSpc>
              <a:spcAft>
                <a:spcPts val="700"/>
              </a:spcAft>
              <a:buNone/>
            </a:pPr>
            <a:r>
              <a:rPr lang="en-US" sz="1050" dirty="0">
                <a:solidFill>
                  <a:schemeClr val="tx1"/>
                </a:solidFill>
              </a:rPr>
              <a:t>Welcome to the first issue of Aurora Haven, a magazine about our city for the Polar / Ice environment.</a:t>
            </a:r>
            <a:endParaRPr lang="en-US" sz="1050" dirty="0"/>
          </a:p>
          <a:p>
            <a:pPr indent="0" marL="0">
              <a:lnSpc>
                <a:spcPct val="112000"/>
              </a:lnSpc>
              <a:spcAft>
                <a:spcPts val="700"/>
              </a:spcAft>
              <a:buNone/>
            </a:pPr>
            <a:r>
              <a:rPr lang="en-US" sz="1050" dirty="0">
                <a:solidFill>
                  <a:schemeClr val="tx1"/>
                </a:solidFill>
              </a:rPr>
              <a:t>Aurora Haven is a compact city of about 45,000 people on a frozen tundra plateau, below a 35-metre snow peak called Mount Aurora. Our goal was not only to survive the cold but to build a city where people really want to live.</a:t>
            </a:r>
            <a:endParaRPr lang="en-US" sz="1050" dirty="0"/>
          </a:p>
          <a:p>
            <a:pPr indent="0" marL="0">
              <a:lnSpc>
                <a:spcPct val="112000"/>
              </a:lnSpc>
              <a:spcAft>
                <a:spcPts val="700"/>
              </a:spcAft>
              <a:buNone/>
            </a:pPr>
            <a:r>
              <a:rPr lang="en-US" sz="1050" dirty="0">
                <a:solidFill>
                  <a:schemeClr val="tx1"/>
                </a:solidFill>
              </a:rPr>
              <a:t>In these pages you will find the challenge we faced, our design ideas, our three signature districts and everyday life in the city. At the back, a self-guided tour takes you around the city, from the monument to the rescue station.</a:t>
            </a:r>
            <a:endParaRPr lang="en-US" sz="1050" dirty="0"/>
          </a:p>
        </p:txBody>
      </p:sp>
      <p:sp>
        <p:nvSpPr>
          <p:cNvPr id="64" name="text-69"/>
          <p:cNvSpPr txBox="1"/>
          <p:nvPr/>
        </p:nvSpPr>
        <p:spPr>
          <a:xfrm>
            <a:off x="4434840" y="7086600"/>
            <a:ext cx="2578608" cy="228600"/>
          </a:xfrm>
          <a:prstGeom prst="rect">
            <a:avLst/>
          </a:prstGeom>
          <a:noFill/>
          <a:ln/>
        </p:spPr>
        <p:txBody>
          <a:bodyPr wrap="square" lIns="0" tIns="0" rIns="0" bIns="0" rtlCol="0" anchor="t"/>
          <a:lstStyle/>
          <a:p>
            <a:pPr indent="0" marL="0">
              <a:buNone/>
            </a:pPr>
            <a:r>
              <a:rPr lang="en-US" sz="1200" b="1" i="1" dirty="0">
                <a:solidFill>
                  <a:schemeClr val="tx1"/>
                </a:solidFill>
                <a:latin typeface="+mj-lt" pitchFamily="34" charset="0"/>
                <a:ea typeface="+mj-lt" pitchFamily="34" charset="-122"/>
                <a:cs typeface="+mj-lt" pitchFamily="34" charset="-120"/>
              </a:rPr>
              <a:t>[Group name]</a:t>
            </a:r>
            <a:endParaRPr lang="en-US" sz="1200" dirty="0"/>
          </a:p>
        </p:txBody>
      </p:sp>
      <p:sp>
        <p:nvSpPr>
          <p:cNvPr id="65" name="text-70"/>
          <p:cNvSpPr txBox="1"/>
          <p:nvPr/>
        </p:nvSpPr>
        <p:spPr>
          <a:xfrm>
            <a:off x="4434840" y="7333488"/>
            <a:ext cx="2578608" cy="365760"/>
          </a:xfrm>
          <a:prstGeom prst="rect">
            <a:avLst/>
          </a:prstGeom>
          <a:noFill/>
          <a:ln/>
        </p:spPr>
        <p:txBody>
          <a:bodyPr wrap="square" lIns="0" tIns="0" rIns="0" bIns="0" rtlCol="0" anchor="t"/>
          <a:lstStyle/>
          <a:p>
            <a:pPr indent="0" marL="0">
              <a:buNone/>
            </a:pPr>
            <a:r>
              <a:rPr lang="en-US" sz="900" dirty="0">
                <a:solidFill>
                  <a:schemeClr val="tx2"/>
                </a:solidFill>
              </a:rPr>
              <a:t>[Member names] · [Class] · [Date]</a:t>
            </a:r>
            <a:endParaRPr lang="en-US" sz="900" dirty="0"/>
          </a:p>
        </p:txBody>
      </p:sp>
      <p:sp>
        <p:nvSpPr>
          <p:cNvPr id="66" name="card-71"/>
          <p:cNvSpPr/>
          <p:nvPr/>
        </p:nvSpPr>
        <p:spPr>
          <a:xfrm>
            <a:off x="4434840" y="8503920"/>
            <a:ext cx="2578608" cy="1417320"/>
          </a:xfrm>
          <a:prstGeom prst="roundRect">
            <a:avLst>
              <a:gd name="adj" fmla="val 5161"/>
            </a:avLst>
          </a:prstGeom>
          <a:solidFill>
            <a:schemeClr val="bg2"/>
          </a:solidFill>
          <a:ln w="12700">
            <a:solidFill>
              <a:schemeClr val="bg2"/>
            </a:solidFill>
            <a:prstDash val="solid"/>
          </a:ln>
        </p:spPr>
      </p:sp>
      <p:sp>
        <p:nvSpPr>
          <p:cNvPr id="67" name="kicker-dot-72"/>
          <p:cNvSpPr/>
          <p:nvPr/>
        </p:nvSpPr>
        <p:spPr>
          <a:xfrm>
            <a:off x="4572000" y="8682228"/>
            <a:ext cx="100584" cy="100584"/>
          </a:xfrm>
          <a:prstGeom prst="ellipse">
            <a:avLst/>
          </a:prstGeom>
          <a:solidFill>
            <a:schemeClr val="accent6"/>
          </a:solidFill>
          <a:ln w="12700">
            <a:solidFill>
              <a:schemeClr val="accent6"/>
            </a:solidFill>
            <a:prstDash val="solid"/>
          </a:ln>
        </p:spPr>
      </p:sp>
      <p:sp>
        <p:nvSpPr>
          <p:cNvPr id="68" name="text-73"/>
          <p:cNvSpPr txBox="1"/>
          <p:nvPr/>
        </p:nvSpPr>
        <p:spPr>
          <a:xfrm>
            <a:off x="4754880" y="8641080"/>
            <a:ext cx="2212848" cy="201168"/>
          </a:xfrm>
          <a:prstGeom prst="rect">
            <a:avLst/>
          </a:prstGeom>
          <a:noFill/>
          <a:ln/>
        </p:spPr>
        <p:txBody>
          <a:bodyPr wrap="square" lIns="0" tIns="0" rIns="0" bIns="0" rtlCol="0" anchor="t"/>
          <a:lstStyle/>
          <a:p>
            <a:pPr indent="0" marL="0">
              <a:buNone/>
            </a:pPr>
            <a:r>
              <a:rPr lang="en-US" sz="900" b="1" spc="300" kern="0" dirty="0">
                <a:solidFill>
                  <a:schemeClr val="accent6"/>
                </a:solidFill>
              </a:rPr>
              <a:t>ON THE COVER</a:t>
            </a:r>
            <a:endParaRPr lang="en-US" sz="900" dirty="0"/>
          </a:p>
        </p:txBody>
      </p:sp>
      <p:sp>
        <p:nvSpPr>
          <p:cNvPr id="69" name="text-74"/>
          <p:cNvSpPr txBox="1"/>
          <p:nvPr/>
        </p:nvSpPr>
        <p:spPr>
          <a:xfrm>
            <a:off x="4572000" y="8897112"/>
            <a:ext cx="2304288" cy="978408"/>
          </a:xfrm>
          <a:prstGeom prst="rect">
            <a:avLst/>
          </a:prstGeom>
          <a:noFill/>
          <a:ln/>
        </p:spPr>
        <p:txBody>
          <a:bodyPr wrap="square" lIns="0" tIns="0" rIns="0" bIns="0" rtlCol="0" anchor="t"/>
          <a:lstStyle/>
          <a:p>
            <a:pPr indent="0" marL="0">
              <a:lnSpc>
                <a:spcPct val="105000"/>
              </a:lnSpc>
              <a:buNone/>
            </a:pPr>
            <a:r>
              <a:rPr lang="en-US" sz="900" dirty="0">
                <a:solidFill>
                  <a:schemeClr val="tx1"/>
                </a:solidFill>
              </a:rPr>
              <a:t>Aurora 81 – Polar Landmark Tower, named in honour of Landmark 81 in Ho Chi Minh City, beside the boulevard that leads to the glowing terraces of the Mount Aurora spa, under the northern lights.</a:t>
            </a:r>
            <a:endParaRPr lang="en-US" sz="90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1"/>
                </a:solidFil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dot-75"/>
          <p:cNvSpPr/>
          <p:nvPr/>
        </p:nvSpPr>
        <p:spPr>
          <a:xfrm>
            <a:off x="548640" y="516636"/>
            <a:ext cx="100584" cy="100584"/>
          </a:xfrm>
          <a:prstGeom prst="ellipse">
            <a:avLst/>
          </a:prstGeom>
          <a:solidFill>
            <a:schemeClr val="accent6"/>
          </a:solidFill>
          <a:ln w="12700">
            <a:solidFill>
              <a:schemeClr val="accent6"/>
            </a:solidFill>
            <a:prstDash val="solid"/>
          </a:ln>
        </p:spPr>
      </p:sp>
      <p:sp>
        <p:nvSpPr>
          <p:cNvPr id="3" name="text-76"/>
          <p:cNvSpPr txBox="1"/>
          <p:nvPr/>
        </p:nvSpPr>
        <p:spPr>
          <a:xfrm>
            <a:off x="731520" y="475488"/>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CITY OVERVIEW</a:t>
            </a:r>
            <a:endParaRPr lang="en-US" sz="900" dirty="0"/>
          </a:p>
        </p:txBody>
      </p:sp>
      <p:sp>
        <p:nvSpPr>
          <p:cNvPr id="4" name="Text 1"/>
          <p:cNvSpPr/>
          <p:nvPr>
            <p:ph idx="101" type="title" hasCustomPrompt="1"/>
          </p:nvPr>
        </p:nvSpPr>
        <p:spPr>
          <a:xfrm>
            <a:off x="548640" y="749808"/>
            <a:ext cx="6464808" cy="685800"/>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Welcome to Aurora Haven</a:t>
            </a:r>
            <a:endParaRPr lang="en-US" sz="3400" dirty="0"/>
          </a:p>
        </p:txBody>
      </p:sp>
      <p:pic>
        <p:nvPicPr>
          <p:cNvPr id="5" name="picture-77" descr="/home/user/chatbox-bi-n-o/magazine/assets_v2/renders/overview.jpg">    </p:cNvPr>
          <p:cNvPicPr>
            <a:picLocks noChangeAspect="1"/>
          </p:cNvPicPr>
          <p:nvPr/>
        </p:nvPicPr>
        <p:blipFill>
          <a:blip r:embed="rId1"/>
          <a:srcRect l="0" r="0" t="0" b="0"/>
          <a:stretch/>
        </p:blipFill>
        <p:spPr>
          <a:xfrm>
            <a:off x="0" y="1463040"/>
            <a:ext cx="7562088" cy="3749040"/>
          </a:xfrm>
          <a:prstGeom prst="rect">
            <a:avLst/>
          </a:prstGeom>
        </p:spPr>
      </p:pic>
      <p:sp>
        <p:nvSpPr>
          <p:cNvPr id="6" name="text-78"/>
          <p:cNvSpPr txBox="1"/>
          <p:nvPr/>
        </p:nvSpPr>
        <p:spPr>
          <a:xfrm>
            <a:off x="548640" y="5349240"/>
            <a:ext cx="6464808" cy="228600"/>
          </a:xfrm>
          <a:prstGeom prst="rect">
            <a:avLst/>
          </a:prstGeom>
          <a:noFill/>
          <a:ln/>
        </p:spPr>
        <p:txBody>
          <a:bodyPr wrap="square" lIns="0" tIns="0" rIns="0" bIns="0" rtlCol="0" anchor="t"/>
          <a:lstStyle/>
          <a:p>
            <a:pPr indent="0" marL="0">
              <a:buNone/>
            </a:pPr>
            <a:r>
              <a:rPr lang="en-US" sz="850" i="1" dirty="0">
                <a:solidFill>
                  <a:schemeClr val="tx2"/>
                </a:solidFill>
              </a:rPr>
              <a:t>Aurora Haven from the south-east in the low midnight sun, rendered from the 3D model.</a:t>
            </a:r>
            <a:endParaRPr lang="en-US" sz="850" dirty="0"/>
          </a:p>
        </p:txBody>
      </p:sp>
      <p:sp>
        <p:nvSpPr>
          <p:cNvPr id="7" name="text-79"/>
          <p:cNvSpPr txBox="1"/>
          <p:nvPr/>
        </p:nvSpPr>
        <p:spPr>
          <a:xfrm>
            <a:off x="548640" y="5760720"/>
            <a:ext cx="3095244" cy="3154680"/>
          </a:xfrm>
          <a:prstGeom prst="rect">
            <a:avLst/>
          </a:prstGeom>
          <a:noFill/>
          <a:ln/>
        </p:spPr>
        <p:txBody>
          <a:bodyPr wrap="square" lIns="0" tIns="0" rIns="0" bIns="0" rtlCol="0" anchor="t"/>
          <a:lstStyle/>
          <a:p>
            <a:pPr indent="0" marL="0">
              <a:lnSpc>
                <a:spcPct val="112000"/>
              </a:lnSpc>
              <a:spcAft>
                <a:spcPts val="700"/>
              </a:spcAft>
              <a:buNone/>
            </a:pPr>
            <a:r>
              <a:rPr lang="en-US" sz="1050" dirty="0">
                <a:solidFill>
                  <a:schemeClr val="tx1"/>
                </a:solidFill>
              </a:rPr>
              <a:t>Aurora Haven is a compact polar city of around 45,000 people, built on a frozen tundra plateau beneath the snow peak of Mount Aurora. Winters fall to −45 °C, the sun disappears for two months of polar night, and almost nothing can grow. Aurora Haven is designed not just to survive these conditions but to make life here warm, healthy and sustainable.</a:t>
            </a:r>
            <a:endParaRPr lang="en-US" sz="1050" dirty="0"/>
          </a:p>
          <a:p>
            <a:pPr indent="0" marL="0">
              <a:lnSpc>
                <a:spcPct val="112000"/>
              </a:lnSpc>
              <a:spcAft>
                <a:spcPts val="700"/>
              </a:spcAft>
              <a:buNone/>
            </a:pPr>
            <a:r>
              <a:rPr lang="en-US" sz="1050" dirty="0">
                <a:solidFill>
                  <a:schemeClr val="tx1"/>
                </a:solidFill>
              </a:rPr>
              <a:t>The whole city is shaped around one idea: heat, energy, water and food should never be wasted. Every building shares a single heating network, the city runs on zero-carbon energy, and nearly all of its water and waste is recycled.</a:t>
            </a:r>
            <a:endParaRPr lang="en-US" sz="1050" dirty="0"/>
          </a:p>
        </p:txBody>
      </p:sp>
      <p:sp>
        <p:nvSpPr>
          <p:cNvPr id="8" name="text-80"/>
          <p:cNvSpPr txBox="1"/>
          <p:nvPr/>
        </p:nvSpPr>
        <p:spPr>
          <a:xfrm>
            <a:off x="3918204" y="5760720"/>
            <a:ext cx="3095244" cy="3154680"/>
          </a:xfrm>
          <a:prstGeom prst="rect">
            <a:avLst/>
          </a:prstGeom>
          <a:noFill/>
          <a:ln/>
        </p:spPr>
        <p:txBody>
          <a:bodyPr wrap="square" lIns="0" tIns="0" rIns="0" bIns="0" rtlCol="0" anchor="t"/>
          <a:lstStyle/>
          <a:p>
            <a:pPr indent="0" marL="0">
              <a:lnSpc>
                <a:spcPct val="112000"/>
              </a:lnSpc>
              <a:spcAft>
                <a:spcPts val="700"/>
              </a:spcAft>
              <a:buNone/>
            </a:pPr>
            <a:r>
              <a:rPr lang="en-US" sz="1050" dirty="0">
                <a:solidFill>
                  <a:schemeClr val="tx1"/>
                </a:solidFill>
              </a:rPr>
              <a:t>Homes, schools, healthcare, shops and parks sit within a short walk of each other, connected by a downtown metro, electric trams and heated streets.</a:t>
            </a:r>
            <a:endParaRPr lang="en-US" sz="1050" dirty="0"/>
          </a:p>
          <a:p>
            <a:pPr indent="0" marL="0">
              <a:lnSpc>
                <a:spcPct val="112000"/>
              </a:lnSpc>
              <a:spcAft>
                <a:spcPts val="700"/>
              </a:spcAft>
              <a:buNone/>
            </a:pPr>
            <a:r>
              <a:rPr lang="en-US" sz="1050" dirty="0">
                <a:solidFill>
                  <a:schemeClr val="tx1"/>
                </a:solidFill>
              </a:rPr>
              <a:t>What makes Aurora Haven unique is its three signature districts. A fusion power station acts as the city’s own sun, giving steady power and heat even through the polar night. A Snow-to-Food &amp; Water Plant turns snow and air into clean drinking water and food, so the city can feed itself without farmland. And inside Mount Aurora, a geothermal spa resort offers warmth, rest and a view of the northern lights. Together they form one closed loop that keeps the city powered, fed and happy in one of the harshest places on Earth.</a:t>
            </a:r>
            <a:endParaRPr lang="en-US" sz="1050" dirty="0"/>
          </a:p>
        </p:txBody>
      </p:sp>
      <p:sp>
        <p:nvSpPr>
          <p:cNvPr id="9" name="text-81"/>
          <p:cNvSpPr txBox="1"/>
          <p:nvPr/>
        </p:nvSpPr>
        <p:spPr>
          <a:xfrm>
            <a:off x="548640" y="9098280"/>
            <a:ext cx="1479042" cy="377952"/>
          </a:xfrm>
          <a:prstGeom prst="rect">
            <a:avLst/>
          </a:prstGeom>
          <a:noFill/>
          <a:ln/>
        </p:spPr>
        <p:txBody>
          <a:bodyPr wrap="square" lIns="0" tIns="0" rIns="0" bIns="0" rtlCol="0" anchor="b"/>
          <a:lstStyle/>
          <a:p>
            <a:pPr indent="0" marL="0">
              <a:buNone/>
            </a:pPr>
            <a:r>
              <a:rPr lang="en-US" sz="2400" b="1" dirty="0">
                <a:solidFill>
                  <a:schemeClr val="accent6"/>
                </a:solidFill>
                <a:latin typeface="+mj-lt" pitchFamily="34" charset="0"/>
                <a:ea typeface="+mj-lt" pitchFamily="34" charset="-122"/>
                <a:cs typeface="+mj-lt" pitchFamily="34" charset="-120"/>
              </a:rPr>
              <a:t>45,000</a:t>
            </a:r>
            <a:endParaRPr lang="en-US" sz="2400" dirty="0"/>
          </a:p>
        </p:txBody>
      </p:sp>
      <p:sp>
        <p:nvSpPr>
          <p:cNvPr id="10" name="text-82"/>
          <p:cNvSpPr txBox="1"/>
          <p:nvPr/>
        </p:nvSpPr>
        <p:spPr>
          <a:xfrm>
            <a:off x="548640" y="9503664"/>
            <a:ext cx="1479042" cy="27432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residents</a:t>
            </a:r>
            <a:endParaRPr lang="en-US" sz="900" dirty="0"/>
          </a:p>
        </p:txBody>
      </p:sp>
      <p:sp>
        <p:nvSpPr>
          <p:cNvPr id="11" name="text-83"/>
          <p:cNvSpPr txBox="1"/>
          <p:nvPr/>
        </p:nvSpPr>
        <p:spPr>
          <a:xfrm>
            <a:off x="2164842" y="9098280"/>
            <a:ext cx="1479042" cy="377952"/>
          </a:xfrm>
          <a:prstGeom prst="rect">
            <a:avLst/>
          </a:prstGeom>
          <a:noFill/>
          <a:ln/>
        </p:spPr>
        <p:txBody>
          <a:bodyPr wrap="square" lIns="0" tIns="0" rIns="0" bIns="0" rtlCol="0" anchor="b"/>
          <a:lstStyle/>
          <a:p>
            <a:pPr indent="0" marL="0">
              <a:buNone/>
            </a:pPr>
            <a:r>
              <a:rPr lang="en-US" sz="2400" b="1" dirty="0">
                <a:solidFill>
                  <a:schemeClr val="accent6"/>
                </a:solidFill>
                <a:latin typeface="+mj-lt" pitchFamily="34" charset="0"/>
                <a:ea typeface="+mj-lt" pitchFamily="34" charset="-122"/>
                <a:cs typeface="+mj-lt" pitchFamily="34" charset="-120"/>
              </a:rPr>
              <a:t>−45 °C</a:t>
            </a:r>
            <a:endParaRPr lang="en-US" sz="2400" dirty="0"/>
          </a:p>
        </p:txBody>
      </p:sp>
      <p:sp>
        <p:nvSpPr>
          <p:cNvPr id="12" name="text-84"/>
          <p:cNvSpPr txBox="1"/>
          <p:nvPr/>
        </p:nvSpPr>
        <p:spPr>
          <a:xfrm>
            <a:off x="2164842" y="9503664"/>
            <a:ext cx="1479042" cy="27432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winter lows</a:t>
            </a:r>
            <a:endParaRPr lang="en-US" sz="900" dirty="0"/>
          </a:p>
        </p:txBody>
      </p:sp>
      <p:sp>
        <p:nvSpPr>
          <p:cNvPr id="13" name="text-85"/>
          <p:cNvSpPr txBox="1"/>
          <p:nvPr/>
        </p:nvSpPr>
        <p:spPr>
          <a:xfrm>
            <a:off x="3781044" y="9098280"/>
            <a:ext cx="1479042" cy="377952"/>
          </a:xfrm>
          <a:prstGeom prst="rect">
            <a:avLst/>
          </a:prstGeom>
          <a:noFill/>
          <a:ln/>
        </p:spPr>
        <p:txBody>
          <a:bodyPr wrap="square" lIns="0" tIns="0" rIns="0" bIns="0" rtlCol="0" anchor="b"/>
          <a:lstStyle/>
          <a:p>
            <a:pPr indent="0" marL="0">
              <a:buNone/>
            </a:pPr>
            <a:r>
              <a:rPr lang="en-US" sz="2400" b="1" dirty="0">
                <a:solidFill>
                  <a:schemeClr val="accent6"/>
                </a:solidFill>
                <a:latin typeface="+mj-lt" pitchFamily="34" charset="0"/>
                <a:ea typeface="+mj-lt" pitchFamily="34" charset="-122"/>
                <a:cs typeface="+mj-lt" pitchFamily="34" charset="-120"/>
              </a:rPr>
              <a:t>35 m</a:t>
            </a:r>
            <a:endParaRPr lang="en-US" sz="2400" dirty="0"/>
          </a:p>
        </p:txBody>
      </p:sp>
      <p:sp>
        <p:nvSpPr>
          <p:cNvPr id="14" name="text-86"/>
          <p:cNvSpPr txBox="1"/>
          <p:nvPr/>
        </p:nvSpPr>
        <p:spPr>
          <a:xfrm>
            <a:off x="3781044" y="9503664"/>
            <a:ext cx="1479042" cy="27432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Mount Aurora, the snow peak</a:t>
            </a:r>
            <a:endParaRPr lang="en-US" sz="900" dirty="0"/>
          </a:p>
        </p:txBody>
      </p:sp>
      <p:sp>
        <p:nvSpPr>
          <p:cNvPr id="15" name="text-87"/>
          <p:cNvSpPr txBox="1"/>
          <p:nvPr/>
        </p:nvSpPr>
        <p:spPr>
          <a:xfrm>
            <a:off x="5397246" y="9098280"/>
            <a:ext cx="1479042" cy="377952"/>
          </a:xfrm>
          <a:prstGeom prst="rect">
            <a:avLst/>
          </a:prstGeom>
          <a:noFill/>
          <a:ln/>
        </p:spPr>
        <p:txBody>
          <a:bodyPr wrap="square" lIns="0" tIns="0" rIns="0" bIns="0" rtlCol="0" anchor="b"/>
          <a:lstStyle/>
          <a:p>
            <a:pPr indent="0" marL="0">
              <a:buNone/>
            </a:pPr>
            <a:r>
              <a:rPr lang="en-US" sz="2400" b="1" dirty="0">
                <a:solidFill>
                  <a:schemeClr val="accent6"/>
                </a:solidFill>
                <a:latin typeface="+mj-lt" pitchFamily="34" charset="0"/>
                <a:ea typeface="+mj-lt" pitchFamily="34" charset="-122"/>
                <a:cs typeface="+mj-lt" pitchFamily="34" charset="-120"/>
              </a:rPr>
              <a:t>10 min</a:t>
            </a:r>
            <a:endParaRPr lang="en-US" sz="2400" dirty="0"/>
          </a:p>
        </p:txBody>
      </p:sp>
      <p:sp>
        <p:nvSpPr>
          <p:cNvPr id="16" name="text-88"/>
          <p:cNvSpPr txBox="1"/>
          <p:nvPr/>
        </p:nvSpPr>
        <p:spPr>
          <a:xfrm>
            <a:off x="5397246" y="9503664"/>
            <a:ext cx="1479042" cy="27432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walk to daily needs</a:t>
            </a:r>
            <a:endParaRPr lang="en-US" sz="90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1"/>
                </a:solidFil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picture-89" descr="/home/user/chatbox-bi-n-o/magazine/assets_v2/renders/snowbreak.jpg">    </p:cNvPr>
          <p:cNvPicPr>
            <a:picLocks noChangeAspect="1"/>
          </p:cNvPicPr>
          <p:nvPr/>
        </p:nvPicPr>
        <p:blipFill>
          <a:blip r:embed="rId1"/>
          <a:srcRect l="0" r="0" t="0" b="0"/>
          <a:stretch/>
        </p:blipFill>
        <p:spPr>
          <a:xfrm>
            <a:off x="0" y="0"/>
            <a:ext cx="7562088" cy="4160520"/>
          </a:xfrm>
          <a:prstGeom prst="rect">
            <a:avLst/>
          </a:prstGeom>
        </p:spPr>
      </p:pic>
      <p:sp>
        <p:nvSpPr>
          <p:cNvPr id="3" name="kicker-dot-90"/>
          <p:cNvSpPr/>
          <p:nvPr/>
        </p:nvSpPr>
        <p:spPr>
          <a:xfrm>
            <a:off x="548640" y="4475988"/>
            <a:ext cx="100584" cy="100584"/>
          </a:xfrm>
          <a:prstGeom prst="ellipse">
            <a:avLst/>
          </a:prstGeom>
          <a:solidFill>
            <a:schemeClr val="accent1"/>
          </a:solidFill>
          <a:ln w="12700">
            <a:solidFill>
              <a:schemeClr val="accent1"/>
            </a:solidFill>
            <a:prstDash val="solid"/>
          </a:ln>
        </p:spPr>
      </p:sp>
      <p:sp>
        <p:nvSpPr>
          <p:cNvPr id="4" name="text-91"/>
          <p:cNvSpPr txBox="1"/>
          <p:nvPr/>
        </p:nvSpPr>
        <p:spPr>
          <a:xfrm>
            <a:off x="731520" y="4434840"/>
            <a:ext cx="5486400" cy="201168"/>
          </a:xfrm>
          <a:prstGeom prst="rect">
            <a:avLst/>
          </a:prstGeom>
          <a:noFill/>
          <a:ln/>
        </p:spPr>
        <p:txBody>
          <a:bodyPr wrap="square" lIns="0" tIns="0" rIns="0" bIns="0" rtlCol="0" anchor="t"/>
          <a:lstStyle/>
          <a:p>
            <a:pPr indent="0" marL="0">
              <a:buNone/>
            </a:pPr>
            <a:r>
              <a:rPr lang="en-US" sz="900" b="1" spc="300" kern="0" dirty="0">
                <a:solidFill>
                  <a:schemeClr val="accent1"/>
                </a:solidFill>
              </a:rPr>
              <a:t>THE PLACE</a:t>
            </a:r>
            <a:endParaRPr lang="en-US" sz="900" dirty="0"/>
          </a:p>
        </p:txBody>
      </p:sp>
      <p:sp>
        <p:nvSpPr>
          <p:cNvPr id="5" name="text-92"/>
          <p:cNvSpPr txBox="1"/>
          <p:nvPr/>
        </p:nvSpPr>
        <p:spPr>
          <a:xfrm>
            <a:off x="548640" y="4663440"/>
            <a:ext cx="6464808" cy="685800"/>
          </a:xfrm>
          <a:prstGeom prst="rect">
            <a:avLst/>
          </a:prstGeom>
          <a:noFill/>
          <a:ln/>
        </p:spPr>
        <p:txBody>
          <a:bodyPr wrap="square" lIns="0" tIns="0" rIns="0" bIns="0" rtlCol="0" anchor="t"/>
          <a:lstStyle/>
          <a:p>
            <a:pPr indent="0" marL="0">
              <a:buNone/>
            </a:pPr>
            <a:r>
              <a:rPr lang="en-US" sz="3800" b="1" dirty="0">
                <a:solidFill>
                  <a:schemeClr val="bg1"/>
                </a:solidFill>
                <a:latin typeface="+mj-lt" pitchFamily="34" charset="0"/>
                <a:ea typeface="+mj-lt" pitchFamily="34" charset="-122"/>
                <a:cs typeface="+mj-lt" pitchFamily="34" charset="-120"/>
              </a:rPr>
              <a:t>The Polar Challenge</a:t>
            </a:r>
            <a:endParaRPr lang="en-US" sz="3800" dirty="0"/>
          </a:p>
        </p:txBody>
      </p:sp>
      <p:sp>
        <p:nvSpPr>
          <p:cNvPr id="6" name="text-93"/>
          <p:cNvSpPr txBox="1"/>
          <p:nvPr/>
        </p:nvSpPr>
        <p:spPr>
          <a:xfrm>
            <a:off x="548640" y="5394960"/>
            <a:ext cx="6464808" cy="594360"/>
          </a:xfrm>
          <a:prstGeom prst="rect">
            <a:avLst/>
          </a:prstGeom>
          <a:noFill/>
          <a:ln/>
        </p:spPr>
        <p:txBody>
          <a:bodyPr wrap="square" lIns="0" tIns="0" rIns="0" bIns="0" rtlCol="0" anchor="t"/>
          <a:lstStyle/>
          <a:p>
            <a:pPr indent="0" marL="0">
              <a:lnSpc>
                <a:spcPct val="110000"/>
              </a:lnSpc>
              <a:buNone/>
            </a:pPr>
            <a:r>
              <a:rPr lang="en-US" sz="1400" i="1" dirty="0">
                <a:solidFill>
                  <a:schemeClr val="bg2"/>
                </a:solidFill>
                <a:latin typeface="+mj-lt" pitchFamily="34" charset="0"/>
                <a:ea typeface="+mj-lt" pitchFamily="34" charset="-122"/>
                <a:cs typeface="+mj-lt" pitchFamily="34" charset="-120"/>
              </a:rPr>
              <a:t>One of the hardest places on Earth to build a city, so every building had to answer one question.</a:t>
            </a:r>
            <a:endParaRPr lang="en-US" sz="1400" dirty="0"/>
          </a:p>
        </p:txBody>
      </p:sp>
      <p:sp>
        <p:nvSpPr>
          <p:cNvPr id="7" name="text-94"/>
          <p:cNvSpPr txBox="1"/>
          <p:nvPr/>
        </p:nvSpPr>
        <p:spPr>
          <a:xfrm>
            <a:off x="548640" y="6172200"/>
            <a:ext cx="3566160" cy="2377440"/>
          </a:xfrm>
          <a:prstGeom prst="rect">
            <a:avLst/>
          </a:prstGeom>
          <a:noFill/>
          <a:ln/>
        </p:spPr>
        <p:txBody>
          <a:bodyPr wrap="square" lIns="0" tIns="0" rIns="0" bIns="0" rtlCol="0" anchor="t"/>
          <a:lstStyle/>
          <a:p>
            <a:pPr indent="0" marL="0">
              <a:lnSpc>
                <a:spcPct val="112000"/>
              </a:lnSpc>
              <a:spcAft>
                <a:spcPts val="700"/>
              </a:spcAft>
              <a:buNone/>
            </a:pPr>
            <a:r>
              <a:rPr lang="en-US" sz="1050" dirty="0">
                <a:solidFill>
                  <a:schemeClr val="bg2"/>
                </a:solidFill>
              </a:rPr>
              <a:t>Aurora Haven sits in one of the hardest environments on Earth. In winter the temperature falls to minus 45 degrees. For about two months the sun never rises, and for two months in summer it never sets. Blizzards can reach 120 kilometres per hour.</a:t>
            </a:r>
            <a:endParaRPr lang="en-US" sz="1050" dirty="0"/>
          </a:p>
          <a:p>
            <a:pPr indent="0" marL="0">
              <a:lnSpc>
                <a:spcPct val="112000"/>
              </a:lnSpc>
              <a:spcAft>
                <a:spcPts val="700"/>
              </a:spcAft>
              <a:buNone/>
            </a:pPr>
            <a:r>
              <a:rPr lang="en-US" sz="1050" dirty="0">
                <a:solidFill>
                  <a:schemeClr val="bg2"/>
                </a:solidFill>
              </a:rPr>
              <a:t>The ground is permafrost, so a warm building can thaw it and crack its own foundations. There is almost no farmland, and in deep winter supplies can only arrive by air.</a:t>
            </a:r>
            <a:endParaRPr lang="en-US" sz="1050" dirty="0"/>
          </a:p>
          <a:p>
            <a:pPr indent="0" marL="0">
              <a:lnSpc>
                <a:spcPct val="112000"/>
              </a:lnSpc>
              <a:spcAft>
                <a:spcPts val="700"/>
              </a:spcAft>
              <a:buNone/>
            </a:pPr>
            <a:r>
              <a:rPr lang="en-US" sz="1050" dirty="0">
                <a:solidFill>
                  <a:schemeClr val="bg2"/>
                </a:solidFill>
              </a:rPr>
              <a:t>So the designers asked one question about every building in the city:</a:t>
            </a:r>
            <a:endParaRPr lang="en-US" sz="1050" dirty="0"/>
          </a:p>
        </p:txBody>
      </p:sp>
      <p:sp>
        <p:nvSpPr>
          <p:cNvPr id="8" name="text-95"/>
          <p:cNvSpPr txBox="1"/>
          <p:nvPr/>
        </p:nvSpPr>
        <p:spPr>
          <a:xfrm>
            <a:off x="548640" y="8458200"/>
            <a:ext cx="3566160" cy="914400"/>
          </a:xfrm>
          <a:prstGeom prst="rect">
            <a:avLst/>
          </a:prstGeom>
          <a:noFill/>
          <a:ln/>
        </p:spPr>
        <p:txBody>
          <a:bodyPr wrap="square" lIns="0" tIns="0" rIns="0" bIns="0" rtlCol="0" anchor="t"/>
          <a:lstStyle/>
          <a:p>
            <a:pPr indent="0" marL="0">
              <a:lnSpc>
                <a:spcPct val="105000"/>
              </a:lnSpc>
              <a:buNone/>
            </a:pPr>
            <a:r>
              <a:rPr lang="en-US" sz="1700" b="1" i="1" dirty="0">
                <a:solidFill>
                  <a:schemeClr val="accent1"/>
                </a:solidFill>
                <a:latin typeface="+mj-lt" pitchFamily="34" charset="0"/>
                <a:ea typeface="+mj-lt" pitchFamily="34" charset="-122"/>
                <a:cs typeface="+mj-lt" pitchFamily="34" charset="-120"/>
              </a:rPr>
              <a:t>“How does it help people stay warm, fed, safe and happy here?”</a:t>
            </a:r>
            <a:endParaRPr lang="en-US" sz="1700" dirty="0"/>
          </a:p>
        </p:txBody>
      </p:sp>
      <p:sp>
        <p:nvSpPr>
          <p:cNvPr id="9" name="text-96"/>
          <p:cNvSpPr txBox="1"/>
          <p:nvPr/>
        </p:nvSpPr>
        <p:spPr>
          <a:xfrm>
            <a:off x="4572000" y="6080760"/>
            <a:ext cx="2441448" cy="403352"/>
          </a:xfrm>
          <a:prstGeom prst="rect">
            <a:avLst/>
          </a:prstGeom>
          <a:noFill/>
          <a:ln/>
        </p:spPr>
        <p:txBody>
          <a:bodyPr wrap="square" lIns="0" tIns="0" rIns="0" bIns="0" rtlCol="0" anchor="b"/>
          <a:lstStyle/>
          <a:p>
            <a:pPr indent="0" marL="0">
              <a:buNone/>
            </a:pPr>
            <a:r>
              <a:rPr lang="en-US" sz="2600" b="1" dirty="0">
                <a:solidFill>
                  <a:schemeClr val="accent1"/>
                </a:solidFill>
                <a:latin typeface="+mj-lt" pitchFamily="34" charset="0"/>
                <a:ea typeface="+mj-lt" pitchFamily="34" charset="-122"/>
                <a:cs typeface="+mj-lt" pitchFamily="34" charset="-120"/>
              </a:rPr>
              <a:t>−45 °C</a:t>
            </a:r>
            <a:endParaRPr lang="en-US" sz="2600" dirty="0"/>
          </a:p>
        </p:txBody>
      </p:sp>
      <p:sp>
        <p:nvSpPr>
          <p:cNvPr id="10" name="text-97"/>
          <p:cNvSpPr txBox="1"/>
          <p:nvPr/>
        </p:nvSpPr>
        <p:spPr>
          <a:xfrm>
            <a:off x="4572000" y="6511544"/>
            <a:ext cx="2441448" cy="365760"/>
          </a:xfrm>
          <a:prstGeom prst="rect">
            <a:avLst/>
          </a:prstGeom>
          <a:noFill/>
          <a:ln/>
        </p:spPr>
        <p:txBody>
          <a:bodyPr wrap="square" lIns="0" tIns="0" rIns="0" bIns="0" rtlCol="0" anchor="t"/>
          <a:lstStyle/>
          <a:p>
            <a:pPr indent="0" marL="0">
              <a:lnSpc>
                <a:spcPct val="105000"/>
              </a:lnSpc>
              <a:buNone/>
            </a:pPr>
            <a:r>
              <a:rPr lang="en-US" sz="900" dirty="0">
                <a:solidFill>
                  <a:schemeClr val="bg2"/>
                </a:solidFill>
              </a:rPr>
              <a:t>winter temperatures</a:t>
            </a:r>
            <a:endParaRPr lang="en-US" sz="900" dirty="0"/>
          </a:p>
        </p:txBody>
      </p:sp>
      <p:sp>
        <p:nvSpPr>
          <p:cNvPr id="11" name="text-98"/>
          <p:cNvSpPr txBox="1"/>
          <p:nvPr/>
        </p:nvSpPr>
        <p:spPr>
          <a:xfrm>
            <a:off x="4572000" y="6995160"/>
            <a:ext cx="2441448" cy="403352"/>
          </a:xfrm>
          <a:prstGeom prst="rect">
            <a:avLst/>
          </a:prstGeom>
          <a:noFill/>
          <a:ln/>
        </p:spPr>
        <p:txBody>
          <a:bodyPr wrap="square" lIns="0" tIns="0" rIns="0" bIns="0" rtlCol="0" anchor="b"/>
          <a:lstStyle/>
          <a:p>
            <a:pPr indent="0" marL="0">
              <a:buNone/>
            </a:pPr>
            <a:r>
              <a:rPr lang="en-US" sz="2600" b="1" dirty="0">
                <a:solidFill>
                  <a:schemeClr val="accent1"/>
                </a:solidFill>
                <a:latin typeface="+mj-lt" pitchFamily="34" charset="0"/>
                <a:ea typeface="+mj-lt" pitchFamily="34" charset="-122"/>
                <a:cs typeface="+mj-lt" pitchFamily="34" charset="-120"/>
              </a:rPr>
              <a:t>2 months</a:t>
            </a:r>
            <a:endParaRPr lang="en-US" sz="2600" dirty="0"/>
          </a:p>
        </p:txBody>
      </p:sp>
      <p:sp>
        <p:nvSpPr>
          <p:cNvPr id="12" name="text-99"/>
          <p:cNvSpPr txBox="1"/>
          <p:nvPr/>
        </p:nvSpPr>
        <p:spPr>
          <a:xfrm>
            <a:off x="4572000" y="7425944"/>
            <a:ext cx="2441448" cy="365760"/>
          </a:xfrm>
          <a:prstGeom prst="rect">
            <a:avLst/>
          </a:prstGeom>
          <a:noFill/>
          <a:ln/>
        </p:spPr>
        <p:txBody>
          <a:bodyPr wrap="square" lIns="0" tIns="0" rIns="0" bIns="0" rtlCol="0" anchor="t"/>
          <a:lstStyle/>
          <a:p>
            <a:pPr indent="0" marL="0">
              <a:lnSpc>
                <a:spcPct val="105000"/>
              </a:lnSpc>
              <a:buNone/>
            </a:pPr>
            <a:r>
              <a:rPr lang="en-US" sz="900" dirty="0">
                <a:solidFill>
                  <a:schemeClr val="bg2"/>
                </a:solidFill>
              </a:rPr>
              <a:t>of polar night, and two of midnight sun</a:t>
            </a:r>
            <a:endParaRPr lang="en-US" sz="900" dirty="0"/>
          </a:p>
        </p:txBody>
      </p:sp>
      <p:sp>
        <p:nvSpPr>
          <p:cNvPr id="13" name="text-100"/>
          <p:cNvSpPr txBox="1"/>
          <p:nvPr/>
        </p:nvSpPr>
        <p:spPr>
          <a:xfrm>
            <a:off x="4572000" y="7909560"/>
            <a:ext cx="2441448" cy="403352"/>
          </a:xfrm>
          <a:prstGeom prst="rect">
            <a:avLst/>
          </a:prstGeom>
          <a:noFill/>
          <a:ln/>
        </p:spPr>
        <p:txBody>
          <a:bodyPr wrap="square" lIns="0" tIns="0" rIns="0" bIns="0" rtlCol="0" anchor="b"/>
          <a:lstStyle/>
          <a:p>
            <a:pPr indent="0" marL="0">
              <a:buNone/>
            </a:pPr>
            <a:r>
              <a:rPr lang="en-US" sz="2600" b="1" dirty="0">
                <a:solidFill>
                  <a:schemeClr val="accent1"/>
                </a:solidFill>
                <a:latin typeface="+mj-lt" pitchFamily="34" charset="0"/>
                <a:ea typeface="+mj-lt" pitchFamily="34" charset="-122"/>
                <a:cs typeface="+mj-lt" pitchFamily="34" charset="-120"/>
              </a:rPr>
              <a:t>120 km/h</a:t>
            </a:r>
            <a:endParaRPr lang="en-US" sz="2600" dirty="0"/>
          </a:p>
        </p:txBody>
      </p:sp>
      <p:sp>
        <p:nvSpPr>
          <p:cNvPr id="14" name="text-101"/>
          <p:cNvSpPr txBox="1"/>
          <p:nvPr/>
        </p:nvSpPr>
        <p:spPr>
          <a:xfrm>
            <a:off x="4572000" y="8340344"/>
            <a:ext cx="2441448" cy="365760"/>
          </a:xfrm>
          <a:prstGeom prst="rect">
            <a:avLst/>
          </a:prstGeom>
          <a:noFill/>
          <a:ln/>
        </p:spPr>
        <p:txBody>
          <a:bodyPr wrap="square" lIns="0" tIns="0" rIns="0" bIns="0" rtlCol="0" anchor="t"/>
          <a:lstStyle/>
          <a:p>
            <a:pPr indent="0" marL="0">
              <a:lnSpc>
                <a:spcPct val="105000"/>
              </a:lnSpc>
              <a:buNone/>
            </a:pPr>
            <a:r>
              <a:rPr lang="en-US" sz="900" dirty="0">
                <a:solidFill>
                  <a:schemeClr val="bg2"/>
                </a:solidFill>
              </a:rPr>
              <a:t>blizzards</a:t>
            </a:r>
            <a:endParaRPr lang="en-US" sz="900" dirty="0"/>
          </a:p>
        </p:txBody>
      </p:sp>
      <p:sp>
        <p:nvSpPr>
          <p:cNvPr id="15" name="text-102"/>
          <p:cNvSpPr txBox="1"/>
          <p:nvPr/>
        </p:nvSpPr>
        <p:spPr>
          <a:xfrm>
            <a:off x="4572000" y="8823960"/>
            <a:ext cx="2441448" cy="403352"/>
          </a:xfrm>
          <a:prstGeom prst="rect">
            <a:avLst/>
          </a:prstGeom>
          <a:noFill/>
          <a:ln/>
        </p:spPr>
        <p:txBody>
          <a:bodyPr wrap="square" lIns="0" tIns="0" rIns="0" bIns="0" rtlCol="0" anchor="b"/>
          <a:lstStyle/>
          <a:p>
            <a:pPr indent="0" marL="0">
              <a:buNone/>
            </a:pPr>
            <a:r>
              <a:rPr lang="en-US" sz="2600" b="1" dirty="0">
                <a:solidFill>
                  <a:schemeClr val="accent1"/>
                </a:solidFill>
                <a:latin typeface="+mj-lt" pitchFamily="34" charset="0"/>
                <a:ea typeface="+mj-lt" pitchFamily="34" charset="-122"/>
                <a:cs typeface="+mj-lt" pitchFamily="34" charset="-120"/>
              </a:rPr>
              <a:t>Permafrost</a:t>
            </a:r>
            <a:endParaRPr lang="en-US" sz="2600" dirty="0"/>
          </a:p>
        </p:txBody>
      </p:sp>
      <p:sp>
        <p:nvSpPr>
          <p:cNvPr id="16" name="text-103"/>
          <p:cNvSpPr txBox="1"/>
          <p:nvPr/>
        </p:nvSpPr>
        <p:spPr>
          <a:xfrm>
            <a:off x="4572000" y="9254744"/>
            <a:ext cx="2441448" cy="365760"/>
          </a:xfrm>
          <a:prstGeom prst="rect">
            <a:avLst/>
          </a:prstGeom>
          <a:noFill/>
          <a:ln/>
        </p:spPr>
        <p:txBody>
          <a:bodyPr wrap="square" lIns="0" tIns="0" rIns="0" bIns="0" rtlCol="0" anchor="t"/>
          <a:lstStyle/>
          <a:p>
            <a:pPr indent="0" marL="0">
              <a:lnSpc>
                <a:spcPct val="105000"/>
              </a:lnSpc>
              <a:buNone/>
            </a:pPr>
            <a:r>
              <a:rPr lang="en-US" sz="900" dirty="0">
                <a:solidFill>
                  <a:schemeClr val="bg2"/>
                </a:solidFill>
              </a:rPr>
              <a:t>frozen ground that heaves under heat</a:t>
            </a:r>
            <a:endParaRPr lang="en-US" sz="900" dirty="0"/>
          </a:p>
        </p:txBody>
      </p:sp>
      <p:sp>
        <p:nvSpPr>
          <p:cNvPr id="17" name="text-104"/>
          <p:cNvSpPr txBox="1"/>
          <p:nvPr/>
        </p:nvSpPr>
        <p:spPr>
          <a:xfrm>
            <a:off x="548640" y="4206240"/>
            <a:ext cx="6464808" cy="201168"/>
          </a:xfrm>
          <a:prstGeom prst="rect">
            <a:avLst/>
          </a:prstGeom>
          <a:noFill/>
          <a:ln/>
        </p:spPr>
        <p:txBody>
          <a:bodyPr wrap="square" lIns="0" tIns="0" rIns="0" bIns="0" rtlCol="0" anchor="t"/>
          <a:lstStyle/>
          <a:p>
            <a:pPr indent="0" marL="0">
              <a:buNone/>
            </a:pPr>
            <a:r>
              <a:rPr lang="en-US" sz="850" i="1" dirty="0">
                <a:solidFill>
                  <a:schemeClr val="bg2"/>
                </a:solidFill>
              </a:rPr>
              <a:t>A blizzard sweeps over the Ice-Proof Wind Farm on the windy northern edge.</a:t>
            </a:r>
            <a:endParaRPr lang="en-US" sz="850" dirty="0"/>
          </a:p>
        </p:txBody>
      </p:sp>
      <p:sp>
        <p:nvSpPr>
          <p:cNvPr id="18" name="Text 1"/>
          <p:cNvSpPr/>
          <p:nvPr>
            <p:ph idx="101" type="title" hasCustomPrompt="1"/>
          </p:nvPr>
        </p:nvSpPr>
        <p:spPr>
          <a:xfrm>
            <a:off x="548640" y="749808"/>
            <a:ext cx="6464808" cy="685800"/>
          </a:xfrm>
          <a:prstGeom prst="rect">
            <a:avLst/>
          </a:prstGeom>
          <a:noFill/>
          <a:ln/>
        </p:spPr>
        <p:txBody>
          <a:bodyPr wrap="square" lIns="0" tIns="0" rIns="0" bIns="0" rtlCol="0" anchor="t"/>
          <a:lstStyle/>
          <a:p>
            <a:pPr algn="l" indent="0" marL="0">
              <a:buNone/>
            </a:pPr>
            <a:endParaRPr lang="en-US" sz="340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bg1"/>
                </a:solidFil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dot-105"/>
          <p:cNvSpPr/>
          <p:nvPr/>
        </p:nvSpPr>
        <p:spPr>
          <a:xfrm>
            <a:off x="548640" y="516636"/>
            <a:ext cx="100584" cy="100584"/>
          </a:xfrm>
          <a:prstGeom prst="ellipse">
            <a:avLst/>
          </a:prstGeom>
          <a:solidFill>
            <a:schemeClr val="accent6"/>
          </a:solidFill>
          <a:ln w="12700">
            <a:solidFill>
              <a:schemeClr val="accent6"/>
            </a:solidFill>
            <a:prstDash val="solid"/>
          </a:ln>
        </p:spPr>
      </p:sp>
      <p:sp>
        <p:nvSpPr>
          <p:cNvPr id="3" name="text-106"/>
          <p:cNvSpPr txBox="1"/>
          <p:nvPr/>
        </p:nvSpPr>
        <p:spPr>
          <a:xfrm>
            <a:off x="731520" y="475488"/>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THE IDEAS</a:t>
            </a:r>
            <a:endParaRPr lang="en-US" sz="900" dirty="0"/>
          </a:p>
        </p:txBody>
      </p:sp>
      <p:sp>
        <p:nvSpPr>
          <p:cNvPr id="4" name="Text 1"/>
          <p:cNvSpPr/>
          <p:nvPr>
            <p:ph idx="101" type="title" hasCustomPrompt="1"/>
          </p:nvPr>
        </p:nvSpPr>
        <p:spPr>
          <a:xfrm>
            <a:off x="548640" y="749808"/>
            <a:ext cx="6464808" cy="685800"/>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Five Design Principles</a:t>
            </a:r>
            <a:endParaRPr lang="en-US" sz="3400" dirty="0"/>
          </a:p>
        </p:txBody>
      </p:sp>
      <p:sp>
        <p:nvSpPr>
          <p:cNvPr id="5" name="text-107"/>
          <p:cNvSpPr txBox="1"/>
          <p:nvPr/>
        </p:nvSpPr>
        <p:spPr>
          <a:xfrm>
            <a:off x="548640" y="1463040"/>
            <a:ext cx="6464808" cy="365760"/>
          </a:xfrm>
          <a:prstGeom prst="rect">
            <a:avLst/>
          </a:prstGeom>
          <a:noFill/>
          <a:ln/>
        </p:spPr>
        <p:txBody>
          <a:bodyPr wrap="square" lIns="0" tIns="0" rIns="0" bIns="0" rtlCol="0" anchor="t"/>
          <a:lstStyle/>
          <a:p>
            <a:pPr indent="0" marL="0">
              <a:lnSpc>
                <a:spcPct val="110000"/>
              </a:lnSpc>
              <a:buNone/>
            </a:pPr>
            <a:r>
              <a:rPr lang="en-US" sz="1350" i="1" dirty="0">
                <a:solidFill>
                  <a:schemeClr val="tx2"/>
                </a:solidFill>
                <a:latin typeface="+mj-lt" pitchFamily="34" charset="0"/>
                <a:ea typeface="+mj-lt" pitchFamily="34" charset="-122"/>
                <a:cs typeface="+mj-lt" pitchFamily="34" charset="-120"/>
              </a:rPr>
              <a:t>Heat, energy, water and food should never be wasted.</a:t>
            </a:r>
            <a:endParaRPr lang="en-US" sz="1350" dirty="0"/>
          </a:p>
        </p:txBody>
      </p:sp>
      <p:pic>
        <p:nvPicPr>
          <p:cNvPr id="6" name="picture-108" descr="/home/user/chatbox-bi-n-o/magazine/assets_v2/renders/downtown.jpg">    </p:cNvPr>
          <p:cNvPicPr>
            <a:picLocks noChangeAspect="1"/>
          </p:cNvPicPr>
          <p:nvPr/>
        </p:nvPicPr>
        <p:blipFill>
          <a:blip r:embed="rId1"/>
          <a:srcRect l="0" r="0" t="0" b="0"/>
          <a:stretch/>
        </p:blipFill>
        <p:spPr>
          <a:xfrm>
            <a:off x="548640" y="2011680"/>
            <a:ext cx="6464808" cy="3017520"/>
          </a:xfrm>
          <a:prstGeom prst="rect">
            <a:avLst/>
          </a:prstGeom>
        </p:spPr>
      </p:pic>
      <p:sp>
        <p:nvSpPr>
          <p:cNvPr id="7" name="text-109"/>
          <p:cNvSpPr txBox="1"/>
          <p:nvPr/>
        </p:nvSpPr>
        <p:spPr>
          <a:xfrm>
            <a:off x="548640" y="5102352"/>
            <a:ext cx="6464808" cy="228600"/>
          </a:xfrm>
          <a:prstGeom prst="rect">
            <a:avLst/>
          </a:prstGeom>
          <a:noFill/>
          <a:ln/>
        </p:spPr>
        <p:txBody>
          <a:bodyPr wrap="square" lIns="0" tIns="0" rIns="0" bIns="0" rtlCol="0" anchor="t"/>
          <a:lstStyle/>
          <a:p>
            <a:pPr indent="0" marL="0">
              <a:buNone/>
            </a:pPr>
            <a:r>
              <a:rPr lang="en-US" sz="850" i="1" dirty="0">
                <a:solidFill>
                  <a:schemeClr val="tx2"/>
                </a:solidFill>
              </a:rPr>
              <a:t>Downtown from the north-west, with Aurora 81, the food plant silos and Mount Aurora behind.</a:t>
            </a:r>
            <a:endParaRPr lang="en-US" sz="850" dirty="0"/>
          </a:p>
        </p:txBody>
      </p:sp>
      <p:sp>
        <p:nvSpPr>
          <p:cNvPr id="8" name="marker-110"/>
          <p:cNvSpPr/>
          <p:nvPr/>
        </p:nvSpPr>
        <p:spPr>
          <a:xfrm>
            <a:off x="548640" y="5577840"/>
            <a:ext cx="438912" cy="438912"/>
          </a:xfrm>
          <a:prstGeom prst="ellipse">
            <a:avLst/>
          </a:prstGeom>
          <a:solidFill>
            <a:schemeClr val="accent6"/>
          </a:solidFill>
          <a:ln w="12700">
            <a:solidFill>
              <a:schemeClr val="accent6"/>
            </a:solidFill>
            <a:prstDash val="solid"/>
          </a:ln>
        </p:spPr>
      </p:sp>
      <p:sp>
        <p:nvSpPr>
          <p:cNvPr id="9" name="text-111"/>
          <p:cNvSpPr txBox="1"/>
          <p:nvPr/>
        </p:nvSpPr>
        <p:spPr>
          <a:xfrm>
            <a:off x="548640" y="557784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10" name="text-112"/>
          <p:cNvSpPr txBox="1"/>
          <p:nvPr/>
        </p:nvSpPr>
        <p:spPr>
          <a:xfrm>
            <a:off x="1188720" y="5559552"/>
            <a:ext cx="5824728" cy="256032"/>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Heat is life</a:t>
            </a:r>
            <a:endParaRPr lang="en-US" sz="1400" dirty="0"/>
          </a:p>
        </p:txBody>
      </p:sp>
      <p:sp>
        <p:nvSpPr>
          <p:cNvPr id="11" name="text-113"/>
          <p:cNvSpPr txBox="1"/>
          <p:nvPr/>
        </p:nvSpPr>
        <p:spPr>
          <a:xfrm>
            <a:off x="1188720" y="5833872"/>
            <a:ext cx="5824728" cy="548640"/>
          </a:xfrm>
          <a:prstGeom prst="rect">
            <a:avLst/>
          </a:prstGeom>
          <a:noFill/>
          <a:ln/>
        </p:spPr>
        <p:txBody>
          <a:bodyPr wrap="square" lIns="0" tIns="0" rIns="0" bIns="0" rtlCol="0" anchor="t"/>
          <a:lstStyle/>
          <a:p>
            <a:pPr indent="0" marL="0">
              <a:lnSpc>
                <a:spcPct val="108000"/>
              </a:lnSpc>
              <a:buNone/>
            </a:pPr>
            <a:r>
              <a:rPr lang="en-US" sz="1050" dirty="0">
                <a:solidFill>
                  <a:schemeClr val="tx2"/>
                </a:solidFill>
              </a:rPr>
              <a:t>One district-heating loop, fed by the fusion station and the geothermal plant, warms every building. Triple-glazed buildings on insulated piles do not thaw the permafrost.</a:t>
            </a:r>
            <a:endParaRPr lang="en-US" sz="1050" dirty="0"/>
          </a:p>
        </p:txBody>
      </p:sp>
      <p:sp>
        <p:nvSpPr>
          <p:cNvPr id="12" name="marker-114"/>
          <p:cNvSpPr/>
          <p:nvPr/>
        </p:nvSpPr>
        <p:spPr>
          <a:xfrm>
            <a:off x="548640" y="6446520"/>
            <a:ext cx="438912" cy="438912"/>
          </a:xfrm>
          <a:prstGeom prst="ellipse">
            <a:avLst/>
          </a:prstGeom>
          <a:solidFill>
            <a:schemeClr val="accent6"/>
          </a:solidFill>
          <a:ln w="12700">
            <a:solidFill>
              <a:schemeClr val="accent6"/>
            </a:solidFill>
            <a:prstDash val="solid"/>
          </a:ln>
        </p:spPr>
      </p:sp>
      <p:sp>
        <p:nvSpPr>
          <p:cNvPr id="13" name="text-115"/>
          <p:cNvSpPr txBox="1"/>
          <p:nvPr/>
        </p:nvSpPr>
        <p:spPr>
          <a:xfrm>
            <a:off x="548640" y="644652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4" name="text-116"/>
          <p:cNvSpPr txBox="1"/>
          <p:nvPr/>
        </p:nvSpPr>
        <p:spPr>
          <a:xfrm>
            <a:off x="1188720" y="6428232"/>
            <a:ext cx="5824728" cy="256032"/>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Zero carbon</a:t>
            </a:r>
            <a:endParaRPr lang="en-US" sz="1400" dirty="0"/>
          </a:p>
        </p:txBody>
      </p:sp>
      <p:sp>
        <p:nvSpPr>
          <p:cNvPr id="15" name="text-117"/>
          <p:cNvSpPr txBox="1"/>
          <p:nvPr/>
        </p:nvSpPr>
        <p:spPr>
          <a:xfrm>
            <a:off x="1188720" y="6702552"/>
            <a:ext cx="5824728" cy="548640"/>
          </a:xfrm>
          <a:prstGeom prst="rect">
            <a:avLst/>
          </a:prstGeom>
          <a:noFill/>
          <a:ln/>
        </p:spPr>
        <p:txBody>
          <a:bodyPr wrap="square" lIns="0" tIns="0" rIns="0" bIns="0" rtlCol="0" anchor="t"/>
          <a:lstStyle/>
          <a:p>
            <a:pPr indent="0" marL="0">
              <a:lnSpc>
                <a:spcPct val="108000"/>
              </a:lnSpc>
              <a:buNone/>
            </a:pPr>
            <a:r>
              <a:rPr lang="en-US" sz="1050" dirty="0">
                <a:solidFill>
                  <a:schemeClr val="tx2"/>
                </a:solidFill>
              </a:rPr>
              <a:t>No fossil fuel burns anywhere in the city. Power comes from fusion, wind, sun and geothermal heat.</a:t>
            </a:r>
            <a:endParaRPr lang="en-US" sz="1050" dirty="0"/>
          </a:p>
        </p:txBody>
      </p:sp>
      <p:sp>
        <p:nvSpPr>
          <p:cNvPr id="16" name="marker-118"/>
          <p:cNvSpPr/>
          <p:nvPr/>
        </p:nvSpPr>
        <p:spPr>
          <a:xfrm>
            <a:off x="548640" y="7315200"/>
            <a:ext cx="438912" cy="438912"/>
          </a:xfrm>
          <a:prstGeom prst="ellipse">
            <a:avLst/>
          </a:prstGeom>
          <a:solidFill>
            <a:schemeClr val="accent6"/>
          </a:solidFill>
          <a:ln w="12700">
            <a:solidFill>
              <a:schemeClr val="accent6"/>
            </a:solidFill>
            <a:prstDash val="solid"/>
          </a:ln>
        </p:spPr>
      </p:sp>
      <p:sp>
        <p:nvSpPr>
          <p:cNvPr id="17" name="text-119"/>
          <p:cNvSpPr txBox="1"/>
          <p:nvPr/>
        </p:nvSpPr>
        <p:spPr>
          <a:xfrm>
            <a:off x="548640" y="7315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8" name="text-120"/>
          <p:cNvSpPr txBox="1"/>
          <p:nvPr/>
        </p:nvSpPr>
        <p:spPr>
          <a:xfrm>
            <a:off x="1188720" y="7296912"/>
            <a:ext cx="5824728" cy="256032"/>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Closed loops</a:t>
            </a:r>
            <a:endParaRPr lang="en-US" sz="1400" dirty="0"/>
          </a:p>
        </p:txBody>
      </p:sp>
      <p:sp>
        <p:nvSpPr>
          <p:cNvPr id="19" name="text-121"/>
          <p:cNvSpPr txBox="1"/>
          <p:nvPr/>
        </p:nvSpPr>
        <p:spPr>
          <a:xfrm>
            <a:off x="1188720" y="7571232"/>
            <a:ext cx="5824728" cy="548640"/>
          </a:xfrm>
          <a:prstGeom prst="rect">
            <a:avLst/>
          </a:prstGeom>
          <a:noFill/>
          <a:ln/>
        </p:spPr>
        <p:txBody>
          <a:bodyPr wrap="square" lIns="0" tIns="0" rIns="0" bIns="0" rtlCol="0" anchor="t"/>
          <a:lstStyle/>
          <a:p>
            <a:pPr indent="0" marL="0">
              <a:lnSpc>
                <a:spcPct val="108000"/>
              </a:lnSpc>
              <a:buNone/>
            </a:pPr>
            <a:r>
              <a:rPr lang="en-US" sz="1050" dirty="0">
                <a:solidFill>
                  <a:schemeClr val="tx2"/>
                </a:solidFill>
              </a:rPr>
              <a:t>About 95% of water is recycled and rubbish is reused, so water, food and waste go round instead of being thrown away.</a:t>
            </a:r>
            <a:endParaRPr lang="en-US" sz="1050" dirty="0"/>
          </a:p>
        </p:txBody>
      </p:sp>
      <p:sp>
        <p:nvSpPr>
          <p:cNvPr id="20" name="marker-122"/>
          <p:cNvSpPr/>
          <p:nvPr/>
        </p:nvSpPr>
        <p:spPr>
          <a:xfrm>
            <a:off x="548640" y="8183880"/>
            <a:ext cx="438912" cy="438912"/>
          </a:xfrm>
          <a:prstGeom prst="ellipse">
            <a:avLst/>
          </a:prstGeom>
          <a:solidFill>
            <a:schemeClr val="accent6"/>
          </a:solidFill>
          <a:ln w="12700">
            <a:solidFill>
              <a:schemeClr val="accent6"/>
            </a:solidFill>
            <a:prstDash val="solid"/>
          </a:ln>
        </p:spPr>
      </p:sp>
      <p:sp>
        <p:nvSpPr>
          <p:cNvPr id="21" name="text-123"/>
          <p:cNvSpPr txBox="1"/>
          <p:nvPr/>
        </p:nvSpPr>
        <p:spPr>
          <a:xfrm>
            <a:off x="548640" y="818388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22" name="text-124"/>
          <p:cNvSpPr txBox="1"/>
          <p:nvPr/>
        </p:nvSpPr>
        <p:spPr>
          <a:xfrm>
            <a:off x="1188720" y="8165592"/>
            <a:ext cx="5824728" cy="256032"/>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Compact and car-light</a:t>
            </a:r>
            <a:endParaRPr lang="en-US" sz="1400" dirty="0"/>
          </a:p>
        </p:txBody>
      </p:sp>
      <p:sp>
        <p:nvSpPr>
          <p:cNvPr id="23" name="text-125"/>
          <p:cNvSpPr txBox="1"/>
          <p:nvPr/>
        </p:nvSpPr>
        <p:spPr>
          <a:xfrm>
            <a:off x="1188720" y="8439912"/>
            <a:ext cx="5824728" cy="548640"/>
          </a:xfrm>
          <a:prstGeom prst="rect">
            <a:avLst/>
          </a:prstGeom>
          <a:noFill/>
          <a:ln/>
        </p:spPr>
        <p:txBody>
          <a:bodyPr wrap="square" lIns="0" tIns="0" rIns="0" bIns="0" rtlCol="0" anchor="t"/>
          <a:lstStyle/>
          <a:p>
            <a:pPr indent="0" marL="0">
              <a:lnSpc>
                <a:spcPct val="108000"/>
              </a:lnSpc>
              <a:buNone/>
            </a:pPr>
            <a:r>
              <a:rPr lang="en-US" sz="1050" dirty="0">
                <a:solidFill>
                  <a:schemeClr val="tx2"/>
                </a:solidFill>
              </a:rPr>
              <a:t>Daily needs are within a 10-minute walk, and the few cars are electric.</a:t>
            </a:r>
            <a:endParaRPr lang="en-US" sz="1050" dirty="0"/>
          </a:p>
        </p:txBody>
      </p:sp>
      <p:sp>
        <p:nvSpPr>
          <p:cNvPr id="24" name="marker-126"/>
          <p:cNvSpPr/>
          <p:nvPr/>
        </p:nvSpPr>
        <p:spPr>
          <a:xfrm>
            <a:off x="548640" y="9052560"/>
            <a:ext cx="438912" cy="438912"/>
          </a:xfrm>
          <a:prstGeom prst="ellipse">
            <a:avLst/>
          </a:prstGeom>
          <a:solidFill>
            <a:schemeClr val="accent6"/>
          </a:solidFill>
          <a:ln w="12700">
            <a:solidFill>
              <a:schemeClr val="accent6"/>
            </a:solidFill>
            <a:prstDash val="solid"/>
          </a:ln>
        </p:spPr>
      </p:sp>
      <p:sp>
        <p:nvSpPr>
          <p:cNvPr id="25" name="text-127"/>
          <p:cNvSpPr txBox="1"/>
          <p:nvPr/>
        </p:nvSpPr>
        <p:spPr>
          <a:xfrm>
            <a:off x="548640" y="905256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5</a:t>
            </a:r>
            <a:endParaRPr lang="en-US" sz="1600" dirty="0"/>
          </a:p>
        </p:txBody>
      </p:sp>
      <p:sp>
        <p:nvSpPr>
          <p:cNvPr id="26" name="text-128"/>
          <p:cNvSpPr txBox="1"/>
          <p:nvPr/>
        </p:nvSpPr>
        <p:spPr>
          <a:xfrm>
            <a:off x="1188720" y="9034272"/>
            <a:ext cx="5824728" cy="256032"/>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Resilient and healthy</a:t>
            </a:r>
            <a:endParaRPr lang="en-US" sz="1400" dirty="0"/>
          </a:p>
        </p:txBody>
      </p:sp>
      <p:sp>
        <p:nvSpPr>
          <p:cNvPr id="27" name="text-129"/>
          <p:cNvSpPr txBox="1"/>
          <p:nvPr/>
        </p:nvSpPr>
        <p:spPr>
          <a:xfrm>
            <a:off x="1188720" y="9308592"/>
            <a:ext cx="5824728" cy="548640"/>
          </a:xfrm>
          <a:prstGeom prst="rect">
            <a:avLst/>
          </a:prstGeom>
          <a:noFill/>
          <a:ln/>
        </p:spPr>
        <p:txBody>
          <a:bodyPr wrap="square" lIns="0" tIns="0" rIns="0" bIns="0" rtlCol="0" anchor="t"/>
          <a:lstStyle/>
          <a:p>
            <a:pPr indent="0" marL="0">
              <a:lnSpc>
                <a:spcPct val="108000"/>
              </a:lnSpc>
              <a:buNone/>
            </a:pPr>
            <a:r>
              <a:rPr lang="en-US" sz="1050" dirty="0">
                <a:solidFill>
                  <a:schemeClr val="tx2"/>
                </a:solidFill>
              </a:rPr>
              <a:t>Shelters keep every resident safe for 30 days, while light, parks, culture and a spa carry people through the polar night.</a:t>
            </a:r>
            <a:endParaRPr lang="en-US" sz="105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1"/>
                </a:solidFil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dot-130"/>
          <p:cNvSpPr/>
          <p:nvPr/>
        </p:nvSpPr>
        <p:spPr>
          <a:xfrm>
            <a:off x="548640" y="516636"/>
            <a:ext cx="100584" cy="100584"/>
          </a:xfrm>
          <a:prstGeom prst="ellipse">
            <a:avLst/>
          </a:prstGeom>
          <a:solidFill>
            <a:schemeClr val="accent6"/>
          </a:solidFill>
          <a:ln w="12700">
            <a:solidFill>
              <a:schemeClr val="accent6"/>
            </a:solidFill>
            <a:prstDash val="solid"/>
          </a:ln>
        </p:spPr>
      </p:sp>
      <p:sp>
        <p:nvSpPr>
          <p:cNvPr id="3" name="text-131"/>
          <p:cNvSpPr txBox="1"/>
          <p:nvPr/>
        </p:nvSpPr>
        <p:spPr>
          <a:xfrm>
            <a:off x="731520" y="475488"/>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THE MAP</a:t>
            </a:r>
            <a:endParaRPr lang="en-US" sz="900" dirty="0"/>
          </a:p>
        </p:txBody>
      </p:sp>
      <p:sp>
        <p:nvSpPr>
          <p:cNvPr id="4" name="Text 1"/>
          <p:cNvSpPr/>
          <p:nvPr>
            <p:ph idx="101" type="title" hasCustomPrompt="1"/>
          </p:nvPr>
        </p:nvSpPr>
        <p:spPr>
          <a:xfrm>
            <a:off x="548640" y="749808"/>
            <a:ext cx="6464808" cy="685800"/>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The Whole City Plan</a:t>
            </a:r>
            <a:endParaRPr lang="en-US" sz="3400" dirty="0"/>
          </a:p>
        </p:txBody>
      </p:sp>
      <p:pic>
        <p:nvPicPr>
          <p:cNvPr id="5" name="master-plan" descr="/home/user/chatbox-bi-n-o/magazine/assets_v2/plans/01_city_master_plan.png">    </p:cNvPr>
          <p:cNvPicPr>
            <a:picLocks noChangeAspect="1"/>
          </p:cNvPicPr>
          <p:nvPr/>
        </p:nvPicPr>
        <p:blipFill>
          <a:blip r:embed="rId1"/>
          <a:stretch>
            <a:fillRect/>
          </a:stretch>
        </p:blipFill>
        <p:spPr>
          <a:xfrm>
            <a:off x="548640" y="1554480"/>
            <a:ext cx="6464808" cy="4202125"/>
          </a:xfrm>
          <a:prstGeom prst="rect">
            <a:avLst/>
          </a:prstGeom>
        </p:spPr>
      </p:pic>
      <p:sp>
        <p:nvSpPr>
          <p:cNvPr id="6" name="text-132"/>
          <p:cNvSpPr txBox="1"/>
          <p:nvPr/>
        </p:nvSpPr>
        <p:spPr>
          <a:xfrm>
            <a:off x="548640" y="5811469"/>
            <a:ext cx="6464808" cy="228600"/>
          </a:xfrm>
          <a:prstGeom prst="rect">
            <a:avLst/>
          </a:prstGeom>
          <a:noFill/>
          <a:ln/>
        </p:spPr>
        <p:txBody>
          <a:bodyPr wrap="square" lIns="0" tIns="0" rIns="0" bIns="0" rtlCol="0" anchor="t"/>
          <a:lstStyle/>
          <a:p>
            <a:pPr indent="0" marL="0">
              <a:buNone/>
            </a:pPr>
            <a:r>
              <a:rPr lang="en-US" sz="850" i="1" dirty="0">
                <a:solidFill>
                  <a:schemeClr val="tx2"/>
                </a:solidFill>
              </a:rPr>
              <a:t>Aurora Haven – City Master Plan. North is up; one unit is one metre. Drawn from the 3D model.</a:t>
            </a:r>
            <a:endParaRPr lang="en-US" sz="850" dirty="0"/>
          </a:p>
        </p:txBody>
      </p:sp>
      <p:sp>
        <p:nvSpPr>
          <p:cNvPr id="7" name="card-133"/>
          <p:cNvSpPr/>
          <p:nvPr/>
        </p:nvSpPr>
        <p:spPr>
          <a:xfrm>
            <a:off x="548640" y="6537960"/>
            <a:ext cx="2033016" cy="1554480"/>
          </a:xfrm>
          <a:prstGeom prst="roundRect">
            <a:avLst>
              <a:gd name="adj" fmla="val 4706"/>
            </a:avLst>
          </a:prstGeom>
          <a:solidFill>
            <a:schemeClr val="bg2"/>
          </a:solidFill>
          <a:ln w="12700">
            <a:solidFill>
              <a:schemeClr val="bg2"/>
            </a:solidFill>
            <a:prstDash val="solid"/>
          </a:ln>
        </p:spPr>
      </p:sp>
      <p:sp>
        <p:nvSpPr>
          <p:cNvPr id="8" name="kicker-dot-134"/>
          <p:cNvSpPr/>
          <p:nvPr/>
        </p:nvSpPr>
        <p:spPr>
          <a:xfrm>
            <a:off x="685800" y="6716268"/>
            <a:ext cx="100584" cy="100584"/>
          </a:xfrm>
          <a:prstGeom prst="ellipse">
            <a:avLst/>
          </a:prstGeom>
          <a:solidFill>
            <a:schemeClr val="tx1"/>
          </a:solidFill>
          <a:ln w="12700">
            <a:solidFill>
              <a:schemeClr val="tx1"/>
            </a:solidFill>
            <a:prstDash val="solid"/>
          </a:ln>
        </p:spPr>
      </p:sp>
      <p:sp>
        <p:nvSpPr>
          <p:cNvPr id="9" name="text-135"/>
          <p:cNvSpPr txBox="1"/>
          <p:nvPr/>
        </p:nvSpPr>
        <p:spPr>
          <a:xfrm>
            <a:off x="868680" y="6675120"/>
            <a:ext cx="1667256" cy="201168"/>
          </a:xfrm>
          <a:prstGeom prst="rect">
            <a:avLst/>
          </a:prstGeom>
          <a:noFill/>
          <a:ln/>
        </p:spPr>
        <p:txBody>
          <a:bodyPr wrap="square" lIns="0" tIns="0" rIns="0" bIns="0" rtlCol="0" anchor="t"/>
          <a:lstStyle/>
          <a:p>
            <a:pPr indent="0" marL="0">
              <a:buNone/>
            </a:pPr>
            <a:r>
              <a:rPr lang="en-US" sz="900" b="1" spc="300" kern="0" dirty="0">
                <a:solidFill>
                  <a:schemeClr val="tx1"/>
                </a:solidFill>
              </a:rPr>
              <a:t>DOWNTOWN</a:t>
            </a:r>
            <a:endParaRPr lang="en-US" sz="900" dirty="0"/>
          </a:p>
        </p:txBody>
      </p:sp>
      <p:sp>
        <p:nvSpPr>
          <p:cNvPr id="10" name="text-136"/>
          <p:cNvSpPr txBox="1"/>
          <p:nvPr/>
        </p:nvSpPr>
        <p:spPr>
          <a:xfrm>
            <a:off x="685800" y="6949440"/>
            <a:ext cx="1758696" cy="1051560"/>
          </a:xfrm>
          <a:prstGeom prst="rect">
            <a:avLst/>
          </a:prstGeom>
          <a:noFill/>
          <a:ln/>
        </p:spPr>
        <p:txBody>
          <a:bodyPr wrap="square" lIns="0" tIns="0" rIns="0" bIns="0" rtlCol="0" anchor="t"/>
          <a:lstStyle/>
          <a:p>
            <a:pPr indent="0" marL="0">
              <a:lnSpc>
                <a:spcPct val="108000"/>
              </a:lnSpc>
              <a:buNone/>
            </a:pPr>
            <a:r>
              <a:rPr lang="en-US" sz="950" dirty="0">
                <a:solidFill>
                  <a:schemeClr val="tx1"/>
                </a:solidFill>
              </a:rPr>
              <a:t>Nine blocks around the Aurora Roundabout and the President Ho Chi Minh Monument, with the hospital, schools, shops and the metro interchange.</a:t>
            </a:r>
            <a:endParaRPr lang="en-US" sz="950" dirty="0"/>
          </a:p>
        </p:txBody>
      </p:sp>
      <p:sp>
        <p:nvSpPr>
          <p:cNvPr id="11" name="card-137"/>
          <p:cNvSpPr/>
          <p:nvPr/>
        </p:nvSpPr>
        <p:spPr>
          <a:xfrm>
            <a:off x="2764536" y="6537960"/>
            <a:ext cx="2033016" cy="1554480"/>
          </a:xfrm>
          <a:prstGeom prst="roundRect">
            <a:avLst>
              <a:gd name="adj" fmla="val 4706"/>
            </a:avLst>
          </a:prstGeom>
          <a:solidFill>
            <a:schemeClr val="bg2"/>
          </a:solidFill>
          <a:ln w="12700">
            <a:solidFill>
              <a:schemeClr val="bg2"/>
            </a:solidFill>
            <a:prstDash val="solid"/>
          </a:ln>
        </p:spPr>
      </p:sp>
      <p:sp>
        <p:nvSpPr>
          <p:cNvPr id="12" name="kicker-dot-138"/>
          <p:cNvSpPr/>
          <p:nvPr/>
        </p:nvSpPr>
        <p:spPr>
          <a:xfrm>
            <a:off x="2901696" y="6716268"/>
            <a:ext cx="100584" cy="100584"/>
          </a:xfrm>
          <a:prstGeom prst="ellipse">
            <a:avLst/>
          </a:prstGeom>
          <a:solidFill>
            <a:schemeClr val="accent6"/>
          </a:solidFill>
          <a:ln w="12700">
            <a:solidFill>
              <a:schemeClr val="accent6"/>
            </a:solidFill>
            <a:prstDash val="solid"/>
          </a:ln>
        </p:spPr>
      </p:sp>
      <p:sp>
        <p:nvSpPr>
          <p:cNvPr id="13" name="text-139"/>
          <p:cNvSpPr txBox="1"/>
          <p:nvPr/>
        </p:nvSpPr>
        <p:spPr>
          <a:xfrm>
            <a:off x="3084576" y="6675120"/>
            <a:ext cx="1667256" cy="201168"/>
          </a:xfrm>
          <a:prstGeom prst="rect">
            <a:avLst/>
          </a:prstGeom>
          <a:noFill/>
          <a:ln/>
        </p:spPr>
        <p:txBody>
          <a:bodyPr wrap="square" lIns="0" tIns="0" rIns="0" bIns="0" rtlCol="0" anchor="t"/>
          <a:lstStyle/>
          <a:p>
            <a:pPr indent="0" marL="0">
              <a:buNone/>
            </a:pPr>
            <a:r>
              <a:rPr lang="en-US" sz="900" b="1" spc="300" kern="0" dirty="0">
                <a:solidFill>
                  <a:schemeClr val="accent6"/>
                </a:solidFill>
              </a:rPr>
              <a:t>NORTH</a:t>
            </a:r>
            <a:endParaRPr lang="en-US" sz="900" dirty="0"/>
          </a:p>
        </p:txBody>
      </p:sp>
      <p:sp>
        <p:nvSpPr>
          <p:cNvPr id="14" name="text-140"/>
          <p:cNvSpPr txBox="1"/>
          <p:nvPr/>
        </p:nvSpPr>
        <p:spPr>
          <a:xfrm>
            <a:off x="2901696" y="6949440"/>
            <a:ext cx="1758696" cy="1051560"/>
          </a:xfrm>
          <a:prstGeom prst="rect">
            <a:avLst/>
          </a:prstGeom>
          <a:noFill/>
          <a:ln/>
        </p:spPr>
        <p:txBody>
          <a:bodyPr wrap="square" lIns="0" tIns="0" rIns="0" bIns="0" rtlCol="0" anchor="t"/>
          <a:lstStyle/>
          <a:p>
            <a:pPr indent="0" marL="0">
              <a:lnSpc>
                <a:spcPct val="108000"/>
              </a:lnSpc>
              <a:buNone/>
            </a:pPr>
            <a:r>
              <a:rPr lang="en-US" sz="950" dirty="0">
                <a:solidFill>
                  <a:schemeClr val="tx1"/>
                </a:solidFill>
              </a:rPr>
              <a:t>The windy north holds the Northern Renewable Park, the energy hub, the Polar Rescue and Resilience Station and the airport.</a:t>
            </a:r>
            <a:endParaRPr lang="en-US" sz="950" dirty="0"/>
          </a:p>
        </p:txBody>
      </p:sp>
      <p:sp>
        <p:nvSpPr>
          <p:cNvPr id="15" name="card-141"/>
          <p:cNvSpPr/>
          <p:nvPr/>
        </p:nvSpPr>
        <p:spPr>
          <a:xfrm>
            <a:off x="4980432" y="6537960"/>
            <a:ext cx="2033016" cy="1554480"/>
          </a:xfrm>
          <a:prstGeom prst="roundRect">
            <a:avLst>
              <a:gd name="adj" fmla="val 4706"/>
            </a:avLst>
          </a:prstGeom>
          <a:solidFill>
            <a:schemeClr val="bg2"/>
          </a:solidFill>
          <a:ln w="12700">
            <a:solidFill>
              <a:schemeClr val="bg2"/>
            </a:solidFill>
            <a:prstDash val="solid"/>
          </a:ln>
        </p:spPr>
      </p:sp>
      <p:sp>
        <p:nvSpPr>
          <p:cNvPr id="16" name="kicker-dot-142"/>
          <p:cNvSpPr/>
          <p:nvPr/>
        </p:nvSpPr>
        <p:spPr>
          <a:xfrm>
            <a:off x="5117592" y="6716268"/>
            <a:ext cx="100584" cy="100584"/>
          </a:xfrm>
          <a:prstGeom prst="ellipse">
            <a:avLst/>
          </a:prstGeom>
          <a:solidFill>
            <a:schemeClr val="tx2"/>
          </a:solidFill>
          <a:ln w="12700">
            <a:solidFill>
              <a:schemeClr val="tx2"/>
            </a:solidFill>
            <a:prstDash val="solid"/>
          </a:ln>
        </p:spPr>
      </p:sp>
      <p:sp>
        <p:nvSpPr>
          <p:cNvPr id="17" name="text-143"/>
          <p:cNvSpPr txBox="1"/>
          <p:nvPr/>
        </p:nvSpPr>
        <p:spPr>
          <a:xfrm>
            <a:off x="5300472" y="6675120"/>
            <a:ext cx="1667256" cy="201168"/>
          </a:xfrm>
          <a:prstGeom prst="rect">
            <a:avLst/>
          </a:prstGeom>
          <a:noFill/>
          <a:ln/>
        </p:spPr>
        <p:txBody>
          <a:bodyPr wrap="square" lIns="0" tIns="0" rIns="0" bIns="0" rtlCol="0" anchor="t"/>
          <a:lstStyle/>
          <a:p>
            <a:pPr indent="0" marL="0">
              <a:buNone/>
            </a:pPr>
            <a:r>
              <a:rPr lang="en-US" sz="900" b="1" spc="300" kern="0" dirty="0">
                <a:solidFill>
                  <a:schemeClr val="tx2"/>
                </a:solidFill>
              </a:rPr>
              <a:t>WEST</a:t>
            </a:r>
            <a:endParaRPr lang="en-US" sz="900" dirty="0"/>
          </a:p>
        </p:txBody>
      </p:sp>
      <p:sp>
        <p:nvSpPr>
          <p:cNvPr id="18" name="text-144"/>
          <p:cNvSpPr txBox="1"/>
          <p:nvPr/>
        </p:nvSpPr>
        <p:spPr>
          <a:xfrm>
            <a:off x="5117592" y="6949440"/>
            <a:ext cx="1758696" cy="1051560"/>
          </a:xfrm>
          <a:prstGeom prst="rect">
            <a:avLst/>
          </a:prstGeom>
          <a:noFill/>
          <a:ln/>
        </p:spPr>
        <p:txBody>
          <a:bodyPr wrap="square" lIns="0" tIns="0" rIns="0" bIns="0" rtlCol="0" anchor="t"/>
          <a:lstStyle/>
          <a:p>
            <a:pPr indent="0" marL="0">
              <a:lnSpc>
                <a:spcPct val="108000"/>
              </a:lnSpc>
              <a:buNone/>
            </a:pPr>
            <a:r>
              <a:rPr lang="en-US" sz="950" dirty="0">
                <a:solidFill>
                  <a:schemeClr val="tx1"/>
                </a:solidFill>
              </a:rPr>
              <a:t>The air base and garrison, behind a belt of trees that screens the eco-homes.</a:t>
            </a:r>
            <a:endParaRPr lang="en-US" sz="950" dirty="0"/>
          </a:p>
        </p:txBody>
      </p:sp>
      <p:sp>
        <p:nvSpPr>
          <p:cNvPr id="19" name="card-145"/>
          <p:cNvSpPr/>
          <p:nvPr/>
        </p:nvSpPr>
        <p:spPr>
          <a:xfrm>
            <a:off x="548640" y="8229600"/>
            <a:ext cx="2033016" cy="1554480"/>
          </a:xfrm>
          <a:prstGeom prst="roundRect">
            <a:avLst>
              <a:gd name="adj" fmla="val 4706"/>
            </a:avLst>
          </a:prstGeom>
          <a:solidFill>
            <a:schemeClr val="bg2"/>
          </a:solidFill>
          <a:ln w="12700">
            <a:solidFill>
              <a:schemeClr val="bg2"/>
            </a:solidFill>
            <a:prstDash val="solid"/>
          </a:ln>
        </p:spPr>
      </p:sp>
      <p:sp>
        <p:nvSpPr>
          <p:cNvPr id="20" name="kicker-dot-146"/>
          <p:cNvSpPr/>
          <p:nvPr/>
        </p:nvSpPr>
        <p:spPr>
          <a:xfrm>
            <a:off x="685800" y="8407908"/>
            <a:ext cx="100584" cy="100584"/>
          </a:xfrm>
          <a:prstGeom prst="ellipse">
            <a:avLst/>
          </a:prstGeom>
          <a:solidFill>
            <a:schemeClr val="accent4"/>
          </a:solidFill>
          <a:ln w="12700">
            <a:solidFill>
              <a:schemeClr val="accent4"/>
            </a:solidFill>
            <a:prstDash val="solid"/>
          </a:ln>
        </p:spPr>
      </p:sp>
      <p:sp>
        <p:nvSpPr>
          <p:cNvPr id="21" name="text-147"/>
          <p:cNvSpPr txBox="1"/>
          <p:nvPr/>
        </p:nvSpPr>
        <p:spPr>
          <a:xfrm>
            <a:off x="868680" y="8366760"/>
            <a:ext cx="1667256" cy="201168"/>
          </a:xfrm>
          <a:prstGeom prst="rect">
            <a:avLst/>
          </a:prstGeom>
          <a:noFill/>
          <a:ln/>
        </p:spPr>
        <p:txBody>
          <a:bodyPr wrap="square" lIns="0" tIns="0" rIns="0" bIns="0" rtlCol="0" anchor="t"/>
          <a:lstStyle/>
          <a:p>
            <a:pPr indent="0" marL="0">
              <a:buNone/>
            </a:pPr>
            <a:r>
              <a:rPr lang="en-US" sz="900" b="1" spc="300" kern="0" dirty="0">
                <a:solidFill>
                  <a:schemeClr val="accent4"/>
                </a:solidFill>
              </a:rPr>
              <a:t>EAST</a:t>
            </a:r>
            <a:endParaRPr lang="en-US" sz="900" dirty="0"/>
          </a:p>
        </p:txBody>
      </p:sp>
      <p:sp>
        <p:nvSpPr>
          <p:cNvPr id="22" name="text-148"/>
          <p:cNvSpPr txBox="1"/>
          <p:nvPr/>
        </p:nvSpPr>
        <p:spPr>
          <a:xfrm>
            <a:off x="685800" y="8641080"/>
            <a:ext cx="1758696" cy="1051560"/>
          </a:xfrm>
          <a:prstGeom prst="rect">
            <a:avLst/>
          </a:prstGeom>
          <a:noFill/>
          <a:ln/>
        </p:spPr>
        <p:txBody>
          <a:bodyPr wrap="square" lIns="0" tIns="0" rIns="0" bIns="0" rtlCol="0" anchor="t"/>
          <a:lstStyle/>
          <a:p>
            <a:pPr indent="0" marL="0">
              <a:lnSpc>
                <a:spcPct val="108000"/>
              </a:lnSpc>
              <a:buNone/>
            </a:pPr>
            <a:r>
              <a:rPr lang="en-US" sz="950" dirty="0">
                <a:solidFill>
                  <a:schemeClr val="tx1"/>
                </a:solidFill>
              </a:rPr>
              <a:t>Greenhouses, the snow stadium, the fusion station and the Snow-to-Food plant, away from homes but linked by pipe bridges and heat mains.</a:t>
            </a:r>
            <a:endParaRPr lang="en-US" sz="950" dirty="0"/>
          </a:p>
        </p:txBody>
      </p:sp>
      <p:sp>
        <p:nvSpPr>
          <p:cNvPr id="23" name="card-149"/>
          <p:cNvSpPr/>
          <p:nvPr/>
        </p:nvSpPr>
        <p:spPr>
          <a:xfrm>
            <a:off x="2764536" y="8229600"/>
            <a:ext cx="2033016" cy="1554480"/>
          </a:xfrm>
          <a:prstGeom prst="roundRect">
            <a:avLst>
              <a:gd name="adj" fmla="val 4706"/>
            </a:avLst>
          </a:prstGeom>
          <a:solidFill>
            <a:schemeClr val="bg2"/>
          </a:solidFill>
          <a:ln w="12700">
            <a:solidFill>
              <a:schemeClr val="bg2"/>
            </a:solidFill>
            <a:prstDash val="solid"/>
          </a:ln>
        </p:spPr>
      </p:sp>
      <p:sp>
        <p:nvSpPr>
          <p:cNvPr id="24" name="kicker-dot-150"/>
          <p:cNvSpPr/>
          <p:nvPr/>
        </p:nvSpPr>
        <p:spPr>
          <a:xfrm>
            <a:off x="2901696" y="8407908"/>
            <a:ext cx="100584" cy="100584"/>
          </a:xfrm>
          <a:prstGeom prst="ellipse">
            <a:avLst/>
          </a:prstGeom>
          <a:solidFill>
            <a:schemeClr val="accent5"/>
          </a:solidFill>
          <a:ln w="12700">
            <a:solidFill>
              <a:schemeClr val="accent5"/>
            </a:solidFill>
            <a:prstDash val="solid"/>
          </a:ln>
        </p:spPr>
      </p:sp>
      <p:sp>
        <p:nvSpPr>
          <p:cNvPr id="25" name="text-151"/>
          <p:cNvSpPr txBox="1"/>
          <p:nvPr/>
        </p:nvSpPr>
        <p:spPr>
          <a:xfrm>
            <a:off x="3084576" y="8366760"/>
            <a:ext cx="1667256" cy="201168"/>
          </a:xfrm>
          <a:prstGeom prst="rect">
            <a:avLst/>
          </a:prstGeom>
          <a:noFill/>
          <a:ln/>
        </p:spPr>
        <p:txBody>
          <a:bodyPr wrap="square" lIns="0" tIns="0" rIns="0" bIns="0" rtlCol="0" anchor="t"/>
          <a:lstStyle/>
          <a:p>
            <a:pPr indent="0" marL="0">
              <a:buNone/>
            </a:pPr>
            <a:r>
              <a:rPr lang="en-US" sz="900" b="1" spc="300" kern="0" dirty="0">
                <a:solidFill>
                  <a:schemeClr val="accent5"/>
                </a:solidFill>
              </a:rPr>
              <a:t>SOUTH</a:t>
            </a:r>
            <a:endParaRPr lang="en-US" sz="900" dirty="0"/>
          </a:p>
        </p:txBody>
      </p:sp>
      <p:sp>
        <p:nvSpPr>
          <p:cNvPr id="26" name="text-152"/>
          <p:cNvSpPr txBox="1"/>
          <p:nvPr/>
        </p:nvSpPr>
        <p:spPr>
          <a:xfrm>
            <a:off x="2901696" y="8641080"/>
            <a:ext cx="1758696" cy="1051560"/>
          </a:xfrm>
          <a:prstGeom prst="rect">
            <a:avLst/>
          </a:prstGeom>
          <a:noFill/>
          <a:ln/>
        </p:spPr>
        <p:txBody>
          <a:bodyPr wrap="square" lIns="0" tIns="0" rIns="0" bIns="0" rtlCol="0" anchor="t"/>
          <a:lstStyle/>
          <a:p>
            <a:pPr indent="0" marL="0">
              <a:lnSpc>
                <a:spcPct val="108000"/>
              </a:lnSpc>
              <a:buNone/>
            </a:pPr>
            <a:r>
              <a:rPr lang="en-US" sz="950" dirty="0">
                <a:solidFill>
                  <a:schemeClr val="tx1"/>
                </a:solidFill>
              </a:rPr>
              <a:t>Framed by Liberty Mall, Mount Aurora rises with its geothermal spa resort inside.</a:t>
            </a:r>
            <a:endParaRPr lang="en-US" sz="950" dirty="0"/>
          </a:p>
        </p:txBody>
      </p:sp>
      <p:sp>
        <p:nvSpPr>
          <p:cNvPr id="27" name="text-153"/>
          <p:cNvSpPr txBox="1"/>
          <p:nvPr/>
        </p:nvSpPr>
        <p:spPr>
          <a:xfrm>
            <a:off x="4980432" y="8339328"/>
            <a:ext cx="2033016" cy="201168"/>
          </a:xfrm>
          <a:prstGeom prst="rect">
            <a:avLst/>
          </a:prstGeom>
          <a:noFill/>
          <a:ln/>
        </p:spPr>
        <p:txBody>
          <a:bodyPr wrap="square" lIns="0" tIns="0" rIns="0" bIns="0" rtlCol="0" anchor="t"/>
          <a:lstStyle/>
          <a:p>
            <a:pPr indent="0" marL="0">
              <a:buNone/>
            </a:pPr>
            <a:r>
              <a:rPr lang="en-US" sz="850" b="1" spc="200" kern="0" dirty="0">
                <a:solidFill>
                  <a:schemeClr val="tx2"/>
                </a:solidFill>
              </a:rPr>
              <a:t>SIGNATURE DISTRICTS</a:t>
            </a:r>
            <a:endParaRPr lang="en-US" sz="850" dirty="0"/>
          </a:p>
        </p:txBody>
      </p:sp>
      <p:sp>
        <p:nvSpPr>
          <p:cNvPr id="28" name="key-chip-154"/>
          <p:cNvSpPr/>
          <p:nvPr/>
        </p:nvSpPr>
        <p:spPr>
          <a:xfrm>
            <a:off x="4980432" y="8659368"/>
            <a:ext cx="237744" cy="182880"/>
          </a:xfrm>
          <a:prstGeom prst="roundRect">
            <a:avLst>
              <a:gd name="adj" fmla="val 20000"/>
            </a:avLst>
          </a:prstGeom>
          <a:solidFill>
            <a:schemeClr val="accent3"/>
          </a:solidFill>
          <a:ln w="12700">
            <a:solidFill>
              <a:schemeClr val="accent3"/>
            </a:solidFill>
            <a:prstDash val="solid"/>
          </a:ln>
        </p:spPr>
      </p:sp>
      <p:sp>
        <p:nvSpPr>
          <p:cNvPr id="29" name="text-155"/>
          <p:cNvSpPr txBox="1"/>
          <p:nvPr/>
        </p:nvSpPr>
        <p:spPr>
          <a:xfrm>
            <a:off x="5309616" y="8641080"/>
            <a:ext cx="1703832" cy="329184"/>
          </a:xfrm>
          <a:prstGeom prst="rect">
            <a:avLst/>
          </a:prstGeom>
          <a:noFill/>
          <a:ln/>
        </p:spPr>
        <p:txBody>
          <a:bodyPr wrap="square" lIns="0" tIns="0" rIns="0" bIns="0" rtlCol="0" anchor="t"/>
          <a:lstStyle/>
          <a:p>
            <a:pPr indent="0" marL="0">
              <a:buNone/>
            </a:pPr>
            <a:r>
              <a:rPr lang="en-US" sz="900" b="1" dirty="0">
                <a:solidFill>
                  <a:schemeClr val="tx1"/>
                </a:solidFill>
              </a:rPr>
              <a:t>Fusion Power Station</a:t>
            </a:r>
            <a:endParaRPr lang="en-US" sz="900" dirty="0"/>
          </a:p>
        </p:txBody>
      </p:sp>
      <p:sp>
        <p:nvSpPr>
          <p:cNvPr id="30" name="key-chip-156"/>
          <p:cNvSpPr/>
          <p:nvPr/>
        </p:nvSpPr>
        <p:spPr>
          <a:xfrm>
            <a:off x="4980432" y="9025128"/>
            <a:ext cx="237744" cy="182880"/>
          </a:xfrm>
          <a:prstGeom prst="roundRect">
            <a:avLst>
              <a:gd name="adj" fmla="val 20000"/>
            </a:avLst>
          </a:prstGeom>
          <a:solidFill>
            <a:schemeClr val="accent4"/>
          </a:solidFill>
          <a:ln w="12700">
            <a:solidFill>
              <a:schemeClr val="accent4"/>
            </a:solidFill>
            <a:prstDash val="solid"/>
          </a:ln>
        </p:spPr>
      </p:sp>
      <p:sp>
        <p:nvSpPr>
          <p:cNvPr id="31" name="text-157"/>
          <p:cNvSpPr txBox="1"/>
          <p:nvPr/>
        </p:nvSpPr>
        <p:spPr>
          <a:xfrm>
            <a:off x="5309616" y="9006840"/>
            <a:ext cx="1703832" cy="329184"/>
          </a:xfrm>
          <a:prstGeom prst="rect">
            <a:avLst/>
          </a:prstGeom>
          <a:noFill/>
          <a:ln/>
        </p:spPr>
        <p:txBody>
          <a:bodyPr wrap="square" lIns="0" tIns="0" rIns="0" bIns="0" rtlCol="0" anchor="t"/>
          <a:lstStyle/>
          <a:p>
            <a:pPr indent="0" marL="0">
              <a:buNone/>
            </a:pPr>
            <a:r>
              <a:rPr lang="en-US" sz="900" b="1" dirty="0">
                <a:solidFill>
                  <a:schemeClr val="tx1"/>
                </a:solidFill>
              </a:rPr>
              <a:t>Snow-to-Food &amp; Water Plant</a:t>
            </a:r>
            <a:endParaRPr lang="en-US" sz="900" dirty="0"/>
          </a:p>
        </p:txBody>
      </p:sp>
      <p:sp>
        <p:nvSpPr>
          <p:cNvPr id="32" name="key-chip-158"/>
          <p:cNvSpPr/>
          <p:nvPr/>
        </p:nvSpPr>
        <p:spPr>
          <a:xfrm>
            <a:off x="4980432" y="9390888"/>
            <a:ext cx="237744" cy="182880"/>
          </a:xfrm>
          <a:prstGeom prst="roundRect">
            <a:avLst>
              <a:gd name="adj" fmla="val 20000"/>
            </a:avLst>
          </a:prstGeom>
          <a:solidFill>
            <a:schemeClr val="accent5"/>
          </a:solidFill>
          <a:ln w="12700">
            <a:solidFill>
              <a:schemeClr val="accent5"/>
            </a:solidFill>
            <a:prstDash val="solid"/>
          </a:ln>
        </p:spPr>
      </p:sp>
      <p:sp>
        <p:nvSpPr>
          <p:cNvPr id="33" name="text-159"/>
          <p:cNvSpPr txBox="1"/>
          <p:nvPr/>
        </p:nvSpPr>
        <p:spPr>
          <a:xfrm>
            <a:off x="5309616" y="9372600"/>
            <a:ext cx="1703832" cy="329184"/>
          </a:xfrm>
          <a:prstGeom prst="rect">
            <a:avLst/>
          </a:prstGeom>
          <a:noFill/>
          <a:ln/>
        </p:spPr>
        <p:txBody>
          <a:bodyPr wrap="square" lIns="0" tIns="0" rIns="0" bIns="0" rtlCol="0" anchor="t"/>
          <a:lstStyle/>
          <a:p>
            <a:pPr indent="0" marL="0">
              <a:buNone/>
            </a:pPr>
            <a:r>
              <a:rPr lang="en-US" sz="900" b="1" dirty="0">
                <a:solidFill>
                  <a:schemeClr val="tx1"/>
                </a:solidFill>
              </a:rPr>
              <a:t>Mount Aurora Geothermal Spa Resort</a:t>
            </a:r>
            <a:endParaRPr lang="en-US" sz="90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1"/>
                </a:solidFil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dot-160"/>
          <p:cNvSpPr/>
          <p:nvPr/>
        </p:nvSpPr>
        <p:spPr>
          <a:xfrm>
            <a:off x="548640" y="516636"/>
            <a:ext cx="100584" cy="100584"/>
          </a:xfrm>
          <a:prstGeom prst="ellipse">
            <a:avLst/>
          </a:prstGeom>
          <a:solidFill>
            <a:schemeClr val="accent6"/>
          </a:solidFill>
          <a:ln w="12700">
            <a:solidFill>
              <a:schemeClr val="accent6"/>
            </a:solidFill>
            <a:prstDash val="solid"/>
          </a:ln>
        </p:spPr>
      </p:sp>
      <p:sp>
        <p:nvSpPr>
          <p:cNvPr id="3" name="text-161"/>
          <p:cNvSpPr txBox="1"/>
          <p:nvPr/>
        </p:nvSpPr>
        <p:spPr>
          <a:xfrm>
            <a:off x="731520" y="475488"/>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DOWNTOWN</a:t>
            </a:r>
            <a:endParaRPr lang="en-US" sz="900" dirty="0"/>
          </a:p>
        </p:txBody>
      </p:sp>
      <p:sp>
        <p:nvSpPr>
          <p:cNvPr id="4" name="Text 1"/>
          <p:cNvSpPr/>
          <p:nvPr>
            <p:ph idx="101" type="title" hasCustomPrompt="1"/>
          </p:nvPr>
        </p:nvSpPr>
        <p:spPr>
          <a:xfrm>
            <a:off x="548640" y="749808"/>
            <a:ext cx="6464808" cy="685800"/>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Nine Blocks, One Short Walk</a:t>
            </a:r>
            <a:endParaRPr lang="en-US" sz="3400" dirty="0"/>
          </a:p>
        </p:txBody>
      </p:sp>
      <p:pic>
        <p:nvPicPr>
          <p:cNvPr id="5" name="picture-162" descr="/home/user/chatbox-bi-n-o/magazine/assets_v2/renders/liberty.jpg">    </p:cNvPr>
          <p:cNvPicPr>
            <a:picLocks noChangeAspect="1"/>
          </p:cNvPicPr>
          <p:nvPr/>
        </p:nvPicPr>
        <p:blipFill>
          <a:blip r:embed="rId1"/>
          <a:srcRect l="0" r="0" t="0" b="0"/>
          <a:stretch/>
        </p:blipFill>
        <p:spPr>
          <a:xfrm>
            <a:off x="0" y="1508760"/>
            <a:ext cx="7562088" cy="3566160"/>
          </a:xfrm>
          <a:prstGeom prst="rect">
            <a:avLst/>
          </a:prstGeom>
        </p:spPr>
      </p:pic>
      <p:sp>
        <p:nvSpPr>
          <p:cNvPr id="6" name="text-163"/>
          <p:cNvSpPr txBox="1"/>
          <p:nvPr/>
        </p:nvSpPr>
        <p:spPr>
          <a:xfrm>
            <a:off x="548640" y="5138928"/>
            <a:ext cx="6464808" cy="228600"/>
          </a:xfrm>
          <a:prstGeom prst="rect">
            <a:avLst/>
          </a:prstGeom>
          <a:noFill/>
          <a:ln/>
        </p:spPr>
        <p:txBody>
          <a:bodyPr wrap="square" lIns="0" tIns="0" rIns="0" bIns="0" rtlCol="0" anchor="t"/>
          <a:lstStyle/>
          <a:p>
            <a:pPr indent="0" marL="0">
              <a:buNone/>
            </a:pPr>
            <a:r>
              <a:rPr lang="en-US" sz="850" i="1" dirty="0">
                <a:solidFill>
                  <a:schemeClr val="tx2"/>
                </a:solidFill>
              </a:rPr>
              <a:t>Looking south along the boulevard of the Mount Aurora Approach to the spa’s North Portal.</a:t>
            </a:r>
            <a:endParaRPr lang="en-US" sz="850" dirty="0"/>
          </a:p>
        </p:txBody>
      </p:sp>
      <p:sp>
        <p:nvSpPr>
          <p:cNvPr id="7" name="text-164"/>
          <p:cNvSpPr txBox="1"/>
          <p:nvPr/>
        </p:nvSpPr>
        <p:spPr>
          <a:xfrm>
            <a:off x="548640" y="5486400"/>
            <a:ext cx="6464808" cy="594360"/>
          </a:xfrm>
          <a:prstGeom prst="rect">
            <a:avLst/>
          </a:prstGeom>
          <a:noFill/>
          <a:ln/>
        </p:spPr>
        <p:txBody>
          <a:bodyPr wrap="square" lIns="0" tIns="0" rIns="0" bIns="0" rtlCol="0" anchor="t"/>
          <a:lstStyle/>
          <a:p>
            <a:pPr indent="0" marL="0">
              <a:lnSpc>
                <a:spcPct val="110000"/>
              </a:lnSpc>
              <a:buNone/>
            </a:pPr>
            <a:r>
              <a:rPr lang="en-US" sz="1050" dirty="0">
                <a:solidFill>
                  <a:schemeClr val="tx1"/>
                </a:solidFill>
              </a:rPr>
              <a:t>Downtown is laid out in nine blocks around the Aurora Roundabout. Shops, schools, healthcare and homes are within a short walk of each other, and the metro interchange lies under Liberty Mall. The map below follows the city plan, with north at the top.</a:t>
            </a:r>
            <a:endParaRPr lang="en-US" sz="1050" dirty="0"/>
          </a:p>
        </p:txBody>
      </p:sp>
      <p:sp>
        <p:nvSpPr>
          <p:cNvPr id="8" name="card-165"/>
          <p:cNvSpPr/>
          <p:nvPr/>
        </p:nvSpPr>
        <p:spPr>
          <a:xfrm>
            <a:off x="548640" y="6309360"/>
            <a:ext cx="2093976" cy="1133856"/>
          </a:xfrm>
          <a:prstGeom prst="roundRect">
            <a:avLst>
              <a:gd name="adj" fmla="val 6452"/>
            </a:avLst>
          </a:prstGeom>
          <a:solidFill>
            <a:schemeClr val="bg2"/>
          </a:solidFill>
          <a:ln w="12700">
            <a:solidFill>
              <a:schemeClr val="bg2"/>
            </a:solidFill>
            <a:prstDash val="solid"/>
          </a:ln>
        </p:spPr>
      </p:sp>
      <p:sp>
        <p:nvSpPr>
          <p:cNvPr id="9" name="text-166"/>
          <p:cNvSpPr txBox="1"/>
          <p:nvPr/>
        </p:nvSpPr>
        <p:spPr>
          <a:xfrm>
            <a:off x="667512" y="6419088"/>
            <a:ext cx="1856232" cy="219456"/>
          </a:xfrm>
          <a:prstGeom prst="rect">
            <a:avLst/>
          </a:prstGeom>
          <a:noFill/>
          <a:ln/>
        </p:spPr>
        <p:txBody>
          <a:bodyPr wrap="square" lIns="0" tIns="0" rIns="0" bIns="0" rtlCol="0" anchor="t"/>
          <a:lstStyle/>
          <a:p>
            <a:pPr indent="0" marL="0">
              <a:buNone/>
            </a:pPr>
            <a:r>
              <a:rPr lang="en-US" sz="1050" b="1" dirty="0">
                <a:solidFill>
                  <a:schemeClr val="accent6"/>
                </a:solidFill>
              </a:rPr>
              <a:t>Polaris Quarter</a:t>
            </a:r>
            <a:endParaRPr lang="en-US" sz="1050" dirty="0"/>
          </a:p>
        </p:txBody>
      </p:sp>
      <p:sp>
        <p:nvSpPr>
          <p:cNvPr id="10" name="text-167"/>
          <p:cNvSpPr txBox="1"/>
          <p:nvPr/>
        </p:nvSpPr>
        <p:spPr>
          <a:xfrm>
            <a:off x="667512" y="6675120"/>
            <a:ext cx="1856232" cy="694944"/>
          </a:xfrm>
          <a:prstGeom prst="rect">
            <a:avLst/>
          </a:prstGeom>
          <a:noFill/>
          <a:ln/>
        </p:spPr>
        <p:txBody>
          <a:bodyPr wrap="square" lIns="0" tIns="0" rIns="0" bIns="0" rtlCol="0" anchor="t"/>
          <a:lstStyle/>
          <a:p>
            <a:pPr indent="0" marL="0">
              <a:lnSpc>
                <a:spcPct val="105000"/>
              </a:lnSpc>
              <a:buNone/>
            </a:pPr>
            <a:r>
              <a:rPr lang="en-US" sz="950" dirty="0">
                <a:solidFill>
                  <a:schemeClr val="tx1"/>
                </a:solidFill>
              </a:rPr>
              <a:t>Aurora Core – AI Control Tower · Aurora Haven Police Headquarters · Polaris Green Office Tower</a:t>
            </a:r>
            <a:endParaRPr lang="en-US" sz="950" dirty="0"/>
          </a:p>
        </p:txBody>
      </p:sp>
      <p:sp>
        <p:nvSpPr>
          <p:cNvPr id="11" name="card-168"/>
          <p:cNvSpPr/>
          <p:nvPr/>
        </p:nvSpPr>
        <p:spPr>
          <a:xfrm>
            <a:off x="2734056" y="6309360"/>
            <a:ext cx="2093976" cy="1133856"/>
          </a:xfrm>
          <a:prstGeom prst="roundRect">
            <a:avLst>
              <a:gd name="adj" fmla="val 6452"/>
            </a:avLst>
          </a:prstGeom>
          <a:solidFill>
            <a:schemeClr val="bg2"/>
          </a:solidFill>
          <a:ln w="12700">
            <a:solidFill>
              <a:schemeClr val="bg2"/>
            </a:solidFill>
            <a:prstDash val="solid"/>
          </a:ln>
        </p:spPr>
      </p:sp>
      <p:sp>
        <p:nvSpPr>
          <p:cNvPr id="12" name="text-169"/>
          <p:cNvSpPr txBox="1"/>
          <p:nvPr/>
        </p:nvSpPr>
        <p:spPr>
          <a:xfrm>
            <a:off x="2852928" y="6419088"/>
            <a:ext cx="1856232" cy="219456"/>
          </a:xfrm>
          <a:prstGeom prst="rect">
            <a:avLst/>
          </a:prstGeom>
          <a:noFill/>
          <a:ln/>
        </p:spPr>
        <p:txBody>
          <a:bodyPr wrap="square" lIns="0" tIns="0" rIns="0" bIns="0" rtlCol="0" anchor="t"/>
          <a:lstStyle/>
          <a:p>
            <a:pPr indent="0" marL="0">
              <a:buNone/>
            </a:pPr>
            <a:r>
              <a:rPr lang="en-US" sz="1050" b="1" dirty="0">
                <a:solidFill>
                  <a:schemeClr val="accent6"/>
                </a:solidFill>
              </a:rPr>
              <a:t>Knowledge Quarter</a:t>
            </a:r>
            <a:endParaRPr lang="en-US" sz="1050" dirty="0"/>
          </a:p>
        </p:txBody>
      </p:sp>
      <p:sp>
        <p:nvSpPr>
          <p:cNvPr id="13" name="text-170"/>
          <p:cNvSpPr txBox="1"/>
          <p:nvPr/>
        </p:nvSpPr>
        <p:spPr>
          <a:xfrm>
            <a:off x="2852928" y="6675120"/>
            <a:ext cx="1856232" cy="694944"/>
          </a:xfrm>
          <a:prstGeom prst="rect">
            <a:avLst/>
          </a:prstGeom>
          <a:noFill/>
          <a:ln/>
        </p:spPr>
        <p:txBody>
          <a:bodyPr wrap="square" lIns="0" tIns="0" rIns="0" bIns="0" rtlCol="0" anchor="t"/>
          <a:lstStyle/>
          <a:p>
            <a:pPr indent="0" marL="0">
              <a:lnSpc>
                <a:spcPct val="105000"/>
              </a:lnSpc>
              <a:buNone/>
            </a:pPr>
            <a:r>
              <a:rPr lang="en-US" sz="950" dirty="0">
                <a:solidFill>
                  <a:schemeClr val="tx1"/>
                </a:solidFill>
              </a:rPr>
              <a:t>Arctic University – Main Hall · Aurora Public Library</a:t>
            </a:r>
            <a:endParaRPr lang="en-US" sz="950" dirty="0"/>
          </a:p>
        </p:txBody>
      </p:sp>
      <p:sp>
        <p:nvSpPr>
          <p:cNvPr id="14" name="card-171"/>
          <p:cNvSpPr/>
          <p:nvPr/>
        </p:nvSpPr>
        <p:spPr>
          <a:xfrm>
            <a:off x="4919472" y="6309360"/>
            <a:ext cx="2093976" cy="1133856"/>
          </a:xfrm>
          <a:prstGeom prst="roundRect">
            <a:avLst>
              <a:gd name="adj" fmla="val 6452"/>
            </a:avLst>
          </a:prstGeom>
          <a:solidFill>
            <a:schemeClr val="bg2"/>
          </a:solidFill>
          <a:ln w="12700">
            <a:solidFill>
              <a:schemeClr val="bg2"/>
            </a:solidFill>
            <a:prstDash val="solid"/>
          </a:ln>
        </p:spPr>
      </p:sp>
      <p:sp>
        <p:nvSpPr>
          <p:cNvPr id="15" name="text-172"/>
          <p:cNvSpPr txBox="1"/>
          <p:nvPr/>
        </p:nvSpPr>
        <p:spPr>
          <a:xfrm>
            <a:off x="5038344" y="6419088"/>
            <a:ext cx="1856232" cy="219456"/>
          </a:xfrm>
          <a:prstGeom prst="rect">
            <a:avLst/>
          </a:prstGeom>
          <a:noFill/>
          <a:ln/>
        </p:spPr>
        <p:txBody>
          <a:bodyPr wrap="square" lIns="0" tIns="0" rIns="0" bIns="0" rtlCol="0" anchor="t"/>
          <a:lstStyle/>
          <a:p>
            <a:pPr indent="0" marL="0">
              <a:buNone/>
            </a:pPr>
            <a:r>
              <a:rPr lang="en-US" sz="1050" b="1" dirty="0">
                <a:solidFill>
                  <a:schemeClr val="accent6"/>
                </a:solidFill>
              </a:rPr>
              <a:t>Financial District</a:t>
            </a:r>
            <a:endParaRPr lang="en-US" sz="1050" dirty="0"/>
          </a:p>
        </p:txBody>
      </p:sp>
      <p:sp>
        <p:nvSpPr>
          <p:cNvPr id="16" name="text-173"/>
          <p:cNvSpPr txBox="1"/>
          <p:nvPr/>
        </p:nvSpPr>
        <p:spPr>
          <a:xfrm>
            <a:off x="5038344" y="6675120"/>
            <a:ext cx="1856232" cy="694944"/>
          </a:xfrm>
          <a:prstGeom prst="rect">
            <a:avLst/>
          </a:prstGeom>
          <a:noFill/>
          <a:ln/>
        </p:spPr>
        <p:txBody>
          <a:bodyPr wrap="square" lIns="0" tIns="0" rIns="0" bIns="0" rtlCol="0" anchor="t"/>
          <a:lstStyle/>
          <a:p>
            <a:pPr indent="0" marL="0">
              <a:lnSpc>
                <a:spcPct val="105000"/>
              </a:lnSpc>
              <a:buNone/>
            </a:pPr>
            <a:r>
              <a:rPr lang="en-US" sz="950" dirty="0">
                <a:solidFill>
                  <a:schemeClr val="tx1"/>
                </a:solidFill>
              </a:rPr>
              <a:t>Arctic Stock Exchange · Aurora Green Finance Hall · Snowline Courthouse · Aurora Business Hotel</a:t>
            </a:r>
            <a:endParaRPr lang="en-US" sz="950" dirty="0"/>
          </a:p>
        </p:txBody>
      </p:sp>
      <p:sp>
        <p:nvSpPr>
          <p:cNvPr id="17" name="card-174"/>
          <p:cNvSpPr/>
          <p:nvPr/>
        </p:nvSpPr>
        <p:spPr>
          <a:xfrm>
            <a:off x="548640" y="7534656"/>
            <a:ext cx="2093976" cy="1133856"/>
          </a:xfrm>
          <a:prstGeom prst="roundRect">
            <a:avLst>
              <a:gd name="adj" fmla="val 6452"/>
            </a:avLst>
          </a:prstGeom>
          <a:solidFill>
            <a:schemeClr val="bg2"/>
          </a:solidFill>
          <a:ln w="12700">
            <a:solidFill>
              <a:schemeClr val="bg2"/>
            </a:solidFill>
            <a:prstDash val="solid"/>
          </a:ln>
        </p:spPr>
      </p:sp>
      <p:sp>
        <p:nvSpPr>
          <p:cNvPr id="18" name="text-175"/>
          <p:cNvSpPr txBox="1"/>
          <p:nvPr/>
        </p:nvSpPr>
        <p:spPr>
          <a:xfrm>
            <a:off x="667512" y="7644384"/>
            <a:ext cx="1856232" cy="219456"/>
          </a:xfrm>
          <a:prstGeom prst="rect">
            <a:avLst/>
          </a:prstGeom>
          <a:noFill/>
          <a:ln/>
        </p:spPr>
        <p:txBody>
          <a:bodyPr wrap="square" lIns="0" tIns="0" rIns="0" bIns="0" rtlCol="0" anchor="t"/>
          <a:lstStyle/>
          <a:p>
            <a:pPr indent="0" marL="0">
              <a:buNone/>
            </a:pPr>
            <a:r>
              <a:rPr lang="en-US" sz="1050" b="1" dirty="0">
                <a:solidFill>
                  <a:schemeClr val="accent6"/>
                </a:solidFill>
              </a:rPr>
              <a:t>West Market Street</a:t>
            </a:r>
            <a:endParaRPr lang="en-US" sz="1050" dirty="0"/>
          </a:p>
        </p:txBody>
      </p:sp>
      <p:sp>
        <p:nvSpPr>
          <p:cNvPr id="19" name="text-176"/>
          <p:cNvSpPr txBox="1"/>
          <p:nvPr/>
        </p:nvSpPr>
        <p:spPr>
          <a:xfrm>
            <a:off x="667512" y="7900416"/>
            <a:ext cx="1856232" cy="694944"/>
          </a:xfrm>
          <a:prstGeom prst="rect">
            <a:avLst/>
          </a:prstGeom>
          <a:noFill/>
          <a:ln/>
        </p:spPr>
        <p:txBody>
          <a:bodyPr wrap="square" lIns="0" tIns="0" rIns="0" bIns="0" rtlCol="0" anchor="t"/>
          <a:lstStyle/>
          <a:p>
            <a:pPr indent="0" marL="0">
              <a:lnSpc>
                <a:spcPct val="105000"/>
              </a:lnSpc>
              <a:buNone/>
            </a:pPr>
            <a:r>
              <a:rPr lang="en-US" sz="950" dirty="0">
                <a:solidFill>
                  <a:schemeClr val="tx1"/>
                </a:solidFill>
              </a:rPr>
              <a:t>West Market Fire &amp; Ambulance Station · Aurora Night Market Hall · Polar Pharmacy</a:t>
            </a:r>
            <a:endParaRPr lang="en-US" sz="950" dirty="0"/>
          </a:p>
        </p:txBody>
      </p:sp>
      <p:sp>
        <p:nvSpPr>
          <p:cNvPr id="20" name="card-177"/>
          <p:cNvSpPr/>
          <p:nvPr/>
        </p:nvSpPr>
        <p:spPr>
          <a:xfrm>
            <a:off x="2734056" y="7534656"/>
            <a:ext cx="2093976" cy="1133856"/>
          </a:xfrm>
          <a:prstGeom prst="roundRect">
            <a:avLst>
              <a:gd name="adj" fmla="val 6452"/>
            </a:avLst>
          </a:prstGeom>
          <a:solidFill>
            <a:schemeClr val="tx1"/>
          </a:solidFill>
          <a:ln w="12700">
            <a:solidFill>
              <a:schemeClr val="tx1"/>
            </a:solidFill>
            <a:prstDash val="solid"/>
          </a:ln>
        </p:spPr>
      </p:sp>
      <p:sp>
        <p:nvSpPr>
          <p:cNvPr id="21" name="text-178"/>
          <p:cNvSpPr txBox="1"/>
          <p:nvPr/>
        </p:nvSpPr>
        <p:spPr>
          <a:xfrm>
            <a:off x="2852928" y="7644384"/>
            <a:ext cx="1856232" cy="219456"/>
          </a:xfrm>
          <a:prstGeom prst="rect">
            <a:avLst/>
          </a:prstGeom>
          <a:noFill/>
          <a:ln/>
        </p:spPr>
        <p:txBody>
          <a:bodyPr wrap="square" lIns="0" tIns="0" rIns="0" bIns="0" rtlCol="0" anchor="t"/>
          <a:lstStyle/>
          <a:p>
            <a:pPr indent="0" marL="0">
              <a:buNone/>
            </a:pPr>
            <a:r>
              <a:rPr lang="en-US" sz="1050" b="1" dirty="0">
                <a:solidFill>
                  <a:schemeClr val="accent1"/>
                </a:solidFill>
              </a:rPr>
              <a:t>Civic Core &amp; Liberty Mall</a:t>
            </a:r>
            <a:endParaRPr lang="en-US" sz="1050" dirty="0"/>
          </a:p>
        </p:txBody>
      </p:sp>
      <p:sp>
        <p:nvSpPr>
          <p:cNvPr id="22" name="text-179"/>
          <p:cNvSpPr txBox="1"/>
          <p:nvPr/>
        </p:nvSpPr>
        <p:spPr>
          <a:xfrm>
            <a:off x="2852928" y="7900416"/>
            <a:ext cx="1856232" cy="694944"/>
          </a:xfrm>
          <a:prstGeom prst="rect">
            <a:avLst/>
          </a:prstGeom>
          <a:noFill/>
          <a:ln/>
        </p:spPr>
        <p:txBody>
          <a:bodyPr wrap="square" lIns="0" tIns="0" rIns="0" bIns="0" rtlCol="0" anchor="t"/>
          <a:lstStyle/>
          <a:p>
            <a:pPr indent="0" marL="0">
              <a:lnSpc>
                <a:spcPct val="105000"/>
              </a:lnSpc>
              <a:buNone/>
            </a:pPr>
            <a:r>
              <a:rPr lang="en-US" sz="950" dirty="0">
                <a:solidFill>
                  <a:schemeClr val="bg1"/>
                </a:solidFill>
              </a:rPr>
              <a:t>President Ho Chi Minh Monument · Civic Center · Snowflake General Hospital · Northern Lights School · Igloo Fresh · Aurora Cinema · Metro</a:t>
            </a:r>
            <a:endParaRPr lang="en-US" sz="950" dirty="0"/>
          </a:p>
        </p:txBody>
      </p:sp>
      <p:sp>
        <p:nvSpPr>
          <p:cNvPr id="23" name="card-180"/>
          <p:cNvSpPr/>
          <p:nvPr/>
        </p:nvSpPr>
        <p:spPr>
          <a:xfrm>
            <a:off x="4919472" y="7534656"/>
            <a:ext cx="2093976" cy="1133856"/>
          </a:xfrm>
          <a:prstGeom prst="roundRect">
            <a:avLst>
              <a:gd name="adj" fmla="val 6452"/>
            </a:avLst>
          </a:prstGeom>
          <a:solidFill>
            <a:schemeClr val="bg2"/>
          </a:solidFill>
          <a:ln w="12700">
            <a:solidFill>
              <a:schemeClr val="bg2"/>
            </a:solidFill>
            <a:prstDash val="solid"/>
          </a:ln>
        </p:spPr>
      </p:sp>
      <p:sp>
        <p:nvSpPr>
          <p:cNvPr id="24" name="text-181"/>
          <p:cNvSpPr txBox="1"/>
          <p:nvPr/>
        </p:nvSpPr>
        <p:spPr>
          <a:xfrm>
            <a:off x="5038344" y="7644384"/>
            <a:ext cx="1856232" cy="219456"/>
          </a:xfrm>
          <a:prstGeom prst="rect">
            <a:avLst/>
          </a:prstGeom>
          <a:noFill/>
          <a:ln/>
        </p:spPr>
        <p:txBody>
          <a:bodyPr wrap="square" lIns="0" tIns="0" rIns="0" bIns="0" rtlCol="0" anchor="t"/>
          <a:lstStyle/>
          <a:p>
            <a:pPr indent="0" marL="0">
              <a:buNone/>
            </a:pPr>
            <a:r>
              <a:rPr lang="en-US" sz="1050" b="1" dirty="0">
                <a:solidFill>
                  <a:schemeClr val="accent6"/>
                </a:solidFill>
              </a:rPr>
              <a:t>East Gallery Avenue</a:t>
            </a:r>
            <a:endParaRPr lang="en-US" sz="1050" dirty="0"/>
          </a:p>
        </p:txBody>
      </p:sp>
      <p:sp>
        <p:nvSpPr>
          <p:cNvPr id="25" name="text-182"/>
          <p:cNvSpPr txBox="1"/>
          <p:nvPr/>
        </p:nvSpPr>
        <p:spPr>
          <a:xfrm>
            <a:off x="5038344" y="7900416"/>
            <a:ext cx="1856232" cy="694944"/>
          </a:xfrm>
          <a:prstGeom prst="rect">
            <a:avLst/>
          </a:prstGeom>
          <a:noFill/>
          <a:ln/>
        </p:spPr>
        <p:txBody>
          <a:bodyPr wrap="square" lIns="0" tIns="0" rIns="0" bIns="0" rtlCol="0" anchor="t"/>
          <a:lstStyle/>
          <a:p>
            <a:pPr indent="0" marL="0">
              <a:lnSpc>
                <a:spcPct val="105000"/>
              </a:lnSpc>
              <a:buNone/>
            </a:pPr>
            <a:r>
              <a:rPr lang="en-US" sz="950" dirty="0">
                <a:solidFill>
                  <a:schemeClr val="tx1"/>
                </a:solidFill>
              </a:rPr>
              <a:t>Aurora Glacier Mall &amp; Crystal Atrium · Snow Lantern Primary School · Northern Lights Music Hall</a:t>
            </a:r>
            <a:endParaRPr lang="en-US" sz="950" dirty="0"/>
          </a:p>
        </p:txBody>
      </p:sp>
      <p:sp>
        <p:nvSpPr>
          <p:cNvPr id="26" name="card-183"/>
          <p:cNvSpPr/>
          <p:nvPr/>
        </p:nvSpPr>
        <p:spPr>
          <a:xfrm>
            <a:off x="548640" y="8759952"/>
            <a:ext cx="2093976" cy="1133856"/>
          </a:xfrm>
          <a:prstGeom prst="roundRect">
            <a:avLst>
              <a:gd name="adj" fmla="val 6452"/>
            </a:avLst>
          </a:prstGeom>
          <a:solidFill>
            <a:schemeClr val="bg2"/>
          </a:solidFill>
          <a:ln w="12700">
            <a:solidFill>
              <a:schemeClr val="bg2"/>
            </a:solidFill>
            <a:prstDash val="solid"/>
          </a:ln>
        </p:spPr>
      </p:sp>
      <p:sp>
        <p:nvSpPr>
          <p:cNvPr id="27" name="text-184"/>
          <p:cNvSpPr txBox="1"/>
          <p:nvPr/>
        </p:nvSpPr>
        <p:spPr>
          <a:xfrm>
            <a:off x="667512" y="8869680"/>
            <a:ext cx="1856232" cy="219456"/>
          </a:xfrm>
          <a:prstGeom prst="rect">
            <a:avLst/>
          </a:prstGeom>
          <a:noFill/>
          <a:ln/>
        </p:spPr>
        <p:txBody>
          <a:bodyPr wrap="square" lIns="0" tIns="0" rIns="0" bIns="0" rtlCol="0" anchor="t"/>
          <a:lstStyle/>
          <a:p>
            <a:pPr indent="0" marL="0">
              <a:buNone/>
            </a:pPr>
            <a:r>
              <a:rPr lang="en-US" sz="1050" b="1" dirty="0">
                <a:solidFill>
                  <a:schemeClr val="accent6"/>
                </a:solidFill>
              </a:rPr>
              <a:t>Snowpine Residences</a:t>
            </a:r>
            <a:endParaRPr lang="en-US" sz="1050" dirty="0"/>
          </a:p>
        </p:txBody>
      </p:sp>
      <p:sp>
        <p:nvSpPr>
          <p:cNvPr id="28" name="text-185"/>
          <p:cNvSpPr txBox="1"/>
          <p:nvPr/>
        </p:nvSpPr>
        <p:spPr>
          <a:xfrm>
            <a:off x="667512" y="9125712"/>
            <a:ext cx="1856232" cy="694944"/>
          </a:xfrm>
          <a:prstGeom prst="rect">
            <a:avLst/>
          </a:prstGeom>
          <a:noFill/>
          <a:ln/>
        </p:spPr>
        <p:txBody>
          <a:bodyPr wrap="square" lIns="0" tIns="0" rIns="0" bIns="0" rtlCol="0" anchor="t"/>
          <a:lstStyle/>
          <a:p>
            <a:pPr indent="0" marL="0">
              <a:lnSpc>
                <a:spcPct val="105000"/>
              </a:lnSpc>
              <a:buNone/>
            </a:pPr>
            <a:r>
              <a:rPr lang="en-US" sz="950" dirty="0">
                <a:solidFill>
                  <a:schemeClr val="tx1"/>
                </a:solidFill>
              </a:rPr>
              <a:t>Family homes · Pinecone Kindergarten · Snowpine Senior Care Home</a:t>
            </a:r>
            <a:endParaRPr lang="en-US" sz="950" dirty="0"/>
          </a:p>
        </p:txBody>
      </p:sp>
      <p:sp>
        <p:nvSpPr>
          <p:cNvPr id="29" name="card-186"/>
          <p:cNvSpPr/>
          <p:nvPr/>
        </p:nvSpPr>
        <p:spPr>
          <a:xfrm>
            <a:off x="2734056" y="8759952"/>
            <a:ext cx="2093976" cy="1133856"/>
          </a:xfrm>
          <a:prstGeom prst="roundRect">
            <a:avLst>
              <a:gd name="adj" fmla="val 6452"/>
            </a:avLst>
          </a:prstGeom>
          <a:solidFill>
            <a:schemeClr val="bg2"/>
          </a:solidFill>
          <a:ln w="12700">
            <a:solidFill>
              <a:schemeClr val="bg2"/>
            </a:solidFill>
            <a:prstDash val="solid"/>
          </a:ln>
        </p:spPr>
      </p:sp>
      <p:sp>
        <p:nvSpPr>
          <p:cNvPr id="30" name="text-187"/>
          <p:cNvSpPr txBox="1"/>
          <p:nvPr/>
        </p:nvSpPr>
        <p:spPr>
          <a:xfrm>
            <a:off x="2852928" y="8869680"/>
            <a:ext cx="1856232" cy="219456"/>
          </a:xfrm>
          <a:prstGeom prst="rect">
            <a:avLst/>
          </a:prstGeom>
          <a:noFill/>
          <a:ln/>
        </p:spPr>
        <p:txBody>
          <a:bodyPr wrap="square" lIns="0" tIns="0" rIns="0" bIns="0" rtlCol="0" anchor="t"/>
          <a:lstStyle/>
          <a:p>
            <a:pPr indent="0" marL="0">
              <a:buNone/>
            </a:pPr>
            <a:r>
              <a:rPr lang="en-US" sz="1050" b="1" dirty="0">
                <a:solidFill>
                  <a:schemeClr val="accent6"/>
                </a:solidFill>
              </a:rPr>
              <a:t>Mount Aurora Approach</a:t>
            </a:r>
            <a:endParaRPr lang="en-US" sz="1050" dirty="0"/>
          </a:p>
        </p:txBody>
      </p:sp>
      <p:sp>
        <p:nvSpPr>
          <p:cNvPr id="31" name="text-188"/>
          <p:cNvSpPr txBox="1"/>
          <p:nvPr/>
        </p:nvSpPr>
        <p:spPr>
          <a:xfrm>
            <a:off x="2852928" y="9125712"/>
            <a:ext cx="1856232" cy="694944"/>
          </a:xfrm>
          <a:prstGeom prst="rect">
            <a:avLst/>
          </a:prstGeom>
          <a:noFill/>
          <a:ln/>
        </p:spPr>
        <p:txBody>
          <a:bodyPr wrap="square" lIns="0" tIns="0" rIns="0" bIns="0" rtlCol="0" anchor="t"/>
          <a:lstStyle/>
          <a:p>
            <a:pPr indent="0" marL="0">
              <a:lnSpc>
                <a:spcPct val="105000"/>
              </a:lnSpc>
              <a:buNone/>
            </a:pPr>
            <a:r>
              <a:rPr lang="en-US" sz="950" dirty="0">
                <a:solidFill>
                  <a:schemeClr val="tx1"/>
                </a:solidFill>
              </a:rPr>
              <a:t>Mount Aurora Guesthouse · Southside Police &amp; Mountain Rescue Post · spa shuttle street</a:t>
            </a:r>
            <a:endParaRPr lang="en-US" sz="950" dirty="0"/>
          </a:p>
        </p:txBody>
      </p:sp>
      <p:sp>
        <p:nvSpPr>
          <p:cNvPr id="32" name="card-189"/>
          <p:cNvSpPr/>
          <p:nvPr/>
        </p:nvSpPr>
        <p:spPr>
          <a:xfrm>
            <a:off x="4919472" y="8759952"/>
            <a:ext cx="2093976" cy="1133856"/>
          </a:xfrm>
          <a:prstGeom prst="roundRect">
            <a:avLst>
              <a:gd name="adj" fmla="val 6452"/>
            </a:avLst>
          </a:prstGeom>
          <a:solidFill>
            <a:schemeClr val="bg2"/>
          </a:solidFill>
          <a:ln w="12700">
            <a:solidFill>
              <a:schemeClr val="bg2"/>
            </a:solidFill>
            <a:prstDash val="solid"/>
          </a:ln>
        </p:spPr>
      </p:sp>
      <p:sp>
        <p:nvSpPr>
          <p:cNvPr id="33" name="text-190"/>
          <p:cNvSpPr txBox="1"/>
          <p:nvPr/>
        </p:nvSpPr>
        <p:spPr>
          <a:xfrm>
            <a:off x="5038344" y="8869680"/>
            <a:ext cx="1856232" cy="219456"/>
          </a:xfrm>
          <a:prstGeom prst="rect">
            <a:avLst/>
          </a:prstGeom>
          <a:noFill/>
          <a:ln/>
        </p:spPr>
        <p:txBody>
          <a:bodyPr wrap="square" lIns="0" tIns="0" rIns="0" bIns="0" rtlCol="0" anchor="t"/>
          <a:lstStyle/>
          <a:p>
            <a:pPr indent="0" marL="0">
              <a:buNone/>
            </a:pPr>
            <a:r>
              <a:rPr lang="en-US" sz="1050" b="1" dirty="0">
                <a:solidFill>
                  <a:schemeClr val="accent6"/>
                </a:solidFill>
              </a:rPr>
              <a:t>Aurora 81 District</a:t>
            </a:r>
            <a:endParaRPr lang="en-US" sz="1050" dirty="0"/>
          </a:p>
        </p:txBody>
      </p:sp>
      <p:sp>
        <p:nvSpPr>
          <p:cNvPr id="34" name="text-191"/>
          <p:cNvSpPr txBox="1"/>
          <p:nvPr/>
        </p:nvSpPr>
        <p:spPr>
          <a:xfrm>
            <a:off x="5038344" y="9125712"/>
            <a:ext cx="1856232" cy="694944"/>
          </a:xfrm>
          <a:prstGeom prst="rect">
            <a:avLst/>
          </a:prstGeom>
          <a:noFill/>
          <a:ln/>
        </p:spPr>
        <p:txBody>
          <a:bodyPr wrap="square" lIns="0" tIns="0" rIns="0" bIns="0" rtlCol="0" anchor="t"/>
          <a:lstStyle/>
          <a:p>
            <a:pPr indent="0" marL="0">
              <a:lnSpc>
                <a:spcPct val="105000"/>
              </a:lnSpc>
              <a:buNone/>
            </a:pPr>
            <a:r>
              <a:rPr lang="en-US" sz="950" dirty="0">
                <a:solidFill>
                  <a:schemeClr val="tx1"/>
                </a:solidFill>
              </a:rPr>
              <a:t>Aurora 81 – Polar Landmark Tower · Aurora 81 Residences (Twin Towers)</a:t>
            </a:r>
            <a:endParaRPr lang="en-US" sz="95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1"/>
                </a:solidFil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picture-192" descr="/home/user/chatbox-bi-n-o/magazine/assets_v2/renders/fusion.jpg">    </p:cNvPr>
          <p:cNvPicPr>
            <a:picLocks noChangeAspect="1"/>
          </p:cNvPicPr>
          <p:nvPr/>
        </p:nvPicPr>
        <p:blipFill>
          <a:blip r:embed="rId1"/>
          <a:srcRect l="0" r="0" t="0" b="0"/>
          <a:stretch/>
        </p:blipFill>
        <p:spPr>
          <a:xfrm>
            <a:off x="0" y="0"/>
            <a:ext cx="7562088" cy="6035040"/>
          </a:xfrm>
          <a:prstGeom prst="rect">
            <a:avLst/>
          </a:prstGeom>
        </p:spPr>
      </p:pic>
      <p:sp>
        <p:nvSpPr>
          <p:cNvPr id="3" name="marker-193"/>
          <p:cNvSpPr/>
          <p:nvPr/>
        </p:nvSpPr>
        <p:spPr>
          <a:xfrm>
            <a:off x="548640" y="5623560"/>
            <a:ext cx="822960" cy="822960"/>
          </a:xfrm>
          <a:prstGeom prst="ellipse">
            <a:avLst/>
          </a:prstGeom>
          <a:solidFill>
            <a:schemeClr val="accent3"/>
          </a:solidFill>
          <a:ln w="19050">
            <a:solidFill>
              <a:schemeClr val="bg1"/>
            </a:solidFill>
            <a:prstDash val="solid"/>
          </a:ln>
        </p:spPr>
      </p:sp>
      <p:sp>
        <p:nvSpPr>
          <p:cNvPr id="4" name="text-194"/>
          <p:cNvSpPr txBox="1"/>
          <p:nvPr/>
        </p:nvSpPr>
        <p:spPr>
          <a:xfrm>
            <a:off x="548640" y="5623560"/>
            <a:ext cx="822960" cy="822960"/>
          </a:xfrm>
          <a:prstGeom prst="rect">
            <a:avLst/>
          </a:prstGeom>
          <a:noFill/>
          <a:ln/>
        </p:spPr>
        <p:txBody>
          <a:bodyPr wrap="square" lIns="0" tIns="0" rIns="0" bIns="0" rtlCol="0" anchor="ctr"/>
          <a:lstStyle/>
          <a:p>
            <a:pPr algn="ctr" indent="0" marL="0">
              <a:buNone/>
            </a:pPr>
            <a:r>
              <a:rPr lang="en-US" sz="3000" b="1" dirty="0">
                <a:solidFill>
                  <a:schemeClr val="bg1"/>
                </a:solidFill>
                <a:latin typeface="+mj-lt" pitchFamily="34" charset="0"/>
                <a:ea typeface="+mj-lt" pitchFamily="34" charset="-122"/>
                <a:cs typeface="+mj-lt" pitchFamily="34" charset="-120"/>
              </a:rPr>
              <a:t>1</a:t>
            </a:r>
            <a:endParaRPr lang="en-US" sz="3000" dirty="0"/>
          </a:p>
        </p:txBody>
      </p:sp>
      <p:sp>
        <p:nvSpPr>
          <p:cNvPr id="5" name="kicker-dot-195"/>
          <p:cNvSpPr/>
          <p:nvPr/>
        </p:nvSpPr>
        <p:spPr>
          <a:xfrm>
            <a:off x="548640" y="6670548"/>
            <a:ext cx="100584" cy="100584"/>
          </a:xfrm>
          <a:prstGeom prst="ellipse">
            <a:avLst/>
          </a:prstGeom>
          <a:solidFill>
            <a:schemeClr val="accent3"/>
          </a:solidFill>
          <a:ln w="12700">
            <a:solidFill>
              <a:schemeClr val="accent3"/>
            </a:solidFill>
            <a:prstDash val="solid"/>
          </a:ln>
        </p:spPr>
      </p:sp>
      <p:sp>
        <p:nvSpPr>
          <p:cNvPr id="6" name="text-196"/>
          <p:cNvSpPr txBox="1"/>
          <p:nvPr/>
        </p:nvSpPr>
        <p:spPr>
          <a:xfrm>
            <a:off x="731520" y="6629400"/>
            <a:ext cx="5486400" cy="201168"/>
          </a:xfrm>
          <a:prstGeom prst="rect">
            <a:avLst/>
          </a:prstGeom>
          <a:noFill/>
          <a:ln/>
        </p:spPr>
        <p:txBody>
          <a:bodyPr wrap="square" lIns="0" tIns="0" rIns="0" bIns="0" rtlCol="0" anchor="t"/>
          <a:lstStyle/>
          <a:p>
            <a:pPr indent="0" marL="0">
              <a:buNone/>
            </a:pPr>
            <a:r>
              <a:rPr lang="en-US" sz="900" b="1" spc="300" kern="0" dirty="0">
                <a:solidFill>
                  <a:schemeClr val="accent3"/>
                </a:solidFill>
              </a:rPr>
              <a:t>SIGNATURE DISTRICT 1 · FUSION POWER STATION</a:t>
            </a:r>
            <a:endParaRPr lang="en-US" sz="900" dirty="0"/>
          </a:p>
        </p:txBody>
      </p:sp>
      <p:sp>
        <p:nvSpPr>
          <p:cNvPr id="7" name="Text 1"/>
          <p:cNvSpPr/>
          <p:nvPr>
            <p:ph idx="101" type="title" hasCustomPrompt="1"/>
          </p:nvPr>
        </p:nvSpPr>
        <p:spPr>
          <a:xfrm>
            <a:off x="548640" y="6858000"/>
            <a:ext cx="6464808" cy="1234440"/>
          </a:xfrm>
          <a:prstGeom prst="rect">
            <a:avLst/>
          </a:prstGeom>
          <a:noFill/>
          <a:ln/>
        </p:spPr>
        <p:txBody>
          <a:bodyPr wrap="square" lIns="0" tIns="0" rIns="0" bIns="0" rtlCol="0" anchor="t"/>
          <a:lstStyle/>
          <a:p>
            <a:pPr algn="l" indent="0" marL="0">
              <a:buNone/>
            </a:pPr>
            <a:r>
              <a:rPr lang="en-US" sz="4000" b="1" dirty="0">
                <a:solidFill>
                  <a:schemeClr val="tx1"/>
                </a:solidFill>
                <a:latin typeface="+mj-lt" pitchFamily="34" charset="0"/>
                <a:ea typeface="+mj-lt" pitchFamily="34" charset="-122"/>
                <a:cs typeface="+mj-lt" pitchFamily="34" charset="-120"/>
              </a:rPr>
              <a:t>The City's Own Sun</a:t>
            </a:r>
            <a:endParaRPr lang="en-US" sz="4000" dirty="0"/>
          </a:p>
        </p:txBody>
      </p:sp>
      <p:sp>
        <p:nvSpPr>
          <p:cNvPr id="8" name="text-197"/>
          <p:cNvSpPr txBox="1"/>
          <p:nvPr/>
        </p:nvSpPr>
        <p:spPr>
          <a:xfrm>
            <a:off x="548640" y="7534656"/>
            <a:ext cx="6464808" cy="640080"/>
          </a:xfrm>
          <a:prstGeom prst="rect">
            <a:avLst/>
          </a:prstGeom>
          <a:noFill/>
          <a:ln/>
        </p:spPr>
        <p:txBody>
          <a:bodyPr wrap="square" lIns="0" tIns="0" rIns="0" bIns="0" rtlCol="0" anchor="t"/>
          <a:lstStyle/>
          <a:p>
            <a:pPr indent="0" marL="0">
              <a:lnSpc>
                <a:spcPct val="110000"/>
              </a:lnSpc>
              <a:buNone/>
            </a:pPr>
            <a:r>
              <a:rPr lang="en-US" sz="1400" i="1" dirty="0">
                <a:solidFill>
                  <a:schemeClr val="tx2"/>
                </a:solidFill>
                <a:latin typeface="+mj-lt" pitchFamily="34" charset="0"/>
                <a:ea typeface="+mj-lt" pitchFamily="34" charset="-122"/>
                <a:cs typeface="+mj-lt" pitchFamily="34" charset="-120"/>
              </a:rPr>
              <a:t>A compact tokamak gives Aurora Haven about 300 MW of electricity and 450 MW of district heat, steady through the polar night, with no CO₂ and no meltdown.</a:t>
            </a:r>
            <a:endParaRPr lang="en-US" sz="1400" dirty="0"/>
          </a:p>
        </p:txBody>
      </p:sp>
      <p:sp>
        <p:nvSpPr>
          <p:cNvPr id="9" name="text-198"/>
          <p:cNvSpPr txBox="1"/>
          <p:nvPr/>
        </p:nvSpPr>
        <p:spPr>
          <a:xfrm>
            <a:off x="548640" y="8284464"/>
            <a:ext cx="3095244" cy="1728216"/>
          </a:xfrm>
          <a:prstGeom prst="rect">
            <a:avLst/>
          </a:prstGeom>
          <a:noFill/>
          <a:ln/>
        </p:spPr>
        <p:txBody>
          <a:bodyPr wrap="square" lIns="0" tIns="0" rIns="0" bIns="0" rtlCol="0" anchor="t"/>
          <a:lstStyle/>
          <a:p>
            <a:pPr indent="0" marL="0">
              <a:lnSpc>
                <a:spcPct val="112000"/>
              </a:lnSpc>
              <a:spcAft>
                <a:spcPts val="700"/>
              </a:spcAft>
              <a:buNone/>
            </a:pPr>
            <a:r>
              <a:rPr lang="en-US" sz="1050" dirty="0">
                <a:solidFill>
                  <a:schemeClr val="tx1"/>
                </a:solidFill>
              </a:rPr>
              <a:t>Our first signature district is the city’s own sun. Stage 1 takes deuterium from snowmelt water, so the fuel literally falls from the sky as snow. Stage 2 breeds tritium in a lithium blanket, so none is imported.</a:t>
            </a:r>
            <a:endParaRPr lang="en-US" sz="1050" dirty="0"/>
          </a:p>
          <a:p>
            <a:pPr indent="0" marL="0">
              <a:lnSpc>
                <a:spcPct val="112000"/>
              </a:lnSpc>
              <a:spcAft>
                <a:spcPts val="700"/>
              </a:spcAft>
              <a:buNone/>
            </a:pPr>
            <a:r>
              <a:rPr lang="en-US" sz="1050" dirty="0">
                <a:solidFill>
                  <a:schemeClr val="tx1"/>
                </a:solidFill>
              </a:rPr>
              <a:t>Stage 3 is the tokamak, where superconducting magnets hold a 150-million-degree plasma that makes about 800 megawatts of heat.</a:t>
            </a:r>
            <a:endParaRPr lang="en-US" sz="1050" dirty="0"/>
          </a:p>
        </p:txBody>
      </p:sp>
      <p:sp>
        <p:nvSpPr>
          <p:cNvPr id="10" name="text-199"/>
          <p:cNvSpPr txBox="1"/>
          <p:nvPr/>
        </p:nvSpPr>
        <p:spPr>
          <a:xfrm>
            <a:off x="3918204" y="8284464"/>
            <a:ext cx="3095244" cy="1728216"/>
          </a:xfrm>
          <a:prstGeom prst="rect">
            <a:avLst/>
          </a:prstGeom>
          <a:noFill/>
          <a:ln/>
        </p:spPr>
        <p:txBody>
          <a:bodyPr wrap="square" lIns="0" tIns="0" rIns="0" bIns="0" rtlCol="0" anchor="t"/>
          <a:lstStyle/>
          <a:p>
            <a:pPr indent="0" marL="0">
              <a:lnSpc>
                <a:spcPct val="112000"/>
              </a:lnSpc>
              <a:spcAft>
                <a:spcPts val="700"/>
              </a:spcAft>
              <a:buNone/>
            </a:pPr>
            <a:r>
              <a:rPr lang="en-US" sz="1050" dirty="0">
                <a:solidFill>
                  <a:schemeClr val="tx1"/>
                </a:solidFill>
              </a:rPr>
              <a:t>Stage 4 turns that heat into about 300 megawatts of electricity and sends 450 megawatts into the district-heating loop. Stage 5 turns rubbish into clean gas and building blocks.</a:t>
            </a:r>
            <a:endParaRPr lang="en-US" sz="1050" dirty="0"/>
          </a:p>
          <a:p>
            <a:pPr indent="0" marL="0">
              <a:lnSpc>
                <a:spcPct val="112000"/>
              </a:lnSpc>
              <a:spcAft>
                <a:spcPts val="700"/>
              </a:spcAft>
              <a:buNone/>
            </a:pPr>
            <a:r>
              <a:rPr lang="en-US" sz="1050" dirty="0">
                <a:solidFill>
                  <a:schemeClr val="tx1"/>
                </a:solidFill>
              </a:rPr>
              <a:t>The reactor runs on about 170 grams of fuel a day. If anything fails, the plasma simply goes out in a split second, so it cannot melt down or run away.</a:t>
            </a:r>
            <a:endParaRPr lang="en-US" sz="105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1"/>
                </a:solidFil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dot-200"/>
          <p:cNvSpPr/>
          <p:nvPr/>
        </p:nvSpPr>
        <p:spPr>
          <a:xfrm>
            <a:off x="548640" y="516636"/>
            <a:ext cx="100584" cy="100584"/>
          </a:xfrm>
          <a:prstGeom prst="ellipse">
            <a:avLst/>
          </a:prstGeom>
          <a:solidFill>
            <a:schemeClr val="accent3"/>
          </a:solidFill>
          <a:ln w="12700">
            <a:solidFill>
              <a:schemeClr val="accent3"/>
            </a:solidFill>
            <a:prstDash val="solid"/>
          </a:ln>
        </p:spPr>
      </p:sp>
      <p:sp>
        <p:nvSpPr>
          <p:cNvPr id="3" name="text-201"/>
          <p:cNvSpPr txBox="1"/>
          <p:nvPr/>
        </p:nvSpPr>
        <p:spPr>
          <a:xfrm>
            <a:off x="731520" y="475488"/>
            <a:ext cx="5486400" cy="201168"/>
          </a:xfrm>
          <a:prstGeom prst="rect">
            <a:avLst/>
          </a:prstGeom>
          <a:noFill/>
          <a:ln/>
        </p:spPr>
        <p:txBody>
          <a:bodyPr wrap="square" lIns="0" tIns="0" rIns="0" bIns="0" rtlCol="0" anchor="t"/>
          <a:lstStyle/>
          <a:p>
            <a:pPr indent="0" marL="0">
              <a:buNone/>
            </a:pPr>
            <a:r>
              <a:rPr lang="en-US" sz="900" b="1" spc="300" kern="0" dirty="0">
                <a:solidFill>
                  <a:schemeClr val="accent3"/>
                </a:solidFill>
              </a:rPr>
              <a:t>FUSION POWER STATION · HOW IT WORKS</a:t>
            </a:r>
            <a:endParaRPr lang="en-US" sz="900" dirty="0"/>
          </a:p>
        </p:txBody>
      </p:sp>
      <p:sp>
        <p:nvSpPr>
          <p:cNvPr id="4" name="Text 1"/>
          <p:cNvSpPr/>
          <p:nvPr>
            <p:ph idx="101" type="title" hasCustomPrompt="1"/>
          </p:nvPr>
        </p:nvSpPr>
        <p:spPr>
          <a:xfrm>
            <a:off x="548640" y="749808"/>
            <a:ext cx="6464808" cy="685800"/>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Five Stages, One Sun</a:t>
            </a:r>
            <a:endParaRPr lang="en-US" sz="3400" dirty="0"/>
          </a:p>
        </p:txBody>
      </p:sp>
      <p:pic>
        <p:nvPicPr>
          <p:cNvPr id="5" name="fusion-plan" descr="/home/user/chatbox-bi-n-o/magazine/assets_v2/plans/02_fusion_power_station_plan.png">    </p:cNvPr>
          <p:cNvPicPr>
            <a:picLocks noChangeAspect="1"/>
          </p:cNvPicPr>
          <p:nvPr/>
        </p:nvPicPr>
        <p:blipFill>
          <a:blip r:embed="rId1"/>
          <a:stretch>
            <a:fillRect/>
          </a:stretch>
        </p:blipFill>
        <p:spPr>
          <a:xfrm>
            <a:off x="548640" y="1554480"/>
            <a:ext cx="6464808" cy="3448975"/>
          </a:xfrm>
          <a:prstGeom prst="rect">
            <a:avLst/>
          </a:prstGeom>
        </p:spPr>
      </p:pic>
      <p:sp>
        <p:nvSpPr>
          <p:cNvPr id="6" name="text-202"/>
          <p:cNvSpPr txBox="1"/>
          <p:nvPr/>
        </p:nvSpPr>
        <p:spPr>
          <a:xfrm>
            <a:off x="548640" y="5049175"/>
            <a:ext cx="6464808" cy="228600"/>
          </a:xfrm>
          <a:prstGeom prst="rect">
            <a:avLst/>
          </a:prstGeom>
          <a:noFill/>
          <a:ln/>
        </p:spPr>
        <p:txBody>
          <a:bodyPr wrap="square" lIns="0" tIns="0" rIns="0" bIns="0" rtlCol="0" anchor="t"/>
          <a:lstStyle/>
          <a:p>
            <a:pPr indent="0" marL="0">
              <a:buNone/>
            </a:pPr>
            <a:r>
              <a:rPr lang="en-US" sz="850" i="1" dirty="0">
                <a:solidFill>
                  <a:schemeClr val="tx2"/>
                </a:solidFill>
              </a:rPr>
              <a:t>Fusion Power Station – District Plan. Signature district 1: a compact D-T tokamak.</a:t>
            </a:r>
            <a:endParaRPr lang="en-US" sz="850" dirty="0"/>
          </a:p>
        </p:txBody>
      </p:sp>
      <p:sp>
        <p:nvSpPr>
          <p:cNvPr id="7" name="marker-203"/>
          <p:cNvSpPr/>
          <p:nvPr/>
        </p:nvSpPr>
        <p:spPr>
          <a:xfrm>
            <a:off x="548640" y="5414935"/>
            <a:ext cx="329184" cy="329184"/>
          </a:xfrm>
          <a:prstGeom prst="ellipse">
            <a:avLst/>
          </a:prstGeom>
          <a:solidFill>
            <a:schemeClr val="accent3"/>
          </a:solidFill>
          <a:ln w="12700">
            <a:solidFill>
              <a:schemeClr val="accent3"/>
            </a:solidFill>
            <a:prstDash val="solid"/>
          </a:ln>
        </p:spPr>
      </p:sp>
      <p:sp>
        <p:nvSpPr>
          <p:cNvPr id="8" name="text-204"/>
          <p:cNvSpPr txBox="1"/>
          <p:nvPr/>
        </p:nvSpPr>
        <p:spPr>
          <a:xfrm>
            <a:off x="548640" y="541493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1</a:t>
            </a:r>
            <a:endParaRPr lang="en-US" sz="1200" dirty="0"/>
          </a:p>
        </p:txBody>
      </p:sp>
      <p:sp>
        <p:nvSpPr>
          <p:cNvPr id="9" name="text-205"/>
          <p:cNvSpPr txBox="1"/>
          <p:nvPr/>
        </p:nvSpPr>
        <p:spPr>
          <a:xfrm>
            <a:off x="1005840" y="5405791"/>
            <a:ext cx="3703320" cy="201168"/>
          </a:xfrm>
          <a:prstGeom prst="rect">
            <a:avLst/>
          </a:prstGeom>
          <a:noFill/>
          <a:ln/>
        </p:spPr>
        <p:txBody>
          <a:bodyPr wrap="square" lIns="0" tIns="0" rIns="0" bIns="0" rtlCol="0" anchor="t"/>
          <a:lstStyle/>
          <a:p>
            <a:pPr indent="0" marL="0">
              <a:buNone/>
            </a:pPr>
            <a:r>
              <a:rPr lang="en-US" sz="1050" b="1" dirty="0">
                <a:solidFill>
                  <a:schemeClr val="tx1"/>
                </a:solidFill>
              </a:rPr>
              <a:t>Heavy-water separation</a:t>
            </a:r>
            <a:endParaRPr lang="en-US" sz="1050" dirty="0"/>
          </a:p>
        </p:txBody>
      </p:sp>
      <p:sp>
        <p:nvSpPr>
          <p:cNvPr id="10" name="text-206"/>
          <p:cNvSpPr txBox="1"/>
          <p:nvPr/>
        </p:nvSpPr>
        <p:spPr>
          <a:xfrm>
            <a:off x="1005840" y="5616103"/>
            <a:ext cx="3703320" cy="510259"/>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Takes deuterium from the deuterium-rich water left by the food plant’s electrolysers and purifies it to 99.8% heavy water.</a:t>
            </a:r>
            <a:endParaRPr lang="en-US" sz="950" dirty="0"/>
          </a:p>
        </p:txBody>
      </p:sp>
      <p:sp>
        <p:nvSpPr>
          <p:cNvPr id="11" name="marker-207"/>
          <p:cNvSpPr/>
          <p:nvPr/>
        </p:nvSpPr>
        <p:spPr>
          <a:xfrm>
            <a:off x="548640" y="6181226"/>
            <a:ext cx="329184" cy="329184"/>
          </a:xfrm>
          <a:prstGeom prst="ellipse">
            <a:avLst/>
          </a:prstGeom>
          <a:solidFill>
            <a:schemeClr val="accent3"/>
          </a:solidFill>
          <a:ln w="12700">
            <a:solidFill>
              <a:schemeClr val="accent3"/>
            </a:solidFill>
            <a:prstDash val="solid"/>
          </a:ln>
        </p:spPr>
      </p:sp>
      <p:sp>
        <p:nvSpPr>
          <p:cNvPr id="12" name="text-208"/>
          <p:cNvSpPr txBox="1"/>
          <p:nvPr/>
        </p:nvSpPr>
        <p:spPr>
          <a:xfrm>
            <a:off x="548640" y="618122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2</a:t>
            </a:r>
            <a:endParaRPr lang="en-US" sz="1200" dirty="0"/>
          </a:p>
        </p:txBody>
      </p:sp>
      <p:sp>
        <p:nvSpPr>
          <p:cNvPr id="13" name="text-209"/>
          <p:cNvSpPr txBox="1"/>
          <p:nvPr/>
        </p:nvSpPr>
        <p:spPr>
          <a:xfrm>
            <a:off x="1005840" y="6172082"/>
            <a:ext cx="3703320" cy="201168"/>
          </a:xfrm>
          <a:prstGeom prst="rect">
            <a:avLst/>
          </a:prstGeom>
          <a:noFill/>
          <a:ln/>
        </p:spPr>
        <p:txBody>
          <a:bodyPr wrap="square" lIns="0" tIns="0" rIns="0" bIns="0" rtlCol="0" anchor="t"/>
          <a:lstStyle/>
          <a:p>
            <a:pPr indent="0" marL="0">
              <a:buNone/>
            </a:pPr>
            <a:r>
              <a:rPr lang="en-US" sz="1050" b="1" dirty="0">
                <a:solidFill>
                  <a:schemeClr val="tx1"/>
                </a:solidFill>
              </a:rPr>
              <a:t>Lithium blanket &amp; tritium fuel cycle</a:t>
            </a:r>
            <a:endParaRPr lang="en-US" sz="1050" dirty="0"/>
          </a:p>
        </p:txBody>
      </p:sp>
      <p:sp>
        <p:nvSpPr>
          <p:cNvPr id="14" name="text-210"/>
          <p:cNvSpPr txBox="1"/>
          <p:nvPr/>
        </p:nvSpPr>
        <p:spPr>
          <a:xfrm>
            <a:off x="1005840" y="6382394"/>
            <a:ext cx="3703320" cy="510259"/>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Breeds slightly more tritium than the reactor burns, so none is imported. Recovered helium cools the hospital’s MRI scanners.</a:t>
            </a:r>
            <a:endParaRPr lang="en-US" sz="950" dirty="0"/>
          </a:p>
        </p:txBody>
      </p:sp>
      <p:sp>
        <p:nvSpPr>
          <p:cNvPr id="15" name="marker-211"/>
          <p:cNvSpPr/>
          <p:nvPr/>
        </p:nvSpPr>
        <p:spPr>
          <a:xfrm>
            <a:off x="548640" y="6947517"/>
            <a:ext cx="329184" cy="329184"/>
          </a:xfrm>
          <a:prstGeom prst="ellipse">
            <a:avLst/>
          </a:prstGeom>
          <a:solidFill>
            <a:schemeClr val="accent3"/>
          </a:solidFill>
          <a:ln w="12700">
            <a:solidFill>
              <a:schemeClr val="accent3"/>
            </a:solidFill>
            <a:prstDash val="solid"/>
          </a:ln>
        </p:spPr>
      </p:sp>
      <p:sp>
        <p:nvSpPr>
          <p:cNvPr id="16" name="text-212"/>
          <p:cNvSpPr txBox="1"/>
          <p:nvPr/>
        </p:nvSpPr>
        <p:spPr>
          <a:xfrm>
            <a:off x="548640" y="6947517"/>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3</a:t>
            </a:r>
            <a:endParaRPr lang="en-US" sz="1200" dirty="0"/>
          </a:p>
        </p:txBody>
      </p:sp>
      <p:sp>
        <p:nvSpPr>
          <p:cNvPr id="17" name="text-213"/>
          <p:cNvSpPr txBox="1"/>
          <p:nvPr/>
        </p:nvSpPr>
        <p:spPr>
          <a:xfrm>
            <a:off x="1005840" y="6938373"/>
            <a:ext cx="3703320" cy="201168"/>
          </a:xfrm>
          <a:prstGeom prst="rect">
            <a:avLst/>
          </a:prstGeom>
          <a:noFill/>
          <a:ln/>
        </p:spPr>
        <p:txBody>
          <a:bodyPr wrap="square" lIns="0" tIns="0" rIns="0" bIns="0" rtlCol="0" anchor="t"/>
          <a:lstStyle/>
          <a:p>
            <a:pPr indent="0" marL="0">
              <a:buNone/>
            </a:pPr>
            <a:r>
              <a:rPr lang="en-US" sz="1050" b="1" dirty="0">
                <a:solidFill>
                  <a:schemeClr val="tx1"/>
                </a:solidFill>
              </a:rPr>
              <a:t>Fusion core: compact D-T tokamak</a:t>
            </a:r>
            <a:endParaRPr lang="en-US" sz="1050" dirty="0"/>
          </a:p>
        </p:txBody>
      </p:sp>
      <p:sp>
        <p:nvSpPr>
          <p:cNvPr id="18" name="text-214"/>
          <p:cNvSpPr txBox="1"/>
          <p:nvPr/>
        </p:nvSpPr>
        <p:spPr>
          <a:xfrm>
            <a:off x="1005840" y="7148685"/>
            <a:ext cx="3703320" cy="510259"/>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Superconducting magnets hold a 150-million-degree plasma. No CO₂, no long-lived waste, no meltdown.</a:t>
            </a:r>
            <a:endParaRPr lang="en-US" sz="950" dirty="0"/>
          </a:p>
        </p:txBody>
      </p:sp>
      <p:sp>
        <p:nvSpPr>
          <p:cNvPr id="19" name="marker-215"/>
          <p:cNvSpPr/>
          <p:nvPr/>
        </p:nvSpPr>
        <p:spPr>
          <a:xfrm>
            <a:off x="548640" y="7713808"/>
            <a:ext cx="329184" cy="329184"/>
          </a:xfrm>
          <a:prstGeom prst="ellipse">
            <a:avLst/>
          </a:prstGeom>
          <a:solidFill>
            <a:schemeClr val="accent3"/>
          </a:solidFill>
          <a:ln w="12700">
            <a:solidFill>
              <a:schemeClr val="accent3"/>
            </a:solidFill>
            <a:prstDash val="solid"/>
          </a:ln>
        </p:spPr>
      </p:sp>
      <p:sp>
        <p:nvSpPr>
          <p:cNvPr id="20" name="text-216"/>
          <p:cNvSpPr txBox="1"/>
          <p:nvPr/>
        </p:nvSpPr>
        <p:spPr>
          <a:xfrm>
            <a:off x="548640" y="77138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4</a:t>
            </a:r>
            <a:endParaRPr lang="en-US" sz="1200" dirty="0"/>
          </a:p>
        </p:txBody>
      </p:sp>
      <p:sp>
        <p:nvSpPr>
          <p:cNvPr id="21" name="text-217"/>
          <p:cNvSpPr txBox="1"/>
          <p:nvPr/>
        </p:nvSpPr>
        <p:spPr>
          <a:xfrm>
            <a:off x="1005840" y="7704664"/>
            <a:ext cx="3703320" cy="201168"/>
          </a:xfrm>
          <a:prstGeom prst="rect">
            <a:avLst/>
          </a:prstGeom>
          <a:noFill/>
          <a:ln/>
        </p:spPr>
        <p:txBody>
          <a:bodyPr wrap="square" lIns="0" tIns="0" rIns="0" bIns="0" rtlCol="0" anchor="t"/>
          <a:lstStyle/>
          <a:p>
            <a:pPr indent="0" marL="0">
              <a:buNone/>
            </a:pPr>
            <a:r>
              <a:rPr lang="en-US" sz="1050" b="1" dirty="0">
                <a:solidFill>
                  <a:schemeClr val="tx1"/>
                </a:solidFill>
              </a:rPr>
              <a:t>Power conversion &amp; heat export</a:t>
            </a:r>
            <a:endParaRPr lang="en-US" sz="1050" dirty="0"/>
          </a:p>
        </p:txBody>
      </p:sp>
      <p:sp>
        <p:nvSpPr>
          <p:cNvPr id="22" name="text-218"/>
          <p:cNvSpPr txBox="1"/>
          <p:nvPr/>
        </p:nvSpPr>
        <p:spPr>
          <a:xfrm>
            <a:off x="1005840" y="7914976"/>
            <a:ext cx="3703320" cy="510259"/>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Supercritical-CO₂ turbines make about 300 MW of electricity and send about 450 MW of heat to the city.</a:t>
            </a:r>
            <a:endParaRPr lang="en-US" sz="950" dirty="0"/>
          </a:p>
        </p:txBody>
      </p:sp>
      <p:sp>
        <p:nvSpPr>
          <p:cNvPr id="23" name="marker-219"/>
          <p:cNvSpPr/>
          <p:nvPr/>
        </p:nvSpPr>
        <p:spPr>
          <a:xfrm>
            <a:off x="548640" y="8480098"/>
            <a:ext cx="329184" cy="329184"/>
          </a:xfrm>
          <a:prstGeom prst="ellipse">
            <a:avLst/>
          </a:prstGeom>
          <a:solidFill>
            <a:schemeClr val="accent3"/>
          </a:solidFill>
          <a:ln w="12700">
            <a:solidFill>
              <a:schemeClr val="accent3"/>
            </a:solidFill>
            <a:prstDash val="solid"/>
          </a:ln>
        </p:spPr>
      </p:sp>
      <p:sp>
        <p:nvSpPr>
          <p:cNvPr id="24" name="text-220"/>
          <p:cNvSpPr txBox="1"/>
          <p:nvPr/>
        </p:nvSpPr>
        <p:spPr>
          <a:xfrm>
            <a:off x="548640" y="848009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5</a:t>
            </a:r>
            <a:endParaRPr lang="en-US" sz="1200" dirty="0"/>
          </a:p>
        </p:txBody>
      </p:sp>
      <p:sp>
        <p:nvSpPr>
          <p:cNvPr id="25" name="text-221"/>
          <p:cNvSpPr txBox="1"/>
          <p:nvPr/>
        </p:nvSpPr>
        <p:spPr>
          <a:xfrm>
            <a:off x="1005840" y="8470954"/>
            <a:ext cx="3703320" cy="201168"/>
          </a:xfrm>
          <a:prstGeom prst="rect">
            <a:avLst/>
          </a:prstGeom>
          <a:noFill/>
          <a:ln/>
        </p:spPr>
        <p:txBody>
          <a:bodyPr wrap="square" lIns="0" tIns="0" rIns="0" bIns="0" rtlCol="0" anchor="t"/>
          <a:lstStyle/>
          <a:p>
            <a:pPr indent="0" marL="0">
              <a:buNone/>
            </a:pPr>
            <a:r>
              <a:rPr lang="en-US" sz="1050" b="1" dirty="0">
                <a:solidFill>
                  <a:schemeClr val="tx1"/>
                </a:solidFill>
              </a:rPr>
              <a:t>Plasma waste converter</a:t>
            </a:r>
            <a:endParaRPr lang="en-US" sz="1050" dirty="0"/>
          </a:p>
        </p:txBody>
      </p:sp>
      <p:sp>
        <p:nvSpPr>
          <p:cNvPr id="26" name="text-222"/>
          <p:cNvSpPr txBox="1"/>
          <p:nvPr/>
        </p:nvSpPr>
        <p:spPr>
          <a:xfrm>
            <a:off x="1005840" y="8681266"/>
            <a:ext cx="3703320" cy="510259"/>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Torches hotter than 5,000 °C turn about 20 t of rubbish a day into clean gas, metals and paving blocks.</a:t>
            </a:r>
            <a:endParaRPr lang="en-US" sz="950" dirty="0"/>
          </a:p>
        </p:txBody>
      </p:sp>
      <p:sp>
        <p:nvSpPr>
          <p:cNvPr id="27" name="marker-223"/>
          <p:cNvSpPr/>
          <p:nvPr/>
        </p:nvSpPr>
        <p:spPr>
          <a:xfrm>
            <a:off x="548640" y="9246389"/>
            <a:ext cx="329184" cy="329184"/>
          </a:xfrm>
          <a:prstGeom prst="ellipse">
            <a:avLst/>
          </a:prstGeom>
          <a:solidFill>
            <a:schemeClr val="tx1"/>
          </a:solidFill>
          <a:ln w="12700">
            <a:solidFill>
              <a:schemeClr val="tx1"/>
            </a:solidFill>
            <a:prstDash val="solid"/>
          </a:ln>
        </p:spPr>
      </p:sp>
      <p:sp>
        <p:nvSpPr>
          <p:cNvPr id="28" name="text-224"/>
          <p:cNvSpPr txBox="1"/>
          <p:nvPr/>
        </p:nvSpPr>
        <p:spPr>
          <a:xfrm>
            <a:off x="548640" y="9246389"/>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C</a:t>
            </a:r>
            <a:endParaRPr lang="en-US" sz="1200" dirty="0"/>
          </a:p>
        </p:txBody>
      </p:sp>
      <p:sp>
        <p:nvSpPr>
          <p:cNvPr id="29" name="text-225"/>
          <p:cNvSpPr txBox="1"/>
          <p:nvPr/>
        </p:nvSpPr>
        <p:spPr>
          <a:xfrm>
            <a:off x="1005840" y="9237245"/>
            <a:ext cx="3703320" cy="201168"/>
          </a:xfrm>
          <a:prstGeom prst="rect">
            <a:avLst/>
          </a:prstGeom>
          <a:noFill/>
          <a:ln/>
        </p:spPr>
        <p:txBody>
          <a:bodyPr wrap="square" lIns="0" tIns="0" rIns="0" bIns="0" rtlCol="0" anchor="t"/>
          <a:lstStyle/>
          <a:p>
            <a:pPr indent="0" marL="0">
              <a:buNone/>
            </a:pPr>
            <a:r>
              <a:rPr lang="en-US" sz="1050" b="1" dirty="0">
                <a:solidFill>
                  <a:schemeClr val="tx1"/>
                </a:solidFill>
              </a:rPr>
              <a:t>Control &amp; visitor centre</a:t>
            </a:r>
            <a:endParaRPr lang="en-US" sz="1050" dirty="0"/>
          </a:p>
        </p:txBody>
      </p:sp>
      <p:sp>
        <p:nvSpPr>
          <p:cNvPr id="30" name="text-226"/>
          <p:cNvSpPr txBox="1"/>
          <p:nvPr/>
        </p:nvSpPr>
        <p:spPr>
          <a:xfrm>
            <a:off x="1005840" y="9447557"/>
            <a:ext cx="3703320" cy="510259"/>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Operators and an AI digital twin can stop the plasma in milliseconds; a public gallery faces the reactor.</a:t>
            </a:r>
            <a:endParaRPr lang="en-US" sz="950" dirty="0"/>
          </a:p>
        </p:txBody>
      </p:sp>
      <p:sp>
        <p:nvSpPr>
          <p:cNvPr id="31" name="text-227"/>
          <p:cNvSpPr txBox="1"/>
          <p:nvPr/>
        </p:nvSpPr>
        <p:spPr>
          <a:xfrm>
            <a:off x="5074920" y="5323495"/>
            <a:ext cx="1938528" cy="377952"/>
          </a:xfrm>
          <a:prstGeom prst="rect">
            <a:avLst/>
          </a:prstGeom>
          <a:noFill/>
          <a:ln/>
        </p:spPr>
        <p:txBody>
          <a:bodyPr wrap="square" lIns="0" tIns="0" rIns="0" bIns="0" rtlCol="0" anchor="b"/>
          <a:lstStyle/>
          <a:p>
            <a:pPr indent="0" marL="0">
              <a:buNone/>
            </a:pPr>
            <a:r>
              <a:rPr lang="en-US" sz="2400" b="1" dirty="0">
                <a:solidFill>
                  <a:schemeClr val="accent3"/>
                </a:solidFill>
                <a:latin typeface="+mj-lt" pitchFamily="34" charset="0"/>
                <a:ea typeface="+mj-lt" pitchFamily="34" charset="-122"/>
                <a:cs typeface="+mj-lt" pitchFamily="34" charset="-120"/>
              </a:rPr>
              <a:t>800 MW</a:t>
            </a:r>
            <a:endParaRPr lang="en-US" sz="2400" dirty="0"/>
          </a:p>
        </p:txBody>
      </p:sp>
      <p:sp>
        <p:nvSpPr>
          <p:cNvPr id="32" name="text-228"/>
          <p:cNvSpPr txBox="1"/>
          <p:nvPr/>
        </p:nvSpPr>
        <p:spPr>
          <a:xfrm>
            <a:off x="5074920" y="5728879"/>
            <a:ext cx="1938528" cy="384048"/>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of heat from the plasma</a:t>
            </a:r>
            <a:endParaRPr lang="en-US" sz="900" dirty="0"/>
          </a:p>
        </p:txBody>
      </p:sp>
      <p:sp>
        <p:nvSpPr>
          <p:cNvPr id="33" name="text-229"/>
          <p:cNvSpPr txBox="1"/>
          <p:nvPr/>
        </p:nvSpPr>
        <p:spPr>
          <a:xfrm>
            <a:off x="5074920" y="6243044"/>
            <a:ext cx="1938528" cy="377952"/>
          </a:xfrm>
          <a:prstGeom prst="rect">
            <a:avLst/>
          </a:prstGeom>
          <a:noFill/>
          <a:ln/>
        </p:spPr>
        <p:txBody>
          <a:bodyPr wrap="square" lIns="0" tIns="0" rIns="0" bIns="0" rtlCol="0" anchor="b"/>
          <a:lstStyle/>
          <a:p>
            <a:pPr indent="0" marL="0">
              <a:buNone/>
            </a:pPr>
            <a:r>
              <a:rPr lang="en-US" sz="2400" b="1" dirty="0">
                <a:solidFill>
                  <a:schemeClr val="accent3"/>
                </a:solidFill>
                <a:latin typeface="+mj-lt" pitchFamily="34" charset="0"/>
                <a:ea typeface="+mj-lt" pitchFamily="34" charset="-122"/>
                <a:cs typeface="+mj-lt" pitchFamily="34" charset="-120"/>
              </a:rPr>
              <a:t>300 MW</a:t>
            </a:r>
            <a:endParaRPr lang="en-US" sz="2400" dirty="0"/>
          </a:p>
        </p:txBody>
      </p:sp>
      <p:sp>
        <p:nvSpPr>
          <p:cNvPr id="34" name="text-230"/>
          <p:cNvSpPr txBox="1"/>
          <p:nvPr/>
        </p:nvSpPr>
        <p:spPr>
          <a:xfrm>
            <a:off x="5074920" y="6648428"/>
            <a:ext cx="1938528" cy="384048"/>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of electricity</a:t>
            </a:r>
            <a:endParaRPr lang="en-US" sz="900" dirty="0"/>
          </a:p>
        </p:txBody>
      </p:sp>
      <p:sp>
        <p:nvSpPr>
          <p:cNvPr id="35" name="text-231"/>
          <p:cNvSpPr txBox="1"/>
          <p:nvPr/>
        </p:nvSpPr>
        <p:spPr>
          <a:xfrm>
            <a:off x="5074920" y="7162593"/>
            <a:ext cx="1938528" cy="377952"/>
          </a:xfrm>
          <a:prstGeom prst="rect">
            <a:avLst/>
          </a:prstGeom>
          <a:noFill/>
          <a:ln/>
        </p:spPr>
        <p:txBody>
          <a:bodyPr wrap="square" lIns="0" tIns="0" rIns="0" bIns="0" rtlCol="0" anchor="b"/>
          <a:lstStyle/>
          <a:p>
            <a:pPr indent="0" marL="0">
              <a:buNone/>
            </a:pPr>
            <a:r>
              <a:rPr lang="en-US" sz="2400" b="1" dirty="0">
                <a:solidFill>
                  <a:schemeClr val="accent3"/>
                </a:solidFill>
                <a:latin typeface="+mj-lt" pitchFamily="34" charset="0"/>
                <a:ea typeface="+mj-lt" pitchFamily="34" charset="-122"/>
                <a:cs typeface="+mj-lt" pitchFamily="34" charset="-120"/>
              </a:rPr>
              <a:t>450 MW</a:t>
            </a:r>
            <a:endParaRPr lang="en-US" sz="2400" dirty="0"/>
          </a:p>
        </p:txBody>
      </p:sp>
      <p:sp>
        <p:nvSpPr>
          <p:cNvPr id="36" name="text-232"/>
          <p:cNvSpPr txBox="1"/>
          <p:nvPr/>
        </p:nvSpPr>
        <p:spPr>
          <a:xfrm>
            <a:off x="5074920" y="7567977"/>
            <a:ext cx="1938528" cy="384048"/>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of district heat for the city</a:t>
            </a:r>
            <a:endParaRPr lang="en-US" sz="900" dirty="0"/>
          </a:p>
        </p:txBody>
      </p:sp>
      <p:sp>
        <p:nvSpPr>
          <p:cNvPr id="37" name="text-233"/>
          <p:cNvSpPr txBox="1"/>
          <p:nvPr/>
        </p:nvSpPr>
        <p:spPr>
          <a:xfrm>
            <a:off x="5074920" y="8082142"/>
            <a:ext cx="1938528" cy="377952"/>
          </a:xfrm>
          <a:prstGeom prst="rect">
            <a:avLst/>
          </a:prstGeom>
          <a:noFill/>
          <a:ln/>
        </p:spPr>
        <p:txBody>
          <a:bodyPr wrap="square" lIns="0" tIns="0" rIns="0" bIns="0" rtlCol="0" anchor="b"/>
          <a:lstStyle/>
          <a:p>
            <a:pPr indent="0" marL="0">
              <a:buNone/>
            </a:pPr>
            <a:r>
              <a:rPr lang="en-US" sz="2400" b="1" dirty="0">
                <a:solidFill>
                  <a:schemeClr val="accent3"/>
                </a:solidFill>
                <a:latin typeface="+mj-lt" pitchFamily="34" charset="0"/>
                <a:ea typeface="+mj-lt" pitchFamily="34" charset="-122"/>
                <a:cs typeface="+mj-lt" pitchFamily="34" charset="-120"/>
              </a:rPr>
              <a:t>170 g</a:t>
            </a:r>
            <a:endParaRPr lang="en-US" sz="2400" dirty="0"/>
          </a:p>
        </p:txBody>
      </p:sp>
      <p:sp>
        <p:nvSpPr>
          <p:cNvPr id="38" name="text-234"/>
          <p:cNvSpPr txBox="1"/>
          <p:nvPr/>
        </p:nvSpPr>
        <p:spPr>
          <a:xfrm>
            <a:off x="5074920" y="8487526"/>
            <a:ext cx="1938528" cy="384048"/>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of fuel a day, about 70 g of it deuterium</a:t>
            </a:r>
            <a:endParaRPr lang="en-US" sz="900" dirty="0"/>
          </a:p>
        </p:txBody>
      </p:sp>
      <p:sp>
        <p:nvSpPr>
          <p:cNvPr id="39" name="text-235"/>
          <p:cNvSpPr txBox="1"/>
          <p:nvPr/>
        </p:nvSpPr>
        <p:spPr>
          <a:xfrm>
            <a:off x="5074920" y="9001691"/>
            <a:ext cx="1938528" cy="377952"/>
          </a:xfrm>
          <a:prstGeom prst="rect">
            <a:avLst/>
          </a:prstGeom>
          <a:noFill/>
          <a:ln/>
        </p:spPr>
        <p:txBody>
          <a:bodyPr wrap="square" lIns="0" tIns="0" rIns="0" bIns="0" rtlCol="0" anchor="b"/>
          <a:lstStyle/>
          <a:p>
            <a:pPr indent="0" marL="0">
              <a:buNone/>
            </a:pPr>
            <a:r>
              <a:rPr lang="en-US" sz="2400" b="1" dirty="0">
                <a:solidFill>
                  <a:schemeClr val="accent3"/>
                </a:solidFill>
                <a:latin typeface="+mj-lt" pitchFamily="34" charset="0"/>
                <a:ea typeface="+mj-lt" pitchFamily="34" charset="-122"/>
                <a:cs typeface="+mj-lt" pitchFamily="34" charset="-120"/>
              </a:rPr>
              <a:t>1 litre</a:t>
            </a:r>
            <a:endParaRPr lang="en-US" sz="2400" dirty="0"/>
          </a:p>
        </p:txBody>
      </p:sp>
      <p:sp>
        <p:nvSpPr>
          <p:cNvPr id="40" name="text-236"/>
          <p:cNvSpPr txBox="1"/>
          <p:nvPr/>
        </p:nvSpPr>
        <p:spPr>
          <a:xfrm>
            <a:off x="5074920" y="9407075"/>
            <a:ext cx="1938528" cy="384048"/>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of liquid helium a day for MRI scanners</a:t>
            </a:r>
            <a:endParaRPr lang="en-US" sz="90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1"/>
                </a:solidFil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picture-237" descr="/home/user/chatbox-bi-n-o/magazine/assets_v2/renders/food.jpg">    </p:cNvPr>
          <p:cNvPicPr>
            <a:picLocks noChangeAspect="1"/>
          </p:cNvPicPr>
          <p:nvPr/>
        </p:nvPicPr>
        <p:blipFill>
          <a:blip r:embed="rId1"/>
          <a:srcRect l="0" r="0" t="0" b="0"/>
          <a:stretch/>
        </p:blipFill>
        <p:spPr>
          <a:xfrm>
            <a:off x="0" y="0"/>
            <a:ext cx="7562088" cy="6035040"/>
          </a:xfrm>
          <a:prstGeom prst="rect">
            <a:avLst/>
          </a:prstGeom>
        </p:spPr>
      </p:pic>
      <p:sp>
        <p:nvSpPr>
          <p:cNvPr id="3" name="marker-238"/>
          <p:cNvSpPr/>
          <p:nvPr/>
        </p:nvSpPr>
        <p:spPr>
          <a:xfrm>
            <a:off x="548640" y="5623560"/>
            <a:ext cx="822960" cy="822960"/>
          </a:xfrm>
          <a:prstGeom prst="ellipse">
            <a:avLst/>
          </a:prstGeom>
          <a:solidFill>
            <a:schemeClr val="accent4"/>
          </a:solidFill>
          <a:ln w="19050">
            <a:solidFill>
              <a:schemeClr val="bg1"/>
            </a:solidFill>
            <a:prstDash val="solid"/>
          </a:ln>
        </p:spPr>
      </p:sp>
      <p:sp>
        <p:nvSpPr>
          <p:cNvPr id="4" name="text-239"/>
          <p:cNvSpPr txBox="1"/>
          <p:nvPr/>
        </p:nvSpPr>
        <p:spPr>
          <a:xfrm>
            <a:off x="548640" y="5623560"/>
            <a:ext cx="822960" cy="822960"/>
          </a:xfrm>
          <a:prstGeom prst="rect">
            <a:avLst/>
          </a:prstGeom>
          <a:noFill/>
          <a:ln/>
        </p:spPr>
        <p:txBody>
          <a:bodyPr wrap="square" lIns="0" tIns="0" rIns="0" bIns="0" rtlCol="0" anchor="ctr"/>
          <a:lstStyle/>
          <a:p>
            <a:pPr algn="ctr" indent="0" marL="0">
              <a:buNone/>
            </a:pPr>
            <a:r>
              <a:rPr lang="en-US" sz="3000" b="1" dirty="0">
                <a:solidFill>
                  <a:schemeClr val="bg1"/>
                </a:solidFill>
                <a:latin typeface="+mj-lt" pitchFamily="34" charset="0"/>
                <a:ea typeface="+mj-lt" pitchFamily="34" charset="-122"/>
                <a:cs typeface="+mj-lt" pitchFamily="34" charset="-120"/>
              </a:rPr>
              <a:t>2</a:t>
            </a:r>
            <a:endParaRPr lang="en-US" sz="3000" dirty="0"/>
          </a:p>
        </p:txBody>
      </p:sp>
      <p:sp>
        <p:nvSpPr>
          <p:cNvPr id="5" name="kicker-dot-240"/>
          <p:cNvSpPr/>
          <p:nvPr/>
        </p:nvSpPr>
        <p:spPr>
          <a:xfrm>
            <a:off x="548640" y="6670548"/>
            <a:ext cx="100584" cy="100584"/>
          </a:xfrm>
          <a:prstGeom prst="ellipse">
            <a:avLst/>
          </a:prstGeom>
          <a:solidFill>
            <a:schemeClr val="accent4"/>
          </a:solidFill>
          <a:ln w="12700">
            <a:solidFill>
              <a:schemeClr val="accent4"/>
            </a:solidFill>
            <a:prstDash val="solid"/>
          </a:ln>
        </p:spPr>
      </p:sp>
      <p:sp>
        <p:nvSpPr>
          <p:cNvPr id="6" name="text-241"/>
          <p:cNvSpPr txBox="1"/>
          <p:nvPr/>
        </p:nvSpPr>
        <p:spPr>
          <a:xfrm>
            <a:off x="731520" y="6629400"/>
            <a:ext cx="5486400" cy="201168"/>
          </a:xfrm>
          <a:prstGeom prst="rect">
            <a:avLst/>
          </a:prstGeom>
          <a:noFill/>
          <a:ln/>
        </p:spPr>
        <p:txBody>
          <a:bodyPr wrap="square" lIns="0" tIns="0" rIns="0" bIns="0" rtlCol="0" anchor="t"/>
          <a:lstStyle/>
          <a:p>
            <a:pPr indent="0" marL="0">
              <a:buNone/>
            </a:pPr>
            <a:r>
              <a:rPr lang="en-US" sz="900" b="1" spc="300" kern="0" dirty="0">
                <a:solidFill>
                  <a:schemeClr val="accent4"/>
                </a:solidFill>
              </a:rPr>
              <a:t>SIGNATURE DISTRICT 2 · SNOW-TO-FOOD &amp; WATER PLANT</a:t>
            </a:r>
            <a:endParaRPr lang="en-US" sz="900" dirty="0"/>
          </a:p>
        </p:txBody>
      </p:sp>
      <p:sp>
        <p:nvSpPr>
          <p:cNvPr id="7" name="Text 1"/>
          <p:cNvSpPr/>
          <p:nvPr>
            <p:ph idx="101" type="title" hasCustomPrompt="1"/>
          </p:nvPr>
        </p:nvSpPr>
        <p:spPr>
          <a:xfrm>
            <a:off x="548640" y="6858000"/>
            <a:ext cx="6464808" cy="1234440"/>
          </a:xfrm>
          <a:prstGeom prst="rect">
            <a:avLst/>
          </a:prstGeom>
          <a:noFill/>
          <a:ln/>
        </p:spPr>
        <p:txBody>
          <a:bodyPr wrap="square" lIns="0" tIns="0" rIns="0" bIns="0" rtlCol="0" anchor="t"/>
          <a:lstStyle/>
          <a:p>
            <a:pPr algn="l" indent="0" marL="0">
              <a:buNone/>
            </a:pPr>
            <a:r>
              <a:rPr lang="en-US" sz="4000" b="1" dirty="0">
                <a:solidFill>
                  <a:schemeClr val="tx1"/>
                </a:solidFill>
                <a:latin typeface="+mj-lt" pitchFamily="34" charset="0"/>
                <a:ea typeface="+mj-lt" pitchFamily="34" charset="-122"/>
                <a:cs typeface="+mj-lt" pitchFamily="34" charset="-120"/>
              </a:rPr>
              <a:t>Bread and Water from Snow and Air</a:t>
            </a:r>
            <a:endParaRPr lang="en-US" sz="4000" dirty="0"/>
          </a:p>
        </p:txBody>
      </p:sp>
      <p:sp>
        <p:nvSpPr>
          <p:cNvPr id="8" name="text-242"/>
          <p:cNvSpPr txBox="1"/>
          <p:nvPr/>
        </p:nvSpPr>
        <p:spPr>
          <a:xfrm>
            <a:off x="548640" y="8101584"/>
            <a:ext cx="6464808" cy="640080"/>
          </a:xfrm>
          <a:prstGeom prst="rect">
            <a:avLst/>
          </a:prstGeom>
          <a:noFill/>
          <a:ln/>
        </p:spPr>
        <p:txBody>
          <a:bodyPr wrap="square" lIns="0" tIns="0" rIns="0" bIns="0" rtlCol="0" anchor="t"/>
          <a:lstStyle/>
          <a:p>
            <a:pPr indent="0" marL="0">
              <a:lnSpc>
                <a:spcPct val="110000"/>
              </a:lnSpc>
              <a:buNone/>
            </a:pPr>
            <a:r>
              <a:rPr lang="en-US" sz="1400" i="1" dirty="0">
                <a:solidFill>
                  <a:schemeClr val="tx2"/>
                </a:solidFill>
                <a:latin typeface="+mj-lt" pitchFamily="34" charset="0"/>
                <a:ea typeface="+mj-lt" pitchFamily="34" charset="-122"/>
                <a:cs typeface="+mj-lt" pitchFamily="34" charset="-120"/>
              </a:rPr>
              <a:t>Six stages turn tundra snow and air into all of the city’s drinking water and about half of its protein, with no farmland at all.</a:t>
            </a:r>
            <a:endParaRPr lang="en-US" sz="1400" dirty="0"/>
          </a:p>
        </p:txBody>
      </p:sp>
      <p:sp>
        <p:nvSpPr>
          <p:cNvPr id="9" name="text-243"/>
          <p:cNvSpPr txBox="1"/>
          <p:nvPr/>
        </p:nvSpPr>
        <p:spPr>
          <a:xfrm>
            <a:off x="548640" y="8851392"/>
            <a:ext cx="3095244" cy="1161288"/>
          </a:xfrm>
          <a:prstGeom prst="rect">
            <a:avLst/>
          </a:prstGeom>
          <a:noFill/>
          <a:ln/>
        </p:spPr>
        <p:txBody>
          <a:bodyPr wrap="square" lIns="0" tIns="0" rIns="0" bIns="0" rtlCol="0" anchor="t"/>
          <a:lstStyle/>
          <a:p>
            <a:pPr indent="0" marL="0">
              <a:lnSpc>
                <a:spcPct val="112000"/>
              </a:lnSpc>
              <a:spcAft>
                <a:spcPts val="700"/>
              </a:spcAft>
              <a:buNone/>
            </a:pPr>
            <a:r>
              <a:rPr lang="en-US" sz="1050" dirty="0">
                <a:solidFill>
                  <a:schemeClr val="tx1"/>
                </a:solidFill>
              </a:rPr>
              <a:t>What do you eat where nothing grows? Stage 1 melts about 3,000 tonnes of clean tundra snow a day with spare heat from the fusion station, so the snow does the job of a cooling tower. Stage 2 turns the meltwater into all the city’s drinking water.</a:t>
            </a:r>
            <a:endParaRPr lang="en-US" sz="1050" dirty="0"/>
          </a:p>
        </p:txBody>
      </p:sp>
      <p:sp>
        <p:nvSpPr>
          <p:cNvPr id="10" name="text-244"/>
          <p:cNvSpPr txBox="1"/>
          <p:nvPr/>
        </p:nvSpPr>
        <p:spPr>
          <a:xfrm>
            <a:off x="3918204" y="8851392"/>
            <a:ext cx="3095244" cy="1161288"/>
          </a:xfrm>
          <a:prstGeom prst="rect">
            <a:avLst/>
          </a:prstGeom>
          <a:noFill/>
          <a:ln/>
        </p:spPr>
        <p:txBody>
          <a:bodyPr wrap="square" lIns="0" tIns="0" rIns="0" bIns="0" rtlCol="0" anchor="t"/>
          <a:lstStyle/>
          <a:p>
            <a:pPr indent="0" marL="0">
              <a:lnSpc>
                <a:spcPct val="112000"/>
              </a:lnSpc>
              <a:spcAft>
                <a:spcPts val="700"/>
              </a:spcAft>
              <a:buNone/>
            </a:pPr>
            <a:r>
              <a:rPr lang="en-US" sz="1050" dirty="0">
                <a:solidFill>
                  <a:schemeClr val="tx1"/>
                </a:solidFill>
              </a:rPr>
              <a:t>Stage 3 splits water into hydrogen and oxygen and captures CO₂ from the air; Stage 4 turns them into starch and fats. In Stage 5, microbes in six silos make about 2.5 tonnes of protein flour a day. Stage 6 cooks bread, noodles and drinks for the city.</a:t>
            </a:r>
            <a:endParaRPr lang="en-US" sz="105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1"/>
                </a:solidFil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dot-245"/>
          <p:cNvSpPr/>
          <p:nvPr/>
        </p:nvSpPr>
        <p:spPr>
          <a:xfrm>
            <a:off x="548640" y="516636"/>
            <a:ext cx="100584" cy="100584"/>
          </a:xfrm>
          <a:prstGeom prst="ellipse">
            <a:avLst/>
          </a:prstGeom>
          <a:solidFill>
            <a:schemeClr val="accent4"/>
          </a:solidFill>
          <a:ln w="12700">
            <a:solidFill>
              <a:schemeClr val="accent4"/>
            </a:solidFill>
            <a:prstDash val="solid"/>
          </a:ln>
        </p:spPr>
      </p:sp>
      <p:sp>
        <p:nvSpPr>
          <p:cNvPr id="3" name="text-246"/>
          <p:cNvSpPr txBox="1"/>
          <p:nvPr/>
        </p:nvSpPr>
        <p:spPr>
          <a:xfrm>
            <a:off x="731520" y="475488"/>
            <a:ext cx="5486400" cy="201168"/>
          </a:xfrm>
          <a:prstGeom prst="rect">
            <a:avLst/>
          </a:prstGeom>
          <a:noFill/>
          <a:ln/>
        </p:spPr>
        <p:txBody>
          <a:bodyPr wrap="square" lIns="0" tIns="0" rIns="0" bIns="0" rtlCol="0" anchor="t"/>
          <a:lstStyle/>
          <a:p>
            <a:pPr indent="0" marL="0">
              <a:buNone/>
            </a:pPr>
            <a:r>
              <a:rPr lang="en-US" sz="900" b="1" spc="300" kern="0" dirty="0">
                <a:solidFill>
                  <a:schemeClr val="accent4"/>
                </a:solidFill>
              </a:rPr>
              <a:t>SNOW-TO-FOOD &amp; WATER PLANT · HOW IT WORKS</a:t>
            </a:r>
            <a:endParaRPr lang="en-US" sz="900" dirty="0"/>
          </a:p>
        </p:txBody>
      </p:sp>
      <p:sp>
        <p:nvSpPr>
          <p:cNvPr id="4" name="Text 1"/>
          <p:cNvSpPr/>
          <p:nvPr>
            <p:ph idx="101" type="title" hasCustomPrompt="1"/>
          </p:nvPr>
        </p:nvSpPr>
        <p:spPr>
          <a:xfrm>
            <a:off x="548640" y="749808"/>
            <a:ext cx="6464808" cy="685800"/>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Six Stages from Snow to Supper</a:t>
            </a:r>
            <a:endParaRPr lang="en-US" sz="3400" dirty="0"/>
          </a:p>
        </p:txBody>
      </p:sp>
      <p:pic>
        <p:nvPicPr>
          <p:cNvPr id="5" name="food-plan" descr="/home/user/chatbox-bi-n-o/magazine/assets_v2/plans/03_snow_to_food_water_plant_plan.png">    </p:cNvPr>
          <p:cNvPicPr>
            <a:picLocks noChangeAspect="1"/>
          </p:cNvPicPr>
          <p:nvPr/>
        </p:nvPicPr>
        <p:blipFill>
          <a:blip r:embed="rId1"/>
          <a:stretch>
            <a:fillRect/>
          </a:stretch>
        </p:blipFill>
        <p:spPr>
          <a:xfrm>
            <a:off x="548640" y="1554480"/>
            <a:ext cx="6464808" cy="3128967"/>
          </a:xfrm>
          <a:prstGeom prst="rect">
            <a:avLst/>
          </a:prstGeom>
        </p:spPr>
      </p:pic>
      <p:sp>
        <p:nvSpPr>
          <p:cNvPr id="6" name="text-247"/>
          <p:cNvSpPr txBox="1"/>
          <p:nvPr/>
        </p:nvSpPr>
        <p:spPr>
          <a:xfrm>
            <a:off x="548640" y="4729167"/>
            <a:ext cx="6464808" cy="228600"/>
          </a:xfrm>
          <a:prstGeom prst="rect">
            <a:avLst/>
          </a:prstGeom>
          <a:noFill/>
          <a:ln/>
        </p:spPr>
        <p:txBody>
          <a:bodyPr wrap="square" lIns="0" tIns="0" rIns="0" bIns="0" rtlCol="0" anchor="t"/>
          <a:lstStyle/>
          <a:p>
            <a:pPr indent="0" marL="0">
              <a:buNone/>
            </a:pPr>
            <a:r>
              <a:rPr lang="en-US" sz="850" i="1" dirty="0">
                <a:solidFill>
                  <a:schemeClr val="tx2"/>
                </a:solidFill>
              </a:rPr>
              <a:t>Snow-to-Food &amp; Water Plant – District Plan. All drinking water and about half of the city’s protein, from snow and air.</a:t>
            </a:r>
            <a:endParaRPr lang="en-US" sz="850" dirty="0"/>
          </a:p>
        </p:txBody>
      </p:sp>
      <p:sp>
        <p:nvSpPr>
          <p:cNvPr id="7" name="marker-248"/>
          <p:cNvSpPr/>
          <p:nvPr/>
        </p:nvSpPr>
        <p:spPr>
          <a:xfrm>
            <a:off x="548640" y="5303520"/>
            <a:ext cx="329184" cy="329184"/>
          </a:xfrm>
          <a:prstGeom prst="ellipse">
            <a:avLst/>
          </a:prstGeom>
          <a:solidFill>
            <a:schemeClr val="accent4"/>
          </a:solidFill>
          <a:ln w="12700">
            <a:solidFill>
              <a:schemeClr val="accent4"/>
            </a:solidFill>
            <a:prstDash val="solid"/>
          </a:ln>
        </p:spPr>
      </p:sp>
      <p:sp>
        <p:nvSpPr>
          <p:cNvPr id="8" name="text-249"/>
          <p:cNvSpPr txBox="1"/>
          <p:nvPr/>
        </p:nvSpPr>
        <p:spPr>
          <a:xfrm>
            <a:off x="548640" y="530352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1</a:t>
            </a:r>
            <a:endParaRPr lang="en-US" sz="1200" dirty="0"/>
          </a:p>
        </p:txBody>
      </p:sp>
      <p:sp>
        <p:nvSpPr>
          <p:cNvPr id="9" name="text-250"/>
          <p:cNvSpPr txBox="1"/>
          <p:nvPr/>
        </p:nvSpPr>
        <p:spPr>
          <a:xfrm>
            <a:off x="1005840" y="5294376"/>
            <a:ext cx="3703320" cy="201168"/>
          </a:xfrm>
          <a:prstGeom prst="rect">
            <a:avLst/>
          </a:prstGeom>
          <a:noFill/>
          <a:ln/>
        </p:spPr>
        <p:txBody>
          <a:bodyPr wrap="square" lIns="0" tIns="0" rIns="0" bIns="0" rtlCol="0" anchor="t"/>
          <a:lstStyle/>
          <a:p>
            <a:pPr indent="0" marL="0">
              <a:buNone/>
            </a:pPr>
            <a:r>
              <a:rPr lang="en-US" sz="1050" b="1" dirty="0">
                <a:solidFill>
                  <a:schemeClr val="tx1"/>
                </a:solidFill>
              </a:rPr>
              <a:t>Snow harvest &amp; melt hall</a:t>
            </a:r>
            <a:endParaRPr lang="en-US" sz="1050" dirty="0"/>
          </a:p>
        </p:txBody>
      </p:sp>
      <p:sp>
        <p:nvSpPr>
          <p:cNvPr id="10" name="text-251"/>
          <p:cNvSpPr txBox="1"/>
          <p:nvPr/>
        </p:nvSpPr>
        <p:spPr>
          <a:xfrm>
            <a:off x="1005840" y="5504688"/>
            <a:ext cx="3703320" cy="530352"/>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Electric harvesters gather wind-packed snow upwind of the city; about 14 MW of spare fusion heat melts it.</a:t>
            </a:r>
            <a:endParaRPr lang="en-US" sz="950" dirty="0"/>
          </a:p>
        </p:txBody>
      </p:sp>
      <p:sp>
        <p:nvSpPr>
          <p:cNvPr id="11" name="marker-252"/>
          <p:cNvSpPr/>
          <p:nvPr/>
        </p:nvSpPr>
        <p:spPr>
          <a:xfrm>
            <a:off x="548640" y="6089904"/>
            <a:ext cx="329184" cy="329184"/>
          </a:xfrm>
          <a:prstGeom prst="ellipse">
            <a:avLst/>
          </a:prstGeom>
          <a:solidFill>
            <a:schemeClr val="accent4"/>
          </a:solidFill>
          <a:ln w="12700">
            <a:solidFill>
              <a:schemeClr val="accent4"/>
            </a:solidFill>
            <a:prstDash val="solid"/>
          </a:ln>
        </p:spPr>
      </p:sp>
      <p:sp>
        <p:nvSpPr>
          <p:cNvPr id="12" name="text-253"/>
          <p:cNvSpPr txBox="1"/>
          <p:nvPr/>
        </p:nvSpPr>
        <p:spPr>
          <a:xfrm>
            <a:off x="548640" y="6089904"/>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2</a:t>
            </a:r>
            <a:endParaRPr lang="en-US" sz="1200" dirty="0"/>
          </a:p>
        </p:txBody>
      </p:sp>
      <p:sp>
        <p:nvSpPr>
          <p:cNvPr id="13" name="text-254"/>
          <p:cNvSpPr txBox="1"/>
          <p:nvPr/>
        </p:nvSpPr>
        <p:spPr>
          <a:xfrm>
            <a:off x="1005840" y="6080760"/>
            <a:ext cx="3703320" cy="201168"/>
          </a:xfrm>
          <a:prstGeom prst="rect">
            <a:avLst/>
          </a:prstGeom>
          <a:noFill/>
          <a:ln/>
        </p:spPr>
        <p:txBody>
          <a:bodyPr wrap="square" lIns="0" tIns="0" rIns="0" bIns="0" rtlCol="0" anchor="t"/>
          <a:lstStyle/>
          <a:p>
            <a:pPr indent="0" marL="0">
              <a:buNone/>
            </a:pPr>
            <a:r>
              <a:rPr lang="en-US" sz="1050" b="1" dirty="0">
                <a:solidFill>
                  <a:schemeClr val="tx1"/>
                </a:solidFill>
              </a:rPr>
              <a:t>Drinking-water &amp; mineral works</a:t>
            </a:r>
            <a:endParaRPr lang="en-US" sz="1050" dirty="0"/>
          </a:p>
        </p:txBody>
      </p:sp>
      <p:sp>
        <p:nvSpPr>
          <p:cNvPr id="14" name="text-255"/>
          <p:cNvSpPr txBox="1"/>
          <p:nvPr/>
        </p:nvSpPr>
        <p:spPr>
          <a:xfrm>
            <a:off x="1005840" y="6291072"/>
            <a:ext cx="3703320" cy="530352"/>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Membranes and UV light remove every germ, calcite adds calcium and magnesium, and sensors test the water every five minutes.</a:t>
            </a:r>
            <a:endParaRPr lang="en-US" sz="950" dirty="0"/>
          </a:p>
        </p:txBody>
      </p:sp>
      <p:sp>
        <p:nvSpPr>
          <p:cNvPr id="15" name="marker-256"/>
          <p:cNvSpPr/>
          <p:nvPr/>
        </p:nvSpPr>
        <p:spPr>
          <a:xfrm>
            <a:off x="548640" y="6876288"/>
            <a:ext cx="329184" cy="329184"/>
          </a:xfrm>
          <a:prstGeom prst="ellipse">
            <a:avLst/>
          </a:prstGeom>
          <a:solidFill>
            <a:schemeClr val="accent4"/>
          </a:solidFill>
          <a:ln w="12700">
            <a:solidFill>
              <a:schemeClr val="accent4"/>
            </a:solidFill>
            <a:prstDash val="solid"/>
          </a:ln>
        </p:spPr>
      </p:sp>
      <p:sp>
        <p:nvSpPr>
          <p:cNvPr id="16" name="text-257"/>
          <p:cNvSpPr txBox="1"/>
          <p:nvPr/>
        </p:nvSpPr>
        <p:spPr>
          <a:xfrm>
            <a:off x="548640" y="687628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3</a:t>
            </a:r>
            <a:endParaRPr lang="en-US" sz="1200" dirty="0"/>
          </a:p>
        </p:txBody>
      </p:sp>
      <p:sp>
        <p:nvSpPr>
          <p:cNvPr id="17" name="text-258"/>
          <p:cNvSpPr txBox="1"/>
          <p:nvPr/>
        </p:nvSpPr>
        <p:spPr>
          <a:xfrm>
            <a:off x="1005840" y="6867144"/>
            <a:ext cx="3703320" cy="201168"/>
          </a:xfrm>
          <a:prstGeom prst="rect">
            <a:avLst/>
          </a:prstGeom>
          <a:noFill/>
          <a:ln/>
        </p:spPr>
        <p:txBody>
          <a:bodyPr wrap="square" lIns="0" tIns="0" rIns="0" bIns="0" rtlCol="0" anchor="t"/>
          <a:lstStyle/>
          <a:p>
            <a:pPr indent="0" marL="0">
              <a:buNone/>
            </a:pPr>
            <a:r>
              <a:rPr lang="en-US" sz="1050" b="1" dirty="0">
                <a:solidFill>
                  <a:schemeClr val="tx1"/>
                </a:solidFill>
              </a:rPr>
              <a:t>Electrolysis, air capture &amp; green ammonia</a:t>
            </a:r>
            <a:endParaRPr lang="en-US" sz="1050" dirty="0"/>
          </a:p>
        </p:txBody>
      </p:sp>
      <p:sp>
        <p:nvSpPr>
          <p:cNvPr id="18" name="text-259"/>
          <p:cNvSpPr txBox="1"/>
          <p:nvPr/>
        </p:nvSpPr>
        <p:spPr>
          <a:xfrm>
            <a:off x="1005840" y="7077456"/>
            <a:ext cx="3703320" cy="530352"/>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About 5 t of hydrogen a day; the oxygen goes to the hospital and the waste converter.</a:t>
            </a:r>
            <a:endParaRPr lang="en-US" sz="950" dirty="0"/>
          </a:p>
        </p:txBody>
      </p:sp>
      <p:sp>
        <p:nvSpPr>
          <p:cNvPr id="19" name="marker-260"/>
          <p:cNvSpPr/>
          <p:nvPr/>
        </p:nvSpPr>
        <p:spPr>
          <a:xfrm>
            <a:off x="548640" y="7662672"/>
            <a:ext cx="329184" cy="329184"/>
          </a:xfrm>
          <a:prstGeom prst="ellipse">
            <a:avLst/>
          </a:prstGeom>
          <a:solidFill>
            <a:schemeClr val="accent4"/>
          </a:solidFill>
          <a:ln w="12700">
            <a:solidFill>
              <a:schemeClr val="accent4"/>
            </a:solidFill>
            <a:prstDash val="solid"/>
          </a:ln>
        </p:spPr>
      </p:sp>
      <p:sp>
        <p:nvSpPr>
          <p:cNvPr id="20" name="text-261"/>
          <p:cNvSpPr txBox="1"/>
          <p:nvPr/>
        </p:nvSpPr>
        <p:spPr>
          <a:xfrm>
            <a:off x="548640" y="766267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4</a:t>
            </a:r>
            <a:endParaRPr lang="en-US" sz="1200" dirty="0"/>
          </a:p>
        </p:txBody>
      </p:sp>
      <p:sp>
        <p:nvSpPr>
          <p:cNvPr id="21" name="text-262"/>
          <p:cNvSpPr txBox="1"/>
          <p:nvPr/>
        </p:nvSpPr>
        <p:spPr>
          <a:xfrm>
            <a:off x="1005840" y="7653528"/>
            <a:ext cx="3703320" cy="201168"/>
          </a:xfrm>
          <a:prstGeom prst="rect">
            <a:avLst/>
          </a:prstGeom>
          <a:noFill/>
          <a:ln/>
        </p:spPr>
        <p:txBody>
          <a:bodyPr wrap="square" lIns="0" tIns="0" rIns="0" bIns="0" rtlCol="0" anchor="t"/>
          <a:lstStyle/>
          <a:p>
            <a:pPr indent="0" marL="0">
              <a:buNone/>
            </a:pPr>
            <a:r>
              <a:rPr lang="en-US" sz="1050" b="1" dirty="0">
                <a:solidFill>
                  <a:schemeClr val="tx1"/>
                </a:solidFill>
              </a:rPr>
              <a:t>Carbon-fixation chemistry</a:t>
            </a:r>
            <a:endParaRPr lang="en-US" sz="1050" dirty="0"/>
          </a:p>
        </p:txBody>
      </p:sp>
      <p:sp>
        <p:nvSpPr>
          <p:cNvPr id="22" name="text-263"/>
          <p:cNvSpPr txBox="1"/>
          <p:nvPr/>
        </p:nvSpPr>
        <p:spPr>
          <a:xfrm>
            <a:off x="1005840" y="7863840"/>
            <a:ext cx="3703320" cy="530352"/>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A copper catalyst makes methanol, and enzymes build it into starch about eight times faster than a maize field.</a:t>
            </a:r>
            <a:endParaRPr lang="en-US" sz="950" dirty="0"/>
          </a:p>
        </p:txBody>
      </p:sp>
      <p:sp>
        <p:nvSpPr>
          <p:cNvPr id="23" name="marker-264"/>
          <p:cNvSpPr/>
          <p:nvPr/>
        </p:nvSpPr>
        <p:spPr>
          <a:xfrm>
            <a:off x="548640" y="8449056"/>
            <a:ext cx="329184" cy="329184"/>
          </a:xfrm>
          <a:prstGeom prst="ellipse">
            <a:avLst/>
          </a:prstGeom>
          <a:solidFill>
            <a:schemeClr val="accent4"/>
          </a:solidFill>
          <a:ln w="12700">
            <a:solidFill>
              <a:schemeClr val="accent4"/>
            </a:solidFill>
            <a:prstDash val="solid"/>
          </a:ln>
        </p:spPr>
      </p:sp>
      <p:sp>
        <p:nvSpPr>
          <p:cNvPr id="24" name="text-265"/>
          <p:cNvSpPr txBox="1"/>
          <p:nvPr/>
        </p:nvSpPr>
        <p:spPr>
          <a:xfrm>
            <a:off x="548640" y="844905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5</a:t>
            </a:r>
            <a:endParaRPr lang="en-US" sz="1200" dirty="0"/>
          </a:p>
        </p:txBody>
      </p:sp>
      <p:sp>
        <p:nvSpPr>
          <p:cNvPr id="25" name="text-266"/>
          <p:cNvSpPr txBox="1"/>
          <p:nvPr/>
        </p:nvSpPr>
        <p:spPr>
          <a:xfrm>
            <a:off x="1005840" y="8439912"/>
            <a:ext cx="3703320" cy="201168"/>
          </a:xfrm>
          <a:prstGeom prst="rect">
            <a:avLst/>
          </a:prstGeom>
          <a:noFill/>
          <a:ln/>
        </p:spPr>
        <p:txBody>
          <a:bodyPr wrap="square" lIns="0" tIns="0" rIns="0" bIns="0" rtlCol="0" anchor="t"/>
          <a:lstStyle/>
          <a:p>
            <a:pPr indent="0" marL="0">
              <a:buNone/>
            </a:pPr>
            <a:r>
              <a:rPr lang="en-US" sz="1050" b="1" dirty="0">
                <a:solidFill>
                  <a:schemeClr val="tx1"/>
                </a:solidFill>
              </a:rPr>
              <a:t>Bioreactor silos</a:t>
            </a:r>
            <a:endParaRPr lang="en-US" sz="1050" dirty="0"/>
          </a:p>
        </p:txBody>
      </p:sp>
      <p:sp>
        <p:nvSpPr>
          <p:cNvPr id="26" name="text-267"/>
          <p:cNvSpPr txBox="1"/>
          <p:nvPr/>
        </p:nvSpPr>
        <p:spPr>
          <a:xfrm>
            <a:off x="1005840" y="8650224"/>
            <a:ext cx="3703320" cy="530352"/>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Hydrogen-eating bacteria make protein flour; yeasts and algae make oils and vitamins, 24 hours a day.</a:t>
            </a:r>
            <a:endParaRPr lang="en-US" sz="950" dirty="0"/>
          </a:p>
        </p:txBody>
      </p:sp>
      <p:sp>
        <p:nvSpPr>
          <p:cNvPr id="27" name="marker-268"/>
          <p:cNvSpPr/>
          <p:nvPr/>
        </p:nvSpPr>
        <p:spPr>
          <a:xfrm>
            <a:off x="548640" y="9235440"/>
            <a:ext cx="329184" cy="329184"/>
          </a:xfrm>
          <a:prstGeom prst="ellipse">
            <a:avLst/>
          </a:prstGeom>
          <a:solidFill>
            <a:schemeClr val="accent4"/>
          </a:solidFill>
          <a:ln w="12700">
            <a:solidFill>
              <a:schemeClr val="accent4"/>
            </a:solidFill>
            <a:prstDash val="solid"/>
          </a:ln>
        </p:spPr>
      </p:sp>
      <p:sp>
        <p:nvSpPr>
          <p:cNvPr id="28" name="text-269"/>
          <p:cNvSpPr txBox="1"/>
          <p:nvPr/>
        </p:nvSpPr>
        <p:spPr>
          <a:xfrm>
            <a:off x="548640" y="923544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6</a:t>
            </a:r>
            <a:endParaRPr lang="en-US" sz="1200" dirty="0"/>
          </a:p>
        </p:txBody>
      </p:sp>
      <p:sp>
        <p:nvSpPr>
          <p:cNvPr id="29" name="text-270"/>
          <p:cNvSpPr txBox="1"/>
          <p:nvPr/>
        </p:nvSpPr>
        <p:spPr>
          <a:xfrm>
            <a:off x="1005840" y="9226296"/>
            <a:ext cx="3703320" cy="201168"/>
          </a:xfrm>
          <a:prstGeom prst="rect">
            <a:avLst/>
          </a:prstGeom>
          <a:noFill/>
          <a:ln/>
        </p:spPr>
        <p:txBody>
          <a:bodyPr wrap="square" lIns="0" tIns="0" rIns="0" bIns="0" rtlCol="0" anchor="t"/>
          <a:lstStyle/>
          <a:p>
            <a:pPr indent="0" marL="0">
              <a:buNone/>
            </a:pPr>
            <a:r>
              <a:rPr lang="en-US" sz="1050" b="1" dirty="0">
                <a:solidFill>
                  <a:schemeClr val="tx1"/>
                </a:solidFill>
              </a:rPr>
              <a:t>Food kitchen, bottling &amp; distribution</a:t>
            </a:r>
            <a:endParaRPr lang="en-US" sz="1050" dirty="0"/>
          </a:p>
        </p:txBody>
      </p:sp>
      <p:sp>
        <p:nvSpPr>
          <p:cNvPr id="30" name="text-271"/>
          <p:cNvSpPr txBox="1"/>
          <p:nvPr/>
        </p:nvSpPr>
        <p:spPr>
          <a:xfrm>
            <a:off x="1005840" y="9436608"/>
            <a:ext cx="3703320" cy="530352"/>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Bread, noodles, protein mince and dairy-style drinks, delivered overnight in heated electric vans.</a:t>
            </a:r>
            <a:endParaRPr lang="en-US" sz="950" dirty="0"/>
          </a:p>
        </p:txBody>
      </p:sp>
      <p:sp>
        <p:nvSpPr>
          <p:cNvPr id="31" name="text-272"/>
          <p:cNvSpPr txBox="1"/>
          <p:nvPr/>
        </p:nvSpPr>
        <p:spPr>
          <a:xfrm>
            <a:off x="5074920" y="5212080"/>
            <a:ext cx="1938528" cy="377952"/>
          </a:xfrm>
          <a:prstGeom prst="rect">
            <a:avLst/>
          </a:prstGeom>
          <a:noFill/>
          <a:ln/>
        </p:spPr>
        <p:txBody>
          <a:bodyPr wrap="square" lIns="0" tIns="0" rIns="0" bIns="0" rtlCol="0" anchor="b"/>
          <a:lstStyle/>
          <a:p>
            <a:pPr indent="0" marL="0">
              <a:buNone/>
            </a:pPr>
            <a:r>
              <a:rPr lang="en-US" sz="2400" b="1" dirty="0">
                <a:solidFill>
                  <a:schemeClr val="accent4"/>
                </a:solidFill>
                <a:latin typeface="+mj-lt" pitchFamily="34" charset="0"/>
                <a:ea typeface="+mj-lt" pitchFamily="34" charset="-122"/>
                <a:cs typeface="+mj-lt" pitchFamily="34" charset="-120"/>
              </a:rPr>
              <a:t>3,000 t</a:t>
            </a:r>
            <a:endParaRPr lang="en-US" sz="2400" dirty="0"/>
          </a:p>
        </p:txBody>
      </p:sp>
      <p:sp>
        <p:nvSpPr>
          <p:cNvPr id="32" name="text-273"/>
          <p:cNvSpPr txBox="1"/>
          <p:nvPr/>
        </p:nvSpPr>
        <p:spPr>
          <a:xfrm>
            <a:off x="5074920" y="5617464"/>
            <a:ext cx="1938528" cy="41148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of snow melted a day</a:t>
            </a:r>
            <a:endParaRPr lang="en-US" sz="900" dirty="0"/>
          </a:p>
        </p:txBody>
      </p:sp>
      <p:sp>
        <p:nvSpPr>
          <p:cNvPr id="33" name="text-274"/>
          <p:cNvSpPr txBox="1"/>
          <p:nvPr/>
        </p:nvSpPr>
        <p:spPr>
          <a:xfrm>
            <a:off x="5074920" y="6153912"/>
            <a:ext cx="1938528" cy="377952"/>
          </a:xfrm>
          <a:prstGeom prst="rect">
            <a:avLst/>
          </a:prstGeom>
          <a:noFill/>
          <a:ln/>
        </p:spPr>
        <p:txBody>
          <a:bodyPr wrap="square" lIns="0" tIns="0" rIns="0" bIns="0" rtlCol="0" anchor="b"/>
          <a:lstStyle/>
          <a:p>
            <a:pPr indent="0" marL="0">
              <a:buNone/>
            </a:pPr>
            <a:r>
              <a:rPr lang="en-US" sz="2400" b="1" dirty="0">
                <a:solidFill>
                  <a:schemeClr val="accent4"/>
                </a:solidFill>
                <a:latin typeface="+mj-lt" pitchFamily="34" charset="0"/>
                <a:ea typeface="+mj-lt" pitchFamily="34" charset="-122"/>
                <a:cs typeface="+mj-lt" pitchFamily="34" charset="-120"/>
              </a:rPr>
              <a:t>2,500 m³</a:t>
            </a:r>
            <a:endParaRPr lang="en-US" sz="2400" dirty="0"/>
          </a:p>
        </p:txBody>
      </p:sp>
      <p:sp>
        <p:nvSpPr>
          <p:cNvPr id="34" name="text-275"/>
          <p:cNvSpPr txBox="1"/>
          <p:nvPr/>
        </p:nvSpPr>
        <p:spPr>
          <a:xfrm>
            <a:off x="5074920" y="6559296"/>
            <a:ext cx="1938528" cy="41148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of drinking water a day, all of the city’s tap water</a:t>
            </a:r>
            <a:endParaRPr lang="en-US" sz="900" dirty="0"/>
          </a:p>
        </p:txBody>
      </p:sp>
      <p:sp>
        <p:nvSpPr>
          <p:cNvPr id="35" name="text-276"/>
          <p:cNvSpPr txBox="1"/>
          <p:nvPr/>
        </p:nvSpPr>
        <p:spPr>
          <a:xfrm>
            <a:off x="5074920" y="7095744"/>
            <a:ext cx="1938528" cy="377952"/>
          </a:xfrm>
          <a:prstGeom prst="rect">
            <a:avLst/>
          </a:prstGeom>
          <a:noFill/>
          <a:ln/>
        </p:spPr>
        <p:txBody>
          <a:bodyPr wrap="square" lIns="0" tIns="0" rIns="0" bIns="0" rtlCol="0" anchor="b"/>
          <a:lstStyle/>
          <a:p>
            <a:pPr indent="0" marL="0">
              <a:buNone/>
            </a:pPr>
            <a:r>
              <a:rPr lang="en-US" sz="2400" b="1" dirty="0">
                <a:solidFill>
                  <a:schemeClr val="accent4"/>
                </a:solidFill>
                <a:latin typeface="+mj-lt" pitchFamily="34" charset="0"/>
                <a:ea typeface="+mj-lt" pitchFamily="34" charset="-122"/>
                <a:cs typeface="+mj-lt" pitchFamily="34" charset="-120"/>
              </a:rPr>
              <a:t>20 t</a:t>
            </a:r>
            <a:endParaRPr lang="en-US" sz="2400" dirty="0"/>
          </a:p>
        </p:txBody>
      </p:sp>
      <p:sp>
        <p:nvSpPr>
          <p:cNvPr id="36" name="text-277"/>
          <p:cNvSpPr txBox="1"/>
          <p:nvPr/>
        </p:nvSpPr>
        <p:spPr>
          <a:xfrm>
            <a:off x="5074920" y="7501128"/>
            <a:ext cx="1938528" cy="41148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of CO₂ captured from the air a day</a:t>
            </a:r>
            <a:endParaRPr lang="en-US" sz="900" dirty="0"/>
          </a:p>
        </p:txBody>
      </p:sp>
      <p:sp>
        <p:nvSpPr>
          <p:cNvPr id="37" name="text-278"/>
          <p:cNvSpPr txBox="1"/>
          <p:nvPr/>
        </p:nvSpPr>
        <p:spPr>
          <a:xfrm>
            <a:off x="5074920" y="8037576"/>
            <a:ext cx="1938528" cy="377952"/>
          </a:xfrm>
          <a:prstGeom prst="rect">
            <a:avLst/>
          </a:prstGeom>
          <a:noFill/>
          <a:ln/>
        </p:spPr>
        <p:txBody>
          <a:bodyPr wrap="square" lIns="0" tIns="0" rIns="0" bIns="0" rtlCol="0" anchor="b"/>
          <a:lstStyle/>
          <a:p>
            <a:pPr indent="0" marL="0">
              <a:buNone/>
            </a:pPr>
            <a:r>
              <a:rPr lang="en-US" sz="2400" b="1" dirty="0">
                <a:solidFill>
                  <a:schemeClr val="accent4"/>
                </a:solidFill>
                <a:latin typeface="+mj-lt" pitchFamily="34" charset="0"/>
                <a:ea typeface="+mj-lt" pitchFamily="34" charset="-122"/>
                <a:cs typeface="+mj-lt" pitchFamily="34" charset="-120"/>
              </a:rPr>
              <a:t>2.5 t</a:t>
            </a:r>
            <a:endParaRPr lang="en-US" sz="2400" dirty="0"/>
          </a:p>
        </p:txBody>
      </p:sp>
      <p:sp>
        <p:nvSpPr>
          <p:cNvPr id="38" name="text-279"/>
          <p:cNvSpPr txBox="1"/>
          <p:nvPr/>
        </p:nvSpPr>
        <p:spPr>
          <a:xfrm>
            <a:off x="5074920" y="8442960"/>
            <a:ext cx="1938528" cy="41148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of protein flour a day, as much as 600 hectares of soybeans</a:t>
            </a:r>
            <a:endParaRPr lang="en-US" sz="900" dirty="0"/>
          </a:p>
        </p:txBody>
      </p:sp>
      <p:sp>
        <p:nvSpPr>
          <p:cNvPr id="39" name="text-280"/>
          <p:cNvSpPr txBox="1"/>
          <p:nvPr/>
        </p:nvSpPr>
        <p:spPr>
          <a:xfrm>
            <a:off x="5074920" y="8979408"/>
            <a:ext cx="1938528" cy="377952"/>
          </a:xfrm>
          <a:prstGeom prst="rect">
            <a:avLst/>
          </a:prstGeom>
          <a:noFill/>
          <a:ln/>
        </p:spPr>
        <p:txBody>
          <a:bodyPr wrap="square" lIns="0" tIns="0" rIns="0" bIns="0" rtlCol="0" anchor="b"/>
          <a:lstStyle/>
          <a:p>
            <a:pPr indent="0" marL="0">
              <a:buNone/>
            </a:pPr>
            <a:r>
              <a:rPr lang="en-US" sz="2400" b="1" dirty="0">
                <a:solidFill>
                  <a:schemeClr val="accent4"/>
                </a:solidFill>
                <a:latin typeface="+mj-lt" pitchFamily="34" charset="0"/>
                <a:ea typeface="+mj-lt" pitchFamily="34" charset="-122"/>
                <a:cs typeface="+mj-lt" pitchFamily="34" charset="-120"/>
              </a:rPr>
              <a:t>30 days</a:t>
            </a:r>
            <a:endParaRPr lang="en-US" sz="2400" dirty="0"/>
          </a:p>
        </p:txBody>
      </p:sp>
      <p:sp>
        <p:nvSpPr>
          <p:cNvPr id="40" name="text-281"/>
          <p:cNvSpPr txBox="1"/>
          <p:nvPr/>
        </p:nvSpPr>
        <p:spPr>
          <a:xfrm>
            <a:off x="5074920" y="9384792"/>
            <a:ext cx="1938528" cy="41148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of meals and water for everyone in the Food Reserve Bunker</a:t>
            </a:r>
            <a:endParaRPr lang="en-US" sz="90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1"/>
                </a:solidFil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picture-282" descr="/home/user/chatbox-bi-n-o/magazine/assets_v2/renders/mount.jpg">    </p:cNvPr>
          <p:cNvPicPr>
            <a:picLocks noChangeAspect="1"/>
          </p:cNvPicPr>
          <p:nvPr/>
        </p:nvPicPr>
        <p:blipFill>
          <a:blip r:embed="rId1"/>
          <a:srcRect l="0" r="0" t="0" b="0"/>
          <a:stretch/>
        </p:blipFill>
        <p:spPr>
          <a:xfrm>
            <a:off x="0" y="0"/>
            <a:ext cx="7562088" cy="6035040"/>
          </a:xfrm>
          <a:prstGeom prst="rect">
            <a:avLst/>
          </a:prstGeom>
        </p:spPr>
      </p:pic>
      <p:sp>
        <p:nvSpPr>
          <p:cNvPr id="3" name="marker-283"/>
          <p:cNvSpPr/>
          <p:nvPr/>
        </p:nvSpPr>
        <p:spPr>
          <a:xfrm>
            <a:off x="548640" y="5623560"/>
            <a:ext cx="822960" cy="822960"/>
          </a:xfrm>
          <a:prstGeom prst="ellipse">
            <a:avLst/>
          </a:prstGeom>
          <a:solidFill>
            <a:schemeClr val="accent5"/>
          </a:solidFill>
          <a:ln w="19050">
            <a:solidFill>
              <a:schemeClr val="bg1"/>
            </a:solidFill>
            <a:prstDash val="solid"/>
          </a:ln>
        </p:spPr>
      </p:sp>
      <p:sp>
        <p:nvSpPr>
          <p:cNvPr id="4" name="text-284"/>
          <p:cNvSpPr txBox="1"/>
          <p:nvPr/>
        </p:nvSpPr>
        <p:spPr>
          <a:xfrm>
            <a:off x="548640" y="5623560"/>
            <a:ext cx="822960" cy="822960"/>
          </a:xfrm>
          <a:prstGeom prst="rect">
            <a:avLst/>
          </a:prstGeom>
          <a:noFill/>
          <a:ln/>
        </p:spPr>
        <p:txBody>
          <a:bodyPr wrap="square" lIns="0" tIns="0" rIns="0" bIns="0" rtlCol="0" anchor="ctr"/>
          <a:lstStyle/>
          <a:p>
            <a:pPr algn="ctr" indent="0" marL="0">
              <a:buNone/>
            </a:pPr>
            <a:r>
              <a:rPr lang="en-US" sz="3000" b="1" dirty="0">
                <a:solidFill>
                  <a:schemeClr val="bg1"/>
                </a:solidFill>
                <a:latin typeface="+mj-lt" pitchFamily="34" charset="0"/>
                <a:ea typeface="+mj-lt" pitchFamily="34" charset="-122"/>
                <a:cs typeface="+mj-lt" pitchFamily="34" charset="-120"/>
              </a:rPr>
              <a:t>3</a:t>
            </a:r>
            <a:endParaRPr lang="en-US" sz="3000" dirty="0"/>
          </a:p>
        </p:txBody>
      </p:sp>
      <p:sp>
        <p:nvSpPr>
          <p:cNvPr id="5" name="kicker-dot-285"/>
          <p:cNvSpPr/>
          <p:nvPr/>
        </p:nvSpPr>
        <p:spPr>
          <a:xfrm>
            <a:off x="548640" y="6670548"/>
            <a:ext cx="100584" cy="100584"/>
          </a:xfrm>
          <a:prstGeom prst="ellipse">
            <a:avLst/>
          </a:prstGeom>
          <a:solidFill>
            <a:schemeClr val="accent5"/>
          </a:solidFill>
          <a:ln w="12700">
            <a:solidFill>
              <a:schemeClr val="accent5"/>
            </a:solidFill>
            <a:prstDash val="solid"/>
          </a:ln>
        </p:spPr>
      </p:sp>
      <p:sp>
        <p:nvSpPr>
          <p:cNvPr id="6" name="text-286"/>
          <p:cNvSpPr txBox="1"/>
          <p:nvPr/>
        </p:nvSpPr>
        <p:spPr>
          <a:xfrm>
            <a:off x="731520" y="6629400"/>
            <a:ext cx="5486400" cy="201168"/>
          </a:xfrm>
          <a:prstGeom prst="rect">
            <a:avLst/>
          </a:prstGeom>
          <a:noFill/>
          <a:ln/>
        </p:spPr>
        <p:txBody>
          <a:bodyPr wrap="square" lIns="0" tIns="0" rIns="0" bIns="0" rtlCol="0" anchor="t"/>
          <a:lstStyle/>
          <a:p>
            <a:pPr indent="0" marL="0">
              <a:buNone/>
            </a:pPr>
            <a:r>
              <a:rPr lang="en-US" sz="900" b="1" spc="300" kern="0" dirty="0">
                <a:solidFill>
                  <a:schemeClr val="accent5"/>
                </a:solidFill>
              </a:rPr>
              <a:t>SIGNATURE DISTRICT 3 · MOUNT AURORA GEOTHERMAL SPA RESORT</a:t>
            </a:r>
            <a:endParaRPr lang="en-US" sz="900" dirty="0"/>
          </a:p>
        </p:txBody>
      </p:sp>
      <p:sp>
        <p:nvSpPr>
          <p:cNvPr id="7" name="Text 1"/>
          <p:cNvSpPr/>
          <p:nvPr>
            <p:ph idx="101" type="title" hasCustomPrompt="1"/>
          </p:nvPr>
        </p:nvSpPr>
        <p:spPr>
          <a:xfrm>
            <a:off x="548640" y="6858000"/>
            <a:ext cx="6464808" cy="1234440"/>
          </a:xfrm>
          <a:prstGeom prst="rect">
            <a:avLst/>
          </a:prstGeom>
          <a:noFill/>
          <a:ln/>
        </p:spPr>
        <p:txBody>
          <a:bodyPr wrap="square" lIns="0" tIns="0" rIns="0" bIns="0" rtlCol="0" anchor="t"/>
          <a:lstStyle/>
          <a:p>
            <a:pPr algn="l" indent="0" marL="0">
              <a:buNone/>
            </a:pPr>
            <a:r>
              <a:rPr lang="en-US" sz="4000" b="1" dirty="0">
                <a:solidFill>
                  <a:schemeClr val="tx1"/>
                </a:solidFill>
                <a:latin typeface="+mj-lt" pitchFamily="34" charset="0"/>
                <a:ea typeface="+mj-lt" pitchFamily="34" charset="-122"/>
                <a:cs typeface="+mj-lt" pitchFamily="34" charset="-120"/>
              </a:rPr>
              <a:t>A Warm Heart Inside the Ice</a:t>
            </a:r>
            <a:endParaRPr lang="en-US" sz="4000" dirty="0"/>
          </a:p>
        </p:txBody>
      </p:sp>
      <p:sp>
        <p:nvSpPr>
          <p:cNvPr id="8" name="text-287"/>
          <p:cNvSpPr txBox="1"/>
          <p:nvPr/>
        </p:nvSpPr>
        <p:spPr>
          <a:xfrm>
            <a:off x="548640" y="7534656"/>
            <a:ext cx="6464808" cy="640080"/>
          </a:xfrm>
          <a:prstGeom prst="rect">
            <a:avLst/>
          </a:prstGeom>
          <a:noFill/>
          <a:ln/>
        </p:spPr>
        <p:txBody>
          <a:bodyPr wrap="square" lIns="0" tIns="0" rIns="0" bIns="0" rtlCol="0" anchor="t"/>
          <a:lstStyle/>
          <a:p>
            <a:pPr indent="0" marL="0">
              <a:lnSpc>
                <a:spcPct val="110000"/>
              </a:lnSpc>
              <a:buNone/>
            </a:pPr>
            <a:r>
              <a:rPr lang="en-US" sz="1400" i="1" dirty="0">
                <a:solidFill>
                  <a:schemeClr val="tx2"/>
                </a:solidFill>
                <a:latin typeface="+mj-lt" pitchFamily="34" charset="0"/>
                <a:ea typeface="+mj-lt" pitchFamily="34" charset="-122"/>
                <a:cs typeface="+mj-lt" pitchFamily="34" charset="-120"/>
              </a:rPr>
              <a:t>Inside a 35-metre snow peak shaped like Nepal’s Ama Dablam, four geothermal spa levels stay at 28 °C all winter.</a:t>
            </a:r>
            <a:endParaRPr lang="en-US" sz="1400" dirty="0"/>
          </a:p>
        </p:txBody>
      </p:sp>
      <p:sp>
        <p:nvSpPr>
          <p:cNvPr id="9" name="text-288"/>
          <p:cNvSpPr txBox="1"/>
          <p:nvPr/>
        </p:nvSpPr>
        <p:spPr>
          <a:xfrm>
            <a:off x="548640" y="8284464"/>
            <a:ext cx="3095244" cy="1728216"/>
          </a:xfrm>
          <a:prstGeom prst="rect">
            <a:avLst/>
          </a:prstGeom>
          <a:noFill/>
          <a:ln/>
        </p:spPr>
        <p:txBody>
          <a:bodyPr wrap="square" lIns="0" tIns="0" rIns="0" bIns="0" rtlCol="0" anchor="t"/>
          <a:lstStyle/>
          <a:p>
            <a:pPr indent="0" marL="0">
              <a:lnSpc>
                <a:spcPct val="112000"/>
              </a:lnSpc>
              <a:spcAft>
                <a:spcPts val="700"/>
              </a:spcAft>
              <a:buNone/>
            </a:pPr>
            <a:r>
              <a:rPr lang="en-US" sz="1050" dirty="0">
                <a:solidFill>
                  <a:schemeClr val="tx1"/>
                </a:solidFill>
              </a:rPr>
              <a:t>Guests enter through the North Portal, where a thermal revolving door and an air curtain keep the −45 °C air out. The peak’s deep snow works as a blanket that holds in the geothermal heat, and sensors release the snow load safely before an avalanche can build.</a:t>
            </a:r>
            <a:endParaRPr lang="en-US" sz="1050" dirty="0"/>
          </a:p>
        </p:txBody>
      </p:sp>
      <p:sp>
        <p:nvSpPr>
          <p:cNvPr id="10" name="text-289"/>
          <p:cNvSpPr txBox="1"/>
          <p:nvPr/>
        </p:nvSpPr>
        <p:spPr>
          <a:xfrm>
            <a:off x="3918204" y="8284464"/>
            <a:ext cx="3095244" cy="1728216"/>
          </a:xfrm>
          <a:prstGeom prst="rect">
            <a:avLst/>
          </a:prstGeom>
          <a:noFill/>
          <a:ln/>
        </p:spPr>
        <p:txBody>
          <a:bodyPr wrap="square" lIns="0" tIns="0" rIns="0" bIns="0" rtlCol="0" anchor="t"/>
          <a:lstStyle/>
          <a:p>
            <a:pPr indent="0" marL="0">
              <a:lnSpc>
                <a:spcPct val="112000"/>
              </a:lnSpc>
              <a:spcAft>
                <a:spcPts val="700"/>
              </a:spcAft>
              <a:buNone/>
            </a:pPr>
            <a:r>
              <a:rPr lang="en-US" sz="1050" dirty="0">
                <a:solidFill>
                  <a:schemeClr val="tx1"/>
                </a:solidFill>
              </a:rPr>
              <a:t>Outside is the Aurora Lagoon, a 38-degree mineral pool for bathing under the northern lights. The spa fights the winter blues, brings tourists and income, and in an emergency can shelter up to 1,000 people.</a:t>
            </a:r>
            <a:endParaRPr lang="en-US" sz="105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1"/>
                </a:solidFil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dot-290"/>
          <p:cNvSpPr/>
          <p:nvPr/>
        </p:nvSpPr>
        <p:spPr>
          <a:xfrm>
            <a:off x="548640" y="516636"/>
            <a:ext cx="100584" cy="100584"/>
          </a:xfrm>
          <a:prstGeom prst="ellipse">
            <a:avLst/>
          </a:prstGeom>
          <a:solidFill>
            <a:schemeClr val="accent5"/>
          </a:solidFill>
          <a:ln w="12700">
            <a:solidFill>
              <a:schemeClr val="accent5"/>
            </a:solidFill>
            <a:prstDash val="solid"/>
          </a:ln>
        </p:spPr>
      </p:sp>
      <p:sp>
        <p:nvSpPr>
          <p:cNvPr id="3" name="text-291"/>
          <p:cNvSpPr txBox="1"/>
          <p:nvPr/>
        </p:nvSpPr>
        <p:spPr>
          <a:xfrm>
            <a:off x="731520" y="475488"/>
            <a:ext cx="5486400" cy="201168"/>
          </a:xfrm>
          <a:prstGeom prst="rect">
            <a:avLst/>
          </a:prstGeom>
          <a:noFill/>
          <a:ln/>
        </p:spPr>
        <p:txBody>
          <a:bodyPr wrap="square" lIns="0" tIns="0" rIns="0" bIns="0" rtlCol="0" anchor="t"/>
          <a:lstStyle/>
          <a:p>
            <a:pPr indent="0" marL="0">
              <a:buNone/>
            </a:pPr>
            <a:r>
              <a:rPr lang="en-US" sz="900" b="1" spc="300" kern="0" dirty="0">
                <a:solidFill>
                  <a:schemeClr val="accent5"/>
                </a:solidFill>
              </a:rPr>
              <a:t>MOUNT AURORA · LEVEL BY LEVEL</a:t>
            </a:r>
            <a:endParaRPr lang="en-US" sz="900" dirty="0"/>
          </a:p>
        </p:txBody>
      </p:sp>
      <p:sp>
        <p:nvSpPr>
          <p:cNvPr id="4" name="Text 1"/>
          <p:cNvSpPr/>
          <p:nvPr>
            <p:ph idx="101" type="title" hasCustomPrompt="1"/>
          </p:nvPr>
        </p:nvSpPr>
        <p:spPr>
          <a:xfrm>
            <a:off x="548640" y="749808"/>
            <a:ext cx="6464808" cy="685800"/>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Four Floors of Warmth</a:t>
            </a:r>
            <a:endParaRPr lang="en-US" sz="3400" dirty="0"/>
          </a:p>
        </p:txBody>
      </p:sp>
      <p:pic>
        <p:nvPicPr>
          <p:cNvPr id="5" name="spa-plan" descr="/home/user/chatbox-bi-n-o/magazine/assets_v2/plans/04_mount_aurora_spa_resort_plan.png">    </p:cNvPr>
          <p:cNvPicPr>
            <a:picLocks noChangeAspect="1"/>
          </p:cNvPicPr>
          <p:nvPr/>
        </p:nvPicPr>
        <p:blipFill>
          <a:blip r:embed="rId1"/>
          <a:stretch>
            <a:fillRect/>
          </a:stretch>
        </p:blipFill>
        <p:spPr>
          <a:xfrm>
            <a:off x="548640" y="1554480"/>
            <a:ext cx="6464808" cy="3652617"/>
          </a:xfrm>
          <a:prstGeom prst="rect">
            <a:avLst/>
          </a:prstGeom>
        </p:spPr>
      </p:pic>
      <p:sp>
        <p:nvSpPr>
          <p:cNvPr id="6" name="text-292"/>
          <p:cNvSpPr txBox="1"/>
          <p:nvPr/>
        </p:nvSpPr>
        <p:spPr>
          <a:xfrm>
            <a:off x="548640" y="5252817"/>
            <a:ext cx="6464808" cy="228600"/>
          </a:xfrm>
          <a:prstGeom prst="rect">
            <a:avLst/>
          </a:prstGeom>
          <a:noFill/>
          <a:ln/>
        </p:spPr>
        <p:txBody>
          <a:bodyPr wrap="square" lIns="0" tIns="0" rIns="0" bIns="0" rtlCol="0" anchor="t"/>
          <a:lstStyle/>
          <a:p>
            <a:pPr indent="0" marL="0">
              <a:buNone/>
            </a:pPr>
            <a:r>
              <a:rPr lang="en-US" sz="850" i="1" dirty="0">
                <a:solidFill>
                  <a:schemeClr val="tx2"/>
                </a:solidFill>
              </a:rPr>
              <a:t>Mount Aurora Geothermal Spa Resort – Level Plans. The glass lift links all four levels.</a:t>
            </a:r>
            <a:endParaRPr lang="en-US" sz="850" dirty="0"/>
          </a:p>
        </p:txBody>
      </p:sp>
      <p:sp>
        <p:nvSpPr>
          <p:cNvPr id="7" name="card-293"/>
          <p:cNvSpPr/>
          <p:nvPr/>
        </p:nvSpPr>
        <p:spPr>
          <a:xfrm>
            <a:off x="548640" y="5572857"/>
            <a:ext cx="3140964" cy="1371600"/>
          </a:xfrm>
          <a:prstGeom prst="roundRect">
            <a:avLst>
              <a:gd name="adj" fmla="val 5333"/>
            </a:avLst>
          </a:prstGeom>
          <a:solidFill>
            <a:schemeClr val="bg2"/>
          </a:solidFill>
          <a:ln w="12700">
            <a:solidFill>
              <a:schemeClr val="bg2"/>
            </a:solidFill>
            <a:prstDash val="solid"/>
          </a:ln>
        </p:spPr>
      </p:sp>
      <p:sp>
        <p:nvSpPr>
          <p:cNvPr id="8" name="text-294"/>
          <p:cNvSpPr txBox="1"/>
          <p:nvPr/>
        </p:nvSpPr>
        <p:spPr>
          <a:xfrm>
            <a:off x="685800" y="5682585"/>
            <a:ext cx="2866644" cy="182880"/>
          </a:xfrm>
          <a:prstGeom prst="rect">
            <a:avLst/>
          </a:prstGeom>
          <a:noFill/>
          <a:ln/>
        </p:spPr>
        <p:txBody>
          <a:bodyPr wrap="square" lIns="0" tIns="0" rIns="0" bIns="0" rtlCol="0" anchor="t"/>
          <a:lstStyle/>
          <a:p>
            <a:pPr indent="0" marL="0">
              <a:buNone/>
            </a:pPr>
            <a:r>
              <a:rPr lang="en-US" sz="850" b="1" spc="200" kern="0" dirty="0">
                <a:solidFill>
                  <a:schemeClr val="accent5"/>
                </a:solidFill>
              </a:rPr>
              <a:t>LEVEL 1 · 0 M</a:t>
            </a:r>
            <a:endParaRPr lang="en-US" sz="850" dirty="0"/>
          </a:p>
        </p:txBody>
      </p:sp>
      <p:sp>
        <p:nvSpPr>
          <p:cNvPr id="9" name="text-295"/>
          <p:cNvSpPr txBox="1"/>
          <p:nvPr/>
        </p:nvSpPr>
        <p:spPr>
          <a:xfrm>
            <a:off x="685800" y="5902041"/>
            <a:ext cx="2866644" cy="987552"/>
          </a:xfrm>
          <a:prstGeom prst="rect">
            <a:avLst/>
          </a:prstGeom>
          <a:noFill/>
          <a:ln/>
        </p:spPr>
        <p:txBody>
          <a:bodyPr wrap="square" lIns="0" tIns="0" rIns="0" bIns="0" rtlCol="0" anchor="t"/>
          <a:lstStyle/>
          <a:p>
            <a:pPr indent="0" marL="0">
              <a:lnSpc>
                <a:spcPct val="105000"/>
              </a:lnSpc>
              <a:spcAft>
                <a:spcPts val="400"/>
              </a:spcAft>
              <a:buNone/>
            </a:pPr>
            <a:r>
              <a:rPr lang="en-US" sz="1200" b="1" dirty="0">
                <a:solidFill>
                  <a:schemeClr val="tx1"/>
                </a:solidFill>
                <a:latin typeface="+mj-lt" pitchFamily="34" charset="0"/>
                <a:ea typeface="+mj-lt" pitchFamily="34" charset="-122"/>
                <a:cs typeface="+mj-lt" pitchFamily="34" charset="-120"/>
              </a:rPr>
              <a:t>Welcome Hall, Mineral Lake Grotto &amp; Onsen Garden</a:t>
            </a:r>
            <a:endParaRPr lang="en-US" sz="1050" dirty="0"/>
          </a:p>
          <a:p>
            <a:pPr indent="0" marL="0">
              <a:lnSpc>
                <a:spcPct val="105000"/>
              </a:lnSpc>
              <a:buNone/>
            </a:pPr>
            <a:r>
              <a:rPr lang="en-US" sz="950" dirty="0">
                <a:solidFill>
                  <a:schemeClr val="tx2"/>
                </a:solidFill>
              </a:rPr>
              <a:t>A 40 °C silica-rich spring rises into a 7 × 13 m Mineral Lake; hot, warm and glacier-cold pools boost circulation.</a:t>
            </a:r>
            <a:endParaRPr lang="en-US" sz="1050" dirty="0"/>
          </a:p>
        </p:txBody>
      </p:sp>
      <p:sp>
        <p:nvSpPr>
          <p:cNvPr id="10" name="card-296"/>
          <p:cNvSpPr/>
          <p:nvPr/>
        </p:nvSpPr>
        <p:spPr>
          <a:xfrm>
            <a:off x="3872484" y="5572857"/>
            <a:ext cx="3140964" cy="1371600"/>
          </a:xfrm>
          <a:prstGeom prst="roundRect">
            <a:avLst>
              <a:gd name="adj" fmla="val 5333"/>
            </a:avLst>
          </a:prstGeom>
          <a:solidFill>
            <a:schemeClr val="bg2"/>
          </a:solidFill>
          <a:ln w="12700">
            <a:solidFill>
              <a:schemeClr val="bg2"/>
            </a:solidFill>
            <a:prstDash val="solid"/>
          </a:ln>
        </p:spPr>
      </p:sp>
      <p:sp>
        <p:nvSpPr>
          <p:cNvPr id="11" name="text-297"/>
          <p:cNvSpPr txBox="1"/>
          <p:nvPr/>
        </p:nvSpPr>
        <p:spPr>
          <a:xfrm>
            <a:off x="4009644" y="5682585"/>
            <a:ext cx="2866644" cy="182880"/>
          </a:xfrm>
          <a:prstGeom prst="rect">
            <a:avLst/>
          </a:prstGeom>
          <a:noFill/>
          <a:ln/>
        </p:spPr>
        <p:txBody>
          <a:bodyPr wrap="square" lIns="0" tIns="0" rIns="0" bIns="0" rtlCol="0" anchor="t"/>
          <a:lstStyle/>
          <a:p>
            <a:pPr indent="0" marL="0">
              <a:buNone/>
            </a:pPr>
            <a:r>
              <a:rPr lang="en-US" sz="850" b="1" spc="200" kern="0" dirty="0">
                <a:solidFill>
                  <a:schemeClr val="accent5"/>
                </a:solidFill>
              </a:rPr>
              <a:t>LEVEL 2 · 4.5 M</a:t>
            </a:r>
            <a:endParaRPr lang="en-US" sz="850" dirty="0"/>
          </a:p>
        </p:txBody>
      </p:sp>
      <p:sp>
        <p:nvSpPr>
          <p:cNvPr id="12" name="text-298"/>
          <p:cNvSpPr txBox="1"/>
          <p:nvPr/>
        </p:nvSpPr>
        <p:spPr>
          <a:xfrm>
            <a:off x="4009644" y="5902041"/>
            <a:ext cx="2866644" cy="987552"/>
          </a:xfrm>
          <a:prstGeom prst="rect">
            <a:avLst/>
          </a:prstGeom>
          <a:noFill/>
          <a:ln/>
        </p:spPr>
        <p:txBody>
          <a:bodyPr wrap="square" lIns="0" tIns="0" rIns="0" bIns="0" rtlCol="0" anchor="t"/>
          <a:lstStyle/>
          <a:p>
            <a:pPr indent="0" marL="0">
              <a:lnSpc>
                <a:spcPct val="105000"/>
              </a:lnSpc>
              <a:spcAft>
                <a:spcPts val="400"/>
              </a:spcAft>
              <a:buNone/>
            </a:pPr>
            <a:r>
              <a:rPr lang="en-US" sz="1200" b="1" dirty="0">
                <a:solidFill>
                  <a:schemeClr val="tx1"/>
                </a:solidFill>
                <a:latin typeface="+mj-lt" pitchFamily="34" charset="0"/>
                <a:ea typeface="+mj-lt" pitchFamily="34" charset="-122"/>
                <a:cs typeface="+mj-lt" pitchFamily="34" charset="-120"/>
              </a:rPr>
              <a:t>Volcanic Mud Terraces</a:t>
            </a:r>
            <a:endParaRPr lang="en-US" sz="1050" dirty="0"/>
          </a:p>
          <a:p>
            <a:pPr indent="0" marL="0">
              <a:lnSpc>
                <a:spcPct val="105000"/>
              </a:lnSpc>
              <a:buNone/>
            </a:pPr>
            <a:r>
              <a:rPr lang="en-US" sz="950" dirty="0">
                <a:solidFill>
                  <a:schemeClr val="tx2"/>
                </a:solidFill>
              </a:rPr>
              <a:t>An 8 × 10 m mud field held at 39 °C. The mud is filtered and UV-sterilised every night and reused for months.</a:t>
            </a:r>
            <a:endParaRPr lang="en-US" sz="1050" dirty="0"/>
          </a:p>
        </p:txBody>
      </p:sp>
      <p:sp>
        <p:nvSpPr>
          <p:cNvPr id="13" name="card-299"/>
          <p:cNvSpPr/>
          <p:nvPr/>
        </p:nvSpPr>
        <p:spPr>
          <a:xfrm>
            <a:off x="548640" y="7054185"/>
            <a:ext cx="3140964" cy="1371600"/>
          </a:xfrm>
          <a:prstGeom prst="roundRect">
            <a:avLst>
              <a:gd name="adj" fmla="val 5333"/>
            </a:avLst>
          </a:prstGeom>
          <a:solidFill>
            <a:schemeClr val="bg2"/>
          </a:solidFill>
          <a:ln w="12700">
            <a:solidFill>
              <a:schemeClr val="bg2"/>
            </a:solidFill>
            <a:prstDash val="solid"/>
          </a:ln>
        </p:spPr>
      </p:sp>
      <p:sp>
        <p:nvSpPr>
          <p:cNvPr id="14" name="text-300"/>
          <p:cNvSpPr txBox="1"/>
          <p:nvPr/>
        </p:nvSpPr>
        <p:spPr>
          <a:xfrm>
            <a:off x="685800" y="7163913"/>
            <a:ext cx="2866644" cy="182880"/>
          </a:xfrm>
          <a:prstGeom prst="rect">
            <a:avLst/>
          </a:prstGeom>
          <a:noFill/>
          <a:ln/>
        </p:spPr>
        <p:txBody>
          <a:bodyPr wrap="square" lIns="0" tIns="0" rIns="0" bIns="0" rtlCol="0" anchor="t"/>
          <a:lstStyle/>
          <a:p>
            <a:pPr indent="0" marL="0">
              <a:buNone/>
            </a:pPr>
            <a:r>
              <a:rPr lang="en-US" sz="850" b="1" spc="200" kern="0" dirty="0">
                <a:solidFill>
                  <a:schemeClr val="accent5"/>
                </a:solidFill>
              </a:rPr>
              <a:t>LEVEL 3 · 9 M</a:t>
            </a:r>
            <a:endParaRPr lang="en-US" sz="850" dirty="0"/>
          </a:p>
        </p:txBody>
      </p:sp>
      <p:sp>
        <p:nvSpPr>
          <p:cNvPr id="15" name="text-301"/>
          <p:cNvSpPr txBox="1"/>
          <p:nvPr/>
        </p:nvSpPr>
        <p:spPr>
          <a:xfrm>
            <a:off x="685800" y="7383369"/>
            <a:ext cx="2866644" cy="987552"/>
          </a:xfrm>
          <a:prstGeom prst="rect">
            <a:avLst/>
          </a:prstGeom>
          <a:noFill/>
          <a:ln/>
        </p:spPr>
        <p:txBody>
          <a:bodyPr wrap="square" lIns="0" tIns="0" rIns="0" bIns="0" rtlCol="0" anchor="t"/>
          <a:lstStyle/>
          <a:p>
            <a:pPr indent="0" marL="0">
              <a:lnSpc>
                <a:spcPct val="105000"/>
              </a:lnSpc>
              <a:spcAft>
                <a:spcPts val="400"/>
              </a:spcAft>
              <a:buNone/>
            </a:pPr>
            <a:r>
              <a:rPr lang="en-US" sz="1200" b="1" dirty="0">
                <a:solidFill>
                  <a:schemeClr val="tx1"/>
                </a:solidFill>
                <a:latin typeface="+mj-lt" pitchFamily="34" charset="0"/>
                <a:ea typeface="+mj-lt" pitchFamily="34" charset="-122"/>
                <a:cs typeface="+mj-lt" pitchFamily="34" charset="-120"/>
              </a:rPr>
              <a:t>Treatment Suites &amp; Himalayan Salt Sauna</a:t>
            </a:r>
            <a:endParaRPr lang="en-US" sz="1050" dirty="0"/>
          </a:p>
          <a:p>
            <a:pPr indent="0" marL="0">
              <a:lnSpc>
                <a:spcPct val="105000"/>
              </a:lnSpc>
              <a:buNone/>
            </a:pPr>
            <a:r>
              <a:rPr lang="en-US" sz="950" dirty="0">
                <a:solidFill>
                  <a:schemeClr val="tx2"/>
                </a:solidFill>
              </a:rPr>
              <a:t>Hot-stone massage, arctic kelp wraps and a 75 °C pink salt sauna heated by the geothermal loop.</a:t>
            </a:r>
            <a:endParaRPr lang="en-US" sz="1050" dirty="0"/>
          </a:p>
        </p:txBody>
      </p:sp>
      <p:sp>
        <p:nvSpPr>
          <p:cNvPr id="16" name="card-302"/>
          <p:cNvSpPr/>
          <p:nvPr/>
        </p:nvSpPr>
        <p:spPr>
          <a:xfrm>
            <a:off x="3872484" y="7054185"/>
            <a:ext cx="3140964" cy="1371600"/>
          </a:xfrm>
          <a:prstGeom prst="roundRect">
            <a:avLst>
              <a:gd name="adj" fmla="val 5333"/>
            </a:avLst>
          </a:prstGeom>
          <a:solidFill>
            <a:schemeClr val="bg2"/>
          </a:solidFill>
          <a:ln w="12700">
            <a:solidFill>
              <a:schemeClr val="bg2"/>
            </a:solidFill>
            <a:prstDash val="solid"/>
          </a:ln>
        </p:spPr>
      </p:sp>
      <p:sp>
        <p:nvSpPr>
          <p:cNvPr id="17" name="text-303"/>
          <p:cNvSpPr txBox="1"/>
          <p:nvPr/>
        </p:nvSpPr>
        <p:spPr>
          <a:xfrm>
            <a:off x="4009644" y="7163913"/>
            <a:ext cx="2866644" cy="182880"/>
          </a:xfrm>
          <a:prstGeom prst="rect">
            <a:avLst/>
          </a:prstGeom>
          <a:noFill/>
          <a:ln/>
        </p:spPr>
        <p:txBody>
          <a:bodyPr wrap="square" lIns="0" tIns="0" rIns="0" bIns="0" rtlCol="0" anchor="t"/>
          <a:lstStyle/>
          <a:p>
            <a:pPr indent="0" marL="0">
              <a:buNone/>
            </a:pPr>
            <a:r>
              <a:rPr lang="en-US" sz="850" b="1" spc="200" kern="0" dirty="0">
                <a:solidFill>
                  <a:schemeClr val="accent5"/>
                </a:solidFill>
              </a:rPr>
              <a:t>LEVEL 4 · 13.5 M</a:t>
            </a:r>
            <a:endParaRPr lang="en-US" sz="850" dirty="0"/>
          </a:p>
        </p:txBody>
      </p:sp>
      <p:sp>
        <p:nvSpPr>
          <p:cNvPr id="18" name="text-304"/>
          <p:cNvSpPr txBox="1"/>
          <p:nvPr/>
        </p:nvSpPr>
        <p:spPr>
          <a:xfrm>
            <a:off x="4009644" y="7383369"/>
            <a:ext cx="2866644" cy="987552"/>
          </a:xfrm>
          <a:prstGeom prst="rect">
            <a:avLst/>
          </a:prstGeom>
          <a:noFill/>
          <a:ln/>
        </p:spPr>
        <p:txBody>
          <a:bodyPr wrap="square" lIns="0" tIns="0" rIns="0" bIns="0" rtlCol="0" anchor="t"/>
          <a:lstStyle/>
          <a:p>
            <a:pPr indent="0" marL="0">
              <a:lnSpc>
                <a:spcPct val="105000"/>
              </a:lnSpc>
              <a:spcAft>
                <a:spcPts val="400"/>
              </a:spcAft>
              <a:buNone/>
            </a:pPr>
            <a:r>
              <a:rPr lang="en-US" sz="1200" b="1" dirty="0">
                <a:solidFill>
                  <a:schemeClr val="tx1"/>
                </a:solidFill>
                <a:latin typeface="+mj-lt" pitchFamily="34" charset="0"/>
                <a:ea typeface="+mj-lt" pitchFamily="34" charset="-122"/>
                <a:cs typeface="+mj-lt" pitchFamily="34" charset="-120"/>
              </a:rPr>
              <a:t>Summit Sanctuary &amp; Aurora Eye</a:t>
            </a:r>
            <a:endParaRPr lang="en-US" sz="1050" dirty="0"/>
          </a:p>
          <a:p>
            <a:pPr indent="0" marL="0">
              <a:lnSpc>
                <a:spcPct val="105000"/>
              </a:lnSpc>
              <a:buNone/>
            </a:pPr>
            <a:r>
              <a:rPr lang="en-US" sz="950" dirty="0">
                <a:solidFill>
                  <a:schemeClr val="tx2"/>
                </a:solidFill>
              </a:rPr>
              <a:t>A 35 °C float pool, a meditation circle and a heated glass bubble for watching the northern lights.</a:t>
            </a:r>
            <a:endParaRPr lang="en-US" sz="1050" dirty="0"/>
          </a:p>
        </p:txBody>
      </p:sp>
      <p:sp>
        <p:nvSpPr>
          <p:cNvPr id="19" name="text-305"/>
          <p:cNvSpPr txBox="1"/>
          <p:nvPr/>
        </p:nvSpPr>
        <p:spPr>
          <a:xfrm>
            <a:off x="548640" y="8503920"/>
            <a:ext cx="1004316" cy="327152"/>
          </a:xfrm>
          <a:prstGeom prst="rect">
            <a:avLst/>
          </a:prstGeom>
          <a:noFill/>
          <a:ln/>
        </p:spPr>
        <p:txBody>
          <a:bodyPr wrap="square" lIns="0" tIns="0" rIns="0" bIns="0" rtlCol="0" anchor="b"/>
          <a:lstStyle/>
          <a:p>
            <a:pPr indent="0" marL="0">
              <a:buNone/>
            </a:pPr>
            <a:r>
              <a:rPr lang="en-US" sz="2000" b="1" dirty="0">
                <a:solidFill>
                  <a:schemeClr val="accent5"/>
                </a:solidFill>
                <a:latin typeface="+mj-lt" pitchFamily="34" charset="0"/>
                <a:ea typeface="+mj-lt" pitchFamily="34" charset="-122"/>
                <a:cs typeface="+mj-lt" pitchFamily="34" charset="-120"/>
              </a:rPr>
              <a:t>28 °C</a:t>
            </a:r>
            <a:endParaRPr lang="en-US" sz="2000" dirty="0"/>
          </a:p>
        </p:txBody>
      </p:sp>
      <p:sp>
        <p:nvSpPr>
          <p:cNvPr id="20" name="text-306"/>
          <p:cNvSpPr txBox="1"/>
          <p:nvPr/>
        </p:nvSpPr>
        <p:spPr>
          <a:xfrm>
            <a:off x="548640" y="8858504"/>
            <a:ext cx="1004316" cy="365760"/>
          </a:xfrm>
          <a:prstGeom prst="rect">
            <a:avLst/>
          </a:prstGeom>
          <a:noFill/>
          <a:ln/>
        </p:spPr>
        <p:txBody>
          <a:bodyPr wrap="square" lIns="0" tIns="0" rIns="0" bIns="0" rtlCol="0" anchor="t"/>
          <a:lstStyle/>
          <a:p>
            <a:pPr indent="0" marL="0">
              <a:lnSpc>
                <a:spcPct val="105000"/>
              </a:lnSpc>
              <a:buNone/>
            </a:pPr>
            <a:r>
              <a:rPr lang="en-US" sz="850" dirty="0">
                <a:solidFill>
                  <a:schemeClr val="tx2"/>
                </a:solidFill>
              </a:rPr>
              <a:t>inside the spa</a:t>
            </a:r>
            <a:endParaRPr lang="en-US" sz="850" dirty="0"/>
          </a:p>
        </p:txBody>
      </p:sp>
      <p:sp>
        <p:nvSpPr>
          <p:cNvPr id="21" name="text-307"/>
          <p:cNvSpPr txBox="1"/>
          <p:nvPr/>
        </p:nvSpPr>
        <p:spPr>
          <a:xfrm>
            <a:off x="1626108" y="8503920"/>
            <a:ext cx="1004316" cy="327152"/>
          </a:xfrm>
          <a:prstGeom prst="rect">
            <a:avLst/>
          </a:prstGeom>
          <a:noFill/>
          <a:ln/>
        </p:spPr>
        <p:txBody>
          <a:bodyPr wrap="square" lIns="0" tIns="0" rIns="0" bIns="0" rtlCol="0" anchor="b"/>
          <a:lstStyle/>
          <a:p>
            <a:pPr indent="0" marL="0">
              <a:buNone/>
            </a:pPr>
            <a:r>
              <a:rPr lang="en-US" sz="2000" b="1" dirty="0">
                <a:solidFill>
                  <a:schemeClr val="accent5"/>
                </a:solidFill>
                <a:latin typeface="+mj-lt" pitchFamily="34" charset="0"/>
                <a:ea typeface="+mj-lt" pitchFamily="34" charset="-122"/>
                <a:cs typeface="+mj-lt" pitchFamily="34" charset="-120"/>
              </a:rPr>
              <a:t>40 °C</a:t>
            </a:r>
            <a:endParaRPr lang="en-US" sz="2000" dirty="0"/>
          </a:p>
        </p:txBody>
      </p:sp>
      <p:sp>
        <p:nvSpPr>
          <p:cNvPr id="22" name="text-308"/>
          <p:cNvSpPr txBox="1"/>
          <p:nvPr/>
        </p:nvSpPr>
        <p:spPr>
          <a:xfrm>
            <a:off x="1626108" y="8858504"/>
            <a:ext cx="1004316" cy="365760"/>
          </a:xfrm>
          <a:prstGeom prst="rect">
            <a:avLst/>
          </a:prstGeom>
          <a:noFill/>
          <a:ln/>
        </p:spPr>
        <p:txBody>
          <a:bodyPr wrap="square" lIns="0" tIns="0" rIns="0" bIns="0" rtlCol="0" anchor="t"/>
          <a:lstStyle/>
          <a:p>
            <a:pPr indent="0" marL="0">
              <a:lnSpc>
                <a:spcPct val="105000"/>
              </a:lnSpc>
              <a:buNone/>
            </a:pPr>
            <a:r>
              <a:rPr lang="en-US" sz="850" dirty="0">
                <a:solidFill>
                  <a:schemeClr val="tx2"/>
                </a:solidFill>
              </a:rPr>
              <a:t>Mineral Lake spring</a:t>
            </a:r>
            <a:endParaRPr lang="en-US" sz="850" dirty="0"/>
          </a:p>
        </p:txBody>
      </p:sp>
      <p:sp>
        <p:nvSpPr>
          <p:cNvPr id="23" name="text-309"/>
          <p:cNvSpPr txBox="1"/>
          <p:nvPr/>
        </p:nvSpPr>
        <p:spPr>
          <a:xfrm>
            <a:off x="2703576" y="8503920"/>
            <a:ext cx="1004316" cy="327152"/>
          </a:xfrm>
          <a:prstGeom prst="rect">
            <a:avLst/>
          </a:prstGeom>
          <a:noFill/>
          <a:ln/>
        </p:spPr>
        <p:txBody>
          <a:bodyPr wrap="square" lIns="0" tIns="0" rIns="0" bIns="0" rtlCol="0" anchor="b"/>
          <a:lstStyle/>
          <a:p>
            <a:pPr indent="0" marL="0">
              <a:buNone/>
            </a:pPr>
            <a:r>
              <a:rPr lang="en-US" sz="2000" b="1" dirty="0">
                <a:solidFill>
                  <a:schemeClr val="accent5"/>
                </a:solidFill>
                <a:latin typeface="+mj-lt" pitchFamily="34" charset="0"/>
                <a:ea typeface="+mj-lt" pitchFamily="34" charset="-122"/>
                <a:cs typeface="+mj-lt" pitchFamily="34" charset="-120"/>
              </a:rPr>
              <a:t>39 °C</a:t>
            </a:r>
            <a:endParaRPr lang="en-US" sz="2000" dirty="0"/>
          </a:p>
        </p:txBody>
      </p:sp>
      <p:sp>
        <p:nvSpPr>
          <p:cNvPr id="24" name="text-310"/>
          <p:cNvSpPr txBox="1"/>
          <p:nvPr/>
        </p:nvSpPr>
        <p:spPr>
          <a:xfrm>
            <a:off x="2703576" y="8858504"/>
            <a:ext cx="1004316" cy="365760"/>
          </a:xfrm>
          <a:prstGeom prst="rect">
            <a:avLst/>
          </a:prstGeom>
          <a:noFill/>
          <a:ln/>
        </p:spPr>
        <p:txBody>
          <a:bodyPr wrap="square" lIns="0" tIns="0" rIns="0" bIns="0" rtlCol="0" anchor="t"/>
          <a:lstStyle/>
          <a:p>
            <a:pPr indent="0" marL="0">
              <a:lnSpc>
                <a:spcPct val="105000"/>
              </a:lnSpc>
              <a:buNone/>
            </a:pPr>
            <a:r>
              <a:rPr lang="en-US" sz="850" dirty="0">
                <a:solidFill>
                  <a:schemeClr val="tx2"/>
                </a:solidFill>
              </a:rPr>
              <a:t>volcanic mud</a:t>
            </a:r>
            <a:endParaRPr lang="en-US" sz="850" dirty="0"/>
          </a:p>
        </p:txBody>
      </p:sp>
      <p:sp>
        <p:nvSpPr>
          <p:cNvPr id="25" name="text-311"/>
          <p:cNvSpPr txBox="1"/>
          <p:nvPr/>
        </p:nvSpPr>
        <p:spPr>
          <a:xfrm>
            <a:off x="3781044" y="8503920"/>
            <a:ext cx="1004316" cy="327152"/>
          </a:xfrm>
          <a:prstGeom prst="rect">
            <a:avLst/>
          </a:prstGeom>
          <a:noFill/>
          <a:ln/>
        </p:spPr>
        <p:txBody>
          <a:bodyPr wrap="square" lIns="0" tIns="0" rIns="0" bIns="0" rtlCol="0" anchor="b"/>
          <a:lstStyle/>
          <a:p>
            <a:pPr indent="0" marL="0">
              <a:buNone/>
            </a:pPr>
            <a:r>
              <a:rPr lang="en-US" sz="2000" b="1" dirty="0">
                <a:solidFill>
                  <a:schemeClr val="accent5"/>
                </a:solidFill>
                <a:latin typeface="+mj-lt" pitchFamily="34" charset="0"/>
                <a:ea typeface="+mj-lt" pitchFamily="34" charset="-122"/>
                <a:cs typeface="+mj-lt" pitchFamily="34" charset="-120"/>
              </a:rPr>
              <a:t>75 °C</a:t>
            </a:r>
            <a:endParaRPr lang="en-US" sz="2000" dirty="0"/>
          </a:p>
        </p:txBody>
      </p:sp>
      <p:sp>
        <p:nvSpPr>
          <p:cNvPr id="26" name="text-312"/>
          <p:cNvSpPr txBox="1"/>
          <p:nvPr/>
        </p:nvSpPr>
        <p:spPr>
          <a:xfrm>
            <a:off x="3781044" y="8858504"/>
            <a:ext cx="1004316" cy="365760"/>
          </a:xfrm>
          <a:prstGeom prst="rect">
            <a:avLst/>
          </a:prstGeom>
          <a:noFill/>
          <a:ln/>
        </p:spPr>
        <p:txBody>
          <a:bodyPr wrap="square" lIns="0" tIns="0" rIns="0" bIns="0" rtlCol="0" anchor="t"/>
          <a:lstStyle/>
          <a:p>
            <a:pPr indent="0" marL="0">
              <a:lnSpc>
                <a:spcPct val="105000"/>
              </a:lnSpc>
              <a:buNone/>
            </a:pPr>
            <a:r>
              <a:rPr lang="en-US" sz="850" dirty="0">
                <a:solidFill>
                  <a:schemeClr val="tx2"/>
                </a:solidFill>
              </a:rPr>
              <a:t>salt sauna</a:t>
            </a:r>
            <a:endParaRPr lang="en-US" sz="850" dirty="0"/>
          </a:p>
        </p:txBody>
      </p:sp>
      <p:sp>
        <p:nvSpPr>
          <p:cNvPr id="27" name="text-313"/>
          <p:cNvSpPr txBox="1"/>
          <p:nvPr/>
        </p:nvSpPr>
        <p:spPr>
          <a:xfrm>
            <a:off x="4858512" y="8503920"/>
            <a:ext cx="1004316" cy="327152"/>
          </a:xfrm>
          <a:prstGeom prst="rect">
            <a:avLst/>
          </a:prstGeom>
          <a:noFill/>
          <a:ln/>
        </p:spPr>
        <p:txBody>
          <a:bodyPr wrap="square" lIns="0" tIns="0" rIns="0" bIns="0" rtlCol="0" anchor="b"/>
          <a:lstStyle/>
          <a:p>
            <a:pPr indent="0" marL="0">
              <a:buNone/>
            </a:pPr>
            <a:r>
              <a:rPr lang="en-US" sz="2000" b="1" dirty="0">
                <a:solidFill>
                  <a:schemeClr val="accent5"/>
                </a:solidFill>
                <a:latin typeface="+mj-lt" pitchFamily="34" charset="0"/>
                <a:ea typeface="+mj-lt" pitchFamily="34" charset="-122"/>
                <a:cs typeface="+mj-lt" pitchFamily="34" charset="-120"/>
              </a:rPr>
              <a:t>35 °C</a:t>
            </a:r>
            <a:endParaRPr lang="en-US" sz="2000" dirty="0"/>
          </a:p>
        </p:txBody>
      </p:sp>
      <p:sp>
        <p:nvSpPr>
          <p:cNvPr id="28" name="text-314"/>
          <p:cNvSpPr txBox="1"/>
          <p:nvPr/>
        </p:nvSpPr>
        <p:spPr>
          <a:xfrm>
            <a:off x="4858512" y="8858504"/>
            <a:ext cx="1004316" cy="365760"/>
          </a:xfrm>
          <a:prstGeom prst="rect">
            <a:avLst/>
          </a:prstGeom>
          <a:noFill/>
          <a:ln/>
        </p:spPr>
        <p:txBody>
          <a:bodyPr wrap="square" lIns="0" tIns="0" rIns="0" bIns="0" rtlCol="0" anchor="t"/>
          <a:lstStyle/>
          <a:p>
            <a:pPr indent="0" marL="0">
              <a:lnSpc>
                <a:spcPct val="105000"/>
              </a:lnSpc>
              <a:buNone/>
            </a:pPr>
            <a:r>
              <a:rPr lang="en-US" sz="850" dirty="0">
                <a:solidFill>
                  <a:schemeClr val="tx2"/>
                </a:solidFill>
              </a:rPr>
              <a:t>float pool</a:t>
            </a:r>
            <a:endParaRPr lang="en-US" sz="850" dirty="0"/>
          </a:p>
        </p:txBody>
      </p:sp>
      <p:sp>
        <p:nvSpPr>
          <p:cNvPr id="29" name="text-315"/>
          <p:cNvSpPr txBox="1"/>
          <p:nvPr/>
        </p:nvSpPr>
        <p:spPr>
          <a:xfrm>
            <a:off x="5935980" y="8503920"/>
            <a:ext cx="1004316" cy="327152"/>
          </a:xfrm>
          <a:prstGeom prst="rect">
            <a:avLst/>
          </a:prstGeom>
          <a:noFill/>
          <a:ln/>
        </p:spPr>
        <p:txBody>
          <a:bodyPr wrap="square" lIns="0" tIns="0" rIns="0" bIns="0" rtlCol="0" anchor="b"/>
          <a:lstStyle/>
          <a:p>
            <a:pPr indent="0" marL="0">
              <a:buNone/>
            </a:pPr>
            <a:r>
              <a:rPr lang="en-US" sz="2000" b="1" dirty="0">
                <a:solidFill>
                  <a:schemeClr val="accent5"/>
                </a:solidFill>
                <a:latin typeface="+mj-lt" pitchFamily="34" charset="0"/>
                <a:ea typeface="+mj-lt" pitchFamily="34" charset="-122"/>
                <a:cs typeface="+mj-lt" pitchFamily="34" charset="-120"/>
              </a:rPr>
              <a:t>38 °C</a:t>
            </a:r>
            <a:endParaRPr lang="en-US" sz="2000" dirty="0"/>
          </a:p>
        </p:txBody>
      </p:sp>
      <p:sp>
        <p:nvSpPr>
          <p:cNvPr id="30" name="text-316"/>
          <p:cNvSpPr txBox="1"/>
          <p:nvPr/>
        </p:nvSpPr>
        <p:spPr>
          <a:xfrm>
            <a:off x="5935980" y="8858504"/>
            <a:ext cx="1004316" cy="365760"/>
          </a:xfrm>
          <a:prstGeom prst="rect">
            <a:avLst/>
          </a:prstGeom>
          <a:noFill/>
          <a:ln/>
        </p:spPr>
        <p:txBody>
          <a:bodyPr wrap="square" lIns="0" tIns="0" rIns="0" bIns="0" rtlCol="0" anchor="t"/>
          <a:lstStyle/>
          <a:p>
            <a:pPr indent="0" marL="0">
              <a:lnSpc>
                <a:spcPct val="105000"/>
              </a:lnSpc>
              <a:buNone/>
            </a:pPr>
            <a:r>
              <a:rPr lang="en-US" sz="850" dirty="0">
                <a:solidFill>
                  <a:schemeClr val="tx2"/>
                </a:solidFill>
              </a:rPr>
              <a:t>Aurora Lagoon</a:t>
            </a:r>
            <a:endParaRPr lang="en-US" sz="850" dirty="0"/>
          </a:p>
        </p:txBody>
      </p:sp>
      <p:sp>
        <p:nvSpPr>
          <p:cNvPr id="31" name="text-317"/>
          <p:cNvSpPr txBox="1"/>
          <p:nvPr/>
        </p:nvSpPr>
        <p:spPr>
          <a:xfrm>
            <a:off x="548640" y="9418320"/>
            <a:ext cx="6464808" cy="502920"/>
          </a:xfrm>
          <a:prstGeom prst="rect">
            <a:avLst/>
          </a:prstGeom>
          <a:noFill/>
          <a:ln/>
        </p:spPr>
        <p:txBody>
          <a:bodyPr wrap="square" lIns="0" tIns="0" rIns="0" bIns="0" rtlCol="0" anchor="t"/>
          <a:lstStyle/>
          <a:p>
            <a:pPr indent="0" marL="0">
              <a:buNone/>
            </a:pPr>
            <a:r>
              <a:rPr lang="en-US" sz="900" i="1" dirty="0">
                <a:solidFill>
                  <a:schemeClr val="tx2"/>
                </a:solidFill>
              </a:rPr>
              <a:t>Route through the spa: North Portal → grotto → Welcome Hall → changing suites → Mineral Lake &amp; Onsen Garden → glass lift → mud terraces → treatments &amp; salt sauna → Summit Sanctuary and the Aurora Eye.</a:t>
            </a:r>
            <a:endParaRPr lang="en-US" sz="90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1"/>
                </a:solidFil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dot-318"/>
          <p:cNvSpPr/>
          <p:nvPr/>
        </p:nvSpPr>
        <p:spPr>
          <a:xfrm>
            <a:off x="548640" y="516636"/>
            <a:ext cx="100584" cy="100584"/>
          </a:xfrm>
          <a:prstGeom prst="ellipse">
            <a:avLst/>
          </a:prstGeom>
          <a:solidFill>
            <a:schemeClr val="accent1"/>
          </a:solidFill>
          <a:ln w="12700">
            <a:solidFill>
              <a:schemeClr val="accent1"/>
            </a:solidFill>
            <a:prstDash val="solid"/>
          </a:ln>
        </p:spPr>
      </p:sp>
      <p:sp>
        <p:nvSpPr>
          <p:cNvPr id="3" name="text-319"/>
          <p:cNvSpPr txBox="1"/>
          <p:nvPr/>
        </p:nvSpPr>
        <p:spPr>
          <a:xfrm>
            <a:off x="731520" y="475488"/>
            <a:ext cx="5486400" cy="201168"/>
          </a:xfrm>
          <a:prstGeom prst="rect">
            <a:avLst/>
          </a:prstGeom>
          <a:noFill/>
          <a:ln/>
        </p:spPr>
        <p:txBody>
          <a:bodyPr wrap="square" lIns="0" tIns="0" rIns="0" bIns="0" rtlCol="0" anchor="t"/>
          <a:lstStyle/>
          <a:p>
            <a:pPr indent="0" marL="0">
              <a:buNone/>
            </a:pPr>
            <a:r>
              <a:rPr lang="en-US" sz="900" b="1" spc="300" kern="0" dirty="0">
                <a:solidFill>
                  <a:schemeClr val="accent1"/>
                </a:solidFill>
              </a:rPr>
              <a:t>THE BIG IDEA</a:t>
            </a:r>
            <a:endParaRPr lang="en-US" sz="900" dirty="0"/>
          </a:p>
        </p:txBody>
      </p:sp>
      <p:sp>
        <p:nvSpPr>
          <p:cNvPr id="4" name="Text 1"/>
          <p:cNvSpPr/>
          <p:nvPr>
            <p:ph idx="101" type="title" hasCustomPrompt="1"/>
          </p:nvPr>
        </p:nvSpPr>
        <p:spPr>
          <a:xfrm>
            <a:off x="548640" y="749808"/>
            <a:ext cx="6464808" cy="685800"/>
          </a:xfrm>
          <a:prstGeom prst="rect">
            <a:avLst/>
          </a:prstGeom>
          <a:noFill/>
          <a:ln/>
        </p:spPr>
        <p:txBody>
          <a:bodyPr wrap="square" lIns="0" tIns="0" rIns="0" bIns="0" rtlCol="0" anchor="t"/>
          <a:lstStyle/>
          <a:p>
            <a:pPr algn="l" indent="0" marL="0">
              <a:buNone/>
            </a:pPr>
            <a:r>
              <a:rPr lang="en-US" sz="3400" b="1" dirty="0">
                <a:solidFill>
                  <a:schemeClr val="bg1"/>
                </a:solidFill>
                <a:latin typeface="+mj-lt" pitchFamily="34" charset="0"/>
                <a:ea typeface="+mj-lt" pitchFamily="34" charset="-122"/>
                <a:cs typeface="+mj-lt" pitchFamily="34" charset="-120"/>
              </a:rPr>
              <a:t>Three Districts, One Loop</a:t>
            </a:r>
            <a:endParaRPr lang="en-US" sz="3400" dirty="0"/>
          </a:p>
        </p:txBody>
      </p:sp>
      <p:sp>
        <p:nvSpPr>
          <p:cNvPr id="5" name="text-320"/>
          <p:cNvSpPr txBox="1"/>
          <p:nvPr/>
        </p:nvSpPr>
        <p:spPr>
          <a:xfrm>
            <a:off x="548640" y="1463040"/>
            <a:ext cx="6464808" cy="685800"/>
          </a:xfrm>
          <a:prstGeom prst="rect">
            <a:avLst/>
          </a:prstGeom>
          <a:noFill/>
          <a:ln/>
        </p:spPr>
        <p:txBody>
          <a:bodyPr wrap="square" lIns="0" tIns="0" rIns="0" bIns="0" rtlCol="0" anchor="t"/>
          <a:lstStyle/>
          <a:p>
            <a:pPr indent="0" marL="0">
              <a:lnSpc>
                <a:spcPct val="110000"/>
              </a:lnSpc>
              <a:buNone/>
            </a:pPr>
            <a:r>
              <a:rPr lang="en-US" sz="1350" i="1" dirty="0">
                <a:solidFill>
                  <a:schemeClr val="bg2"/>
                </a:solidFill>
                <a:latin typeface="+mj-lt" pitchFamily="34" charset="0"/>
                <a:ea typeface="+mj-lt" pitchFamily="34" charset="-122"/>
                <a:cs typeface="+mj-lt" pitchFamily="34" charset="-120"/>
              </a:rPr>
              <a:t>The three signature districts do not work alone. Heat, water, oxygen and waste go round from one to the next instead of being thrown away.</a:t>
            </a:r>
            <a:endParaRPr lang="en-US" sz="1350" dirty="0"/>
          </a:p>
        </p:txBody>
      </p:sp>
      <p:sp>
        <p:nvSpPr>
          <p:cNvPr id="6" name="loop-node-321"/>
          <p:cNvSpPr/>
          <p:nvPr/>
        </p:nvSpPr>
        <p:spPr>
          <a:xfrm>
            <a:off x="640080" y="2514600"/>
            <a:ext cx="1920240" cy="1920240"/>
          </a:xfrm>
          <a:prstGeom prst="ellipse">
            <a:avLst/>
          </a:prstGeom>
          <a:solidFill>
            <a:schemeClr val="accent3"/>
          </a:solidFill>
          <a:ln w="25400">
            <a:solidFill>
              <a:schemeClr val="bg1"/>
            </a:solidFill>
            <a:prstDash val="solid"/>
          </a:ln>
        </p:spPr>
      </p:sp>
      <p:sp>
        <p:nvSpPr>
          <p:cNvPr id="7" name="text-322"/>
          <p:cNvSpPr txBox="1"/>
          <p:nvPr/>
        </p:nvSpPr>
        <p:spPr>
          <a:xfrm>
            <a:off x="777240" y="3090672"/>
            <a:ext cx="1645920" cy="457200"/>
          </a:xfrm>
          <a:prstGeom prst="rect">
            <a:avLst/>
          </a:prstGeom>
          <a:noFill/>
          <a:ln/>
        </p:spPr>
        <p:txBody>
          <a:bodyPr wrap="square" lIns="0" tIns="0" rIns="0" bIns="0" rtlCol="0" anchor="b"/>
          <a:lstStyle/>
          <a:p>
            <a:pPr algn="ctr" indent="0" marL="0">
              <a:buNone/>
            </a:pPr>
            <a:r>
              <a:rPr lang="en-US" sz="1500" b="1" dirty="0">
                <a:solidFill>
                  <a:schemeClr val="bg1"/>
                </a:solidFill>
                <a:latin typeface="+mj-lt" pitchFamily="34" charset="0"/>
                <a:ea typeface="+mj-lt" pitchFamily="34" charset="-122"/>
                <a:cs typeface="+mj-lt" pitchFamily="34" charset="-120"/>
              </a:rPr>
              <a:t>Fusion Power Station</a:t>
            </a:r>
            <a:endParaRPr lang="en-US" sz="1500" dirty="0"/>
          </a:p>
        </p:txBody>
      </p:sp>
      <p:sp>
        <p:nvSpPr>
          <p:cNvPr id="8" name="text-323"/>
          <p:cNvSpPr txBox="1"/>
          <p:nvPr/>
        </p:nvSpPr>
        <p:spPr>
          <a:xfrm>
            <a:off x="777240" y="3566160"/>
            <a:ext cx="1645920" cy="411480"/>
          </a:xfrm>
          <a:prstGeom prst="rect">
            <a:avLst/>
          </a:prstGeom>
          <a:noFill/>
          <a:ln/>
        </p:spPr>
        <p:txBody>
          <a:bodyPr wrap="square" lIns="0" tIns="0" rIns="0" bIns="0" rtlCol="0" anchor="t"/>
          <a:lstStyle/>
          <a:p>
            <a:pPr algn="ctr" indent="0" marL="0">
              <a:buNone/>
            </a:pPr>
            <a:r>
              <a:rPr lang="en-US" sz="900" dirty="0">
                <a:solidFill>
                  <a:schemeClr val="bg1"/>
                </a:solidFill>
              </a:rPr>
              <a:t>heat · power · waste converter</a:t>
            </a:r>
            <a:endParaRPr lang="en-US" sz="900" dirty="0"/>
          </a:p>
        </p:txBody>
      </p:sp>
      <p:sp>
        <p:nvSpPr>
          <p:cNvPr id="9" name="loop-node-324"/>
          <p:cNvSpPr/>
          <p:nvPr/>
        </p:nvSpPr>
        <p:spPr>
          <a:xfrm>
            <a:off x="5001768" y="2514600"/>
            <a:ext cx="1920240" cy="1920240"/>
          </a:xfrm>
          <a:prstGeom prst="ellipse">
            <a:avLst/>
          </a:prstGeom>
          <a:solidFill>
            <a:schemeClr val="accent4"/>
          </a:solidFill>
          <a:ln w="25400">
            <a:solidFill>
              <a:schemeClr val="bg1"/>
            </a:solidFill>
            <a:prstDash val="solid"/>
          </a:ln>
        </p:spPr>
      </p:sp>
      <p:sp>
        <p:nvSpPr>
          <p:cNvPr id="10" name="text-325"/>
          <p:cNvSpPr txBox="1"/>
          <p:nvPr/>
        </p:nvSpPr>
        <p:spPr>
          <a:xfrm>
            <a:off x="5138928" y="3090672"/>
            <a:ext cx="1645920" cy="457200"/>
          </a:xfrm>
          <a:prstGeom prst="rect">
            <a:avLst/>
          </a:prstGeom>
          <a:noFill/>
          <a:ln/>
        </p:spPr>
        <p:txBody>
          <a:bodyPr wrap="square" lIns="0" tIns="0" rIns="0" bIns="0" rtlCol="0" anchor="b"/>
          <a:lstStyle/>
          <a:p>
            <a:pPr algn="ctr" indent="0" marL="0">
              <a:buNone/>
            </a:pPr>
            <a:r>
              <a:rPr lang="en-US" sz="1500" b="1" dirty="0">
                <a:solidFill>
                  <a:schemeClr val="bg1"/>
                </a:solidFill>
                <a:latin typeface="+mj-lt" pitchFamily="34" charset="0"/>
                <a:ea typeface="+mj-lt" pitchFamily="34" charset="-122"/>
                <a:cs typeface="+mj-lt" pitchFamily="34" charset="-120"/>
              </a:rPr>
              <a:t>Snow-to-Food Plant</a:t>
            </a:r>
            <a:endParaRPr lang="en-US" sz="1500" dirty="0"/>
          </a:p>
        </p:txBody>
      </p:sp>
      <p:sp>
        <p:nvSpPr>
          <p:cNvPr id="11" name="text-326"/>
          <p:cNvSpPr txBox="1"/>
          <p:nvPr/>
        </p:nvSpPr>
        <p:spPr>
          <a:xfrm>
            <a:off x="5138928" y="3566160"/>
            <a:ext cx="1645920" cy="411480"/>
          </a:xfrm>
          <a:prstGeom prst="rect">
            <a:avLst/>
          </a:prstGeom>
          <a:noFill/>
          <a:ln/>
        </p:spPr>
        <p:txBody>
          <a:bodyPr wrap="square" lIns="0" tIns="0" rIns="0" bIns="0" rtlCol="0" anchor="t"/>
          <a:lstStyle/>
          <a:p>
            <a:pPr algn="ctr" indent="0" marL="0">
              <a:buNone/>
            </a:pPr>
            <a:r>
              <a:rPr lang="en-US" sz="900" dirty="0">
                <a:solidFill>
                  <a:schemeClr val="bg1"/>
                </a:solidFill>
              </a:rPr>
              <a:t>water · food · oxygen</a:t>
            </a:r>
            <a:endParaRPr lang="en-US" sz="900" dirty="0"/>
          </a:p>
        </p:txBody>
      </p:sp>
      <p:sp>
        <p:nvSpPr>
          <p:cNvPr id="12" name="loop-node-327"/>
          <p:cNvSpPr/>
          <p:nvPr/>
        </p:nvSpPr>
        <p:spPr>
          <a:xfrm>
            <a:off x="5161788" y="5623560"/>
            <a:ext cx="1600200" cy="1600200"/>
          </a:xfrm>
          <a:prstGeom prst="ellipse">
            <a:avLst/>
          </a:prstGeom>
          <a:solidFill>
            <a:schemeClr val="accent5"/>
          </a:solidFill>
          <a:ln w="25400">
            <a:solidFill>
              <a:schemeClr val="bg1"/>
            </a:solidFill>
            <a:prstDash val="solid"/>
          </a:ln>
        </p:spPr>
      </p:sp>
      <p:sp>
        <p:nvSpPr>
          <p:cNvPr id="13" name="text-328"/>
          <p:cNvSpPr txBox="1"/>
          <p:nvPr/>
        </p:nvSpPr>
        <p:spPr>
          <a:xfrm>
            <a:off x="5298948" y="6039612"/>
            <a:ext cx="1325880" cy="457200"/>
          </a:xfrm>
          <a:prstGeom prst="rect">
            <a:avLst/>
          </a:prstGeom>
          <a:noFill/>
          <a:ln/>
        </p:spPr>
        <p:txBody>
          <a:bodyPr wrap="square" lIns="0" tIns="0" rIns="0" bIns="0" rtlCol="0" anchor="b"/>
          <a:lstStyle/>
          <a:p>
            <a:pPr algn="ctr" indent="0" marL="0">
              <a:buNone/>
            </a:pPr>
            <a:r>
              <a:rPr lang="en-US" sz="1500" b="1" dirty="0">
                <a:solidFill>
                  <a:schemeClr val="bg1"/>
                </a:solidFill>
                <a:latin typeface="+mj-lt" pitchFamily="34" charset="0"/>
                <a:ea typeface="+mj-lt" pitchFamily="34" charset="-122"/>
                <a:cs typeface="+mj-lt" pitchFamily="34" charset="-120"/>
              </a:rPr>
              <a:t>Mount Aurora Spa</a:t>
            </a:r>
            <a:endParaRPr lang="en-US" sz="1500" dirty="0"/>
          </a:p>
        </p:txBody>
      </p:sp>
      <p:sp>
        <p:nvSpPr>
          <p:cNvPr id="14" name="text-329"/>
          <p:cNvSpPr txBox="1"/>
          <p:nvPr/>
        </p:nvSpPr>
        <p:spPr>
          <a:xfrm>
            <a:off x="5298948" y="6515100"/>
            <a:ext cx="1325880" cy="411480"/>
          </a:xfrm>
          <a:prstGeom prst="rect">
            <a:avLst/>
          </a:prstGeom>
          <a:noFill/>
          <a:ln/>
        </p:spPr>
        <p:txBody>
          <a:bodyPr wrap="square" lIns="0" tIns="0" rIns="0" bIns="0" rtlCol="0" anchor="t"/>
          <a:lstStyle/>
          <a:p>
            <a:pPr algn="ctr" indent="0" marL="0">
              <a:buNone/>
            </a:pPr>
            <a:r>
              <a:rPr lang="en-US" sz="900" dirty="0">
                <a:solidFill>
                  <a:schemeClr val="bg1"/>
                </a:solidFill>
              </a:rPr>
              <a:t>geothermal wellbeing</a:t>
            </a:r>
            <a:endParaRPr lang="en-US" sz="900" dirty="0"/>
          </a:p>
        </p:txBody>
      </p:sp>
      <p:sp>
        <p:nvSpPr>
          <p:cNvPr id="15" name="loop-node-city"/>
          <p:cNvSpPr/>
          <p:nvPr/>
        </p:nvSpPr>
        <p:spPr>
          <a:xfrm>
            <a:off x="640080" y="5760720"/>
            <a:ext cx="1920240" cy="1325880"/>
          </a:xfrm>
          <a:prstGeom prst="roundRect">
            <a:avLst>
              <a:gd name="adj" fmla="val 6897"/>
            </a:avLst>
          </a:prstGeom>
          <a:solidFill>
            <a:schemeClr val="tx1"/>
          </a:solidFill>
          <a:ln w="25400">
            <a:solidFill>
              <a:schemeClr val="bg1"/>
            </a:solidFill>
            <a:prstDash val="solid"/>
          </a:ln>
        </p:spPr>
      </p:sp>
      <p:sp>
        <p:nvSpPr>
          <p:cNvPr id="16" name="text-330"/>
          <p:cNvSpPr txBox="1"/>
          <p:nvPr/>
        </p:nvSpPr>
        <p:spPr>
          <a:xfrm>
            <a:off x="731520" y="5961888"/>
            <a:ext cx="1737360" cy="365760"/>
          </a:xfrm>
          <a:prstGeom prst="rect">
            <a:avLst/>
          </a:prstGeom>
          <a:noFill/>
          <a:ln/>
        </p:spPr>
        <p:txBody>
          <a:bodyPr wrap="square" lIns="0" tIns="0" rIns="0" bIns="0" rtlCol="0" anchor="t"/>
          <a:lstStyle/>
          <a:p>
            <a:pPr algn="ctr" indent="0" marL="0">
              <a:buNone/>
            </a:pPr>
            <a:r>
              <a:rPr lang="en-US" sz="1500" b="1" dirty="0">
                <a:solidFill>
                  <a:schemeClr val="bg1"/>
                </a:solidFill>
                <a:latin typeface="+mj-lt" pitchFamily="34" charset="0"/>
                <a:ea typeface="+mj-lt" pitchFamily="34" charset="-122"/>
                <a:cs typeface="+mj-lt" pitchFamily="34" charset="-120"/>
              </a:rPr>
              <a:t>The City</a:t>
            </a:r>
            <a:endParaRPr lang="en-US" sz="1500" dirty="0"/>
          </a:p>
        </p:txBody>
      </p:sp>
      <p:sp>
        <p:nvSpPr>
          <p:cNvPr id="17" name="text-331"/>
          <p:cNvSpPr txBox="1"/>
          <p:nvPr/>
        </p:nvSpPr>
        <p:spPr>
          <a:xfrm>
            <a:off x="777240" y="6382512"/>
            <a:ext cx="1645920" cy="548640"/>
          </a:xfrm>
          <a:prstGeom prst="rect">
            <a:avLst/>
          </a:prstGeom>
          <a:noFill/>
          <a:ln/>
        </p:spPr>
        <p:txBody>
          <a:bodyPr wrap="square" lIns="0" tIns="0" rIns="0" bIns="0" rtlCol="0" anchor="t"/>
          <a:lstStyle/>
          <a:p>
            <a:pPr algn="ctr" indent="0" marL="0">
              <a:buNone/>
            </a:pPr>
            <a:r>
              <a:rPr lang="en-US" sz="900" dirty="0">
                <a:solidFill>
                  <a:schemeClr val="bg2"/>
                </a:solidFill>
              </a:rPr>
              <a:t>45,000 people, every building and the hospital</a:t>
            </a:r>
            <a:endParaRPr lang="en-US" sz="900" dirty="0"/>
          </a:p>
        </p:txBody>
      </p:sp>
      <p:sp>
        <p:nvSpPr>
          <p:cNvPr id="18" name="arrow-332"/>
          <p:cNvSpPr/>
          <p:nvPr/>
        </p:nvSpPr>
        <p:spPr>
          <a:xfrm>
            <a:off x="2633472" y="3063240"/>
            <a:ext cx="2295144" cy="914"/>
          </a:xfrm>
          <a:prstGeom prst="line">
            <a:avLst/>
          </a:prstGeom>
          <a:noFill/>
          <a:ln w="28575">
            <a:solidFill>
              <a:schemeClr val="accent2"/>
            </a:solidFill>
            <a:prstDash val="solid"/>
            <a:tailEnd type="triangle"/>
          </a:ln>
        </p:spPr>
      </p:sp>
      <p:sp>
        <p:nvSpPr>
          <p:cNvPr id="19" name="text-333"/>
          <p:cNvSpPr txBox="1"/>
          <p:nvPr/>
        </p:nvSpPr>
        <p:spPr>
          <a:xfrm>
            <a:off x="2633472" y="2834640"/>
            <a:ext cx="2295144" cy="182880"/>
          </a:xfrm>
          <a:prstGeom prst="rect">
            <a:avLst/>
          </a:prstGeom>
          <a:noFill/>
          <a:ln/>
        </p:spPr>
        <p:txBody>
          <a:bodyPr wrap="square" lIns="0" tIns="0" rIns="0" bIns="0" rtlCol="0" anchor="t"/>
          <a:lstStyle/>
          <a:p>
            <a:pPr algn="ctr" indent="0" marL="0">
              <a:buNone/>
            </a:pPr>
            <a:r>
              <a:rPr lang="en-US" sz="850" b="1" dirty="0">
                <a:solidFill>
                  <a:schemeClr val="accent2"/>
                </a:solidFill>
              </a:rPr>
              <a:t>Spare heat melts the snow</a:t>
            </a:r>
            <a:endParaRPr lang="en-US" sz="850" dirty="0"/>
          </a:p>
        </p:txBody>
      </p:sp>
      <p:sp>
        <p:nvSpPr>
          <p:cNvPr id="20" name="arrow-334"/>
          <p:cNvSpPr/>
          <p:nvPr/>
        </p:nvSpPr>
        <p:spPr>
          <a:xfrm>
            <a:off x="2633472" y="3410712"/>
            <a:ext cx="2295144" cy="914"/>
          </a:xfrm>
          <a:prstGeom prst="line">
            <a:avLst/>
          </a:prstGeom>
          <a:noFill/>
          <a:ln w="28575">
            <a:solidFill>
              <a:schemeClr val="bg2"/>
            </a:solidFill>
            <a:prstDash val="solid"/>
            <a:tailEnd type="triangle"/>
          </a:ln>
        </p:spPr>
      </p:sp>
      <p:sp>
        <p:nvSpPr>
          <p:cNvPr id="21" name="text-335"/>
          <p:cNvSpPr txBox="1"/>
          <p:nvPr/>
        </p:nvSpPr>
        <p:spPr>
          <a:xfrm>
            <a:off x="2633472" y="3182112"/>
            <a:ext cx="2295144" cy="182880"/>
          </a:xfrm>
          <a:prstGeom prst="rect">
            <a:avLst/>
          </a:prstGeom>
          <a:noFill/>
          <a:ln/>
        </p:spPr>
        <p:txBody>
          <a:bodyPr wrap="square" lIns="0" tIns="0" rIns="0" bIns="0" rtlCol="0" anchor="t"/>
          <a:lstStyle/>
          <a:p>
            <a:pPr algn="ctr" indent="0" marL="0">
              <a:buNone/>
            </a:pPr>
            <a:r>
              <a:rPr lang="en-US" sz="850" b="1" dirty="0">
                <a:solidFill>
                  <a:schemeClr val="bg2"/>
                </a:solidFill>
              </a:rPr>
              <a:t>Hydrogen &amp; CO₂ made from rubbish</a:t>
            </a:r>
            <a:endParaRPr lang="en-US" sz="850" dirty="0"/>
          </a:p>
        </p:txBody>
      </p:sp>
      <p:sp>
        <p:nvSpPr>
          <p:cNvPr id="22" name="arrow-336"/>
          <p:cNvSpPr/>
          <p:nvPr/>
        </p:nvSpPr>
        <p:spPr>
          <a:xfrm flipH="1">
            <a:off x="2633472" y="3758184"/>
            <a:ext cx="2295144" cy="914"/>
          </a:xfrm>
          <a:prstGeom prst="line">
            <a:avLst/>
          </a:prstGeom>
          <a:noFill/>
          <a:ln w="28575">
            <a:solidFill>
              <a:schemeClr val="accent6"/>
            </a:solidFill>
            <a:prstDash val="solid"/>
            <a:tailEnd type="triangle"/>
          </a:ln>
        </p:spPr>
      </p:sp>
      <p:sp>
        <p:nvSpPr>
          <p:cNvPr id="23" name="text-337"/>
          <p:cNvSpPr txBox="1"/>
          <p:nvPr/>
        </p:nvSpPr>
        <p:spPr>
          <a:xfrm>
            <a:off x="2633472" y="3529584"/>
            <a:ext cx="2295144" cy="182880"/>
          </a:xfrm>
          <a:prstGeom prst="rect">
            <a:avLst/>
          </a:prstGeom>
          <a:noFill/>
          <a:ln/>
        </p:spPr>
        <p:txBody>
          <a:bodyPr wrap="square" lIns="0" tIns="0" rIns="0" bIns="0" rtlCol="0" anchor="t"/>
          <a:lstStyle/>
          <a:p>
            <a:pPr algn="ctr" indent="0" marL="0">
              <a:buNone/>
            </a:pPr>
            <a:r>
              <a:rPr lang="en-US" sz="850" b="1" dirty="0">
                <a:solidFill>
                  <a:schemeClr val="accent6"/>
                </a:solidFill>
              </a:rPr>
              <a:t>Deuterium-rich water returns as fuel</a:t>
            </a:r>
            <a:endParaRPr lang="en-US" sz="850" dirty="0"/>
          </a:p>
        </p:txBody>
      </p:sp>
      <p:sp>
        <p:nvSpPr>
          <p:cNvPr id="24" name="arrow-338"/>
          <p:cNvSpPr/>
          <p:nvPr/>
        </p:nvSpPr>
        <p:spPr>
          <a:xfrm flipH="1">
            <a:off x="2633472" y="4105656"/>
            <a:ext cx="2295144" cy="914"/>
          </a:xfrm>
          <a:prstGeom prst="line">
            <a:avLst/>
          </a:prstGeom>
          <a:noFill/>
          <a:ln w="28575">
            <a:solidFill>
              <a:schemeClr val="accent1"/>
            </a:solidFill>
            <a:prstDash val="solid"/>
            <a:tailEnd type="triangle"/>
          </a:ln>
        </p:spPr>
      </p:sp>
      <p:sp>
        <p:nvSpPr>
          <p:cNvPr id="25" name="text-339"/>
          <p:cNvSpPr txBox="1"/>
          <p:nvPr/>
        </p:nvSpPr>
        <p:spPr>
          <a:xfrm>
            <a:off x="2633472" y="3877056"/>
            <a:ext cx="2295144" cy="182880"/>
          </a:xfrm>
          <a:prstGeom prst="rect">
            <a:avLst/>
          </a:prstGeom>
          <a:noFill/>
          <a:ln/>
        </p:spPr>
        <p:txBody>
          <a:bodyPr wrap="square" lIns="0" tIns="0" rIns="0" bIns="0" rtlCol="0" anchor="t"/>
          <a:lstStyle/>
          <a:p>
            <a:pPr algn="ctr" indent="0" marL="0">
              <a:buNone/>
            </a:pPr>
            <a:r>
              <a:rPr lang="en-US" sz="850" b="1" dirty="0">
                <a:solidFill>
                  <a:schemeClr val="accent1"/>
                </a:solidFill>
              </a:rPr>
              <a:t>Oxygen for the waste converter</a:t>
            </a:r>
            <a:endParaRPr lang="en-US" sz="850" dirty="0"/>
          </a:p>
        </p:txBody>
      </p:sp>
      <p:sp>
        <p:nvSpPr>
          <p:cNvPr id="26" name="arrow-340"/>
          <p:cNvSpPr/>
          <p:nvPr/>
        </p:nvSpPr>
        <p:spPr>
          <a:xfrm>
            <a:off x="1325880" y="4507992"/>
            <a:ext cx="914" cy="1179576"/>
          </a:xfrm>
          <a:prstGeom prst="line">
            <a:avLst/>
          </a:prstGeom>
          <a:noFill/>
          <a:ln w="28575">
            <a:solidFill>
              <a:schemeClr val="accent2"/>
            </a:solidFill>
            <a:prstDash val="solid"/>
            <a:tailEnd type="triangle"/>
          </a:ln>
        </p:spPr>
      </p:sp>
      <p:sp>
        <p:nvSpPr>
          <p:cNvPr id="27" name="arrow-341"/>
          <p:cNvSpPr/>
          <p:nvPr/>
        </p:nvSpPr>
        <p:spPr>
          <a:xfrm flipV="1">
            <a:off x="1874520" y="4507992"/>
            <a:ext cx="914" cy="1179576"/>
          </a:xfrm>
          <a:prstGeom prst="line">
            <a:avLst/>
          </a:prstGeom>
          <a:noFill/>
          <a:ln w="28575">
            <a:solidFill>
              <a:schemeClr val="bg2"/>
            </a:solidFill>
            <a:prstDash val="solid"/>
            <a:tailEnd type="triangle"/>
          </a:ln>
        </p:spPr>
      </p:sp>
      <p:sp>
        <p:nvSpPr>
          <p:cNvPr id="28" name="text-342"/>
          <p:cNvSpPr txBox="1"/>
          <p:nvPr/>
        </p:nvSpPr>
        <p:spPr>
          <a:xfrm>
            <a:off x="2011680" y="4709160"/>
            <a:ext cx="1234440" cy="868680"/>
          </a:xfrm>
          <a:prstGeom prst="rect">
            <a:avLst/>
          </a:prstGeom>
          <a:noFill/>
          <a:ln/>
        </p:spPr>
        <p:txBody>
          <a:bodyPr wrap="square" lIns="0" tIns="0" rIns="0" bIns="0" rtlCol="0" anchor="t"/>
          <a:lstStyle/>
          <a:p>
            <a:pPr indent="0" marL="0">
              <a:spcAft>
                <a:spcPts val="600"/>
              </a:spcAft>
              <a:buNone/>
            </a:pPr>
            <a:r>
              <a:rPr lang="en-US" sz="850" b="1" dirty="0">
                <a:solidFill>
                  <a:schemeClr val="accent2"/>
                </a:solidFill>
              </a:rPr>
              <a:t>↓ Heat, power and MRI helium</a:t>
            </a:r>
            <a:endParaRPr lang="en-US" sz="850" dirty="0"/>
          </a:p>
          <a:p>
            <a:pPr indent="0" marL="0">
              <a:buNone/>
            </a:pPr>
            <a:r>
              <a:rPr lang="en-US" sz="850" b="1" dirty="0">
                <a:solidFill>
                  <a:schemeClr val="bg2"/>
                </a:solidFill>
              </a:rPr>
              <a:t>↑ Rubbish for the waste converter</a:t>
            </a:r>
            <a:endParaRPr lang="en-US" sz="850" dirty="0"/>
          </a:p>
        </p:txBody>
      </p:sp>
      <p:sp>
        <p:nvSpPr>
          <p:cNvPr id="29" name="arrow-343"/>
          <p:cNvSpPr/>
          <p:nvPr/>
        </p:nvSpPr>
        <p:spPr>
          <a:xfrm flipH="1">
            <a:off x="2633472" y="4114800"/>
            <a:ext cx="2596896" cy="2057400"/>
          </a:xfrm>
          <a:prstGeom prst="line">
            <a:avLst/>
          </a:prstGeom>
          <a:noFill/>
          <a:ln w="28575">
            <a:solidFill>
              <a:schemeClr val="accent4"/>
            </a:solidFill>
            <a:prstDash val="solid"/>
            <a:tailEnd type="triangle"/>
          </a:ln>
        </p:spPr>
      </p:sp>
      <p:sp>
        <p:nvSpPr>
          <p:cNvPr id="30" name="text-344"/>
          <p:cNvSpPr txBox="1"/>
          <p:nvPr/>
        </p:nvSpPr>
        <p:spPr>
          <a:xfrm>
            <a:off x="3977640" y="5303520"/>
            <a:ext cx="1280160" cy="411480"/>
          </a:xfrm>
          <a:prstGeom prst="rect">
            <a:avLst/>
          </a:prstGeom>
          <a:noFill/>
          <a:ln/>
        </p:spPr>
        <p:txBody>
          <a:bodyPr wrap="square" lIns="0" tIns="0" rIns="0" bIns="0" rtlCol="0" anchor="t"/>
          <a:lstStyle/>
          <a:p>
            <a:pPr indent="0" marL="0">
              <a:buNone/>
            </a:pPr>
            <a:r>
              <a:rPr lang="en-US" sz="850" b="1" dirty="0">
                <a:solidFill>
                  <a:schemeClr val="bg2"/>
                </a:solidFill>
              </a:rPr>
              <a:t>Drinking water, food and medical oxygen</a:t>
            </a:r>
            <a:endParaRPr lang="en-US" sz="850" dirty="0"/>
          </a:p>
        </p:txBody>
      </p:sp>
      <p:sp>
        <p:nvSpPr>
          <p:cNvPr id="31" name="arrow-345"/>
          <p:cNvSpPr/>
          <p:nvPr/>
        </p:nvSpPr>
        <p:spPr>
          <a:xfrm>
            <a:off x="6464808" y="4489704"/>
            <a:ext cx="914" cy="1078992"/>
          </a:xfrm>
          <a:prstGeom prst="line">
            <a:avLst/>
          </a:prstGeom>
          <a:noFill/>
          <a:ln w="28575">
            <a:solidFill>
              <a:schemeClr val="accent4"/>
            </a:solidFill>
            <a:prstDash val="solid"/>
            <a:tailEnd type="triangle"/>
          </a:ln>
        </p:spPr>
      </p:sp>
      <p:sp>
        <p:nvSpPr>
          <p:cNvPr id="32" name="text-346"/>
          <p:cNvSpPr txBox="1"/>
          <p:nvPr/>
        </p:nvSpPr>
        <p:spPr>
          <a:xfrm>
            <a:off x="6583680" y="4754880"/>
            <a:ext cx="429768" cy="411480"/>
          </a:xfrm>
          <a:prstGeom prst="rect">
            <a:avLst/>
          </a:prstGeom>
          <a:noFill/>
          <a:ln/>
        </p:spPr>
        <p:txBody>
          <a:bodyPr wrap="square" lIns="0" tIns="0" rIns="0" bIns="0" rtlCol="0" anchor="t"/>
          <a:lstStyle/>
          <a:p>
            <a:pPr indent="0" marL="0">
              <a:buNone/>
            </a:pPr>
            <a:r>
              <a:rPr lang="en-US" sz="850" b="1" dirty="0">
                <a:solidFill>
                  <a:schemeClr val="bg2"/>
                </a:solidFill>
              </a:rPr>
              <a:t>Food for the spa cafés</a:t>
            </a:r>
            <a:endParaRPr lang="en-US" sz="850" dirty="0"/>
          </a:p>
        </p:txBody>
      </p:sp>
      <p:sp>
        <p:nvSpPr>
          <p:cNvPr id="33" name="arrow-347"/>
          <p:cNvSpPr/>
          <p:nvPr/>
        </p:nvSpPr>
        <p:spPr>
          <a:xfrm flipV="1">
            <a:off x="4293108" y="6606540"/>
            <a:ext cx="813816" cy="434340"/>
          </a:xfrm>
          <a:prstGeom prst="line">
            <a:avLst/>
          </a:prstGeom>
          <a:noFill/>
          <a:ln w="28575">
            <a:solidFill>
              <a:schemeClr val="accent2"/>
            </a:solidFill>
            <a:prstDash val="solid"/>
            <a:tailEnd type="triangle"/>
          </a:ln>
        </p:spPr>
      </p:sp>
      <p:sp>
        <p:nvSpPr>
          <p:cNvPr id="34" name="text-348"/>
          <p:cNvSpPr txBox="1"/>
          <p:nvPr/>
        </p:nvSpPr>
        <p:spPr>
          <a:xfrm>
            <a:off x="3561588" y="7114032"/>
            <a:ext cx="1188720" cy="365760"/>
          </a:xfrm>
          <a:prstGeom prst="rect">
            <a:avLst/>
          </a:prstGeom>
          <a:noFill/>
          <a:ln/>
        </p:spPr>
        <p:txBody>
          <a:bodyPr wrap="square" lIns="0" tIns="0" rIns="0" bIns="0" rtlCol="0" anchor="t"/>
          <a:lstStyle/>
          <a:p>
            <a:pPr algn="r" indent="0" marL="0">
              <a:buNone/>
            </a:pPr>
            <a:r>
              <a:rPr lang="en-US" sz="850" b="1" dirty="0">
                <a:solidFill>
                  <a:schemeClr val="accent2"/>
                </a:solidFill>
              </a:rPr>
              <a:t>Geothermal springs</a:t>
            </a:r>
            <a:endParaRPr lang="en-US" sz="850" dirty="0"/>
          </a:p>
        </p:txBody>
      </p:sp>
      <p:sp>
        <p:nvSpPr>
          <p:cNvPr id="35" name="flow-dot-349"/>
          <p:cNvSpPr/>
          <p:nvPr/>
        </p:nvSpPr>
        <p:spPr>
          <a:xfrm>
            <a:off x="548640" y="7863840"/>
            <a:ext cx="128016" cy="128016"/>
          </a:xfrm>
          <a:prstGeom prst="ellipse">
            <a:avLst/>
          </a:prstGeom>
          <a:solidFill>
            <a:schemeClr val="accent2"/>
          </a:solidFill>
          <a:ln w="12700">
            <a:solidFill>
              <a:schemeClr val="accent2"/>
            </a:solidFill>
            <a:prstDash val="solid"/>
          </a:ln>
        </p:spPr>
      </p:sp>
      <p:sp>
        <p:nvSpPr>
          <p:cNvPr id="36" name="text-350"/>
          <p:cNvSpPr txBox="1"/>
          <p:nvPr/>
        </p:nvSpPr>
        <p:spPr>
          <a:xfrm>
            <a:off x="777240" y="7818120"/>
            <a:ext cx="2866644" cy="201168"/>
          </a:xfrm>
          <a:prstGeom prst="rect">
            <a:avLst/>
          </a:prstGeom>
          <a:noFill/>
          <a:ln/>
        </p:spPr>
        <p:txBody>
          <a:bodyPr wrap="square" lIns="0" tIns="0" rIns="0" bIns="0" rtlCol="0" anchor="t"/>
          <a:lstStyle/>
          <a:p>
            <a:pPr indent="0" marL="0">
              <a:buNone/>
            </a:pPr>
            <a:r>
              <a:rPr lang="en-US" sz="1000" b="1" dirty="0">
                <a:solidFill>
                  <a:schemeClr val="bg1"/>
                </a:solidFill>
              </a:rPr>
              <a:t>Heat</a:t>
            </a:r>
            <a:endParaRPr lang="en-US" sz="1000" dirty="0"/>
          </a:p>
        </p:txBody>
      </p:sp>
      <p:sp>
        <p:nvSpPr>
          <p:cNvPr id="37" name="text-351"/>
          <p:cNvSpPr txBox="1"/>
          <p:nvPr/>
        </p:nvSpPr>
        <p:spPr>
          <a:xfrm>
            <a:off x="777240" y="8037576"/>
            <a:ext cx="2866644" cy="548640"/>
          </a:xfrm>
          <a:prstGeom prst="rect">
            <a:avLst/>
          </a:prstGeom>
          <a:noFill/>
          <a:ln/>
        </p:spPr>
        <p:txBody>
          <a:bodyPr wrap="square" lIns="0" tIns="0" rIns="0" bIns="0" rtlCol="0" anchor="t"/>
          <a:lstStyle/>
          <a:p>
            <a:pPr indent="0" marL="0">
              <a:lnSpc>
                <a:spcPct val="105000"/>
              </a:lnSpc>
              <a:buNone/>
            </a:pPr>
            <a:r>
              <a:rPr lang="en-US" sz="900" dirty="0">
                <a:solidFill>
                  <a:schemeClr val="bg2"/>
                </a:solidFill>
              </a:rPr>
              <a:t>Spare heat from the fusion station melts the snow at the food plant, so the snow does the job of a cooling tower.</a:t>
            </a:r>
            <a:endParaRPr lang="en-US" sz="900" dirty="0"/>
          </a:p>
        </p:txBody>
      </p:sp>
      <p:sp>
        <p:nvSpPr>
          <p:cNvPr id="38" name="flow-dot-352"/>
          <p:cNvSpPr/>
          <p:nvPr/>
        </p:nvSpPr>
        <p:spPr>
          <a:xfrm>
            <a:off x="3918204" y="7863840"/>
            <a:ext cx="128016" cy="128016"/>
          </a:xfrm>
          <a:prstGeom prst="ellipse">
            <a:avLst/>
          </a:prstGeom>
          <a:solidFill>
            <a:schemeClr val="accent6"/>
          </a:solidFill>
          <a:ln w="12700">
            <a:solidFill>
              <a:schemeClr val="accent6"/>
            </a:solidFill>
            <a:prstDash val="solid"/>
          </a:ln>
        </p:spPr>
      </p:sp>
      <p:sp>
        <p:nvSpPr>
          <p:cNvPr id="39" name="text-353"/>
          <p:cNvSpPr txBox="1"/>
          <p:nvPr/>
        </p:nvSpPr>
        <p:spPr>
          <a:xfrm>
            <a:off x="4146804" y="7818120"/>
            <a:ext cx="2866644" cy="201168"/>
          </a:xfrm>
          <a:prstGeom prst="rect">
            <a:avLst/>
          </a:prstGeom>
          <a:noFill/>
          <a:ln/>
        </p:spPr>
        <p:txBody>
          <a:bodyPr wrap="square" lIns="0" tIns="0" rIns="0" bIns="0" rtlCol="0" anchor="t"/>
          <a:lstStyle/>
          <a:p>
            <a:pPr indent="0" marL="0">
              <a:buNone/>
            </a:pPr>
            <a:r>
              <a:rPr lang="en-US" sz="1000" b="1" dirty="0">
                <a:solidFill>
                  <a:schemeClr val="bg1"/>
                </a:solidFill>
              </a:rPr>
              <a:t>Water</a:t>
            </a:r>
            <a:endParaRPr lang="en-US" sz="1000" dirty="0"/>
          </a:p>
        </p:txBody>
      </p:sp>
      <p:sp>
        <p:nvSpPr>
          <p:cNvPr id="40" name="text-354"/>
          <p:cNvSpPr txBox="1"/>
          <p:nvPr/>
        </p:nvSpPr>
        <p:spPr>
          <a:xfrm>
            <a:off x="4146804" y="8037576"/>
            <a:ext cx="2866644" cy="548640"/>
          </a:xfrm>
          <a:prstGeom prst="rect">
            <a:avLst/>
          </a:prstGeom>
          <a:noFill/>
          <a:ln/>
        </p:spPr>
        <p:txBody>
          <a:bodyPr wrap="square" lIns="0" tIns="0" rIns="0" bIns="0" rtlCol="0" anchor="t"/>
          <a:lstStyle/>
          <a:p>
            <a:pPr indent="0" marL="0">
              <a:lnSpc>
                <a:spcPct val="105000"/>
              </a:lnSpc>
              <a:buNone/>
            </a:pPr>
            <a:r>
              <a:rPr lang="en-US" sz="900" dirty="0">
                <a:solidFill>
                  <a:schemeClr val="bg2"/>
                </a:solidFill>
              </a:rPr>
              <a:t>The food plant’s electrolysers leave slightly deuterium-rich water, which goes back to the fusion station as fuel.</a:t>
            </a:r>
            <a:endParaRPr lang="en-US" sz="900" dirty="0"/>
          </a:p>
        </p:txBody>
      </p:sp>
      <p:sp>
        <p:nvSpPr>
          <p:cNvPr id="41" name="flow-dot-355"/>
          <p:cNvSpPr/>
          <p:nvPr/>
        </p:nvSpPr>
        <p:spPr>
          <a:xfrm>
            <a:off x="548640" y="8595360"/>
            <a:ext cx="128016" cy="128016"/>
          </a:xfrm>
          <a:prstGeom prst="ellipse">
            <a:avLst/>
          </a:prstGeom>
          <a:solidFill>
            <a:schemeClr val="accent1"/>
          </a:solidFill>
          <a:ln w="12700">
            <a:solidFill>
              <a:schemeClr val="accent1"/>
            </a:solidFill>
            <a:prstDash val="solid"/>
          </a:ln>
        </p:spPr>
      </p:sp>
      <p:sp>
        <p:nvSpPr>
          <p:cNvPr id="42" name="text-356"/>
          <p:cNvSpPr txBox="1"/>
          <p:nvPr/>
        </p:nvSpPr>
        <p:spPr>
          <a:xfrm>
            <a:off x="777240" y="8549640"/>
            <a:ext cx="2866644" cy="201168"/>
          </a:xfrm>
          <a:prstGeom prst="rect">
            <a:avLst/>
          </a:prstGeom>
          <a:noFill/>
          <a:ln/>
        </p:spPr>
        <p:txBody>
          <a:bodyPr wrap="square" lIns="0" tIns="0" rIns="0" bIns="0" rtlCol="0" anchor="t"/>
          <a:lstStyle/>
          <a:p>
            <a:pPr indent="0" marL="0">
              <a:buNone/>
            </a:pPr>
            <a:r>
              <a:rPr lang="en-US" sz="1000" b="1" dirty="0">
                <a:solidFill>
                  <a:schemeClr val="bg1"/>
                </a:solidFill>
              </a:rPr>
              <a:t>Oxygen</a:t>
            </a:r>
            <a:endParaRPr lang="en-US" sz="1000" dirty="0"/>
          </a:p>
        </p:txBody>
      </p:sp>
      <p:sp>
        <p:nvSpPr>
          <p:cNvPr id="43" name="text-357"/>
          <p:cNvSpPr txBox="1"/>
          <p:nvPr/>
        </p:nvSpPr>
        <p:spPr>
          <a:xfrm>
            <a:off x="777240" y="8769096"/>
            <a:ext cx="2866644" cy="548640"/>
          </a:xfrm>
          <a:prstGeom prst="rect">
            <a:avLst/>
          </a:prstGeom>
          <a:noFill/>
          <a:ln/>
        </p:spPr>
        <p:txBody>
          <a:bodyPr wrap="square" lIns="0" tIns="0" rIns="0" bIns="0" rtlCol="0" anchor="t"/>
          <a:lstStyle/>
          <a:p>
            <a:pPr indent="0" marL="0">
              <a:lnSpc>
                <a:spcPct val="105000"/>
              </a:lnSpc>
              <a:buNone/>
            </a:pPr>
            <a:r>
              <a:rPr lang="en-US" sz="900" dirty="0">
                <a:solidFill>
                  <a:schemeClr val="bg2"/>
                </a:solidFill>
              </a:rPr>
              <a:t>The same electrolysers supply oxygen to the plasma waste converter and the hospital.</a:t>
            </a:r>
            <a:endParaRPr lang="en-US" sz="900" dirty="0"/>
          </a:p>
        </p:txBody>
      </p:sp>
      <p:sp>
        <p:nvSpPr>
          <p:cNvPr id="44" name="flow-dot-358"/>
          <p:cNvSpPr/>
          <p:nvPr/>
        </p:nvSpPr>
        <p:spPr>
          <a:xfrm>
            <a:off x="3918204" y="8595360"/>
            <a:ext cx="128016" cy="128016"/>
          </a:xfrm>
          <a:prstGeom prst="ellipse">
            <a:avLst/>
          </a:prstGeom>
          <a:solidFill>
            <a:schemeClr val="bg2"/>
          </a:solidFill>
          <a:ln w="12700">
            <a:solidFill>
              <a:schemeClr val="bg2"/>
            </a:solidFill>
            <a:prstDash val="solid"/>
          </a:ln>
        </p:spPr>
      </p:sp>
      <p:sp>
        <p:nvSpPr>
          <p:cNvPr id="45" name="text-359"/>
          <p:cNvSpPr txBox="1"/>
          <p:nvPr/>
        </p:nvSpPr>
        <p:spPr>
          <a:xfrm>
            <a:off x="4146804" y="8549640"/>
            <a:ext cx="2866644" cy="201168"/>
          </a:xfrm>
          <a:prstGeom prst="rect">
            <a:avLst/>
          </a:prstGeom>
          <a:noFill/>
          <a:ln/>
        </p:spPr>
        <p:txBody>
          <a:bodyPr wrap="square" lIns="0" tIns="0" rIns="0" bIns="0" rtlCol="0" anchor="t"/>
          <a:lstStyle/>
          <a:p>
            <a:pPr indent="0" marL="0">
              <a:buNone/>
            </a:pPr>
            <a:r>
              <a:rPr lang="en-US" sz="1000" b="1" dirty="0">
                <a:solidFill>
                  <a:schemeClr val="bg1"/>
                </a:solidFill>
              </a:rPr>
              <a:t>Waste</a:t>
            </a:r>
            <a:endParaRPr lang="en-US" sz="1000" dirty="0"/>
          </a:p>
        </p:txBody>
      </p:sp>
      <p:sp>
        <p:nvSpPr>
          <p:cNvPr id="46" name="text-360"/>
          <p:cNvSpPr txBox="1"/>
          <p:nvPr/>
        </p:nvSpPr>
        <p:spPr>
          <a:xfrm>
            <a:off x="4146804" y="8769096"/>
            <a:ext cx="2866644" cy="548640"/>
          </a:xfrm>
          <a:prstGeom prst="rect">
            <a:avLst/>
          </a:prstGeom>
          <a:noFill/>
          <a:ln/>
        </p:spPr>
        <p:txBody>
          <a:bodyPr wrap="square" lIns="0" tIns="0" rIns="0" bIns="0" rtlCol="0" anchor="t"/>
          <a:lstStyle/>
          <a:p>
            <a:pPr indent="0" marL="0">
              <a:lnSpc>
                <a:spcPct val="105000"/>
              </a:lnSpc>
              <a:buNone/>
            </a:pPr>
            <a:r>
              <a:rPr lang="en-US" sz="900" dirty="0">
                <a:solidFill>
                  <a:schemeClr val="bg2"/>
                </a:solidFill>
              </a:rPr>
              <a:t>The converter turns rubbish into hydrogen and CO₂ for the food lines, and its slag becomes paving.</a:t>
            </a:r>
            <a:endParaRPr lang="en-US" sz="900" dirty="0"/>
          </a:p>
        </p:txBody>
      </p:sp>
      <p:sp>
        <p:nvSpPr>
          <p:cNvPr id="47" name="flow-dot-361"/>
          <p:cNvSpPr/>
          <p:nvPr/>
        </p:nvSpPr>
        <p:spPr>
          <a:xfrm>
            <a:off x="548640" y="9326880"/>
            <a:ext cx="128016" cy="128016"/>
          </a:xfrm>
          <a:prstGeom prst="ellipse">
            <a:avLst/>
          </a:prstGeom>
          <a:solidFill>
            <a:schemeClr val="accent5"/>
          </a:solidFill>
          <a:ln w="12700">
            <a:solidFill>
              <a:schemeClr val="accent5"/>
            </a:solidFill>
            <a:prstDash val="solid"/>
          </a:ln>
        </p:spPr>
      </p:sp>
      <p:sp>
        <p:nvSpPr>
          <p:cNvPr id="48" name="text-362"/>
          <p:cNvSpPr txBox="1"/>
          <p:nvPr/>
        </p:nvSpPr>
        <p:spPr>
          <a:xfrm>
            <a:off x="777240" y="9281160"/>
            <a:ext cx="2866644" cy="201168"/>
          </a:xfrm>
          <a:prstGeom prst="rect">
            <a:avLst/>
          </a:prstGeom>
          <a:noFill/>
          <a:ln/>
        </p:spPr>
        <p:txBody>
          <a:bodyPr wrap="square" lIns="0" tIns="0" rIns="0" bIns="0" rtlCol="0" anchor="t"/>
          <a:lstStyle/>
          <a:p>
            <a:pPr indent="0" marL="0">
              <a:buNone/>
            </a:pPr>
            <a:r>
              <a:rPr lang="en-US" sz="1000" b="1" dirty="0">
                <a:solidFill>
                  <a:schemeClr val="bg1"/>
                </a:solidFill>
              </a:rPr>
              <a:t>Wellbeing</a:t>
            </a:r>
            <a:endParaRPr lang="en-US" sz="1000" dirty="0"/>
          </a:p>
        </p:txBody>
      </p:sp>
      <p:sp>
        <p:nvSpPr>
          <p:cNvPr id="49" name="text-363"/>
          <p:cNvSpPr txBox="1"/>
          <p:nvPr/>
        </p:nvSpPr>
        <p:spPr>
          <a:xfrm>
            <a:off x="777240" y="9500616"/>
            <a:ext cx="2866644" cy="548640"/>
          </a:xfrm>
          <a:prstGeom prst="rect">
            <a:avLst/>
          </a:prstGeom>
          <a:noFill/>
          <a:ln/>
        </p:spPr>
        <p:txBody>
          <a:bodyPr wrap="square" lIns="0" tIns="0" rIns="0" bIns="0" rtlCol="0" anchor="t"/>
          <a:lstStyle/>
          <a:p>
            <a:pPr indent="0" marL="0">
              <a:lnSpc>
                <a:spcPct val="105000"/>
              </a:lnSpc>
              <a:buNone/>
            </a:pPr>
            <a:r>
              <a:rPr lang="en-US" sz="900" dirty="0">
                <a:solidFill>
                  <a:schemeClr val="bg2"/>
                </a:solidFill>
              </a:rPr>
              <a:t>The spa turns geothermal heat into rest and health, and its restaurants serve food from the plant.</a:t>
            </a:r>
            <a:endParaRPr lang="en-US" sz="90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bg1"/>
                </a:solidFil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dot-364"/>
          <p:cNvSpPr/>
          <p:nvPr/>
        </p:nvSpPr>
        <p:spPr>
          <a:xfrm>
            <a:off x="548640" y="516636"/>
            <a:ext cx="100584" cy="100584"/>
          </a:xfrm>
          <a:prstGeom prst="ellipse">
            <a:avLst/>
          </a:prstGeom>
          <a:solidFill>
            <a:schemeClr val="accent6"/>
          </a:solidFill>
          <a:ln w="12700">
            <a:solidFill>
              <a:schemeClr val="accent6"/>
            </a:solidFill>
            <a:prstDash val="solid"/>
          </a:ln>
        </p:spPr>
      </p:sp>
      <p:sp>
        <p:nvSpPr>
          <p:cNvPr id="3" name="text-365"/>
          <p:cNvSpPr txBox="1"/>
          <p:nvPr/>
        </p:nvSpPr>
        <p:spPr>
          <a:xfrm>
            <a:off x="731520" y="475488"/>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CLEAN ENERGY, DAY AND POLAR NIGHT</a:t>
            </a:r>
            <a:endParaRPr lang="en-US" sz="900" dirty="0"/>
          </a:p>
        </p:txBody>
      </p:sp>
      <p:sp>
        <p:nvSpPr>
          <p:cNvPr id="4" name="Text 1"/>
          <p:cNvSpPr/>
          <p:nvPr>
            <p:ph idx="101" type="title" hasCustomPrompt="1"/>
          </p:nvPr>
        </p:nvSpPr>
        <p:spPr>
          <a:xfrm>
            <a:off x="548640" y="749808"/>
            <a:ext cx="6464808" cy="685800"/>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Energy for the Polar Night</a:t>
            </a:r>
            <a:endParaRPr lang="en-US" sz="3400" dirty="0"/>
          </a:p>
        </p:txBody>
      </p:sp>
      <p:pic>
        <p:nvPicPr>
          <p:cNvPr id="5" name="picture-366" descr="/home/user/chatbox-bi-n-o/magazine/assets_v2/renders/renewable.jpg">    </p:cNvPr>
          <p:cNvPicPr>
            <a:picLocks noChangeAspect="1"/>
          </p:cNvPicPr>
          <p:nvPr/>
        </p:nvPicPr>
        <p:blipFill>
          <a:blip r:embed="rId1"/>
          <a:srcRect l="0" r="0" t="0" b="0"/>
          <a:stretch/>
        </p:blipFill>
        <p:spPr>
          <a:xfrm>
            <a:off x="0" y="1508760"/>
            <a:ext cx="7562088" cy="3429000"/>
          </a:xfrm>
          <a:prstGeom prst="rect">
            <a:avLst/>
          </a:prstGeom>
        </p:spPr>
      </p:pic>
      <p:sp>
        <p:nvSpPr>
          <p:cNvPr id="6" name="text-367"/>
          <p:cNvSpPr txBox="1"/>
          <p:nvPr/>
        </p:nvSpPr>
        <p:spPr>
          <a:xfrm>
            <a:off x="548640" y="4983480"/>
            <a:ext cx="6464808" cy="228600"/>
          </a:xfrm>
          <a:prstGeom prst="rect">
            <a:avLst/>
          </a:prstGeom>
          <a:noFill/>
          <a:ln/>
        </p:spPr>
        <p:txBody>
          <a:bodyPr wrap="square" lIns="0" tIns="0" rIns="0" bIns="0" rtlCol="0" anchor="t"/>
          <a:lstStyle/>
          <a:p>
            <a:pPr indent="0" marL="0">
              <a:buNone/>
            </a:pPr>
            <a:r>
              <a:rPr lang="en-US" sz="850" i="1" dirty="0">
                <a:solidFill>
                  <a:schemeClr val="tx2"/>
                </a:solidFill>
              </a:rPr>
              <a:t>Northern Renewable Park: the Ice-Proof Wind Farm behind the Bifacial Solar Farm.</a:t>
            </a:r>
            <a:endParaRPr lang="en-US" sz="850" dirty="0"/>
          </a:p>
        </p:txBody>
      </p:sp>
      <p:sp>
        <p:nvSpPr>
          <p:cNvPr id="7" name="text-368"/>
          <p:cNvSpPr txBox="1"/>
          <p:nvPr/>
        </p:nvSpPr>
        <p:spPr>
          <a:xfrm>
            <a:off x="548640" y="5303520"/>
            <a:ext cx="6464808" cy="365760"/>
          </a:xfrm>
          <a:prstGeom prst="rect">
            <a:avLst/>
          </a:prstGeom>
          <a:noFill/>
          <a:ln/>
        </p:spPr>
        <p:txBody>
          <a:bodyPr wrap="square" lIns="0" tIns="0" rIns="0" bIns="0" rtlCol="0" anchor="t"/>
          <a:lstStyle/>
          <a:p>
            <a:pPr indent="0" marL="0">
              <a:lnSpc>
                <a:spcPct val="110000"/>
              </a:lnSpc>
              <a:buNone/>
            </a:pPr>
            <a:r>
              <a:rPr lang="en-US" sz="1350" i="1" dirty="0">
                <a:solidFill>
                  <a:schemeClr val="tx2"/>
                </a:solidFill>
                <a:latin typeface="+mj-lt" pitchFamily="34" charset="0"/>
                <a:ea typeface="+mj-lt" pitchFamily="34" charset="-122"/>
                <a:cs typeface="+mj-lt" pitchFamily="34" charset="-120"/>
              </a:rPr>
              <a:t>The sun disappears for two months, so the city uses sources that cover for each other.</a:t>
            </a:r>
            <a:endParaRPr lang="en-US" sz="1350" dirty="0"/>
          </a:p>
        </p:txBody>
      </p:sp>
      <p:sp>
        <p:nvSpPr>
          <p:cNvPr id="8" name="card-369"/>
          <p:cNvSpPr/>
          <p:nvPr/>
        </p:nvSpPr>
        <p:spPr>
          <a:xfrm>
            <a:off x="548640" y="5852160"/>
            <a:ext cx="3140964" cy="1261872"/>
          </a:xfrm>
          <a:prstGeom prst="roundRect">
            <a:avLst>
              <a:gd name="adj" fmla="val 5797"/>
            </a:avLst>
          </a:prstGeom>
          <a:solidFill>
            <a:schemeClr val="bg2"/>
          </a:solidFill>
          <a:ln w="12700">
            <a:solidFill>
              <a:schemeClr val="bg2"/>
            </a:solidFill>
            <a:prstDash val="solid"/>
          </a:ln>
        </p:spPr>
      </p:sp>
      <p:sp>
        <p:nvSpPr>
          <p:cNvPr id="9" name="text-370"/>
          <p:cNvSpPr txBox="1"/>
          <p:nvPr/>
        </p:nvSpPr>
        <p:spPr>
          <a:xfrm>
            <a:off x="685800" y="5961888"/>
            <a:ext cx="1234440" cy="457200"/>
          </a:xfrm>
          <a:prstGeom prst="rect">
            <a:avLst/>
          </a:prstGeom>
          <a:noFill/>
          <a:ln/>
        </p:spPr>
        <p:txBody>
          <a:bodyPr wrap="square" lIns="0" tIns="0" rIns="0" bIns="0" rtlCol="0" anchor="ctr"/>
          <a:lstStyle/>
          <a:p>
            <a:pPr indent="0" marL="0">
              <a:buNone/>
            </a:pPr>
            <a:r>
              <a:rPr lang="en-US" sz="2100" b="1" dirty="0">
                <a:solidFill>
                  <a:schemeClr val="accent3"/>
                </a:solidFill>
                <a:latin typeface="+mj-lt" pitchFamily="34" charset="0"/>
                <a:ea typeface="+mj-lt" pitchFamily="34" charset="-122"/>
                <a:cs typeface="+mj-lt" pitchFamily="34" charset="-120"/>
              </a:rPr>
              <a:t>Steady</a:t>
            </a:r>
            <a:endParaRPr lang="en-US" sz="2100" dirty="0"/>
          </a:p>
        </p:txBody>
      </p:sp>
      <p:sp>
        <p:nvSpPr>
          <p:cNvPr id="10" name="text-371"/>
          <p:cNvSpPr txBox="1"/>
          <p:nvPr/>
        </p:nvSpPr>
        <p:spPr>
          <a:xfrm>
            <a:off x="1965960" y="5980176"/>
            <a:ext cx="1586484" cy="219456"/>
          </a:xfrm>
          <a:prstGeom prst="rect">
            <a:avLst/>
          </a:prstGeom>
          <a:noFill/>
          <a:ln/>
        </p:spPr>
        <p:txBody>
          <a:bodyPr wrap="square" lIns="0" tIns="0" rIns="0" bIns="0" rtlCol="0" anchor="t"/>
          <a:lstStyle/>
          <a:p>
            <a:pPr indent="0" marL="0">
              <a:buNone/>
            </a:pPr>
            <a:r>
              <a:rPr lang="en-US" sz="1050" b="1" dirty="0">
                <a:solidFill>
                  <a:schemeClr val="tx1"/>
                </a:solidFill>
              </a:rPr>
              <a:t>Fusion</a:t>
            </a:r>
            <a:endParaRPr lang="en-US" sz="1050" dirty="0"/>
          </a:p>
        </p:txBody>
      </p:sp>
      <p:sp>
        <p:nvSpPr>
          <p:cNvPr id="11" name="text-372"/>
          <p:cNvSpPr txBox="1"/>
          <p:nvPr/>
        </p:nvSpPr>
        <p:spPr>
          <a:xfrm>
            <a:off x="1965960" y="6217920"/>
            <a:ext cx="1586484" cy="822960"/>
          </a:xfrm>
          <a:prstGeom prst="rect">
            <a:avLst/>
          </a:prstGeom>
          <a:noFill/>
          <a:ln/>
        </p:spPr>
        <p:txBody>
          <a:bodyPr wrap="square" lIns="0" tIns="0" rIns="0" bIns="0" rtlCol="0" anchor="t"/>
          <a:lstStyle/>
          <a:p>
            <a:pPr indent="0" marL="0">
              <a:lnSpc>
                <a:spcPct val="105000"/>
              </a:lnSpc>
              <a:buNone/>
            </a:pPr>
            <a:r>
              <a:rPr lang="en-US" sz="950" dirty="0">
                <a:solidFill>
                  <a:schemeClr val="tx2"/>
                </a:solidFill>
              </a:rPr>
              <a:t>Steady power and heat all year, even in total darkness.</a:t>
            </a:r>
            <a:endParaRPr lang="en-US" sz="950" dirty="0"/>
          </a:p>
        </p:txBody>
      </p:sp>
      <p:sp>
        <p:nvSpPr>
          <p:cNvPr id="12" name="card-373"/>
          <p:cNvSpPr/>
          <p:nvPr/>
        </p:nvSpPr>
        <p:spPr>
          <a:xfrm>
            <a:off x="3872484" y="5852160"/>
            <a:ext cx="3140964" cy="1261872"/>
          </a:xfrm>
          <a:prstGeom prst="roundRect">
            <a:avLst>
              <a:gd name="adj" fmla="val 5797"/>
            </a:avLst>
          </a:prstGeom>
          <a:solidFill>
            <a:schemeClr val="bg2"/>
          </a:solidFill>
          <a:ln w="12700">
            <a:solidFill>
              <a:schemeClr val="bg2"/>
            </a:solidFill>
            <a:prstDash val="solid"/>
          </a:ln>
        </p:spPr>
      </p:sp>
      <p:sp>
        <p:nvSpPr>
          <p:cNvPr id="13" name="text-374"/>
          <p:cNvSpPr txBox="1"/>
          <p:nvPr/>
        </p:nvSpPr>
        <p:spPr>
          <a:xfrm>
            <a:off x="4009644" y="5961888"/>
            <a:ext cx="1234440" cy="457200"/>
          </a:xfrm>
          <a:prstGeom prst="rect">
            <a:avLst/>
          </a:prstGeom>
          <a:noFill/>
          <a:ln/>
        </p:spPr>
        <p:txBody>
          <a:bodyPr wrap="square" lIns="0" tIns="0" rIns="0" bIns="0" rtlCol="0" anchor="ctr"/>
          <a:lstStyle/>
          <a:p>
            <a:pPr indent="0" marL="0">
              <a:buNone/>
            </a:pPr>
            <a:r>
              <a:rPr lang="en-US" sz="2100" b="1" dirty="0">
                <a:solidFill>
                  <a:schemeClr val="accent6"/>
                </a:solidFill>
                <a:latin typeface="+mj-lt" pitchFamily="34" charset="0"/>
                <a:ea typeface="+mj-lt" pitchFamily="34" charset="-122"/>
                <a:cs typeface="+mj-lt" pitchFamily="34" charset="-120"/>
              </a:rPr>
              <a:t>60 MW</a:t>
            </a:r>
            <a:endParaRPr lang="en-US" sz="2100" dirty="0"/>
          </a:p>
        </p:txBody>
      </p:sp>
      <p:sp>
        <p:nvSpPr>
          <p:cNvPr id="14" name="text-375"/>
          <p:cNvSpPr txBox="1"/>
          <p:nvPr/>
        </p:nvSpPr>
        <p:spPr>
          <a:xfrm>
            <a:off x="5289804" y="5980176"/>
            <a:ext cx="1586484" cy="219456"/>
          </a:xfrm>
          <a:prstGeom prst="rect">
            <a:avLst/>
          </a:prstGeom>
          <a:noFill/>
          <a:ln/>
        </p:spPr>
        <p:txBody>
          <a:bodyPr wrap="square" lIns="0" tIns="0" rIns="0" bIns="0" rtlCol="0" anchor="t"/>
          <a:lstStyle/>
          <a:p>
            <a:pPr indent="0" marL="0">
              <a:buNone/>
            </a:pPr>
            <a:r>
              <a:rPr lang="en-US" sz="1050" b="1" dirty="0">
                <a:solidFill>
                  <a:schemeClr val="tx1"/>
                </a:solidFill>
              </a:rPr>
              <a:t>Ice-proof wind farm</a:t>
            </a:r>
            <a:endParaRPr lang="en-US" sz="1050" dirty="0"/>
          </a:p>
        </p:txBody>
      </p:sp>
      <p:sp>
        <p:nvSpPr>
          <p:cNvPr id="15" name="text-376"/>
          <p:cNvSpPr txBox="1"/>
          <p:nvPr/>
        </p:nvSpPr>
        <p:spPr>
          <a:xfrm>
            <a:off x="5289804" y="6217920"/>
            <a:ext cx="1586484" cy="822960"/>
          </a:xfrm>
          <a:prstGeom prst="rect">
            <a:avLst/>
          </a:prstGeom>
          <a:noFill/>
          <a:ln/>
        </p:spPr>
        <p:txBody>
          <a:bodyPr wrap="square" lIns="0" tIns="0" rIns="0" bIns="0" rtlCol="0" anchor="t"/>
          <a:lstStyle/>
          <a:p>
            <a:pPr indent="0" marL="0">
              <a:lnSpc>
                <a:spcPct val="105000"/>
              </a:lnSpc>
              <a:buNone/>
            </a:pPr>
            <a:r>
              <a:rPr lang="en-US" sz="950" dirty="0">
                <a:solidFill>
                  <a:schemeClr val="tx2"/>
                </a:solidFill>
              </a:rPr>
              <a:t>Heated blades keep turning in freezing fog; most power comes in stormy winter.</a:t>
            </a:r>
            <a:endParaRPr lang="en-US" sz="950" dirty="0"/>
          </a:p>
        </p:txBody>
      </p:sp>
      <p:sp>
        <p:nvSpPr>
          <p:cNvPr id="16" name="card-377"/>
          <p:cNvSpPr/>
          <p:nvPr/>
        </p:nvSpPr>
        <p:spPr>
          <a:xfrm>
            <a:off x="548640" y="7223760"/>
            <a:ext cx="3140964" cy="1261872"/>
          </a:xfrm>
          <a:prstGeom prst="roundRect">
            <a:avLst>
              <a:gd name="adj" fmla="val 5797"/>
            </a:avLst>
          </a:prstGeom>
          <a:solidFill>
            <a:schemeClr val="bg2"/>
          </a:solidFill>
          <a:ln w="12700">
            <a:solidFill>
              <a:schemeClr val="bg2"/>
            </a:solidFill>
            <a:prstDash val="solid"/>
          </a:ln>
        </p:spPr>
      </p:sp>
      <p:sp>
        <p:nvSpPr>
          <p:cNvPr id="17" name="text-378"/>
          <p:cNvSpPr txBox="1"/>
          <p:nvPr/>
        </p:nvSpPr>
        <p:spPr>
          <a:xfrm>
            <a:off x="685800" y="7333488"/>
            <a:ext cx="1234440" cy="457200"/>
          </a:xfrm>
          <a:prstGeom prst="rect">
            <a:avLst/>
          </a:prstGeom>
          <a:noFill/>
          <a:ln/>
        </p:spPr>
        <p:txBody>
          <a:bodyPr wrap="square" lIns="0" tIns="0" rIns="0" bIns="0" rtlCol="0" anchor="ctr"/>
          <a:lstStyle/>
          <a:p>
            <a:pPr indent="0" marL="0">
              <a:buNone/>
            </a:pPr>
            <a:r>
              <a:rPr lang="en-US" sz="2100" b="1" dirty="0">
                <a:solidFill>
                  <a:schemeClr val="accent2"/>
                </a:solidFill>
                <a:latin typeface="+mj-lt" pitchFamily="34" charset="0"/>
                <a:ea typeface="+mj-lt" pitchFamily="34" charset="-122"/>
                <a:cs typeface="+mj-lt" pitchFamily="34" charset="-120"/>
              </a:rPr>
              <a:t>+25%</a:t>
            </a:r>
            <a:endParaRPr lang="en-US" sz="2100" dirty="0"/>
          </a:p>
        </p:txBody>
      </p:sp>
      <p:sp>
        <p:nvSpPr>
          <p:cNvPr id="18" name="text-379"/>
          <p:cNvSpPr txBox="1"/>
          <p:nvPr/>
        </p:nvSpPr>
        <p:spPr>
          <a:xfrm>
            <a:off x="1965960" y="7351776"/>
            <a:ext cx="1586484" cy="219456"/>
          </a:xfrm>
          <a:prstGeom prst="rect">
            <a:avLst/>
          </a:prstGeom>
          <a:noFill/>
          <a:ln/>
        </p:spPr>
        <p:txBody>
          <a:bodyPr wrap="square" lIns="0" tIns="0" rIns="0" bIns="0" rtlCol="0" anchor="t"/>
          <a:lstStyle/>
          <a:p>
            <a:pPr indent="0" marL="0">
              <a:buNone/>
            </a:pPr>
            <a:r>
              <a:rPr lang="en-US" sz="1050" b="1" dirty="0">
                <a:solidFill>
                  <a:schemeClr val="tx1"/>
                </a:solidFill>
              </a:rPr>
              <a:t>Bifacial solar farm</a:t>
            </a:r>
            <a:endParaRPr lang="en-US" sz="1050" dirty="0"/>
          </a:p>
        </p:txBody>
      </p:sp>
      <p:sp>
        <p:nvSpPr>
          <p:cNvPr id="19" name="text-380"/>
          <p:cNvSpPr txBox="1"/>
          <p:nvPr/>
        </p:nvSpPr>
        <p:spPr>
          <a:xfrm>
            <a:off x="1965960" y="7589520"/>
            <a:ext cx="1586484" cy="822960"/>
          </a:xfrm>
          <a:prstGeom prst="rect">
            <a:avLst/>
          </a:prstGeom>
          <a:noFill/>
          <a:ln/>
        </p:spPr>
        <p:txBody>
          <a:bodyPr wrap="square" lIns="0" tIns="0" rIns="0" bIns="0" rtlCol="0" anchor="t"/>
          <a:lstStyle/>
          <a:p>
            <a:pPr indent="0" marL="0">
              <a:lnSpc>
                <a:spcPct val="105000"/>
              </a:lnSpc>
              <a:buNone/>
            </a:pPr>
            <a:r>
              <a:rPr lang="en-US" sz="950" dirty="0">
                <a:solidFill>
                  <a:schemeClr val="tx2"/>
                </a:solidFill>
              </a:rPr>
              <a:t>Snow reflects light onto the panel backs; 24-hour power in the midnight-sun months.</a:t>
            </a:r>
            <a:endParaRPr lang="en-US" sz="950" dirty="0"/>
          </a:p>
        </p:txBody>
      </p:sp>
      <p:sp>
        <p:nvSpPr>
          <p:cNvPr id="20" name="card-381"/>
          <p:cNvSpPr/>
          <p:nvPr/>
        </p:nvSpPr>
        <p:spPr>
          <a:xfrm>
            <a:off x="3872484" y="7223760"/>
            <a:ext cx="3140964" cy="1261872"/>
          </a:xfrm>
          <a:prstGeom prst="roundRect">
            <a:avLst>
              <a:gd name="adj" fmla="val 5797"/>
            </a:avLst>
          </a:prstGeom>
          <a:solidFill>
            <a:schemeClr val="bg2"/>
          </a:solidFill>
          <a:ln w="12700">
            <a:solidFill>
              <a:schemeClr val="bg2"/>
            </a:solidFill>
            <a:prstDash val="solid"/>
          </a:ln>
        </p:spPr>
      </p:sp>
      <p:sp>
        <p:nvSpPr>
          <p:cNvPr id="21" name="text-382"/>
          <p:cNvSpPr txBox="1"/>
          <p:nvPr/>
        </p:nvSpPr>
        <p:spPr>
          <a:xfrm>
            <a:off x="4009644" y="7333488"/>
            <a:ext cx="1234440" cy="457200"/>
          </a:xfrm>
          <a:prstGeom prst="rect">
            <a:avLst/>
          </a:prstGeom>
          <a:noFill/>
          <a:ln/>
        </p:spPr>
        <p:txBody>
          <a:bodyPr wrap="square" lIns="0" tIns="0" rIns="0" bIns="0" rtlCol="0" anchor="ctr"/>
          <a:lstStyle/>
          <a:p>
            <a:pPr indent="0" marL="0">
              <a:buNone/>
            </a:pPr>
            <a:r>
              <a:rPr lang="en-US" sz="2100" b="1" dirty="0">
                <a:solidFill>
                  <a:schemeClr val="accent5"/>
                </a:solidFill>
                <a:latin typeface="+mj-lt" pitchFamily="34" charset="0"/>
                <a:ea typeface="+mj-lt" pitchFamily="34" charset="-122"/>
                <a:cs typeface="+mj-lt" pitchFamily="34" charset="-120"/>
              </a:rPr>
              <a:t>24/7</a:t>
            </a:r>
            <a:endParaRPr lang="en-US" sz="2100" dirty="0"/>
          </a:p>
        </p:txBody>
      </p:sp>
      <p:sp>
        <p:nvSpPr>
          <p:cNvPr id="22" name="text-383"/>
          <p:cNvSpPr txBox="1"/>
          <p:nvPr/>
        </p:nvSpPr>
        <p:spPr>
          <a:xfrm>
            <a:off x="5289804" y="7351776"/>
            <a:ext cx="1586484" cy="219456"/>
          </a:xfrm>
          <a:prstGeom prst="rect">
            <a:avLst/>
          </a:prstGeom>
          <a:noFill/>
          <a:ln/>
        </p:spPr>
        <p:txBody>
          <a:bodyPr wrap="square" lIns="0" tIns="0" rIns="0" bIns="0" rtlCol="0" anchor="t"/>
          <a:lstStyle/>
          <a:p>
            <a:pPr indent="0" marL="0">
              <a:buNone/>
            </a:pPr>
            <a:r>
              <a:rPr lang="en-US" sz="1050" b="1" dirty="0">
                <a:solidFill>
                  <a:schemeClr val="tx1"/>
                </a:solidFill>
              </a:rPr>
              <a:t>Geothermal plant</a:t>
            </a:r>
            <a:endParaRPr lang="en-US" sz="1050" dirty="0"/>
          </a:p>
        </p:txBody>
      </p:sp>
      <p:sp>
        <p:nvSpPr>
          <p:cNvPr id="23" name="text-384"/>
          <p:cNvSpPr txBox="1"/>
          <p:nvPr/>
        </p:nvSpPr>
        <p:spPr>
          <a:xfrm>
            <a:off x="5289804" y="7589520"/>
            <a:ext cx="1586484" cy="822960"/>
          </a:xfrm>
          <a:prstGeom prst="rect">
            <a:avLst/>
          </a:prstGeom>
          <a:noFill/>
          <a:ln/>
        </p:spPr>
        <p:txBody>
          <a:bodyPr wrap="square" lIns="0" tIns="0" rIns="0" bIns="0" rtlCol="0" anchor="t"/>
          <a:lstStyle/>
          <a:p>
            <a:pPr indent="0" marL="0">
              <a:lnSpc>
                <a:spcPct val="105000"/>
              </a:lnSpc>
              <a:buNone/>
            </a:pPr>
            <a:r>
              <a:rPr lang="en-US" sz="950" dirty="0">
                <a:solidFill>
                  <a:schemeClr val="tx2"/>
                </a:solidFill>
              </a:rPr>
              <a:t>Clean electricity and hot water around the clock, and the second heat source.</a:t>
            </a:r>
            <a:endParaRPr lang="en-US" sz="950" dirty="0"/>
          </a:p>
        </p:txBody>
      </p:sp>
      <p:sp>
        <p:nvSpPr>
          <p:cNvPr id="24" name="card-385"/>
          <p:cNvSpPr/>
          <p:nvPr/>
        </p:nvSpPr>
        <p:spPr>
          <a:xfrm>
            <a:off x="548640" y="8595360"/>
            <a:ext cx="3140964" cy="1261872"/>
          </a:xfrm>
          <a:prstGeom prst="roundRect">
            <a:avLst>
              <a:gd name="adj" fmla="val 5797"/>
            </a:avLst>
          </a:prstGeom>
          <a:solidFill>
            <a:schemeClr val="bg2"/>
          </a:solidFill>
          <a:ln w="12700">
            <a:solidFill>
              <a:schemeClr val="bg2"/>
            </a:solidFill>
            <a:prstDash val="solid"/>
          </a:ln>
        </p:spPr>
      </p:sp>
      <p:sp>
        <p:nvSpPr>
          <p:cNvPr id="25" name="text-386"/>
          <p:cNvSpPr txBox="1"/>
          <p:nvPr/>
        </p:nvSpPr>
        <p:spPr>
          <a:xfrm>
            <a:off x="685800" y="8705088"/>
            <a:ext cx="1234440" cy="457200"/>
          </a:xfrm>
          <a:prstGeom prst="rect">
            <a:avLst/>
          </a:prstGeom>
          <a:noFill/>
          <a:ln/>
        </p:spPr>
        <p:txBody>
          <a:bodyPr wrap="square" lIns="0" tIns="0" rIns="0" bIns="0" rtlCol="0" anchor="ctr"/>
          <a:lstStyle/>
          <a:p>
            <a:pPr indent="0" marL="0">
              <a:buNone/>
            </a:pPr>
            <a:r>
              <a:rPr lang="en-US" sz="2100" b="1" dirty="0">
                <a:solidFill>
                  <a:schemeClr val="accent4"/>
                </a:solidFill>
                <a:latin typeface="+mj-lt" pitchFamily="34" charset="0"/>
                <a:ea typeface="+mj-lt" pitchFamily="34" charset="-122"/>
                <a:cs typeface="+mj-lt" pitchFamily="34" charset="-120"/>
              </a:rPr>
              <a:t>200 MWh</a:t>
            </a:r>
            <a:endParaRPr lang="en-US" sz="2100" dirty="0"/>
          </a:p>
        </p:txBody>
      </p:sp>
      <p:sp>
        <p:nvSpPr>
          <p:cNvPr id="26" name="text-387"/>
          <p:cNvSpPr txBox="1"/>
          <p:nvPr/>
        </p:nvSpPr>
        <p:spPr>
          <a:xfrm>
            <a:off x="1965960" y="8723376"/>
            <a:ext cx="1586484" cy="219456"/>
          </a:xfrm>
          <a:prstGeom prst="rect">
            <a:avLst/>
          </a:prstGeom>
          <a:noFill/>
          <a:ln/>
        </p:spPr>
        <p:txBody>
          <a:bodyPr wrap="square" lIns="0" tIns="0" rIns="0" bIns="0" rtlCol="0" anchor="t"/>
          <a:lstStyle/>
          <a:p>
            <a:pPr indent="0" marL="0">
              <a:buNone/>
            </a:pPr>
            <a:r>
              <a:rPr lang="en-US" sz="1050" b="1" dirty="0">
                <a:solidFill>
                  <a:schemeClr val="tx1"/>
                </a:solidFill>
              </a:rPr>
              <a:t>Battery bank</a:t>
            </a:r>
            <a:endParaRPr lang="en-US" sz="1050" dirty="0"/>
          </a:p>
        </p:txBody>
      </p:sp>
      <p:sp>
        <p:nvSpPr>
          <p:cNvPr id="27" name="text-388"/>
          <p:cNvSpPr txBox="1"/>
          <p:nvPr/>
        </p:nvSpPr>
        <p:spPr>
          <a:xfrm>
            <a:off x="1965960" y="8961120"/>
            <a:ext cx="1586484" cy="822960"/>
          </a:xfrm>
          <a:prstGeom prst="rect">
            <a:avLst/>
          </a:prstGeom>
          <a:noFill/>
          <a:ln/>
        </p:spPr>
        <p:txBody>
          <a:bodyPr wrap="square" lIns="0" tIns="0" rIns="0" bIns="0" rtlCol="0" anchor="t"/>
          <a:lstStyle/>
          <a:p>
            <a:pPr indent="0" marL="0">
              <a:lnSpc>
                <a:spcPct val="105000"/>
              </a:lnSpc>
              <a:buNone/>
            </a:pPr>
            <a:r>
              <a:rPr lang="en-US" sz="950" dirty="0">
                <a:solidFill>
                  <a:schemeClr val="tx2"/>
                </a:solidFill>
              </a:rPr>
              <a:t>Recycled car batteries store spare wind and solar power for calm, dark days.</a:t>
            </a:r>
            <a:endParaRPr lang="en-US" sz="950" dirty="0"/>
          </a:p>
        </p:txBody>
      </p:sp>
      <p:sp>
        <p:nvSpPr>
          <p:cNvPr id="28" name="card-389"/>
          <p:cNvSpPr/>
          <p:nvPr/>
        </p:nvSpPr>
        <p:spPr>
          <a:xfrm>
            <a:off x="3872484" y="8595360"/>
            <a:ext cx="3140964" cy="1261872"/>
          </a:xfrm>
          <a:prstGeom prst="roundRect">
            <a:avLst>
              <a:gd name="adj" fmla="val 5797"/>
            </a:avLst>
          </a:prstGeom>
          <a:solidFill>
            <a:schemeClr val="bg2"/>
          </a:solidFill>
          <a:ln w="12700">
            <a:solidFill>
              <a:schemeClr val="bg2"/>
            </a:solidFill>
            <a:prstDash val="solid"/>
          </a:ln>
        </p:spPr>
      </p:sp>
      <p:sp>
        <p:nvSpPr>
          <p:cNvPr id="29" name="text-390"/>
          <p:cNvSpPr txBox="1"/>
          <p:nvPr/>
        </p:nvSpPr>
        <p:spPr>
          <a:xfrm>
            <a:off x="4009644" y="8705088"/>
            <a:ext cx="1234440" cy="457200"/>
          </a:xfrm>
          <a:prstGeom prst="rect">
            <a:avLst/>
          </a:prstGeom>
          <a:noFill/>
          <a:ln/>
        </p:spPr>
        <p:txBody>
          <a:bodyPr wrap="square" lIns="0" tIns="0" rIns="0" bIns="0" rtlCol="0" anchor="ctr"/>
          <a:lstStyle/>
          <a:p>
            <a:pPr indent="0" marL="0">
              <a:buNone/>
            </a:pPr>
            <a:r>
              <a:rPr lang="en-US" sz="2100" b="1" dirty="0">
                <a:solidFill>
                  <a:schemeClr val="accent1"/>
                </a:solidFill>
                <a:latin typeface="+mj-lt" pitchFamily="34" charset="0"/>
                <a:ea typeface="+mj-lt" pitchFamily="34" charset="-122"/>
                <a:cs typeface="+mj-lt" pitchFamily="34" charset="-120"/>
              </a:rPr>
              <a:t>12 h</a:t>
            </a:r>
            <a:endParaRPr lang="en-US" sz="2100" dirty="0"/>
          </a:p>
        </p:txBody>
      </p:sp>
      <p:sp>
        <p:nvSpPr>
          <p:cNvPr id="30" name="text-391"/>
          <p:cNvSpPr txBox="1"/>
          <p:nvPr/>
        </p:nvSpPr>
        <p:spPr>
          <a:xfrm>
            <a:off x="5289804" y="8723376"/>
            <a:ext cx="1586484" cy="219456"/>
          </a:xfrm>
          <a:prstGeom prst="rect">
            <a:avLst/>
          </a:prstGeom>
          <a:noFill/>
          <a:ln/>
        </p:spPr>
        <p:txBody>
          <a:bodyPr wrap="square" lIns="0" tIns="0" rIns="0" bIns="0" rtlCol="0" anchor="t"/>
          <a:lstStyle/>
          <a:p>
            <a:pPr indent="0" marL="0">
              <a:buNone/>
            </a:pPr>
            <a:r>
              <a:rPr lang="en-US" sz="1050" b="1" dirty="0">
                <a:solidFill>
                  <a:schemeClr val="tx1"/>
                </a:solidFill>
              </a:rPr>
              <a:t>Heat storage tank</a:t>
            </a:r>
            <a:endParaRPr lang="en-US" sz="1050" dirty="0"/>
          </a:p>
        </p:txBody>
      </p:sp>
      <p:sp>
        <p:nvSpPr>
          <p:cNvPr id="31" name="text-392"/>
          <p:cNvSpPr txBox="1"/>
          <p:nvPr/>
        </p:nvSpPr>
        <p:spPr>
          <a:xfrm>
            <a:off x="5289804" y="8961120"/>
            <a:ext cx="1586484" cy="822960"/>
          </a:xfrm>
          <a:prstGeom prst="rect">
            <a:avLst/>
          </a:prstGeom>
          <a:noFill/>
          <a:ln/>
        </p:spPr>
        <p:txBody>
          <a:bodyPr wrap="square" lIns="0" tIns="0" rIns="0" bIns="0" rtlCol="0" anchor="t"/>
          <a:lstStyle/>
          <a:p>
            <a:pPr indent="0" marL="0">
              <a:lnSpc>
                <a:spcPct val="105000"/>
              </a:lnSpc>
              <a:buNone/>
            </a:pPr>
            <a:r>
              <a:rPr lang="en-US" sz="950" dirty="0">
                <a:solidFill>
                  <a:schemeClr val="tx2"/>
                </a:solidFill>
              </a:rPr>
              <a:t>Keeps homes warm if a heat source stops, losing less than 1% of its heat a day.</a:t>
            </a:r>
            <a:endParaRPr lang="en-US" sz="95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1"/>
                </a:solidFill>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dot-393"/>
          <p:cNvSpPr/>
          <p:nvPr/>
        </p:nvSpPr>
        <p:spPr>
          <a:xfrm>
            <a:off x="548640" y="516636"/>
            <a:ext cx="100584" cy="100584"/>
          </a:xfrm>
          <a:prstGeom prst="ellipse">
            <a:avLst/>
          </a:prstGeom>
          <a:solidFill>
            <a:schemeClr val="accent4"/>
          </a:solidFill>
          <a:ln w="12700">
            <a:solidFill>
              <a:schemeClr val="accent4"/>
            </a:solidFill>
            <a:prstDash val="solid"/>
          </a:ln>
        </p:spPr>
      </p:sp>
      <p:sp>
        <p:nvSpPr>
          <p:cNvPr id="3" name="text-394"/>
          <p:cNvSpPr txBox="1"/>
          <p:nvPr/>
        </p:nvSpPr>
        <p:spPr>
          <a:xfrm>
            <a:off x="731520" y="475488"/>
            <a:ext cx="5486400" cy="201168"/>
          </a:xfrm>
          <a:prstGeom prst="rect">
            <a:avLst/>
          </a:prstGeom>
          <a:noFill/>
          <a:ln/>
        </p:spPr>
        <p:txBody>
          <a:bodyPr wrap="square" lIns="0" tIns="0" rIns="0" bIns="0" rtlCol="0" anchor="t"/>
          <a:lstStyle/>
          <a:p>
            <a:pPr indent="0" marL="0">
              <a:buNone/>
            </a:pPr>
            <a:r>
              <a:rPr lang="en-US" sz="900" b="1" spc="300" kern="0" dirty="0">
                <a:solidFill>
                  <a:schemeClr val="accent4"/>
                </a:solidFill>
              </a:rPr>
              <a:t>WATER AND WASTE</a:t>
            </a:r>
            <a:endParaRPr lang="en-US" sz="900" dirty="0"/>
          </a:p>
        </p:txBody>
      </p:sp>
      <p:sp>
        <p:nvSpPr>
          <p:cNvPr id="4" name="Text 1"/>
          <p:cNvSpPr/>
          <p:nvPr>
            <p:ph idx="101" type="title" hasCustomPrompt="1"/>
          </p:nvPr>
        </p:nvSpPr>
        <p:spPr>
          <a:xfrm>
            <a:off x="548640" y="749808"/>
            <a:ext cx="6464808" cy="685800"/>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Nothing Is Wasted</a:t>
            </a:r>
            <a:endParaRPr lang="en-US" sz="3400" dirty="0"/>
          </a:p>
        </p:txBody>
      </p:sp>
      <p:pic>
        <p:nvPicPr>
          <p:cNvPr id="5" name="picture-395" descr="/home/user/chatbox-bi-n-o/magazine/assets_v2/renders/water.jpg">    </p:cNvPr>
          <p:cNvPicPr>
            <a:picLocks noChangeAspect="1"/>
          </p:cNvPicPr>
          <p:nvPr/>
        </p:nvPicPr>
        <p:blipFill>
          <a:blip r:embed="rId1"/>
          <a:srcRect l="0" r="0" t="0" b="0"/>
          <a:stretch/>
        </p:blipFill>
        <p:spPr>
          <a:xfrm>
            <a:off x="0" y="1508760"/>
            <a:ext cx="7562088" cy="3657600"/>
          </a:xfrm>
          <a:prstGeom prst="rect">
            <a:avLst/>
          </a:prstGeom>
        </p:spPr>
      </p:pic>
      <p:sp>
        <p:nvSpPr>
          <p:cNvPr id="6" name="text-396"/>
          <p:cNvSpPr txBox="1"/>
          <p:nvPr/>
        </p:nvSpPr>
        <p:spPr>
          <a:xfrm>
            <a:off x="548640" y="5212080"/>
            <a:ext cx="6464808" cy="228600"/>
          </a:xfrm>
          <a:prstGeom prst="rect">
            <a:avLst/>
          </a:prstGeom>
          <a:noFill/>
          <a:ln/>
        </p:spPr>
        <p:txBody>
          <a:bodyPr wrap="square" lIns="0" tIns="0" rIns="0" bIns="0" rtlCol="0" anchor="t"/>
          <a:lstStyle/>
          <a:p>
            <a:pPr indent="0" marL="0">
              <a:buNone/>
            </a:pPr>
            <a:r>
              <a:rPr lang="en-US" sz="850" i="1" dirty="0">
                <a:solidFill>
                  <a:schemeClr val="tx2"/>
                </a:solidFill>
              </a:rPr>
              <a:t>The six-stage Water Recycling Line in the Northern Renewable Park, with the wind farm behind.</a:t>
            </a:r>
            <a:endParaRPr lang="en-US" sz="850" dirty="0"/>
          </a:p>
        </p:txBody>
      </p:sp>
      <p:sp>
        <p:nvSpPr>
          <p:cNvPr id="7" name="text-397"/>
          <p:cNvSpPr txBox="1"/>
          <p:nvPr/>
        </p:nvSpPr>
        <p:spPr>
          <a:xfrm>
            <a:off x="548640" y="5623560"/>
            <a:ext cx="6464808" cy="201168"/>
          </a:xfrm>
          <a:prstGeom prst="rect">
            <a:avLst/>
          </a:prstGeom>
          <a:noFill/>
          <a:ln/>
        </p:spPr>
        <p:txBody>
          <a:bodyPr wrap="square" lIns="0" tIns="0" rIns="0" bIns="0" rtlCol="0" anchor="t"/>
          <a:lstStyle/>
          <a:p>
            <a:pPr indent="0" marL="0">
              <a:buNone/>
            </a:pPr>
            <a:r>
              <a:rPr lang="en-US" sz="900" b="1" spc="300" kern="0" dirty="0">
                <a:solidFill>
                  <a:schemeClr val="accent4"/>
                </a:solidFill>
              </a:rPr>
              <a:t>THE SIX-STAGE WATER RECYCLING LINE</a:t>
            </a:r>
            <a:endParaRPr lang="en-US" sz="900" dirty="0"/>
          </a:p>
        </p:txBody>
      </p:sp>
      <p:sp>
        <p:nvSpPr>
          <p:cNvPr id="8" name="arrow-398"/>
          <p:cNvSpPr/>
          <p:nvPr/>
        </p:nvSpPr>
        <p:spPr>
          <a:xfrm>
            <a:off x="1315974" y="6153912"/>
            <a:ext cx="620268" cy="914"/>
          </a:xfrm>
          <a:prstGeom prst="line">
            <a:avLst/>
          </a:prstGeom>
          <a:noFill/>
          <a:ln w="22225">
            <a:solidFill>
              <a:schemeClr val="accent4"/>
            </a:solidFill>
            <a:prstDash val="solid"/>
            <a:tailEnd type="triangle"/>
          </a:ln>
        </p:spPr>
      </p:sp>
      <p:sp>
        <p:nvSpPr>
          <p:cNvPr id="9" name="marker-399"/>
          <p:cNvSpPr/>
          <p:nvPr/>
        </p:nvSpPr>
        <p:spPr>
          <a:xfrm>
            <a:off x="886206" y="5952744"/>
            <a:ext cx="402336" cy="402336"/>
          </a:xfrm>
          <a:prstGeom prst="ellipse">
            <a:avLst/>
          </a:prstGeom>
          <a:solidFill>
            <a:schemeClr val="accent4"/>
          </a:solidFill>
          <a:ln w="12700">
            <a:solidFill>
              <a:schemeClr val="accent4"/>
            </a:solidFill>
            <a:prstDash val="solid"/>
          </a:ln>
        </p:spPr>
      </p:sp>
      <p:sp>
        <p:nvSpPr>
          <p:cNvPr id="10" name="text-400"/>
          <p:cNvSpPr txBox="1"/>
          <p:nvPr/>
        </p:nvSpPr>
        <p:spPr>
          <a:xfrm>
            <a:off x="886206" y="595274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11" name="text-401"/>
          <p:cNvSpPr txBox="1"/>
          <p:nvPr/>
        </p:nvSpPr>
        <p:spPr>
          <a:xfrm>
            <a:off x="576072" y="6446520"/>
            <a:ext cx="1022604" cy="411480"/>
          </a:xfrm>
          <a:prstGeom prst="rect">
            <a:avLst/>
          </a:prstGeom>
          <a:noFill/>
          <a:ln/>
        </p:spPr>
        <p:txBody>
          <a:bodyPr wrap="square" lIns="0" tIns="0" rIns="0" bIns="0" rtlCol="0" anchor="t"/>
          <a:lstStyle/>
          <a:p>
            <a:pPr algn="ctr" indent="0" marL="0">
              <a:lnSpc>
                <a:spcPct val="100000"/>
              </a:lnSpc>
              <a:buNone/>
            </a:pPr>
            <a:r>
              <a:rPr lang="en-US" sz="850" b="1" dirty="0">
                <a:solidFill>
                  <a:schemeClr val="tx1"/>
                </a:solidFill>
              </a:rPr>
              <a:t>Snowmelt &amp; greywater intake</a:t>
            </a:r>
            <a:endParaRPr lang="en-US" sz="850" dirty="0"/>
          </a:p>
        </p:txBody>
      </p:sp>
      <p:sp>
        <p:nvSpPr>
          <p:cNvPr id="12" name="arrow-402"/>
          <p:cNvSpPr/>
          <p:nvPr/>
        </p:nvSpPr>
        <p:spPr>
          <a:xfrm>
            <a:off x="2393442" y="6153912"/>
            <a:ext cx="620268" cy="914"/>
          </a:xfrm>
          <a:prstGeom prst="line">
            <a:avLst/>
          </a:prstGeom>
          <a:noFill/>
          <a:ln w="22225">
            <a:solidFill>
              <a:schemeClr val="accent4"/>
            </a:solidFill>
            <a:prstDash val="solid"/>
            <a:tailEnd type="triangle"/>
          </a:ln>
        </p:spPr>
      </p:sp>
      <p:sp>
        <p:nvSpPr>
          <p:cNvPr id="13" name="marker-403"/>
          <p:cNvSpPr/>
          <p:nvPr/>
        </p:nvSpPr>
        <p:spPr>
          <a:xfrm>
            <a:off x="1963674" y="5952744"/>
            <a:ext cx="402336" cy="402336"/>
          </a:xfrm>
          <a:prstGeom prst="ellipse">
            <a:avLst/>
          </a:prstGeom>
          <a:solidFill>
            <a:schemeClr val="accent4"/>
          </a:solidFill>
          <a:ln w="12700">
            <a:solidFill>
              <a:schemeClr val="accent4"/>
            </a:solidFill>
            <a:prstDash val="solid"/>
          </a:ln>
        </p:spPr>
      </p:sp>
      <p:sp>
        <p:nvSpPr>
          <p:cNvPr id="14" name="text-404"/>
          <p:cNvSpPr txBox="1"/>
          <p:nvPr/>
        </p:nvSpPr>
        <p:spPr>
          <a:xfrm>
            <a:off x="1963674" y="595274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5" name="text-405"/>
          <p:cNvSpPr txBox="1"/>
          <p:nvPr/>
        </p:nvSpPr>
        <p:spPr>
          <a:xfrm>
            <a:off x="1653540" y="6446520"/>
            <a:ext cx="1022604" cy="411480"/>
          </a:xfrm>
          <a:prstGeom prst="rect">
            <a:avLst/>
          </a:prstGeom>
          <a:noFill/>
          <a:ln/>
        </p:spPr>
        <p:txBody>
          <a:bodyPr wrap="square" lIns="0" tIns="0" rIns="0" bIns="0" rtlCol="0" anchor="t"/>
          <a:lstStyle/>
          <a:p>
            <a:pPr algn="ctr" indent="0" marL="0">
              <a:lnSpc>
                <a:spcPct val="100000"/>
              </a:lnSpc>
              <a:buNone/>
            </a:pPr>
            <a:r>
              <a:rPr lang="en-US" sz="850" b="1" dirty="0">
                <a:solidFill>
                  <a:schemeClr val="tx1"/>
                </a:solidFill>
              </a:rPr>
              <a:t>Intake pumps &amp; bar screen</a:t>
            </a:r>
            <a:endParaRPr lang="en-US" sz="850" dirty="0"/>
          </a:p>
        </p:txBody>
      </p:sp>
      <p:sp>
        <p:nvSpPr>
          <p:cNvPr id="16" name="arrow-406"/>
          <p:cNvSpPr/>
          <p:nvPr/>
        </p:nvSpPr>
        <p:spPr>
          <a:xfrm>
            <a:off x="3470910" y="6153912"/>
            <a:ext cx="620268" cy="914"/>
          </a:xfrm>
          <a:prstGeom prst="line">
            <a:avLst/>
          </a:prstGeom>
          <a:noFill/>
          <a:ln w="22225">
            <a:solidFill>
              <a:schemeClr val="accent4"/>
            </a:solidFill>
            <a:prstDash val="solid"/>
            <a:tailEnd type="triangle"/>
          </a:ln>
        </p:spPr>
      </p:sp>
      <p:sp>
        <p:nvSpPr>
          <p:cNvPr id="17" name="marker-407"/>
          <p:cNvSpPr/>
          <p:nvPr/>
        </p:nvSpPr>
        <p:spPr>
          <a:xfrm>
            <a:off x="3041142" y="5952744"/>
            <a:ext cx="402336" cy="402336"/>
          </a:xfrm>
          <a:prstGeom prst="ellipse">
            <a:avLst/>
          </a:prstGeom>
          <a:solidFill>
            <a:schemeClr val="accent4"/>
          </a:solidFill>
          <a:ln w="12700">
            <a:solidFill>
              <a:schemeClr val="accent4"/>
            </a:solidFill>
            <a:prstDash val="solid"/>
          </a:ln>
        </p:spPr>
      </p:sp>
      <p:sp>
        <p:nvSpPr>
          <p:cNvPr id="18" name="text-408"/>
          <p:cNvSpPr txBox="1"/>
          <p:nvPr/>
        </p:nvSpPr>
        <p:spPr>
          <a:xfrm>
            <a:off x="3041142" y="595274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19" name="text-409"/>
          <p:cNvSpPr txBox="1"/>
          <p:nvPr/>
        </p:nvSpPr>
        <p:spPr>
          <a:xfrm>
            <a:off x="2731008" y="6446520"/>
            <a:ext cx="1022604" cy="411480"/>
          </a:xfrm>
          <a:prstGeom prst="rect">
            <a:avLst/>
          </a:prstGeom>
          <a:noFill/>
          <a:ln/>
        </p:spPr>
        <p:txBody>
          <a:bodyPr wrap="square" lIns="0" tIns="0" rIns="0" bIns="0" rtlCol="0" anchor="t"/>
          <a:lstStyle/>
          <a:p>
            <a:pPr algn="ctr" indent="0" marL="0">
              <a:lnSpc>
                <a:spcPct val="100000"/>
              </a:lnSpc>
              <a:buNone/>
            </a:pPr>
            <a:r>
              <a:rPr lang="en-US" sz="850" b="1" dirty="0">
                <a:solidFill>
                  <a:schemeClr val="tx1"/>
                </a:solidFill>
              </a:rPr>
              <a:t>Settling basins</a:t>
            </a:r>
            <a:endParaRPr lang="en-US" sz="850" dirty="0"/>
          </a:p>
        </p:txBody>
      </p:sp>
      <p:sp>
        <p:nvSpPr>
          <p:cNvPr id="20" name="arrow-410"/>
          <p:cNvSpPr/>
          <p:nvPr/>
        </p:nvSpPr>
        <p:spPr>
          <a:xfrm>
            <a:off x="4548378" y="6153912"/>
            <a:ext cx="620268" cy="914"/>
          </a:xfrm>
          <a:prstGeom prst="line">
            <a:avLst/>
          </a:prstGeom>
          <a:noFill/>
          <a:ln w="22225">
            <a:solidFill>
              <a:schemeClr val="accent4"/>
            </a:solidFill>
            <a:prstDash val="solid"/>
            <a:tailEnd type="triangle"/>
          </a:ln>
        </p:spPr>
      </p:sp>
      <p:sp>
        <p:nvSpPr>
          <p:cNvPr id="21" name="marker-411"/>
          <p:cNvSpPr/>
          <p:nvPr/>
        </p:nvSpPr>
        <p:spPr>
          <a:xfrm>
            <a:off x="4118610" y="5952744"/>
            <a:ext cx="402336" cy="402336"/>
          </a:xfrm>
          <a:prstGeom prst="ellipse">
            <a:avLst/>
          </a:prstGeom>
          <a:solidFill>
            <a:schemeClr val="accent4"/>
          </a:solidFill>
          <a:ln w="12700">
            <a:solidFill>
              <a:schemeClr val="accent4"/>
            </a:solidFill>
            <a:prstDash val="solid"/>
          </a:ln>
        </p:spPr>
      </p:sp>
      <p:sp>
        <p:nvSpPr>
          <p:cNvPr id="22" name="text-412"/>
          <p:cNvSpPr txBox="1"/>
          <p:nvPr/>
        </p:nvSpPr>
        <p:spPr>
          <a:xfrm>
            <a:off x="4118610" y="595274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23" name="text-413"/>
          <p:cNvSpPr txBox="1"/>
          <p:nvPr/>
        </p:nvSpPr>
        <p:spPr>
          <a:xfrm>
            <a:off x="3808476" y="6446520"/>
            <a:ext cx="1022604" cy="411480"/>
          </a:xfrm>
          <a:prstGeom prst="rect">
            <a:avLst/>
          </a:prstGeom>
          <a:noFill/>
          <a:ln/>
        </p:spPr>
        <p:txBody>
          <a:bodyPr wrap="square" lIns="0" tIns="0" rIns="0" bIns="0" rtlCol="0" anchor="t"/>
          <a:lstStyle/>
          <a:p>
            <a:pPr algn="ctr" indent="0" marL="0">
              <a:lnSpc>
                <a:spcPct val="100000"/>
              </a:lnSpc>
              <a:buNone/>
            </a:pPr>
            <a:r>
              <a:rPr lang="en-US" sz="850" b="1" dirty="0">
                <a:solidFill>
                  <a:schemeClr val="tx1"/>
                </a:solidFill>
              </a:rPr>
              <a:t>Sand &amp; membrane filters</a:t>
            </a:r>
            <a:endParaRPr lang="en-US" sz="850" dirty="0"/>
          </a:p>
        </p:txBody>
      </p:sp>
      <p:sp>
        <p:nvSpPr>
          <p:cNvPr id="24" name="arrow-414"/>
          <p:cNvSpPr/>
          <p:nvPr/>
        </p:nvSpPr>
        <p:spPr>
          <a:xfrm>
            <a:off x="5625846" y="6153912"/>
            <a:ext cx="620268" cy="914"/>
          </a:xfrm>
          <a:prstGeom prst="line">
            <a:avLst/>
          </a:prstGeom>
          <a:noFill/>
          <a:ln w="22225">
            <a:solidFill>
              <a:schemeClr val="accent4"/>
            </a:solidFill>
            <a:prstDash val="solid"/>
            <a:tailEnd type="triangle"/>
          </a:ln>
        </p:spPr>
      </p:sp>
      <p:sp>
        <p:nvSpPr>
          <p:cNvPr id="25" name="marker-415"/>
          <p:cNvSpPr/>
          <p:nvPr/>
        </p:nvSpPr>
        <p:spPr>
          <a:xfrm>
            <a:off x="5196078" y="5952744"/>
            <a:ext cx="402336" cy="402336"/>
          </a:xfrm>
          <a:prstGeom prst="ellipse">
            <a:avLst/>
          </a:prstGeom>
          <a:solidFill>
            <a:schemeClr val="accent4"/>
          </a:solidFill>
          <a:ln w="12700">
            <a:solidFill>
              <a:schemeClr val="accent4"/>
            </a:solidFill>
            <a:prstDash val="solid"/>
          </a:ln>
        </p:spPr>
      </p:sp>
      <p:sp>
        <p:nvSpPr>
          <p:cNvPr id="26" name="text-416"/>
          <p:cNvSpPr txBox="1"/>
          <p:nvPr/>
        </p:nvSpPr>
        <p:spPr>
          <a:xfrm>
            <a:off x="5196078" y="595274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5</a:t>
            </a:r>
            <a:endParaRPr lang="en-US" sz="1400" dirty="0"/>
          </a:p>
        </p:txBody>
      </p:sp>
      <p:sp>
        <p:nvSpPr>
          <p:cNvPr id="27" name="text-417"/>
          <p:cNvSpPr txBox="1"/>
          <p:nvPr/>
        </p:nvSpPr>
        <p:spPr>
          <a:xfrm>
            <a:off x="4885944" y="6446520"/>
            <a:ext cx="1022604" cy="411480"/>
          </a:xfrm>
          <a:prstGeom prst="rect">
            <a:avLst/>
          </a:prstGeom>
          <a:noFill/>
          <a:ln/>
        </p:spPr>
        <p:txBody>
          <a:bodyPr wrap="square" lIns="0" tIns="0" rIns="0" bIns="0" rtlCol="0" anchor="t"/>
          <a:lstStyle/>
          <a:p>
            <a:pPr algn="ctr" indent="0" marL="0">
              <a:lnSpc>
                <a:spcPct val="100000"/>
              </a:lnSpc>
              <a:buNone/>
            </a:pPr>
            <a:r>
              <a:rPr lang="en-US" sz="850" b="1" dirty="0">
                <a:solidFill>
                  <a:schemeClr val="tx1"/>
                </a:solidFill>
              </a:rPr>
              <a:t>UV disinfection</a:t>
            </a:r>
            <a:endParaRPr lang="en-US" sz="850" dirty="0"/>
          </a:p>
        </p:txBody>
      </p:sp>
      <p:sp>
        <p:nvSpPr>
          <p:cNvPr id="28" name="marker-418"/>
          <p:cNvSpPr/>
          <p:nvPr/>
        </p:nvSpPr>
        <p:spPr>
          <a:xfrm>
            <a:off x="6273546" y="5952744"/>
            <a:ext cx="402336" cy="402336"/>
          </a:xfrm>
          <a:prstGeom prst="ellipse">
            <a:avLst/>
          </a:prstGeom>
          <a:solidFill>
            <a:schemeClr val="accent4"/>
          </a:solidFill>
          <a:ln w="12700">
            <a:solidFill>
              <a:schemeClr val="accent4"/>
            </a:solidFill>
            <a:prstDash val="solid"/>
          </a:ln>
        </p:spPr>
      </p:sp>
      <p:sp>
        <p:nvSpPr>
          <p:cNvPr id="29" name="text-419"/>
          <p:cNvSpPr txBox="1"/>
          <p:nvPr/>
        </p:nvSpPr>
        <p:spPr>
          <a:xfrm>
            <a:off x="6273546" y="595274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6</a:t>
            </a:r>
            <a:endParaRPr lang="en-US" sz="1400" dirty="0"/>
          </a:p>
        </p:txBody>
      </p:sp>
      <p:sp>
        <p:nvSpPr>
          <p:cNvPr id="30" name="text-420"/>
          <p:cNvSpPr txBox="1"/>
          <p:nvPr/>
        </p:nvSpPr>
        <p:spPr>
          <a:xfrm>
            <a:off x="5963412" y="6446520"/>
            <a:ext cx="1022604" cy="411480"/>
          </a:xfrm>
          <a:prstGeom prst="rect">
            <a:avLst/>
          </a:prstGeom>
          <a:noFill/>
          <a:ln/>
        </p:spPr>
        <p:txBody>
          <a:bodyPr wrap="square" lIns="0" tIns="0" rIns="0" bIns="0" rtlCol="0" anchor="t"/>
          <a:lstStyle/>
          <a:p>
            <a:pPr algn="ctr" indent="0" marL="0">
              <a:lnSpc>
                <a:spcPct val="100000"/>
              </a:lnSpc>
              <a:buNone/>
            </a:pPr>
            <a:r>
              <a:rPr lang="en-US" sz="850" b="1" dirty="0">
                <a:solidFill>
                  <a:schemeClr val="tx1"/>
                </a:solidFill>
              </a:rPr>
              <a:t>Recycled water tower</a:t>
            </a:r>
            <a:endParaRPr lang="en-US" sz="850" dirty="0"/>
          </a:p>
        </p:txBody>
      </p:sp>
      <p:sp>
        <p:nvSpPr>
          <p:cNvPr id="31" name="text-421"/>
          <p:cNvSpPr txBox="1"/>
          <p:nvPr/>
        </p:nvSpPr>
        <p:spPr>
          <a:xfrm>
            <a:off x="548640" y="7086600"/>
            <a:ext cx="3095244" cy="1828800"/>
          </a:xfrm>
          <a:prstGeom prst="rect">
            <a:avLst/>
          </a:prstGeom>
          <a:noFill/>
          <a:ln/>
        </p:spPr>
        <p:txBody>
          <a:bodyPr wrap="square" lIns="0" tIns="0" rIns="0" bIns="0" rtlCol="0" anchor="t"/>
          <a:lstStyle/>
          <a:p>
            <a:pPr indent="0" marL="0">
              <a:lnSpc>
                <a:spcPct val="112000"/>
              </a:lnSpc>
              <a:spcAft>
                <a:spcPts val="700"/>
              </a:spcAft>
              <a:buNone/>
            </a:pPr>
            <a:r>
              <a:rPr lang="en-US" sz="1050" dirty="0">
                <a:solidFill>
                  <a:schemeClr val="tx1"/>
                </a:solidFill>
              </a:rPr>
              <a:t>In Aurora Haven, water goes round and round. Clean snow becomes drinking water at the Snow-to-Food plant. Used greywater from homes flows to the Water Recycling Line: screens, settling basins, sand and membrane filters, UV light, and finally a tower that feeds toilets, laundries, greenhouses and fire hydrants.</a:t>
            </a:r>
            <a:endParaRPr lang="en-US" sz="1050" dirty="0"/>
          </a:p>
          <a:p>
            <a:pPr indent="0" marL="0">
              <a:lnSpc>
                <a:spcPct val="112000"/>
              </a:lnSpc>
              <a:spcAft>
                <a:spcPts val="700"/>
              </a:spcAft>
              <a:buNone/>
            </a:pPr>
            <a:r>
              <a:rPr lang="en-US" sz="1050" dirty="0">
                <a:solidFill>
                  <a:schemeClr val="tx1"/>
                </a:solidFill>
              </a:rPr>
              <a:t>Dirty street snow is melted separately and never reaches the taps.</a:t>
            </a:r>
            <a:endParaRPr lang="en-US" sz="1050" dirty="0"/>
          </a:p>
        </p:txBody>
      </p:sp>
      <p:sp>
        <p:nvSpPr>
          <p:cNvPr id="32" name="text-422"/>
          <p:cNvSpPr txBox="1"/>
          <p:nvPr/>
        </p:nvSpPr>
        <p:spPr>
          <a:xfrm>
            <a:off x="3918204" y="7086600"/>
            <a:ext cx="3095244" cy="1828800"/>
          </a:xfrm>
          <a:prstGeom prst="rect">
            <a:avLst/>
          </a:prstGeom>
          <a:noFill/>
          <a:ln/>
        </p:spPr>
        <p:txBody>
          <a:bodyPr wrap="square" lIns="0" tIns="0" rIns="0" bIns="0" rtlCol="0" anchor="t"/>
          <a:lstStyle/>
          <a:p>
            <a:pPr indent="0" marL="0">
              <a:lnSpc>
                <a:spcPct val="112000"/>
              </a:lnSpc>
              <a:spcAft>
                <a:spcPts val="700"/>
              </a:spcAft>
              <a:buNone/>
            </a:pPr>
            <a:r>
              <a:rPr lang="en-US" sz="1050" dirty="0">
                <a:solidFill>
                  <a:schemeClr val="tx1"/>
                </a:solidFill>
              </a:rPr>
              <a:t>The Circular Recycling Center sorts about 30 tonnes of materials a day with AI optical sorters and robot arms. Food scraps become biogas, and the Plasma Waste Converter handles what is left, turning it into clean gas and building blocks.</a:t>
            </a:r>
            <a:endParaRPr lang="en-US" sz="1050" dirty="0"/>
          </a:p>
          <a:p>
            <a:pPr indent="0" marL="0">
              <a:lnSpc>
                <a:spcPct val="112000"/>
              </a:lnSpc>
              <a:spcAft>
                <a:spcPts val="700"/>
              </a:spcAft>
              <a:buNone/>
            </a:pPr>
            <a:r>
              <a:rPr lang="en-US" sz="1050" dirty="0">
                <a:solidFill>
                  <a:schemeClr val="tx1"/>
                </a:solidFill>
              </a:rPr>
              <a:t>Nothing goes to landfill in the permafrost.</a:t>
            </a:r>
            <a:endParaRPr lang="en-US" sz="1050" dirty="0"/>
          </a:p>
        </p:txBody>
      </p:sp>
      <p:sp>
        <p:nvSpPr>
          <p:cNvPr id="33" name="text-423"/>
          <p:cNvSpPr txBox="1"/>
          <p:nvPr/>
        </p:nvSpPr>
        <p:spPr>
          <a:xfrm>
            <a:off x="548640" y="9052560"/>
            <a:ext cx="1479042" cy="352552"/>
          </a:xfrm>
          <a:prstGeom prst="rect">
            <a:avLst/>
          </a:prstGeom>
          <a:noFill/>
          <a:ln/>
        </p:spPr>
        <p:txBody>
          <a:bodyPr wrap="square" lIns="0" tIns="0" rIns="0" bIns="0" rtlCol="0" anchor="b"/>
          <a:lstStyle/>
          <a:p>
            <a:pPr indent="0" marL="0">
              <a:buNone/>
            </a:pPr>
            <a:r>
              <a:rPr lang="en-US" sz="2200" b="1" dirty="0">
                <a:solidFill>
                  <a:schemeClr val="accent4"/>
                </a:solidFill>
                <a:latin typeface="+mj-lt" pitchFamily="34" charset="0"/>
                <a:ea typeface="+mj-lt" pitchFamily="34" charset="-122"/>
                <a:cs typeface="+mj-lt" pitchFamily="34" charset="-120"/>
              </a:rPr>
              <a:t>95%</a:t>
            </a:r>
            <a:endParaRPr lang="en-US" sz="2200" dirty="0"/>
          </a:p>
        </p:txBody>
      </p:sp>
      <p:sp>
        <p:nvSpPr>
          <p:cNvPr id="34" name="text-424"/>
          <p:cNvSpPr txBox="1"/>
          <p:nvPr/>
        </p:nvSpPr>
        <p:spPr>
          <a:xfrm>
            <a:off x="548640" y="9432544"/>
            <a:ext cx="1479042" cy="36576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of water recycled</a:t>
            </a:r>
            <a:endParaRPr lang="en-US" sz="900" dirty="0"/>
          </a:p>
        </p:txBody>
      </p:sp>
      <p:sp>
        <p:nvSpPr>
          <p:cNvPr id="35" name="text-425"/>
          <p:cNvSpPr txBox="1"/>
          <p:nvPr/>
        </p:nvSpPr>
        <p:spPr>
          <a:xfrm>
            <a:off x="2164842" y="9052560"/>
            <a:ext cx="1479042" cy="352552"/>
          </a:xfrm>
          <a:prstGeom prst="rect">
            <a:avLst/>
          </a:prstGeom>
          <a:noFill/>
          <a:ln/>
        </p:spPr>
        <p:txBody>
          <a:bodyPr wrap="square" lIns="0" tIns="0" rIns="0" bIns="0" rtlCol="0" anchor="b"/>
          <a:lstStyle/>
          <a:p>
            <a:pPr indent="0" marL="0">
              <a:buNone/>
            </a:pPr>
            <a:r>
              <a:rPr lang="en-US" sz="2200" b="1" dirty="0">
                <a:solidFill>
                  <a:schemeClr val="accent4"/>
                </a:solidFill>
                <a:latin typeface="+mj-lt" pitchFamily="34" charset="0"/>
                <a:ea typeface="+mj-lt" pitchFamily="34" charset="-122"/>
                <a:cs typeface="+mj-lt" pitchFamily="34" charset="-120"/>
              </a:rPr>
              <a:t>30 t</a:t>
            </a:r>
            <a:endParaRPr lang="en-US" sz="2200" dirty="0"/>
          </a:p>
        </p:txBody>
      </p:sp>
      <p:sp>
        <p:nvSpPr>
          <p:cNvPr id="36" name="text-426"/>
          <p:cNvSpPr txBox="1"/>
          <p:nvPr/>
        </p:nvSpPr>
        <p:spPr>
          <a:xfrm>
            <a:off x="2164842" y="9432544"/>
            <a:ext cx="1479042" cy="36576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of materials sorted a day</a:t>
            </a:r>
            <a:endParaRPr lang="en-US" sz="900" dirty="0"/>
          </a:p>
        </p:txBody>
      </p:sp>
      <p:sp>
        <p:nvSpPr>
          <p:cNvPr id="37" name="text-427"/>
          <p:cNvSpPr txBox="1"/>
          <p:nvPr/>
        </p:nvSpPr>
        <p:spPr>
          <a:xfrm>
            <a:off x="3781044" y="9052560"/>
            <a:ext cx="1479042" cy="352552"/>
          </a:xfrm>
          <a:prstGeom prst="rect">
            <a:avLst/>
          </a:prstGeom>
          <a:noFill/>
          <a:ln/>
        </p:spPr>
        <p:txBody>
          <a:bodyPr wrap="square" lIns="0" tIns="0" rIns="0" bIns="0" rtlCol="0" anchor="b"/>
          <a:lstStyle/>
          <a:p>
            <a:pPr indent="0" marL="0">
              <a:buNone/>
            </a:pPr>
            <a:r>
              <a:rPr lang="en-US" sz="2200" b="1" dirty="0">
                <a:solidFill>
                  <a:schemeClr val="accent4"/>
                </a:solidFill>
                <a:latin typeface="+mj-lt" pitchFamily="34" charset="0"/>
                <a:ea typeface="+mj-lt" pitchFamily="34" charset="-122"/>
                <a:cs typeface="+mj-lt" pitchFamily="34" charset="-120"/>
              </a:rPr>
              <a:t>20 t</a:t>
            </a:r>
            <a:endParaRPr lang="en-US" sz="2200" dirty="0"/>
          </a:p>
        </p:txBody>
      </p:sp>
      <p:sp>
        <p:nvSpPr>
          <p:cNvPr id="38" name="text-428"/>
          <p:cNvSpPr txBox="1"/>
          <p:nvPr/>
        </p:nvSpPr>
        <p:spPr>
          <a:xfrm>
            <a:off x="3781044" y="9432544"/>
            <a:ext cx="1479042" cy="36576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of rubbish a day turned into gas and blocks</a:t>
            </a:r>
            <a:endParaRPr lang="en-US" sz="900" dirty="0"/>
          </a:p>
        </p:txBody>
      </p:sp>
      <p:sp>
        <p:nvSpPr>
          <p:cNvPr id="39" name="text-429"/>
          <p:cNvSpPr txBox="1"/>
          <p:nvPr/>
        </p:nvSpPr>
        <p:spPr>
          <a:xfrm>
            <a:off x="5397246" y="9052560"/>
            <a:ext cx="1479042" cy="352552"/>
          </a:xfrm>
          <a:prstGeom prst="rect">
            <a:avLst/>
          </a:prstGeom>
          <a:noFill/>
          <a:ln/>
        </p:spPr>
        <p:txBody>
          <a:bodyPr wrap="square" lIns="0" tIns="0" rIns="0" bIns="0" rtlCol="0" anchor="b"/>
          <a:lstStyle/>
          <a:p>
            <a:pPr indent="0" marL="0">
              <a:buNone/>
            </a:pPr>
            <a:r>
              <a:rPr lang="en-US" sz="2200" b="1" dirty="0">
                <a:solidFill>
                  <a:schemeClr val="accent4"/>
                </a:solidFill>
                <a:latin typeface="+mj-lt" pitchFamily="34" charset="0"/>
                <a:ea typeface="+mj-lt" pitchFamily="34" charset="-122"/>
                <a:cs typeface="+mj-lt" pitchFamily="34" charset="-120"/>
              </a:rPr>
              <a:t>0</a:t>
            </a:r>
            <a:endParaRPr lang="en-US" sz="2200" dirty="0"/>
          </a:p>
        </p:txBody>
      </p:sp>
      <p:sp>
        <p:nvSpPr>
          <p:cNvPr id="40" name="text-430"/>
          <p:cNvSpPr txBox="1"/>
          <p:nvPr/>
        </p:nvSpPr>
        <p:spPr>
          <a:xfrm>
            <a:off x="5397246" y="9432544"/>
            <a:ext cx="1479042" cy="36576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landfill in the permafrost</a:t>
            </a:r>
            <a:endParaRPr lang="en-US" sz="90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1"/>
                </a:solidFill>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dot-431"/>
          <p:cNvSpPr/>
          <p:nvPr/>
        </p:nvSpPr>
        <p:spPr>
          <a:xfrm>
            <a:off x="548640" y="516636"/>
            <a:ext cx="100584" cy="100584"/>
          </a:xfrm>
          <a:prstGeom prst="ellipse">
            <a:avLst/>
          </a:prstGeom>
          <a:solidFill>
            <a:schemeClr val="accent6"/>
          </a:solidFill>
          <a:ln w="12700">
            <a:solidFill>
              <a:schemeClr val="accent6"/>
            </a:solidFill>
            <a:prstDash val="solid"/>
          </a:ln>
        </p:spPr>
      </p:sp>
      <p:sp>
        <p:nvSpPr>
          <p:cNvPr id="3" name="text-432"/>
          <p:cNvSpPr txBox="1"/>
          <p:nvPr/>
        </p:nvSpPr>
        <p:spPr>
          <a:xfrm>
            <a:off x="731520" y="475488"/>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TRANSPORT</a:t>
            </a:r>
            <a:endParaRPr lang="en-US" sz="900" dirty="0"/>
          </a:p>
        </p:txBody>
      </p:sp>
      <p:sp>
        <p:nvSpPr>
          <p:cNvPr id="4" name="Text 1"/>
          <p:cNvSpPr/>
          <p:nvPr>
            <p:ph idx="101" type="title" hasCustomPrompt="1"/>
          </p:nvPr>
        </p:nvSpPr>
        <p:spPr>
          <a:xfrm>
            <a:off x="548640" y="749808"/>
            <a:ext cx="6464808" cy="685800"/>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Getting Around Fossil-Free</a:t>
            </a:r>
            <a:endParaRPr lang="en-US" sz="3400" dirty="0"/>
          </a:p>
        </p:txBody>
      </p:sp>
      <p:pic>
        <p:nvPicPr>
          <p:cNvPr id="5" name="picture-433" descr="/home/user/chatbox-bi-n-o/magazine/assets_v2/renders/airport.jpg">    </p:cNvPr>
          <p:cNvPicPr>
            <a:picLocks noChangeAspect="1"/>
          </p:cNvPicPr>
          <p:nvPr/>
        </p:nvPicPr>
        <p:blipFill>
          <a:blip r:embed="rId1"/>
          <a:srcRect l="0" r="0" t="0" b="0"/>
          <a:stretch/>
        </p:blipFill>
        <p:spPr>
          <a:xfrm>
            <a:off x="0" y="1508760"/>
            <a:ext cx="7562088" cy="3291840"/>
          </a:xfrm>
          <a:prstGeom prst="rect">
            <a:avLst/>
          </a:prstGeom>
        </p:spPr>
      </p:pic>
      <p:sp>
        <p:nvSpPr>
          <p:cNvPr id="6" name="text-434"/>
          <p:cNvSpPr txBox="1"/>
          <p:nvPr/>
        </p:nvSpPr>
        <p:spPr>
          <a:xfrm>
            <a:off x="548640" y="4846320"/>
            <a:ext cx="6464808" cy="228600"/>
          </a:xfrm>
          <a:prstGeom prst="rect">
            <a:avLst/>
          </a:prstGeom>
          <a:noFill/>
          <a:ln/>
        </p:spPr>
        <p:txBody>
          <a:bodyPr wrap="square" lIns="0" tIns="0" rIns="0" bIns="0" rtlCol="0" anchor="t"/>
          <a:lstStyle/>
          <a:p>
            <a:pPr indent="0" marL="0">
              <a:buNone/>
            </a:pPr>
            <a:r>
              <a:rPr lang="en-US" sz="850" i="1" dirty="0">
                <a:solidFill>
                  <a:schemeClr val="tx2"/>
                </a:solidFill>
              </a:rPr>
              <a:t>Compact Polar Airport: the glass terminal, the control tower and Flight VN-81 climbing out.</a:t>
            </a:r>
            <a:endParaRPr lang="en-US" sz="850" dirty="0"/>
          </a:p>
        </p:txBody>
      </p:sp>
      <p:sp>
        <p:nvSpPr>
          <p:cNvPr id="7" name="text-435"/>
          <p:cNvSpPr txBox="1"/>
          <p:nvPr/>
        </p:nvSpPr>
        <p:spPr>
          <a:xfrm>
            <a:off x="548640" y="5257800"/>
            <a:ext cx="3611880" cy="3200400"/>
          </a:xfrm>
          <a:prstGeom prst="rect">
            <a:avLst/>
          </a:prstGeom>
          <a:noFill/>
          <a:ln/>
        </p:spPr>
        <p:txBody>
          <a:bodyPr wrap="square" lIns="0" tIns="0" rIns="0" bIns="0" rtlCol="0" anchor="t"/>
          <a:lstStyle/>
          <a:p>
            <a:pPr indent="0" marL="0">
              <a:lnSpc>
                <a:spcPct val="112000"/>
              </a:lnSpc>
              <a:spcAft>
                <a:spcPts val="700"/>
              </a:spcAft>
              <a:buNone/>
            </a:pPr>
            <a:r>
              <a:rPr lang="en-US" sz="1050" dirty="0">
                <a:solidFill>
                  <a:schemeClr val="tx1"/>
                </a:solidFill>
              </a:rPr>
              <a:t>Transport in Aurora Haven is electric and built for the cold. The heart of it is the metro: the north–south Aurora Line and the deep east–west Glacier Line meet at the Central Interchange Station under Liberty Mall. The driverless trains run underground, so blizzards never stop them.</a:t>
            </a:r>
            <a:endParaRPr lang="en-US" sz="1050" dirty="0"/>
          </a:p>
          <a:p>
            <a:pPr indent="0" marL="0">
              <a:lnSpc>
                <a:spcPct val="112000"/>
              </a:lnSpc>
              <a:spcAft>
                <a:spcPts val="700"/>
              </a:spcAft>
              <a:buNone/>
            </a:pPr>
            <a:r>
              <a:rPr lang="en-US" sz="1050" dirty="0">
                <a:solidFill>
                  <a:schemeClr val="tx1"/>
                </a:solidFill>
              </a:rPr>
              <a:t>On the streets there are electric trams, buses and shared robotaxis, and people wait in heated bus shelters. The roads are warmed from below, so no salt is needed, and an outer ring keeps trucks out of downtown.</a:t>
            </a:r>
            <a:endParaRPr lang="en-US" sz="1050" dirty="0"/>
          </a:p>
          <a:p>
            <a:pPr indent="0" marL="0">
              <a:lnSpc>
                <a:spcPct val="112000"/>
              </a:lnSpc>
              <a:spcAft>
                <a:spcPts val="700"/>
              </a:spcAft>
              <a:buNone/>
            </a:pPr>
            <a:r>
              <a:rPr lang="en-US" sz="1050" dirty="0">
                <a:solidFill>
                  <a:schemeClr val="tx1"/>
                </a:solidFill>
              </a:rPr>
              <a:t>Electric cars charge in the heated bays of the EV &amp; Hover-Car Charging Hub, and the airport, with its heated runway and e-fuel planes, keeps the city supplied through deep winter.</a:t>
            </a:r>
            <a:endParaRPr lang="en-US" sz="1050" dirty="0"/>
          </a:p>
        </p:txBody>
      </p:sp>
      <p:sp>
        <p:nvSpPr>
          <p:cNvPr id="8" name="metro-aurora-line"/>
          <p:cNvSpPr/>
          <p:nvPr/>
        </p:nvSpPr>
        <p:spPr>
          <a:xfrm>
            <a:off x="5769864" y="5349240"/>
            <a:ext cx="0" cy="2651760"/>
          </a:xfrm>
          <a:prstGeom prst="line">
            <a:avLst/>
          </a:prstGeom>
          <a:noFill/>
          <a:ln w="88900">
            <a:solidFill>
              <a:schemeClr val="accent6"/>
            </a:solidFill>
            <a:prstDash val="solid"/>
          </a:ln>
        </p:spPr>
      </p:sp>
      <p:sp>
        <p:nvSpPr>
          <p:cNvPr id="9" name="metro-glacier-line"/>
          <p:cNvSpPr/>
          <p:nvPr/>
        </p:nvSpPr>
        <p:spPr>
          <a:xfrm>
            <a:off x="4526280" y="6675120"/>
            <a:ext cx="2487168" cy="0"/>
          </a:xfrm>
          <a:prstGeom prst="line">
            <a:avLst/>
          </a:prstGeom>
          <a:noFill/>
          <a:ln w="88900">
            <a:solidFill>
              <a:schemeClr val="accent4"/>
            </a:solidFill>
            <a:prstDash val="solid"/>
          </a:ln>
        </p:spPr>
      </p:sp>
      <p:sp>
        <p:nvSpPr>
          <p:cNvPr id="10" name="metro-interchange"/>
          <p:cNvSpPr/>
          <p:nvPr/>
        </p:nvSpPr>
        <p:spPr>
          <a:xfrm>
            <a:off x="5568696" y="6473952"/>
            <a:ext cx="402336" cy="402336"/>
          </a:xfrm>
          <a:prstGeom prst="ellipse">
            <a:avLst/>
          </a:prstGeom>
          <a:solidFill>
            <a:schemeClr val="bg1"/>
          </a:solidFill>
          <a:ln w="38100">
            <a:solidFill>
              <a:schemeClr val="tx1"/>
            </a:solidFill>
            <a:prstDash val="solid"/>
          </a:ln>
        </p:spPr>
      </p:sp>
      <p:sp>
        <p:nvSpPr>
          <p:cNvPr id="11" name="text-436"/>
          <p:cNvSpPr txBox="1"/>
          <p:nvPr/>
        </p:nvSpPr>
        <p:spPr>
          <a:xfrm>
            <a:off x="5897880" y="5349240"/>
            <a:ext cx="1188720" cy="365760"/>
          </a:xfrm>
          <a:prstGeom prst="rect">
            <a:avLst/>
          </a:prstGeom>
          <a:noFill/>
          <a:ln/>
        </p:spPr>
        <p:txBody>
          <a:bodyPr wrap="square" lIns="0" tIns="0" rIns="0" bIns="0" rtlCol="0" anchor="t"/>
          <a:lstStyle/>
          <a:p>
            <a:pPr indent="0" marL="0">
              <a:buNone/>
            </a:pPr>
            <a:r>
              <a:rPr lang="en-US" sz="900" b="1" dirty="0">
                <a:solidFill>
                  <a:schemeClr val="accent6"/>
                </a:solidFill>
              </a:rPr>
              <a:t>Aurora Line</a:t>
            </a:r>
            <a:endParaRPr lang="en-US" sz="900" dirty="0"/>
          </a:p>
          <a:p>
            <a:pPr indent="0" marL="0">
              <a:buNone/>
            </a:pPr>
            <a:r>
              <a:rPr lang="en-US" sz="900" b="1" dirty="0">
                <a:solidFill>
                  <a:schemeClr val="accent6"/>
                </a:solidFill>
              </a:rPr>
              <a:t>north–south</a:t>
            </a:r>
            <a:endParaRPr lang="en-US" sz="900" dirty="0"/>
          </a:p>
        </p:txBody>
      </p:sp>
      <p:sp>
        <p:nvSpPr>
          <p:cNvPr id="12" name="text-437"/>
          <p:cNvSpPr txBox="1"/>
          <p:nvPr/>
        </p:nvSpPr>
        <p:spPr>
          <a:xfrm>
            <a:off x="4526280" y="6821424"/>
            <a:ext cx="1005840" cy="365760"/>
          </a:xfrm>
          <a:prstGeom prst="rect">
            <a:avLst/>
          </a:prstGeom>
          <a:noFill/>
          <a:ln/>
        </p:spPr>
        <p:txBody>
          <a:bodyPr wrap="square" lIns="0" tIns="0" rIns="0" bIns="0" rtlCol="0" anchor="t"/>
          <a:lstStyle/>
          <a:p>
            <a:pPr indent="0" marL="0">
              <a:buNone/>
            </a:pPr>
            <a:r>
              <a:rPr lang="en-US" sz="900" b="1" dirty="0">
                <a:solidFill>
                  <a:schemeClr val="accent4"/>
                </a:solidFill>
              </a:rPr>
              <a:t>Glacier Line</a:t>
            </a:r>
            <a:endParaRPr lang="en-US" sz="900" dirty="0"/>
          </a:p>
          <a:p>
            <a:pPr indent="0" marL="0">
              <a:buNone/>
            </a:pPr>
            <a:r>
              <a:rPr lang="en-US" sz="900" b="1" dirty="0">
                <a:solidFill>
                  <a:schemeClr val="accent4"/>
                </a:solidFill>
              </a:rPr>
              <a:t>east–west</a:t>
            </a:r>
            <a:endParaRPr lang="en-US" sz="900" dirty="0"/>
          </a:p>
        </p:txBody>
      </p:sp>
      <p:sp>
        <p:nvSpPr>
          <p:cNvPr id="13" name="text-438"/>
          <p:cNvSpPr txBox="1"/>
          <p:nvPr/>
        </p:nvSpPr>
        <p:spPr>
          <a:xfrm>
            <a:off x="6044184" y="6108192"/>
            <a:ext cx="1051560" cy="502920"/>
          </a:xfrm>
          <a:prstGeom prst="rect">
            <a:avLst/>
          </a:prstGeom>
          <a:noFill/>
          <a:ln/>
        </p:spPr>
        <p:txBody>
          <a:bodyPr wrap="square" lIns="0" tIns="0" rIns="0" bIns="0" rtlCol="0" anchor="b"/>
          <a:lstStyle/>
          <a:p>
            <a:pPr indent="0" marL="0">
              <a:buNone/>
            </a:pPr>
            <a:r>
              <a:rPr lang="en-US" sz="850" b="1" dirty="0">
                <a:solidFill>
                  <a:schemeClr val="tx1"/>
                </a:solidFill>
              </a:rPr>
              <a:t>Central Interchange Station, under Liberty Mall</a:t>
            </a:r>
            <a:endParaRPr lang="en-US" sz="850" dirty="0"/>
          </a:p>
        </p:txBody>
      </p:sp>
      <p:sp>
        <p:nvSpPr>
          <p:cNvPr id="14" name="text-439"/>
          <p:cNvSpPr txBox="1"/>
          <p:nvPr/>
        </p:nvSpPr>
        <p:spPr>
          <a:xfrm>
            <a:off x="548640" y="8732520"/>
            <a:ext cx="1183234" cy="327152"/>
          </a:xfrm>
          <a:prstGeom prst="rect">
            <a:avLst/>
          </a:prstGeom>
          <a:noFill/>
          <a:ln/>
        </p:spPr>
        <p:txBody>
          <a:bodyPr wrap="square" lIns="0" tIns="0" rIns="0" bIns="0" rtlCol="0" anchor="b"/>
          <a:lstStyle/>
          <a:p>
            <a:pPr indent="0" marL="0">
              <a:buNone/>
            </a:pPr>
            <a:r>
              <a:rPr lang="en-US" sz="2000" b="1" dirty="0">
                <a:solidFill>
                  <a:schemeClr val="accent6"/>
                </a:solidFill>
                <a:latin typeface="+mj-lt" pitchFamily="34" charset="0"/>
                <a:ea typeface="+mj-lt" pitchFamily="34" charset="-122"/>
                <a:cs typeface="+mj-lt" pitchFamily="34" charset="-120"/>
              </a:rPr>
              <a:t>3 min</a:t>
            </a:r>
            <a:endParaRPr lang="en-US" sz="2000" dirty="0"/>
          </a:p>
        </p:txBody>
      </p:sp>
      <p:sp>
        <p:nvSpPr>
          <p:cNvPr id="15" name="text-440"/>
          <p:cNvSpPr txBox="1"/>
          <p:nvPr/>
        </p:nvSpPr>
        <p:spPr>
          <a:xfrm>
            <a:off x="548640" y="9087104"/>
            <a:ext cx="1183234" cy="457200"/>
          </a:xfrm>
          <a:prstGeom prst="rect">
            <a:avLst/>
          </a:prstGeom>
          <a:noFill/>
          <a:ln/>
        </p:spPr>
        <p:txBody>
          <a:bodyPr wrap="square" lIns="0" tIns="0" rIns="0" bIns="0" rtlCol="0" anchor="t"/>
          <a:lstStyle/>
          <a:p>
            <a:pPr indent="0" marL="0">
              <a:lnSpc>
                <a:spcPct val="105000"/>
              </a:lnSpc>
              <a:buNone/>
            </a:pPr>
            <a:r>
              <a:rPr lang="en-US" sz="850" dirty="0">
                <a:solidFill>
                  <a:schemeClr val="tx2"/>
                </a:solidFill>
              </a:rPr>
              <a:t>Aurora Line trains at rush hour</a:t>
            </a:r>
            <a:endParaRPr lang="en-US" sz="850" dirty="0"/>
          </a:p>
        </p:txBody>
      </p:sp>
      <p:sp>
        <p:nvSpPr>
          <p:cNvPr id="16" name="text-441"/>
          <p:cNvSpPr txBox="1"/>
          <p:nvPr/>
        </p:nvSpPr>
        <p:spPr>
          <a:xfrm>
            <a:off x="1841602" y="8732520"/>
            <a:ext cx="1183234" cy="327152"/>
          </a:xfrm>
          <a:prstGeom prst="rect">
            <a:avLst/>
          </a:prstGeom>
          <a:noFill/>
          <a:ln/>
        </p:spPr>
        <p:txBody>
          <a:bodyPr wrap="square" lIns="0" tIns="0" rIns="0" bIns="0" rtlCol="0" anchor="b"/>
          <a:lstStyle/>
          <a:p>
            <a:pPr indent="0" marL="0">
              <a:buNone/>
            </a:pPr>
            <a:r>
              <a:rPr lang="en-US" sz="2000" b="1" dirty="0">
                <a:solidFill>
                  <a:schemeClr val="accent6"/>
                </a:solidFill>
                <a:latin typeface="+mj-lt" pitchFamily="34" charset="0"/>
                <a:ea typeface="+mj-lt" pitchFamily="34" charset="-122"/>
                <a:cs typeface="+mj-lt" pitchFamily="34" charset="-120"/>
              </a:rPr>
              <a:t>4 min</a:t>
            </a:r>
            <a:endParaRPr lang="en-US" sz="2000" dirty="0"/>
          </a:p>
        </p:txBody>
      </p:sp>
      <p:sp>
        <p:nvSpPr>
          <p:cNvPr id="17" name="text-442"/>
          <p:cNvSpPr txBox="1"/>
          <p:nvPr/>
        </p:nvSpPr>
        <p:spPr>
          <a:xfrm>
            <a:off x="1841602" y="9087104"/>
            <a:ext cx="1183234" cy="457200"/>
          </a:xfrm>
          <a:prstGeom prst="rect">
            <a:avLst/>
          </a:prstGeom>
          <a:noFill/>
          <a:ln/>
        </p:spPr>
        <p:txBody>
          <a:bodyPr wrap="square" lIns="0" tIns="0" rIns="0" bIns="0" rtlCol="0" anchor="t"/>
          <a:lstStyle/>
          <a:p>
            <a:pPr indent="0" marL="0">
              <a:lnSpc>
                <a:spcPct val="105000"/>
              </a:lnSpc>
              <a:buNone/>
            </a:pPr>
            <a:r>
              <a:rPr lang="en-US" sz="850" dirty="0">
                <a:solidFill>
                  <a:schemeClr val="tx2"/>
                </a:solidFill>
              </a:rPr>
              <a:t>Glacier Line; every 90 s after big stadium events</a:t>
            </a:r>
            <a:endParaRPr lang="en-US" sz="850" dirty="0"/>
          </a:p>
        </p:txBody>
      </p:sp>
      <p:sp>
        <p:nvSpPr>
          <p:cNvPr id="18" name="text-443"/>
          <p:cNvSpPr txBox="1"/>
          <p:nvPr/>
        </p:nvSpPr>
        <p:spPr>
          <a:xfrm>
            <a:off x="3134563" y="8732520"/>
            <a:ext cx="1183234" cy="327152"/>
          </a:xfrm>
          <a:prstGeom prst="rect">
            <a:avLst/>
          </a:prstGeom>
          <a:noFill/>
          <a:ln/>
        </p:spPr>
        <p:txBody>
          <a:bodyPr wrap="square" lIns="0" tIns="0" rIns="0" bIns="0" rtlCol="0" anchor="b"/>
          <a:lstStyle/>
          <a:p>
            <a:pPr indent="0" marL="0">
              <a:buNone/>
            </a:pPr>
            <a:r>
              <a:rPr lang="en-US" sz="2000" b="1" dirty="0">
                <a:solidFill>
                  <a:schemeClr val="accent6"/>
                </a:solidFill>
                <a:latin typeface="+mj-lt" pitchFamily="34" charset="0"/>
                <a:ea typeface="+mj-lt" pitchFamily="34" charset="-122"/>
                <a:cs typeface="+mj-lt" pitchFamily="34" charset="-120"/>
              </a:rPr>
              <a:t>30%</a:t>
            </a:r>
            <a:endParaRPr lang="en-US" sz="2000" dirty="0"/>
          </a:p>
        </p:txBody>
      </p:sp>
      <p:sp>
        <p:nvSpPr>
          <p:cNvPr id="19" name="text-444"/>
          <p:cNvSpPr txBox="1"/>
          <p:nvPr/>
        </p:nvSpPr>
        <p:spPr>
          <a:xfrm>
            <a:off x="3134563" y="9087104"/>
            <a:ext cx="1183234" cy="457200"/>
          </a:xfrm>
          <a:prstGeom prst="rect">
            <a:avLst/>
          </a:prstGeom>
          <a:noFill/>
          <a:ln/>
        </p:spPr>
        <p:txBody>
          <a:bodyPr wrap="square" lIns="0" tIns="0" rIns="0" bIns="0" rtlCol="0" anchor="t"/>
          <a:lstStyle/>
          <a:p>
            <a:pPr indent="0" marL="0">
              <a:lnSpc>
                <a:spcPct val="105000"/>
              </a:lnSpc>
              <a:buNone/>
            </a:pPr>
            <a:r>
              <a:rPr lang="en-US" sz="850" dirty="0">
                <a:solidFill>
                  <a:schemeClr val="tx2"/>
                </a:solidFill>
              </a:rPr>
              <a:t>of train energy returned by braking</a:t>
            </a:r>
            <a:endParaRPr lang="en-US" sz="850" dirty="0"/>
          </a:p>
        </p:txBody>
      </p:sp>
      <p:sp>
        <p:nvSpPr>
          <p:cNvPr id="20" name="text-445"/>
          <p:cNvSpPr txBox="1"/>
          <p:nvPr/>
        </p:nvSpPr>
        <p:spPr>
          <a:xfrm>
            <a:off x="4427525" y="8732520"/>
            <a:ext cx="1183234" cy="327152"/>
          </a:xfrm>
          <a:prstGeom prst="rect">
            <a:avLst/>
          </a:prstGeom>
          <a:noFill/>
          <a:ln/>
        </p:spPr>
        <p:txBody>
          <a:bodyPr wrap="square" lIns="0" tIns="0" rIns="0" bIns="0" rtlCol="0" anchor="b"/>
          <a:lstStyle/>
          <a:p>
            <a:pPr indent="0" marL="0">
              <a:buNone/>
            </a:pPr>
            <a:r>
              <a:rPr lang="en-US" sz="2000" b="1" dirty="0">
                <a:solidFill>
                  <a:schemeClr val="accent6"/>
                </a:solidFill>
                <a:latin typeface="+mj-lt" pitchFamily="34" charset="0"/>
                <a:ea typeface="+mj-lt" pitchFamily="34" charset="-122"/>
                <a:cs typeface="+mj-lt" pitchFamily="34" charset="-120"/>
              </a:rPr>
              <a:t>2,800 m</a:t>
            </a:r>
            <a:endParaRPr lang="en-US" sz="2000" dirty="0"/>
          </a:p>
        </p:txBody>
      </p:sp>
      <p:sp>
        <p:nvSpPr>
          <p:cNvPr id="21" name="text-446"/>
          <p:cNvSpPr txBox="1"/>
          <p:nvPr/>
        </p:nvSpPr>
        <p:spPr>
          <a:xfrm>
            <a:off x="4427525" y="9087104"/>
            <a:ext cx="1183234" cy="457200"/>
          </a:xfrm>
          <a:prstGeom prst="rect">
            <a:avLst/>
          </a:prstGeom>
          <a:noFill/>
          <a:ln/>
        </p:spPr>
        <p:txBody>
          <a:bodyPr wrap="square" lIns="0" tIns="0" rIns="0" bIns="0" rtlCol="0" anchor="t"/>
          <a:lstStyle/>
          <a:p>
            <a:pPr indent="0" marL="0">
              <a:lnSpc>
                <a:spcPct val="105000"/>
              </a:lnSpc>
              <a:buNone/>
            </a:pPr>
            <a:r>
              <a:rPr lang="en-US" sz="850" dirty="0">
                <a:solidFill>
                  <a:schemeClr val="tx2"/>
                </a:solidFill>
              </a:rPr>
              <a:t>heated airport runway</a:t>
            </a:r>
            <a:endParaRPr lang="en-US" sz="850" dirty="0"/>
          </a:p>
        </p:txBody>
      </p:sp>
      <p:sp>
        <p:nvSpPr>
          <p:cNvPr id="22" name="text-447"/>
          <p:cNvSpPr txBox="1"/>
          <p:nvPr/>
        </p:nvSpPr>
        <p:spPr>
          <a:xfrm>
            <a:off x="5720486" y="8732520"/>
            <a:ext cx="1183234" cy="327152"/>
          </a:xfrm>
          <a:prstGeom prst="rect">
            <a:avLst/>
          </a:prstGeom>
          <a:noFill/>
          <a:ln/>
        </p:spPr>
        <p:txBody>
          <a:bodyPr wrap="square" lIns="0" tIns="0" rIns="0" bIns="0" rtlCol="0" anchor="b"/>
          <a:lstStyle/>
          <a:p>
            <a:pPr indent="0" marL="0">
              <a:buNone/>
            </a:pPr>
            <a:r>
              <a:rPr lang="en-US" sz="2000" b="1" dirty="0">
                <a:solidFill>
                  <a:schemeClr val="accent6"/>
                </a:solidFill>
                <a:latin typeface="+mj-lt" pitchFamily="34" charset="0"/>
                <a:ea typeface="+mj-lt" pitchFamily="34" charset="-122"/>
                <a:cs typeface="+mj-lt" pitchFamily="34" charset="-120"/>
              </a:rPr>
              <a:t>20 km/h</a:t>
            </a:r>
            <a:endParaRPr lang="en-US" sz="2000" dirty="0"/>
          </a:p>
        </p:txBody>
      </p:sp>
      <p:sp>
        <p:nvSpPr>
          <p:cNvPr id="23" name="text-448"/>
          <p:cNvSpPr txBox="1"/>
          <p:nvPr/>
        </p:nvSpPr>
        <p:spPr>
          <a:xfrm>
            <a:off x="5720486" y="9087104"/>
            <a:ext cx="1183234" cy="457200"/>
          </a:xfrm>
          <a:prstGeom prst="rect">
            <a:avLst/>
          </a:prstGeom>
          <a:noFill/>
          <a:ln/>
        </p:spPr>
        <p:txBody>
          <a:bodyPr wrap="square" lIns="0" tIns="0" rIns="0" bIns="0" rtlCol="0" anchor="t"/>
          <a:lstStyle/>
          <a:p>
            <a:pPr indent="0" marL="0">
              <a:lnSpc>
                <a:spcPct val="105000"/>
              </a:lnSpc>
              <a:buNone/>
            </a:pPr>
            <a:r>
              <a:rPr lang="en-US" sz="850" dirty="0">
                <a:solidFill>
                  <a:schemeClr val="tx2"/>
                </a:solidFill>
              </a:rPr>
              <a:t>downtown speed limit</a:t>
            </a:r>
            <a:endParaRPr lang="en-US" sz="85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1"/>
                </a:solidFill>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dot-449"/>
          <p:cNvSpPr/>
          <p:nvPr/>
        </p:nvSpPr>
        <p:spPr>
          <a:xfrm>
            <a:off x="548640" y="516636"/>
            <a:ext cx="100584" cy="100584"/>
          </a:xfrm>
          <a:prstGeom prst="ellipse">
            <a:avLst/>
          </a:prstGeom>
          <a:solidFill>
            <a:schemeClr val="accent6"/>
          </a:solidFill>
          <a:ln w="12700">
            <a:solidFill>
              <a:schemeClr val="accent6"/>
            </a:solidFill>
            <a:prstDash val="solid"/>
          </a:ln>
        </p:spPr>
      </p:sp>
      <p:sp>
        <p:nvSpPr>
          <p:cNvPr id="3" name="text-450"/>
          <p:cNvSpPr txBox="1"/>
          <p:nvPr/>
        </p:nvSpPr>
        <p:spPr>
          <a:xfrm>
            <a:off x="731520" y="475488"/>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EVERYDAY LIFE</a:t>
            </a:r>
            <a:endParaRPr lang="en-US" sz="900" dirty="0"/>
          </a:p>
        </p:txBody>
      </p:sp>
      <p:sp>
        <p:nvSpPr>
          <p:cNvPr id="4" name="Text 1"/>
          <p:cNvSpPr/>
          <p:nvPr>
            <p:ph idx="101" type="title" hasCustomPrompt="1"/>
          </p:nvPr>
        </p:nvSpPr>
        <p:spPr>
          <a:xfrm>
            <a:off x="548640" y="749808"/>
            <a:ext cx="6464808" cy="685800"/>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A Livable City Every Day</a:t>
            </a:r>
            <a:endParaRPr lang="en-US" sz="3400" dirty="0"/>
          </a:p>
        </p:txBody>
      </p:sp>
      <p:pic>
        <p:nvPicPr>
          <p:cNvPr id="5" name="picture-451" descr="/home/user/chatbox-bi-n-o/magazine/assets_v2/renders/stadium.jpg">    </p:cNvPr>
          <p:cNvPicPr>
            <a:picLocks noChangeAspect="1"/>
          </p:cNvPicPr>
          <p:nvPr/>
        </p:nvPicPr>
        <p:blipFill>
          <a:blip r:embed="rId1"/>
          <a:srcRect l="0" r="0" t="0" b="0"/>
          <a:stretch/>
        </p:blipFill>
        <p:spPr>
          <a:xfrm>
            <a:off x="0" y="1508760"/>
            <a:ext cx="7562088" cy="3566160"/>
          </a:xfrm>
          <a:prstGeom prst="rect">
            <a:avLst/>
          </a:prstGeom>
        </p:spPr>
      </p:pic>
      <p:sp>
        <p:nvSpPr>
          <p:cNvPr id="6" name="text-452"/>
          <p:cNvSpPr txBox="1"/>
          <p:nvPr/>
        </p:nvSpPr>
        <p:spPr>
          <a:xfrm>
            <a:off x="548640" y="5120640"/>
            <a:ext cx="6464808" cy="228600"/>
          </a:xfrm>
          <a:prstGeom prst="rect">
            <a:avLst/>
          </a:prstGeom>
          <a:noFill/>
          <a:ln/>
        </p:spPr>
        <p:txBody>
          <a:bodyPr wrap="square" lIns="0" tIns="0" rIns="0" bIns="0" rtlCol="0" anchor="t"/>
          <a:lstStyle/>
          <a:p>
            <a:pPr indent="0" marL="0">
              <a:buNone/>
            </a:pPr>
            <a:r>
              <a:rPr lang="en-US" sz="850" i="1" dirty="0">
                <a:solidFill>
                  <a:schemeClr val="tx2"/>
                </a:solidFill>
              </a:rPr>
              <a:t>Aurora Snow Stadium, home of school sports days and the Midwinter Aurora Festival.</a:t>
            </a:r>
            <a:endParaRPr lang="en-US" sz="850" dirty="0"/>
          </a:p>
        </p:txBody>
      </p:sp>
      <p:sp>
        <p:nvSpPr>
          <p:cNvPr id="7" name="kicker-dot-453"/>
          <p:cNvSpPr/>
          <p:nvPr/>
        </p:nvSpPr>
        <p:spPr>
          <a:xfrm>
            <a:off x="548640" y="5618988"/>
            <a:ext cx="100584" cy="100584"/>
          </a:xfrm>
          <a:prstGeom prst="ellipse">
            <a:avLst/>
          </a:prstGeom>
          <a:solidFill>
            <a:schemeClr val="accent6"/>
          </a:solidFill>
          <a:ln w="12700">
            <a:solidFill>
              <a:schemeClr val="accent6"/>
            </a:solidFill>
            <a:prstDash val="solid"/>
          </a:ln>
        </p:spPr>
      </p:sp>
      <p:sp>
        <p:nvSpPr>
          <p:cNvPr id="8" name="text-454"/>
          <p:cNvSpPr txBox="1"/>
          <p:nvPr/>
        </p:nvSpPr>
        <p:spPr>
          <a:xfrm>
            <a:off x="731520" y="5577840"/>
            <a:ext cx="2912364" cy="201168"/>
          </a:xfrm>
          <a:prstGeom prst="rect">
            <a:avLst/>
          </a:prstGeom>
          <a:noFill/>
          <a:ln/>
        </p:spPr>
        <p:txBody>
          <a:bodyPr wrap="square" lIns="0" tIns="0" rIns="0" bIns="0" rtlCol="0" anchor="t"/>
          <a:lstStyle/>
          <a:p>
            <a:pPr indent="0" marL="0">
              <a:buNone/>
            </a:pPr>
            <a:r>
              <a:rPr lang="en-US" sz="900" b="1" spc="300" kern="0" dirty="0">
                <a:solidFill>
                  <a:schemeClr val="accent6"/>
                </a:solidFill>
              </a:rPr>
              <a:t>HOMES</a:t>
            </a:r>
            <a:endParaRPr lang="en-US" sz="900" dirty="0"/>
          </a:p>
        </p:txBody>
      </p:sp>
      <p:sp>
        <p:nvSpPr>
          <p:cNvPr id="9" name="text-455"/>
          <p:cNvSpPr txBox="1"/>
          <p:nvPr/>
        </p:nvSpPr>
        <p:spPr>
          <a:xfrm>
            <a:off x="548640" y="5852160"/>
            <a:ext cx="3095244" cy="868680"/>
          </a:xfrm>
          <a:prstGeom prst="rect">
            <a:avLst/>
          </a:prstGeom>
          <a:noFill/>
          <a:ln/>
        </p:spPr>
        <p:txBody>
          <a:bodyPr wrap="square" lIns="0" tIns="0" rIns="0" bIns="0" rtlCol="0" anchor="t"/>
          <a:lstStyle/>
          <a:p>
            <a:pPr indent="0" marL="0">
              <a:lnSpc>
                <a:spcPct val="108000"/>
              </a:lnSpc>
              <a:buNone/>
            </a:pPr>
            <a:r>
              <a:rPr lang="en-US" sz="1050" dirty="0">
                <a:solidFill>
                  <a:schemeClr val="tx1"/>
                </a:solidFill>
              </a:rPr>
              <a:t>Family houses in Snowpine Residences, the western eco-homes, towers such as the Aurora 81 Residences and Ice Crystal Apartments, co-living, student and senior housing.</a:t>
            </a:r>
            <a:endParaRPr lang="en-US" sz="1050" dirty="0"/>
          </a:p>
        </p:txBody>
      </p:sp>
      <p:sp>
        <p:nvSpPr>
          <p:cNvPr id="10" name="kicker-dot-456"/>
          <p:cNvSpPr/>
          <p:nvPr/>
        </p:nvSpPr>
        <p:spPr>
          <a:xfrm>
            <a:off x="3918204" y="5618988"/>
            <a:ext cx="100584" cy="100584"/>
          </a:xfrm>
          <a:prstGeom prst="ellipse">
            <a:avLst/>
          </a:prstGeom>
          <a:solidFill>
            <a:schemeClr val="accent6"/>
          </a:solidFill>
          <a:ln w="12700">
            <a:solidFill>
              <a:schemeClr val="accent6"/>
            </a:solidFill>
            <a:prstDash val="solid"/>
          </a:ln>
        </p:spPr>
      </p:sp>
      <p:sp>
        <p:nvSpPr>
          <p:cNvPr id="11" name="text-457"/>
          <p:cNvSpPr txBox="1"/>
          <p:nvPr/>
        </p:nvSpPr>
        <p:spPr>
          <a:xfrm>
            <a:off x="4101084" y="5577840"/>
            <a:ext cx="2912364" cy="201168"/>
          </a:xfrm>
          <a:prstGeom prst="rect">
            <a:avLst/>
          </a:prstGeom>
          <a:noFill/>
          <a:ln/>
        </p:spPr>
        <p:txBody>
          <a:bodyPr wrap="square" lIns="0" tIns="0" rIns="0" bIns="0" rtlCol="0" anchor="t"/>
          <a:lstStyle/>
          <a:p>
            <a:pPr indent="0" marL="0">
              <a:buNone/>
            </a:pPr>
            <a:r>
              <a:rPr lang="en-US" sz="900" b="1" spc="300" kern="0" dirty="0">
                <a:solidFill>
                  <a:schemeClr val="accent6"/>
                </a:solidFill>
              </a:rPr>
              <a:t>LEARNING</a:t>
            </a:r>
            <a:endParaRPr lang="en-US" sz="900" dirty="0"/>
          </a:p>
        </p:txBody>
      </p:sp>
      <p:sp>
        <p:nvSpPr>
          <p:cNvPr id="12" name="text-458"/>
          <p:cNvSpPr txBox="1"/>
          <p:nvPr/>
        </p:nvSpPr>
        <p:spPr>
          <a:xfrm>
            <a:off x="3918204" y="5852160"/>
            <a:ext cx="3095244" cy="868680"/>
          </a:xfrm>
          <a:prstGeom prst="rect">
            <a:avLst/>
          </a:prstGeom>
          <a:noFill/>
          <a:ln/>
        </p:spPr>
        <p:txBody>
          <a:bodyPr wrap="square" lIns="0" tIns="0" rIns="0" bIns="0" rtlCol="0" anchor="t"/>
          <a:lstStyle/>
          <a:p>
            <a:pPr indent="0" marL="0">
              <a:lnSpc>
                <a:spcPct val="108000"/>
              </a:lnSpc>
              <a:buNone/>
            </a:pPr>
            <a:r>
              <a:rPr lang="en-US" sz="1050" dirty="0">
                <a:solidFill>
                  <a:schemeClr val="tx1"/>
                </a:solidFill>
              </a:rPr>
              <a:t>Three kindergartens, Snow Lantern Primary School, the Northern Lights School for ages 6 to 18, and Arctic University.</a:t>
            </a:r>
            <a:endParaRPr lang="en-US" sz="1050" dirty="0"/>
          </a:p>
        </p:txBody>
      </p:sp>
      <p:sp>
        <p:nvSpPr>
          <p:cNvPr id="13" name="kicker-dot-459"/>
          <p:cNvSpPr/>
          <p:nvPr/>
        </p:nvSpPr>
        <p:spPr>
          <a:xfrm>
            <a:off x="548640" y="6853428"/>
            <a:ext cx="100584" cy="100584"/>
          </a:xfrm>
          <a:prstGeom prst="ellipse">
            <a:avLst/>
          </a:prstGeom>
          <a:solidFill>
            <a:schemeClr val="accent6"/>
          </a:solidFill>
          <a:ln w="12700">
            <a:solidFill>
              <a:schemeClr val="accent6"/>
            </a:solidFill>
            <a:prstDash val="solid"/>
          </a:ln>
        </p:spPr>
      </p:sp>
      <p:sp>
        <p:nvSpPr>
          <p:cNvPr id="14" name="text-460"/>
          <p:cNvSpPr txBox="1"/>
          <p:nvPr/>
        </p:nvSpPr>
        <p:spPr>
          <a:xfrm>
            <a:off x="731520" y="6812280"/>
            <a:ext cx="2912364" cy="201168"/>
          </a:xfrm>
          <a:prstGeom prst="rect">
            <a:avLst/>
          </a:prstGeom>
          <a:noFill/>
          <a:ln/>
        </p:spPr>
        <p:txBody>
          <a:bodyPr wrap="square" lIns="0" tIns="0" rIns="0" bIns="0" rtlCol="0" anchor="t"/>
          <a:lstStyle/>
          <a:p>
            <a:pPr indent="0" marL="0">
              <a:buNone/>
            </a:pPr>
            <a:r>
              <a:rPr lang="en-US" sz="900" b="1" spc="300" kern="0" dirty="0">
                <a:solidFill>
                  <a:schemeClr val="accent6"/>
                </a:solidFill>
              </a:rPr>
              <a:t>HEALTH</a:t>
            </a:r>
            <a:endParaRPr lang="en-US" sz="900" dirty="0"/>
          </a:p>
        </p:txBody>
      </p:sp>
      <p:sp>
        <p:nvSpPr>
          <p:cNvPr id="15" name="text-461"/>
          <p:cNvSpPr txBox="1"/>
          <p:nvPr/>
        </p:nvSpPr>
        <p:spPr>
          <a:xfrm>
            <a:off x="548640" y="7086600"/>
            <a:ext cx="3095244" cy="868680"/>
          </a:xfrm>
          <a:prstGeom prst="rect">
            <a:avLst/>
          </a:prstGeom>
          <a:noFill/>
          <a:ln/>
        </p:spPr>
        <p:txBody>
          <a:bodyPr wrap="square" lIns="0" tIns="0" rIns="0" bIns="0" rtlCol="0" anchor="t"/>
          <a:lstStyle/>
          <a:p>
            <a:pPr indent="0" marL="0">
              <a:lnSpc>
                <a:spcPct val="108000"/>
              </a:lnSpc>
              <a:buNone/>
            </a:pPr>
            <a:r>
              <a:rPr lang="en-US" sz="1050" dirty="0">
                <a:solidFill>
                  <a:schemeClr val="tx1"/>
                </a:solidFill>
              </a:rPr>
              <a:t>Snowflake General Hospital with about 250 beds and a 24-hour emergency department, a campus clinic and a 24-hour pharmacy.</a:t>
            </a:r>
            <a:endParaRPr lang="en-US" sz="1050" dirty="0"/>
          </a:p>
        </p:txBody>
      </p:sp>
      <p:sp>
        <p:nvSpPr>
          <p:cNvPr id="16" name="kicker-dot-462"/>
          <p:cNvSpPr/>
          <p:nvPr/>
        </p:nvSpPr>
        <p:spPr>
          <a:xfrm>
            <a:off x="3918204" y="6853428"/>
            <a:ext cx="100584" cy="100584"/>
          </a:xfrm>
          <a:prstGeom prst="ellipse">
            <a:avLst/>
          </a:prstGeom>
          <a:solidFill>
            <a:schemeClr val="accent6"/>
          </a:solidFill>
          <a:ln w="12700">
            <a:solidFill>
              <a:schemeClr val="accent6"/>
            </a:solidFill>
            <a:prstDash val="solid"/>
          </a:ln>
        </p:spPr>
      </p:sp>
      <p:sp>
        <p:nvSpPr>
          <p:cNvPr id="17" name="text-463"/>
          <p:cNvSpPr txBox="1"/>
          <p:nvPr/>
        </p:nvSpPr>
        <p:spPr>
          <a:xfrm>
            <a:off x="4101084" y="6812280"/>
            <a:ext cx="2912364" cy="201168"/>
          </a:xfrm>
          <a:prstGeom prst="rect">
            <a:avLst/>
          </a:prstGeom>
          <a:noFill/>
          <a:ln/>
        </p:spPr>
        <p:txBody>
          <a:bodyPr wrap="square" lIns="0" tIns="0" rIns="0" bIns="0" rtlCol="0" anchor="t"/>
          <a:lstStyle/>
          <a:p>
            <a:pPr indent="0" marL="0">
              <a:buNone/>
            </a:pPr>
            <a:r>
              <a:rPr lang="en-US" sz="900" b="1" spc="300" kern="0" dirty="0">
                <a:solidFill>
                  <a:schemeClr val="accent6"/>
                </a:solidFill>
              </a:rPr>
              <a:t>SHOPPING</a:t>
            </a:r>
            <a:endParaRPr lang="en-US" sz="900" dirty="0"/>
          </a:p>
        </p:txBody>
      </p:sp>
      <p:sp>
        <p:nvSpPr>
          <p:cNvPr id="18" name="text-464"/>
          <p:cNvSpPr txBox="1"/>
          <p:nvPr/>
        </p:nvSpPr>
        <p:spPr>
          <a:xfrm>
            <a:off x="3918204" y="7086600"/>
            <a:ext cx="3095244" cy="868680"/>
          </a:xfrm>
          <a:prstGeom prst="rect">
            <a:avLst/>
          </a:prstGeom>
          <a:noFill/>
          <a:ln/>
        </p:spPr>
        <p:txBody>
          <a:bodyPr wrap="square" lIns="0" tIns="0" rIns="0" bIns="0" rtlCol="0" anchor="t"/>
          <a:lstStyle/>
          <a:p>
            <a:pPr indent="0" marL="0">
              <a:lnSpc>
                <a:spcPct val="108000"/>
              </a:lnSpc>
              <a:buNone/>
            </a:pPr>
            <a:r>
              <a:rPr lang="en-US" sz="1050" dirty="0">
                <a:solidFill>
                  <a:schemeClr val="tx1"/>
                </a:solidFill>
              </a:rPr>
              <a:t>Igloo Fresh Supermarket, Tundra Grocery, the night and fish markets and the Aurora Glacier Mall with its indoor atrium park.</a:t>
            </a:r>
            <a:endParaRPr lang="en-US" sz="1050" dirty="0"/>
          </a:p>
        </p:txBody>
      </p:sp>
      <p:sp>
        <p:nvSpPr>
          <p:cNvPr id="19" name="kicker-dot-465"/>
          <p:cNvSpPr/>
          <p:nvPr/>
        </p:nvSpPr>
        <p:spPr>
          <a:xfrm>
            <a:off x="548640" y="8087868"/>
            <a:ext cx="100584" cy="100584"/>
          </a:xfrm>
          <a:prstGeom prst="ellipse">
            <a:avLst/>
          </a:prstGeom>
          <a:solidFill>
            <a:schemeClr val="accent6"/>
          </a:solidFill>
          <a:ln w="12700">
            <a:solidFill>
              <a:schemeClr val="accent6"/>
            </a:solidFill>
            <a:prstDash val="solid"/>
          </a:ln>
        </p:spPr>
      </p:sp>
      <p:sp>
        <p:nvSpPr>
          <p:cNvPr id="20" name="text-466"/>
          <p:cNvSpPr txBox="1"/>
          <p:nvPr/>
        </p:nvSpPr>
        <p:spPr>
          <a:xfrm>
            <a:off x="731520" y="8046720"/>
            <a:ext cx="2912364" cy="201168"/>
          </a:xfrm>
          <a:prstGeom prst="rect">
            <a:avLst/>
          </a:prstGeom>
          <a:noFill/>
          <a:ln/>
        </p:spPr>
        <p:txBody>
          <a:bodyPr wrap="square" lIns="0" tIns="0" rIns="0" bIns="0" rtlCol="0" anchor="t"/>
          <a:lstStyle/>
          <a:p>
            <a:pPr indent="0" marL="0">
              <a:buNone/>
            </a:pPr>
            <a:r>
              <a:rPr lang="en-US" sz="900" b="1" spc="300" kern="0" dirty="0">
                <a:solidFill>
                  <a:schemeClr val="accent6"/>
                </a:solidFill>
              </a:rPr>
              <a:t>CULTURE AND PARKS</a:t>
            </a:r>
            <a:endParaRPr lang="en-US" sz="900" dirty="0"/>
          </a:p>
        </p:txBody>
      </p:sp>
      <p:sp>
        <p:nvSpPr>
          <p:cNvPr id="21" name="text-467"/>
          <p:cNvSpPr txBox="1"/>
          <p:nvPr/>
        </p:nvSpPr>
        <p:spPr>
          <a:xfrm>
            <a:off x="548640" y="8321040"/>
            <a:ext cx="3095244" cy="868680"/>
          </a:xfrm>
          <a:prstGeom prst="rect">
            <a:avLst/>
          </a:prstGeom>
          <a:noFill/>
          <a:ln/>
        </p:spPr>
        <p:txBody>
          <a:bodyPr wrap="square" lIns="0" tIns="0" rIns="0" bIns="0" rtlCol="0" anchor="t"/>
          <a:lstStyle/>
          <a:p>
            <a:pPr indent="0" marL="0">
              <a:lnSpc>
                <a:spcPct val="108000"/>
              </a:lnSpc>
              <a:buNone/>
            </a:pPr>
            <a:r>
              <a:rPr lang="en-US" sz="1050" dirty="0">
                <a:solidFill>
                  <a:schemeClr val="tx1"/>
                </a:solidFill>
              </a:rPr>
              <a:t>Aurora Cinema, a music hall, a library open 24 hours in the polar night, the Snow Stadium and parks with heated benches.</a:t>
            </a:r>
            <a:endParaRPr lang="en-US" sz="1050" dirty="0"/>
          </a:p>
        </p:txBody>
      </p:sp>
      <p:sp>
        <p:nvSpPr>
          <p:cNvPr id="22" name="text-468"/>
          <p:cNvSpPr txBox="1"/>
          <p:nvPr/>
        </p:nvSpPr>
        <p:spPr>
          <a:xfrm>
            <a:off x="3918204" y="8001000"/>
            <a:ext cx="1456182" cy="352552"/>
          </a:xfrm>
          <a:prstGeom prst="rect">
            <a:avLst/>
          </a:prstGeom>
          <a:noFill/>
          <a:ln/>
        </p:spPr>
        <p:txBody>
          <a:bodyPr wrap="square" lIns="0" tIns="0" rIns="0" bIns="0" rtlCol="0" anchor="b"/>
          <a:lstStyle/>
          <a:p>
            <a:pPr indent="0" marL="0">
              <a:buNone/>
            </a:pPr>
            <a:r>
              <a:rPr lang="en-US" sz="2200" b="1" dirty="0">
                <a:solidFill>
                  <a:schemeClr val="accent6"/>
                </a:solidFill>
                <a:latin typeface="+mj-lt" pitchFamily="34" charset="0"/>
                <a:ea typeface="+mj-lt" pitchFamily="34" charset="-122"/>
                <a:cs typeface="+mj-lt" pitchFamily="34" charset="-120"/>
              </a:rPr>
              <a:t>250</a:t>
            </a:r>
            <a:endParaRPr lang="en-US" sz="2200" dirty="0"/>
          </a:p>
        </p:txBody>
      </p:sp>
      <p:sp>
        <p:nvSpPr>
          <p:cNvPr id="23" name="text-469"/>
          <p:cNvSpPr txBox="1"/>
          <p:nvPr/>
        </p:nvSpPr>
        <p:spPr>
          <a:xfrm>
            <a:off x="3918204" y="8380984"/>
            <a:ext cx="1456182" cy="36576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hospital beds</a:t>
            </a:r>
            <a:endParaRPr lang="en-US" sz="900" dirty="0"/>
          </a:p>
        </p:txBody>
      </p:sp>
      <p:sp>
        <p:nvSpPr>
          <p:cNvPr id="24" name="text-470"/>
          <p:cNvSpPr txBox="1"/>
          <p:nvPr/>
        </p:nvSpPr>
        <p:spPr>
          <a:xfrm>
            <a:off x="5465826" y="8001000"/>
            <a:ext cx="1456182" cy="352552"/>
          </a:xfrm>
          <a:prstGeom prst="rect">
            <a:avLst/>
          </a:prstGeom>
          <a:noFill/>
          <a:ln/>
        </p:spPr>
        <p:txBody>
          <a:bodyPr wrap="square" lIns="0" tIns="0" rIns="0" bIns="0" rtlCol="0" anchor="b"/>
          <a:lstStyle/>
          <a:p>
            <a:pPr indent="0" marL="0">
              <a:buNone/>
            </a:pPr>
            <a:r>
              <a:rPr lang="en-US" sz="2200" b="1" dirty="0">
                <a:solidFill>
                  <a:schemeClr val="accent6"/>
                </a:solidFill>
                <a:latin typeface="+mj-lt" pitchFamily="34" charset="0"/>
                <a:ea typeface="+mj-lt" pitchFamily="34" charset="-122"/>
                <a:cs typeface="+mj-lt" pitchFamily="34" charset="-120"/>
              </a:rPr>
              <a:t>900</a:t>
            </a:r>
            <a:endParaRPr lang="en-US" sz="2200" dirty="0"/>
          </a:p>
        </p:txBody>
      </p:sp>
      <p:sp>
        <p:nvSpPr>
          <p:cNvPr id="25" name="text-471"/>
          <p:cNvSpPr txBox="1"/>
          <p:nvPr/>
        </p:nvSpPr>
        <p:spPr>
          <a:xfrm>
            <a:off x="5465826" y="8380984"/>
            <a:ext cx="1456182" cy="36576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pupils at Northern Lights School</a:t>
            </a:r>
            <a:endParaRPr lang="en-US" sz="900" dirty="0"/>
          </a:p>
        </p:txBody>
      </p:sp>
      <p:sp>
        <p:nvSpPr>
          <p:cNvPr id="26" name="text-472"/>
          <p:cNvSpPr txBox="1"/>
          <p:nvPr/>
        </p:nvSpPr>
        <p:spPr>
          <a:xfrm>
            <a:off x="3918204" y="8961120"/>
            <a:ext cx="1456182" cy="352552"/>
          </a:xfrm>
          <a:prstGeom prst="rect">
            <a:avLst/>
          </a:prstGeom>
          <a:noFill/>
          <a:ln/>
        </p:spPr>
        <p:txBody>
          <a:bodyPr wrap="square" lIns="0" tIns="0" rIns="0" bIns="0" rtlCol="0" anchor="b"/>
          <a:lstStyle/>
          <a:p>
            <a:pPr indent="0" marL="0">
              <a:buNone/>
            </a:pPr>
            <a:r>
              <a:rPr lang="en-US" sz="2200" b="1" dirty="0">
                <a:solidFill>
                  <a:schemeClr val="accent6"/>
                </a:solidFill>
                <a:latin typeface="+mj-lt" pitchFamily="34" charset="0"/>
                <a:ea typeface="+mj-lt" pitchFamily="34" charset="-122"/>
                <a:cs typeface="+mj-lt" pitchFamily="34" charset="-120"/>
              </a:rPr>
              <a:t>5,000</a:t>
            </a:r>
            <a:endParaRPr lang="en-US" sz="2200" dirty="0"/>
          </a:p>
        </p:txBody>
      </p:sp>
      <p:sp>
        <p:nvSpPr>
          <p:cNvPr id="27" name="text-473"/>
          <p:cNvSpPr txBox="1"/>
          <p:nvPr/>
        </p:nvSpPr>
        <p:spPr>
          <a:xfrm>
            <a:off x="3918204" y="9341104"/>
            <a:ext cx="1456182" cy="36576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students at Arctic University</a:t>
            </a:r>
            <a:endParaRPr lang="en-US" sz="900" dirty="0"/>
          </a:p>
        </p:txBody>
      </p:sp>
      <p:sp>
        <p:nvSpPr>
          <p:cNvPr id="28" name="text-474"/>
          <p:cNvSpPr txBox="1"/>
          <p:nvPr/>
        </p:nvSpPr>
        <p:spPr>
          <a:xfrm>
            <a:off x="5465826" y="8961120"/>
            <a:ext cx="1456182" cy="352552"/>
          </a:xfrm>
          <a:prstGeom prst="rect">
            <a:avLst/>
          </a:prstGeom>
          <a:noFill/>
          <a:ln/>
        </p:spPr>
        <p:txBody>
          <a:bodyPr wrap="square" lIns="0" tIns="0" rIns="0" bIns="0" rtlCol="0" anchor="b"/>
          <a:lstStyle/>
          <a:p>
            <a:pPr indent="0" marL="0">
              <a:buNone/>
            </a:pPr>
            <a:r>
              <a:rPr lang="en-US" sz="2200" b="1" dirty="0">
                <a:solidFill>
                  <a:schemeClr val="accent6"/>
                </a:solidFill>
                <a:latin typeface="+mj-lt" pitchFamily="34" charset="0"/>
                <a:ea typeface="+mj-lt" pitchFamily="34" charset="-122"/>
                <a:cs typeface="+mj-lt" pitchFamily="34" charset="-120"/>
              </a:rPr>
              <a:t>8,000</a:t>
            </a:r>
            <a:endParaRPr lang="en-US" sz="2200" dirty="0"/>
          </a:p>
        </p:txBody>
      </p:sp>
      <p:sp>
        <p:nvSpPr>
          <p:cNvPr id="29" name="text-475"/>
          <p:cNvSpPr txBox="1"/>
          <p:nvPr/>
        </p:nvSpPr>
        <p:spPr>
          <a:xfrm>
            <a:off x="5465826" y="9341104"/>
            <a:ext cx="1456182" cy="36576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seats in the Snow Stadium</a:t>
            </a:r>
            <a:endParaRPr lang="en-US" sz="90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1"/>
                </a:solidFill>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dot-476"/>
          <p:cNvSpPr/>
          <p:nvPr/>
        </p:nvSpPr>
        <p:spPr>
          <a:xfrm>
            <a:off x="548640" y="516636"/>
            <a:ext cx="100584" cy="100584"/>
          </a:xfrm>
          <a:prstGeom prst="ellipse">
            <a:avLst/>
          </a:prstGeom>
          <a:solidFill>
            <a:schemeClr val="accent2"/>
          </a:solidFill>
          <a:ln w="12700">
            <a:solidFill>
              <a:schemeClr val="accent2"/>
            </a:solidFill>
            <a:prstDash val="solid"/>
          </a:ln>
        </p:spPr>
      </p:sp>
      <p:sp>
        <p:nvSpPr>
          <p:cNvPr id="3" name="text-477"/>
          <p:cNvSpPr txBox="1"/>
          <p:nvPr/>
        </p:nvSpPr>
        <p:spPr>
          <a:xfrm>
            <a:off x="731520" y="475488"/>
            <a:ext cx="5486400" cy="201168"/>
          </a:xfrm>
          <a:prstGeom prst="rect">
            <a:avLst/>
          </a:prstGeom>
          <a:noFill/>
          <a:ln/>
        </p:spPr>
        <p:txBody>
          <a:bodyPr wrap="square" lIns="0" tIns="0" rIns="0" bIns="0" rtlCol="0" anchor="t"/>
          <a:lstStyle/>
          <a:p>
            <a:pPr indent="0" marL="0">
              <a:buNone/>
            </a:pPr>
            <a:r>
              <a:rPr lang="en-US" sz="900" b="1" spc="300" kern="0" dirty="0">
                <a:solidFill>
                  <a:schemeClr val="accent2"/>
                </a:solidFill>
              </a:rPr>
              <a:t>SAFETY</a:t>
            </a:r>
            <a:endParaRPr lang="en-US" sz="900" dirty="0"/>
          </a:p>
        </p:txBody>
      </p:sp>
      <p:sp>
        <p:nvSpPr>
          <p:cNvPr id="4" name="Text 1"/>
          <p:cNvSpPr/>
          <p:nvPr>
            <p:ph idx="101" type="title" hasCustomPrompt="1"/>
          </p:nvPr>
        </p:nvSpPr>
        <p:spPr>
          <a:xfrm>
            <a:off x="548640" y="749808"/>
            <a:ext cx="6464808" cy="685800"/>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Safe and Ready for Any Storm</a:t>
            </a:r>
            <a:endParaRPr lang="en-US" sz="3400" dirty="0"/>
          </a:p>
        </p:txBody>
      </p:sp>
      <p:pic>
        <p:nvPicPr>
          <p:cNvPr id="5" name="picture-478" descr="/home/user/chatbox-bi-n-o/magazine/assets_v2/renders/rescue.jpg">    </p:cNvPr>
          <p:cNvPicPr>
            <a:picLocks noChangeAspect="1"/>
          </p:cNvPicPr>
          <p:nvPr/>
        </p:nvPicPr>
        <p:blipFill>
          <a:blip r:embed="rId1"/>
          <a:srcRect l="0" r="0" t="0" b="0"/>
          <a:stretch/>
        </p:blipFill>
        <p:spPr>
          <a:xfrm>
            <a:off x="0" y="1508760"/>
            <a:ext cx="7562088" cy="3840480"/>
          </a:xfrm>
          <a:prstGeom prst="rect">
            <a:avLst/>
          </a:prstGeom>
        </p:spPr>
      </p:pic>
      <p:sp>
        <p:nvSpPr>
          <p:cNvPr id="6" name="text-479"/>
          <p:cNvSpPr txBox="1"/>
          <p:nvPr/>
        </p:nvSpPr>
        <p:spPr>
          <a:xfrm>
            <a:off x="548640" y="5394960"/>
            <a:ext cx="6464808" cy="228600"/>
          </a:xfrm>
          <a:prstGeom prst="rect">
            <a:avLst/>
          </a:prstGeom>
          <a:noFill/>
          <a:ln/>
        </p:spPr>
        <p:txBody>
          <a:bodyPr wrap="square" lIns="0" tIns="0" rIns="0" bIns="0" rtlCol="0" anchor="t"/>
          <a:lstStyle/>
          <a:p>
            <a:pPr indent="0" marL="0">
              <a:buNone/>
            </a:pPr>
            <a:r>
              <a:rPr lang="en-US" sz="850" i="1" dirty="0">
                <a:solidFill>
                  <a:schemeClr val="tx2"/>
                </a:solidFill>
              </a:rPr>
              <a:t>The Polar Rescue and Resilience Station in the Energy Hub, north of downtown.</a:t>
            </a:r>
            <a:endParaRPr lang="en-US" sz="850" dirty="0"/>
          </a:p>
        </p:txBody>
      </p:sp>
      <p:sp>
        <p:nvSpPr>
          <p:cNvPr id="7" name="text-480"/>
          <p:cNvSpPr txBox="1"/>
          <p:nvPr/>
        </p:nvSpPr>
        <p:spPr>
          <a:xfrm>
            <a:off x="548640" y="5806440"/>
            <a:ext cx="3095244" cy="2011680"/>
          </a:xfrm>
          <a:prstGeom prst="rect">
            <a:avLst/>
          </a:prstGeom>
          <a:noFill/>
          <a:ln/>
        </p:spPr>
        <p:txBody>
          <a:bodyPr wrap="square" lIns="0" tIns="0" rIns="0" bIns="0" rtlCol="0" anchor="t"/>
          <a:lstStyle/>
          <a:p>
            <a:pPr indent="0" marL="0">
              <a:lnSpc>
                <a:spcPct val="112000"/>
              </a:lnSpc>
              <a:spcAft>
                <a:spcPts val="700"/>
              </a:spcAft>
              <a:buNone/>
            </a:pPr>
            <a:r>
              <a:rPr lang="en-US" sz="1050" dirty="0">
                <a:solidFill>
                  <a:schemeClr val="tx1"/>
                </a:solidFill>
              </a:rPr>
              <a:t>In the polar night, safety comes first. The Polar Rescue and Resilience Station is home to the fire brigade, ambulances, ice rescue and the 112 emergency centre, and its vehicles leave within 60 seconds.</a:t>
            </a:r>
            <a:endParaRPr lang="en-US" sz="1050" dirty="0"/>
          </a:p>
          <a:p>
            <a:pPr indent="0" marL="0">
              <a:lnSpc>
                <a:spcPct val="112000"/>
              </a:lnSpc>
              <a:spcAft>
                <a:spcPts val="700"/>
              </a:spcAft>
              <a:buNone/>
            </a:pPr>
            <a:r>
              <a:rPr lang="en-US" sz="1050" dirty="0">
                <a:solidFill>
                  <a:schemeClr val="tx1"/>
                </a:solidFill>
              </a:rPr>
              <a:t>The West Market Fire &amp; Ambulance Station reaches any downtown address in about four minutes, and a rescue helicopter is ready day and night.</a:t>
            </a:r>
            <a:endParaRPr lang="en-US" sz="1050" dirty="0"/>
          </a:p>
        </p:txBody>
      </p:sp>
      <p:sp>
        <p:nvSpPr>
          <p:cNvPr id="8" name="text-481"/>
          <p:cNvSpPr txBox="1"/>
          <p:nvPr/>
        </p:nvSpPr>
        <p:spPr>
          <a:xfrm>
            <a:off x="3918204" y="5806440"/>
            <a:ext cx="3095244" cy="2011680"/>
          </a:xfrm>
          <a:prstGeom prst="rect">
            <a:avLst/>
          </a:prstGeom>
          <a:noFill/>
          <a:ln/>
        </p:spPr>
        <p:txBody>
          <a:bodyPr wrap="square" lIns="0" tIns="0" rIns="0" bIns="0" rtlCol="0" anchor="t"/>
          <a:lstStyle/>
          <a:p>
            <a:pPr indent="0" marL="0">
              <a:lnSpc>
                <a:spcPct val="112000"/>
              </a:lnSpc>
              <a:spcAft>
                <a:spcPts val="700"/>
              </a:spcAft>
              <a:buNone/>
            </a:pPr>
            <a:r>
              <a:rPr lang="en-US" sz="1050" dirty="0">
                <a:solidFill>
                  <a:schemeClr val="tx1"/>
                </a:solidFill>
              </a:rPr>
              <a:t>Under Liberty Mall, four underground shelters can keep every resident safe for 30 days. Aurora Core, the AI control tower, forecasts blizzards up to 48 hours ahead and alerts every phone.</a:t>
            </a:r>
            <a:endParaRPr lang="en-US" sz="1050" dirty="0"/>
          </a:p>
          <a:p>
            <a:pPr indent="0" marL="0">
              <a:lnSpc>
                <a:spcPct val="112000"/>
              </a:lnSpc>
              <a:spcAft>
                <a:spcPts val="700"/>
              </a:spcAft>
              <a:buNone/>
            </a:pPr>
            <a:r>
              <a:rPr lang="en-US" sz="1050" dirty="0">
                <a:solidFill>
                  <a:schemeClr val="tx1"/>
                </a:solidFill>
              </a:rPr>
              <a:t>Cafés and lobbies act as warm points, and the air base runway is a backup for supply flights.</a:t>
            </a:r>
            <a:endParaRPr lang="en-US" sz="1050" dirty="0"/>
          </a:p>
        </p:txBody>
      </p:sp>
      <p:sp>
        <p:nvSpPr>
          <p:cNvPr id="9" name="text-482"/>
          <p:cNvSpPr txBox="1"/>
          <p:nvPr/>
        </p:nvSpPr>
        <p:spPr>
          <a:xfrm>
            <a:off x="548640" y="7909560"/>
            <a:ext cx="2017776" cy="377952"/>
          </a:xfrm>
          <a:prstGeom prst="rect">
            <a:avLst/>
          </a:prstGeom>
          <a:noFill/>
          <a:ln/>
        </p:spPr>
        <p:txBody>
          <a:bodyPr wrap="square" lIns="0" tIns="0" rIns="0" bIns="0" rtlCol="0" anchor="b"/>
          <a:lstStyle/>
          <a:p>
            <a:pPr indent="0" marL="0">
              <a:buNone/>
            </a:pPr>
            <a:r>
              <a:rPr lang="en-US" sz="2400" b="1" dirty="0">
                <a:solidFill>
                  <a:schemeClr val="accent2"/>
                </a:solidFill>
                <a:latin typeface="+mj-lt" pitchFamily="34" charset="0"/>
                <a:ea typeface="+mj-lt" pitchFamily="34" charset="-122"/>
                <a:cs typeface="+mj-lt" pitchFamily="34" charset="-120"/>
              </a:rPr>
              <a:t>60 s</a:t>
            </a:r>
            <a:endParaRPr lang="en-US" sz="2400" dirty="0"/>
          </a:p>
        </p:txBody>
      </p:sp>
      <p:sp>
        <p:nvSpPr>
          <p:cNvPr id="10" name="text-483"/>
          <p:cNvSpPr txBox="1"/>
          <p:nvPr/>
        </p:nvSpPr>
        <p:spPr>
          <a:xfrm>
            <a:off x="548640" y="8314944"/>
            <a:ext cx="2017776" cy="36576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for rescue vehicles to leave</a:t>
            </a:r>
            <a:endParaRPr lang="en-US" sz="900" dirty="0"/>
          </a:p>
        </p:txBody>
      </p:sp>
      <p:sp>
        <p:nvSpPr>
          <p:cNvPr id="11" name="text-484"/>
          <p:cNvSpPr txBox="1"/>
          <p:nvPr/>
        </p:nvSpPr>
        <p:spPr>
          <a:xfrm>
            <a:off x="2703576" y="7909560"/>
            <a:ext cx="2017776" cy="377952"/>
          </a:xfrm>
          <a:prstGeom prst="rect">
            <a:avLst/>
          </a:prstGeom>
          <a:noFill/>
          <a:ln/>
        </p:spPr>
        <p:txBody>
          <a:bodyPr wrap="square" lIns="0" tIns="0" rIns="0" bIns="0" rtlCol="0" anchor="b"/>
          <a:lstStyle/>
          <a:p>
            <a:pPr indent="0" marL="0">
              <a:buNone/>
            </a:pPr>
            <a:r>
              <a:rPr lang="en-US" sz="2400" b="1" dirty="0">
                <a:solidFill>
                  <a:schemeClr val="accent2"/>
                </a:solidFill>
                <a:latin typeface="+mj-lt" pitchFamily="34" charset="0"/>
                <a:ea typeface="+mj-lt" pitchFamily="34" charset="-122"/>
                <a:cs typeface="+mj-lt" pitchFamily="34" charset="-120"/>
              </a:rPr>
              <a:t>4 min</a:t>
            </a:r>
            <a:endParaRPr lang="en-US" sz="2400" dirty="0"/>
          </a:p>
        </p:txBody>
      </p:sp>
      <p:sp>
        <p:nvSpPr>
          <p:cNvPr id="12" name="text-485"/>
          <p:cNvSpPr txBox="1"/>
          <p:nvPr/>
        </p:nvSpPr>
        <p:spPr>
          <a:xfrm>
            <a:off x="2703576" y="8314944"/>
            <a:ext cx="2017776" cy="36576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to any downtown address</a:t>
            </a:r>
            <a:endParaRPr lang="en-US" sz="900" dirty="0"/>
          </a:p>
        </p:txBody>
      </p:sp>
      <p:sp>
        <p:nvSpPr>
          <p:cNvPr id="13" name="text-486"/>
          <p:cNvSpPr txBox="1"/>
          <p:nvPr/>
        </p:nvSpPr>
        <p:spPr>
          <a:xfrm>
            <a:off x="4858512" y="7909560"/>
            <a:ext cx="2017776" cy="377952"/>
          </a:xfrm>
          <a:prstGeom prst="rect">
            <a:avLst/>
          </a:prstGeom>
          <a:noFill/>
          <a:ln/>
        </p:spPr>
        <p:txBody>
          <a:bodyPr wrap="square" lIns="0" tIns="0" rIns="0" bIns="0" rtlCol="0" anchor="b"/>
          <a:lstStyle/>
          <a:p>
            <a:pPr indent="0" marL="0">
              <a:buNone/>
            </a:pPr>
            <a:r>
              <a:rPr lang="en-US" sz="2400" b="1" dirty="0">
                <a:solidFill>
                  <a:schemeClr val="accent2"/>
                </a:solidFill>
                <a:latin typeface="+mj-lt" pitchFamily="34" charset="0"/>
                <a:ea typeface="+mj-lt" pitchFamily="34" charset="-122"/>
                <a:cs typeface="+mj-lt" pitchFamily="34" charset="-120"/>
              </a:rPr>
              <a:t>10 min</a:t>
            </a:r>
            <a:endParaRPr lang="en-US" sz="2400" dirty="0"/>
          </a:p>
        </p:txBody>
      </p:sp>
      <p:sp>
        <p:nvSpPr>
          <p:cNvPr id="14" name="text-487"/>
          <p:cNvSpPr txBox="1"/>
          <p:nvPr/>
        </p:nvSpPr>
        <p:spPr>
          <a:xfrm>
            <a:off x="4858512" y="8314944"/>
            <a:ext cx="2017776" cy="36576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for the rescue helicopter to be airborne</a:t>
            </a:r>
            <a:endParaRPr lang="en-US" sz="900" dirty="0"/>
          </a:p>
        </p:txBody>
      </p:sp>
      <p:sp>
        <p:nvSpPr>
          <p:cNvPr id="15" name="text-488"/>
          <p:cNvSpPr txBox="1"/>
          <p:nvPr/>
        </p:nvSpPr>
        <p:spPr>
          <a:xfrm>
            <a:off x="548640" y="8915400"/>
            <a:ext cx="2017776" cy="377952"/>
          </a:xfrm>
          <a:prstGeom prst="rect">
            <a:avLst/>
          </a:prstGeom>
          <a:noFill/>
          <a:ln/>
        </p:spPr>
        <p:txBody>
          <a:bodyPr wrap="square" lIns="0" tIns="0" rIns="0" bIns="0" rtlCol="0" anchor="b"/>
          <a:lstStyle/>
          <a:p>
            <a:pPr indent="0" marL="0">
              <a:buNone/>
            </a:pPr>
            <a:r>
              <a:rPr lang="en-US" sz="2400" b="1" dirty="0">
                <a:solidFill>
                  <a:schemeClr val="accent2"/>
                </a:solidFill>
                <a:latin typeface="+mj-lt" pitchFamily="34" charset="0"/>
                <a:ea typeface="+mj-lt" pitchFamily="34" charset="-122"/>
                <a:cs typeface="+mj-lt" pitchFamily="34" charset="-120"/>
              </a:rPr>
              <a:t>4</a:t>
            </a:r>
            <a:endParaRPr lang="en-US" sz="2400" dirty="0"/>
          </a:p>
        </p:txBody>
      </p:sp>
      <p:sp>
        <p:nvSpPr>
          <p:cNvPr id="16" name="text-489"/>
          <p:cNvSpPr txBox="1"/>
          <p:nvPr/>
        </p:nvSpPr>
        <p:spPr>
          <a:xfrm>
            <a:off x="548640" y="9320784"/>
            <a:ext cx="2017776" cy="36576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underground shelters</a:t>
            </a:r>
            <a:endParaRPr lang="en-US" sz="900" dirty="0"/>
          </a:p>
        </p:txBody>
      </p:sp>
      <p:sp>
        <p:nvSpPr>
          <p:cNvPr id="17" name="text-490"/>
          <p:cNvSpPr txBox="1"/>
          <p:nvPr/>
        </p:nvSpPr>
        <p:spPr>
          <a:xfrm>
            <a:off x="2703576" y="8915400"/>
            <a:ext cx="2017776" cy="377952"/>
          </a:xfrm>
          <a:prstGeom prst="rect">
            <a:avLst/>
          </a:prstGeom>
          <a:noFill/>
          <a:ln/>
        </p:spPr>
        <p:txBody>
          <a:bodyPr wrap="square" lIns="0" tIns="0" rIns="0" bIns="0" rtlCol="0" anchor="b"/>
          <a:lstStyle/>
          <a:p>
            <a:pPr indent="0" marL="0">
              <a:buNone/>
            </a:pPr>
            <a:r>
              <a:rPr lang="en-US" sz="2400" b="1" dirty="0">
                <a:solidFill>
                  <a:schemeClr val="accent2"/>
                </a:solidFill>
                <a:latin typeface="+mj-lt" pitchFamily="34" charset="0"/>
                <a:ea typeface="+mj-lt" pitchFamily="34" charset="-122"/>
                <a:cs typeface="+mj-lt" pitchFamily="34" charset="-120"/>
              </a:rPr>
              <a:t>30 days</a:t>
            </a:r>
            <a:endParaRPr lang="en-US" sz="2400" dirty="0"/>
          </a:p>
        </p:txBody>
      </p:sp>
      <p:sp>
        <p:nvSpPr>
          <p:cNvPr id="18" name="text-491"/>
          <p:cNvSpPr txBox="1"/>
          <p:nvPr/>
        </p:nvSpPr>
        <p:spPr>
          <a:xfrm>
            <a:off x="2703576" y="9320784"/>
            <a:ext cx="2017776" cy="36576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of supplies for every resident</a:t>
            </a:r>
            <a:endParaRPr lang="en-US" sz="900" dirty="0"/>
          </a:p>
        </p:txBody>
      </p:sp>
      <p:sp>
        <p:nvSpPr>
          <p:cNvPr id="19" name="text-492"/>
          <p:cNvSpPr txBox="1"/>
          <p:nvPr/>
        </p:nvSpPr>
        <p:spPr>
          <a:xfrm>
            <a:off x="4858512" y="8915400"/>
            <a:ext cx="2017776" cy="377952"/>
          </a:xfrm>
          <a:prstGeom prst="rect">
            <a:avLst/>
          </a:prstGeom>
          <a:noFill/>
          <a:ln/>
        </p:spPr>
        <p:txBody>
          <a:bodyPr wrap="square" lIns="0" tIns="0" rIns="0" bIns="0" rtlCol="0" anchor="b"/>
          <a:lstStyle/>
          <a:p>
            <a:pPr indent="0" marL="0">
              <a:buNone/>
            </a:pPr>
            <a:r>
              <a:rPr lang="en-US" sz="2400" b="1" dirty="0">
                <a:solidFill>
                  <a:schemeClr val="accent2"/>
                </a:solidFill>
                <a:latin typeface="+mj-lt" pitchFamily="34" charset="0"/>
                <a:ea typeface="+mj-lt" pitchFamily="34" charset="-122"/>
                <a:cs typeface="+mj-lt" pitchFamily="34" charset="-120"/>
              </a:rPr>
              <a:t>48 h</a:t>
            </a:r>
            <a:endParaRPr lang="en-US" sz="2400" dirty="0"/>
          </a:p>
        </p:txBody>
      </p:sp>
      <p:sp>
        <p:nvSpPr>
          <p:cNvPr id="20" name="text-493"/>
          <p:cNvSpPr txBox="1"/>
          <p:nvPr/>
        </p:nvSpPr>
        <p:spPr>
          <a:xfrm>
            <a:off x="4858512" y="9320784"/>
            <a:ext cx="2017776" cy="36576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blizzard forecasts</a:t>
            </a:r>
            <a:endParaRPr lang="en-US" sz="90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1"/>
                </a:solidFill>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dot-494"/>
          <p:cNvSpPr/>
          <p:nvPr/>
        </p:nvSpPr>
        <p:spPr>
          <a:xfrm>
            <a:off x="548640" y="516636"/>
            <a:ext cx="100584" cy="100584"/>
          </a:xfrm>
          <a:prstGeom prst="ellipse">
            <a:avLst/>
          </a:prstGeom>
          <a:solidFill>
            <a:schemeClr val="accent6"/>
          </a:solidFill>
          <a:ln w="12700">
            <a:solidFill>
              <a:schemeClr val="accent6"/>
            </a:solidFill>
            <a:prstDash val="solid"/>
          </a:ln>
        </p:spPr>
      </p:sp>
      <p:sp>
        <p:nvSpPr>
          <p:cNvPr id="3" name="text-495"/>
          <p:cNvSpPr txBox="1"/>
          <p:nvPr/>
        </p:nvSpPr>
        <p:spPr>
          <a:xfrm>
            <a:off x="731520" y="475488"/>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EXPLORE</a:t>
            </a:r>
            <a:endParaRPr lang="en-US" sz="900" dirty="0"/>
          </a:p>
        </p:txBody>
      </p:sp>
      <p:sp>
        <p:nvSpPr>
          <p:cNvPr id="4" name="Text 1"/>
          <p:cNvSpPr/>
          <p:nvPr>
            <p:ph idx="101" type="title" hasCustomPrompt="1"/>
          </p:nvPr>
        </p:nvSpPr>
        <p:spPr>
          <a:xfrm>
            <a:off x="548640" y="749808"/>
            <a:ext cx="6464808" cy="685800"/>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Take the Tour: Eight Stops</a:t>
            </a:r>
            <a:endParaRPr lang="en-US" sz="3400" dirty="0"/>
          </a:p>
        </p:txBody>
      </p:sp>
      <p:sp>
        <p:nvSpPr>
          <p:cNvPr id="5" name="text-496"/>
          <p:cNvSpPr txBox="1"/>
          <p:nvPr/>
        </p:nvSpPr>
        <p:spPr>
          <a:xfrm>
            <a:off x="548640" y="1463040"/>
            <a:ext cx="6464808" cy="685800"/>
          </a:xfrm>
          <a:prstGeom prst="rect">
            <a:avLst/>
          </a:prstGeom>
          <a:noFill/>
          <a:ln/>
        </p:spPr>
        <p:txBody>
          <a:bodyPr wrap="square" lIns="0" tIns="0" rIns="0" bIns="0" rtlCol="0" anchor="t"/>
          <a:lstStyle/>
          <a:p>
            <a:pPr indent="0" marL="0">
              <a:lnSpc>
                <a:spcPct val="110000"/>
              </a:lnSpc>
              <a:buNone/>
            </a:pPr>
            <a:r>
              <a:rPr lang="en-US" sz="1350" i="1" dirty="0">
                <a:solidFill>
                  <a:schemeClr val="tx2"/>
                </a:solidFill>
                <a:latin typeface="+mj-lt" pitchFamily="34" charset="0"/>
                <a:ea typeface="+mj-lt" pitchFamily="34" charset="-122"/>
                <a:cs typeface="+mj-lt" pitchFamily="34" charset="-120"/>
              </a:rPr>
              <a:t>A walk around Aurora Haven in eight stops, from the civic heart of downtown out to the plants, the snow peak and the windy northern edge.</a:t>
            </a:r>
            <a:endParaRPr lang="en-US" sz="1350" dirty="0"/>
          </a:p>
        </p:txBody>
      </p:sp>
      <p:sp>
        <p:nvSpPr>
          <p:cNvPr id="6" name="tour-route"/>
          <p:cNvSpPr/>
          <p:nvPr/>
        </p:nvSpPr>
        <p:spPr>
          <a:xfrm>
            <a:off x="749808" y="2606040"/>
            <a:ext cx="0" cy="5504688"/>
          </a:xfrm>
          <a:prstGeom prst="line">
            <a:avLst/>
          </a:prstGeom>
          <a:noFill/>
          <a:ln w="25400">
            <a:solidFill>
              <a:schemeClr val="accent6"/>
            </a:solidFill>
            <a:prstDash val="dash"/>
          </a:ln>
        </p:spPr>
      </p:sp>
      <p:sp>
        <p:nvSpPr>
          <p:cNvPr id="7" name="marker-497"/>
          <p:cNvSpPr/>
          <p:nvPr/>
        </p:nvSpPr>
        <p:spPr>
          <a:xfrm>
            <a:off x="548640" y="2423160"/>
            <a:ext cx="402336" cy="402336"/>
          </a:xfrm>
          <a:prstGeom prst="ellipse">
            <a:avLst/>
          </a:prstGeom>
          <a:solidFill>
            <a:schemeClr val="accent6"/>
          </a:solidFill>
          <a:ln w="12700">
            <a:solidFill>
              <a:schemeClr val="accent6"/>
            </a:solidFill>
            <a:prstDash val="solid"/>
          </a:ln>
        </p:spPr>
      </p:sp>
      <p:sp>
        <p:nvSpPr>
          <p:cNvPr id="8" name="text-498"/>
          <p:cNvSpPr txBox="1"/>
          <p:nvPr/>
        </p:nvSpPr>
        <p:spPr>
          <a:xfrm>
            <a:off x="548640" y="242316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9" name="text-499"/>
          <p:cNvSpPr txBox="1"/>
          <p:nvPr/>
        </p:nvSpPr>
        <p:spPr>
          <a:xfrm>
            <a:off x="1097280" y="2441448"/>
            <a:ext cx="3429000" cy="713232"/>
          </a:xfrm>
          <a:prstGeom prst="rect">
            <a:avLst/>
          </a:prstGeom>
          <a:noFill/>
          <a:ln/>
        </p:spPr>
        <p:txBody>
          <a:bodyPr wrap="square" lIns="0" tIns="0" rIns="0" bIns="0" rtlCol="0" anchor="t"/>
          <a:lstStyle/>
          <a:p>
            <a:pPr indent="0" marL="0">
              <a:lnSpc>
                <a:spcPct val="100000"/>
              </a:lnSpc>
              <a:spcAft>
                <a:spcPts val="200"/>
              </a:spcAft>
              <a:buNone/>
            </a:pPr>
            <a:r>
              <a:rPr lang="en-US" sz="1000" b="1" dirty="0">
                <a:solidFill>
                  <a:schemeClr val="tx1"/>
                </a:solidFill>
              </a:rPr>
              <a:t>President Ho Chi Minh Monument</a:t>
            </a:r>
            <a:endParaRPr lang="en-US" sz="1050" dirty="0"/>
          </a:p>
          <a:p>
            <a:pPr indent="0" marL="0">
              <a:lnSpc>
                <a:spcPct val="100000"/>
              </a:lnSpc>
              <a:buNone/>
            </a:pPr>
            <a:r>
              <a:rPr lang="en-US" sz="900" dirty="0">
                <a:solidFill>
                  <a:schemeClr val="tx2"/>
                </a:solidFill>
              </a:rPr>
              <a:t>The civic heart of the city on the Aurora Roundabout.</a:t>
            </a:r>
            <a:endParaRPr lang="en-US" sz="1050" dirty="0"/>
          </a:p>
        </p:txBody>
      </p:sp>
      <p:sp>
        <p:nvSpPr>
          <p:cNvPr id="10" name="marker-500"/>
          <p:cNvSpPr/>
          <p:nvPr/>
        </p:nvSpPr>
        <p:spPr>
          <a:xfrm>
            <a:off x="548640" y="3209544"/>
            <a:ext cx="402336" cy="402336"/>
          </a:xfrm>
          <a:prstGeom prst="ellipse">
            <a:avLst/>
          </a:prstGeom>
          <a:solidFill>
            <a:schemeClr val="accent6"/>
          </a:solidFill>
          <a:ln w="12700">
            <a:solidFill>
              <a:schemeClr val="accent6"/>
            </a:solidFill>
            <a:prstDash val="solid"/>
          </a:ln>
        </p:spPr>
      </p:sp>
      <p:sp>
        <p:nvSpPr>
          <p:cNvPr id="11" name="text-501"/>
          <p:cNvSpPr txBox="1"/>
          <p:nvPr/>
        </p:nvSpPr>
        <p:spPr>
          <a:xfrm>
            <a:off x="548640" y="320954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2" name="text-502"/>
          <p:cNvSpPr txBox="1"/>
          <p:nvPr/>
        </p:nvSpPr>
        <p:spPr>
          <a:xfrm>
            <a:off x="1097280" y="3227832"/>
            <a:ext cx="3429000" cy="713232"/>
          </a:xfrm>
          <a:prstGeom prst="rect">
            <a:avLst/>
          </a:prstGeom>
          <a:noFill/>
          <a:ln/>
        </p:spPr>
        <p:txBody>
          <a:bodyPr wrap="square" lIns="0" tIns="0" rIns="0" bIns="0" rtlCol="0" anchor="t"/>
          <a:lstStyle/>
          <a:p>
            <a:pPr indent="0" marL="0">
              <a:lnSpc>
                <a:spcPct val="100000"/>
              </a:lnSpc>
              <a:spcAft>
                <a:spcPts val="200"/>
              </a:spcAft>
              <a:buNone/>
            </a:pPr>
            <a:r>
              <a:rPr lang="en-US" sz="1000" b="1" dirty="0">
                <a:solidFill>
                  <a:schemeClr val="tx1"/>
                </a:solidFill>
              </a:rPr>
              <a:t>Metro Entrance – Central Interchange Station</a:t>
            </a:r>
            <a:endParaRPr lang="en-US" sz="1050" dirty="0"/>
          </a:p>
          <a:p>
            <a:pPr indent="0" marL="0">
              <a:lnSpc>
                <a:spcPct val="100000"/>
              </a:lnSpc>
              <a:buNone/>
            </a:pPr>
            <a:r>
              <a:rPr lang="en-US" sz="900" dirty="0">
                <a:solidFill>
                  <a:schemeClr val="tx2"/>
                </a:solidFill>
              </a:rPr>
              <a:t>Escalators down to the metro and the shelters.</a:t>
            </a:r>
            <a:endParaRPr lang="en-US" sz="1050" dirty="0"/>
          </a:p>
        </p:txBody>
      </p:sp>
      <p:sp>
        <p:nvSpPr>
          <p:cNvPr id="13" name="marker-503"/>
          <p:cNvSpPr/>
          <p:nvPr/>
        </p:nvSpPr>
        <p:spPr>
          <a:xfrm>
            <a:off x="548640" y="3995928"/>
            <a:ext cx="402336" cy="402336"/>
          </a:xfrm>
          <a:prstGeom prst="ellipse">
            <a:avLst/>
          </a:prstGeom>
          <a:solidFill>
            <a:schemeClr val="accent6"/>
          </a:solidFill>
          <a:ln w="12700">
            <a:solidFill>
              <a:schemeClr val="accent6"/>
            </a:solidFill>
            <a:prstDash val="solid"/>
          </a:ln>
        </p:spPr>
      </p:sp>
      <p:sp>
        <p:nvSpPr>
          <p:cNvPr id="14" name="text-504"/>
          <p:cNvSpPr txBox="1"/>
          <p:nvPr/>
        </p:nvSpPr>
        <p:spPr>
          <a:xfrm>
            <a:off x="548640" y="3995928"/>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15" name="text-505"/>
          <p:cNvSpPr txBox="1"/>
          <p:nvPr/>
        </p:nvSpPr>
        <p:spPr>
          <a:xfrm>
            <a:off x="1097280" y="4014216"/>
            <a:ext cx="3429000" cy="713232"/>
          </a:xfrm>
          <a:prstGeom prst="rect">
            <a:avLst/>
          </a:prstGeom>
          <a:noFill/>
          <a:ln/>
        </p:spPr>
        <p:txBody>
          <a:bodyPr wrap="square" lIns="0" tIns="0" rIns="0" bIns="0" rtlCol="0" anchor="t"/>
          <a:lstStyle/>
          <a:p>
            <a:pPr indent="0" marL="0">
              <a:lnSpc>
                <a:spcPct val="100000"/>
              </a:lnSpc>
              <a:spcAft>
                <a:spcPts val="200"/>
              </a:spcAft>
              <a:buNone/>
            </a:pPr>
            <a:r>
              <a:rPr lang="en-US" sz="1000" b="1" dirty="0">
                <a:solidFill>
                  <a:schemeClr val="tx1"/>
                </a:solidFill>
              </a:rPr>
              <a:t>Snowflake General Hospital</a:t>
            </a:r>
            <a:endParaRPr lang="en-US" sz="1050" dirty="0"/>
          </a:p>
          <a:p>
            <a:pPr indent="0" marL="0">
              <a:lnSpc>
                <a:spcPct val="100000"/>
              </a:lnSpc>
              <a:buNone/>
            </a:pPr>
            <a:r>
              <a:rPr lang="en-US" sz="900" dirty="0">
                <a:solidFill>
                  <a:schemeClr val="tx2"/>
                </a:solidFill>
              </a:rPr>
              <a:t>About 250 beds and a 24-hour emergency department.</a:t>
            </a:r>
            <a:endParaRPr lang="en-US" sz="1050" dirty="0"/>
          </a:p>
        </p:txBody>
      </p:sp>
      <p:sp>
        <p:nvSpPr>
          <p:cNvPr id="16" name="marker-506"/>
          <p:cNvSpPr/>
          <p:nvPr/>
        </p:nvSpPr>
        <p:spPr>
          <a:xfrm>
            <a:off x="548640" y="4782312"/>
            <a:ext cx="402336" cy="402336"/>
          </a:xfrm>
          <a:prstGeom prst="ellipse">
            <a:avLst/>
          </a:prstGeom>
          <a:solidFill>
            <a:schemeClr val="accent6"/>
          </a:solidFill>
          <a:ln w="12700">
            <a:solidFill>
              <a:schemeClr val="accent6"/>
            </a:solidFill>
            <a:prstDash val="solid"/>
          </a:ln>
        </p:spPr>
      </p:sp>
      <p:sp>
        <p:nvSpPr>
          <p:cNvPr id="17" name="text-507"/>
          <p:cNvSpPr txBox="1"/>
          <p:nvPr/>
        </p:nvSpPr>
        <p:spPr>
          <a:xfrm>
            <a:off x="548640" y="4782312"/>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18" name="text-508"/>
          <p:cNvSpPr txBox="1"/>
          <p:nvPr/>
        </p:nvSpPr>
        <p:spPr>
          <a:xfrm>
            <a:off x="1097280" y="4800600"/>
            <a:ext cx="3429000" cy="713232"/>
          </a:xfrm>
          <a:prstGeom prst="rect">
            <a:avLst/>
          </a:prstGeom>
          <a:noFill/>
          <a:ln/>
        </p:spPr>
        <p:txBody>
          <a:bodyPr wrap="square" lIns="0" tIns="0" rIns="0" bIns="0" rtlCol="0" anchor="t"/>
          <a:lstStyle/>
          <a:p>
            <a:pPr indent="0" marL="0">
              <a:lnSpc>
                <a:spcPct val="100000"/>
              </a:lnSpc>
              <a:spcAft>
                <a:spcPts val="200"/>
              </a:spcAft>
              <a:buNone/>
            </a:pPr>
            <a:r>
              <a:rPr lang="en-US" sz="1000" b="1" dirty="0">
                <a:solidFill>
                  <a:schemeClr val="tx1"/>
                </a:solidFill>
              </a:rPr>
              <a:t>Fusion Core – Compact D-T Tokamak</a:t>
            </a:r>
            <a:endParaRPr lang="en-US" sz="1050" dirty="0"/>
          </a:p>
          <a:p>
            <a:pPr indent="0" marL="0">
              <a:lnSpc>
                <a:spcPct val="100000"/>
              </a:lnSpc>
              <a:buNone/>
            </a:pPr>
            <a:r>
              <a:rPr lang="en-US" sz="900" dirty="0">
                <a:solidFill>
                  <a:schemeClr val="tx2"/>
                </a:solidFill>
              </a:rPr>
              <a:t>The city’s own sun.</a:t>
            </a:r>
            <a:endParaRPr lang="en-US" sz="1050" dirty="0"/>
          </a:p>
        </p:txBody>
      </p:sp>
      <p:sp>
        <p:nvSpPr>
          <p:cNvPr id="19" name="marker-509"/>
          <p:cNvSpPr/>
          <p:nvPr/>
        </p:nvSpPr>
        <p:spPr>
          <a:xfrm>
            <a:off x="548640" y="5568696"/>
            <a:ext cx="402336" cy="402336"/>
          </a:xfrm>
          <a:prstGeom prst="ellipse">
            <a:avLst/>
          </a:prstGeom>
          <a:solidFill>
            <a:schemeClr val="accent6"/>
          </a:solidFill>
          <a:ln w="12700">
            <a:solidFill>
              <a:schemeClr val="accent6"/>
            </a:solidFill>
            <a:prstDash val="solid"/>
          </a:ln>
        </p:spPr>
      </p:sp>
      <p:sp>
        <p:nvSpPr>
          <p:cNvPr id="20" name="text-510"/>
          <p:cNvSpPr txBox="1"/>
          <p:nvPr/>
        </p:nvSpPr>
        <p:spPr>
          <a:xfrm>
            <a:off x="548640" y="5568696"/>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5</a:t>
            </a:r>
            <a:endParaRPr lang="en-US" sz="1400" dirty="0"/>
          </a:p>
        </p:txBody>
      </p:sp>
      <p:sp>
        <p:nvSpPr>
          <p:cNvPr id="21" name="text-511"/>
          <p:cNvSpPr txBox="1"/>
          <p:nvPr/>
        </p:nvSpPr>
        <p:spPr>
          <a:xfrm>
            <a:off x="1097280" y="5586984"/>
            <a:ext cx="3429000" cy="713232"/>
          </a:xfrm>
          <a:prstGeom prst="rect">
            <a:avLst/>
          </a:prstGeom>
          <a:noFill/>
          <a:ln/>
        </p:spPr>
        <p:txBody>
          <a:bodyPr wrap="square" lIns="0" tIns="0" rIns="0" bIns="0" rtlCol="0" anchor="t"/>
          <a:lstStyle/>
          <a:p>
            <a:pPr indent="0" marL="0">
              <a:lnSpc>
                <a:spcPct val="100000"/>
              </a:lnSpc>
              <a:spcAft>
                <a:spcPts val="200"/>
              </a:spcAft>
              <a:buNone/>
            </a:pPr>
            <a:r>
              <a:rPr lang="en-US" sz="1000" b="1" dirty="0">
                <a:solidFill>
                  <a:schemeClr val="tx1"/>
                </a:solidFill>
              </a:rPr>
              <a:t>Snow Harvest &amp; Melt Hall</a:t>
            </a:r>
            <a:endParaRPr lang="en-US" sz="1050" dirty="0"/>
          </a:p>
          <a:p>
            <a:pPr indent="0" marL="0">
              <a:lnSpc>
                <a:spcPct val="100000"/>
              </a:lnSpc>
              <a:buNone/>
            </a:pPr>
            <a:r>
              <a:rPr lang="en-US" sz="900" dirty="0">
                <a:solidFill>
                  <a:schemeClr val="tx2"/>
                </a:solidFill>
              </a:rPr>
              <a:t>Melts about 3,000 t of snow a day with spare fusion heat.</a:t>
            </a:r>
            <a:endParaRPr lang="en-US" sz="1050" dirty="0"/>
          </a:p>
        </p:txBody>
      </p:sp>
      <p:sp>
        <p:nvSpPr>
          <p:cNvPr id="22" name="marker-512"/>
          <p:cNvSpPr/>
          <p:nvPr/>
        </p:nvSpPr>
        <p:spPr>
          <a:xfrm>
            <a:off x="548640" y="6355080"/>
            <a:ext cx="402336" cy="402336"/>
          </a:xfrm>
          <a:prstGeom prst="ellipse">
            <a:avLst/>
          </a:prstGeom>
          <a:solidFill>
            <a:schemeClr val="accent6"/>
          </a:solidFill>
          <a:ln w="12700">
            <a:solidFill>
              <a:schemeClr val="accent6"/>
            </a:solidFill>
            <a:prstDash val="solid"/>
          </a:ln>
        </p:spPr>
      </p:sp>
      <p:sp>
        <p:nvSpPr>
          <p:cNvPr id="23" name="text-513"/>
          <p:cNvSpPr txBox="1"/>
          <p:nvPr/>
        </p:nvSpPr>
        <p:spPr>
          <a:xfrm>
            <a:off x="548640" y="635508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6</a:t>
            </a:r>
            <a:endParaRPr lang="en-US" sz="1400" dirty="0"/>
          </a:p>
        </p:txBody>
      </p:sp>
      <p:sp>
        <p:nvSpPr>
          <p:cNvPr id="24" name="text-514"/>
          <p:cNvSpPr txBox="1"/>
          <p:nvPr/>
        </p:nvSpPr>
        <p:spPr>
          <a:xfrm>
            <a:off x="1097280" y="6373368"/>
            <a:ext cx="3429000" cy="713232"/>
          </a:xfrm>
          <a:prstGeom prst="rect">
            <a:avLst/>
          </a:prstGeom>
          <a:noFill/>
          <a:ln/>
        </p:spPr>
        <p:txBody>
          <a:bodyPr wrap="square" lIns="0" tIns="0" rIns="0" bIns="0" rtlCol="0" anchor="t"/>
          <a:lstStyle/>
          <a:p>
            <a:pPr indent="0" marL="0">
              <a:lnSpc>
                <a:spcPct val="100000"/>
              </a:lnSpc>
              <a:spcAft>
                <a:spcPts val="200"/>
              </a:spcAft>
              <a:buNone/>
            </a:pPr>
            <a:r>
              <a:rPr lang="en-US" sz="1000" b="1" dirty="0">
                <a:solidFill>
                  <a:schemeClr val="tx1"/>
                </a:solidFill>
              </a:rPr>
              <a:t>Mount Aurora – Snow Peak &amp; Hanging Glacier</a:t>
            </a:r>
            <a:endParaRPr lang="en-US" sz="1050" dirty="0"/>
          </a:p>
          <a:p>
            <a:pPr indent="0" marL="0">
              <a:lnSpc>
                <a:spcPct val="100000"/>
              </a:lnSpc>
              <a:buNone/>
            </a:pPr>
            <a:r>
              <a:rPr lang="en-US" sz="900" dirty="0">
                <a:solidFill>
                  <a:schemeClr val="tx2"/>
                </a:solidFill>
              </a:rPr>
              <a:t>The 35 m peak with the spa inside.</a:t>
            </a:r>
            <a:endParaRPr lang="en-US" sz="1050" dirty="0"/>
          </a:p>
        </p:txBody>
      </p:sp>
      <p:sp>
        <p:nvSpPr>
          <p:cNvPr id="25" name="marker-515"/>
          <p:cNvSpPr/>
          <p:nvPr/>
        </p:nvSpPr>
        <p:spPr>
          <a:xfrm>
            <a:off x="548640" y="7141464"/>
            <a:ext cx="402336" cy="402336"/>
          </a:xfrm>
          <a:prstGeom prst="ellipse">
            <a:avLst/>
          </a:prstGeom>
          <a:solidFill>
            <a:schemeClr val="accent6"/>
          </a:solidFill>
          <a:ln w="12700">
            <a:solidFill>
              <a:schemeClr val="accent6"/>
            </a:solidFill>
            <a:prstDash val="solid"/>
          </a:ln>
        </p:spPr>
      </p:sp>
      <p:sp>
        <p:nvSpPr>
          <p:cNvPr id="26" name="text-516"/>
          <p:cNvSpPr txBox="1"/>
          <p:nvPr/>
        </p:nvSpPr>
        <p:spPr>
          <a:xfrm>
            <a:off x="548640" y="714146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7</a:t>
            </a:r>
            <a:endParaRPr lang="en-US" sz="1400" dirty="0"/>
          </a:p>
        </p:txBody>
      </p:sp>
      <p:sp>
        <p:nvSpPr>
          <p:cNvPr id="27" name="text-517"/>
          <p:cNvSpPr txBox="1"/>
          <p:nvPr/>
        </p:nvSpPr>
        <p:spPr>
          <a:xfrm>
            <a:off x="1097280" y="7159752"/>
            <a:ext cx="3429000" cy="713232"/>
          </a:xfrm>
          <a:prstGeom prst="rect">
            <a:avLst/>
          </a:prstGeom>
          <a:noFill/>
          <a:ln/>
        </p:spPr>
        <p:txBody>
          <a:bodyPr wrap="square" lIns="0" tIns="0" rIns="0" bIns="0" rtlCol="0" anchor="t"/>
          <a:lstStyle/>
          <a:p>
            <a:pPr indent="0" marL="0">
              <a:lnSpc>
                <a:spcPct val="100000"/>
              </a:lnSpc>
              <a:spcAft>
                <a:spcPts val="200"/>
              </a:spcAft>
              <a:buNone/>
            </a:pPr>
            <a:r>
              <a:rPr lang="en-US" sz="1000" b="1" dirty="0">
                <a:solidFill>
                  <a:schemeClr val="tx1"/>
                </a:solidFill>
              </a:rPr>
              <a:t>Ice-Proof Wind Farm</a:t>
            </a:r>
            <a:endParaRPr lang="en-US" sz="1050" dirty="0"/>
          </a:p>
          <a:p>
            <a:pPr indent="0" marL="0">
              <a:lnSpc>
                <a:spcPct val="100000"/>
              </a:lnSpc>
              <a:buNone/>
            </a:pPr>
            <a:r>
              <a:rPr lang="en-US" sz="900" dirty="0">
                <a:solidFill>
                  <a:schemeClr val="tx2"/>
                </a:solidFill>
              </a:rPr>
              <a:t>Two rows of turbines making about 60 MW.</a:t>
            </a:r>
            <a:endParaRPr lang="en-US" sz="1050" dirty="0"/>
          </a:p>
        </p:txBody>
      </p:sp>
      <p:sp>
        <p:nvSpPr>
          <p:cNvPr id="28" name="marker-518"/>
          <p:cNvSpPr/>
          <p:nvPr/>
        </p:nvSpPr>
        <p:spPr>
          <a:xfrm>
            <a:off x="548640" y="7927848"/>
            <a:ext cx="402336" cy="402336"/>
          </a:xfrm>
          <a:prstGeom prst="ellipse">
            <a:avLst/>
          </a:prstGeom>
          <a:solidFill>
            <a:schemeClr val="accent6"/>
          </a:solidFill>
          <a:ln w="12700">
            <a:solidFill>
              <a:schemeClr val="accent6"/>
            </a:solidFill>
            <a:prstDash val="solid"/>
          </a:ln>
        </p:spPr>
      </p:sp>
      <p:sp>
        <p:nvSpPr>
          <p:cNvPr id="29" name="text-519"/>
          <p:cNvSpPr txBox="1"/>
          <p:nvPr/>
        </p:nvSpPr>
        <p:spPr>
          <a:xfrm>
            <a:off x="548640" y="7927848"/>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8</a:t>
            </a:r>
            <a:endParaRPr lang="en-US" sz="1400" dirty="0"/>
          </a:p>
        </p:txBody>
      </p:sp>
      <p:sp>
        <p:nvSpPr>
          <p:cNvPr id="30" name="text-520"/>
          <p:cNvSpPr txBox="1"/>
          <p:nvPr/>
        </p:nvSpPr>
        <p:spPr>
          <a:xfrm>
            <a:off x="1097280" y="7946136"/>
            <a:ext cx="3429000" cy="713232"/>
          </a:xfrm>
          <a:prstGeom prst="rect">
            <a:avLst/>
          </a:prstGeom>
          <a:noFill/>
          <a:ln/>
        </p:spPr>
        <p:txBody>
          <a:bodyPr wrap="square" lIns="0" tIns="0" rIns="0" bIns="0" rtlCol="0" anchor="t"/>
          <a:lstStyle/>
          <a:p>
            <a:pPr indent="0" marL="0">
              <a:lnSpc>
                <a:spcPct val="100000"/>
              </a:lnSpc>
              <a:spcAft>
                <a:spcPts val="200"/>
              </a:spcAft>
              <a:buNone/>
            </a:pPr>
            <a:r>
              <a:rPr lang="en-US" sz="1000" b="1" dirty="0">
                <a:solidFill>
                  <a:schemeClr val="tx1"/>
                </a:solidFill>
              </a:rPr>
              <a:t>Polar Rescue and Resilience Station</a:t>
            </a:r>
            <a:endParaRPr lang="en-US" sz="1050" dirty="0"/>
          </a:p>
          <a:p>
            <a:pPr indent="0" marL="0">
              <a:lnSpc>
                <a:spcPct val="100000"/>
              </a:lnSpc>
              <a:buNone/>
            </a:pPr>
            <a:r>
              <a:rPr lang="en-US" sz="900" dirty="0">
                <a:solidFill>
                  <a:schemeClr val="tx2"/>
                </a:solidFill>
              </a:rPr>
              <a:t>Home of the 112 emergency centre.</a:t>
            </a:r>
            <a:endParaRPr lang="en-US" sz="1050" dirty="0"/>
          </a:p>
        </p:txBody>
      </p:sp>
      <p:sp>
        <p:nvSpPr>
          <p:cNvPr id="31" name="text-521"/>
          <p:cNvSpPr txBox="1"/>
          <p:nvPr/>
        </p:nvSpPr>
        <p:spPr>
          <a:xfrm>
            <a:off x="548640" y="8668512"/>
            <a:ext cx="3977640" cy="411480"/>
          </a:xfrm>
          <a:prstGeom prst="rect">
            <a:avLst/>
          </a:prstGeom>
          <a:noFill/>
          <a:ln/>
        </p:spPr>
        <p:txBody>
          <a:bodyPr wrap="square" lIns="0" tIns="0" rIns="0" bIns="0" rtlCol="0" anchor="t"/>
          <a:lstStyle/>
          <a:p>
            <a:pPr indent="0" marL="0">
              <a:buNone/>
            </a:pPr>
            <a:r>
              <a:rPr lang="en-US" sz="900" i="1" dirty="0">
                <a:solidFill>
                  <a:schemeClr val="tx2"/>
                </a:solidFill>
              </a:rPr>
              <a:t>If there is time: the Aurora Lagoon, the Bifacial Solar Farm and the Recycled Water Tower.</a:t>
            </a:r>
            <a:endParaRPr lang="en-US" sz="900" dirty="0"/>
          </a:p>
        </p:txBody>
      </p:sp>
      <p:sp>
        <p:nvSpPr>
          <p:cNvPr id="32" name="card-522"/>
          <p:cNvSpPr/>
          <p:nvPr/>
        </p:nvSpPr>
        <p:spPr>
          <a:xfrm>
            <a:off x="4800600" y="2423160"/>
            <a:ext cx="2212848" cy="7498080"/>
          </a:xfrm>
          <a:prstGeom prst="roundRect">
            <a:avLst>
              <a:gd name="adj" fmla="val 3306"/>
            </a:avLst>
          </a:prstGeom>
          <a:solidFill>
            <a:schemeClr val="bg1"/>
          </a:solidFill>
          <a:ln w="12700">
            <a:solidFill>
              <a:schemeClr val="bg1"/>
            </a:solidFill>
            <a:prstDash val="solid"/>
          </a:ln>
        </p:spPr>
      </p:sp>
      <p:sp>
        <p:nvSpPr>
          <p:cNvPr id="33" name="kicker-dot-523"/>
          <p:cNvSpPr/>
          <p:nvPr/>
        </p:nvSpPr>
        <p:spPr>
          <a:xfrm>
            <a:off x="4965192" y="2647188"/>
            <a:ext cx="100584" cy="100584"/>
          </a:xfrm>
          <a:prstGeom prst="ellipse">
            <a:avLst/>
          </a:prstGeom>
          <a:solidFill>
            <a:schemeClr val="accent6"/>
          </a:solidFill>
          <a:ln w="12700">
            <a:solidFill>
              <a:schemeClr val="accent6"/>
            </a:solidFill>
            <a:prstDash val="solid"/>
          </a:ln>
        </p:spPr>
      </p:sp>
      <p:sp>
        <p:nvSpPr>
          <p:cNvPr id="34" name="text-524"/>
          <p:cNvSpPr txBox="1"/>
          <p:nvPr/>
        </p:nvSpPr>
        <p:spPr>
          <a:xfrm>
            <a:off x="5148072" y="2606040"/>
            <a:ext cx="1847088" cy="201168"/>
          </a:xfrm>
          <a:prstGeom prst="rect">
            <a:avLst/>
          </a:prstGeom>
          <a:noFill/>
          <a:ln/>
        </p:spPr>
        <p:txBody>
          <a:bodyPr wrap="square" lIns="0" tIns="0" rIns="0" bIns="0" rtlCol="0" anchor="t"/>
          <a:lstStyle/>
          <a:p>
            <a:pPr indent="0" marL="0">
              <a:buNone/>
            </a:pPr>
            <a:r>
              <a:rPr lang="en-US" sz="900" b="1" spc="300" kern="0" dirty="0">
                <a:solidFill>
                  <a:schemeClr val="accent6"/>
                </a:solidFill>
              </a:rPr>
              <a:t>BEHIND THE BUILD</a:t>
            </a:r>
            <a:endParaRPr lang="en-US" sz="900" dirty="0"/>
          </a:p>
        </p:txBody>
      </p:sp>
      <p:sp>
        <p:nvSpPr>
          <p:cNvPr id="35" name="text-525"/>
          <p:cNvSpPr txBox="1"/>
          <p:nvPr/>
        </p:nvSpPr>
        <p:spPr>
          <a:xfrm>
            <a:off x="4965192" y="2926080"/>
            <a:ext cx="1883664" cy="352552"/>
          </a:xfrm>
          <a:prstGeom prst="rect">
            <a:avLst/>
          </a:prstGeom>
          <a:noFill/>
          <a:ln/>
        </p:spPr>
        <p:txBody>
          <a:bodyPr wrap="square" lIns="0" tIns="0" rIns="0" bIns="0" rtlCol="0" anchor="b"/>
          <a:lstStyle/>
          <a:p>
            <a:pPr indent="0" marL="0">
              <a:buNone/>
            </a:pPr>
            <a:r>
              <a:rPr lang="en-US" sz="2200" b="1" dirty="0">
                <a:solidFill>
                  <a:schemeClr val="accent6"/>
                </a:solidFill>
                <a:latin typeface="+mj-lt" pitchFamily="34" charset="0"/>
                <a:ea typeface="+mj-lt" pitchFamily="34" charset="-122"/>
                <a:cs typeface="+mj-lt" pitchFamily="34" charset="-120"/>
              </a:rPr>
              <a:t>35</a:t>
            </a:r>
            <a:endParaRPr lang="en-US" sz="2200" dirty="0"/>
          </a:p>
        </p:txBody>
      </p:sp>
      <p:sp>
        <p:nvSpPr>
          <p:cNvPr id="36" name="text-526"/>
          <p:cNvSpPr txBox="1"/>
          <p:nvPr/>
        </p:nvSpPr>
        <p:spPr>
          <a:xfrm>
            <a:off x="4965192" y="3306064"/>
            <a:ext cx="1883664" cy="41148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key places, numbered on the master plan</a:t>
            </a:r>
            <a:endParaRPr lang="en-US" sz="900" dirty="0"/>
          </a:p>
        </p:txBody>
      </p:sp>
      <p:sp>
        <p:nvSpPr>
          <p:cNvPr id="37" name="text-527"/>
          <p:cNvSpPr txBox="1"/>
          <p:nvPr/>
        </p:nvSpPr>
        <p:spPr>
          <a:xfrm>
            <a:off x="4965192" y="3886200"/>
            <a:ext cx="1883664" cy="352552"/>
          </a:xfrm>
          <a:prstGeom prst="rect">
            <a:avLst/>
          </a:prstGeom>
          <a:noFill/>
          <a:ln/>
        </p:spPr>
        <p:txBody>
          <a:bodyPr wrap="square" lIns="0" tIns="0" rIns="0" bIns="0" rtlCol="0" anchor="b"/>
          <a:lstStyle/>
          <a:p>
            <a:pPr indent="0" marL="0">
              <a:buNone/>
            </a:pPr>
            <a:r>
              <a:rPr lang="en-US" sz="2200" b="1" dirty="0">
                <a:solidFill>
                  <a:schemeClr val="accent6"/>
                </a:solidFill>
                <a:latin typeface="+mj-lt" pitchFamily="34" charset="0"/>
                <a:ea typeface="+mj-lt" pitchFamily="34" charset="-122"/>
                <a:cs typeface="+mj-lt" pitchFamily="34" charset="-120"/>
              </a:rPr>
              <a:t>9</a:t>
            </a:r>
            <a:endParaRPr lang="en-US" sz="2200" dirty="0"/>
          </a:p>
        </p:txBody>
      </p:sp>
      <p:sp>
        <p:nvSpPr>
          <p:cNvPr id="38" name="text-528"/>
          <p:cNvSpPr txBox="1"/>
          <p:nvPr/>
        </p:nvSpPr>
        <p:spPr>
          <a:xfrm>
            <a:off x="4965192" y="4266184"/>
            <a:ext cx="1883664" cy="41148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downtown blocks around the Aurora Roundabout</a:t>
            </a:r>
            <a:endParaRPr lang="en-US" sz="900" dirty="0"/>
          </a:p>
        </p:txBody>
      </p:sp>
      <p:sp>
        <p:nvSpPr>
          <p:cNvPr id="39" name="text-529"/>
          <p:cNvSpPr txBox="1"/>
          <p:nvPr/>
        </p:nvSpPr>
        <p:spPr>
          <a:xfrm>
            <a:off x="4965192" y="4846320"/>
            <a:ext cx="1883664" cy="352552"/>
          </a:xfrm>
          <a:prstGeom prst="rect">
            <a:avLst/>
          </a:prstGeom>
          <a:noFill/>
          <a:ln/>
        </p:spPr>
        <p:txBody>
          <a:bodyPr wrap="square" lIns="0" tIns="0" rIns="0" bIns="0" rtlCol="0" anchor="b"/>
          <a:lstStyle/>
          <a:p>
            <a:pPr indent="0" marL="0">
              <a:buNone/>
            </a:pPr>
            <a:r>
              <a:rPr lang="en-US" sz="2200" b="1" dirty="0">
                <a:solidFill>
                  <a:schemeClr val="accent6"/>
                </a:solidFill>
                <a:latin typeface="+mj-lt" pitchFamily="34" charset="0"/>
                <a:ea typeface="+mj-lt" pitchFamily="34" charset="-122"/>
                <a:cs typeface="+mj-lt" pitchFamily="34" charset="-120"/>
              </a:rPr>
              <a:t>1 m</a:t>
            </a:r>
            <a:endParaRPr lang="en-US" sz="2200" dirty="0"/>
          </a:p>
        </p:txBody>
      </p:sp>
      <p:sp>
        <p:nvSpPr>
          <p:cNvPr id="40" name="text-530"/>
          <p:cNvSpPr txBox="1"/>
          <p:nvPr/>
        </p:nvSpPr>
        <p:spPr>
          <a:xfrm>
            <a:off x="4965192" y="5226304"/>
            <a:ext cx="1883664" cy="41148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per unit on every plan, drawn from the 3D model</a:t>
            </a:r>
            <a:endParaRPr lang="en-US" sz="900" dirty="0"/>
          </a:p>
        </p:txBody>
      </p:sp>
      <p:sp>
        <p:nvSpPr>
          <p:cNvPr id="41" name="text-531"/>
          <p:cNvSpPr txBox="1"/>
          <p:nvPr/>
        </p:nvSpPr>
        <p:spPr>
          <a:xfrm>
            <a:off x="4965192" y="5897880"/>
            <a:ext cx="1883664" cy="201168"/>
          </a:xfrm>
          <a:prstGeom prst="rect">
            <a:avLst/>
          </a:prstGeom>
          <a:noFill/>
          <a:ln/>
        </p:spPr>
        <p:txBody>
          <a:bodyPr wrap="square" lIns="0" tIns="0" rIns="0" bIns="0" rtlCol="0" anchor="t"/>
          <a:lstStyle/>
          <a:p>
            <a:pPr indent="0" marL="0">
              <a:buNone/>
            </a:pPr>
            <a:r>
              <a:rPr lang="en-US" sz="850" b="1" spc="200" kern="0" dirty="0">
                <a:solidFill>
                  <a:schemeClr val="tx2"/>
                </a:solidFill>
              </a:rPr>
              <a:t>MEETING THE BRIEF</a:t>
            </a:r>
            <a:endParaRPr lang="en-US" sz="850" dirty="0"/>
          </a:p>
        </p:txBody>
      </p:sp>
      <p:sp>
        <p:nvSpPr>
          <p:cNvPr id="42" name="marker-532"/>
          <p:cNvSpPr/>
          <p:nvPr/>
        </p:nvSpPr>
        <p:spPr>
          <a:xfrm>
            <a:off x="4965192" y="6217920"/>
            <a:ext cx="274320" cy="274320"/>
          </a:xfrm>
          <a:prstGeom prst="ellipse">
            <a:avLst/>
          </a:prstGeom>
          <a:solidFill>
            <a:schemeClr val="tx1"/>
          </a:solidFill>
          <a:ln w="12700">
            <a:solidFill>
              <a:schemeClr val="tx1"/>
            </a:solidFill>
            <a:prstDash val="solid"/>
          </a:ln>
        </p:spPr>
      </p:sp>
      <p:sp>
        <p:nvSpPr>
          <p:cNvPr id="43" name="text-533"/>
          <p:cNvSpPr txBox="1"/>
          <p:nvPr/>
        </p:nvSpPr>
        <p:spPr>
          <a:xfrm>
            <a:off x="4965192" y="621792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mj-lt" pitchFamily="34" charset="0"/>
                <a:ea typeface="+mj-lt" pitchFamily="34" charset="-122"/>
                <a:cs typeface="+mj-lt" pitchFamily="34" charset="-120"/>
              </a:rPr>
              <a:t>1</a:t>
            </a:r>
            <a:endParaRPr lang="en-US" sz="1000" dirty="0"/>
          </a:p>
        </p:txBody>
      </p:sp>
      <p:sp>
        <p:nvSpPr>
          <p:cNvPr id="44" name="text-534"/>
          <p:cNvSpPr txBox="1"/>
          <p:nvPr/>
        </p:nvSpPr>
        <p:spPr>
          <a:xfrm>
            <a:off x="5349240" y="6199632"/>
            <a:ext cx="1527048" cy="201168"/>
          </a:xfrm>
          <a:prstGeom prst="rect">
            <a:avLst/>
          </a:prstGeom>
          <a:noFill/>
          <a:ln/>
        </p:spPr>
        <p:txBody>
          <a:bodyPr wrap="square" lIns="0" tIns="0" rIns="0" bIns="0" rtlCol="0" anchor="t"/>
          <a:lstStyle/>
          <a:p>
            <a:pPr indent="0" marL="0">
              <a:buNone/>
            </a:pPr>
            <a:r>
              <a:rPr lang="en-US" sz="950" b="1" dirty="0">
                <a:solidFill>
                  <a:schemeClr val="tx1"/>
                </a:solidFill>
              </a:rPr>
              <a:t>Smart design</a:t>
            </a:r>
            <a:endParaRPr lang="en-US" sz="950" dirty="0"/>
          </a:p>
        </p:txBody>
      </p:sp>
      <p:sp>
        <p:nvSpPr>
          <p:cNvPr id="45" name="text-535"/>
          <p:cNvSpPr txBox="1"/>
          <p:nvPr/>
        </p:nvSpPr>
        <p:spPr>
          <a:xfrm>
            <a:off x="5349240" y="6400800"/>
            <a:ext cx="1527048" cy="457200"/>
          </a:xfrm>
          <a:prstGeom prst="rect">
            <a:avLst/>
          </a:prstGeom>
          <a:noFill/>
          <a:ln/>
        </p:spPr>
        <p:txBody>
          <a:bodyPr wrap="square" lIns="0" tIns="0" rIns="0" bIns="0" rtlCol="0" anchor="t"/>
          <a:lstStyle/>
          <a:p>
            <a:pPr indent="0" marL="0">
              <a:buNone/>
            </a:pPr>
            <a:r>
              <a:rPr lang="en-US" sz="850" dirty="0">
                <a:solidFill>
                  <a:schemeClr val="tx2"/>
                </a:solidFill>
              </a:rPr>
              <a:t>polar answers to cold, darkness, wind and permafrost</a:t>
            </a:r>
            <a:endParaRPr lang="en-US" sz="850" dirty="0"/>
          </a:p>
        </p:txBody>
      </p:sp>
      <p:sp>
        <p:nvSpPr>
          <p:cNvPr id="46" name="marker-536"/>
          <p:cNvSpPr/>
          <p:nvPr/>
        </p:nvSpPr>
        <p:spPr>
          <a:xfrm>
            <a:off x="4965192" y="6931152"/>
            <a:ext cx="274320" cy="274320"/>
          </a:xfrm>
          <a:prstGeom prst="ellipse">
            <a:avLst/>
          </a:prstGeom>
          <a:solidFill>
            <a:schemeClr val="tx1"/>
          </a:solidFill>
          <a:ln w="12700">
            <a:solidFill>
              <a:schemeClr val="tx1"/>
            </a:solidFill>
            <a:prstDash val="solid"/>
          </a:ln>
        </p:spPr>
      </p:sp>
      <p:sp>
        <p:nvSpPr>
          <p:cNvPr id="47" name="text-537"/>
          <p:cNvSpPr txBox="1"/>
          <p:nvPr/>
        </p:nvSpPr>
        <p:spPr>
          <a:xfrm>
            <a:off x="4965192" y="6931152"/>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mj-lt" pitchFamily="34" charset="0"/>
                <a:ea typeface="+mj-lt" pitchFamily="34" charset="-122"/>
                <a:cs typeface="+mj-lt" pitchFamily="34" charset="-120"/>
              </a:rPr>
              <a:t>2</a:t>
            </a:r>
            <a:endParaRPr lang="en-US" sz="1000" dirty="0"/>
          </a:p>
        </p:txBody>
      </p:sp>
      <p:sp>
        <p:nvSpPr>
          <p:cNvPr id="48" name="text-538"/>
          <p:cNvSpPr txBox="1"/>
          <p:nvPr/>
        </p:nvSpPr>
        <p:spPr>
          <a:xfrm>
            <a:off x="5349240" y="6912864"/>
            <a:ext cx="1527048" cy="201168"/>
          </a:xfrm>
          <a:prstGeom prst="rect">
            <a:avLst/>
          </a:prstGeom>
          <a:noFill/>
          <a:ln/>
        </p:spPr>
        <p:txBody>
          <a:bodyPr wrap="square" lIns="0" tIns="0" rIns="0" bIns="0" rtlCol="0" anchor="t"/>
          <a:lstStyle/>
          <a:p>
            <a:pPr indent="0" marL="0">
              <a:buNone/>
            </a:pPr>
            <a:r>
              <a:rPr lang="en-US" sz="950" b="1" dirty="0">
                <a:solidFill>
                  <a:schemeClr val="tx1"/>
                </a:solidFill>
              </a:rPr>
              <a:t>Sustainability</a:t>
            </a:r>
            <a:endParaRPr lang="en-US" sz="950" dirty="0"/>
          </a:p>
        </p:txBody>
      </p:sp>
      <p:sp>
        <p:nvSpPr>
          <p:cNvPr id="49" name="text-539"/>
          <p:cNvSpPr txBox="1"/>
          <p:nvPr/>
        </p:nvSpPr>
        <p:spPr>
          <a:xfrm>
            <a:off x="5349240" y="7114032"/>
            <a:ext cx="1527048" cy="457200"/>
          </a:xfrm>
          <a:prstGeom prst="rect">
            <a:avLst/>
          </a:prstGeom>
          <a:noFill/>
          <a:ln/>
        </p:spPr>
        <p:txBody>
          <a:bodyPr wrap="square" lIns="0" tIns="0" rIns="0" bIns="0" rtlCol="0" anchor="t"/>
          <a:lstStyle/>
          <a:p>
            <a:pPr indent="0" marL="0">
              <a:buNone/>
            </a:pPr>
            <a:r>
              <a:rPr lang="en-US" sz="850" dirty="0">
                <a:solidFill>
                  <a:schemeClr val="tx2"/>
                </a:solidFill>
              </a:rPr>
              <a:t>clean energy, closed loops, green spaces, electric transport</a:t>
            </a:r>
            <a:endParaRPr lang="en-US" sz="850" dirty="0"/>
          </a:p>
        </p:txBody>
      </p:sp>
      <p:sp>
        <p:nvSpPr>
          <p:cNvPr id="50" name="marker-540"/>
          <p:cNvSpPr/>
          <p:nvPr/>
        </p:nvSpPr>
        <p:spPr>
          <a:xfrm>
            <a:off x="4965192" y="7644384"/>
            <a:ext cx="274320" cy="274320"/>
          </a:xfrm>
          <a:prstGeom prst="ellipse">
            <a:avLst/>
          </a:prstGeom>
          <a:solidFill>
            <a:schemeClr val="tx1"/>
          </a:solidFill>
          <a:ln w="12700">
            <a:solidFill>
              <a:schemeClr val="tx1"/>
            </a:solidFill>
            <a:prstDash val="solid"/>
          </a:ln>
        </p:spPr>
      </p:sp>
      <p:sp>
        <p:nvSpPr>
          <p:cNvPr id="51" name="text-541"/>
          <p:cNvSpPr txBox="1"/>
          <p:nvPr/>
        </p:nvSpPr>
        <p:spPr>
          <a:xfrm>
            <a:off x="4965192" y="7644384"/>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mj-lt" pitchFamily="34" charset="0"/>
                <a:ea typeface="+mj-lt" pitchFamily="34" charset="-122"/>
                <a:cs typeface="+mj-lt" pitchFamily="34" charset="-120"/>
              </a:rPr>
              <a:t>3</a:t>
            </a:r>
            <a:endParaRPr lang="en-US" sz="1000" dirty="0"/>
          </a:p>
        </p:txBody>
      </p:sp>
      <p:sp>
        <p:nvSpPr>
          <p:cNvPr id="52" name="text-542"/>
          <p:cNvSpPr txBox="1"/>
          <p:nvPr/>
        </p:nvSpPr>
        <p:spPr>
          <a:xfrm>
            <a:off x="5349240" y="7626096"/>
            <a:ext cx="1527048" cy="201168"/>
          </a:xfrm>
          <a:prstGeom prst="rect">
            <a:avLst/>
          </a:prstGeom>
          <a:noFill/>
          <a:ln/>
        </p:spPr>
        <p:txBody>
          <a:bodyPr wrap="square" lIns="0" tIns="0" rIns="0" bIns="0" rtlCol="0" anchor="t"/>
          <a:lstStyle/>
          <a:p>
            <a:pPr indent="0" marL="0">
              <a:buNone/>
            </a:pPr>
            <a:r>
              <a:rPr lang="en-US" sz="950" b="1" dirty="0">
                <a:solidFill>
                  <a:schemeClr val="tx1"/>
                </a:solidFill>
              </a:rPr>
              <a:t>Livability</a:t>
            </a:r>
            <a:endParaRPr lang="en-US" sz="950" dirty="0"/>
          </a:p>
        </p:txBody>
      </p:sp>
      <p:sp>
        <p:nvSpPr>
          <p:cNvPr id="53" name="text-543"/>
          <p:cNvSpPr txBox="1"/>
          <p:nvPr/>
        </p:nvSpPr>
        <p:spPr>
          <a:xfrm>
            <a:off x="5349240" y="7827264"/>
            <a:ext cx="1527048" cy="457200"/>
          </a:xfrm>
          <a:prstGeom prst="rect">
            <a:avLst/>
          </a:prstGeom>
          <a:noFill/>
          <a:ln/>
        </p:spPr>
        <p:txBody>
          <a:bodyPr wrap="square" lIns="0" tIns="0" rIns="0" bIns="0" rtlCol="0" anchor="t"/>
          <a:lstStyle/>
          <a:p>
            <a:pPr indent="0" marL="0">
              <a:buNone/>
            </a:pPr>
            <a:r>
              <a:rPr lang="en-US" sz="850" dirty="0">
                <a:solidFill>
                  <a:schemeClr val="tx2"/>
                </a:solidFill>
              </a:rPr>
              <a:t>homes, schools, hospital, shops, parks, cinema, roads</a:t>
            </a:r>
            <a:endParaRPr lang="en-US" sz="850" dirty="0"/>
          </a:p>
        </p:txBody>
      </p:sp>
      <p:sp>
        <p:nvSpPr>
          <p:cNvPr id="54" name="marker-544"/>
          <p:cNvSpPr/>
          <p:nvPr/>
        </p:nvSpPr>
        <p:spPr>
          <a:xfrm>
            <a:off x="4965192" y="8357616"/>
            <a:ext cx="274320" cy="274320"/>
          </a:xfrm>
          <a:prstGeom prst="ellipse">
            <a:avLst/>
          </a:prstGeom>
          <a:solidFill>
            <a:schemeClr val="tx1"/>
          </a:solidFill>
          <a:ln w="12700">
            <a:solidFill>
              <a:schemeClr val="tx1"/>
            </a:solidFill>
            <a:prstDash val="solid"/>
          </a:ln>
        </p:spPr>
      </p:sp>
      <p:sp>
        <p:nvSpPr>
          <p:cNvPr id="55" name="text-545"/>
          <p:cNvSpPr txBox="1"/>
          <p:nvPr/>
        </p:nvSpPr>
        <p:spPr>
          <a:xfrm>
            <a:off x="4965192" y="8357616"/>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mj-lt" pitchFamily="34" charset="0"/>
                <a:ea typeface="+mj-lt" pitchFamily="34" charset="-122"/>
                <a:cs typeface="+mj-lt" pitchFamily="34" charset="-120"/>
              </a:rPr>
              <a:t>4</a:t>
            </a:r>
            <a:endParaRPr lang="en-US" sz="1000" dirty="0"/>
          </a:p>
        </p:txBody>
      </p:sp>
      <p:sp>
        <p:nvSpPr>
          <p:cNvPr id="56" name="text-546"/>
          <p:cNvSpPr txBox="1"/>
          <p:nvPr/>
        </p:nvSpPr>
        <p:spPr>
          <a:xfrm>
            <a:off x="5349240" y="8339328"/>
            <a:ext cx="1527048" cy="201168"/>
          </a:xfrm>
          <a:prstGeom prst="rect">
            <a:avLst/>
          </a:prstGeom>
          <a:noFill/>
          <a:ln/>
        </p:spPr>
        <p:txBody>
          <a:bodyPr wrap="square" lIns="0" tIns="0" rIns="0" bIns="0" rtlCol="0" anchor="t"/>
          <a:lstStyle/>
          <a:p>
            <a:pPr indent="0" marL="0">
              <a:buNone/>
            </a:pPr>
            <a:r>
              <a:rPr lang="en-US" sz="950" b="1" dirty="0">
                <a:solidFill>
                  <a:schemeClr val="tx1"/>
                </a:solidFill>
              </a:rPr>
              <a:t>Detail</a:t>
            </a:r>
            <a:endParaRPr lang="en-US" sz="950" dirty="0"/>
          </a:p>
        </p:txBody>
      </p:sp>
      <p:sp>
        <p:nvSpPr>
          <p:cNvPr id="57" name="text-547"/>
          <p:cNvSpPr txBox="1"/>
          <p:nvPr/>
        </p:nvSpPr>
        <p:spPr>
          <a:xfrm>
            <a:off x="5349240" y="8540496"/>
            <a:ext cx="1527048" cy="457200"/>
          </a:xfrm>
          <a:prstGeom prst="rect">
            <a:avLst/>
          </a:prstGeom>
          <a:noFill/>
          <a:ln/>
        </p:spPr>
        <p:txBody>
          <a:bodyPr wrap="square" lIns="0" tIns="0" rIns="0" bIns="0" rtlCol="0" anchor="t"/>
          <a:lstStyle/>
          <a:p>
            <a:pPr indent="0" marL="0">
              <a:buNone/>
            </a:pPr>
            <a:r>
              <a:rPr lang="en-US" sz="850" dirty="0">
                <a:solidFill>
                  <a:schemeClr val="tx2"/>
                </a:solidFill>
              </a:rPr>
              <a:t>one master plan, two district plans and four spa level plans</a:t>
            </a:r>
            <a:endParaRPr lang="en-US" sz="85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1"/>
                </a:solidFill>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dot-548"/>
          <p:cNvSpPr/>
          <p:nvPr/>
        </p:nvSpPr>
        <p:spPr>
          <a:xfrm>
            <a:off x="548640" y="516636"/>
            <a:ext cx="100584" cy="100584"/>
          </a:xfrm>
          <a:prstGeom prst="ellipse">
            <a:avLst/>
          </a:prstGeom>
          <a:solidFill>
            <a:schemeClr val="accent6"/>
          </a:solidFill>
          <a:ln w="12700">
            <a:solidFill>
              <a:schemeClr val="accent6"/>
            </a:solidFill>
            <a:prstDash val="solid"/>
          </a:ln>
        </p:spPr>
      </p:sp>
      <p:sp>
        <p:nvSpPr>
          <p:cNvPr id="3" name="text-549"/>
          <p:cNvSpPr txBox="1"/>
          <p:nvPr/>
        </p:nvSpPr>
        <p:spPr>
          <a:xfrm>
            <a:off x="731520" y="475488"/>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GUIDE · 35 KEY PLACES</a:t>
            </a:r>
            <a:endParaRPr lang="en-US" sz="900" dirty="0"/>
          </a:p>
        </p:txBody>
      </p:sp>
      <p:sp>
        <p:nvSpPr>
          <p:cNvPr id="4" name="Text 1"/>
          <p:cNvSpPr/>
          <p:nvPr>
            <p:ph idx="101" type="title" hasCustomPrompt="1"/>
          </p:nvPr>
        </p:nvSpPr>
        <p:spPr>
          <a:xfrm>
            <a:off x="548640" y="749808"/>
            <a:ext cx="6464808" cy="685800"/>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Places to Visit</a:t>
            </a:r>
            <a:endParaRPr lang="en-US" sz="3400" dirty="0"/>
          </a:p>
        </p:txBody>
      </p:sp>
      <p:graphicFrame>
        <p:nvGraphicFramePr>
          <p:cNvPr id="22" name="places-table-550"/>
          <p:cNvGraphicFramePr>
            <a:graphicFrameLocks noGrp="1"/>
          </p:cNvGraphicFramePr>
          <p:nvPr>
            <p:extLst>
              <p:ext uri="{D42A27DB-BD31-4B8C-83A1-F6EECF244321}">
                <p14:modId xmlns:p14="http://schemas.microsoft.com/office/powerpoint/2010/main" val="1579011935"/>
              </p:ext>
            </p:extLst>
          </p:nvPr>
        </p:nvGraphicFramePr>
        <p:xfrm>
          <a:off x="548640" y="1554480"/>
          <a:ext cx="6464808" cy="914400"/>
        </p:xfrm>
        <a:graphic>
          <a:graphicData uri="http://schemas.openxmlformats.org/drawingml/2006/table">
            <a:tbl>
              <a:tblPr/>
              <a:tblGrid>
                <a:gridCol w="365760"/>
                <a:gridCol w="2240280"/>
                <a:gridCol w="1280160"/>
                <a:gridCol w="2578608"/>
              </a:tblGrid>
              <a:tr h="274320">
                <a:tc>
                  <a:txBody>
                    <a:bodyPr/>
                    <a:lstStyle/>
                    <a:p>
                      <a:pPr indent="0" marL="0">
                        <a:buNone/>
                      </a:pPr>
                      <a:r>
                        <a:rPr lang="en-US" sz="900" b="1" dirty="0">
                          <a:solidFill>
                            <a:schemeClr val="bg1"/>
                          </a:solidFill>
                        </a:rPr>
                        <a:t>#</a:t>
                      </a:r>
                      <a:endParaRPr lang="en-US" sz="90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900" b="1" dirty="0">
                          <a:solidFill>
                            <a:schemeClr val="bg1"/>
                          </a:solidFill>
                        </a:rPr>
                        <a:t>Name of the place</a:t>
                      </a:r>
                      <a:endParaRPr lang="en-US" sz="90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900" b="1" dirty="0">
                          <a:solidFill>
                            <a:schemeClr val="bg1"/>
                          </a:solidFill>
                        </a:rPr>
                        <a:t>District</a:t>
                      </a:r>
                      <a:endParaRPr lang="en-US" sz="90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900" b="1" dirty="0">
                          <a:solidFill>
                            <a:schemeClr val="bg1"/>
                          </a:solidFill>
                        </a:rPr>
                        <a:t>Purpose</a:t>
                      </a:r>
                      <a:endParaRPr lang="en-US" sz="90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tx1"/>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1</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b="1" dirty="0">
                          <a:solidFill>
                            <a:schemeClr val="tx1"/>
                          </a:solidFill>
                        </a:rPr>
                        <a:t>President Ho Chi Minh Monument</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850" dirty="0">
                          <a:solidFill>
                            <a:schemeClr val="tx2"/>
                          </a:solidFill>
                        </a:rPr>
                        <a:t>Civic Core &amp; Liberty Mall</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rPr>
                        <a:t>The city’s civic heart on Aurora Roundabout: ceremonies, national holidays and walking tours.</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2</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b="1" dirty="0">
                          <a:solidFill>
                            <a:schemeClr val="tx1"/>
                          </a:solidFill>
                        </a:rPr>
                        <a:t>Aurora Civic Center &amp; Municipal Hall</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850" dirty="0">
                          <a:solidFill>
                            <a:schemeClr val="tx2"/>
                          </a:solidFill>
                        </a:rPr>
                        <a:t>Civic Core &amp; Liberty Mall</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rPr>
                        <a:t>Town hall for the city council, ID cards, permits, housing and family services.</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3</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b="1" dirty="0">
                          <a:solidFill>
                            <a:schemeClr val="tx1"/>
                          </a:solidFill>
                        </a:rPr>
                        <a:t>Snowflake General Hospital</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850" dirty="0">
                          <a:solidFill>
                            <a:schemeClr val="tx2"/>
                          </a:solidFill>
                        </a:rPr>
                        <a:t>Civic Core &amp; Liberty Mall</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rPr>
                        <a:t>Main hospital with about 250 beds and a 24-hour emergency department.</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4</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b="1" dirty="0">
                          <a:solidFill>
                            <a:schemeClr val="tx1"/>
                          </a:solidFill>
                        </a:rPr>
                        <a:t>Northern Lights School &amp; Botanical Conservatory</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850" dirty="0">
                          <a:solidFill>
                            <a:schemeClr val="tx2"/>
                          </a:solidFill>
                        </a:rPr>
                        <a:t>Civic Core &amp; Liberty Mall</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rPr>
                        <a:t>Primary and secondary school for about 900 pupils aged 6–18.</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5</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b="1" dirty="0">
                          <a:solidFill>
                            <a:schemeClr val="tx1"/>
                          </a:solidFill>
                        </a:rPr>
                        <a:t>Igloo Fresh Supermarket &amp; Food Hall</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850" dirty="0">
                          <a:solidFill>
                            <a:schemeClr val="tx2"/>
                          </a:solidFill>
                        </a:rPr>
                        <a:t>Civic Core &amp; Liberty Mall</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rPr>
                        <a:t>Downtown’s main supermarket and food court; about half its food is made in the city.</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6</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b="1" dirty="0">
                          <a:solidFill>
                            <a:schemeClr val="tx1"/>
                          </a:solidFill>
                        </a:rPr>
                        <a:t>Aurora Cinema &amp; Performing Arts Center</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850" dirty="0">
                          <a:solidFill>
                            <a:schemeClr val="tx2"/>
                          </a:solidFill>
                        </a:rPr>
                        <a:t>Civic Core &amp; Liberty Mall</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rPr>
                        <a:t>Cinema and theatre for films, concerts, ballet and school shows.</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7</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b="1" dirty="0">
                          <a:solidFill>
                            <a:schemeClr val="tx1"/>
                          </a:solidFill>
                        </a:rPr>
                        <a:t>Underground Metro &amp; Emergency Shelters</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850" dirty="0">
                          <a:solidFill>
                            <a:schemeClr val="tx2"/>
                          </a:solidFill>
                        </a:rPr>
                        <a:t>Civic Core &amp; Liberty Mall (underground)</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rPr>
                        <a:t>Metro interchange linked to four shelters that last 30 days.</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8</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b="1" dirty="0">
                          <a:solidFill>
                            <a:schemeClr val="tx1"/>
                          </a:solidFill>
                        </a:rPr>
                        <a:t>Aurora Core – AI Control Tower</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850" dirty="0">
                          <a:solidFill>
                            <a:schemeClr val="tx2"/>
                          </a:solidFill>
                        </a:rPr>
                        <a:t>Polaris Quarter</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rPr>
                        <a:t>Operations centre where an AI digital twin runs traffic, heat, power and alerts.</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9</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b="1" dirty="0">
                          <a:solidFill>
                            <a:schemeClr val="tx1"/>
                          </a:solidFill>
                        </a:rPr>
                        <a:t>Aurora Haven Police Headquarters</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850" dirty="0">
                          <a:solidFill>
                            <a:schemeClr val="tx2"/>
                          </a:solidFill>
                        </a:rPr>
                        <a:t>Polaris Quarter</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rPr>
                        <a:t>Central police station with a 24-hour police control room.</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10</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b="1" dirty="0">
                          <a:solidFill>
                            <a:schemeClr val="tx1"/>
                          </a:solidFill>
                        </a:rPr>
                        <a:t>Arctic University – Main Hall</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850" dirty="0">
                          <a:solidFill>
                            <a:schemeClr val="tx2"/>
                          </a:solidFill>
                        </a:rPr>
                        <a:t>Knowledge Quarter</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rPr>
                        <a:t>Lecture halls for about 5,000 students of polar engineering, fusion, food science, medicine and climate.</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11</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b="1" dirty="0">
                          <a:solidFill>
                            <a:schemeClr val="tx1"/>
                          </a:solidFill>
                        </a:rPr>
                        <a:t>Aurora Public Library</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850" dirty="0">
                          <a:solidFill>
                            <a:schemeClr val="tx2"/>
                          </a:solidFill>
                        </a:rPr>
                        <a:t>Knowledge Quarter</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rPr>
                        <a:t>Free library, open 24 hours in the polar night; lends skis, telescopes and light-therapy lamps.</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12</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b="1" dirty="0">
                          <a:solidFill>
                            <a:schemeClr val="tx1"/>
                          </a:solidFill>
                        </a:rPr>
                        <a:t>West Market Fire &amp; Ambulance Station</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850" dirty="0">
                          <a:solidFill>
                            <a:schemeClr val="tx2"/>
                          </a:solidFill>
                        </a:rPr>
                        <a:t>West Market Street</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rPr>
                        <a:t>Downtown fire and ambulance branch that reaches any downtown address in about 4 minutes.</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13</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b="1" dirty="0">
                          <a:solidFill>
                            <a:schemeClr val="tx1"/>
                          </a:solidFill>
                        </a:rPr>
                        <a:t>Aurora Glacier Mall &amp; Crystal Atrium</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850" dirty="0">
                          <a:solidFill>
                            <a:schemeClr val="tx2"/>
                          </a:solidFill>
                        </a:rPr>
                        <a:t>East Gallery Avenue</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rPr>
                        <a:t>Largest downtown mall, with an indoor atrium park of real trees.</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14</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b="1" dirty="0">
                          <a:solidFill>
                            <a:schemeClr val="tx1"/>
                          </a:solidFill>
                        </a:rPr>
                        <a:t>Snow Lantern Primary School</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850" dirty="0">
                          <a:solidFill>
                            <a:schemeClr val="tx2"/>
                          </a:solidFill>
                        </a:rPr>
                        <a:t>East Gallery Avenue</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rPr>
                        <a:t>Primary school for about 450 children aged 6–11 from the southern districts.</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15</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b="1" dirty="0">
                          <a:solidFill>
                            <a:schemeClr val="tx1"/>
                          </a:solidFill>
                        </a:rPr>
                        <a:t>Pinecone Kindergarten</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850" dirty="0">
                          <a:solidFill>
                            <a:schemeClr val="tx2"/>
                          </a:solidFill>
                        </a:rPr>
                        <a:t>Snowpine Residences</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rPr>
                        <a:t>Kindergarten and day nursery for about 40 children aged 1–6.</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16</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b="1" dirty="0">
                          <a:solidFill>
                            <a:schemeClr val="tx1"/>
                          </a:solidFill>
                        </a:rPr>
                        <a:t>Aurora 81 – Polar Landmark Tower</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850" dirty="0">
                          <a:solidFill>
                            <a:schemeClr val="tx2"/>
                          </a:solidFill>
                        </a:rPr>
                        <a:t>Aurora 81 District</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rPr>
                        <a:t>Tallest tower and skyline symbol: offices, hotel and sky apartments, net-zero energy.</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17</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b="1" dirty="0">
                          <a:solidFill>
                            <a:schemeClr val="tx1"/>
                          </a:solidFill>
                        </a:rPr>
                        <a:t>Aurora Snow Garden Park</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850" dirty="0">
                          <a:solidFill>
                            <a:schemeClr val="tx2"/>
                          </a:solidFill>
                        </a:rPr>
                        <a:t>Foot of Mount Aurora</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rPr>
                        <a:t>Public park with heated benches, a sledging slope and a snow-sculpture trail.</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18</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b="1" dirty="0">
                          <a:solidFill>
                            <a:schemeClr val="tx1"/>
                          </a:solidFill>
                        </a:rPr>
                        <a:t>Mount Aurora – Snow Peak &amp; Hanging Glacier</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850" dirty="0">
                          <a:solidFill>
                            <a:schemeClr val="tx2"/>
                          </a:solidFill>
                        </a:rPr>
                        <a:t>Mount Aurora Geothermal Spa Resort</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rPr>
                        <a:t>35 m landmark peak with the four-level spa inside.</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1"/>
                </a:solidFill>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dot-551"/>
          <p:cNvSpPr/>
          <p:nvPr/>
        </p:nvSpPr>
        <p:spPr>
          <a:xfrm>
            <a:off x="548640" y="516636"/>
            <a:ext cx="100584" cy="100584"/>
          </a:xfrm>
          <a:prstGeom prst="ellipse">
            <a:avLst/>
          </a:prstGeom>
          <a:solidFill>
            <a:schemeClr val="accent6"/>
          </a:solidFill>
          <a:ln w="12700">
            <a:solidFill>
              <a:schemeClr val="accent6"/>
            </a:solidFill>
            <a:prstDash val="solid"/>
          </a:ln>
        </p:spPr>
      </p:sp>
      <p:sp>
        <p:nvSpPr>
          <p:cNvPr id="3" name="text-552"/>
          <p:cNvSpPr txBox="1"/>
          <p:nvPr/>
        </p:nvSpPr>
        <p:spPr>
          <a:xfrm>
            <a:off x="731520" y="475488"/>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GUIDE · 35 KEY PLACES</a:t>
            </a:r>
            <a:endParaRPr lang="en-US" sz="900" dirty="0"/>
          </a:p>
        </p:txBody>
      </p:sp>
      <p:sp>
        <p:nvSpPr>
          <p:cNvPr id="4" name="Text 1"/>
          <p:cNvSpPr/>
          <p:nvPr>
            <p:ph idx="101" type="title" hasCustomPrompt="1"/>
          </p:nvPr>
        </p:nvSpPr>
        <p:spPr>
          <a:xfrm>
            <a:off x="548640" y="749808"/>
            <a:ext cx="6464808" cy="685800"/>
          </a:xfrm>
          <a:prstGeom prst="rect">
            <a:avLst/>
          </a:prstGeom>
          <a:noFill/>
          <a:ln/>
        </p:spPr>
        <p:txBody>
          <a:bodyPr wrap="square" lIns="0" tIns="0" rIns="0" bIns="0" rtlCol="0" anchor="t"/>
          <a:lstStyle/>
          <a:p>
            <a:pPr algn="l" indent="0" marL="0">
              <a:buNone/>
            </a:pPr>
            <a:r>
              <a:rPr lang="en-US" sz="3400" b="1" dirty="0">
                <a:solidFill>
                  <a:schemeClr val="tx1"/>
                </a:solidFill>
                <a:latin typeface="+mj-lt" pitchFamily="34" charset="0"/>
                <a:ea typeface="+mj-lt" pitchFamily="34" charset="-122"/>
                <a:cs typeface="+mj-lt" pitchFamily="34" charset="-120"/>
              </a:rPr>
              <a:t>Places to Visit, Continued</a:t>
            </a:r>
            <a:endParaRPr lang="en-US" sz="3400" dirty="0"/>
          </a:p>
        </p:txBody>
      </p:sp>
      <p:graphicFrame>
        <p:nvGraphicFramePr>
          <p:cNvPr id="23" name="places-table-553"/>
          <p:cNvGraphicFramePr>
            <a:graphicFrameLocks noGrp="1"/>
          </p:cNvGraphicFramePr>
          <p:nvPr>
            <p:extLst>
              <p:ext uri="{D42A27DB-BD31-4B8C-83A1-F6EECF244321}">
                <p14:modId xmlns:p14="http://schemas.microsoft.com/office/powerpoint/2010/main" val="1579011935"/>
              </p:ext>
            </p:extLst>
          </p:nvPr>
        </p:nvGraphicFramePr>
        <p:xfrm>
          <a:off x="548640" y="1554480"/>
          <a:ext cx="6464808" cy="914400"/>
        </p:xfrm>
        <a:graphic>
          <a:graphicData uri="http://schemas.openxmlformats.org/drawingml/2006/table">
            <a:tbl>
              <a:tblPr/>
              <a:tblGrid>
                <a:gridCol w="365760"/>
                <a:gridCol w="2240280"/>
                <a:gridCol w="1280160"/>
                <a:gridCol w="2578608"/>
              </a:tblGrid>
              <a:tr h="274320">
                <a:tc>
                  <a:txBody>
                    <a:bodyPr/>
                    <a:lstStyle/>
                    <a:p>
                      <a:pPr indent="0" marL="0">
                        <a:buNone/>
                      </a:pPr>
                      <a:r>
                        <a:rPr lang="en-US" sz="900" b="1" dirty="0">
                          <a:solidFill>
                            <a:schemeClr val="bg1"/>
                          </a:solidFill>
                        </a:rPr>
                        <a:t>#</a:t>
                      </a:r>
                      <a:endParaRPr lang="en-US" sz="90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900" b="1" dirty="0">
                          <a:solidFill>
                            <a:schemeClr val="bg1"/>
                          </a:solidFill>
                        </a:rPr>
                        <a:t>Name of the place</a:t>
                      </a:r>
                      <a:endParaRPr lang="en-US" sz="90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900" b="1" dirty="0">
                          <a:solidFill>
                            <a:schemeClr val="bg1"/>
                          </a:solidFill>
                        </a:rPr>
                        <a:t>District</a:t>
                      </a:r>
                      <a:endParaRPr lang="en-US" sz="90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900" b="1" dirty="0">
                          <a:solidFill>
                            <a:schemeClr val="bg1"/>
                          </a:solidFill>
                        </a:rPr>
                        <a:t>Purpose</a:t>
                      </a:r>
                      <a:endParaRPr lang="en-US" sz="90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tx1"/>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19</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b="1" dirty="0">
                          <a:solidFill>
                            <a:schemeClr val="tx1"/>
                          </a:solidFill>
                        </a:rPr>
                        <a:t>Summit Sanctuary &amp; Aurora Eye</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850" dirty="0">
                          <a:solidFill>
                            <a:schemeClr val="tx2"/>
                          </a:solidFill>
                        </a:rPr>
                        <a:t>Mount Aurora Geothermal Spa Resort</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rPr>
                        <a:t>Float pool, meditation circle and the Aurora Eye viewing bubble for the northern lights.</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20</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b="1" dirty="0">
                          <a:solidFill>
                            <a:schemeClr val="tx1"/>
                          </a:solidFill>
                        </a:rPr>
                        <a:t>Aurora Lagoon – Outdoor Geothermal Mineral Pool</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850" dirty="0">
                          <a:solidFill>
                            <a:schemeClr val="tx2"/>
                          </a:solidFill>
                        </a:rPr>
                        <a:t>Mount Aurora Geothermal Spa Resort</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rPr>
                        <a:t>38 °C open-air silica pool for bathing under the northern lights.</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21</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b="1" dirty="0">
                          <a:solidFill>
                            <a:schemeClr val="tx1"/>
                          </a:solidFill>
                        </a:rPr>
                        <a:t>Fusion Core – Compact D-T Tokamak</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850" dirty="0">
                          <a:solidFill>
                            <a:schemeClr val="tx2"/>
                          </a:solidFill>
                        </a:rPr>
                        <a:t>Fusion Power Station</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rPr>
                        <a:t>150-million-degree plasma giving about 800 MW of heat; it cannot melt down.</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22</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b="1" dirty="0">
                          <a:solidFill>
                            <a:schemeClr val="tx1"/>
                          </a:solidFill>
                        </a:rPr>
                        <a:t>Power Conversion &amp; Heat Export Hall</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850" dirty="0">
                          <a:solidFill>
                            <a:schemeClr val="tx2"/>
                          </a:solidFill>
                        </a:rPr>
                        <a:t>Fusion Power Station</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rPr>
                        <a:t>Makes about 300 MW of electricity and sends about 450 MW of heat to the city.</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23</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b="1" dirty="0">
                          <a:solidFill>
                            <a:schemeClr val="tx1"/>
                          </a:solidFill>
                        </a:rPr>
                        <a:t>Plasma Waste Converter</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850" dirty="0">
                          <a:solidFill>
                            <a:schemeClr val="tx2"/>
                          </a:solidFill>
                        </a:rPr>
                        <a:t>Fusion Power Station</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rPr>
                        <a:t>Turns about 20 t of rubbish a day into clean gas, recovered metals and building blocks.</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24</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b="1" dirty="0">
                          <a:solidFill>
                            <a:schemeClr val="tx1"/>
                          </a:solidFill>
                        </a:rPr>
                        <a:t>Snow Harvest &amp; Melt Hall</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850" dirty="0">
                          <a:solidFill>
                            <a:schemeClr val="tx2"/>
                          </a:solidFill>
                        </a:rPr>
                        <a:t>Snow-to-Food &amp; Water Plant</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rPr>
                        <a:t>Melts about 3,000 t of clean snow a day with spare fusion heat.</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25</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b="1" dirty="0">
                          <a:solidFill>
                            <a:schemeClr val="tx1"/>
                          </a:solidFill>
                        </a:rPr>
                        <a:t>Drinking-Water &amp; Mineral Works</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850" dirty="0">
                          <a:solidFill>
                            <a:schemeClr val="tx2"/>
                          </a:solidFill>
                        </a:rPr>
                        <a:t>Snow-to-Food &amp; Water Plant</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rPr>
                        <a:t>Makes about 2,500 m³ of drinking water a day, all of the city’s tap water.</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26</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b="1" dirty="0">
                          <a:solidFill>
                            <a:schemeClr val="tx1"/>
                          </a:solidFill>
                        </a:rPr>
                        <a:t>Bioreactor Silos</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850" dirty="0">
                          <a:solidFill>
                            <a:schemeClr val="tx2"/>
                          </a:solidFill>
                        </a:rPr>
                        <a:t>Snow-to-Food &amp; Water Plant</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rPr>
                        <a:t>Six silos where microbes make about 2.5 t of protein flour a day.</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27</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b="1" dirty="0">
                          <a:solidFill>
                            <a:schemeClr val="tx1"/>
                          </a:solidFill>
                        </a:rPr>
                        <a:t>Ice-Proof Wind Farm</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850" dirty="0">
                          <a:solidFill>
                            <a:schemeClr val="tx2"/>
                          </a:solidFill>
                        </a:rPr>
                        <a:t>Northern Renewable Park</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rPr>
                        <a:t>Two rows of ice-proof turbines making about 60 MW.</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28</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b="1" dirty="0">
                          <a:solidFill>
                            <a:schemeClr val="tx1"/>
                          </a:solidFill>
                        </a:rPr>
                        <a:t>Bifacial Solar Farm</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850" dirty="0">
                          <a:solidFill>
                            <a:schemeClr val="tx2"/>
                          </a:solidFill>
                        </a:rPr>
                        <a:t>Northern Renewable Park</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rPr>
                        <a:t>Double-sided panels that make power 24 hours a day in the midnight-sun months.</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29</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b="1" dirty="0">
                          <a:solidFill>
                            <a:schemeClr val="tx1"/>
                          </a:solidFill>
                        </a:rPr>
                        <a:t>Water Recycling Line – Recycled Water Tower</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850" dirty="0">
                          <a:solidFill>
                            <a:schemeClr val="tx2"/>
                          </a:solidFill>
                        </a:rPr>
                        <a:t>Northern Renewable Park</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rPr>
                        <a:t>Stores recycled water for toilets, laundries, street cleaning, irrigation and hydrants.</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30</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b="1" dirty="0">
                          <a:solidFill>
                            <a:schemeClr val="tx1"/>
                          </a:solidFill>
                        </a:rPr>
                        <a:t>Geothermal Power Plant</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850" dirty="0">
                          <a:solidFill>
                            <a:schemeClr val="tx2"/>
                          </a:solidFill>
                        </a:rPr>
                        <a:t>Energy Hub &amp; Rescue Station</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rPr>
                        <a:t>Clean electricity and hot water around the clock; the second heat source.</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31</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b="1" dirty="0">
                          <a:solidFill>
                            <a:schemeClr val="tx1"/>
                          </a:solidFill>
                        </a:rPr>
                        <a:t>Polar Rescue and Resilience Station</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850" dirty="0">
                          <a:solidFill>
                            <a:schemeClr val="tx2"/>
                          </a:solidFill>
                        </a:rPr>
                        <a:t>Energy Hub &amp; Rescue Station</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rPr>
                        <a:t>Fire, ambulance and ice-rescue headquarters, home of the 112 emergency centre.</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32</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b="1" dirty="0">
                          <a:solidFill>
                            <a:schemeClr val="tx1"/>
                          </a:solidFill>
                        </a:rPr>
                        <a:t>Glass Terminal, Control Tower &amp; Gate 1 Dreamliner</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850" dirty="0">
                          <a:solidFill>
                            <a:schemeClr val="tx2"/>
                          </a:solidFill>
                        </a:rPr>
                        <a:t>Compact Polar Airport</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rPr>
                        <a:t>Passenger and cargo airport; the city’s supply link in deep winter.</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33</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b="1" dirty="0">
                          <a:solidFill>
                            <a:schemeClr val="tx1"/>
                          </a:solidFill>
                        </a:rPr>
                        <a:t>Evergreen Greenhouse Dome</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850" dirty="0">
                          <a:solidFill>
                            <a:schemeClr val="tx2"/>
                          </a:solidFill>
                        </a:rPr>
                        <a:t>Evergreen Garden &amp; Greenhouses</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rPr>
                        <a:t>Grows fresh vegetables and berries all year under LED light.</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34</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b="1" dirty="0">
                          <a:solidFill>
                            <a:schemeClr val="tx1"/>
                          </a:solidFill>
                        </a:rPr>
                        <a:t>Circular Recycling Center</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850" dirty="0">
                          <a:solidFill>
                            <a:schemeClr val="tx2"/>
                          </a:solidFill>
                        </a:rPr>
                        <a:t>Evergreen Garden &amp; Greenhouses</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950" dirty="0">
                          <a:solidFill>
                            <a:schemeClr val="tx1"/>
                          </a:solidFill>
                        </a:rPr>
                        <a:t>Sorts, repairs and recycles about 30 t of materials a day.</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indent="0" marL="0">
                        <a:buNone/>
                      </a:pPr>
                      <a:r>
                        <a:rPr lang="en-US" sz="1100" b="1" dirty="0">
                          <a:solidFill>
                            <a:schemeClr val="accent6"/>
                          </a:solidFill>
                          <a:latin typeface="+mj-lt" pitchFamily="34" charset="0"/>
                          <a:ea typeface="+mj-lt" pitchFamily="34" charset="-122"/>
                          <a:cs typeface="+mj-lt" pitchFamily="34" charset="-120"/>
                        </a:rPr>
                        <a:t>35</a:t>
                      </a:r>
                      <a:endParaRPr lang="en-US" sz="1100" dirty="0">
                        <a:latin typeface="+mj-lt" charset="0"/>
                        <a:ea typeface="+mj-lt" charset="0"/>
                        <a:cs typeface="+mj-lt" charset="0"/>
                      </a:endParaRPr>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b="1" dirty="0">
                          <a:solidFill>
                            <a:schemeClr val="tx1"/>
                          </a:solidFill>
                        </a:rPr>
                        <a:t>Aurora Snow Stadium</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850" dirty="0">
                          <a:solidFill>
                            <a:schemeClr val="tx2"/>
                          </a:solidFill>
                        </a:rPr>
                        <a:t>Aurora Snow Stadium</a:t>
                      </a:r>
                      <a:endParaRPr lang="en-US" sz="8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950" dirty="0">
                          <a:solidFill>
                            <a:schemeClr val="tx1"/>
                          </a:solidFill>
                        </a:rPr>
                        <a:t>About 8,000 seats for snow sports, school sports days and the Midwinter Aurora Festival.</a:t>
                      </a:r>
                      <a:endParaRPr lang="en-US" sz="950" dirty="0"/>
                    </a:p>
                  </a:txBody>
                  <a:tcPr marL="64008" marR="64008" marT="64008" marB="64008"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1"/>
                </a:solidFill>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icker-dot-554"/>
          <p:cNvSpPr/>
          <p:nvPr/>
        </p:nvSpPr>
        <p:spPr>
          <a:xfrm>
            <a:off x="548640" y="516636"/>
            <a:ext cx="100584" cy="100584"/>
          </a:xfrm>
          <a:prstGeom prst="ellipse">
            <a:avLst/>
          </a:prstGeom>
          <a:solidFill>
            <a:schemeClr val="accent1"/>
          </a:solidFill>
          <a:ln w="12700">
            <a:solidFill>
              <a:schemeClr val="accent1"/>
            </a:solidFill>
            <a:prstDash val="solid"/>
          </a:ln>
        </p:spPr>
      </p:sp>
      <p:sp>
        <p:nvSpPr>
          <p:cNvPr id="3" name="text-555"/>
          <p:cNvSpPr txBox="1"/>
          <p:nvPr/>
        </p:nvSpPr>
        <p:spPr>
          <a:xfrm>
            <a:off x="731520" y="475488"/>
            <a:ext cx="5486400" cy="201168"/>
          </a:xfrm>
          <a:prstGeom prst="rect">
            <a:avLst/>
          </a:prstGeom>
          <a:noFill/>
          <a:ln/>
        </p:spPr>
        <p:txBody>
          <a:bodyPr wrap="square" lIns="0" tIns="0" rIns="0" bIns="0" rtlCol="0" anchor="t"/>
          <a:lstStyle/>
          <a:p>
            <a:pPr indent="0" marL="0">
              <a:buNone/>
            </a:pPr>
            <a:r>
              <a:rPr lang="en-US" sz="900" b="1" spc="300" kern="0" dirty="0">
                <a:solidFill>
                  <a:schemeClr val="accent1"/>
                </a:solidFill>
              </a:rPr>
              <a:t>KEY FIGURES</a:t>
            </a:r>
            <a:endParaRPr lang="en-US" sz="900" dirty="0"/>
          </a:p>
        </p:txBody>
      </p:sp>
      <p:sp>
        <p:nvSpPr>
          <p:cNvPr id="4" name="Text 1"/>
          <p:cNvSpPr/>
          <p:nvPr>
            <p:ph idx="101" type="title" hasCustomPrompt="1"/>
          </p:nvPr>
        </p:nvSpPr>
        <p:spPr>
          <a:xfrm>
            <a:off x="548640" y="749808"/>
            <a:ext cx="6464808" cy="685800"/>
          </a:xfrm>
          <a:prstGeom prst="rect">
            <a:avLst/>
          </a:prstGeom>
          <a:noFill/>
          <a:ln/>
        </p:spPr>
        <p:txBody>
          <a:bodyPr wrap="square" lIns="0" tIns="0" rIns="0" bIns="0" rtlCol="0" anchor="t"/>
          <a:lstStyle/>
          <a:p>
            <a:pPr algn="l" indent="0" marL="0">
              <a:buNone/>
            </a:pPr>
            <a:r>
              <a:rPr lang="en-US" sz="3400" b="1" dirty="0">
                <a:solidFill>
                  <a:schemeClr val="bg1"/>
                </a:solidFill>
                <a:latin typeface="+mj-lt" pitchFamily="34" charset="0"/>
                <a:ea typeface="+mj-lt" pitchFamily="34" charset="-122"/>
                <a:cs typeface="+mj-lt" pitchFamily="34" charset="-120"/>
              </a:rPr>
              <a:t>Aurora Haven by the Numbers</a:t>
            </a:r>
            <a:endParaRPr lang="en-US" sz="3400" dirty="0"/>
          </a:p>
        </p:txBody>
      </p:sp>
      <p:sp>
        <p:nvSpPr>
          <p:cNvPr id="5" name="kicker-dot-556"/>
          <p:cNvSpPr/>
          <p:nvPr/>
        </p:nvSpPr>
        <p:spPr>
          <a:xfrm>
            <a:off x="548640" y="1801368"/>
            <a:ext cx="100584" cy="100584"/>
          </a:xfrm>
          <a:prstGeom prst="ellipse">
            <a:avLst/>
          </a:prstGeom>
          <a:solidFill>
            <a:schemeClr val="accent1"/>
          </a:solidFill>
          <a:ln w="12700">
            <a:solidFill>
              <a:schemeClr val="accent1"/>
            </a:solidFill>
            <a:prstDash val="solid"/>
          </a:ln>
        </p:spPr>
      </p:sp>
      <p:sp>
        <p:nvSpPr>
          <p:cNvPr id="6" name="text-557"/>
          <p:cNvSpPr txBox="1"/>
          <p:nvPr/>
        </p:nvSpPr>
        <p:spPr>
          <a:xfrm>
            <a:off x="731520" y="1746504"/>
            <a:ext cx="1508760" cy="457200"/>
          </a:xfrm>
          <a:prstGeom prst="rect">
            <a:avLst/>
          </a:prstGeom>
          <a:noFill/>
          <a:ln/>
        </p:spPr>
        <p:txBody>
          <a:bodyPr wrap="square" lIns="0" tIns="0" rIns="0" bIns="0" rtlCol="0" anchor="t"/>
          <a:lstStyle/>
          <a:p>
            <a:pPr indent="0" marL="0">
              <a:lnSpc>
                <a:spcPct val="110000"/>
              </a:lnSpc>
              <a:buNone/>
            </a:pPr>
            <a:r>
              <a:rPr lang="en-US" sz="900" b="1" spc="200" kern="0" dirty="0">
                <a:solidFill>
                  <a:schemeClr val="bg1"/>
                </a:solidFill>
              </a:rPr>
              <a:t>THE CITY</a:t>
            </a:r>
            <a:endParaRPr lang="en-US" sz="900" dirty="0"/>
          </a:p>
        </p:txBody>
      </p:sp>
      <p:sp>
        <p:nvSpPr>
          <p:cNvPr id="7" name="text-558"/>
          <p:cNvSpPr txBox="1"/>
          <p:nvPr/>
        </p:nvSpPr>
        <p:spPr>
          <a:xfrm>
            <a:off x="2331720" y="1645920"/>
            <a:ext cx="1423416" cy="352552"/>
          </a:xfrm>
          <a:prstGeom prst="rect">
            <a:avLst/>
          </a:prstGeom>
          <a:noFill/>
          <a:ln/>
        </p:spPr>
        <p:txBody>
          <a:bodyPr wrap="square" lIns="0" tIns="0" rIns="0" bIns="0" rtlCol="0" anchor="b"/>
          <a:lstStyle/>
          <a:p>
            <a:pPr indent="0" marL="0">
              <a:buNone/>
            </a:pPr>
            <a:r>
              <a:rPr lang="en-US" sz="2200" b="1" dirty="0">
                <a:solidFill>
                  <a:schemeClr val="accent1"/>
                </a:solidFill>
                <a:latin typeface="+mj-lt" pitchFamily="34" charset="0"/>
                <a:ea typeface="+mj-lt" pitchFamily="34" charset="-122"/>
                <a:cs typeface="+mj-lt" pitchFamily="34" charset="-120"/>
              </a:rPr>
              <a:t>45,000</a:t>
            </a:r>
            <a:endParaRPr lang="en-US" sz="2200" dirty="0"/>
          </a:p>
        </p:txBody>
      </p:sp>
      <p:sp>
        <p:nvSpPr>
          <p:cNvPr id="8" name="text-559"/>
          <p:cNvSpPr txBox="1"/>
          <p:nvPr/>
        </p:nvSpPr>
        <p:spPr>
          <a:xfrm>
            <a:off x="2331720" y="202590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residents</a:t>
            </a:r>
            <a:endParaRPr lang="en-US" sz="850" dirty="0"/>
          </a:p>
        </p:txBody>
      </p:sp>
      <p:sp>
        <p:nvSpPr>
          <p:cNvPr id="9" name="text-560"/>
          <p:cNvSpPr txBox="1"/>
          <p:nvPr/>
        </p:nvSpPr>
        <p:spPr>
          <a:xfrm>
            <a:off x="3892296" y="1645920"/>
            <a:ext cx="1423416" cy="352552"/>
          </a:xfrm>
          <a:prstGeom prst="rect">
            <a:avLst/>
          </a:prstGeom>
          <a:noFill/>
          <a:ln/>
        </p:spPr>
        <p:txBody>
          <a:bodyPr wrap="square" lIns="0" tIns="0" rIns="0" bIns="0" rtlCol="0" anchor="b"/>
          <a:lstStyle/>
          <a:p>
            <a:pPr indent="0" marL="0">
              <a:buNone/>
            </a:pPr>
            <a:r>
              <a:rPr lang="en-US" sz="2200" b="1" dirty="0">
                <a:solidFill>
                  <a:schemeClr val="accent1"/>
                </a:solidFill>
                <a:latin typeface="+mj-lt" pitchFamily="34" charset="0"/>
                <a:ea typeface="+mj-lt" pitchFamily="34" charset="-122"/>
                <a:cs typeface="+mj-lt" pitchFamily="34" charset="-120"/>
              </a:rPr>
              <a:t>9</a:t>
            </a:r>
            <a:endParaRPr lang="en-US" sz="2200" dirty="0"/>
          </a:p>
        </p:txBody>
      </p:sp>
      <p:sp>
        <p:nvSpPr>
          <p:cNvPr id="10" name="text-561"/>
          <p:cNvSpPr txBox="1"/>
          <p:nvPr/>
        </p:nvSpPr>
        <p:spPr>
          <a:xfrm>
            <a:off x="3892296" y="202590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downtown blocks</a:t>
            </a:r>
            <a:endParaRPr lang="en-US" sz="850" dirty="0"/>
          </a:p>
        </p:txBody>
      </p:sp>
      <p:sp>
        <p:nvSpPr>
          <p:cNvPr id="11" name="text-562"/>
          <p:cNvSpPr txBox="1"/>
          <p:nvPr/>
        </p:nvSpPr>
        <p:spPr>
          <a:xfrm>
            <a:off x="5452872" y="1645920"/>
            <a:ext cx="1423416" cy="352552"/>
          </a:xfrm>
          <a:prstGeom prst="rect">
            <a:avLst/>
          </a:prstGeom>
          <a:noFill/>
          <a:ln/>
        </p:spPr>
        <p:txBody>
          <a:bodyPr wrap="square" lIns="0" tIns="0" rIns="0" bIns="0" rtlCol="0" anchor="b"/>
          <a:lstStyle/>
          <a:p>
            <a:pPr indent="0" marL="0">
              <a:buNone/>
            </a:pPr>
            <a:r>
              <a:rPr lang="en-US" sz="2200" b="1" dirty="0">
                <a:solidFill>
                  <a:schemeClr val="accent1"/>
                </a:solidFill>
                <a:latin typeface="+mj-lt" pitchFamily="34" charset="0"/>
                <a:ea typeface="+mj-lt" pitchFamily="34" charset="-122"/>
                <a:cs typeface="+mj-lt" pitchFamily="34" charset="-120"/>
              </a:rPr>
              <a:t>35</a:t>
            </a:r>
            <a:endParaRPr lang="en-US" sz="2200" dirty="0"/>
          </a:p>
        </p:txBody>
      </p:sp>
      <p:sp>
        <p:nvSpPr>
          <p:cNvPr id="12" name="text-563"/>
          <p:cNvSpPr txBox="1"/>
          <p:nvPr/>
        </p:nvSpPr>
        <p:spPr>
          <a:xfrm>
            <a:off x="5452872" y="202590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key places</a:t>
            </a:r>
            <a:endParaRPr lang="en-US" sz="850" dirty="0"/>
          </a:p>
        </p:txBody>
      </p:sp>
      <p:sp>
        <p:nvSpPr>
          <p:cNvPr id="13" name="rule-564"/>
          <p:cNvSpPr/>
          <p:nvPr/>
        </p:nvSpPr>
        <p:spPr>
          <a:xfrm>
            <a:off x="548640" y="2560320"/>
            <a:ext cx="6464808" cy="0"/>
          </a:xfrm>
          <a:prstGeom prst="line">
            <a:avLst/>
          </a:prstGeom>
          <a:noFill/>
          <a:ln w="9525">
            <a:solidFill>
              <a:schemeClr val="tx2"/>
            </a:solidFill>
            <a:prstDash val="solid"/>
          </a:ln>
        </p:spPr>
      </p:sp>
      <p:sp>
        <p:nvSpPr>
          <p:cNvPr id="14" name="kicker-dot-565"/>
          <p:cNvSpPr/>
          <p:nvPr/>
        </p:nvSpPr>
        <p:spPr>
          <a:xfrm>
            <a:off x="548640" y="2807208"/>
            <a:ext cx="100584" cy="100584"/>
          </a:xfrm>
          <a:prstGeom prst="ellipse">
            <a:avLst/>
          </a:prstGeom>
          <a:solidFill>
            <a:schemeClr val="accent6"/>
          </a:solidFill>
          <a:ln w="12700">
            <a:solidFill>
              <a:schemeClr val="accent6"/>
            </a:solidFill>
            <a:prstDash val="solid"/>
          </a:ln>
        </p:spPr>
      </p:sp>
      <p:sp>
        <p:nvSpPr>
          <p:cNvPr id="15" name="text-566"/>
          <p:cNvSpPr txBox="1"/>
          <p:nvPr/>
        </p:nvSpPr>
        <p:spPr>
          <a:xfrm>
            <a:off x="731520" y="2752344"/>
            <a:ext cx="1508760" cy="457200"/>
          </a:xfrm>
          <a:prstGeom prst="rect">
            <a:avLst/>
          </a:prstGeom>
          <a:noFill/>
          <a:ln/>
        </p:spPr>
        <p:txBody>
          <a:bodyPr wrap="square" lIns="0" tIns="0" rIns="0" bIns="0" rtlCol="0" anchor="t"/>
          <a:lstStyle/>
          <a:p>
            <a:pPr indent="0" marL="0">
              <a:lnSpc>
                <a:spcPct val="110000"/>
              </a:lnSpc>
              <a:buNone/>
            </a:pPr>
            <a:r>
              <a:rPr lang="en-US" sz="900" b="1" spc="200" kern="0" dirty="0">
                <a:solidFill>
                  <a:schemeClr val="bg1"/>
                </a:solidFill>
              </a:rPr>
              <a:t>CLIMATE</a:t>
            </a:r>
            <a:endParaRPr lang="en-US" sz="900" dirty="0"/>
          </a:p>
        </p:txBody>
      </p:sp>
      <p:sp>
        <p:nvSpPr>
          <p:cNvPr id="16" name="text-567"/>
          <p:cNvSpPr txBox="1"/>
          <p:nvPr/>
        </p:nvSpPr>
        <p:spPr>
          <a:xfrm>
            <a:off x="2331720" y="2651760"/>
            <a:ext cx="1423416" cy="352552"/>
          </a:xfrm>
          <a:prstGeom prst="rect">
            <a:avLst/>
          </a:prstGeom>
          <a:noFill/>
          <a:ln/>
        </p:spPr>
        <p:txBody>
          <a:bodyPr wrap="square" lIns="0" tIns="0" rIns="0" bIns="0" rtlCol="0" anchor="b"/>
          <a:lstStyle/>
          <a:p>
            <a:pPr indent="0" marL="0">
              <a:buNone/>
            </a:pPr>
            <a:r>
              <a:rPr lang="en-US" sz="2200" b="1" dirty="0">
                <a:solidFill>
                  <a:schemeClr val="accent6"/>
                </a:solidFill>
                <a:latin typeface="+mj-lt" pitchFamily="34" charset="0"/>
                <a:ea typeface="+mj-lt" pitchFamily="34" charset="-122"/>
                <a:cs typeface="+mj-lt" pitchFamily="34" charset="-120"/>
              </a:rPr>
              <a:t>−45 °C</a:t>
            </a:r>
            <a:endParaRPr lang="en-US" sz="2200" dirty="0"/>
          </a:p>
        </p:txBody>
      </p:sp>
      <p:sp>
        <p:nvSpPr>
          <p:cNvPr id="17" name="text-568"/>
          <p:cNvSpPr txBox="1"/>
          <p:nvPr/>
        </p:nvSpPr>
        <p:spPr>
          <a:xfrm>
            <a:off x="2331720" y="303174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winter lows</a:t>
            </a:r>
            <a:endParaRPr lang="en-US" sz="850" dirty="0"/>
          </a:p>
        </p:txBody>
      </p:sp>
      <p:sp>
        <p:nvSpPr>
          <p:cNvPr id="18" name="text-569"/>
          <p:cNvSpPr txBox="1"/>
          <p:nvPr/>
        </p:nvSpPr>
        <p:spPr>
          <a:xfrm>
            <a:off x="3892296" y="2651760"/>
            <a:ext cx="1423416" cy="352552"/>
          </a:xfrm>
          <a:prstGeom prst="rect">
            <a:avLst/>
          </a:prstGeom>
          <a:noFill/>
          <a:ln/>
        </p:spPr>
        <p:txBody>
          <a:bodyPr wrap="square" lIns="0" tIns="0" rIns="0" bIns="0" rtlCol="0" anchor="b"/>
          <a:lstStyle/>
          <a:p>
            <a:pPr indent="0" marL="0">
              <a:buNone/>
            </a:pPr>
            <a:r>
              <a:rPr lang="en-US" sz="2200" b="1" dirty="0">
                <a:solidFill>
                  <a:schemeClr val="accent6"/>
                </a:solidFill>
                <a:latin typeface="+mj-lt" pitchFamily="34" charset="0"/>
                <a:ea typeface="+mj-lt" pitchFamily="34" charset="-122"/>
                <a:cs typeface="+mj-lt" pitchFamily="34" charset="-120"/>
              </a:rPr>
              <a:t>2 months</a:t>
            </a:r>
            <a:endParaRPr lang="en-US" sz="2200" dirty="0"/>
          </a:p>
        </p:txBody>
      </p:sp>
      <p:sp>
        <p:nvSpPr>
          <p:cNvPr id="19" name="text-570"/>
          <p:cNvSpPr txBox="1"/>
          <p:nvPr/>
        </p:nvSpPr>
        <p:spPr>
          <a:xfrm>
            <a:off x="3892296" y="303174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of polar night</a:t>
            </a:r>
            <a:endParaRPr lang="en-US" sz="850" dirty="0"/>
          </a:p>
        </p:txBody>
      </p:sp>
      <p:sp>
        <p:nvSpPr>
          <p:cNvPr id="20" name="text-571"/>
          <p:cNvSpPr txBox="1"/>
          <p:nvPr/>
        </p:nvSpPr>
        <p:spPr>
          <a:xfrm>
            <a:off x="5452872" y="2651760"/>
            <a:ext cx="1423416" cy="352552"/>
          </a:xfrm>
          <a:prstGeom prst="rect">
            <a:avLst/>
          </a:prstGeom>
          <a:noFill/>
          <a:ln/>
        </p:spPr>
        <p:txBody>
          <a:bodyPr wrap="square" lIns="0" tIns="0" rIns="0" bIns="0" rtlCol="0" anchor="b"/>
          <a:lstStyle/>
          <a:p>
            <a:pPr indent="0" marL="0">
              <a:buNone/>
            </a:pPr>
            <a:r>
              <a:rPr lang="en-US" sz="2200" b="1" dirty="0">
                <a:solidFill>
                  <a:schemeClr val="accent6"/>
                </a:solidFill>
                <a:latin typeface="+mj-lt" pitchFamily="34" charset="0"/>
                <a:ea typeface="+mj-lt" pitchFamily="34" charset="-122"/>
                <a:cs typeface="+mj-lt" pitchFamily="34" charset="-120"/>
              </a:rPr>
              <a:t>120 km/h</a:t>
            </a:r>
            <a:endParaRPr lang="en-US" sz="2200" dirty="0"/>
          </a:p>
        </p:txBody>
      </p:sp>
      <p:sp>
        <p:nvSpPr>
          <p:cNvPr id="21" name="text-572"/>
          <p:cNvSpPr txBox="1"/>
          <p:nvPr/>
        </p:nvSpPr>
        <p:spPr>
          <a:xfrm>
            <a:off x="5452872" y="303174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blizzards</a:t>
            </a:r>
            <a:endParaRPr lang="en-US" sz="850" dirty="0"/>
          </a:p>
        </p:txBody>
      </p:sp>
      <p:sp>
        <p:nvSpPr>
          <p:cNvPr id="22" name="rule-573"/>
          <p:cNvSpPr/>
          <p:nvPr/>
        </p:nvSpPr>
        <p:spPr>
          <a:xfrm>
            <a:off x="548640" y="3566160"/>
            <a:ext cx="6464808" cy="0"/>
          </a:xfrm>
          <a:prstGeom prst="line">
            <a:avLst/>
          </a:prstGeom>
          <a:noFill/>
          <a:ln w="9525">
            <a:solidFill>
              <a:schemeClr val="tx2"/>
            </a:solidFill>
            <a:prstDash val="solid"/>
          </a:ln>
        </p:spPr>
      </p:sp>
      <p:sp>
        <p:nvSpPr>
          <p:cNvPr id="23" name="kicker-dot-574"/>
          <p:cNvSpPr/>
          <p:nvPr/>
        </p:nvSpPr>
        <p:spPr>
          <a:xfrm>
            <a:off x="548640" y="3813048"/>
            <a:ext cx="100584" cy="100584"/>
          </a:xfrm>
          <a:prstGeom prst="ellipse">
            <a:avLst/>
          </a:prstGeom>
          <a:solidFill>
            <a:schemeClr val="accent3"/>
          </a:solidFill>
          <a:ln w="12700">
            <a:solidFill>
              <a:schemeClr val="accent3"/>
            </a:solidFill>
            <a:prstDash val="solid"/>
          </a:ln>
        </p:spPr>
      </p:sp>
      <p:sp>
        <p:nvSpPr>
          <p:cNvPr id="24" name="text-575"/>
          <p:cNvSpPr txBox="1"/>
          <p:nvPr/>
        </p:nvSpPr>
        <p:spPr>
          <a:xfrm>
            <a:off x="731520" y="3758184"/>
            <a:ext cx="1508760" cy="457200"/>
          </a:xfrm>
          <a:prstGeom prst="rect">
            <a:avLst/>
          </a:prstGeom>
          <a:noFill/>
          <a:ln/>
        </p:spPr>
        <p:txBody>
          <a:bodyPr wrap="square" lIns="0" tIns="0" rIns="0" bIns="0" rtlCol="0" anchor="t"/>
          <a:lstStyle/>
          <a:p>
            <a:pPr indent="0" marL="0">
              <a:lnSpc>
                <a:spcPct val="110000"/>
              </a:lnSpc>
              <a:buNone/>
            </a:pPr>
            <a:r>
              <a:rPr lang="en-US" sz="900" b="1" spc="200" kern="0" dirty="0">
                <a:solidFill>
                  <a:schemeClr val="bg1"/>
                </a:solidFill>
              </a:rPr>
              <a:t>FUSION POWER STATION</a:t>
            </a:r>
            <a:endParaRPr lang="en-US" sz="900" dirty="0"/>
          </a:p>
        </p:txBody>
      </p:sp>
      <p:sp>
        <p:nvSpPr>
          <p:cNvPr id="25" name="text-576"/>
          <p:cNvSpPr txBox="1"/>
          <p:nvPr/>
        </p:nvSpPr>
        <p:spPr>
          <a:xfrm>
            <a:off x="2331720" y="3657600"/>
            <a:ext cx="1423416" cy="352552"/>
          </a:xfrm>
          <a:prstGeom prst="rect">
            <a:avLst/>
          </a:prstGeom>
          <a:noFill/>
          <a:ln/>
        </p:spPr>
        <p:txBody>
          <a:bodyPr wrap="square" lIns="0" tIns="0" rIns="0" bIns="0" rtlCol="0" anchor="b"/>
          <a:lstStyle/>
          <a:p>
            <a:pPr indent="0" marL="0">
              <a:buNone/>
            </a:pPr>
            <a:r>
              <a:rPr lang="en-US" sz="2200" b="1" dirty="0">
                <a:solidFill>
                  <a:schemeClr val="accent3"/>
                </a:solidFill>
                <a:latin typeface="+mj-lt" pitchFamily="34" charset="0"/>
                <a:ea typeface="+mj-lt" pitchFamily="34" charset="-122"/>
                <a:cs typeface="+mj-lt" pitchFamily="34" charset="-120"/>
              </a:rPr>
              <a:t>300 MW</a:t>
            </a:r>
            <a:endParaRPr lang="en-US" sz="2200" dirty="0"/>
          </a:p>
        </p:txBody>
      </p:sp>
      <p:sp>
        <p:nvSpPr>
          <p:cNvPr id="26" name="text-577"/>
          <p:cNvSpPr txBox="1"/>
          <p:nvPr/>
        </p:nvSpPr>
        <p:spPr>
          <a:xfrm>
            <a:off x="2331720" y="403758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electricity</a:t>
            </a:r>
            <a:endParaRPr lang="en-US" sz="850" dirty="0"/>
          </a:p>
        </p:txBody>
      </p:sp>
      <p:sp>
        <p:nvSpPr>
          <p:cNvPr id="27" name="text-578"/>
          <p:cNvSpPr txBox="1"/>
          <p:nvPr/>
        </p:nvSpPr>
        <p:spPr>
          <a:xfrm>
            <a:off x="3892296" y="3657600"/>
            <a:ext cx="1423416" cy="352552"/>
          </a:xfrm>
          <a:prstGeom prst="rect">
            <a:avLst/>
          </a:prstGeom>
          <a:noFill/>
          <a:ln/>
        </p:spPr>
        <p:txBody>
          <a:bodyPr wrap="square" lIns="0" tIns="0" rIns="0" bIns="0" rtlCol="0" anchor="b"/>
          <a:lstStyle/>
          <a:p>
            <a:pPr indent="0" marL="0">
              <a:buNone/>
            </a:pPr>
            <a:r>
              <a:rPr lang="en-US" sz="2200" b="1" dirty="0">
                <a:solidFill>
                  <a:schemeClr val="accent3"/>
                </a:solidFill>
                <a:latin typeface="+mj-lt" pitchFamily="34" charset="0"/>
                <a:ea typeface="+mj-lt" pitchFamily="34" charset="-122"/>
                <a:cs typeface="+mj-lt" pitchFamily="34" charset="-120"/>
              </a:rPr>
              <a:t>450 MW</a:t>
            </a:r>
            <a:endParaRPr lang="en-US" sz="2200" dirty="0"/>
          </a:p>
        </p:txBody>
      </p:sp>
      <p:sp>
        <p:nvSpPr>
          <p:cNvPr id="28" name="text-579"/>
          <p:cNvSpPr txBox="1"/>
          <p:nvPr/>
        </p:nvSpPr>
        <p:spPr>
          <a:xfrm>
            <a:off x="3892296" y="403758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district heat</a:t>
            </a:r>
            <a:endParaRPr lang="en-US" sz="850" dirty="0"/>
          </a:p>
        </p:txBody>
      </p:sp>
      <p:sp>
        <p:nvSpPr>
          <p:cNvPr id="29" name="text-580"/>
          <p:cNvSpPr txBox="1"/>
          <p:nvPr/>
        </p:nvSpPr>
        <p:spPr>
          <a:xfrm>
            <a:off x="5452872" y="3657600"/>
            <a:ext cx="1423416" cy="352552"/>
          </a:xfrm>
          <a:prstGeom prst="rect">
            <a:avLst/>
          </a:prstGeom>
          <a:noFill/>
          <a:ln/>
        </p:spPr>
        <p:txBody>
          <a:bodyPr wrap="square" lIns="0" tIns="0" rIns="0" bIns="0" rtlCol="0" anchor="b"/>
          <a:lstStyle/>
          <a:p>
            <a:pPr indent="0" marL="0">
              <a:buNone/>
            </a:pPr>
            <a:r>
              <a:rPr lang="en-US" sz="2200" b="1" dirty="0">
                <a:solidFill>
                  <a:schemeClr val="accent3"/>
                </a:solidFill>
                <a:latin typeface="+mj-lt" pitchFamily="34" charset="0"/>
                <a:ea typeface="+mj-lt" pitchFamily="34" charset="-122"/>
                <a:cs typeface="+mj-lt" pitchFamily="34" charset="-120"/>
              </a:rPr>
              <a:t>99.8%</a:t>
            </a:r>
            <a:endParaRPr lang="en-US" sz="2200" dirty="0"/>
          </a:p>
        </p:txBody>
      </p:sp>
      <p:sp>
        <p:nvSpPr>
          <p:cNvPr id="30" name="text-581"/>
          <p:cNvSpPr txBox="1"/>
          <p:nvPr/>
        </p:nvSpPr>
        <p:spPr>
          <a:xfrm>
            <a:off x="5452872" y="403758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heavy-water purity</a:t>
            </a:r>
            <a:endParaRPr lang="en-US" sz="850" dirty="0"/>
          </a:p>
        </p:txBody>
      </p:sp>
      <p:sp>
        <p:nvSpPr>
          <p:cNvPr id="31" name="rule-582"/>
          <p:cNvSpPr/>
          <p:nvPr/>
        </p:nvSpPr>
        <p:spPr>
          <a:xfrm>
            <a:off x="548640" y="4572000"/>
            <a:ext cx="6464808" cy="0"/>
          </a:xfrm>
          <a:prstGeom prst="line">
            <a:avLst/>
          </a:prstGeom>
          <a:noFill/>
          <a:ln w="9525">
            <a:solidFill>
              <a:schemeClr val="tx2"/>
            </a:solidFill>
            <a:prstDash val="solid"/>
          </a:ln>
        </p:spPr>
      </p:sp>
      <p:sp>
        <p:nvSpPr>
          <p:cNvPr id="32" name="kicker-dot-583"/>
          <p:cNvSpPr/>
          <p:nvPr/>
        </p:nvSpPr>
        <p:spPr>
          <a:xfrm>
            <a:off x="548640" y="4818888"/>
            <a:ext cx="100584" cy="100584"/>
          </a:xfrm>
          <a:prstGeom prst="ellipse">
            <a:avLst/>
          </a:prstGeom>
          <a:solidFill>
            <a:schemeClr val="accent4"/>
          </a:solidFill>
          <a:ln w="12700">
            <a:solidFill>
              <a:schemeClr val="accent4"/>
            </a:solidFill>
            <a:prstDash val="solid"/>
          </a:ln>
        </p:spPr>
      </p:sp>
      <p:sp>
        <p:nvSpPr>
          <p:cNvPr id="33" name="text-584"/>
          <p:cNvSpPr txBox="1"/>
          <p:nvPr/>
        </p:nvSpPr>
        <p:spPr>
          <a:xfrm>
            <a:off x="731520" y="4764024"/>
            <a:ext cx="1508760" cy="457200"/>
          </a:xfrm>
          <a:prstGeom prst="rect">
            <a:avLst/>
          </a:prstGeom>
          <a:noFill/>
          <a:ln/>
        </p:spPr>
        <p:txBody>
          <a:bodyPr wrap="square" lIns="0" tIns="0" rIns="0" bIns="0" rtlCol="0" anchor="t"/>
          <a:lstStyle/>
          <a:p>
            <a:pPr indent="0" marL="0">
              <a:lnSpc>
                <a:spcPct val="110000"/>
              </a:lnSpc>
              <a:buNone/>
            </a:pPr>
            <a:r>
              <a:rPr lang="en-US" sz="900" b="1" spc="200" kern="0" dirty="0">
                <a:solidFill>
                  <a:schemeClr val="bg1"/>
                </a:solidFill>
              </a:rPr>
              <a:t>SNOW-TO-FOOD &amp; WATER PLANT</a:t>
            </a:r>
            <a:endParaRPr lang="en-US" sz="900" dirty="0"/>
          </a:p>
        </p:txBody>
      </p:sp>
      <p:sp>
        <p:nvSpPr>
          <p:cNvPr id="34" name="text-585"/>
          <p:cNvSpPr txBox="1"/>
          <p:nvPr/>
        </p:nvSpPr>
        <p:spPr>
          <a:xfrm>
            <a:off x="2331720" y="4663440"/>
            <a:ext cx="1423416" cy="352552"/>
          </a:xfrm>
          <a:prstGeom prst="rect">
            <a:avLst/>
          </a:prstGeom>
          <a:noFill/>
          <a:ln/>
        </p:spPr>
        <p:txBody>
          <a:bodyPr wrap="square" lIns="0" tIns="0" rIns="0" bIns="0" rtlCol="0" anchor="b"/>
          <a:lstStyle/>
          <a:p>
            <a:pPr indent="0" marL="0">
              <a:buNone/>
            </a:pPr>
            <a:r>
              <a:rPr lang="en-US" sz="2200" b="1" dirty="0">
                <a:solidFill>
                  <a:schemeClr val="accent4"/>
                </a:solidFill>
                <a:latin typeface="+mj-lt" pitchFamily="34" charset="0"/>
                <a:ea typeface="+mj-lt" pitchFamily="34" charset="-122"/>
                <a:cs typeface="+mj-lt" pitchFamily="34" charset="-120"/>
              </a:rPr>
              <a:t>5 t</a:t>
            </a:r>
            <a:endParaRPr lang="en-US" sz="2200" dirty="0"/>
          </a:p>
        </p:txBody>
      </p:sp>
      <p:sp>
        <p:nvSpPr>
          <p:cNvPr id="35" name="text-586"/>
          <p:cNvSpPr txBox="1"/>
          <p:nvPr/>
        </p:nvSpPr>
        <p:spPr>
          <a:xfrm>
            <a:off x="2331720" y="504342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hydrogen a day</a:t>
            </a:r>
            <a:endParaRPr lang="en-US" sz="850" dirty="0"/>
          </a:p>
        </p:txBody>
      </p:sp>
      <p:sp>
        <p:nvSpPr>
          <p:cNvPr id="36" name="text-587"/>
          <p:cNvSpPr txBox="1"/>
          <p:nvPr/>
        </p:nvSpPr>
        <p:spPr>
          <a:xfrm>
            <a:off x="3892296" y="4663440"/>
            <a:ext cx="1423416" cy="352552"/>
          </a:xfrm>
          <a:prstGeom prst="rect">
            <a:avLst/>
          </a:prstGeom>
          <a:noFill/>
          <a:ln/>
        </p:spPr>
        <p:txBody>
          <a:bodyPr wrap="square" lIns="0" tIns="0" rIns="0" bIns="0" rtlCol="0" anchor="b"/>
          <a:lstStyle/>
          <a:p>
            <a:pPr indent="0" marL="0">
              <a:buNone/>
            </a:pPr>
            <a:r>
              <a:rPr lang="en-US" sz="2200" b="1" dirty="0">
                <a:solidFill>
                  <a:schemeClr val="accent4"/>
                </a:solidFill>
                <a:latin typeface="+mj-lt" pitchFamily="34" charset="0"/>
                <a:ea typeface="+mj-lt" pitchFamily="34" charset="-122"/>
                <a:cs typeface="+mj-lt" pitchFamily="34" charset="-120"/>
              </a:rPr>
              <a:t>4 t</a:t>
            </a:r>
            <a:endParaRPr lang="en-US" sz="2200" dirty="0"/>
          </a:p>
        </p:txBody>
      </p:sp>
      <p:sp>
        <p:nvSpPr>
          <p:cNvPr id="37" name="text-588"/>
          <p:cNvSpPr txBox="1"/>
          <p:nvPr/>
        </p:nvSpPr>
        <p:spPr>
          <a:xfrm>
            <a:off x="3892296" y="504342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starch a day</a:t>
            </a:r>
            <a:endParaRPr lang="en-US" sz="850" dirty="0"/>
          </a:p>
        </p:txBody>
      </p:sp>
      <p:sp>
        <p:nvSpPr>
          <p:cNvPr id="38" name="text-589"/>
          <p:cNvSpPr txBox="1"/>
          <p:nvPr/>
        </p:nvSpPr>
        <p:spPr>
          <a:xfrm>
            <a:off x="5452872" y="4663440"/>
            <a:ext cx="1423416" cy="352552"/>
          </a:xfrm>
          <a:prstGeom prst="rect">
            <a:avLst/>
          </a:prstGeom>
          <a:noFill/>
          <a:ln/>
        </p:spPr>
        <p:txBody>
          <a:bodyPr wrap="square" lIns="0" tIns="0" rIns="0" bIns="0" rtlCol="0" anchor="b"/>
          <a:lstStyle/>
          <a:p>
            <a:pPr indent="0" marL="0">
              <a:buNone/>
            </a:pPr>
            <a:r>
              <a:rPr lang="en-US" sz="2200" b="1" dirty="0">
                <a:solidFill>
                  <a:schemeClr val="accent4"/>
                </a:solidFill>
                <a:latin typeface="+mj-lt" pitchFamily="34" charset="0"/>
                <a:ea typeface="+mj-lt" pitchFamily="34" charset="-122"/>
                <a:cs typeface="+mj-lt" pitchFamily="34" charset="-120"/>
              </a:rPr>
              <a:t>1 t</a:t>
            </a:r>
            <a:endParaRPr lang="en-US" sz="2200" dirty="0"/>
          </a:p>
        </p:txBody>
      </p:sp>
      <p:sp>
        <p:nvSpPr>
          <p:cNvPr id="39" name="text-590"/>
          <p:cNvSpPr txBox="1"/>
          <p:nvPr/>
        </p:nvSpPr>
        <p:spPr>
          <a:xfrm>
            <a:off x="5452872" y="504342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fat a day</a:t>
            </a:r>
            <a:endParaRPr lang="en-US" sz="850" dirty="0"/>
          </a:p>
        </p:txBody>
      </p:sp>
      <p:sp>
        <p:nvSpPr>
          <p:cNvPr id="40" name="rule-591"/>
          <p:cNvSpPr/>
          <p:nvPr/>
        </p:nvSpPr>
        <p:spPr>
          <a:xfrm>
            <a:off x="548640" y="5577840"/>
            <a:ext cx="6464808" cy="0"/>
          </a:xfrm>
          <a:prstGeom prst="line">
            <a:avLst/>
          </a:prstGeom>
          <a:noFill/>
          <a:ln w="9525">
            <a:solidFill>
              <a:schemeClr val="tx2"/>
            </a:solidFill>
            <a:prstDash val="solid"/>
          </a:ln>
        </p:spPr>
      </p:sp>
      <p:sp>
        <p:nvSpPr>
          <p:cNvPr id="41" name="kicker-dot-592"/>
          <p:cNvSpPr/>
          <p:nvPr/>
        </p:nvSpPr>
        <p:spPr>
          <a:xfrm>
            <a:off x="548640" y="5824728"/>
            <a:ext cx="100584" cy="100584"/>
          </a:xfrm>
          <a:prstGeom prst="ellipse">
            <a:avLst/>
          </a:prstGeom>
          <a:solidFill>
            <a:schemeClr val="accent2"/>
          </a:solidFill>
          <a:ln w="12700">
            <a:solidFill>
              <a:schemeClr val="accent2"/>
            </a:solidFill>
            <a:prstDash val="solid"/>
          </a:ln>
        </p:spPr>
      </p:sp>
      <p:sp>
        <p:nvSpPr>
          <p:cNvPr id="42" name="text-593"/>
          <p:cNvSpPr txBox="1"/>
          <p:nvPr/>
        </p:nvSpPr>
        <p:spPr>
          <a:xfrm>
            <a:off x="731520" y="5769864"/>
            <a:ext cx="1508760" cy="457200"/>
          </a:xfrm>
          <a:prstGeom prst="rect">
            <a:avLst/>
          </a:prstGeom>
          <a:noFill/>
          <a:ln/>
        </p:spPr>
        <p:txBody>
          <a:bodyPr wrap="square" lIns="0" tIns="0" rIns="0" bIns="0" rtlCol="0" anchor="t"/>
          <a:lstStyle/>
          <a:p>
            <a:pPr indent="0" marL="0">
              <a:lnSpc>
                <a:spcPct val="110000"/>
              </a:lnSpc>
              <a:buNone/>
            </a:pPr>
            <a:r>
              <a:rPr lang="en-US" sz="900" b="1" spc="200" kern="0" dirty="0">
                <a:solidFill>
                  <a:schemeClr val="bg1"/>
                </a:solidFill>
              </a:rPr>
              <a:t>ENERGY AND STORAGE</a:t>
            </a:r>
            <a:endParaRPr lang="en-US" sz="900" dirty="0"/>
          </a:p>
        </p:txBody>
      </p:sp>
      <p:sp>
        <p:nvSpPr>
          <p:cNvPr id="43" name="text-594"/>
          <p:cNvSpPr txBox="1"/>
          <p:nvPr/>
        </p:nvSpPr>
        <p:spPr>
          <a:xfrm>
            <a:off x="2331720" y="5669280"/>
            <a:ext cx="1423416" cy="352552"/>
          </a:xfrm>
          <a:prstGeom prst="rect">
            <a:avLst/>
          </a:prstGeom>
          <a:noFill/>
          <a:ln/>
        </p:spPr>
        <p:txBody>
          <a:bodyPr wrap="square" lIns="0" tIns="0" rIns="0" bIns="0" rtlCol="0" anchor="b"/>
          <a:lstStyle/>
          <a:p>
            <a:pPr indent="0" marL="0">
              <a:buNone/>
            </a:pPr>
            <a:r>
              <a:rPr lang="en-US" sz="2200" b="1" dirty="0">
                <a:solidFill>
                  <a:schemeClr val="accent2"/>
                </a:solidFill>
                <a:latin typeface="+mj-lt" pitchFamily="34" charset="0"/>
                <a:ea typeface="+mj-lt" pitchFamily="34" charset="-122"/>
                <a:cs typeface="+mj-lt" pitchFamily="34" charset="-120"/>
              </a:rPr>
              <a:t>60 MW</a:t>
            </a:r>
            <a:endParaRPr lang="en-US" sz="2200" dirty="0"/>
          </a:p>
        </p:txBody>
      </p:sp>
      <p:sp>
        <p:nvSpPr>
          <p:cNvPr id="44" name="text-595"/>
          <p:cNvSpPr txBox="1"/>
          <p:nvPr/>
        </p:nvSpPr>
        <p:spPr>
          <a:xfrm>
            <a:off x="2331720" y="604926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wind farm</a:t>
            </a:r>
            <a:endParaRPr lang="en-US" sz="850" dirty="0"/>
          </a:p>
        </p:txBody>
      </p:sp>
      <p:sp>
        <p:nvSpPr>
          <p:cNvPr id="45" name="text-596"/>
          <p:cNvSpPr txBox="1"/>
          <p:nvPr/>
        </p:nvSpPr>
        <p:spPr>
          <a:xfrm>
            <a:off x="3892296" y="5669280"/>
            <a:ext cx="1423416" cy="352552"/>
          </a:xfrm>
          <a:prstGeom prst="rect">
            <a:avLst/>
          </a:prstGeom>
          <a:noFill/>
          <a:ln/>
        </p:spPr>
        <p:txBody>
          <a:bodyPr wrap="square" lIns="0" tIns="0" rIns="0" bIns="0" rtlCol="0" anchor="b"/>
          <a:lstStyle/>
          <a:p>
            <a:pPr indent="0" marL="0">
              <a:buNone/>
            </a:pPr>
            <a:r>
              <a:rPr lang="en-US" sz="2200" b="1" dirty="0">
                <a:solidFill>
                  <a:schemeClr val="accent2"/>
                </a:solidFill>
                <a:latin typeface="+mj-lt" pitchFamily="34" charset="0"/>
                <a:ea typeface="+mj-lt" pitchFamily="34" charset="-122"/>
                <a:cs typeface="+mj-lt" pitchFamily="34" charset="-120"/>
              </a:rPr>
              <a:t>200 MWh</a:t>
            </a:r>
            <a:endParaRPr lang="en-US" sz="2200" dirty="0"/>
          </a:p>
        </p:txBody>
      </p:sp>
      <p:sp>
        <p:nvSpPr>
          <p:cNvPr id="46" name="text-597"/>
          <p:cNvSpPr txBox="1"/>
          <p:nvPr/>
        </p:nvSpPr>
        <p:spPr>
          <a:xfrm>
            <a:off x="3892296" y="604926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battery bank</a:t>
            </a:r>
            <a:endParaRPr lang="en-US" sz="850" dirty="0"/>
          </a:p>
        </p:txBody>
      </p:sp>
      <p:sp>
        <p:nvSpPr>
          <p:cNvPr id="47" name="text-598"/>
          <p:cNvSpPr txBox="1"/>
          <p:nvPr/>
        </p:nvSpPr>
        <p:spPr>
          <a:xfrm>
            <a:off x="5452872" y="5669280"/>
            <a:ext cx="1423416" cy="352552"/>
          </a:xfrm>
          <a:prstGeom prst="rect">
            <a:avLst/>
          </a:prstGeom>
          <a:noFill/>
          <a:ln/>
        </p:spPr>
        <p:txBody>
          <a:bodyPr wrap="square" lIns="0" tIns="0" rIns="0" bIns="0" rtlCol="0" anchor="b"/>
          <a:lstStyle/>
          <a:p>
            <a:pPr indent="0" marL="0">
              <a:buNone/>
            </a:pPr>
            <a:r>
              <a:rPr lang="en-US" sz="2200" b="1" dirty="0">
                <a:solidFill>
                  <a:schemeClr val="accent2"/>
                </a:solidFill>
                <a:latin typeface="+mj-lt" pitchFamily="34" charset="0"/>
                <a:ea typeface="+mj-lt" pitchFamily="34" charset="-122"/>
                <a:cs typeface="+mj-lt" pitchFamily="34" charset="-120"/>
              </a:rPr>
              <a:t>&lt;1%</a:t>
            </a:r>
            <a:endParaRPr lang="en-US" sz="2200" dirty="0"/>
          </a:p>
        </p:txBody>
      </p:sp>
      <p:sp>
        <p:nvSpPr>
          <p:cNvPr id="48" name="text-599"/>
          <p:cNvSpPr txBox="1"/>
          <p:nvPr/>
        </p:nvSpPr>
        <p:spPr>
          <a:xfrm>
            <a:off x="5452872" y="604926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heat lost a day by the heat tank</a:t>
            </a:r>
            <a:endParaRPr lang="en-US" sz="850" dirty="0"/>
          </a:p>
        </p:txBody>
      </p:sp>
      <p:sp>
        <p:nvSpPr>
          <p:cNvPr id="49" name="rule-600"/>
          <p:cNvSpPr/>
          <p:nvPr/>
        </p:nvSpPr>
        <p:spPr>
          <a:xfrm>
            <a:off x="548640" y="6583680"/>
            <a:ext cx="6464808" cy="0"/>
          </a:xfrm>
          <a:prstGeom prst="line">
            <a:avLst/>
          </a:prstGeom>
          <a:noFill/>
          <a:ln w="9525">
            <a:solidFill>
              <a:schemeClr val="tx2"/>
            </a:solidFill>
            <a:prstDash val="solid"/>
          </a:ln>
        </p:spPr>
      </p:sp>
      <p:sp>
        <p:nvSpPr>
          <p:cNvPr id="50" name="kicker-dot-601"/>
          <p:cNvSpPr/>
          <p:nvPr/>
        </p:nvSpPr>
        <p:spPr>
          <a:xfrm>
            <a:off x="548640" y="6830568"/>
            <a:ext cx="100584" cy="100584"/>
          </a:xfrm>
          <a:prstGeom prst="ellipse">
            <a:avLst/>
          </a:prstGeom>
          <a:solidFill>
            <a:schemeClr val="accent5"/>
          </a:solidFill>
          <a:ln w="12700">
            <a:solidFill>
              <a:schemeClr val="accent5"/>
            </a:solidFill>
            <a:prstDash val="solid"/>
          </a:ln>
        </p:spPr>
      </p:sp>
      <p:sp>
        <p:nvSpPr>
          <p:cNvPr id="51" name="text-602"/>
          <p:cNvSpPr txBox="1"/>
          <p:nvPr/>
        </p:nvSpPr>
        <p:spPr>
          <a:xfrm>
            <a:off x="731520" y="6775704"/>
            <a:ext cx="1508760" cy="457200"/>
          </a:xfrm>
          <a:prstGeom prst="rect">
            <a:avLst/>
          </a:prstGeom>
          <a:noFill/>
          <a:ln/>
        </p:spPr>
        <p:txBody>
          <a:bodyPr wrap="square" lIns="0" tIns="0" rIns="0" bIns="0" rtlCol="0" anchor="t"/>
          <a:lstStyle/>
          <a:p>
            <a:pPr indent="0" marL="0">
              <a:lnSpc>
                <a:spcPct val="110000"/>
              </a:lnSpc>
              <a:buNone/>
            </a:pPr>
            <a:r>
              <a:rPr lang="en-US" sz="900" b="1" spc="200" kern="0" dirty="0">
                <a:solidFill>
                  <a:schemeClr val="bg1"/>
                </a:solidFill>
              </a:rPr>
              <a:t>MOUNT AURORA SPA</a:t>
            </a:r>
            <a:endParaRPr lang="en-US" sz="900" dirty="0"/>
          </a:p>
        </p:txBody>
      </p:sp>
      <p:sp>
        <p:nvSpPr>
          <p:cNvPr id="52" name="text-603"/>
          <p:cNvSpPr txBox="1"/>
          <p:nvPr/>
        </p:nvSpPr>
        <p:spPr>
          <a:xfrm>
            <a:off x="2331720" y="6675120"/>
            <a:ext cx="1423416" cy="352552"/>
          </a:xfrm>
          <a:prstGeom prst="rect">
            <a:avLst/>
          </a:prstGeom>
          <a:noFill/>
          <a:ln/>
        </p:spPr>
        <p:txBody>
          <a:bodyPr wrap="square" lIns="0" tIns="0" rIns="0" bIns="0" rtlCol="0" anchor="b"/>
          <a:lstStyle/>
          <a:p>
            <a:pPr indent="0" marL="0">
              <a:buNone/>
            </a:pPr>
            <a:r>
              <a:rPr lang="en-US" sz="2200" b="1" dirty="0">
                <a:solidFill>
                  <a:schemeClr val="accent5"/>
                </a:solidFill>
                <a:latin typeface="+mj-lt" pitchFamily="34" charset="0"/>
                <a:ea typeface="+mj-lt" pitchFamily="34" charset="-122"/>
                <a:cs typeface="+mj-lt" pitchFamily="34" charset="-120"/>
              </a:rPr>
              <a:t>4</a:t>
            </a:r>
            <a:endParaRPr lang="en-US" sz="2200" dirty="0"/>
          </a:p>
        </p:txBody>
      </p:sp>
      <p:sp>
        <p:nvSpPr>
          <p:cNvPr id="53" name="text-604"/>
          <p:cNvSpPr txBox="1"/>
          <p:nvPr/>
        </p:nvSpPr>
        <p:spPr>
          <a:xfrm>
            <a:off x="2331720" y="705510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levels, 0 to 13.5 m</a:t>
            </a:r>
            <a:endParaRPr lang="en-US" sz="850" dirty="0"/>
          </a:p>
        </p:txBody>
      </p:sp>
      <p:sp>
        <p:nvSpPr>
          <p:cNvPr id="54" name="text-605"/>
          <p:cNvSpPr txBox="1"/>
          <p:nvPr/>
        </p:nvSpPr>
        <p:spPr>
          <a:xfrm>
            <a:off x="3892296" y="6675120"/>
            <a:ext cx="1423416" cy="352552"/>
          </a:xfrm>
          <a:prstGeom prst="rect">
            <a:avLst/>
          </a:prstGeom>
          <a:noFill/>
          <a:ln/>
        </p:spPr>
        <p:txBody>
          <a:bodyPr wrap="square" lIns="0" tIns="0" rIns="0" bIns="0" rtlCol="0" anchor="b"/>
          <a:lstStyle/>
          <a:p>
            <a:pPr indent="0" marL="0">
              <a:buNone/>
            </a:pPr>
            <a:r>
              <a:rPr lang="en-US" sz="2200" b="1" dirty="0">
                <a:solidFill>
                  <a:schemeClr val="accent5"/>
                </a:solidFill>
                <a:latin typeface="+mj-lt" pitchFamily="34" charset="0"/>
                <a:ea typeface="+mj-lt" pitchFamily="34" charset="-122"/>
                <a:cs typeface="+mj-lt" pitchFamily="34" charset="-120"/>
              </a:rPr>
              <a:t>28 °C</a:t>
            </a:r>
            <a:endParaRPr lang="en-US" sz="2200" dirty="0"/>
          </a:p>
        </p:txBody>
      </p:sp>
      <p:sp>
        <p:nvSpPr>
          <p:cNvPr id="55" name="text-606"/>
          <p:cNvSpPr txBox="1"/>
          <p:nvPr/>
        </p:nvSpPr>
        <p:spPr>
          <a:xfrm>
            <a:off x="3892296" y="705510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all winter</a:t>
            </a:r>
            <a:endParaRPr lang="en-US" sz="850" dirty="0"/>
          </a:p>
        </p:txBody>
      </p:sp>
      <p:sp>
        <p:nvSpPr>
          <p:cNvPr id="56" name="text-607"/>
          <p:cNvSpPr txBox="1"/>
          <p:nvPr/>
        </p:nvSpPr>
        <p:spPr>
          <a:xfrm>
            <a:off x="5452872" y="6675120"/>
            <a:ext cx="1423416" cy="352552"/>
          </a:xfrm>
          <a:prstGeom prst="rect">
            <a:avLst/>
          </a:prstGeom>
          <a:noFill/>
          <a:ln/>
        </p:spPr>
        <p:txBody>
          <a:bodyPr wrap="square" lIns="0" tIns="0" rIns="0" bIns="0" rtlCol="0" anchor="b"/>
          <a:lstStyle/>
          <a:p>
            <a:pPr indent="0" marL="0">
              <a:buNone/>
            </a:pPr>
            <a:r>
              <a:rPr lang="en-US" sz="2200" b="1" dirty="0">
                <a:solidFill>
                  <a:schemeClr val="accent5"/>
                </a:solidFill>
                <a:latin typeface="+mj-lt" pitchFamily="34" charset="0"/>
                <a:ea typeface="+mj-lt" pitchFamily="34" charset="-122"/>
                <a:cs typeface="+mj-lt" pitchFamily="34" charset="-120"/>
              </a:rPr>
              <a:t>1,000</a:t>
            </a:r>
            <a:endParaRPr lang="en-US" sz="2200" dirty="0"/>
          </a:p>
        </p:txBody>
      </p:sp>
      <p:sp>
        <p:nvSpPr>
          <p:cNvPr id="57" name="text-608"/>
          <p:cNvSpPr txBox="1"/>
          <p:nvPr/>
        </p:nvSpPr>
        <p:spPr>
          <a:xfrm>
            <a:off x="5452872" y="705510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people sheltered in an emergency</a:t>
            </a:r>
            <a:endParaRPr lang="en-US" sz="850" dirty="0"/>
          </a:p>
        </p:txBody>
      </p:sp>
      <p:sp>
        <p:nvSpPr>
          <p:cNvPr id="58" name="rule-609"/>
          <p:cNvSpPr/>
          <p:nvPr/>
        </p:nvSpPr>
        <p:spPr>
          <a:xfrm>
            <a:off x="548640" y="7589520"/>
            <a:ext cx="6464808" cy="0"/>
          </a:xfrm>
          <a:prstGeom prst="line">
            <a:avLst/>
          </a:prstGeom>
          <a:noFill/>
          <a:ln w="9525">
            <a:solidFill>
              <a:schemeClr val="tx2"/>
            </a:solidFill>
            <a:prstDash val="solid"/>
          </a:ln>
        </p:spPr>
      </p:sp>
      <p:sp>
        <p:nvSpPr>
          <p:cNvPr id="59" name="kicker-dot-610"/>
          <p:cNvSpPr/>
          <p:nvPr/>
        </p:nvSpPr>
        <p:spPr>
          <a:xfrm>
            <a:off x="548640" y="7836408"/>
            <a:ext cx="100584" cy="100584"/>
          </a:xfrm>
          <a:prstGeom prst="ellipse">
            <a:avLst/>
          </a:prstGeom>
          <a:solidFill>
            <a:schemeClr val="accent1"/>
          </a:solidFill>
          <a:ln w="12700">
            <a:solidFill>
              <a:schemeClr val="accent1"/>
            </a:solidFill>
            <a:prstDash val="solid"/>
          </a:ln>
        </p:spPr>
      </p:sp>
      <p:sp>
        <p:nvSpPr>
          <p:cNvPr id="60" name="text-611"/>
          <p:cNvSpPr txBox="1"/>
          <p:nvPr/>
        </p:nvSpPr>
        <p:spPr>
          <a:xfrm>
            <a:off x="731520" y="7781544"/>
            <a:ext cx="1508760" cy="457200"/>
          </a:xfrm>
          <a:prstGeom prst="rect">
            <a:avLst/>
          </a:prstGeom>
          <a:noFill/>
          <a:ln/>
        </p:spPr>
        <p:txBody>
          <a:bodyPr wrap="square" lIns="0" tIns="0" rIns="0" bIns="0" rtlCol="0" anchor="t"/>
          <a:lstStyle/>
          <a:p>
            <a:pPr indent="0" marL="0">
              <a:lnSpc>
                <a:spcPct val="110000"/>
              </a:lnSpc>
              <a:buNone/>
            </a:pPr>
            <a:r>
              <a:rPr lang="en-US" sz="900" b="1" spc="200" kern="0" dirty="0">
                <a:solidFill>
                  <a:schemeClr val="bg1"/>
                </a:solidFill>
              </a:rPr>
              <a:t>LIVABILITY</a:t>
            </a:r>
            <a:endParaRPr lang="en-US" sz="900" dirty="0"/>
          </a:p>
        </p:txBody>
      </p:sp>
      <p:sp>
        <p:nvSpPr>
          <p:cNvPr id="61" name="text-612"/>
          <p:cNvSpPr txBox="1"/>
          <p:nvPr/>
        </p:nvSpPr>
        <p:spPr>
          <a:xfrm>
            <a:off x="2331720" y="7680960"/>
            <a:ext cx="1423416" cy="352552"/>
          </a:xfrm>
          <a:prstGeom prst="rect">
            <a:avLst/>
          </a:prstGeom>
          <a:noFill/>
          <a:ln/>
        </p:spPr>
        <p:txBody>
          <a:bodyPr wrap="square" lIns="0" tIns="0" rIns="0" bIns="0" rtlCol="0" anchor="b"/>
          <a:lstStyle/>
          <a:p>
            <a:pPr indent="0" marL="0">
              <a:buNone/>
            </a:pPr>
            <a:r>
              <a:rPr lang="en-US" sz="2200" b="1" dirty="0">
                <a:solidFill>
                  <a:schemeClr val="accent1"/>
                </a:solidFill>
                <a:latin typeface="+mj-lt" pitchFamily="34" charset="0"/>
                <a:ea typeface="+mj-lt" pitchFamily="34" charset="-122"/>
                <a:cs typeface="+mj-lt" pitchFamily="34" charset="-120"/>
              </a:rPr>
              <a:t>600</a:t>
            </a:r>
            <a:endParaRPr lang="en-US" sz="2200" dirty="0"/>
          </a:p>
        </p:txBody>
      </p:sp>
      <p:sp>
        <p:nvSpPr>
          <p:cNvPr id="62" name="text-613"/>
          <p:cNvSpPr txBox="1"/>
          <p:nvPr/>
        </p:nvSpPr>
        <p:spPr>
          <a:xfrm>
            <a:off x="2331720" y="806094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Aurora 81 apartments</a:t>
            </a:r>
            <a:endParaRPr lang="en-US" sz="850" dirty="0"/>
          </a:p>
        </p:txBody>
      </p:sp>
      <p:sp>
        <p:nvSpPr>
          <p:cNvPr id="63" name="text-614"/>
          <p:cNvSpPr txBox="1"/>
          <p:nvPr/>
        </p:nvSpPr>
        <p:spPr>
          <a:xfrm>
            <a:off x="3892296" y="7680960"/>
            <a:ext cx="1423416" cy="352552"/>
          </a:xfrm>
          <a:prstGeom prst="rect">
            <a:avLst/>
          </a:prstGeom>
          <a:noFill/>
          <a:ln/>
        </p:spPr>
        <p:txBody>
          <a:bodyPr wrap="square" lIns="0" tIns="0" rIns="0" bIns="0" rtlCol="0" anchor="b"/>
          <a:lstStyle/>
          <a:p>
            <a:pPr indent="0" marL="0">
              <a:buNone/>
            </a:pPr>
            <a:r>
              <a:rPr lang="en-US" sz="2200" b="1" dirty="0">
                <a:solidFill>
                  <a:schemeClr val="accent1"/>
                </a:solidFill>
                <a:latin typeface="+mj-lt" pitchFamily="34" charset="0"/>
                <a:ea typeface="+mj-lt" pitchFamily="34" charset="-122"/>
                <a:cs typeface="+mj-lt" pitchFamily="34" charset="-120"/>
              </a:rPr>
              <a:t>450</a:t>
            </a:r>
            <a:endParaRPr lang="en-US" sz="2200" dirty="0"/>
          </a:p>
        </p:txBody>
      </p:sp>
      <p:sp>
        <p:nvSpPr>
          <p:cNvPr id="64" name="text-615"/>
          <p:cNvSpPr txBox="1"/>
          <p:nvPr/>
        </p:nvSpPr>
        <p:spPr>
          <a:xfrm>
            <a:off x="3892296" y="806094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pupils at Snow Lantern Primary</a:t>
            </a:r>
            <a:endParaRPr lang="en-US" sz="850" dirty="0"/>
          </a:p>
        </p:txBody>
      </p:sp>
      <p:sp>
        <p:nvSpPr>
          <p:cNvPr id="65" name="text-616"/>
          <p:cNvSpPr txBox="1"/>
          <p:nvPr/>
        </p:nvSpPr>
        <p:spPr>
          <a:xfrm>
            <a:off x="5452872" y="7680960"/>
            <a:ext cx="1423416" cy="352552"/>
          </a:xfrm>
          <a:prstGeom prst="rect">
            <a:avLst/>
          </a:prstGeom>
          <a:noFill/>
          <a:ln/>
        </p:spPr>
        <p:txBody>
          <a:bodyPr wrap="square" lIns="0" tIns="0" rIns="0" bIns="0" rtlCol="0" anchor="b"/>
          <a:lstStyle/>
          <a:p>
            <a:pPr indent="0" marL="0">
              <a:buNone/>
            </a:pPr>
            <a:r>
              <a:rPr lang="en-US" sz="2200" b="1" dirty="0">
                <a:solidFill>
                  <a:schemeClr val="accent1"/>
                </a:solidFill>
                <a:latin typeface="+mj-lt" pitchFamily="34" charset="0"/>
                <a:ea typeface="+mj-lt" pitchFamily="34" charset="-122"/>
                <a:cs typeface="+mj-lt" pitchFamily="34" charset="-120"/>
              </a:rPr>
              <a:t>3</a:t>
            </a:r>
            <a:endParaRPr lang="en-US" sz="2200" dirty="0"/>
          </a:p>
        </p:txBody>
      </p:sp>
      <p:sp>
        <p:nvSpPr>
          <p:cNvPr id="66" name="text-617"/>
          <p:cNvSpPr txBox="1"/>
          <p:nvPr/>
        </p:nvSpPr>
        <p:spPr>
          <a:xfrm>
            <a:off x="5452872" y="806094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kindergartens</a:t>
            </a:r>
            <a:endParaRPr lang="en-US" sz="850" dirty="0"/>
          </a:p>
        </p:txBody>
      </p:sp>
      <p:sp>
        <p:nvSpPr>
          <p:cNvPr id="67" name="rule-618"/>
          <p:cNvSpPr/>
          <p:nvPr/>
        </p:nvSpPr>
        <p:spPr>
          <a:xfrm>
            <a:off x="548640" y="8595360"/>
            <a:ext cx="6464808" cy="0"/>
          </a:xfrm>
          <a:prstGeom prst="line">
            <a:avLst/>
          </a:prstGeom>
          <a:noFill/>
          <a:ln w="9525">
            <a:solidFill>
              <a:schemeClr val="tx2"/>
            </a:solidFill>
            <a:prstDash val="solid"/>
          </a:ln>
        </p:spPr>
      </p:sp>
      <p:sp>
        <p:nvSpPr>
          <p:cNvPr id="68" name="kicker-dot-619"/>
          <p:cNvSpPr/>
          <p:nvPr/>
        </p:nvSpPr>
        <p:spPr>
          <a:xfrm>
            <a:off x="548640" y="8842248"/>
            <a:ext cx="100584" cy="100584"/>
          </a:xfrm>
          <a:prstGeom prst="ellipse">
            <a:avLst/>
          </a:prstGeom>
          <a:solidFill>
            <a:schemeClr val="accent6"/>
          </a:solidFill>
          <a:ln w="12700">
            <a:solidFill>
              <a:schemeClr val="accent6"/>
            </a:solidFill>
            <a:prstDash val="solid"/>
          </a:ln>
        </p:spPr>
      </p:sp>
      <p:sp>
        <p:nvSpPr>
          <p:cNvPr id="69" name="text-620"/>
          <p:cNvSpPr txBox="1"/>
          <p:nvPr/>
        </p:nvSpPr>
        <p:spPr>
          <a:xfrm>
            <a:off x="731520" y="8787384"/>
            <a:ext cx="1508760" cy="457200"/>
          </a:xfrm>
          <a:prstGeom prst="rect">
            <a:avLst/>
          </a:prstGeom>
          <a:noFill/>
          <a:ln/>
        </p:spPr>
        <p:txBody>
          <a:bodyPr wrap="square" lIns="0" tIns="0" rIns="0" bIns="0" rtlCol="0" anchor="t"/>
          <a:lstStyle/>
          <a:p>
            <a:pPr indent="0" marL="0">
              <a:lnSpc>
                <a:spcPct val="110000"/>
              </a:lnSpc>
              <a:buNone/>
            </a:pPr>
            <a:r>
              <a:rPr lang="en-US" sz="900" b="1" spc="200" kern="0" dirty="0">
                <a:solidFill>
                  <a:schemeClr val="bg1"/>
                </a:solidFill>
              </a:rPr>
              <a:t>TRANSPORT</a:t>
            </a:r>
            <a:endParaRPr lang="en-US" sz="900" dirty="0"/>
          </a:p>
        </p:txBody>
      </p:sp>
      <p:sp>
        <p:nvSpPr>
          <p:cNvPr id="70" name="text-621"/>
          <p:cNvSpPr txBox="1"/>
          <p:nvPr/>
        </p:nvSpPr>
        <p:spPr>
          <a:xfrm>
            <a:off x="2331720" y="8686800"/>
            <a:ext cx="1423416" cy="352552"/>
          </a:xfrm>
          <a:prstGeom prst="rect">
            <a:avLst/>
          </a:prstGeom>
          <a:noFill/>
          <a:ln/>
        </p:spPr>
        <p:txBody>
          <a:bodyPr wrap="square" lIns="0" tIns="0" rIns="0" bIns="0" rtlCol="0" anchor="b"/>
          <a:lstStyle/>
          <a:p>
            <a:pPr indent="0" marL="0">
              <a:buNone/>
            </a:pPr>
            <a:r>
              <a:rPr lang="en-US" sz="2200" b="1" dirty="0">
                <a:solidFill>
                  <a:schemeClr val="accent6"/>
                </a:solidFill>
                <a:latin typeface="+mj-lt" pitchFamily="34" charset="0"/>
                <a:ea typeface="+mj-lt" pitchFamily="34" charset="-122"/>
                <a:cs typeface="+mj-lt" pitchFamily="34" charset="-120"/>
              </a:rPr>
              <a:t>2</a:t>
            </a:r>
            <a:endParaRPr lang="en-US" sz="2200" dirty="0"/>
          </a:p>
        </p:txBody>
      </p:sp>
      <p:sp>
        <p:nvSpPr>
          <p:cNvPr id="71" name="text-622"/>
          <p:cNvSpPr txBox="1"/>
          <p:nvPr/>
        </p:nvSpPr>
        <p:spPr>
          <a:xfrm>
            <a:off x="2331720" y="906678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metro lines</a:t>
            </a:r>
            <a:endParaRPr lang="en-US" sz="850" dirty="0"/>
          </a:p>
        </p:txBody>
      </p:sp>
      <p:sp>
        <p:nvSpPr>
          <p:cNvPr id="72" name="text-623"/>
          <p:cNvSpPr txBox="1"/>
          <p:nvPr/>
        </p:nvSpPr>
        <p:spPr>
          <a:xfrm>
            <a:off x="3892296" y="8686800"/>
            <a:ext cx="1423416" cy="352552"/>
          </a:xfrm>
          <a:prstGeom prst="rect">
            <a:avLst/>
          </a:prstGeom>
          <a:noFill/>
          <a:ln/>
        </p:spPr>
        <p:txBody>
          <a:bodyPr wrap="square" lIns="0" tIns="0" rIns="0" bIns="0" rtlCol="0" anchor="b"/>
          <a:lstStyle/>
          <a:p>
            <a:pPr indent="0" marL="0">
              <a:buNone/>
            </a:pPr>
            <a:r>
              <a:rPr lang="en-US" sz="2200" b="1" dirty="0">
                <a:solidFill>
                  <a:schemeClr val="accent6"/>
                </a:solidFill>
                <a:latin typeface="+mj-lt" pitchFamily="34" charset="0"/>
                <a:ea typeface="+mj-lt" pitchFamily="34" charset="-122"/>
                <a:cs typeface="+mj-lt" pitchFamily="34" charset="-120"/>
              </a:rPr>
              <a:t>5 min</a:t>
            </a:r>
            <a:endParaRPr lang="en-US" sz="2200" dirty="0"/>
          </a:p>
        </p:txBody>
      </p:sp>
      <p:sp>
        <p:nvSpPr>
          <p:cNvPr id="73" name="text-624"/>
          <p:cNvSpPr txBox="1"/>
          <p:nvPr/>
        </p:nvSpPr>
        <p:spPr>
          <a:xfrm>
            <a:off x="3892296" y="906678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spa shuttle</a:t>
            </a:r>
            <a:endParaRPr lang="en-US" sz="850" dirty="0"/>
          </a:p>
        </p:txBody>
      </p:sp>
      <p:sp>
        <p:nvSpPr>
          <p:cNvPr id="74" name="text-625"/>
          <p:cNvSpPr txBox="1"/>
          <p:nvPr/>
        </p:nvSpPr>
        <p:spPr>
          <a:xfrm>
            <a:off x="5452872" y="8686800"/>
            <a:ext cx="1423416" cy="352552"/>
          </a:xfrm>
          <a:prstGeom prst="rect">
            <a:avLst/>
          </a:prstGeom>
          <a:noFill/>
          <a:ln/>
        </p:spPr>
        <p:txBody>
          <a:bodyPr wrap="square" lIns="0" tIns="0" rIns="0" bIns="0" rtlCol="0" anchor="b"/>
          <a:lstStyle/>
          <a:p>
            <a:pPr indent="0" marL="0">
              <a:buNone/>
            </a:pPr>
            <a:r>
              <a:rPr lang="en-US" sz="2200" b="1" dirty="0">
                <a:solidFill>
                  <a:schemeClr val="accent6"/>
                </a:solidFill>
                <a:latin typeface="+mj-lt" pitchFamily="34" charset="0"/>
                <a:ea typeface="+mj-lt" pitchFamily="34" charset="-122"/>
                <a:cs typeface="+mj-lt" pitchFamily="34" charset="-120"/>
              </a:rPr>
              <a:t>20 min</a:t>
            </a:r>
            <a:endParaRPr lang="en-US" sz="2200" dirty="0"/>
          </a:p>
        </p:txBody>
      </p:sp>
      <p:sp>
        <p:nvSpPr>
          <p:cNvPr id="75" name="text-626"/>
          <p:cNvSpPr txBox="1"/>
          <p:nvPr/>
        </p:nvSpPr>
        <p:spPr>
          <a:xfrm>
            <a:off x="5452872" y="9066784"/>
            <a:ext cx="1423416" cy="365760"/>
          </a:xfrm>
          <a:prstGeom prst="rect">
            <a:avLst/>
          </a:prstGeom>
          <a:noFill/>
          <a:ln/>
        </p:spPr>
        <p:txBody>
          <a:bodyPr wrap="square" lIns="0" tIns="0" rIns="0" bIns="0" rtlCol="0" anchor="t"/>
          <a:lstStyle/>
          <a:p>
            <a:pPr indent="0" marL="0">
              <a:lnSpc>
                <a:spcPct val="105000"/>
              </a:lnSpc>
              <a:buNone/>
            </a:pPr>
            <a:r>
              <a:rPr lang="en-US" sz="850" dirty="0">
                <a:solidFill>
                  <a:schemeClr val="bg2"/>
                </a:solidFill>
              </a:rPr>
              <a:t>airport shuttle</a:t>
            </a:r>
            <a:endParaRPr lang="en-US" sz="850" dirty="0"/>
          </a:p>
        </p:txBody>
      </p:sp>
      <p:sp>
        <p:nvSpPr>
          <p:cNvPr id="76" name="text-627"/>
          <p:cNvSpPr txBox="1"/>
          <p:nvPr/>
        </p:nvSpPr>
        <p:spPr>
          <a:xfrm>
            <a:off x="548640" y="9829800"/>
            <a:ext cx="6464808" cy="201168"/>
          </a:xfrm>
          <a:prstGeom prst="rect">
            <a:avLst/>
          </a:prstGeom>
          <a:noFill/>
          <a:ln/>
        </p:spPr>
        <p:txBody>
          <a:bodyPr wrap="square" lIns="0" tIns="0" rIns="0" bIns="0" rtlCol="0" anchor="t"/>
          <a:lstStyle/>
          <a:p>
            <a:pPr indent="0" marL="0">
              <a:buNone/>
            </a:pPr>
            <a:r>
              <a:rPr lang="en-US" sz="850" i="1" dirty="0">
                <a:solidFill>
                  <a:schemeClr val="bg2"/>
                </a:solidFill>
              </a:rPr>
              <a:t>All figures are design values for the Aurora Haven city project.</a:t>
            </a:r>
            <a:endParaRPr lang="en-US" sz="850" dirty="0"/>
          </a:p>
        </p:txBody>
      </p:sp>
      <p:sp>
        <p:nvSpPr>
          <p:cNvPr id="25" name="Slide Number Placeholder 0"/>
          <p:cNvSpPr>
            <a:spLocks noGrp="1"/>
          </p:cNvSpPr>
          <p:nvPr>
            <p:ph type="sldNum" sz="quarter" idx="4294967295"/>
          </p:nvPr>
        </p:nvSpPr>
        <p:spPr>
          <a:xfrm>
            <a:off x="6464808" y="10168128"/>
            <a:ext cx="5486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bg1"/>
                </a:solidFill>
              </a:defRPr>
            </a:lvl1pPr>
          </a:lstStyle>
          <a:p>
            <a:pPr algn="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back-picture" descr="/home/user/chatbox-bi-n-o/magazine/assets_v2/renders/back.jpg">    </p:cNvPr>
          <p:cNvPicPr>
            <a:picLocks noChangeAspect="1"/>
          </p:cNvPicPr>
          <p:nvPr/>
        </p:nvPicPr>
        <p:blipFill>
          <a:blip r:embed="rId1"/>
          <a:stretch>
            <a:fillRect/>
          </a:stretch>
        </p:blipFill>
        <p:spPr>
          <a:xfrm>
            <a:off x="0" y="0"/>
            <a:ext cx="7562088" cy="10689336"/>
          </a:xfrm>
          <a:prstGeom prst="rect">
            <a:avLst/>
          </a:prstGeom>
        </p:spPr>
      </p:pic>
      <p:sp>
        <p:nvSpPr>
          <p:cNvPr id="3" name="kicker-dot-628"/>
          <p:cNvSpPr/>
          <p:nvPr/>
        </p:nvSpPr>
        <p:spPr>
          <a:xfrm>
            <a:off x="548640" y="589788"/>
            <a:ext cx="100584" cy="100584"/>
          </a:xfrm>
          <a:prstGeom prst="ellipse">
            <a:avLst/>
          </a:prstGeom>
          <a:solidFill>
            <a:schemeClr val="accent1"/>
          </a:solidFill>
          <a:ln w="12700">
            <a:solidFill>
              <a:schemeClr val="accent1"/>
            </a:solidFill>
            <a:prstDash val="solid"/>
          </a:ln>
        </p:spPr>
      </p:sp>
      <p:sp>
        <p:nvSpPr>
          <p:cNvPr id="4" name="text-629"/>
          <p:cNvSpPr txBox="1"/>
          <p:nvPr/>
        </p:nvSpPr>
        <p:spPr>
          <a:xfrm>
            <a:off x="731520" y="548640"/>
            <a:ext cx="5486400" cy="201168"/>
          </a:xfrm>
          <a:prstGeom prst="rect">
            <a:avLst/>
          </a:prstGeom>
          <a:noFill/>
          <a:ln/>
        </p:spPr>
        <p:txBody>
          <a:bodyPr wrap="square" lIns="0" tIns="0" rIns="0" bIns="0" rtlCol="0" anchor="t"/>
          <a:lstStyle/>
          <a:p>
            <a:pPr indent="0" marL="0">
              <a:buNone/>
            </a:pPr>
            <a:r>
              <a:rPr lang="en-US" sz="900" b="1" spc="300" kern="0" dirty="0">
                <a:solidFill>
                  <a:schemeClr val="accent1"/>
                </a:solidFill>
              </a:rPr>
              <a:t>UNTIL NEXT TIME</a:t>
            </a:r>
            <a:endParaRPr lang="en-US" sz="900" dirty="0"/>
          </a:p>
        </p:txBody>
      </p:sp>
      <p:sp>
        <p:nvSpPr>
          <p:cNvPr id="5" name="text-630"/>
          <p:cNvSpPr txBox="1"/>
          <p:nvPr/>
        </p:nvSpPr>
        <p:spPr>
          <a:xfrm>
            <a:off x="548640" y="777240"/>
            <a:ext cx="6464808" cy="731520"/>
          </a:xfrm>
          <a:prstGeom prst="rect">
            <a:avLst/>
          </a:prstGeom>
          <a:noFill/>
          <a:ln/>
        </p:spPr>
        <p:txBody>
          <a:bodyPr wrap="square" lIns="0" tIns="0" rIns="0" bIns="0" rtlCol="0" anchor="t"/>
          <a:lstStyle/>
          <a:p>
            <a:pPr indent="0" marL="0">
              <a:buNone/>
            </a:pPr>
            <a:r>
              <a:rPr lang="en-US" sz="3800" b="1" dirty="0">
                <a:solidFill>
                  <a:schemeClr val="bg1"/>
                </a:solidFill>
                <a:latin typeface="+mj-lt" pitchFamily="34" charset="0"/>
                <a:ea typeface="+mj-lt" pitchFamily="34" charset="-122"/>
                <a:cs typeface="+mj-lt" pitchFamily="34" charset="-120"/>
              </a:rPr>
              <a:t>Warm, Green and Ready</a:t>
            </a:r>
            <a:endParaRPr lang="en-US" sz="3800" dirty="0"/>
          </a:p>
        </p:txBody>
      </p:sp>
      <p:sp>
        <p:nvSpPr>
          <p:cNvPr id="6" name="text-631"/>
          <p:cNvSpPr txBox="1"/>
          <p:nvPr/>
        </p:nvSpPr>
        <p:spPr>
          <a:xfrm>
            <a:off x="548640" y="1645920"/>
            <a:ext cx="3017520" cy="2377440"/>
          </a:xfrm>
          <a:prstGeom prst="rect">
            <a:avLst/>
          </a:prstGeom>
          <a:noFill/>
          <a:ln/>
          <a:effectLst>
            <a:outerShdw sx="100000" sy="100000" kx="0" ky="0" algn="bl" rotWithShape="0" blurRad="76200" dist="12700" dir="5400000">
              <a:srgbClr val="06102A">
                <a:alpha val="60000"/>
              </a:srgbClr>
            </a:outerShdw>
          </a:effectLst>
        </p:spPr>
        <p:txBody>
          <a:bodyPr wrap="square" lIns="0" tIns="0" rIns="0" bIns="0" rtlCol="0" anchor="t"/>
          <a:lstStyle/>
          <a:p>
            <a:pPr indent="0" marL="0">
              <a:lnSpc>
                <a:spcPct val="112000"/>
              </a:lnSpc>
              <a:buNone/>
            </a:pPr>
            <a:r>
              <a:rPr lang="en-US" sz="1100" dirty="0">
                <a:solidFill>
                  <a:schemeClr val="bg1"/>
                </a:solidFill>
              </a:rPr>
              <a:t>Aurora Haven does not just survive the polar environment; it thrives in it. Heat from fusion and geothermal energy keeps every building warm, and clean energy and closed loops mean no fossil fuel and almost no waste. Most importantly, it is a place where 45,000 people can live, learn, work and watch the northern lights together.</a:t>
            </a:r>
            <a:endParaRPr lang="en-US" sz="1100" dirty="0"/>
          </a:p>
        </p:txBody>
      </p:sp>
      <p:sp>
        <p:nvSpPr>
          <p:cNvPr id="7" name="text-632"/>
          <p:cNvSpPr txBox="1"/>
          <p:nvPr/>
        </p:nvSpPr>
        <p:spPr>
          <a:xfrm>
            <a:off x="548640" y="3200400"/>
            <a:ext cx="2560320" cy="320040"/>
          </a:xfrm>
          <a:prstGeom prst="rect">
            <a:avLst/>
          </a:prstGeom>
          <a:noFill/>
          <a:ln/>
          <a:effectLst>
            <a:outerShdw sx="100000" sy="100000" kx="0" ky="0" algn="bl" rotWithShape="0" blurRad="76200" dist="12700" dir="5400000">
              <a:srgbClr val="06102A">
                <a:alpha val="60000"/>
              </a:srgbClr>
            </a:outerShdw>
          </a:effectLst>
        </p:spPr>
        <p:txBody>
          <a:bodyPr wrap="square" lIns="0" tIns="0" rIns="0" bIns="0" rtlCol="0" anchor="t"/>
          <a:lstStyle/>
          <a:p>
            <a:pPr indent="0" marL="0">
              <a:buNone/>
            </a:pPr>
            <a:r>
              <a:rPr lang="en-US" sz="1600" b="1" spc="200" kern="0" dirty="0">
                <a:solidFill>
                  <a:schemeClr val="accent1"/>
                </a:solidFill>
                <a:latin typeface="+mj-lt" pitchFamily="34" charset="0"/>
                <a:ea typeface="+mj-lt" pitchFamily="34" charset="-122"/>
                <a:cs typeface="+mj-lt" pitchFamily="34" charset="-120"/>
              </a:rPr>
              <a:t>AURORA HAVEN</a:t>
            </a:r>
            <a:endParaRPr lang="en-US" sz="1600" dirty="0"/>
          </a:p>
        </p:txBody>
      </p:sp>
      <p:sp>
        <p:nvSpPr>
          <p:cNvPr id="8" name="text-633"/>
          <p:cNvSpPr txBox="1"/>
          <p:nvPr/>
        </p:nvSpPr>
        <p:spPr>
          <a:xfrm>
            <a:off x="548640" y="3538728"/>
            <a:ext cx="2560320" cy="777240"/>
          </a:xfrm>
          <a:prstGeom prst="rect">
            <a:avLst/>
          </a:prstGeom>
          <a:noFill/>
          <a:ln/>
          <a:effectLst>
            <a:outerShdw sx="100000" sy="100000" kx="0" ky="0" algn="bl" rotWithShape="0" blurRad="76200" dist="12700" dir="5400000">
              <a:srgbClr val="06102A">
                <a:alpha val="60000"/>
              </a:srgbClr>
            </a:outerShdw>
          </a:effectLst>
        </p:spPr>
        <p:txBody>
          <a:bodyPr wrap="square" lIns="0" tIns="0" rIns="0" bIns="0" rtlCol="0" anchor="t"/>
          <a:lstStyle/>
          <a:p>
            <a:pPr indent="0" marL="0">
              <a:buNone/>
            </a:pPr>
            <a:r>
              <a:rPr lang="en-US" sz="900" dirty="0">
                <a:solidFill>
                  <a:schemeClr val="bg1"/>
                </a:solidFill>
              </a:rPr>
              <a:t>[Group name] · [Member names]</a:t>
            </a:r>
            <a:endParaRPr lang="en-US" sz="900" dirty="0"/>
          </a:p>
          <a:p>
            <a:pPr indent="0" marL="0">
              <a:buNone/>
            </a:pPr>
            <a:r>
              <a:rPr lang="en-US" sz="900" dirty="0">
                <a:solidFill>
                  <a:schemeClr val="bg1"/>
                </a:solidFill>
              </a:rPr>
              <a:t>[Class] · [Date]</a:t>
            </a:r>
            <a:endParaRPr lang="en-US" sz="900" dirty="0"/>
          </a:p>
          <a:p>
            <a:pPr indent="0" marL="0">
              <a:buNone/>
            </a:pPr>
            <a:r>
              <a:rPr lang="en-US" sz="900" dirty="0">
                <a:solidFill>
                  <a:schemeClr val="bg1"/>
                </a:solidFill>
              </a:rPr>
              <a:t>Modelled in 3D with three.js</a:t>
            </a:r>
            <a:endParaRPr lang="en-US" sz="900" dirty="0"/>
          </a:p>
          <a:p>
            <a:pPr indent="0" marL="0">
              <a:buNone/>
            </a:pPr>
            <a:r>
              <a:rPr lang="en-US" sz="900" dirty="0">
                <a:solidFill>
                  <a:schemeClr val="bg1"/>
                </a:solidFill>
              </a:rPr>
              <a:t>Polar / Ice City</a:t>
            </a:r>
            <a:endParaRPr lang="en-US" sz="900" dirty="0"/>
          </a:p>
        </p:txBody>
      </p:sp>
    </p:spTree>
  </p:cSld>
  <p:clrMapOvr>
    <a:masterClrMapping/>
  </p:clrMapOvr>
</p:sld>
</file>

<file path=ppt/theme/theme1.xml><?xml version="1.0" encoding="utf-8"?>
<a:theme xmlns:a="http://schemas.openxmlformats.org/drawingml/2006/main" name="Aurora Haven">
  <a:themeElements>
    <a:clrScheme name="Aurora Haven">
      <a:dk1>
        <a:srgbClr val="0E1A36"/>
      </a:dk1>
      <a:lt1>
        <a:srgbClr val="FFFFFF"/>
      </a:lt1>
      <a:dk2>
        <a:srgbClr val="4A5A75"/>
      </a:dk2>
      <a:lt2>
        <a:srgbClr val="EEF3F8"/>
      </a:lt2>
      <a:accent1>
        <a:srgbClr val="1FB58F"/>
      </a:accent1>
      <a:accent2>
        <a:srgbClr val="E06A2E"/>
      </a:accent2>
      <a:accent3>
        <a:srgbClr val="7B4FD6"/>
      </a:accent3>
      <a:accent4>
        <a:srgbClr val="0E8379"/>
      </a:accent4>
      <a:accent5>
        <a:srgbClr val="C9456F"/>
      </a:accent5>
      <a:accent6>
        <a:srgbClr val="4A7FC1"/>
      </a:accent6>
      <a:hlink>
        <a:srgbClr val="4A7FC1"/>
      </a:hlink>
      <a:folHlink>
        <a:srgbClr val="7B4FD6"/>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Aurora Haven – Issue 01</dc:title>
  <dc:subject>A polar city that thrives</dc:subject>
  <dc:creator>[Group name]</dc:creator>
  <cp:lastModifiedBy>[Group name]</cp:lastModifiedBy>
  <cp:revision>1</cp:revision>
  <dcterms:created xsi:type="dcterms:W3CDTF">2026-10-22T17:15:42Z</dcterms:created>
  <dcterms:modified xsi:type="dcterms:W3CDTF">2026-10-22T17:15:42Z</dcterms:modified>
</cp:coreProperties>
</file>